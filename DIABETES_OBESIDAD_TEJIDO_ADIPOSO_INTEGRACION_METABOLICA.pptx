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Lst>
  <p:sldSz cx="12191695" cy="6858000" type="screen4x3"/>
  <p:notesSz cx="6858000" cy="9144000"/>
  <p:embeddedFontLst>
    <p:embeddedFont>
      <p:font typeface="Permanent Marker" pitchFamily="2" charset="0"/>
      <p:regular r:id="rIdFont1"/>
    </p:embeddedFont>
    <p:embeddedFont>
      <p:font typeface="Bangers" pitchFamily="2" charset="0"/>
      <p:regular r:id="rIdFont2"/>
    </p:embeddedFont>
    <p:embeddedFont>
      <p:font typeface="Fira Sans Condensed" pitchFamily="2" charset="0"/>
      <p:regular r:id="rIdFont3"/>
      <p:bold r:id="rIdFont4"/>
      <p:italic r:id="rIdFont5"/>
      <p:boldItalic r:id="rIdFont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notesMaster" Target="notesMasters/notesMaster1.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Fira Sans Condensed"/>
              </a:rPr>
              <a:t>Esquema conceptual (unidades arbitrarias)</a:t>
            </a:r>
          </a:p>
        </c:rich>
      </c:tx>
      <c:layout/>
      <c:overlay val="0"/>
    </c:title>
    <c:autoTitleDeleted val="0"/>
    <c:plotArea>
      <c:lineChart>
        <c:grouping val="standard"/>
        <c:varyColors val="0"/>
        <c:ser>
          <c:idx val="0"/>
          <c:order val="0"/>
          <c:tx>
            <c:strRef>
              <c:f>Sheet1!$B$1</c:f>
              <c:strCache>
                <c:ptCount val="1"/>
                <c:pt idx="0">
                  <c:v>Secreción de insulina</c:v>
                </c:pt>
              </c:strCache>
            </c:strRef>
          </c:tx>
          <c:spPr>
            <a:ln w="44450">
              <a:solidFill>
                <a:srgbClr val="1F4E9A"/>
              </a:solidFill>
            </a:ln>
          </c:spPr>
          <c:marker>
            <c:symbol val="none"/>
          </c:marker>
          <c:cat>
            <c:strRef>
              <c:f>Sheet1!$A$2:$A$6</c:f>
              <c:strCache>
                <c:ptCount val="5"/>
                <c:pt idx="0">
                  <c:v>Normal</c:v>
                </c:pt>
                <c:pt idx="1">
                  <c:v>Resistencia
compensada</c:v>
                </c:pt>
                <c:pt idx="2">
                  <c:v>Prediabetes</c:v>
                </c:pt>
                <c:pt idx="3">
                  <c:v>DM2
inicial</c:v>
                </c:pt>
                <c:pt idx="4">
                  <c:v>DM2
avanzada</c:v>
                </c:pt>
              </c:strCache>
            </c:strRef>
          </c:cat>
          <c:val>
            <c:numRef>
              <c:f>Sheet1!$B$2:$B$6</c:f>
              <c:numCache>
                <c:formatCode>General</c:formatCode>
                <c:ptCount val="5"/>
                <c:pt idx="0">
                  <c:v>1.0</c:v>
                </c:pt>
                <c:pt idx="1">
                  <c:v>2.1</c:v>
                </c:pt>
                <c:pt idx="2">
                  <c:v>2.3</c:v>
                </c:pt>
                <c:pt idx="3">
                  <c:v>1.7</c:v>
                </c:pt>
                <c:pt idx="4">
                  <c:v>0.9</c:v>
                </c:pt>
              </c:numCache>
            </c:numRef>
          </c:val>
          <c:smooth/>
        </c:ser>
        <c:ser>
          <c:idx val="1"/>
          <c:order val="1"/>
          <c:tx>
            <c:strRef>
              <c:f>Sheet1!$C$1</c:f>
              <c:strCache>
                <c:ptCount val="1"/>
                <c:pt idx="0">
                  <c:v>Glucemia</c:v>
                </c:pt>
              </c:strCache>
            </c:strRef>
          </c:tx>
          <c:spPr>
            <a:ln w="44450">
              <a:solidFill>
                <a:srgbClr val="C00000"/>
              </a:solidFill>
            </a:ln>
          </c:spPr>
          <c:marker>
            <c:symbol val="none"/>
          </c:marker>
          <c:cat>
            <c:strRef>
              <c:f>Sheet1!$A$2:$A$6</c:f>
              <c:strCache>
                <c:ptCount val="5"/>
                <c:pt idx="0">
                  <c:v>Normal</c:v>
                </c:pt>
                <c:pt idx="1">
                  <c:v>Resistencia
compensada</c:v>
                </c:pt>
                <c:pt idx="2">
                  <c:v>Prediabetes</c:v>
                </c:pt>
                <c:pt idx="3">
                  <c:v>DM2
inicial</c:v>
                </c:pt>
                <c:pt idx="4">
                  <c:v>DM2
avanzada</c:v>
                </c:pt>
              </c:strCache>
            </c:strRef>
          </c:cat>
          <c:val>
            <c:numRef>
              <c:f>Sheet1!$C$2:$C$6</c:f>
              <c:numCache>
                <c:formatCode>General</c:formatCode>
                <c:ptCount val="5"/>
                <c:pt idx="0">
                  <c:v>1.0</c:v>
                </c:pt>
                <c:pt idx="1">
                  <c:v>1.05</c:v>
                </c:pt>
                <c:pt idx="2">
                  <c:v>1.35</c:v>
                </c:pt>
                <c:pt idx="3">
                  <c:v>1.9</c:v>
                </c:pt>
                <c:pt idx="4">
                  <c:v>2.4</c:v>
                </c:pt>
              </c:numCache>
            </c:numRef>
          </c:val>
          <c:smooth/>
        </c:ser>
        <c:ser>
          <c:idx val="2"/>
          <c:order val="2"/>
          <c:tx>
            <c:strRef>
              <c:f>Sheet1!$D$1</c:f>
              <c:strCache>
                <c:ptCount val="1"/>
                <c:pt idx="0">
                  <c:v>Sensibilidad insulínica</c:v>
                </c:pt>
              </c:strCache>
            </c:strRef>
          </c:tx>
          <c:spPr>
            <a:ln w="44450">
              <a:solidFill>
                <a:srgbClr val="00A651"/>
              </a:solidFill>
            </a:ln>
          </c:spPr>
          <c:marker>
            <c:symbol val="none"/>
          </c:marker>
          <c:cat>
            <c:strRef>
              <c:f>Sheet1!$A$2:$A$6</c:f>
              <c:strCache>
                <c:ptCount val="5"/>
                <c:pt idx="0">
                  <c:v>Normal</c:v>
                </c:pt>
                <c:pt idx="1">
                  <c:v>Resistencia
compensada</c:v>
                </c:pt>
                <c:pt idx="2">
                  <c:v>Prediabetes</c:v>
                </c:pt>
                <c:pt idx="3">
                  <c:v>DM2
inicial</c:v>
                </c:pt>
                <c:pt idx="4">
                  <c:v>DM2
avanzada</c:v>
                </c:pt>
              </c:strCache>
            </c:strRef>
          </c:cat>
          <c:val>
            <c:numRef>
              <c:f>Sheet1!$D$2:$D$6</c:f>
              <c:numCache>
                <c:formatCode>General</c:formatCode>
                <c:ptCount val="5"/>
                <c:pt idx="0">
                  <c:v>2.2</c:v>
                </c:pt>
                <c:pt idx="1">
                  <c:v>1.3</c:v>
                </c:pt>
                <c:pt idx="2">
                  <c:v>1.1</c:v>
                </c:pt>
                <c:pt idx="3">
                  <c:v>0.95</c:v>
                </c:pt>
                <c:pt idx="4">
                  <c:v>0.9</c:v>
                </c:pt>
              </c:numCache>
            </c:numRef>
          </c:val>
          <c:smooth/>
        </c:ser>
        <c:marker val="1"/>
        <c:smooth val="0"/>
        <c:axId val="2118791784"/>
        <c:axId val="2140495176"/>
      </c:lineChart>
      <c:catAx>
        <c:axId val="2118791784"/>
        <c:scaling>
          <c:orientation val="minMax"/>
        </c:scaling>
        <c:delete val="0"/>
        <c:axPos val="b"/>
        <c:majorTickMark val="out"/>
        <c:minorTickMark val="none"/>
        <c:tickLblPos val="nextTo"/>
        <c:spPr>
          <a:ln>
            <a:solidFill>
              <a:srgbClr val="1E1E1E"/>
            </a:solidFill>
          </a:ln>
        </c:spPr>
        <c:txPr>
          <a:bodyPr/>
          <a:lstStyle/>
          <a:p>
            <a:pPr>
              <a:defRPr sz="120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1100">
                <a:latin typeface="Fira Sans Condensed"/>
              </a:defRPr>
            </a:pPr>
          </a:p>
        </c:txPr>
        <c:crossAx val="2118791784"/>
        <c:crosses val="autoZero"/>
      </c:valAx>
    </c:plotArea>
    <c:legend>
      <c:legendPos val="b"/>
      <c:layout/>
      <c:overlay val="0"/>
      <c:txPr>
        <a:bodyPr/>
        <a:lstStyle/>
        <a:p>
          <a:pPr>
            <a:defRPr sz="1200">
              <a:latin typeface="Fira Sans Condensed"/>
            </a:defRPr>
          </a:pPr>
        </a:p>
      </c:txPr>
    </c:legend>
    <c:plotVisOnly val="1"/>
    <c:dispBlanksAs val="gap"/>
    <c:showDLblsOverMax val="0"/>
  </c:chart>
  <c:spPr>
    <a:solidFill>
      <a:srgbClr val="FFFFFF">
        <a:alpha val="55000"/>
      </a:srgbClr>
    </a:solidFill>
    <a:ln w="15875">
      <a:solidFill>
        <a:srgbClr val="1E1E1E"/>
      </a:solidFill>
    </a:ln>
  </c:spPr>
  <c:txPr>
    <a:bodyPr/>
    <a:lstStyle/>
    <a:p>
      <a:pPr>
        <a:defRPr sz="1200">
          <a:latin typeface="Fira Sans Condense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Fira Sans Condensed"/>
              </a:rPr>
              <a:t>Respuesta a glucosa sostenida (min · esquema)</a:t>
            </a:r>
          </a:p>
        </c:rich>
      </c:tx>
      <c:layout/>
      <c:overlay val="0"/>
    </c:title>
    <c:autoTitleDeleted val="0"/>
    <c:plotArea>
      <c:lineChart>
        <c:grouping val="standard"/>
        <c:varyColors val="0"/>
        <c:ser>
          <c:idx val="0"/>
          <c:order val="0"/>
          <c:tx>
            <c:strRef>
              <c:f>Sheet1!$B$1</c:f>
              <c:strCache>
                <c:ptCount val="1"/>
                <c:pt idx="0">
                  <c:v>Secreción de insulina</c:v>
                </c:pt>
              </c:strCache>
            </c:strRef>
          </c:tx>
          <c:spPr>
            <a:ln w="44450">
              <a:solidFill>
                <a:srgbClr val="1F4E9A"/>
              </a:solidFill>
            </a:ln>
          </c:spPr>
          <c:marker>
            <c:symbol val="none"/>
          </c:marker>
          <c:cat>
            <c:strRef>
              <c:f>Sheet1!$A$2:$A$9</c:f>
              <c:strCache>
                <c:ptCount val="8"/>
                <c:pt idx="0">
                  <c:v>0</c:v>
                </c:pt>
                <c:pt idx="1">
                  <c:v>2</c:v>
                </c:pt>
                <c:pt idx="2">
                  <c:v>5</c:v>
                </c:pt>
                <c:pt idx="3">
                  <c:v>10</c:v>
                </c:pt>
                <c:pt idx="4">
                  <c:v>20</c:v>
                </c:pt>
                <c:pt idx="5">
                  <c:v>30</c:v>
                </c:pt>
                <c:pt idx="6">
                  <c:v>45</c:v>
                </c:pt>
                <c:pt idx="7">
                  <c:v>60</c:v>
                </c:pt>
              </c:strCache>
            </c:strRef>
          </c:cat>
          <c:val>
            <c:numRef>
              <c:f>Sheet1!$B$2:$B$9</c:f>
              <c:numCache>
                <c:formatCode>General</c:formatCode>
                <c:ptCount val="8"/>
                <c:pt idx="0">
                  <c:v>0.3</c:v>
                </c:pt>
                <c:pt idx="1">
                  <c:v>3.2</c:v>
                </c:pt>
                <c:pt idx="2">
                  <c:v>1.4</c:v>
                </c:pt>
                <c:pt idx="3">
                  <c:v>1.0</c:v>
                </c:pt>
                <c:pt idx="4">
                  <c:v>1.4</c:v>
                </c:pt>
                <c:pt idx="5">
                  <c:v>1.9</c:v>
                </c:pt>
                <c:pt idx="6">
                  <c:v>2.3</c:v>
                </c:pt>
                <c:pt idx="7">
                  <c:v>2.5</c:v>
                </c:pt>
              </c:numCache>
            </c:numRef>
          </c:val>
          <c:smooth/>
        </c:ser>
        <c:marker val="1"/>
        <c:smooth val="0"/>
        <c:axId val="2118791784"/>
        <c:axId val="2140495176"/>
      </c:lineChart>
      <c:catAx>
        <c:axId val="2118791784"/>
        <c:scaling>
          <c:orientation val="minMax"/>
        </c:scaling>
        <c:delete val="0"/>
        <c:axPos val="b"/>
        <c:majorTickMark val="out"/>
        <c:minorTickMark val="none"/>
        <c:tickLblPos val="nextTo"/>
        <c:spPr>
          <a:ln>
            <a:solidFill>
              <a:srgbClr val="1E1E1E"/>
            </a:solidFill>
          </a:ln>
        </c:spPr>
        <c:txPr>
          <a:bodyPr/>
          <a:lstStyle/>
          <a:p>
            <a:pPr>
              <a:defRPr sz="110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1000">
                <a:latin typeface="Fira Sans Condensed"/>
              </a:defRPr>
            </a:pPr>
          </a:p>
        </c:txPr>
        <c:crossAx val="2118791784"/>
        <c:crosses val="autoZero"/>
      </c:valAx>
    </c:plotArea>
    <c:plotVisOnly val="1"/>
    <c:dispBlanksAs val="gap"/>
    <c:showDLblsOverMax val="0"/>
  </c:chart>
  <c:spPr>
    <a:solidFill>
      <a:srgbClr val="FFFFFF">
        <a:alpha val="55000"/>
      </a:srgbClr>
    </a:solidFill>
    <a:ln w="15875">
      <a:solidFill>
        <a:srgbClr val="1E1E1E"/>
      </a:solidFill>
    </a:ln>
  </c:spPr>
  <c:txPr>
    <a:bodyPr/>
    <a:lstStyle/>
    <a:p>
      <a:pPr>
        <a:defRPr sz="1100">
          <a:latin typeface="Fira Sans Condensed"/>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50" b="1">
                <a:latin typeface="Fira Sans Condensed"/>
              </a:rPr>
              <a:t>Titulación de glucosa (esquema)</a:t>
            </a:r>
          </a:p>
        </c:rich>
      </c:tx>
      <c:layout/>
      <c:overlay val="0"/>
    </c:title>
    <c:autoTitleDeleted val="0"/>
    <c:plotArea>
      <c:lineChart>
        <c:grouping val="standard"/>
        <c:varyColors val="0"/>
        <c:ser>
          <c:idx val="0"/>
          <c:order val="0"/>
          <c:tx>
            <c:strRef>
              <c:f>Sheet1!$B$1</c:f>
              <c:strCache>
                <c:ptCount val="1"/>
                <c:pt idx="0">
                  <c:v>Filtrada</c:v>
                </c:pt>
              </c:strCache>
            </c:strRef>
          </c:tx>
          <c:spPr>
            <a:ln w="44450">
              <a:solidFill>
                <a:srgbClr val="1F4E9A"/>
              </a:solidFill>
            </a:ln>
          </c:spPr>
          <c:marker>
            <c:symbol val="none"/>
          </c:marker>
          <c:cat>
            <c:strRef>
              <c:f>Sheet1!$A$2:$A$8</c:f>
              <c:strCache>
                <c:ptCount val="7"/>
                <c:pt idx="0">
                  <c:v>0</c:v>
                </c:pt>
                <c:pt idx="1">
                  <c:v>100</c:v>
                </c:pt>
                <c:pt idx="2">
                  <c:v>200</c:v>
                </c:pt>
                <c:pt idx="3">
                  <c:v>300</c:v>
                </c:pt>
                <c:pt idx="4">
                  <c:v>400</c:v>
                </c:pt>
                <c:pt idx="5">
                  <c:v>500</c:v>
                </c:pt>
                <c:pt idx="6">
                  <c:v>600</c:v>
                </c:pt>
              </c:strCache>
            </c:strRef>
          </c:cat>
          <c:val>
            <c:numRef>
              <c:f>Sheet1!$B$2:$B$8</c:f>
              <c:numCache>
                <c:formatCode>General</c:formatCode>
                <c:ptCount val="7"/>
                <c:pt idx="0">
                  <c:v>0</c:v>
                </c:pt>
                <c:pt idx="1">
                  <c:v>1.0</c:v>
                </c:pt>
                <c:pt idx="2">
                  <c:v>2.0</c:v>
                </c:pt>
                <c:pt idx="3">
                  <c:v>3.0</c:v>
                </c:pt>
                <c:pt idx="4">
                  <c:v>4.0</c:v>
                </c:pt>
                <c:pt idx="5">
                  <c:v>5.0</c:v>
                </c:pt>
                <c:pt idx="6">
                  <c:v>6.0</c:v>
                </c:pt>
              </c:numCache>
            </c:numRef>
          </c:val>
          <c:smooth/>
        </c:ser>
        <c:ser>
          <c:idx val="1"/>
          <c:order val="1"/>
          <c:tx>
            <c:strRef>
              <c:f>Sheet1!$C$1</c:f>
              <c:strCache>
                <c:ptCount val="1"/>
                <c:pt idx="0">
                  <c:v>Reabsorbida</c:v>
                </c:pt>
              </c:strCache>
            </c:strRef>
          </c:tx>
          <c:spPr>
            <a:ln w="44450">
              <a:solidFill>
                <a:srgbClr val="00A651"/>
              </a:solidFill>
            </a:ln>
          </c:spPr>
          <c:marker>
            <c:symbol val="none"/>
          </c:marker>
          <c:cat>
            <c:strRef>
              <c:f>Sheet1!$A$2:$A$8</c:f>
              <c:strCache>
                <c:ptCount val="7"/>
                <c:pt idx="0">
                  <c:v>0</c:v>
                </c:pt>
                <c:pt idx="1">
                  <c:v>100</c:v>
                </c:pt>
                <c:pt idx="2">
                  <c:v>200</c:v>
                </c:pt>
                <c:pt idx="3">
                  <c:v>300</c:v>
                </c:pt>
                <c:pt idx="4">
                  <c:v>400</c:v>
                </c:pt>
                <c:pt idx="5">
                  <c:v>500</c:v>
                </c:pt>
                <c:pt idx="6">
                  <c:v>600</c:v>
                </c:pt>
              </c:strCache>
            </c:strRef>
          </c:cat>
          <c:val>
            <c:numRef>
              <c:f>Sheet1!$C$2:$C$8</c:f>
              <c:numCache>
                <c:formatCode>General</c:formatCode>
                <c:ptCount val="7"/>
                <c:pt idx="0">
                  <c:v>0</c:v>
                </c:pt>
                <c:pt idx="1">
                  <c:v>1.0</c:v>
                </c:pt>
                <c:pt idx="2">
                  <c:v>1.95</c:v>
                </c:pt>
                <c:pt idx="3">
                  <c:v>2.6</c:v>
                </c:pt>
                <c:pt idx="4">
                  <c:v>2.75</c:v>
                </c:pt>
                <c:pt idx="5">
                  <c:v>2.75</c:v>
                </c:pt>
                <c:pt idx="6">
                  <c:v>2.75</c:v>
                </c:pt>
              </c:numCache>
            </c:numRef>
          </c:val>
          <c:smooth/>
        </c:ser>
        <c:ser>
          <c:idx val="2"/>
          <c:order val="2"/>
          <c:tx>
            <c:strRef>
              <c:f>Sheet1!$D$1</c:f>
              <c:strCache>
                <c:ptCount val="1"/>
                <c:pt idx="0">
                  <c:v>Excretada</c:v>
                </c:pt>
              </c:strCache>
            </c:strRef>
          </c:tx>
          <c:spPr>
            <a:ln w="44450">
              <a:solidFill>
                <a:srgbClr val="C00000"/>
              </a:solidFill>
            </a:ln>
          </c:spPr>
          <c:marker>
            <c:symbol val="none"/>
          </c:marker>
          <c:cat>
            <c:strRef>
              <c:f>Sheet1!$A$2:$A$8</c:f>
              <c:strCache>
                <c:ptCount val="7"/>
                <c:pt idx="0">
                  <c:v>0</c:v>
                </c:pt>
                <c:pt idx="1">
                  <c:v>100</c:v>
                </c:pt>
                <c:pt idx="2">
                  <c:v>200</c:v>
                </c:pt>
                <c:pt idx="3">
                  <c:v>300</c:v>
                </c:pt>
                <c:pt idx="4">
                  <c:v>400</c:v>
                </c:pt>
                <c:pt idx="5">
                  <c:v>500</c:v>
                </c:pt>
                <c:pt idx="6">
                  <c:v>600</c:v>
                </c:pt>
              </c:strCache>
            </c:strRef>
          </c:cat>
          <c:val>
            <c:numRef>
              <c:f>Sheet1!$D$2:$D$8</c:f>
              <c:numCache>
                <c:formatCode>General</c:formatCode>
                <c:ptCount val="7"/>
                <c:pt idx="0">
                  <c:v>0</c:v>
                </c:pt>
                <c:pt idx="1">
                  <c:v>0</c:v>
                </c:pt>
                <c:pt idx="2">
                  <c:v>0.05</c:v>
                </c:pt>
                <c:pt idx="3">
                  <c:v>0.4</c:v>
                </c:pt>
                <c:pt idx="4">
                  <c:v>1.25</c:v>
                </c:pt>
                <c:pt idx="5">
                  <c:v>2.25</c:v>
                </c:pt>
                <c:pt idx="6">
                  <c:v>3.25</c:v>
                </c:pt>
              </c:numCache>
            </c:numRef>
          </c:val>
          <c:smooth/>
        </c:ser>
        <c:marker val="1"/>
        <c:smooth val="0"/>
        <c:axId val="2118791784"/>
        <c:axId val="2140495176"/>
      </c:lineChart>
      <c:catAx>
        <c:axId val="2118791784"/>
        <c:scaling>
          <c:orientation val="minMax"/>
        </c:scaling>
        <c:delete val="0"/>
        <c:axPos val="b"/>
        <c:title>
          <c:tx>
            <c:rich>
              <a:bodyPr/>
              <a:lstStyle/>
              <a:p>
                <a:r>
                  <a:rPr sz="1050" b="1">
                    <a:latin typeface="Fira Sans Condensed"/>
                  </a:rPr>
                  <a:t>Glucemia (mg/dL)</a:t>
                </a:r>
              </a:p>
            </c:rich>
          </c:tx>
          <c:layout/>
          <c:overlay val="0"/>
        </c:title>
        <c:majorTickMark val="out"/>
        <c:minorTickMark val="none"/>
        <c:tickLblPos val="nextTo"/>
        <c:spPr>
          <a:ln>
            <a:solidFill>
              <a:srgbClr val="1E1E1E"/>
            </a:solidFill>
          </a:ln>
        </c:spPr>
        <c:txPr>
          <a:bodyPr/>
          <a:lstStyle/>
          <a:p>
            <a:pPr>
              <a:defRPr sz="105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950">
                <a:latin typeface="Fira Sans Condensed"/>
              </a:defRPr>
            </a:pPr>
          </a:p>
        </c:txPr>
        <c:crossAx val="2118791784"/>
        <c:crosses val="autoZero"/>
      </c:valAx>
    </c:plotArea>
    <c:legend>
      <c:legendPos val="b"/>
      <c:layout/>
      <c:overlay val="0"/>
      <c:txPr>
        <a:bodyPr/>
        <a:lstStyle/>
        <a:p>
          <a:pPr>
            <a:defRPr sz="1050">
              <a:latin typeface="Fira Sans Condensed"/>
            </a:defRPr>
          </a:pPr>
        </a:p>
      </c:txPr>
    </c:legend>
    <c:plotVisOnly val="1"/>
    <c:dispBlanksAs val="gap"/>
    <c:showDLblsOverMax val="0"/>
  </c:chart>
  <c:spPr>
    <a:solidFill>
      <a:srgbClr val="FFFFFF">
        <a:alpha val="55000"/>
      </a:srgbClr>
    </a:solidFill>
    <a:ln w="15875">
      <a:solidFill>
        <a:srgbClr val="1E1E1E"/>
      </a:solidFill>
    </a:ln>
  </c:spPr>
  <c:txPr>
    <a:bodyPr/>
    <a:lstStyle/>
    <a:p>
      <a:pPr>
        <a:defRPr sz="1050">
          <a:latin typeface="Fira Sans Condensed"/>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50" b="1">
                <a:latin typeface="Fira Sans Condensed"/>
              </a:rPr>
              <a:t>HCO₃⁻ y pCO₂</a:t>
            </a:r>
          </a:p>
        </c:rich>
      </c:tx>
      <c:layout/>
      <c:overlay val="0"/>
    </c:title>
    <c:autoTitleDeleted val="0"/>
    <c:plotArea>
      <c:lineChart>
        <c:grouping val="standard"/>
        <c:varyColors val="0"/>
        <c:ser>
          <c:idx val="0"/>
          <c:order val="0"/>
          <c:tx>
            <c:strRef>
              <c:f>Sheet1!$B$1</c:f>
              <c:strCache>
                <c:ptCount val="1"/>
                <c:pt idx="0">
                  <c:v>HCO₃⁻</c:v>
                </c:pt>
              </c:strCache>
            </c:strRef>
          </c:tx>
          <c:spPr>
            <a:ln w="44450">
              <a:solidFill>
                <a:srgbClr val="1F4E9A"/>
              </a:solidFill>
            </a:ln>
          </c:spPr>
          <c:marker>
            <c:symbol val="none"/>
          </c:marker>
          <c:cat>
            <c:strRef>
              <c:f>Sheet1!$A$2:$A$3</c:f>
              <c:strCache>
                <c:ptCount val="2"/>
                <c:pt idx="0">
                  <c:v>Ingreso</c:v>
                </c:pt>
                <c:pt idx="1">
                  <c:v>24 h</c:v>
                </c:pt>
              </c:strCache>
            </c:strRef>
          </c:cat>
          <c:val>
            <c:numRef>
              <c:f>Sheet1!$B$2:$B$3</c:f>
              <c:numCache>
                <c:formatCode>General</c:formatCode>
                <c:ptCount val="2"/>
                <c:pt idx="0">
                  <c:v>13</c:v>
                </c:pt>
                <c:pt idx="1">
                  <c:v>22</c:v>
                </c:pt>
              </c:numCache>
            </c:numRef>
          </c:val>
          <c:smooth val="0"/>
        </c:ser>
        <c:ser>
          <c:idx val="1"/>
          <c:order val="1"/>
          <c:tx>
            <c:strRef>
              <c:f>Sheet1!$C$1</c:f>
              <c:strCache>
                <c:ptCount val="1"/>
                <c:pt idx="0">
                  <c:v>pCO₂</c:v>
                </c:pt>
              </c:strCache>
            </c:strRef>
          </c:tx>
          <c:spPr>
            <a:ln w="44450">
              <a:solidFill>
                <a:srgbClr val="C00000"/>
              </a:solidFill>
            </a:ln>
          </c:spPr>
          <c:marker>
            <c:symbol val="none"/>
          </c:marker>
          <c:cat>
            <c:strRef>
              <c:f>Sheet1!$A$2:$A$3</c:f>
              <c:strCache>
                <c:ptCount val="2"/>
                <c:pt idx="0">
                  <c:v>Ingreso</c:v>
                </c:pt>
                <c:pt idx="1">
                  <c:v>24 h</c:v>
                </c:pt>
              </c:strCache>
            </c:strRef>
          </c:cat>
          <c:val>
            <c:numRef>
              <c:f>Sheet1!$C$2:$C$3</c:f>
              <c:numCache>
                <c:formatCode>General</c:formatCode>
                <c:ptCount val="2"/>
                <c:pt idx="0">
                  <c:v>24</c:v>
                </c:pt>
                <c:pt idx="1">
                  <c:v>37</c:v>
                </c:pt>
              </c:numCache>
            </c:numRef>
          </c:val>
          <c:smooth val="0"/>
        </c:ser>
        <c:dLbls>
          <c:txPr>
            <a:bodyPr/>
            <a:lstStyle/>
            <a:p>
              <a:pPr>
                <a:defRPr sz="1050" b="1">
                  <a:latin typeface="Fira Sans Condensed"/>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1E1E1E"/>
            </a:solidFill>
          </a:ln>
        </c:spPr>
        <c:txPr>
          <a:bodyPr/>
          <a:lstStyle/>
          <a:p>
            <a:pPr>
              <a:defRPr sz="105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950">
                <a:latin typeface="Fira Sans Condensed"/>
              </a:defRPr>
            </a:pPr>
          </a:p>
        </c:txPr>
        <c:crossAx val="2118791784"/>
        <c:crosses val="autoZero"/>
      </c:valAx>
    </c:plotArea>
    <c:legend>
      <c:legendPos val="b"/>
      <c:layout/>
      <c:overlay val="0"/>
      <c:txPr>
        <a:bodyPr/>
        <a:lstStyle/>
        <a:p>
          <a:pPr>
            <a:defRPr sz="1050">
              <a:latin typeface="Fira Sans Condensed"/>
            </a:defRPr>
          </a:pPr>
        </a:p>
      </c:txPr>
    </c:legend>
    <c:plotVisOnly val="1"/>
    <c:dispBlanksAs val="gap"/>
    <c:showDLblsOverMax val="0"/>
  </c:chart>
  <c:spPr>
    <a:solidFill>
      <a:srgbClr val="FFFFFF">
        <a:alpha val="55000"/>
      </a:srgbClr>
    </a:solidFill>
    <a:ln w="15875">
      <a:solidFill>
        <a:srgbClr val="1E1E1E"/>
      </a:solidFill>
    </a:ln>
  </c:spPr>
  <c:txPr>
    <a:bodyPr/>
    <a:lstStyle/>
    <a:p>
      <a:pPr>
        <a:defRPr sz="1050">
          <a:latin typeface="Fira Sans Condensed"/>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Fira Sans Condensed"/>
              </a:rPr>
              <a:t>Efecto (% del máximo) según concentración de insulina — esquema</a:t>
            </a:r>
          </a:p>
        </c:rich>
      </c:tx>
      <c:layout/>
      <c:overlay val="0"/>
    </c:title>
    <c:autoTitleDeleted val="0"/>
    <c:plotArea>
      <c:lineChart>
        <c:grouping val="standard"/>
        <c:varyColors val="0"/>
        <c:ser>
          <c:idx val="0"/>
          <c:order val="0"/>
          <c:tx>
            <c:strRef>
              <c:f>Sheet1!$B$1</c:f>
              <c:strCache>
                <c:ptCount val="1"/>
                <c:pt idx="0">
                  <c:v>Inhibición de la lipólisis</c:v>
                </c:pt>
              </c:strCache>
            </c:strRef>
          </c:tx>
          <c:spPr>
            <a:ln w="44450">
              <a:solidFill>
                <a:srgbClr val="C00000"/>
              </a:solidFill>
            </a:ln>
          </c:spPr>
          <c:marker>
            <c:symbol val="none"/>
          </c:marker>
          <c:cat>
            <c:strRef>
              <c:f>Sheet1!$A$2:$A$8</c:f>
              <c:strCache>
                <c:ptCount val="7"/>
                <c:pt idx="0">
                  <c:v>0</c:v>
                </c:pt>
                <c:pt idx="1">
                  <c:v>5</c:v>
                </c:pt>
                <c:pt idx="2">
                  <c:v>10</c:v>
                </c:pt>
                <c:pt idx="3">
                  <c:v>20</c:v>
                </c:pt>
                <c:pt idx="4">
                  <c:v>40</c:v>
                </c:pt>
                <c:pt idx="5">
                  <c:v>80</c:v>
                </c:pt>
                <c:pt idx="6">
                  <c:v>160</c:v>
                </c:pt>
              </c:strCache>
            </c:strRef>
          </c:cat>
          <c:val>
            <c:numRef>
              <c:f>Sheet1!$B$2:$B$8</c:f>
              <c:numCache>
                <c:formatCode>General</c:formatCode>
                <c:ptCount val="7"/>
                <c:pt idx="0">
                  <c:v>0</c:v>
                </c:pt>
                <c:pt idx="1">
                  <c:v>45</c:v>
                </c:pt>
                <c:pt idx="2">
                  <c:v>70</c:v>
                </c:pt>
                <c:pt idx="3">
                  <c:v>88</c:v>
                </c:pt>
                <c:pt idx="4">
                  <c:v>96</c:v>
                </c:pt>
                <c:pt idx="5">
                  <c:v>99</c:v>
                </c:pt>
                <c:pt idx="6">
                  <c:v>100</c:v>
                </c:pt>
              </c:numCache>
            </c:numRef>
          </c:val>
          <c:smooth/>
        </c:ser>
        <c:ser>
          <c:idx val="1"/>
          <c:order val="1"/>
          <c:tx>
            <c:strRef>
              <c:f>Sheet1!$C$1</c:f>
              <c:strCache>
                <c:ptCount val="1"/>
                <c:pt idx="0">
                  <c:v>Supresión de producción hepática de glucosa</c:v>
                </c:pt>
              </c:strCache>
            </c:strRef>
          </c:tx>
          <c:spPr>
            <a:ln w="44450">
              <a:solidFill>
                <a:srgbClr val="7030A0"/>
              </a:solidFill>
            </a:ln>
          </c:spPr>
          <c:marker>
            <c:symbol val="none"/>
          </c:marker>
          <c:cat>
            <c:strRef>
              <c:f>Sheet1!$A$2:$A$8</c:f>
              <c:strCache>
                <c:ptCount val="7"/>
                <c:pt idx="0">
                  <c:v>0</c:v>
                </c:pt>
                <c:pt idx="1">
                  <c:v>5</c:v>
                </c:pt>
                <c:pt idx="2">
                  <c:v>10</c:v>
                </c:pt>
                <c:pt idx="3">
                  <c:v>20</c:v>
                </c:pt>
                <c:pt idx="4">
                  <c:v>40</c:v>
                </c:pt>
                <c:pt idx="5">
                  <c:v>80</c:v>
                </c:pt>
                <c:pt idx="6">
                  <c:v>160</c:v>
                </c:pt>
              </c:strCache>
            </c:strRef>
          </c:cat>
          <c:val>
            <c:numRef>
              <c:f>Sheet1!$C$2:$C$8</c:f>
              <c:numCache>
                <c:formatCode>General</c:formatCode>
                <c:ptCount val="7"/>
                <c:pt idx="0">
                  <c:v>0</c:v>
                </c:pt>
                <c:pt idx="1">
                  <c:v>10</c:v>
                </c:pt>
                <c:pt idx="2">
                  <c:v>22</c:v>
                </c:pt>
                <c:pt idx="3">
                  <c:v>45</c:v>
                </c:pt>
                <c:pt idx="4">
                  <c:v>70</c:v>
                </c:pt>
                <c:pt idx="5">
                  <c:v>88</c:v>
                </c:pt>
                <c:pt idx="6">
                  <c:v>96</c:v>
                </c:pt>
              </c:numCache>
            </c:numRef>
          </c:val>
          <c:smooth/>
        </c:ser>
        <c:ser>
          <c:idx val="2"/>
          <c:order val="2"/>
          <c:tx>
            <c:strRef>
              <c:f>Sheet1!$D$1</c:f>
              <c:strCache>
                <c:ptCount val="1"/>
                <c:pt idx="0">
                  <c:v>Captación muscular de glucosa</c:v>
                </c:pt>
              </c:strCache>
            </c:strRef>
          </c:tx>
          <c:spPr>
            <a:ln w="44450">
              <a:solidFill>
                <a:srgbClr val="1F4E9A"/>
              </a:solidFill>
            </a:ln>
          </c:spPr>
          <c:marker>
            <c:symbol val="none"/>
          </c:marker>
          <c:cat>
            <c:strRef>
              <c:f>Sheet1!$A$2:$A$8</c:f>
              <c:strCache>
                <c:ptCount val="7"/>
                <c:pt idx="0">
                  <c:v>0</c:v>
                </c:pt>
                <c:pt idx="1">
                  <c:v>5</c:v>
                </c:pt>
                <c:pt idx="2">
                  <c:v>10</c:v>
                </c:pt>
                <c:pt idx="3">
                  <c:v>20</c:v>
                </c:pt>
                <c:pt idx="4">
                  <c:v>40</c:v>
                </c:pt>
                <c:pt idx="5">
                  <c:v>80</c:v>
                </c:pt>
                <c:pt idx="6">
                  <c:v>160</c:v>
                </c:pt>
              </c:strCache>
            </c:strRef>
          </c:cat>
          <c:val>
            <c:numRef>
              <c:f>Sheet1!$D$2:$D$8</c:f>
              <c:numCache>
                <c:formatCode>General</c:formatCode>
                <c:ptCount val="7"/>
                <c:pt idx="0">
                  <c:v>0</c:v>
                </c:pt>
                <c:pt idx="1">
                  <c:v>3</c:v>
                </c:pt>
                <c:pt idx="2">
                  <c:v>8</c:v>
                </c:pt>
                <c:pt idx="3">
                  <c:v>20</c:v>
                </c:pt>
                <c:pt idx="4">
                  <c:v>42</c:v>
                </c:pt>
                <c:pt idx="5">
                  <c:v>68</c:v>
                </c:pt>
                <c:pt idx="6">
                  <c:v>88</c:v>
                </c:pt>
              </c:numCache>
            </c:numRef>
          </c:val>
          <c:smooth/>
        </c:ser>
        <c:marker val="1"/>
        <c:smooth val="0"/>
        <c:axId val="2118791784"/>
        <c:axId val="2140495176"/>
      </c:lineChart>
      <c:catAx>
        <c:axId val="2118791784"/>
        <c:scaling>
          <c:orientation val="minMax"/>
        </c:scaling>
        <c:delete val="0"/>
        <c:axPos val="b"/>
        <c:title>
          <c:tx>
            <c:rich>
              <a:bodyPr/>
              <a:lstStyle/>
              <a:p>
                <a:r>
                  <a:rPr sz="1100" b="1">
                    <a:latin typeface="Fira Sans Condensed"/>
                  </a:rPr>
                  <a:t>Insulina (unidades arbitrarias)</a:t>
                </a:r>
              </a:p>
            </c:rich>
          </c:tx>
          <c:layout/>
          <c:overlay val="0"/>
        </c:title>
        <c:majorTickMark val="out"/>
        <c:minorTickMark val="none"/>
        <c:tickLblPos val="nextTo"/>
        <c:spPr>
          <a:ln>
            <a:solidFill>
              <a:srgbClr val="1E1E1E"/>
            </a:solidFill>
          </a:ln>
        </c:spPr>
        <c:txPr>
          <a:bodyPr/>
          <a:lstStyle/>
          <a:p>
            <a:pPr>
              <a:defRPr sz="110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1000">
                <a:latin typeface="Fira Sans Condensed"/>
              </a:defRPr>
            </a:pPr>
          </a:p>
        </c:txPr>
        <c:crossAx val="2118791784"/>
        <c:crosses val="autoZero"/>
      </c:valAx>
    </c:plotArea>
    <c:legend>
      <c:legendPos val="b"/>
      <c:layout/>
      <c:overlay val="0"/>
      <c:txPr>
        <a:bodyPr/>
        <a:lstStyle/>
        <a:p>
          <a:pPr>
            <a:defRPr sz="1100">
              <a:latin typeface="Fira Sans Condensed"/>
            </a:defRPr>
          </a:pPr>
        </a:p>
      </c:txPr>
    </c:legend>
    <c:plotVisOnly val="1"/>
    <c:dispBlanksAs val="gap"/>
    <c:showDLblsOverMax val="0"/>
  </c:chart>
  <c:spPr>
    <a:solidFill>
      <a:srgbClr val="FFFFFF">
        <a:alpha val="55000"/>
      </a:srgbClr>
    </a:solidFill>
    <a:ln w="15875">
      <a:solidFill>
        <a:srgbClr val="1E1E1E"/>
      </a:solidFill>
    </a:ln>
  </c:spPr>
  <c:txPr>
    <a:bodyPr/>
    <a:lstStyle/>
    <a:p>
      <a:pPr>
        <a:defRPr sz="1100">
          <a:latin typeface="Fira Sans Condensed"/>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Fira Sans Condensed"/>
              </a:rPr>
              <a:t>Descenso promedio ≈ 10 kg/mes (esquema)</a:t>
            </a:r>
          </a:p>
        </c:rich>
      </c:tx>
      <c:layout/>
      <c:overlay val="0"/>
    </c:title>
    <c:autoTitleDeleted val="0"/>
    <c:plotArea>
      <c:lineChart>
        <c:grouping val="standard"/>
        <c:varyColors val="0"/>
        <c:ser>
          <c:idx val="0"/>
          <c:order val="0"/>
          <c:tx>
            <c:strRef>
              <c:f>Sheet1!$B$1</c:f>
              <c:strCache>
                <c:ptCount val="1"/>
                <c:pt idx="0">
                  <c:v>Peso (kg)</c:v>
                </c:pt>
              </c:strCache>
            </c:strRef>
          </c:tx>
          <c:spPr>
            <a:ln w="44450">
              <a:solidFill>
                <a:srgbClr val="C00000"/>
              </a:solidFill>
            </a:ln>
          </c:spPr>
          <c:marker>
            <c:symbol val="none"/>
          </c:marker>
          <c:cat>
            <c:strRef>
              <c:f>Sheet1!$A$2:$A$5</c:f>
              <c:strCache>
                <c:ptCount val="4"/>
                <c:pt idx="0">
                  <c:v>Inicio</c:v>
                </c:pt>
                <c:pt idx="1">
                  <c:v>Mes 1</c:v>
                </c:pt>
                <c:pt idx="2">
                  <c:v>Mes 2</c:v>
                </c:pt>
                <c:pt idx="3">
                  <c:v>Mes 3</c:v>
                </c:pt>
              </c:strCache>
            </c:strRef>
          </c:cat>
          <c:val>
            <c:numRef>
              <c:f>Sheet1!$B$2:$B$5</c:f>
              <c:numCache>
                <c:formatCode>General</c:formatCode>
                <c:ptCount val="4"/>
                <c:pt idx="0">
                  <c:v>170</c:v>
                </c:pt>
                <c:pt idx="1">
                  <c:v>160</c:v>
                </c:pt>
                <c:pt idx="2">
                  <c:v>150</c:v>
                </c:pt>
                <c:pt idx="3">
                  <c:v>140</c:v>
                </c:pt>
              </c:numCache>
            </c:numRef>
          </c:val>
          <c:smooth val="0"/>
        </c:ser>
        <c:dLbls>
          <c:txPr>
            <a:bodyPr/>
            <a:lstStyle/>
            <a:p>
              <a:pPr>
                <a:defRPr sz="1100" b="1">
                  <a:latin typeface="Fira Sans Condensed"/>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1E1E1E"/>
            </a:solidFill>
          </a:ln>
        </c:spPr>
        <c:txPr>
          <a:bodyPr/>
          <a:lstStyle/>
          <a:p>
            <a:pPr>
              <a:defRPr sz="1100">
                <a:latin typeface="Fira Sans Condensed"/>
              </a:defRPr>
            </a:pPr>
          </a:p>
        </c:txPr>
        <c:crossAx val="2140495176"/>
        <c:crosses val="autoZero"/>
        <c:auto val="1"/>
        <c:lblAlgn val="ctr"/>
        <c:lblOffset val="100"/>
        <c:noMultiLvlLbl val="0"/>
      </c:catAx>
      <c:valAx>
        <c:axId val="2140495176"/>
        <c:scaling>
          <c:min val="0.0"/>
        </c:scaling>
        <c:delete val="0"/>
        <c:axPos val="l"/>
        <c:majorGridlines>
          <c:spPr>
            <a:ln>
              <a:solidFill>
                <a:srgbClr val="D9B8A5"/>
              </a:solidFill>
            </a:ln>
          </c:spPr>
        </c:majorGridlines>
        <c:majorTickMark val="out"/>
        <c:minorTickMark val="none"/>
        <c:tickLblPos val="none"/>
        <c:spPr>
          <a:ln>
            <a:solidFill>
              <a:srgbClr val="1E1E1E"/>
            </a:solidFill>
          </a:ln>
        </c:spPr>
        <c:txPr>
          <a:bodyPr/>
          <a:lstStyle/>
          <a:p>
            <a:pPr>
              <a:defRPr sz="1000">
                <a:latin typeface="Fira Sans Condensed"/>
              </a:defRPr>
            </a:pPr>
          </a:p>
        </c:txPr>
        <c:crossAx val="2118791784"/>
        <c:crosses val="autoZero"/>
      </c:valAx>
    </c:plotArea>
    <c:plotVisOnly val="1"/>
    <c:dispBlanksAs val="gap"/>
    <c:showDLblsOverMax val="0"/>
  </c:chart>
  <c:spPr>
    <a:solidFill>
      <a:srgbClr val="FFFFFF">
        <a:alpha val="55000"/>
      </a:srgbClr>
    </a:solidFill>
    <a:ln w="15875">
      <a:solidFill>
        <a:srgbClr val="1E1E1E"/>
      </a:solidFill>
    </a:ln>
  </c:spPr>
  <c:txPr>
    <a:bodyPr/>
    <a:lstStyle/>
    <a:p>
      <a:pPr>
        <a:defRPr sz="1100">
          <a:latin typeface="Fira Sans Condense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 bioquímica integrada sobre diabetes, obesidad y tejido adiposo. El hilo conductor es la red PÁNCREAS ↔ HÍGADO ↔ TEJIDO ADIPOSO ↔ MÚSCULO ↔ RIÑÓN ↔ HIPOTÁLAMO ↔ SISTEMA CARDIOVASCULAR. Los modelos moleculares de la portada son geometrías tridimensionales reales (β-D-glucopiranosa, palmitato, D-β-hidroxibutirato y glicerol) calculadas con campo de fuerza y representadas con código de colores CPK: carbono gris oscuro, oxígeno rojo, hidrógeno blanco.</a:t>
            </a:r>
          </a:p>
          <a:p>
            <a:r>
              <a:t>Las ilustraciones de órganos y células provienen de Servier Medical Art (licencia CC BY 3.0/4.0).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Recorrido en once partes. Las unidades I a IV construyen la base molecular de la diabetes y la aplican a dos emergencias hiperglucémicas (casos 11 y 12). Las unidades V a VII trasladan el foco al tejido adiposo, el control neuroendocrino del apetito y la obesidad clase III (caso 20). La VIII desarrolla el tratamiento y la normativa argentina; la IX, el síndrome metabólico y la aterogénesis; la X reúne doce ejercicios y preguntas de opción múltiple; la XI cierra con límites de interpretación, datos faltantes y bibliografía.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Código visual constante. Los recuadros amarillos con borde negro y texto rojo representan metabolitos y moléculas clave; los salmón, hormonas y mediadores; los verdes, receptores, canales y transportadores; los pequeños rótulos sobre las flechas nombran enzimas o procesos; los rojos, consecuencias clínicas. Flechas negras: conversión o flujo; verdes: activación; rojas terminadas en barra: inhibición; azules discontinuas: transporte. Los modelos moleculares 3D usan el código CPK. Cuando un mecanismo ocurre en paralelo (por ejemplo, las dos ramas de la cetoacidosis) se anima en ramas simultáneas y no como cadena obligatoriamente consecutiva.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general de la red. El páncreas endocrino envía insulina y glucagón; el hígado recibe primero esas señales por la vena porta. La insulina actúa sobre hígado, músculo y tejido adiposo. El tejido adiposo devuelve información (leptina hacia el hipotálamo) y sustratos (ácidos grasos no esterificados y glicerol hacia el hígado). El sistema nervioso autónomo modula la secreción pancreática. El riñón filtra glucosa y, cuando la carga filtrada supera la reabsorción, aparece glucosuria; además regula sodio y volumen y conecta adiposidad, resistencia insulínica e hipertensión con el sistema cardiovascular. Animación: primero el páncreas, luego la acción insulínica en tres tejidos, luego las señales de vuelta del adipocito y finalmente el eje renal-cardiovascular.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conceptual de toda la unidad en cinco ideas. 1) El adipocito no es un depósito pasivo: almacena triglicéridos y secreta señales. 2) La insulina es el conector: su ausencia explica la cetoacidosis y su eficacia insuficiente explica la hiperglucemia crónica y la DM2. 3) El cerebro integra señales periféricas en conducta alimentaria y gasto. 4) El riñón traduce la hiperglucemia en pérdidas osmóticas de agua y electrolitos. 5) Las complicaciones comparten vías fisiopatológicas, pero el riesgo se evalúa en cada persona.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I. Construye el lenguaje molecular necesario para entender los tres casos clínicos: qué es la diabetes, cómo se fabrica y se secreta la insulina, cómo transduce su señal, qué hormonas se le oponen, cómo cambia el metabolismo de cada órgano entre la comida y el ayuno, cómo se diagnostica y por qué la hiperglucemia crónica daña vasos y nervios.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Definición [ADA 2026]: la diabetes mellitus es un conjunto heterogéneo de enfermedades metabólicas caracterizadas por hiperglucemia crónica, originada por deficiencia en la secreción de insulina, disminución de su acción en los tejidos diana o ambas. La hiperglucemia prolongada altera el metabolismo de carbohidratos, lípidos y proteínas y daña vasos, retina, riñones, nervios y corazón. Animación: primero el eje común (hiperglucemia crónica), luego los tres mecanismos que pueden originarla y finalmente sus consecuencias en órganos blanco.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Clasificación [ADA 2026]. DM1: en la mayoría, destrucción autoinmunitaria de células β con autoanticuerpos anti-GAD65, IA-2, ZnT8 y, en ciertos contextos, antiinsulina; déficit marcado o absoluto de insulina; una minoría corresponde a otras formas de déficit grave no necesariamente autoinmunes. DM2: interacción de resistencia insulínica hepática, muscular y adiposa con incapacidad progresiva de la célula β; la obesidad visceral suele contribuir, pero existe DM2 sin obesidad. Gestacional: hiperglucemia detectada por primera vez en el segundo o tercer trimestre; la resistencia insulínica aumenta por mediadores placentarios y puede desenmascarar disfunción β. Otros tipos específicos: monogénicos, enfermedad del páncreas exocrino, endocrinopatías, fármacos, síndromes genéticos e infecciones. Deben diferenciarse de la hiperglucemia transitoria por estrés agudo.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DM1. La mayor parte de los casos se debe a destrucción autoinmunitaria de las células β pancreáticas mediada por linfocitos T; los autoanticuerpos (anti-GAD65, IA-2, ZnT8 y antiinsulina) son marcadores de ese proceso. La pérdida secretora es progresiva: la etapificación moderna reconoce un estadio 1 de autoinmunidad con normoglucemia, un estadio 2 de disglucemia presintomática y un estadio 3 de diabetes clínica. El resultado final es un déficit insulínico marcado o absoluto: el riesgo de cetogénesis es elevado. Puede presentarse a cualquier edad. Las barras son un esquema conceptual de la masa funcional β, no valores medidos.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DM2: interacción de resistencia a la insulina en hígado, músculo y tejido adiposo con una incapacidad progresiva de las células β para compensarla. Al comienzo la secreción puede ser alta (hiperinsulinemia), pero relativamente insuficiente frente a la demanda. El gráfico es un esquema conceptual en unidades arbitrarias (no datos de un estudio): la sensibilidad cae primero, la secreción sube para compensar y luego declina; cuando la compensación fracasa aparece la hiperglucemia. La obesidad visceral suele contribuir, aunque existe DM2 en personas sin obesidad.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Diferenciación útil para la clase: un paciente con DM1 tiene un problema de disponibilidad de insulina; uno con DM2 suele tener un problema combinado de sensibilidad y capacidad secretora. Los estereotipos de edad y peso son patrones epidemiológicos, no criterios diagnósticos: hay DM1 en adultos y DM2 sin obesidad.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insulina se sintetiza en el retículo endoplásmico rugoso como preproinsulina. Tras eliminarse el péptido señal se obtiene proinsulina, que se pliega y forma tres puentes disulfuro (dos entre cadenas A y B y uno dentro de la cadena A). En el aparato de Golgi y en los gránulos inmaduros, las prohormona convertasas PC1/3 y PC2 y la carboxipeptidasa E escinden el péptido C (ampliación bibliográfica). Resultado: insulina madura (cadenas A de 21 y B de 30 aminoácidos) y péptido C en cantidades equimolares, almacenados en gránulos. El péptido C refleja producción endógena y ayuda en la clasificación de la diabetes cuando se interpreta según la glucemia y la función renal.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Modelo esquemático de la insulina humana: dos cadenas, A (21 aminoácidos) y B (30 aminoácidos), unidas por dos puentes disulfuro intercatenarios (A7–B7 y A20–B19) y un puente intracatenario en la cadena A (A6–A11). Cada esfera representa un residuo; las amarillas son las cisteínas. En el gránulo se almacena como hexámero coordinado con zinc y, tras la exocitosis, se disocia en monómeros, la forma activa (ampliación bibliográfica). La trayectoria de las cadenas es esquemática; no pretende reproducir coordenadas cristalográficas.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Inicio de la secuencia A (Morph): del organismo completo a la membrana de la célula β. En las diapositivas siguientes los objetos conservan su nombre (prefijo !!), de modo que la transición Morph produce un acercamiento continuo. El páncreas endocrino es una fracción mínima del órgano (ampliación bibliográfica: el tejido exocrino supera ampliamente el 95 %). Los islotes drenan a la vena porta, de modo que el hígado es el primer órgano blanco de la insulina y del glucagón.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Acercamiento al páncreas. La transición Morph agranda el organismo y lo desplaza fuera de la diapositiva mientras el páncreas crece hasta ocupar el centro. Funcionalmente coexisten dos glándulas: la exocrina (ácinos que vierten enzimas digestivas al duodeno) y la endocrina (islotes de Langerhans). La lupa señala la región que se ampliará: un islote.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Islote de Langerhans (ilustración: ácinos exocrinos alrededor de un islote central muy vascularizado). Células β: insulina y amilina, la población mayoritaria y el sensor de glucosa; α: glucagón; δ: somatostatina, freno paracrino de α y β; PP: polipéptido pancreático. La comunicación paracrina entre estas células modula la respuesta. La lupa marca una célula β, que se ampliará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célula β completa (llegada del acercamiento Morph desde el islote). En la célula β la glucosa ingresa mediante transportadores GLUT (según especie y condiciones predominan GLUT1/GLUT3 y/o GLUT2). La glucocinasa (GCK) actúa como sensor al fosforilar la glucosa a glucosa-6-fosfato. La glucólisis, la oxidación del piruvato, el ciclo de Krebs y la cadena respiratoria elevan la relación ATP/ADP. El canal K_ATP (Kir6.2/SUR1) y los canales de Ca²⁺ dependientes de voltaje traducen ese cambio metabólico en una señal eléctrica. Esta escena se repite con los mismos nombres de objeto en las seis diapositivas siguientes: el Morph muestra sólo lo que cambia en cada paso.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1 a 3. Las fichas de glucosa aparecen en el medio extracelular (aumento de la glucemia), atraviesan el GLUT (trayectorias de movimiento) y desaparecen al ser fosforiladas por la glucocinasa: la ficha G6P señala el producto. La glucocinasa (hexocinasa IV) tiene afinidad baja y no es inhibida por su producto, por lo que su velocidad acompaña proporcionalmente a la glucemia en el rango fisiológico: es el sensor que fija el umbral de secreción.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4 y 5. La glucosa-6-fosfato sigue la glucólisis hasta piruvato, que entra a la mitocondria y se oxida a acetil-CoA; el ciclo de Krebs y la cadena respiratoria generan ATP. Animación: el piruvato entra a la mitocondria, aparecen las fichas de ATP y la barra muestra el aumento de la relación ATP/ADP. Lo que importa para la señal no es la cantidad absoluta de ATP, sino la relación ATP/ADP (y Mg-ADP) que perciben las subunidades del canal.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6 y 7. Mediante Morph desde la diapositiva anterior, el canal K_ATP pasa de abierto a cerrado y las cargas de membrana se invierten. En reposo, la salida de K⁺ por los canales K_ATP mantiene la membrana polarizada (alrededor de −70 mV, valor aproximado). Cuando el ATP se une a Kir6.2 el canal se cierra, la corriente de K⁺ hacia afuera disminuye y la membrana se despolariza. Las sulfonilureas como la glibenclamida actúan aquí, sobre SUR1, cerrando el canal aun con glucosa baja: por eso pueden producir hipoglucemia (caso 12 y ejercicio 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8 y 9. La despolarización abre los canales de Ca²⁺ dependientes de voltaje (Morph: el canal cambia de cerrado a abierto). Las fichas de Ca²⁺ del medio extracelular atraviesan el canal mediante trayectorias de movimiento. El gradiente de calcio entre el exterior (milimolar) y el citosol (submicromolar) es de varios órdenes de magnitud (ampliación bibliográfica). El aumento local de Ca²⁺ es el disparador de la exocitosis.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10 y 11. Mediante Morph los gránulos se desplazan hacia la membrana; el pulso representa la fusión y luego salen hacia el medio extracelular la insulina (fichas azules) y el péptido C (fichas amarillas) en cantidades equimolares. La insulina llega a los capilares del islote, drena a la vena porta y alcanza primero el hígado. Esta secuencia completa —glucosa → GLUT → glucocinasa → ATP/ADP → cierre de K_ATP → despolarización → Ca²⁺ → exocitosis— fundamenta la acción de las sulfonilureas.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canal K_ATP es un octámero: cuatro subunidades Kir6.2 forman el poro de potasio y cuatro subunidades SUR1 (receptor de sulfonilureas) lo regulan. Con relación ATP/ADP baja el canal permanece abierto y la salida de K⁺ mantiene la célula polarizada. El aumento de ATP (unión a Kir6.2) cierra el poro. Las sulfonilureas como la glibenclamida se unen a SUR1 y cierran el canal independientemente de la glucemia; si existe reserva β estimulan la secreción de insulina endógena, pero pueden producir hipoglucemia (a veces prolongada) y aumento de peso. En la DM1 con déficit absoluto no hay secreción β que estimular. Animación: salida de K⁺, unión del ATP con cierre y unión del fármaco.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Exocitosis: el aumento de Ca²⁺ submembrana activa la maquinaria de fusión (proteínas SNARE y sensores de calcio, ampliación bibliográfica) y los gránulos vierten insulina y péptido C. Con un estímulo de glucosa sostenido la secreción es bifásica: una primera fase rápida, que libera gránulos ya anclados, y una segunda fase sostenida, que requiere reclutar gránulos y es amplificada por señales metabólicas e incretinas. El gráfico es un esquema conceptual (no datos de un paciente). La pérdida precoz de la primera fase acompaña a la disfunción β de la DM2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Incretinas. Tras la ingesta, las células L intestinales secretan GLP-1 y las células K, GIP. A través de receptores acoplados a Gs aumentan el AMPc, que activa PKA y Epac2 y favorece la secreción de insulina dependiente de glucosa. La potenciación sólo es eficaz cuando la vía metabólica ya generó la señal de calcio (glucosa elevada): esa es la base del bajo riesgo intrínseco de hipoglucemia de las terapias basadas en GLP-1, en contraste con las sulfonilureas que cierran el K_ATP con cualquier glucemia. El GLP-1 además reduce el glucagón en hiperglucemia, enlentece el vaciamiento gástrico y favorece la saciedad (Unidades VI y VIII).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glucagón es secretado por las células α ante hipoglucemia, aminoácidos y estimulación simpática, y cuando la insulina es baja. En el hepatocito activa un receptor acoplado a Gs → adenilil ciclasa → AMPc → PKA. La PKA favorece la glucogenólisis y la gluconeogénesis, reduce la síntesis de glucógeno y modula la oxidación de lípidos. El balance que decide el metabolismo hepático no es la concentración aislada de una hormona, sino la relación glucagón/insulina en la sangre portal.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Acción fisiológica normal (paso 1 de la cadena de la resistencia insulínica). En el hígado, la insulina aumenta la síntesis de glucógeno, la glucólisis y la lipogénesis y reduce la producción neta de glucosa; el hepatocito capta glucosa por GLUT2 sin depender de la insulina para el transporte: la hormona regula su metabolismo. En el músculo y el adipocito, la insulina transloca GLUT4 a la membrana. En el adipocito además provee glicerol-3-fosfato, aumenta la esterificación e inhibe la lipólisis. Idea fuerza: «Insulina → RTK → IRS/PI3K/Akt → GLUT4, glucógeno y anabolismo; menos gluconeogénesis y menos lipólisis».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Comienzo de la secuencia molecular de la señal insulínica (Morph en las seis diapositivas siguientes). El receptor de insulina es un receptor tirosina cinasa: un heterotetrámero α2β2. Las subunidades α son extracelulares y unen la hormona; las β atraviesan la membrana y contienen el dominio tirosina cinasa. En el citosol aparecen en gris los efectores todavía inactivos: IRS, PI3K, PDK1, Akt, AS160 y vesículas con GLUT4.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La insulina se une a las subunidades α (la ficha desciende hasta el receptor), lo que provoca un cambio conformacional que libera la autoinhibición: los dominios cinasa de las subunidades β se transfosforilan en residuos de tirosina. Esas fosfotirosinas aumentan la actividad cinasa y crean sitios de anclaje para los sustratos.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Mediante Morph, IRS-1/2 se desplaza desde el citosol hasta el receptor activado y es fosforilado en tirosinas. IRS actúa como plataforma de anclaje para proteínas con dominios SH2, en particular la subunidad reguladora de PI3K. Conviene retener desde ahora que la fosforilación de IRS en serina/treonina (por JNK, IKKβ o PKC) tiene el efecto opuesto: desacopla la señal (Unidad V, resistencia insulínica).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4 y 5. PI3K se une a IRS fosforilado y queda yuxtapuesta a la membrana, donde fosforila el fosfatidilinositol-4,5-bisfosfato (PIP2) en la posición 3 del inositol, generando PIP3 (Morph: la etiqueta PIP2 cambia a PIP3). El PIP3 es un lípido señalizador que recluta proteínas con dominio de homología a pleckstrina (PH), como PDK1 y Akt (ampliación bibliográfica sobre p85/p110 y dominios PH).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6. PDK1 y Akt son reclutados a la membrana por el PIP3; PDK1 fosforila a Akt (la fosforilación completa requiere también mTORC2, ampliación bibliográfica). Akt activa es el nodo de la rama metabólica: fosforila AS160/TBC1D4 (translocación de GLUT4), GSK3 (desinhibe la glucógeno sintasa), FOXO1 (reduce la transcripción de PEPCK y glucosa-6-fosfatasa), PDE3B (frena la lipólisis) y la vía mTORC1–SREBP-1c (lipogénesis).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7. Akt fosforila AS160 (TBC1D4), una proteína activadora de GTPasa de Rab; al inhibirla, aumentan las Rab-GTP que dirigen las vesículas con GLUT4. En la transición Morph las vesículas viajan desde el citosol y se incorporan a la membrana; luego las fichas de glucosa ingresan a través de los transportadores. Este es el mecanismo de captación estimulada por insulina en músculo esquelético, músculo cardíaco y adipocitos. El hepatocito no depende de este mecanismo (diapositiva siguiente sobre hígado).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grandes ramas explican los efectos de la insulina: IRS–PI3K–PIP3–PDK1–Akt, principalmente metabólica, y Ras–Raf–MEK–ERK, vinculada a proliferación y expresión génica. En estados de resistencia insulínica la rama metabólica suele estar más afectada que la mitogénica, de modo que la hiperinsulinemia compensatoria puede seguir estimulando la vía MAPK (ampliación bibliográfica; concepto de resistencia selectiva).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 hepática. El hepatocito utiliza predominantemente GLUT2, de alta capacidad: la entrada de glucosa no depende de la insulina. Allí la insulina regula la utilización y la producción de glucosa. Akt inactiva funcionalmente a FOXO1 (fosforilación y exclusión nuclear), lo que reduce la transcripción de PEPCK (PCK1) y glucosa-6-fosfatasa (G6PC). Akt inhibe a GSK3, de modo que la glucógeno sintasa queda activa. Por la vía mTORC1–SREBP-1c favorece los programas lipogénicos. Resultado: menos gluconeogénesis y glucogenólisis, más glucógeno y más síntesis de triglicéridos/VLDL.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adipocito la insulina activa, vía Akt, la fosfodiesterasa 3B, que degrada el AMPc; disminuye la actividad de PKA y quedan sin fosforilar la lipasa sensible a hormonas y la perilipina 1: la lipólisis se frena. Simultáneamente aumenta GLUT4 y el aporte de glicerol-3-fosfato para esterificar ácidos grasos. Ejemplo integrador: en la CAD desaparece el freno insulínico y el hígado recibe sustrato para cetogénesis; en el EHH la insulina residual suele frenar lo suficiente a las lipasas como para reducir las cetonas, aun sin lograr euglucemia. Una sola vía del adipocito explica la diferencia entre los dos casos clínicos.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ejercicio muscular puede llevar GLUT4 a la membrana por vías AMPK, Ca²⁺/CaMK y señales mecánicas, relativamente independientes de la insulina: por eso la glucemia desciende durante la actividad aun con baja señal insulínica, y el entrenamiento sostenido mejora la sensibilidad a la insulina y la capacidad mitocondrial. Es la base fisiológica de la pregunta 9 del caso 12 (actividad física moderada) y de la pregunta 7 de opción múltiple.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Hormonas contrarreguladoras. El glucagón actúa en el hígado por Gs → adenilil ciclasa → AMPc → PKA: favorece glucogenólisis y gluconeogénesis, reduce la síntesis de glucógeno y modula la oxidación de lípidos. Las catecolaminas movilizan reservas, aumentan la lipólisis y ajustan el flujo sanguíneo. El cortisol induce enzimas gluconeogénicas, resistencia a la insulina y proteólisis en escenarios crónicos. La hormona de crecimiento reduce la utilización periférica de glucosa y favorece la lipólisis. La combinación de menos insulina y más señales contrarreguladoras explica el catabolismo de la cetoacidosis (los íconos de órganos indican fuente o blanco representativo).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Glucólisis: glucosa → glucosa-6-P (hexocinasa/glucocinasa) → fructosa-1,6-bisfosfato (PFK-1, paso regulador) → piruvato; aporta ATP y NADH. Gluconeogénesis (flechas azules): lactato (ciclo de Cori), alanina (ciclo de Cahill), glicerol y otros precursores → glucosa, rodeando los pasos irreversibles con piruvato carboxilasa, PEPCK, fructosa-1,6-bisfosfatasa y glucosa-6-fosfatasa. La acetil-CoA generada por β-oxidación activa la piruvato carboxilasa e inhibe la piruvato deshidrogenasa, desviando el carbono hacia la gluconeogénesis. Animación: primero el eje glucolítico, luego la PDH, luego los rodeos gluconeogénicos, la regulación por acetil-CoA y los precursores.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β-oxidación y cetogénesis. El ácido graso activado como acil-CoA entra a la mitocondria por la lanzadera de carnitina, regulada por CPT1; el malonil-CoA (producto de la acetil-CoA carboxilasa, favorecida por la insulina) inhibe la CPT1. Con relación insulina/glucagón reducida disminuye la señal lipogénica y aumenta la entrada de ácidos grasos a la mitocondria. El exceso de acetil-CoA, junto al desvío de oxalacetato hacia la gluconeogénesis, favorece la síntesis de acetoacetato y β-hidroxibutirato mediante HMG-CoA sintasa mitocondrial (HMGCS2) y HMG-CoA liasa; la acetona deriva de la descarboxilación del acetoacetato. El hígado no oxida sus cuerpos cetónicos por ausencia de SCOT/OXCT1; los tejidos periféricos sí los utilizan para regenerar acetil-CoA.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Clave integradora: en la DM1 descompensada hay mucha glucosa extracelular y escasez de señal insulínica intracelular; coexisten hiperglucemia y un metabolismo de ayuno extremo. No toda vía opera igual en todos los órganos: el hígado mantiene entrada de glucosa por GLUT2 sin insulina (el problema es la regulación de su metabolismo) y el músculo no posee glucosa-6-fosfatasa funcional, por lo que su glucógeno no aporta glucosa libre a la sangre.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1, etapa 1. Tras una comida el intestino absorbe glucosa, aminoácidos y lípidos (quilomicrones). La glucosa y las incretinas GLP-1 y GIP estimulan la célula β: sube la insulina y baja el glucagón.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1, etapa 2. La insulina llega primero al hígado por la vena porta y suprime la producción hepática de glucosa (PHG), aumenta glucógeno, glucólisis y lipogénesis. En músculo y adiposo transloca GLUT4; en el adiposo favorece la esterificación (LPL capilar) e inhibe la lipólisis. El cerebro sigue utilizando glucosa como sustrato principal.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1 completo: páncreas → insulina → hígado, músculo y adipocito → captación, utilización y almacenamiento energético. Es el estado de referencia que se pierde en la diabetes.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2, etapa 1. Al bajar la insulina y subir la relación glucagón/insulina, el hígado pasa de almacenar a producir glucosa: primero por glucogenólisis y, a medida que el ayuno se prolonga, por gluconeogénesis.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2, etapa 2. El adipocito libera ácidos grasos no esterificados (AGNE, unidos a albúmina) y glicerol, sustrato de la gluconeogénesis. El músculo recurre más a la oxidación de lípidos y aporta aminoácidos (alanina). El encéfalo puede utilizar cuerpos cetónicos en ayuno prolongado; los eritrocitos siempre dependen de glucosa. El riñón también contribuye a la gluconeogénesis.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2 completo: disminución de insulina → lipólisis y producción hepática de glucosa → cambio de utilización de sustratos. En la DM1 sin insulina estas adaptaciones de ayuno se exacerban de forma patológica hasta la cetoacidosis.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Tabla por órganos (alimentado frente a ayuno o déficit de insulina) con su consecuencia clínica. Leerla por filas permite anticipar los hallazgos de la cetoacidosis: hiperglucemia por producción hepática y menor captación, cetonas por β-oxidación y cetogénesis, pérdida de masa magra por proteólisis, sustrato adiposo para el hígado, predominio de glucagón, glucosuria y diuresis osmótica, y vulnerabilidad del sensorio a la hiperosmolalidad y la hipoperfusión.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Criterios diagnósticos ADA 2026 en personas no embarazadas: glucemia plasmática en ayunas ≥126 mg/dL (prediabetes 100–125), glucemia a las 2 h de una PTOG con 75 g ≥200 mg/dL (prediabetes 140–199), HbA1c estandarizada NGSP/DCCT ≥6,5 % (prediabetes 5,7–6,4 %) o glucemia al azar ≥200 mg/dL con síntomas clásicos o crisis hiperglucémica. Confirmación: si no existe hiperglucemia inequívoca se necesitan dos resultados anormales, de la misma prueba repetida o de dos pruebas distintas; si son discordantes se repite la prueba que está sobre el umbral. Un valor aislado de 145 mg/dL (como el del caso 20) no demuestra diabetes sin conocer si fue en ayunas, el contexto y una confirmación.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HbA1c. La glucosa reacciona de manera no enzimática con grupos amino libres de la hemoglobina, principalmente la valina N-terminal de la cadena β: primero forma una base de Schiff (aldimina) reversible y luego, por reordenamiento de Amadori, una cetoamina estable (HbA1c). La velocidad depende de la concentración de glucosa y del tiempo de exposición, por eso refleja aproximadamente 8–12 semanas, con mayor ponderación de las semanas recientes. No es lo mismo que la glucosilación enzimática de proteínas. Los tiempos «horas/días» son orientativos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duración y el recambio eritrocitario modifican la interpretación de la HbA1c: anemia ferropénica, hemólisis, transfusiones, embarazo avanzado, enfermedad renal, hemoglobinopatías y uso de eritropoyetina pueden sesgarla; en esas situaciones puede preferirse la glucosa plasmática o marcadores alternativos validados (la dirección del sesgo en cada fila es ampliación bibliográfica). Glucemia promedio estimada: eAG = 28,7 × HbA1c − 46,7. Para HbA1c 12 %: 28,7 × 12 = 344,4; 344,4 − 46,7 = 297,7 mg/dL. En el paciente del caso 11, con DM1, este valor indica control marcadamente insuficiente aunque una glucemia basal aislada fuera 160 mg/dL.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Mecanismos bioquímicos de glucotoxicidad. La hiperglucemia sostenida incrementa la formación de productos finales de glicación avanzada (AGE) y su interacción con el receptor RAGE, especies reactivas de oxígeno, activación de PKC, flujo por la vía de los polioles (aldosa reductasa) y por la vía de las hexosaminas, y estrés endotelial. Los efectos convergen en fibrosis, alteración de la matriz extracelular, inflamación, disfunción vascular y daño renal, nervioso y retiniano. Los detalles moleculares de cada vía (DAG de novo, consumo de NADPH, UDP-GlcNAc, NF-κB) son ampliación bibliográfica; las vías se animan en paralelo porque operan simultáneamente.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 y RAGE. Las proteínas de vida media larga (colágeno, matriz) sufren glicación avanzada; los AGE producen entrecruzamientos que rigidizan la matriz y se unen a RAGE en endotelio y macrófagos, activando NADPH oxidasa (especies reactivas de oxígeno) y NF-κB (citocinas y moléculas de adhesión). El resultado es menor biodisponibilidad de óxido nítrico, mayor permeabilidad y un ambiente procoagulante: disfunción endotelial. El material de cátedra enuncia AGE, RAGE, ROS, PKC y estrés endotelial; el detalle de NADPH oxidasa, NF-κB y «memoria metabólica» es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Microangiopatía: retinopatía (microaneurismas, hemorragias, edema macular y neovascularización), enfermedad renal diabética (albuminuria y/o disminución de la tasa de filtración glomerular; la hiperglucemia puede generar hiperfiltración inicial y luego daño glomerular) y neuropatía periférica y autonómica (dolor, pérdida de sensibilidad protectora, gastroparesia, disfunción cardiovascular y sexual). La prevención requiere control glucémico individualizado y abordar presión, lípidos, función renal, retina, pies, tabaquismo y vacunación; no basta con normalizar una glucemia aislada.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8 del caso 11 (daño agudo y crónico). A corto plazo: poliuria y deshidratación por glucosuria; trastornos de sodio y potasio; hipotensión y lesión renal prerrenal; CAD, EHH o formas mixtas; alteración del sensorio; trombosis favorecida por hemoconcentración; cambios de visión por variación osmótica del cristalino; infecciones y mala cicatrización. La glucemia extremadamente alta puede asociarse a coma, pero no todo coma en diabetes es hiperglucémico. A largo plazo, además de la microangiopatía: enfermedad coronaria, cerebrovascular y arterial periférica, donde la aterosclerosis surge de la hiperglucemia y de factores acompañantes (LDL, HTA, inflamación, tabaquismo); pie diabético, infecciones, enfermedad periodontal, esteatosis hepática y complicaciones sexuales.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II. Caso clínico 11: persona de 24 años con DM1 y neumonía neumocócica que desarrolla cetoacidosis diabética. Se integran los mecanismos de insulinopenia, cetogénesis, equilibrio ácido-base, riñón, potasio y respuesta al estrés, con una verificación crítica de la gasometría informada.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11. Persona de 24 años con DM1 tratada con insulina NPH 35 UI por la mañana y 10 UI por la noche, HbA1c 12 %. Consulta por náuseas, vómitos, tos productiva y fiebre; presenta hipotensión, taquicardia, taquipnea, somnolencia y desorientación. La radiografía muestra consolidación basal derecha y luego los hemocultivos resultan positivos para neumococo. La pregunta conductora: ¿cómo una infección transforma la falta de insulina en una emergencia metabólica?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al ingreso y su lectura inicial. Glucosa 390 mg/dL; pH 7,15; HCO₃⁻ 13 mEq/L; pCO₂ 24 mmHg; cetonemia +++ (no cuantificada); cetonuria +; exceso de base −8; leucocitos 15.000/mm³; TA 90/50, FC 120, FR 32; temperatura 38,7 °C. El marco rojo resalta la tríada gasométrica, que no es internamente consistente: se analizará con Henderson–Hasselbalch y sin forzar conclusiones. Faltan pruebas esenciales: electrolitos (Na, K, Cl), urea, creatinina, magnesio, fósforo, lactato, β-hidroxibutirato cuantitativo, osmolalidad, anion gap, ECG, diuresis y cultivos según criterio clínico. No se deben inventar los valores ausentes.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1a. 390 mg/dL es una hiperglucemia grave para una persona con DM1 y síntomas de descompensación. Refleja la combinación de mayor producción hepática de glucosa (glucogenólisis y gluconeogénesis) y menor captación periférica dependiente de insulina, exacerbada por catecolaminas, cortisol, citocinas y glucagón ante la neumonía. La glucosa no determina por sí sola la gravedad: deben valorarse pH, β-hidroxibutirato, bicarbonato, osmolalidad, hidratación y estado de conciencia. Existe CAD euglucémica, por ejemplo con inhibidores SGLT2 o en el embarazo [consenso 2024].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Vías comprometidas por la insulinopenia: 1) captación de glucosa disminuida por menos GLUT4 en membrana; 2) producción hepática de glucosa aumentada (glucogenólisis y gluconeogénesis con lactato, alanina y glicerol); 3) lipólisis aumentada (catecolaminas/PKA, perilipina, ATGL y HSL liberan AGNE y glicerol); 4) β-oxidación aumentada (CPT1 menos restringida por malonil-CoA y alto flujo de AGNE); 5) cetogénesis aumentada (HMGCS2); 6) lipogénesis y esterificación disminuidas; 7) proteólisis aumentada; 8) glucogenosíntesis disminuida; 9) balance hidroelectrolítico alterado (glucosuria, natriuresis y kaliuresis). Se revelan en tres bloques: glucosa, lípidos y consecuencias.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3, etapa 1. Con insulina prácticamente ausente y hormonas de estrés elevadas, el tejido adiposo libera AGNE y glicerol y el músculo aminoácidos: el hígado produce glucosa y cuerpos cetónicos en exceso.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3, etapa 2. El riñón recibe una carga filtrada de glucosa que supera su reabsorción: glucosuria y diuresis osmótica con pérdida de agua, sodio y potasio (hipovolemia). Los cetoácidos consumen bicarbonato (acidemia) y el pulmón compensa con hiperventilación (Kussmaul). El potasio sale de las células aunque el total corporal disminuye.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3 completo: insulinopenia → hiperglucemia + cetogénesis → alteraciones renales, hidroelectrolíticas y ácido-base. Los detalles moleculares de cada flecha se desarrollan en las secuencias C (cetogénesis) y D (riñón).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C, paso 1 (Morph a lo largo de seis diapositivas). La disminución de la señal insulínica reduce la inhibición de la lipólisis adipocitaria: la PKA (activada por catecolaminas) fosforila perilipina 1 y la lipasa sensible a hormonas, y la ATGL con su coactivador CGI-58 inicia la hidrólisis del triacilglicerol. Aparecen ácidos grasos y glicerol; en las diapositivas siguientes la gota lipídica se reduce progresivamente mientras sus productos viajan.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Los ácidos grasos no esterificados salen del adipocito y circulan unidos a albúmina (fichas «Alb»); el glicerol, hidrosoluble, llega al hígado como sustrato de la gluconeogénesis. La trayectoria de movimiento muestra el flujo hacia el hígado.</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Los ácidos grasos ingresan al hepatocito, se activan a acil-CoA y atraviesan la membrana mitocondrial interna mediante la lanzadera de carnitina regulada por CPT1. Sin insulina la acetil-CoA carboxilasa es poco activa y el malonil-CoA disminuye: el freno de CPT1 desaparece y la entrada a la mitocondria se acelera.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4. En la matriz mitocondrial la β-oxidación genera acetil-CoA y NADH en exceso. La acetil-CoA activa la piruvato carboxilasa e inhibe la PDH; el oxalacetato se desvía hacia la gluconeogénesis (la ficha OAA sale de la mitocondria), de modo que disminuye el oxalacetato disponible para condensarse con acetil-CoA en el ciclo de Krebs. El excedente de acetil-CoA queda disponible para la cetogénesis.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5. Dos acetil-CoA forman acetoacetil-CoA; la HMG-CoA sintasa mitocondrial (HMGCS2, enzima regulada de la vía) produce HMG-CoA y la HMG-CoA liasa libera acetoacetato. Con relación NADH/NAD⁺ elevada, la β-hidroxibutirato deshidrogenasa favorece la formación de β-hidroxibutirato. Los modelos 3D muestran ambas moléculas. Como el hepatocito carece de SCOT (OXCT1) no puede oxidarlos: los cuerpos cetónicos (CC) salen a la sangre. Cuando la producción supera el uso periférico y la eliminación aparece cetonemia; las cetonas filtradas producen cetonuria.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6. A pH fisiológico el acetoacetato y el β-hidroxibutirato circulan como aniones: su formación libera protones (fichas H⁺). El sistema tampón bicarbonato los neutraliza: H⁺ + HCO₃⁻ ⇌ H₂CO₃ ⇌ CO₂ + H₂O, de modo que el HCO₃⁻ desaparece (las fichas se desvanecen) y el CO₂ resultante se elimina por el pulmón con respiración profunda y rápida (Kussmaul). Además, la orina pierde aniones cetónicos junto con Na⁺ y K⁺ y, con ellos, potencial de regeneración de bicarbonato. La caída de bicarbonato no significa sólo «que el riñón lo elimine»: predomina una carga ácida que excede la amortiguación y la excreción renal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D (Morph): sangre → arteria renal → glomérulo → túbulo proximal → SGLT2 → glucosuria → diuresis osmótica. Primer paso: la sangre hiperglucémica llega al riñón por la arteria renal (el riñón recibe alrededor de una quinta parte del gasto cardíaco, ampliación bibliográfica). Las fichas de glucosa recorren la aorta hacia la arteria renal.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acercamiento Morph del riñón a la nefrona. La glucosa se filtra libremente; la carga filtrada es el producto del filtrado glomerular por la glucemia, con unidades compatibles. El FG de este paciente no fue informado: el cálculo con 120 mL/min es sólo didáctico y está rotulado como supuesto. Con 390 mg/dL (3,9 mg/mL) × 120 mL/min = 468 mg/min. La carga filtrada crece linealmente con la glucemia, mientras que la reabsorción tubular es saturable.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el túbulo proximal. La reabsorción de glucosa ocurre mediante SGLT2 en los segmentos iniciales (cotransporte Na⁺:glucosa 1:1, de alta capacidad) y SGLT1 en la porción más distal (2:1, alta afinidad); la salida basolateral es por GLUT. La Na⁺/K⁺-ATPasa basolateral mantiene el gradiente de sodio que impulsa el cotransporte (estequiometrías: ampliación bibliográfica). Animación: las fichas de glucosa entran por SGLT2, atraviesan la célula y salen por GLUT2 hacia el capilar peritubular: en condiciones normales casi toda la glucosa filtrada se recupera.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4. Cuando la carga filtrada supera progresivamente la capacidad de reabsorción, la glucosa sobrante permanece en la luz y aparece en la orina: glucosuria. La curva de titulación (esquema conceptual) muestra la carga filtrada lineal, la reabsorción que se satura y la excreción que comienza en el umbral. El umbral clínico se sitúa cerca de 180 mg/dL, con gran variación individual (embarazo, función renal, diabetes de larga evolución, inhibidores SGLT2). Con 390 mg/dL la glucosuria es muy esperable, aunque no fue informada en el análisis del caso: no se inventa el dato.</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5. La glucosa no reabsorbida aumenta la osmolalidad del líquido tubular y dificulta la reabsorción de agua: diuresis osmótica. Resultado: poliuria, polidipsia, deshidratación, hipotensión, taquicardia, menor filtración renal y, con ella, menor depuración de glucosa (círculo vicioso). Se pierden sodio, potasio, cloro, magnesio y fosfato. Las fichas de agua abandonan el túbulo hacia la orina arrastradas por la glucosa.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Potasio sérico frente a potasio corporal total. La insulinopenia (menor estímulo de la Na⁺/K⁺-ATPasa), la acidosis y la hiperosmolalidad trasladan K⁺ del intracelular al extracelular, mientras la diuresis osmótica y los vómitos eliminan grandes cantidades: la kalemia puede verse normal o elevada pese a un déficit corporal total. Al reponer insulina el K⁺ entra rápidamente a las células y aparece riesgo de hipopotasemia grave. Animación: el K⁺ sale de la célula, luego se pierde por orina, y finalmente la insulina lo reintroduce. El porcentaje intracelular (~98 %) y el matiz sobre el tipo de acidosis son ampliación bibliográfica. Ejercicio 7 de la Unidad X.</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5. La infección neumocócica activa la inmunidad innata y libera mediadores (IL-1, IL-6, TNF-α) que estimulan la respuesta de estrés: catecolaminas, cortisol, glucagón y hormona de crecimiento. Se intensifican la resistencia periférica a la insulina, la salida hepática de glucosa y la lipólisis. La fiebre aumenta las demandas metabólicas; los vómitos y la menor ingesta reducen la hidratación; la taquipnea incrementa las pérdidas insensibles. La dosis habitual de insulina puede tornarse insuficiente aun si fue administrada. La hiperglucemia a su vez deteriora funciones inmunitarias y la perfusión microvascular. La leucocitosis aislada no confirma infección, pero aquí la fiebre, la consolidación y los hemocultivos sí apoyan infección bacteriana. La taquipnea puede tener contribución mixta.</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3 de animación. Rama cetónica (izquierda): insulinopenia → lipólisis adiposa → AGNE al hígado → β-oxidación → acetil-CoA → cetogénesis → β-hidroxibutirato y acetoacetato → consumo de bicarbonato → acidemia → hiperventilación compensadora. Rama de la glucosa (derecha): hiperglucemia → glucosuria → diuresis osmótica → deshidratación → hipovolemia → menor perfusión renal. Ambas ramas se animan por separado porque ocurren en paralelo y se unen en un circuito: menor filtración y peor eliminación de glucosa y cetonas, más hormonas de estrés, mayor resistencia y empeoramiento del estado metabólico, que realimenta la falta de acción insulínica (flecha discontinua). Circuito del material de cátedra: neumonía → estrés contrarregulador → déficit de acción insulínica → hiperglucemia + lipólisis + cetogénesis → diuresis osmótica → hipovolemia → menor filtración y peor eliminación → mayor CAD.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Limitación técnica: la prueba urinaria con nitroprusiato detecta principalmente acetoacetato (y algo de acetona), no β-hidroxibutirato; puede subestimar la CAD al inicio, cuando predomina β-OHB por el estado redox (NADH elevado), y permanecer positiva o intensificarse transitoriamente al mejorar el estado redox, porque el β-OHB se reconvierte en acetoacetato. El método preferible para diagnóstico y seguimiento es el β-hidroxibutirato sanguíneo cuantitativo [consenso 2024]. La cetosis fisiológica del ayuno, con pH conservado, no debe confundirse con la cetoacidosis.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Sospecha: cetoacidosis diabética precipitada por neumonía adquirida en la comunidad, con hipovolemia importante y alteración del sensorio. Tríada conceptual: diabetes/hiperglucemia + cetosis + acidosis metabólica. El consenso 2024 utiliza glucosa ≥200 mg/dL o diabetes conocida; β-hidroxibutirato ≥3,0 mmol/L o cetonas urinarias ≥2+; y pH &lt;7,30 o bicarbonato &lt;18 mmol/L. La cetonemia +++ es cualitativa. Según pH y bicarbonato sería CAD moderada, pero el compromiso del sensorio, la hipotensión, la posible sepsis y la neumonía justifican cuidados intensivos. La pO₂ de 99 mmHg con aire ambiente no coincide de manera simple con una saturación de 90 %; la expresión «FIO₂ 0,21 %» se interpreta como FiO₂ = 0,21.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verificación. Henderson–Hasselbalch: pH = 6,1 + log10([HCO₃⁻]/(0,03 × pCO₂)). Con HCO₃⁻ = 13 mEq/L y pCO₂ = 24 mmHg: 0,03 × 24 = 0,72; 13/0,72 = 18,06; log10(18,06) = 1,257; pH = 6,1 + 1,257 ≈ 7,36, no 7,15. La tríada pH–HCO₃⁻–pCO₂ no es internamente consistente. La interpretación sindromática de cetoacidosis sigue siendo muy probable (hiperglucemia + cetosis + bicarbonato reducido + clínica), pero un análisis riguroso exige repetir la gasometría, verificar si los valores provienen de momentos o muestras distintos y medir β-hidroxibutirato. No se deben forzar ecuaciones sobre una tríada discordante ni inventar el valor «correcto».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el pH fuese realmente 7,15 y la pCO₂ 24, el HCO₃⁻ calculado sería 0,72 × 10^1,05 = 0,72 × 11,22 ≈ 8,1 mEq/L; si pH 7,15 y HCO₃⁻ 13 fueran correctos, la pCO₂ calculada sería 13/(0,03 × 11,22) = 13/0,337 ≈ 38,6 mmHg. Con los datos del caso no puede saberse cuál valor es erróneo: no se inventan resultados no medidos. La interpretación del significado de cada hipótesis (gravedad mayor o falta de compensación) es razonamiento docente sobre valores hipotéticos.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1b, paso 4. Ecuación de Winter: pCO₂ esperada ≈ 1,5 × HCO₃⁻ + 8 ± 2; con 13 mEq/L: 27,5 ± 2 mmHg (25,5 a 29,5). Una pCO₂ de 24 sería algo más baja que lo esperado y podría sugerir alcalosis respiratoria asociada (la fiebre y la neumonía podrían explicarla si fuera real), pero la incompatibilidad global de Henderson–Hasselbalch impide afirmar este trastorno mixto con seguridad hasta verificar los datos. Pasos de la lectura: 1) pH 7,15 → acidemia; 2) HCO₃⁻ 13 → trastorno primario metabólico; 3) pCO₂ 24 → respuesta ventilatoria (Kussmaul, aunque la neumonía también aumenta el impulso ventilatorio); 4) Winter; 5) anion gap si hubiera Na⁺ y Cl⁻.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Anion gap = Na⁺ − (Cl⁻ + HCO₃⁻). Requiere sodio y cloro; se corrige por hipoalbuminemia sumando aproximadamente 2,5 mEq/L por cada 1 g/dL de albúmina por debajo de 4. En la CAD suele elevarse por los aniones cetoácidos; también puede elevarlo el lactato por hipoperfusión o sepsis. En el caso 11 no puede calcularse por falta de sodio y cloro. El gamblegrama es un esquema de electroneutralidad, no valores del paciente. Ejercicio 5 de la Unidad X.</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En la CAD predominan náuseas y vómitos (activación gastrointestinal y respuesta central a la acidemia), dolor abdominal a veces intenso (acidemia, hipoperfusión y dismotilidad), respiración profunda de Kussmaul (compensación del trastorno ácido), aliento afrutado por acetona, deshidratación, hipotensión, taquicardia, debilidad, cefalea, confusión y, en casos graves, estupor o coma. La alteración del estado mental se relaciona además con hipoperfusión y cambios osmóticos: no toda confusión es consecuencia directa de las cetonas. La cetosis fisiológica del ayuno, con pH conservado, no debe confundirse con la cetoacidosis patológica.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Evolución a las 24 h comparada con el ingreso. Pregunta 6: el estado ácido-base está casi normalizado (pH 7,37; HCO₃⁻ 22; pCO₂ 37). Henderson–Hasselbalch con 22 y 37: 0,03 × 37 = 1,11; 22/1,11 = 19,8; log = 1,297; pH ≈ 7,40, una diferencia pequeña atribuible a redondeo o medición: puede describirse normalización parcial con déficit de base leve. La glucemia de 200 mg/dL supone mejoría pero no prueba resolución por sí sola. El gráfico de líneas muestra el ascenso del bicarbonato y de la pCO₂ al disminuir la necesidad de compensación.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 Con reposición de insulina efectiva se inhibe la lipólisis adiposa, disminuye la entrega hepática de ácidos grasos, se atenúa la cetogénesis y aumenta la utilización periférica de cetonas; la hidratación mejora la perfusión y la excreción. Las pruebas cualitativas negativas son consistentes con mejoría, pero el criterio moderno de resolución se basa preferentemente en β-hidroxibutirato sanguíneo (&lt;0,6 mmol/L) junto con pH ≥7,3 o HCO₃⁻ ≥18 [consenso 2024].</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Integración terapéutica conceptual, sin convertir la clase en una receta. Pilares: líquidos IV, insulina, monitorización/reposición de potasio y tratamiento del desencadenante. El caso informa hidratación abundante, 80 mEq de bicarbonato IV y ceftriaxona, pero no informa insulina durante la terapia intensiva ni valores de K⁺: esa omisión narrativa no debe interpretarse como que el bicarbonato cura la cetogénesis. La administración de bicarbonato de rutina no se recomienda; el consenso 2024 sólo plantea considerarlo en acidosis muy grave (pH &lt;7,0). Con pH declarado 7,15, los 80 mEq no constituyen una indicación rutinaria apoyada por guías. Cuando la glucosa disminuye a un umbral protocolizado se añade dextrosa para mantener la insulina hasta resolver la cetosis; en la transición IV → SC debe superponerse la basal varias horas. La cobertura antibiótica depende de gravedad, microbiología, epidemiología local y alergias: la ceftriaxona forma parte de la historia clínica, no de una receta estandarizada [C24, ADA26].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Potasio crítico: si el K⁺ inicial es menor de 3,5 mmol/L se corrige antes de iniciar insulina por riesgo de arritmia; si es suficiente, se monitoriza y repone según protocolo y función renal. La insulina hace entrar potasio por activación de la Na⁺/K⁺-ATPasa (animación: las fichas de K⁺ ingresan a la célula). Razonamiento de seguridad aplicable también al EHH [C24, ADA26].</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III. Caso clínico 12: varón de 53 años con obesidad, hipertensión y alteración grave de la conciencia por un estado hiperglucémico hiperosmolar. El eje conceptual es la insulina residual: suficiente para limitar la cetogénesis, insuficiente para evitar la hiperglucemia extrema y la deshidratación.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12. Varón de 53 años con obesidad, hipertensión, tabaquismo, sedentarismo y estrés psicosocial, que presenta alteración aguda de la conciencia (Glasgow 7), hipotensión 90/55 mmHg, taquicardia 120 lpm y signos de deshidratación (mucosas secas, signo del pliegue positivo). No se informa diabetes previa ni medicación hipoglucemiante.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 La glucosa supera 600 mg/dL, la osmolalidad informada supera 320 mOsm/kg, hay glucosuria intensa y no se aprecia cetosis ni acidosis metabólica: patrón altamente sugerente de estado hiperglucémico hiperosmolar, frecuente en DM2 no diagnosticada o descompensada. El consenso 2024 utiliza glucosa ≥600, osmolalidad efectiva &gt;300 o total &gt;320 mOsm/kg, ausencia de cetonemia significativa (β-OHB &lt;3,0 mmol/L) y ausencia de acidosis importante (pH ≥7,3 y HCO₃⁻ ≥15). La osmolalidad 325 no especifica si es total o efectiva: esa incertidumbre se mantiene.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En muchos pacientes con EHH persiste cierta secreción endógena de insulina, insuficiente para mantener la euglucemia pero bastante para inhibir la lipólisis y, con ello, limitar la cetogénesis. La concentración de insulina que frena la lipólisis puede ser inferior a la necesaria para normalizar la captación periférica y la producción hepática de glucosa: el gráfico (curvas dosis-respuesta conceptuales, no datos medidos) lo muestra con la curva de lipólisis desplazada a la izquierda. También influyen el glucagón, la disponibilidad de ácidos grasos, la función renal y la duración del proceso. No es una regla absoluta: hay cuadros mixtos CAD/EHH.</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4 de animación: insulina residual suficiente para limitar la cetogénesis marcada + resistencia insulínica → hiperglucemia extrema → glucosuria → pérdidas urinarias de agua → hiperosmolalidad → cambios en el volumen celular → alteraciones neurológicas; en paralelo, la pérdida de agua produce hipovolemia e hipotensión. La evolución suele requerir días, con aumento gradual del déficit de agua [C24].</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Al no generarse cantidades elevadas de cetoácidos no se consume bicarbonato masivamente como en la CAD. El sistema tampón y la regulación respiratoria y renal sostienen el pH. La gasometría (7,41 / 39 / 23) es globalmente compatible con ausencia de una acidosis relevante, aunque su consistencia exacta debe interpretarse con la incertidumbre de muestras redondeadas (Henderson–Hasselbalch con 23 y 39 da ≈7,39). La hiperosmolalidad no produce por sí sola acidemia; una infección, hipoperfusión prolongada o lesión renal podría añadir luego acidosis láctica u otro componente.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Glucemia 683 → filtración masiva de glucosa → glucosuria +++ → diuresis osmótica. El paciente pierde más agua de la que repone: hipovolemia, hipotensión, taquicardia, menor turgencia cutánea y mucosas secas. La pérdida relativa de agua libre respecto de solutos favorece la hiperosmolalidad, que extrae agua intracelular y afecta especialmente a las neuronas. Ningún signo aislado cuantifica con precisión el déficit ni sustituye la valoración clínica.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Tonicidad, paso 1 (Morph en tres diapositivas). En condiciones isotónicas el agua entra y sale de la neurona sin cambio neto de volumen. El intervalo de osmolalidad plasmática normal (~285–295 mOsm/kg) es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Tonicidad, paso 2. Por Morph la neurona se contrae y las fichas de agua migran al compartimiento extracelular mientras aumentan las fichas de glucosa: la hiperglucemia eleva la tonicidad y extrae agua intracelular, con disfunción del sensorio. Las neuronas desarrollan con el tiempo osmolitos adaptativos (ampliación bibliográfica), lo que explica el riesgo de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Tonicidad, paso 3. Si la tonicidad se corrige excesivamente rápido, el agua reingresa a células que se habían adaptado y aparecen gradientes osmóticos peligrosos (Morph: la neurona se hincha). Por eso en el EHH importa una corrección controlada de osmolalidad y glucosa [C24]. El tamaño de la célula es una representación didáctica.</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Osmolalidad total aproximada (glucosa y BUN en mg/dL, Na⁺ en mmol/L): 2 × Na⁺ + glucosa/18 + BUN/2,8. Osmolalidad efectiva o tonicidad: 2 × Na⁺ + glucosa/18; la urea no contribuye sostenidamente a la tonicidad porque atraviesa las membranas. En este caso faltan Na⁺ y BUN: no puede verificarse el cálculo ni establecerse cuánta de la osmolalidad 325 corresponde a solutos efectivos. Distinguir ambas magnitudes es esencial para inferir riesgo neurológico. Ejercicio 6.</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Sodio corregido por hiperglucemia: Na corregido ≈ Na medido + 1,6 × [(glucosa − 100)/100]; en algunas situaciones de hiperglucemia grave se emplea un factor cercano a 2,4. Con glucemia 683: (683 − 100)/100 = 5,83; × 1,6 = +9,3 mEq/L; × 2,4 = +14,0 mEq/L. No puede calcularse el sodio final sin el Na medido. La corrección se debe a la transferencia osmótica de agua al espacio extracelular.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5. Diagnóstico presuntivo: estado hiperglucémico hiperosmolar con deshidratación grave y compromiso de conciencia, probablemente por DM2 hasta demostrar lo contrario. Lo sostienen glucosa ≥600, osmolalidad 325, ausencia de cetonas detectadas, pH conservado, glucosuria y signos intensos de hipovolemia. La causa precipitante no está demostrada: el despido y el estrés pueden contribuir, pero no reemplazan la búsqueda de infección, infarto, ACV, fármacos, interrupción terapéutica o enfermedad intercurrente. Con Glasgow 7 se asegura vía aérea y ventilación y se consideran causas alternativas de coma.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6. 1) Resistencia hepática a la insulina: no se suprimen bien FOXO1/PEPCK/G6PC y persisten gluconeogénesis y glucogenólisis. 2) Resistencia muscular: menor señal IRS–PI3K–Akt–GLUT4. 3) Alteración de la secreción β: la demanda compensatoria supera la capacidad pancreática (glucotoxicidad, lipotoxicidad, disfunción mitocondrial, predisposición genética). 4) Lipólisis y cetogénesis relativamente frenadas por la insulina residual. 5) Metabolismo renal alterado. 6) Neurofisiología osmótica. 7) Catabolismo proteico y respuesta de estrés, con menor intensidad cetogénica que la CAD típica. Diferencia central: la DM2 descompensada no es ausencia completa de insulina sino secreción insuficiente para vencer la resistencia.</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Abordaje conceptual del EHH: evaluar vía aérea y causas de coma, líquidos IV, potasio y electrolitos, insulina en contexto apropiado y tratamiento de la causa precipitante. La recuperación de la perfusión por líquidos puede reducir la glucosa por dilución, mejor filtrado y glucosuria. Importa una corrección controlada de osmolalidad y glucosa. Los déficits totales de potasio pueden ser importantes aun con kalemia normal. Razonamiento de seguridad: insulina con hipopotasemia → arritmias; corrección rápida de tonicidad → gradientes osmóticos; atribuir el coma al EHH → omitir diagnósticos alternativos [C24, ADA26]. Contenido formativo: no reemplaza protocolos.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 del caso 12. La dieta hipocalórica equilibrada busca crear un déficit energético sostenible, reducir grasa visceral y hepática, mejorar la sensibilidad insulínica, disminuir los requerimientos pancreáticos, la presión, los triglicéridos y la inflamación, mientras conserva masa magra y evita carencias. Debe ofrecer proteína, grasas saludables, fibra, vitaminas y minerales y adaptarse a preferencias y recursos. Con fármacos asociados a hipoglucemia los cambios de ingesta exigen ajustar el tratamiento.</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8. La glibenclamida (glyburide) es una sulfonilurea: se une a la subunidad SUR1 del canal K_ATP β-pancreático, favorece su cierre independientemente de la glucosa, despolariza la membrana, abre canales de Ca²⁺ y estimula la secreción de insulina endógena. Puede reducir la glucemia en la DM2 si existe reserva β; no corrige la resistencia y puede provocar hipoglucemia (a veces prolongada, sobre todo en personas mayores, insuficiencia renal o ingesta irregular) y aumento de peso. En la DM1 con déficit absoluto no es útil: requiere insulina exógena. Indicar glibenclamida 5 mg/día es la conducta del caso docente; hoy la elección después de un EHH requiere evaluación integral [ADA26].</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9. La contracción muscular activa AMPK, CaMK y señales mecánicas que aumentan el transporte de GLUT4 aun con baja señal insulínica: cae la glucemia y, sostenidamente, mejoran la sensibilidad a la insulina y la capacidad mitocondrial. El entrenamiento de fuerza preserva masa magra y el depósito de glucosa como glucógeno; el aeróbico incrementa la capacidad oxidativa, la función endotelial y el gasto energético. Se añaden beneficios sobre TA, adiposidad visceral, sueño y estado de ánimo. El plan debe ser progresivo y seguro, y nunca se inicia en una crisis descompensada.</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IV. Integra los casos 11 y 12. El mensaje central: el grado de acción insulínica residual decide si la red metabólica se dirige a la cetoacidosis o a la hiperglucemia hiperosmolar sin cetosis marcada, sin que DM1 y DM2 equivalgan siempre a CAD y EHH respectivamente.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Animación de bifurcación: un mismo mapa (déficit de acción insulínica + contrarreguladoras → producción hepática de glucosa aumentada y captación disminuida → hiperglucemia) se divide según la acción insulínica residual. Rama izquierda: insulinopenia marcada → lipólisis sin freno → β-oxidación y cetogénesis → consumo de bicarbonato → cetoacidosis. Rama derecha: acción insulínica residual → lipólisis frenada → cetogénesis limitada → hiperglucemia prolongada, glucosuria y pérdida de agua libre → EHH sin cetosis marcada. Centro: formas mixtas. No presentar DM1 y DM2 como entidades que siempre desarrollan exclusivamente CAD o EHH: la DM2 también puede presentar CAD y existen cuadros mixtos.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mecanística. CAD: deficiencia absoluta o casi absoluta de insulina, producción hepática de glucosa aumentada, lipólisis sin freno, cetogénesis marcada, acidosis metabólica con anion gap elevado, glucosuria y déficit hídrico importante, osmolalidad variable, compromiso de conciencia según acidosis, volumen y osmolalidad, potasio sérico normal o alto con déficit total, compensación ventilatoria de Kussmaul. EHH: déficit relativo con secreción residual, lipólisis relativamente frenada, cetogénesis limitada, acidosis ausente o leve, diuresis osmótica prolongada con déficit hídrico muy intenso, hiperosmolalidad marcada y compromiso de conciencia frecuente. Existen formas mixtas. Algunas filas (potasio en EHH, compensación) son ampliación bibliográfica coherente con el consenso 2024.</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avanzada DM1 frente a DM2 (formas típicas). Complicaciones agudas compartidas: hipoglucemia farmacológica, descompensaciones hiperglucémicas mixtas, deshidratación, injuria renal y trastornos electrolíticos. Complicaciones crónicas compartidas: microvasculares (retina, riñón, nervios) y macrovasculares (corazón, cerebro, extremidades), además de infecciones y trastornos de cicatrización.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Algoritmo integrador [C24]. A: confirmar glucosa y evaluar síntomas, signos vitales, volumen y estado mental. B: buscar acidosis con pH, HCO₃⁻, pCO₂ y controles cruzados (Henderson–Hasselbalch). C: buscar cetonas, preferentemente β-hidroxibutirato sanguíneo. D: evaluar tonicidad con Na⁺, glucosa, osmolalidad y urea; calcular la osmolalidad efectiva. E: gravedad y causa (perfusión, K⁺, función renal, lactato, foco infeccioso, ECG; descartar diagnósticos alternativos). F: tratar y monitorizar secuencialmente volumen, potasio, insulina, desencadenante, nutrición, transición y educación.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Reglas de alto rendimiento: el anion gap elevado indica aniones no medidos pero no su causa; la pCO₂ baja puede ser compensatoria y sólo se diagnostica trastorno mixto comparándola con la esperada y verificando la coherencia; glucosa elevada no implica cetonas elevadas; la osmolalidad total incluye urea y la efectiva la excluye; potasio sérico no es reserva corporal total; corrección del pH no es corrección del proceso causal.</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Tabla de fórmulas razonadas con su interpretación o limitación. Todas se aplican en los ejercicios de la Unidad X.</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adicional con datos coherentes (paciente distinto): pH 7,20; HCO₃⁻ 10; pCO₂ 26. Henderson–Hasselbalch: 0,03 × 26 = 0,78; 10/0,78 = 12,8; log = 1,108; pH ≈ 7,21 (coherente). Winter predice 23 ± 2; la medida 26 es algo mayor → compensación insuficiente o posible acidosis respiratoria agregada; cotejar y repetir según la clínica. Con Na 134 y Cl 100: AG = 134 − (100 + 10) = 24 mEq/L, elevado. Nunca atribuirlo exclusivamente a cetonas sin conocer lactato, función renal y tóxicos.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V. El tejido adiposo es un órgano difuso, vascularizado, inervado y metabólicamente activo. Se recorren su histología, la termogénesis, la adipogénesis, el almacenamiento y la movilización de triglicéridos, las adipocinas y el nexo molecular entre expansión disfuncional, lipotoxicidad, inflamación y resistencia insulínica.</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tejido adiposo es un órgano difuso altamente vascularizado, inervado y metabólicamente activo, con adipocitos, preadipocitos, células madre estromales, fibroblastos, endotelio, macrófagos, linfocitos y matriz extracelular. Aporta reserva energética, aislamiento térmico, amortiguación mecánica, regulación de ácidos grasos y señalización endocrina, paracrina y autocrina [T]. La figura 2 de la página 3 de [T] contrasta la localización subcutánea y visceral; la figura 1 de la página 5 de [S] representa cómo ácidos grasos, inflamación y resistencia insulínica se potencian.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Concepto de expansibilidad. Un tejido adiposo sano aumenta su capacidad mediante hipertrofia moderada y reclutamiento de adipocitos nuevos (hiperplasia), angiogénesis apropiada y matriz flexible. Si supera su capacidad de expansión aparecen adipocitos muy hipertrofiados, hipoxia regional, fibrosis, estrés del retículo endoplásmico, inflamación y derrame de lípidos a órganos no diseñados para almacenarlos. Esto ayuda a explicar por qué personas con IMC similar pueden tener riesgo metabólico distinto: no todo aumento de tejido adiposo implica idéntico riesgo.</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Subcutánea: bajo la piel, en región abdominal o glúteo-femoral; contribuye a protección, aislamiento y almacenamiento relativamente seguro; la región glúteo-femoral suele asociarse con menor riesgo cardiometabólico para una adiposidad global comparable. Visceral: omental/mesentérica, profunda; mayor actividad lipolítica e inflamatoria, con parte de su drenaje hacia el hígado por el sistema porta; su exceso se asocia a resistencia hepática, dislipidemia aterogénica y enfermedad cardiovascular. Son tendencias, no dicotomías absolutas [T][S]. El perímetro de cintura estima adiposidad central pero no mide grasa visceral; la clasificación de riesgo depende de población, sexo, etnicidad y perfil. Grasa ectópica: clave para el concepto de lipotoxicidad. Las marcas sobre la ilustración son esquemáticas.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Tipos de adipocitos. Blanco: unilocular, gota grande con núcleo periférico y perilipinas; almacena y cede TAG, produce adipocinas y amortigua flujos de ácidos grasos. Pardo: multilocular, muchas mitocondrias, UCP1 alta, rico en vascularización e inervación; termogénesis sin escalofríos por desacoplamiento mitocondrial. Beige o brite: termogénicos inducibles dentro de depósitos blancos, con UCP1 variable; termogénesis adaptativa con señales simpáticas o frío, campo de interés experimental [T][A].</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Mecanismo de UCP1. En mitocondrias normales la cadena respiratoria expulsa protones y la ATP sintasa usa el gradiente para formar ATP; UCP1 permite el retorno de protones sin sintetizar ATP y disipa la energía como calor. Los ácidos grasos pueden activar UCP1 [T][A]. Animación: aparecen los H⁺ bombeados; uno regresa por la ATP sintasa y genera ATP; otros regresan por UCP1 y aparece la llama de calor.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Frío → hipotálamo → sistema simpático → noradrenalina → receptores β-adrenérgicos → AMPc/PKA → lipólisis y activación del programa termogénico. Los ácidos grasos pueden activar UCP1. PGC-1α, PPAR y hormonas tiroideas participan en la biogénesis y regulación mitocondrial [T][A]. Matiz de evidencia: la activación de grasa parda en humanos adultos existe, pero la importancia terapéutica de transformar tejido blanco en pardo sigue siendo un campo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Adipogénesis: célula progenitora mesenquimal → preadipocito comprometido → diferenciación → adipocito con gotas de lípidos. El regulador central es PPARγ, que heterodimeriza con RXR y promueve la expresión de genes adipocitarios (adiponectina, FABP4, LPL, GLUT4, perilipinas, enzimas de esterificación). C/EBPβ y C/EBPδ actúan relativamente temprano; C/EBPα consolida el programa maduro junto con PPARγ (refuerzo mutuo). Insulina e IGF-1 son señales permisivas/anabólicas; las vías Wnt/β-catenina pueden oponerse a la adipogénesis en determinados contextos [T].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Hipertrofia: aumento de volumen de adipocitos existentes; hiperplasia: aumento del número de adipocitos a partir de precursores. Cuando el adipocito se hipertrofia en exceso se alteran la irrigación relativa, el manejo de oxígeno, la matriz extracelular y la secreción de adipocinas. La hiperplasia funcional puede repartir el exceso energético en más células con menos estrés por célula [T].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LPL frente a HSL. La lipoproteína lipasa, localizada funcionalmente sobre el endotelio capilar, hidroliza los TAG de quilomicrones y VLDL liberando ácidos grasos que entran al adipocito por transporte facilitado y difusión (CD36/FATP). La lipasa hormonosensible actúa sobre lípidos dentro del adipocito. No deben confundirse: LPL actúa en el espacio vascular; HSL, en la gota lipídica intracelular (pregunta 4 de opción múltiple). La regulación recíproca por insulina (LPL adiposa ↑, HSL ↓) es parte del estado alimentado.</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adipocito obtiene glicerol-3-fosfato sobre todo a partir de la glucólisis vía DHAP y glicerol-3-P deshidrogenasa; también por gliceroneogénesis desde precursores como piruvato. La actividad de glicerol cinasa en el tejido adiposo blanco suele ser baja respecto del hígado, por lo que el glicerol liberado en la lipólisis se dirige en gran proporción a la circulación [T]. La participación de PEPCK en la gliceroneogénesis es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acil-CoA se esterifican secuencialmente sobre glicerol-3-P por GPAT (ácido lisofosfatídico), AGPAT (ácido fosfatídico), la fosfatasa de ácido fosfatídico lipina (diacilglicerol) y DGAT (triacilglicerol), formando TAG en gotas delimitadas por perilipinas. El modelo 3D representa un triacilglicerol con tres cadenas acilo (molécula representativa). La insulina promueve el almacenamiento; la glucosa no se convierte toda en grasa de forma inevitable [T].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Lipogénesis de novo: el citrato exportado del ciclo de Krebs se escinde por ATP-citrato liasa (ACLY) en acetil-CoA citosólico; la acetil-CoA carboxilasa (ACC) genera malonil-CoA; la ácido graso sintasa (FASN) sintetiza palmitato utilizando NADPH (vía de las pentosas fosfato y enzima málica). SREBP-1c y ChREBP inducen las enzimas lipogénicas en respuesta a insulina y carbohidratos. AMPK fosforila e inhibe ACC en contextos de baja energía. El malonil-CoA inhibe CPT1, coordinando mayor síntesis con menor oxidación. La DNL tiene papel hepático importante con exceso de carbohidratos; el exceso crónico de sustrato hepático eleva la producción de VLDL [T]. Modelo 3D: palmitato con hidrógenos.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5, paso 1 (secuencia Morph de tres diapositivas: la gota lipídica disminuye progresivamente). La noradrenalina se une a receptores β-adrenérgicos acoplados a Gs: adenilil ciclasa → AMPc → PKA, que fosforila HSL y perilipina 1 (fichas P sobre la gota). Los receptores α₂/Gi reducen el AMPc y pueden oponerse según el depósito. La insulina inhibe la lipólisis vía Akt → PDE3B → degradación del AMPc [T].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La perilipina 1 fosforilada libera al coactivador CGI-58 (ABHD5) de los complejos de la superficie de la gota; CGI-58 activa a la ATGL (PNPLA2), que hidroliza el triacilglicerol a diacilglicerol + ácido graso. Por Morph la gota ya es más pequeña [T].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La lipasa hormonosensible (HSL, LIPE) hidroliza el DAG a monoacilglicerol + ácido graso y la monoacilglicerol lipasa (MGL, MGLL) libera glicerol + ácido graso. Proceso completo: TAG → (ATGL) DAG + AG → (HSL) MAG + AG → (MGL) glicerol + AG. Los AGNE viajan unidos a albúmina y el glicerol contribuye a la gluconeogénesis hepática. La lipólisis fisiológica permite sobrevivir entre comidas; la disfunción aparece cuando el tejido adiposo libera un exceso crónico de AGNE y señales inflamatorias [T]. La gota, ahora más pequeña, ilustra la movilización de reservas.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Tejido adiposo como órgano endocrino [T][S]. Leptina: adipocito blanco, receptor LEPR con JAK2–STAT3; señal de reservas, modula POMC/AgRP, reproducción e inmunidad; en obesidad suele estar elevada con resistencia funcional. Adiponectina: AdipoR1/R2 con AMPK/PPARα; sensibiliza a la insulina, favorece oxidación lipídica, antiinflamatoria; generalmente disminuida. TNF-α: macrófagos; JNK/IKK, inflamación y alteración de IRS. IL-6: efecto contexto-dependiente (mioquina en el ejercicio). PAI-1: menor fibrinólisis, entorno protrombótico.</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Resistina: en humanos destaca su origen en células inmunes; causalidad humana compleja. Angiotensinógeno: hígado y adiposo, sistema renina–angiotensina. MCP-1/CCL2: recluta monocitos y favorece la infiltración de macrófagos. FGF21: principalmente hepático, no es adipocina clásica. Omentina, visfatina y otras: evidencia variable [T][S].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B (Morph) y animación central: adipocito funcional → expansión del depósito → hipertrofia patológica → hipoxia local → inflamación → resistencia insulínica → alteraciones sistémicas. Punto de partida: tejido funcional, con adipocitos de tamaño moderado y capilares suficientes.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Con balance energético positivo sostenido los adipocitos almacenan más TAG (Morph: crecen). Si el tejido recluta adipocitos nuevos y forma vasos, la expansión puede ser relativamente saludable.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Por Morph los adipocitos alcanzan un tamaño excesivo: aumenta la distancia al capilar y aparece hipoxia regional (fichas O₂↓), estrés del retículo endoplásmico y fibrosis de la matriz extracelular (trazos violetas). La señalización por HIF ante hipoxia es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4. En la expansión disfuncional cambia el ambiente inmunitario: MCP-1 recluta monocitos que se diferencian en macrófagos (Morph: aparecen las ilustraciones) y forman agregados alrededor de adipocitos dañados, las «estructuras en corona» (círculo rojo). Aumentan las señales de estrés, la fibrosis y las ROS. No todo macrófago es perjudicial: el tejido normal contiene células inmunitarias de remodelación; los estados M1/M2 son simplificaciones de un continuo [S].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5. El tejido inflamado libera TNF-α e IL-6, aumenta la salida de AGNE por lipólisis inapropiada (la insulina ya no la frena bien), disminuye la adiponectina y mantiene la leptina alta con resistencia funcional. Las fichas viajan fuera del tejido hacia los órganos blanco: hígado, músculo, páncreas, endotelio y SNC.</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6 (final de la secuencia B): mediador inflamatorio → receptor de insulina → alteración de IRS/Akt. El exceso de AGNE, lípidos ectópicos y citocinas activa JNK, IKKβ/NF-κB y PKC, que fosforilan IRS en serina/treonina (ficha S roja), además de mecanismos de degradación de IRS por SOCS. La fosforilación fisiológica en tirosina queda funcionalmente desacoplada de la respuesta metabólica: Akt y AS160 permanecen poco activos y llegan menos vesículas con GLUT4 a la membrana. La inflamación es causa y consecuencia de las alteraciones del adipocito: retroalimentación, no proceso unidireccional [S].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completa de la lipotoxicidad: excedente energético crónico y predisposición → saturación relativa de la capacidad adiposa → lipólisis inapropiadamente elevada y mayor salida de AGNE → captación por hígado, músculo y páncreas → aumento de intermediarios lipídicos (ciertas especies de DAG y ceramidas) → activación de PKC específicas, estrés del retículo, inflamación y alteración de Akt/IRS → menor señal de insulina. Las isoformas PKCθ (músculo) y PKCε (hígado) y la vía ceramidas → PP2A/PKCζ son ampliación bibliográfica. Músculo: menos captación y glucógeno. Hígado: la insulina deja de suprimir la gluconeogénesis mientras la lipogénesis puede seguir alta (resistencia selectiva, VLDL, esteatosis). Páncreas: glucotoxicidad, lipotoxicidad, estrés del RE e inflamación de islotes. Endotelio: menor NO, más vasoconstricción e inflamación. El TAG almacenado en una gota relativamente inerte puede ser protector.</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Alteración de la supresión de la producción hepática de glucosa (paso 11 de la cadena de resistencia). En el hígado resistente la insulina deja de suprimir adecuadamente la gluconeogénesis mientras los flujos de sustratos y la lipogénesis pueden seguir elevados: resistencia selectiva, producción de VLDL y esteatosis [material de cátedra, apartado 26]. La separación en «ramas FOXO1 y SREBP-1c» es la interpretación molecular habitual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4, etapa 1. La resistencia insulínica en hígado, músculo y tejido adiposo (alimentada por AGNE y citocinas) obliga a la célula β a secretar más: la hiperinsulinemia compensadora mantiene durante años una glucemia casi normal.</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4, etapa 2. La glucotoxicidad, la lipotoxicidad, el estrés del RE y factores genéticos producen disfunción β progresiva: la compensación fracasa y aparece la hiperglucemia sostenida, que daña microvasos y macrovasos.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4 completo: resistencia insulínica → compensación pancreática → disfunción β progresiva → hiperglucemia sostenida y daño orgánico. Corresponde a los pasos 12 a 14 de la cadena: compensación de células β, hiperinsulinemia y fracaso secretor progresivo, manifestaciones clínicas.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5, etapa 1. El adipocito visceral hipertrofiado, hipóxico e infiltrado por macrófagos libera AGNE (en parte por la vena porta), citocinas y lípidos que se depositan en órganos no diseñados para almacenarlos.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5, etapa 2. Consecuencias: el hígado produce glucosa y VLDL en exceso y acumula grasa; el músculo capta menos glucosa; la célula β pierde capacidad secretora; el endotelio pierde NO, se inflama y el ambiente se vuelve protrombótico.</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5 completo: adipocito hipertrofiado → inflamación y lípidos ectópicos → resistencia insulínica → alteraciones hepáticas, cardiovasculares y pancreáticas. Idea fuerza: «del adipocito sano al disfuncional: almacenar TAG protege; desbordar la capacidad libera AGNE, DAG, ceramidas e inflamación que deterioran hígado, músculo y páncreas».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Integración metabólica adipocito–hígado–riñón–músculo–SNC (apartado 27). Después de comer: el intestino absorbe carbohidratos y grasas, incretinas y glucosa estimulan la célula β y la insulina suprime la producción hepática de glucosa, aumenta la captación muscular, facilita el almacenamiento adiposo y limita la lipólisis. En ayuno: disminuye la insulina y el hígado sostiene la glucosa plasmática mientras el adipocito libera AGNE y glicerol. En la obesidad visceral: el tejido adiposo pierde flexibilidad, el hígado acumula lípidos y produce glucosa/VLDL, el músculo capta menos glucosa, el riñón mantiene la reabsorción de glucosa hasta saturarse y el SNC puede ser menos sensible a leptina e insulina. En la DM1 sin insulina estas adaptaciones de ayuno se exacerban hasta la CAD.</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VI. La regulación del peso no reside en un único «centro del hambre»: el hipotálamo integra señales de reservas (leptina, insulina), el tronco encefálico integra señales viscerales, el sistema mesolímbico aporta motivación y el eje del estrés modula todo el sistema. La obesidad no se reduce a falta de voluntad.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Principio termodinámico: el cambio de reservas resulta de la relación entre energía incorporada y gastada durante intervalos prolongados. Sin embargo, ingesta y gasto no son variables independientes: la restricción energética puede activar el hambre, disminuir el gasto espontáneo y modificar el gasto basal con la nueva masa corporal. El entorno alimentario, el sueño, el estrés, los medicamentos, la genética y la recompensa modulan el balance. «Come menos y muévete más» ignora los mecanismos compensatorios que dificultan sostener los cambios de peso [A].</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Componentes del gasto energético total: 1) metabolismo en reposo o basal, muy influido por la masa libre de grasa, los órganos, la edad y el sexo; 2) actividad física estructurada; 3) NEAT (non-exercise activity thermogenesis): estar de pie, caminar, posturas, actividad cotidiana; 4) termogénesis de los alimentos; 5) termogénesis adaptativa (frío, activación simpática). No se deben sumar porcentajes fijos rígidos: cambian entre individuos y según el gasto total. El artículo [A], figura 1, página 3, distingue señales de saciedad de corto plazo y adiposidad de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Adaptación tras la pérdida de peso: la leptina disminuye al reducirse el tejido adiposo y la energía disponible; la grelina y otras respuestas pueden aumentar el hambre; el gasto absoluto desciende por menor masa corporal y en algunos casos aparece adaptación metabólica adicional. No niegan la conservación de energía: explican por qué el mantenimiento requiere apoyo prolongado y estrategias conductuales o farmacológicas cuando corresponda [A].</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E (Morph): organismo → tejido adiposo → leptina → hipotálamo → núcleo arcuato → neuronas POMC/AgRP → control del hambre. Punto de partida: el organismo informa al cerebro sus reservas (leptina, insulina) y su estado de comida a comida (grelina y señales de saciedad).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El adipocito blanco produce leptina en proporción a la masa grasa y al estado nutricional. La leptina señala suficiencia de reservas y permite funciones reproductivas, tiroideas e inmunitarias; en ayuno puede caer desproporcionadamente [A][T].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La leptina viaja por la sangre hasta el hipotálamo. El núcleo arcuato, cercano a la eminencia media, recibe información hormonal y nutricional. La alteración del transporte o de la señal central es uno de los mecanismos de la resistencia a la leptina [A].</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Ilustración obligatoria: corte sagital esquemático del encéfalo con hipotálamo, núcleo del tracto solitario (tronco), área tegmental ventral, núcleo accumbens y corteza prefrontal. La regulación no reside en un único centro del hambre: el núcleo arcuato se conecta con el paraventricular, el hipotálamo lateral, las regiones ventromedial y dorsomedial, el tronco encefálico y los sistemas de recompensa. El NTS integra señales vagales gastrointestinales con señales humorales [A]. Idea fuerza: «hipotálamo = balance energético; tronco = señales viscerales; mesolímbico = motivación; corteza = decisión; adipocito = señal de reservas». La diapositiva siguiente hace un acercamiento Morph al núcleo arcuato.</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5 de la secuencia E: acercamiento Morph desde el corte sagital al núcleo arcuato (junto al tercer ventrículo y la eminencia media). Dos poblaciones principales: neuronas POMC/CART (anorexígenas) y neuronas AgRP/NPY/GABA (orexígenas). Ambas proyectan a neuronas de segundo orden del núcleo paraventricular que expresan MC4R. La figura 2 de la página 4 del artículo [A] compara ambas poblaciones y su salida melanocortínica.</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6, rama anorexígena. La leptina favorece la actividad POMC por LEPRb–JAK2–STAT3; la insulina puede modularla por IRS–PI3K/Akt, con acciones dependientes de la población neuronal. La prohormona POMC se procesa mediante convertasas y genera, entre otros, α-MSH, que activa receptores de melanocortina, especialmente MC4R, en neuronas de segundo orden: reduce la ingesta y favorece respuestas autonómicas y gasto (animación: las fichas α-MSH viajan al PVN). Agonistas específicos de MC4R constituyen un tratamiento para subgrupos de obesidad genética definida, no para la obesidad común [A].</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6, rama orexígena, que opera en paralelo a la anterior (no es una secuencia obligatoria). Las neuronas NPY/AgRP promueven el hambre en el déficit energético: NPY activa receptores Y (Y1/Y5); AgRP antagoniza MC3R/MC4R y contrarresta a α-MSH; la liberación de GABA inhibe neuronas diana (incluidas POMC) y contribuye a la respuesta rápida. La grelina activa fuertemente estos circuitos mediante GHSR; la leptina los inhibe. El equilibrio no es aritmético [A].</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Leptina: producida principalmente por adipocitos; se une a la isoforma larga LEPRb, activa JAK2/STAT3 y rutas PI3K/MAPK; estimula POMC y reduce NPY/AgRP según los circuitos. En la obesidad común la leptina suele estar alta pero hay resistencia a sus acciones, atribuible a alteración del transporte o de la señal central, SOCS3, PTP1B, inflamación hipotalámica y cambios de circuitos. No es apropiado suponer deficiencia absoluta de leptina en toda obesidad; la leptina recombinante es útil en determinadas deficiencias congénitas [A][T].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Insulina como señal central: informa disponibilidad energética a largo plazo; sus receptores hipotalámicos y mesolímbicos modulan saciedad, ingesta y función autonómica; la señal neuronal no equivale a la muscular; la resistencia central puede coexistir con hiperinsulinemia periférica; puede modular el transportador de dopamina. Grelina: producida sobre todo en células endocrinas del fundus; su forma acilada por GOAT activa GHSR1a; asciende antes de las comidas y desciende después; activa NPY/AgRP, favorece apetito, búsqueda alimentaria y secreción de GH. La guía escribe «GHrelina»: el término correcto es grelina/ghrelina [A].</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Señales de saciedad de corto plazo. CCK: liberada por células I duodenales/yeyunales tras grasas y proteínas; activa CCK1 en aferencias vagales y circuitos troncoencefálicos, disminuye el tamaño de la comida y enlentece el vaciamiento gástrico, además de estimular secreción pancreática y contracción vesicular; no mide reservas. GLP-1: células L, GLP-1R (Gs–AMPc–PKA/Epac): insulina dependiente de glucosa, menos glucagón en hiperglucemia, vaciamiento más lento y saciedad por circuitos vagales y centrales. GIP: células K, GIPR. PYY3-36: receptores Y2, inhibe la actividad orexígena. Oxintomodulina: comparte origen con proglucagón. Amilina: cosecretada con insulina; área postrema/NTS [A]. La distensión gástrica y las aferencias vagales llevan la información al NTS.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Dopamina y recompensa: las neuronas del área tegmental ventral proyectan al núcleo accumbens, la corteza prefrontal y otras estructuras. La dopamina atribuye saliencia motivacional, aprendizaje por recompensa y selección de acciones; no es idéntica al placer subjetivo ni equivale a adicción ante cualquier comida apetecible. Alimentos palatables, señales condicionadas, estrés y expectativa pueden activar circuitos de búsqueda aun cuando las señales homeostáticas no indican déficit. El hipotálamo modula estos circuitos y viceversa [A]. Por eso la obesidad no se reduce a falta de voluntad.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Serotonina: participa en múltiples funciones; en ciertas neuronas el receptor 5-HT2C favorece la activación de POMC y la reducción de la ingesta; otros subtipos tienen acciones distintas u opuestas. Síntesis cerebral: triptófano hidroxilasa → 5-HTP → descarboxilasa → 5-HT; la mayor parte es periférica. Anandamida y 2-AG son lípidos señalizadores producidos a demanda que actúan sobre CB1 (SNC y periferia) y CB2 (inmunidad); FAAH y MAGL los degradan. La activación de CB1 suele promover la ingesta. Rimonabant fue retirado por efectos psiquiátricos graves; no debe plantearse como tratamiento vigente [A][ANMAT].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Vía del estrés: estímulos de estrés → CRH hipotalámica → ACTH adenohipofisaria derivada de POMC → cortisol de la zona fasciculada → receptor glucocorticoide nuclear. El cortisol aumenta la disponibilidad de sustratos y la gluconeogénesis; la exposición crónica excesiva promueve adiposidad central, apetito, pérdida muscular, HTA e hiperglucemia. Ante signos típicos de hipercortisolismo se valora Cushing de forma específica, sin asumirlo por obesidad común. Oxitocina, orexinas, MCH, histamina H1, norepinefrina (efecto dependiente de receptor y sitio) y opioides endógenos completan la red [A].</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Sensores de nutrientes: AMPK reconoce bajo estado energético celular y ajusta catabolismo/anabolismo; en ciertos circuitos hipotalámicos favorece el apetito, en músculo activa oxidación y captación de glucosa. mTORC1 responde a aminoácidos, energía e insulina; en redes hipotalámicas puede relacionarse con saciedad. El esquema de la figura 3, página 7, de [A] representa el modelo simplificado AMPK (déficit → orexigénesis) y mTOR (abundancia → anorexigénesis). Sueño: la deprivación altera apetito, regulación ejecutiva, sensibilidad a insulina, eje HPA y cronobiología. La apnea obstructiva del sueño produce despertares, hipoxemia intermitente y activación simpática, agravando HTA y resistencia insulínica.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6, etapa 1. Señales de entrada: el estómago envía grelina antes de comer; durante y después de la comida, el intestino informa por CCK, GLP-1, PYY y el vago; el tejido adiposo informa reservas con leptina y el páncreas con insulina y amilina.</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6, etapa 2. El cerebro integra: el núcleo arcuato (POMC frente a AgRP) proyecta al paraventricular; el NTS integra señales viscerales y el circuito ATV → accumbens aporta motivación. Resultan apetito o saciedad, gasto energético y conducta alimentaria.</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6 completo: tracto gastrointestinal + tejido adiposo + páncreas → cerebro → apetito, saciedad, gasto energético y conducta alimentaria.</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Integración del control de corto y largo plazo [A]. Antes de comer: grelina y circuitos anticipatorios amplifican la búsqueda. Durante la comida: distensión gástrica, aferencias vagales, CCK, GLP-1 y PYY modulan NTS e hipotálamo para terminar el episodio. En semanas/meses: leptina, insulina, cambio de masa grasa y gasto modifican la ganancia del sistema. Sobre ese sistema: condicionamiento, recompensa dopaminérgica, estrés, descanso, ambiente social, fármacos y acceso a alimentos. La obesidad aparece cuando la ingesta acumulada excede el gasto de manera sostenida dentro de un sistema que responde y se adapta.</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VII. Caso clínico 20: varón de 40 años con obesidad clase III. Se desarrollan los cálculos de IMC, gasto energético y descenso ponderal, la interpretación del laboratorio y cada complicación desde sus mecanismos fisiológicos, bioquímicos y celulares, con lenguaje no estigmatizante.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20. Varón de 40 años, 170 kg, talla 1,70 m, cintura 124 cm, TA 160/100 mmHg, sedentarismo extremo, ingesta frecuente de alimentos hiperpalatables, tabaquismo de 40 cigarrillos por día, ronquidos intensos y somnolencia diurna, dificultades físicas y psicosociales, juego patológico, antecedente de pancreatitis biliar y hernia inguinal bilateral. ECG con índice de Sokolow–Lyon positivo.</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Laboratorio: glucosa 145 mg/dL (ayuno no especificado), colesterol total 250, LDL 183, HDL 30 y TG 185 mg/dL; AST 29 U/L; función renal e iones normales. Problemas clínicos identificables: obesidad clase III, adiposidad central, HTA en cifras elevadas, dislipidemia aterogénica, hiperglucemia a confirmar, muy alta sospecha de apnea obstructiva del sueño, riesgo cardiometabólico significativo, tabaquismo, dificultades de movilidad e impacto psicosocial. El índice ECG orienta a posible hipertrofia ventricular izquierda pero no la confirma; la ecocardiografía puede ser apropiada.</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1. La obesidad es una enfermedad crónica, recidivante y multifactorial caracterizada por exceso de adiposidad que compromete la salud. El IMC es una aproximación antropométrica ampliamente utilizada; no mide composición corporal, distribución de grasa ni por sí solo el compromiso clínico. Los términos históricos «obesidad mórbida» o «superobesidad» aparecen en la literatura; es preferible obesidad clase III con complicaciones o especificar IMC y riesgo.</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2. IMC = masa / talla² = 170 / 1,70² = 170 / 2,89 = 58,82 kg/m², obesidad clase III. Animación: cada paso del cálculo aparece por clic y luego se ubica el resultado en la escala de clases (la escala es ilustrativa, no proporcional).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cintura de 124 cm excede tanto el umbral clásico NCEP/ATP III para hombres (102 cm) como el usado frecuentemente en criterios IDF para poblaciones latinoamericanas (90 cm): indica adiposidad central importante. Estima adiposidad central pero no mide grasa visceral.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Tasa metabólica de reposo por Mifflin–St Jeor (hombres): 10 × peso + 6,25 × talla(cm) − 5 × edad + 5. Sustitución: 10 × 170 + 6,25 × 170 − 5 × 40 + 5 = 1700 + 1062,5 − 200 + 5 = 2567,5 kcal/día. Con factor de actividad 1,2 por sedentarismo extremo: GET ≈ 2567,5 × 1,2 = 3081 kcal/día. Es un estimador indirecto; en obesidad clase III su error puede ser sustancial.</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Métodos alternativos: Harris–Benedict revisada y otras ecuaciones difieren por sus poblaciones de derivación. El gasto en reposo depende fuertemente de la masa libre de grasa, aquí desconocida; usar peso ideal sin justificarlo puede subestimar o sobreestimar. Si se solicita «GET», aclarar ecuación, factor de actividad, supuestos y limitaciones. No puede inferirse un déficit energético seguro e individual sólo con esta estimación.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Bajar de 170 a 140 kg representa 30 kg, es decir 30/170 × 100 = 17,65 % del peso inicial. Nuevo IMC = 140/2,89 = 48,44 kg/m²: continúa en obesidad clase III. La pérdida promedio fue de alrededor de 10 kg/mes, considerablemente rápida: obliga a revisar el riesgo de pérdida de masa magra, colelitiasis, déficits y recuperación ponderal, especialmente con antecedente biliar. El gráfico supone un descenso lineal en tres meses sólo como esquema del promedio informado.</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3. Glucosa 145: si está confirmada en ayunas supera el criterio diagnóstico (≥126), pero sin hiperglucemia inequívoca se necesita una segunda prueba; si no fue en ayunas no basta. El valor previo de 118 mg/dL, si fue en ayunas, encaja con alteración de la glucosa en ayunas. Lípidos: perfil compatible con resistencia insulínica y dislipidemia mixta aterogénica; no-HDL = 250 − 30 = 220 mg/dL. AST normal no excluye MASLD/MASH. Función renal normal no excluye albuminuria. Sokolow–Lyon: criterio de voltaje con sensibilidad y especificidad limitadas.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4. El adipocito libera leptina (informa reservas al hipotálamo), adiponectina (oxidación lipídica, sensibilidad insulínica), angiotensinógeno y otros mediadores; las células inmunes y estromales secretan TNF-α, IL-6, quimiocinas y factores profibróticos. Cadena didáctica: adipocito hipertrofiado → leptina ↑ con señal central ineficiente; adiponectina ↓; TNF-α/IL-6/PAI-1 ↑ y salida de AGNE ↑ → resistencia a insulina + estado protrombótico → DM2/HTA/aterosclerosis [T][S].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5. Alteraciones adiposas que causan y perpetúan la obesidad: aumento del almacenamiento (ingesta sostenidamente mayor que el gasto, aporte de AG desde QM/VLDL, esterificación), expansión celular (hipertrofia, hiperplasia; en exceso hipoxia, fibrosis, inflamación), resistencia adiposa a la insulina (AGNE elevados), resistencia central a la leptina, inflamación y lipotoxicidad (adiponectina ↓, depósitos ectópicos) y modificación del gasto (sedentarismo, NEAT bajo). Son simultáneamente consecuencia y factores de retroalimentación; los circuitos hedónicos, el entorno y los factores psicosociales son indispensables.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6. El relato sugiere ingesta repetida de sándwiches y dulces, aislamiento social, desempleo y juego patológico. Pueden superponerse seis capas: señales de adiposidad altas con menor eficacia central; desequilibrio POMC/CART frente a NPY/AgRP/GABA; hiperrespuesta aprendida a pistas palatables y recompensa dopaminérgica; ejes de estrés, sueño y ánimo; señales de saciedad de corto plazo insuficientes; sistema endocannabinoide y circuitos serotoninérgicos, oxitocinérgicos y orexinérgicos. El juego patológico sugiere explorar impulsividad y reforzadores, sin concluir que todo se explique por una sola alteración dopaminérgica. El caso no informa concentraciones hormonales ni marcadores: no se inventan.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7a. La adiposidad visceral y ectópica origina resistencia a insulina por AGNE/DAG/ceramidas, JNK/IKKβ, adiponectina baja e inflamación. El páncreas compensa con hiperinsulinemia; con el tiempo, factores genéticos y glucolipotoxicidad limitan la capacidad β; el hígado mantiene producción glucémica inapropiada y el músculo capta menos glucosa. El paciente tiene riesgo alto de DM2; si su glucosa 145 fuese en ayunas, debería confirmarse. La remisión es posible pero no equivale a curación permanente.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7b. Mecanismos superpuestos: mayor actividad simpática renal y sistémica, activación del sistema renina–angiotensina–aldosterona, compresión renal por grasa perirrenal y del seno, mayor reabsorción tubular de sodio, hiperinsulinemia, disfunción endotelial con menor señal de NO, estrés oxidativo, inflamación y AOS. La combinación aumenta el volumen circulante y la resistencia vascular. El circuito reno-adiposo explica por qué tratar AOS, peso y sodio puede complementar a los antihipertensivos.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7c. La resistencia adiposa a la insulina aumenta el flujo de AGNE al hígado: más síntesis y secreción de VLDL rica en TAG. La CETP facilita el intercambio de lípidos entre lipoproteínas; la lipasa hepática remodela las partículas dando LDL pequeñas y densas y HDL de menor tamaño con catabolismo acelerado. Patrón habitual: TG altos + HDL bajo + partículas LDL aterogénicas. La aterosclerosis depende de la retención de partículas con ApoB en la íntima y de la inflamación.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7d. La nomenclatura actual utiliza MASLD y MASH. Fisiopatología: entrada hepática de AGNE, lipogénesis de novo estimulada por carbohidratos e insulina, oxidación insuficiente para la carga recibida, estrés oxidativo, inflamación e interacción con microbiota e inmunidad. La progresión puede llevar a fibrosis, cirrosis y carcinoma hepatocelular. Las transaminasas normales no excluyen MASLD/MASH.</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7e. Hernias: la adiposidad central eleva la presión intraabdominal y la carga sobre la pared; pueden coexistir debilidad fascial, aumento de presión en esfuerzos y mala cicatrización. Litiasis biliar: la obesidad incrementa la secreción hepática de colesterol biliar, con sobresaturación, nucleación y cálculos; la pérdida de peso muy rápida aumenta el riesgo por movilización de colesterol y menor vaciamiento vesicular. La pancreatitis biliar ocurre cuando la migración u obstrucción por cálculos desencadena inflamación pancreática; el antecedente no contraindica automáticamente todo fármaco antidiabético, pero exige revisar riesgos individuales.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7f. La grasa cervical y faríngea, la reducción del calibre de la vía aérea superior y la alteración de fuerzas mecánicas favorecen la colapsabilidad faríngea durante el sueño: apneas e hipopneas repetidas, hipoxemia intermitente, despertares, somnolencia diurna y activación simpática, con riesgo de HTA, arritmias, resistencia insulínica y accidentes. El diagnóstico requiere evaluación y típicamente polisomnografía. Con IMC cercano a 59 y disnea debe investigarse el síndrome de hipoventilación por obesidad. Otras consecuencias: osteoartrosis, enfermedad venosa, limitación funcional, hipogonadismo funcional, infertilidad, enfermedad cardiovascular, cánceres asociados a adiposidad y salud mental.</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de complicaciones integradas del caso 20: resistencia insulínica y DM2, HTA, dislipidemia, esteatosis hepática metabólica, riesgo cardiovascular, apnea obstructiva del sueño, alteraciones osteoarticulares y mecánicas, litiasis y pancreatitis según los antecedentes, y consecuencias psicológicas y sociales. Cada una se explicó en las diapositivas anteriores desde sus mecanismos.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VIII. Tratamiento de la obesidad: nutrición, actividad, intervención conductual y psicológica, farmacoterapia con sus mecanismos moleculares, cirugía metabólica y normativa argentina, distinguiendo fármacos históricos, suspendidos y vigentes. Contenido formativo: no constituye indicación terapéutica.</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posinternación 1. La dieta hipocalórica busca reducir el aporte energético respecto del gasto para movilizar reservas de triglicéridos, disminuir el tamaño de los adipocitos y la grasa visceral y ectópica, y mejorar glucemia, triglicéridos, presión y síntomas. La calificación «hipograsa» no es requisito universal de eficacia. Intervención integral: evaluar ingesta, acceso a alimentos, hambre, sueño, medicación, depresión/ansiedad, trastornos de la conducta alimentaria, tabaquismo, entorno familiar, riesgo cardiovascular y composición corporal. La frase del caso sobre prohibir traer comida refleja el manejo narrado, no un modelo contemporáneo centrado en autonomía y reducción del estigma.</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Tratamiento no farmacológico: actividad progresiva (movilidad articular, marcha según tolerancia, fuerza adaptada, fisioterapia), apoyo psicológico (conducta alimentaria, pérdida laboral, autoestima, compulsiones y juego patológico, sin culpabilizar), sueño (pesquisar y tratar AOS) y tratamiento específico de comorbilidades. Dejar de fumar aporta un beneficio cardiovascular muy importante independientemente del peso [ADA26].</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farmacoterapia es una herramienta adyuvante de tratamiento crónico, indicada según IMC y complicaciones, riesgos, preferencias, accesibilidad y aprobación local. La guía ADA 2026 destaca los agentes basados en GLP-1 y GIP/GLP-1 por su eficacia, especialmente con DM2; la guía del ACP 2026 también prioriza semaglutida y tirzepatida donde estén indicadas. Situación regulatoria según el material de cátedra (actualizado a octubre de 2026, fuentes [ANMAT] y [LEY]). El 27/10/2026 no fue posible consultar argentina.gob.ar desde el entorno de producción; antes de exponer, confirmar en ANMAT y el Boletín Oficial. Notas de prensa (no oficiales) informan aprobación de tirzepatida por ANMAT; la disposición oficial no pudo revisarse.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Fentermina + topiramato: simpaticomimético más acciones centrales del topiramato; riesgo cardiovascular, teratogenicidad y efectos neurocognitivos; no es elección automática con TA 160/100. Setmelanotida: agonista MC4R para etiologías genéticas específicas. Sibutramina y rimonabant son históricos: suspendidos en Argentina; no recomendar. Situación regulatoria según el material de cátedra (actualizado a octubre de 2026, fuentes [ANMAT] y [LEY]). El 27/10/2026 no fue posible consultar argentina.gob.ar desde el entorno de producción; antes de exponer, confirmar en ANMAT y el Boletín Oficial.</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Orlistat del caso: se une e inhibe las lipasas gastrointestinales y disminuye la hidrólisis de los TAG dietarios a ácidos grasos y monoacilglicéridos absorbibles; parte de la grasa ingerida permanece en la luz y se elimina por heces. No bloquea la lipólisis de los adipocitos, no es agonista incretínico y no aumenta de forma primaria el metabolismo basal. Su tolerabilidad mejora distribuyendo las grasas en la dieta; revisar interacciones y vitaminas liposolubles; con antecedente de pancreatitis biliar la evaluación debe ser específica. Animación: llegan los TAG, las lipasas se activan, las fichas de orlistat (O) se unen a ellas y la grasa sale por heces.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GLP-1R es un receptor acoplado a Gs. En células β el AMPc activa PKA/Epac2 y potencia la secreción insulinotrópica dependiente de glucosa. En circuitos centrales y aferencias digestivas promueve saciedad y menor ingesta; el retraso del vaciamiento gástrico es más marcado en algunos contextos o etapas. La acción sobre el peso depende de la modificación sostenida de la ingesta, no de una quema química directa de grasa. Debe planificarse seguimiento y el riesgo de recuperar peso al suspender la medicación.</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Seguridad contextualizada: con TA 160/100, riesgo cardiometabólico y sospecha de AOS, los simpaticomiméticos no son opciones de selección automática. El antecedente pancreatobiliar y la pérdida rápida de peso obligan a revisar riesgos biliares y fichas técnicas antes de considerar incretinas. En personas con depresión, trastornos conductuales o juego patológico se valoran los riesgos psiquiátricos. Con sulfonilureas, revisar dosis por hipoglucemia. Suspender el tabaco aporta beneficio cardiovascular muy importante [ADA26].</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consenso ASMBS/IFSO 2022 la cirugía metabólica/bariátrica es recomendada a partir de IMC ≥35 kg/m² independientemente de comorbilidades en pacientes apropiadamente evaluados, y se considera en ciertos pacientes con enfermedad metabólica e IMC 30–34,9. Con IMC 58,8 el paciente reúne criterio antropométrico fuerte para evaluación por equipo interdisciplinario; no significa cirugía inmediata. Manga gástrica y derivación gástrica modifican la capacidad alimentaria y las hormonas intestinales; tienen riesgos de déficits nutricionales, complicaciones y requieren seguimiento de por vida [ASMBS].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Sibutramina: la Disposición ANMAT 6533/2010, del 26 de octubre de 2010 y publicada el 2 de noviembre de 2010, suspendió la importación del ingrediente activo y la elaboración, importación, comercialización, distribución y uso de especialidades medicinales que la contuvieran, por preocupaciones de seguridad cardiovascular. Rimonabant: la Disposición ANMAT 6238/2008, del 24 de octubre de 2008, suspendió comercialización y expendio y ordenó el retiro del mercado por beneficio-riesgo desfavorable y efectos psiquiátricos. Registro de semaglutida para manejo de peso: comunicado ANMAT del 07/08/2023. Situación regulatoria según el material de cátedra (actualizado a octubre de 2026, fuentes [ANMAT] y [LEY]). El 27/10/2026 no fue posible consultar argentina.gob.ar desde el entorno de producción; antes de exponer, confirmar en ANMAT y el Boletín Oficial.</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Ley 26.396: sancionada el 13 de agosto de 2008 y publicada el 3 de septiembre de 2008; declaró de interés nacional la prevención y control de los trastornos alimentarios. Art. 2: obesidad, bulimia y anorexia nerviosa, entre otros. Art. 3: programa nacional. Arts. 6–9: educación alimentaria, actividad física, entornos escolares y capacitación. Arts. 15 y 16: cobertura de tratamiento integral en el PMO. Art. 17: prohibición de negar bienes o servicios. Art. 18: accesibilidad. Promulgación con veto parcial: el Decreto 1395/2008 observó los artículos 5, 11, 20 y 21. Aplicación al caso: atención respetuosa y multidisciplinaria; la ley no significa que todas las técnicas o productos estén cubiertos sin requisitos. Situación regulatoria según el material de cátedra (actualizado a octubre de 2026, fuentes [ANMAT] y [LEY]). El 27/10/2026 no fue posible consultar argentina.gob.ar desde el entorno de producción; antes de exponer, confirmar en ANMAT y el Boletín Oficial.</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IX. Síndrome metabólico: definición, criterios armonizados, sistemas históricos sin mezclar umbrales, aplicación al caso 20, etiología, relación con DM2, HTA y aterosclerosis, y la secuencia molecular de la aterogénesis.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síndrome metabólico es una agrupación de obesidad abdominal/adiposidad central, glucemia alterada, presión arterial elevada, hipertrigliceridemia y HDL bajo que señala riesgo cardiometabólico elevado y mayor probabilidad de DM2. El artículo [S] reconstruye su fisiopatología como interacción de adiposidad visceral, ácidos grasos libres, inflamación y señal insulínica anormal. No sustituye la estimación individual del riesgo cardiovascular.</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Definición armonizada / ATP III modificado: al menos 3 de 5 criterios. Cintura elevada según población (ATP III clásico &gt;102 cm hombres / &gt;88 cm mujeres; IDF puede utilizar ≥90/≥80 cm en determinados grupos); triglicéridos ≥150 mg/dL o tratamiento; HDL &lt;40 mg/dL en hombres o &lt;50 en mujeres, o tratamiento; presión ≥130/85 o tratamiento; glucemia de ayunas ≥100 mg/dL o tratamiento.</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histórica: el artículo [S], Tabla 1 de la página 3, contrasta OMS, EGIR, NCEP ATP III e IDF. El ATP III original usaba umbral glucémico ≥110 mg/dL; modificaciones posteriores lo redujeron a ≥100. El esquema clásico IDF requería cintura elevada más 2 criterios; en definiciones armonizadas posteriores ya no se exige obesidad central obligatoria. Los años y los requisitos de OMS y EGIR (alteración glucémica/resistencia y hiperinsulinemia) son ampliación bibliográfica resumida; los umbrales detallados de esos sistemas se omiten para no mezclarlos.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Aplicación al caso 20: cintura 124 cm sí; TG 185 sí; HDL 30 sí; TA 160/100 sí; glucosa 145 sólo si fue en ayunas. El paciente reúne al menos 4 criterios claramente documentados aun sin aclarar el ayuno: tiene síndrome metabólico bajo las definiciones más utilizadas (ejercicio 11).</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Etiología multifactorial: predisposición genética y epigenética; exceso de energía, adiposidad visceral y ectópica; actividad reducida, sueño insuficiente/AOS, envejecimiento y factores psicosociales; alteraciones de adipocinas, producción de AGNE, lipotoxicidad, estrés oxidativo e inflamación; hiperinsulinemia compensatoria y declive β en sujetos susceptibles. No existe una causa única requerida ni una concentración obligatoria de insulina.</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Animación integradora: adiposidad visceral disfuncional → aumento de AGNE y mediadores inflamatorios → resistencia insulínica → alteraciones de la producción hepática de VLDL → dislipidemia → disfunción endotelial → incremento del riesgo cardiovascular. Se agrega la explicación de la retención arterial de lipoproteínas con ApoB y la posterior respuesta inflamatoria, desarrollada en la Secuencia F.</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7, etapa 1. La adiposidad visceral envía AGNE y citocinas al hígado y al resto del organismo: resistencia insulínica con hiperinsulinemia, que junto con la activación simpática, el SRAA y la AOS favorece la retención renal de sodio y la HTA.</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7, etapa 2. El hígado produce VLDL ricas en TAG (ApoB): dislipidemia con TG altos y HDL bajo; el endotelio pierde NO y se inflama; la combinación conduce a aterosclerosis y enfermedad cardiovascular.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7 completo: adiposidad visceral ↔ resistencia insulínica ↔ dislipidemia ↔ hipertensión ↔ disfunción endotelial. Idea fuerza: «cinco criterios clínicos, un entramado fisiopatológico común».</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 → DM2: grasa visceral y hepatomuscular → resistencia a insulina → aumento de secreción β → agotamiento relativo → hiperglucemia sostenida. SM → HTA: hiperactividad simpática, SRAA renal/adiposo, retención de sodio, endotelio disfuncional y AOS. SM → aterosclerosis: VLDL/TG altos y HDL bajo, partículas ApoB, inflamación, disfunción endotelial, glicación, estrés oxidativo y ambiente protrombótico (PAI-1).</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Secuencia F (Morph): lipoproteínas con ApoB → endotelio → íntima arterial → retención lipoproteica → inflamación → macrófago → célula espumosa → placa aterosclerótica. Paso 1: partículas con ApoB circulantes (LDL, VLDL remanentes). Que cada partícula lleve una ApoB y que el número de partículas condicione el riesgo es ampliación bibliográfica coherente con [material de cátedra, apartado 54].</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2. Por Morph algunas partículas atraviesan el endotelio hacia la íntima. La disfunción endotelial (menor NO, hiperglucemia, HTA, tabaquismo) favorece el proceso.</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3. Las lipoproteínas aterogénicas con ApoB se retienen en la íntima arterial por interacción con proteoglucanos y pueden modificarse por oxidación y agregación [material de cátedra, apartado 54].</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4. Las partículas modificadas activan el endotelio y los monocitos: aparecen moléculas de adhesión y quimiocinas que reclutan monocitos, que migran a la íntima (trayectorias). Las moléculas de adhesión y MCP-1 son ampliación bibliográfica.</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5. Por Morph los monocitos crecen y se convierten en macrófagos, que captan lipoproteínas modificadas (mediante receptores scavenger, ampliación) y se cargan de colesterol, liberando citocinas y proteasas [material de cátedra, apartado 54].</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6. Los macrófagos cargados de colesterol se transforman en células espumosas (Morph: cambia la ilustración); su muerte y la persistencia de lípidos originan el núcleo necrótico.</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7. Placa con núcleo necrótico y cápsula fibrosa. La rotura o erosión de la placa expone materiales trombogénicos, causa agregación plaquetaria y trombosis. La resistencia insulínica participa elevando partículas ricas en TAG y alterando la función endotelial, pero el riesgo clínico depende también de LDL/ApoB, HTA y el tabaquismo severo del caso 20.</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del riñón: la hiperinsulinemia y la adiposidad pueden favorecer la retención renal de sodio; la presión elevada lesiona nefronas y microvasos; la hiperglucemia puede generar hiperfiltración inicial y luego daño glomerular. El riñón une obesidad ↔ resistencia insulínica ↔ HTA ↔ enfermedad renal; por eso se miden albuminuria y TFG, más allá de la creatinina aislada.</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Intervenciones integradas: pérdida de adiposidad cuando corresponde, actividad física, sueño y manejo de AOS, reducción o suspensión del tabaco, nutrición suficiente de buena calidad, tratamiento de HTA, lípidos y glucemia con objetivos individualizados, búsqueda de albuminuria y daño de órgano blanco. No existe una pastilla del síndrome metabólico.</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X. Doce ejercicios clínico-bioquímicos. Cada uno se revela por clic en seis bloques: datos, interpretación, fórmula, cálculo, resultado y significado fisiológico; la solución no aparece desde el inicio. Se cierran con diez preguntas de opción múltiple con respuesta razonada.</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1 [ADA26]. Una A1c de 6,6 % está por encima del umbral, mientras la glucemia en ayunas y la PTOG caen en intervalos de prediabetes. Sin hiperglucemia inequívoca corresponde repetir la prueba que supera el umbral, verificar calidad analítica y causas de discordancia. No diagnosticar por promedio de resultados ni descartar por la glucemia en ayunas de 124.</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2. eAG = 28,7 × 12 − 46,7 = 297,7 mg/dL. La A1c refleja exposición ponderada durante semanas, mientras una glucemia es una instantánea: pueden existir picos posprandiales, variación de adherencia o cambios en los últimos días.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3. Henderson–Hasselbalch: 6,1 + log(13/0,72) = 6,1 + 1,257 ≈ 7,36. Los valores no pertenecen a una tríada coherente.</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4. Winter predice 27,5 ± 2; la medida 24 está algo por debajo de la banda. Como la tríada es inconsistente sólo se formula una hipótesis de alcalosis respiratoria agregada.</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5. AG = 140 − (102 + 12) = 26; corregido por albúmina 2 g/dL: 26 + 2,5 × 2 = 31 mEq/L.</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6. Efectiva = 2 × 145 + 684/18 = 290 + 38 = 328 mOsm/kg; total = 328 + 56/2,8 = 348.</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7. La diuresis osmótica y los vómitos pueden haber agotado las reservas; al iniciar insulina el potasio puede caer por movimiento intracelular.</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8. El β-hidroxibutirato se oxida a acetoacetato, el principal detectado por nitroprusiato.</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9. La insulina endógena residual puede inhibir lipólisis y cetogénesis aunque no suprima la producción hepática de glucosa ni supere la resistencia muscular.</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10. IMC = 58,82; Mifflin reposo 2567,5 kcal/d; GET sedentario ≈ 3081 kcal/d. Tras 140 kg: IMC ≈ 48,44; descenso ≈ 17,65 %. El GET debe reevaluarse.</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11. Sí bajo criterios armonizados: reúne cuatro criterios (cintura, TA, HDL, TG).</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Ejercicio 12. Mecanismo: el cierre de K_ATP estimula la insulina incluso con glucosa baja. Aprendizaje: corregir la hipoglucemia y revisar el tratamiento con el equipo médico.</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clic marca la opción correcta y muestra el razonamiento. Pregunta 1: respuesta B. Secuencia lipólisis → β-oxidación → acetil-CoA → cetonas. Pregunta 2: respuesta B. No alcanza para euglucemia, pero puede frenar la cetogénesis.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clic marca la opción correcta y muestra el razonamiento. Pregunta 3: respuesta C. Primero pH y componente metabólico; verificar compensación con Winter. Pregunta 4: respuesta B. La HSL participa en la lipólisis intracelular.</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clic marca la opción correcta y muestra el razonamiento. Pregunta 5: respuesta B. Señal cardiometabólica relacionada con AMPK/PPARα. Pregunta 6: respuesta B. Circuito de melanocortinas anorexígeno.</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clic marca la opción correcta y muestra el razonamiento. Pregunta 7: respuesta A. AMPK y otras señales contráctiles llevan GLUT4 a la membrana. Pregunta 8: respuesta B. La circunferencia se ajusta según etnia/población.</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clic marca la opción correcta y muestra el razonamiento. Pregunta 9: respuesta C. Con límites por la vida eritrocitaria. Pregunta 10: respuesta C. Disposición ANMAT 6238/2008.</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Unidad XI. Cierre: errores frecuentes en examen y exposición, datos que faltan en cada caso y cómo condicionan las conclusiones, conclusión integradora, bibliografía primaria y contemporánea, y créditos de las ilustraciones.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Errores frecuentes (material de cátedra, apartado 59), 1 a 8. Afirmar que pCO₂ 24, HCO₃⁻ 13 y pH 7,15 forman una gasometría consistente. Sostener que el bicarbonato reemplaza a la insulina en la CAD. Confundir cetosis fisiológica del ayuno con CAD acidémica. Decidir la resolución por la cetonuria aislada sin β-OHB. Olvidar el K⁺ total depletado detrás de una kalemia «normal». Creer que todo EHH carece absolutamente de cetonas o nunca se combina con CAD. Sostener que toda acción de la insulina pasa por GLUT4, incluido el hepatocito. Identificar la LPL capilar con la HSL intracelular.</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Errores frecuentes (material de cátedra, apartado 59), 9 a 16. Reducir la obesidad a «voluntad». Suponer que una leptina elevada asegura saciedad normal. Diagnosticar diabetes con 145 mg/dL sin aclarar ayuno/confirmación. Interpretar AST normal como ausencia de MASLD. Tomar Sokolow–Lyon positivo como confirmación de HVI. Presentar sibutramina y rimonabant como vigentes en Argentina. Copiar artículos vetados de la Ley 26.396 como promulgados. Usar la glucemia 110 del ATP III original como único punto actual.</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faltantes (apartado 62). Caso 11: faltan Na⁺, K⁺, Cl⁻, albúmina, lactato, función renal, β-OHB cuantitativo y detalle de insulinoterapia; la primera gasometría es discordante. Caso 12: faltan sodio, BUN, creatinina y la especificación de osmolalidad total/efectiva. Caso 20: faltan condición de ayuno para la glucosa 145, HbA1c, LDL/ApoB confirmatorio, composición corporal, función ventilatoria y evaluación de AOS, datos de ingesta, actividad objetiva y trabajo clínico-psicológico.</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Conclusión integradora (apartado 63). La insulina decide el sentido metabólico de los flujos entre órganos; el tejido adiposo amortigua excedentes y comunica reservas; el hipotálamo integra señales de energía con saciedad y recompensa; el hígado redistribuye glucosa y lípidos; el músculo determina gran parte de su utilización; y el riñón convierte la hiperglucemia en pérdidas osmóticas y participa en HTA y daño crónico. La CAD demuestra lo que sucede cuando falta el freno insulínico; el EHH, cuando la acción residual limita las cetonas pero no la hiperglucemia y la deshidratación; la obesidad visceral disfuncional explica por qué la resistencia crónica se convierte en síndrome metabólico, DM2, hipertensión, enfermedad hepática y aterosclerosis.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Bibliografía (apartados 60 y 61). [T] es la fuente base de los capítulos 21–27; [S], de 25–27 y 50–55; [A], de 28–31. Las revisiones antiguas se emplean como base conceptual, no como autoridad sobre fármacos vigentes ni criterios diagnósticos actuales. Ampliaciones bibliográficas señaladas en las notas (estructura del canal K_ATP, exocitosis, glucación, AGE/RAGE, PKC isoformas, aterogénesis): textos de bioquímica y fisiología médica de referencia (p. ej., Lehninger, Guyton y Hall). Enlaces: doi.org/10.2337/dc26-s002, dc26-s008, dc26-S009, dc26-s016; argentina.gob.ar/normativa (ANMAT y Ley 26.396).</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Créditos: Servier Medical Art (Les Laboratoires Servier), licencias Creative Commons BY 3.0 y 4.0, distribuidas a través de Bioicons (bioicons.com). Modelos moleculares generados con RDKit. Fuentes tipográficas: Permanent Marker (Apache 2.0), Fira Sans Condensed y Bangers (SIL OFL), incrustadas en el archivo.</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Frase final: «La energía no circula por órganos aislados: el organismo funciona como una red metabólica, hormonal, neuronal y vascular». Cierre de la clase.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6.png"/><Relationship Id="rId8"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0.png"/><Relationship Id="rId8"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0.png"/><Relationship Id="rId8"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0.png"/><Relationship Id="rId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4.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5.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image" Target="../media/image23.png"/><Relationship Id="rId9"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10.png"/><Relationship Id="rId7"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9.png"/><Relationship Id="rId4" Type="http://schemas.openxmlformats.org/officeDocument/2006/relationships/image" Target="../media/image1.png"/><Relationship Id="rId5"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30.png"/><Relationship Id="rId6"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png"/><Relationship Id="rId4"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33.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0.png"/><Relationship Id="rId9" Type="http://schemas.openxmlformats.org/officeDocument/2006/relationships/image" Target="../media/image35.png"/><Relationship Id="rId10" Type="http://schemas.openxmlformats.org/officeDocument/2006/relationships/image" Target="../media/image30.png"/><Relationship Id="rId11" Type="http://schemas.openxmlformats.org/officeDocument/2006/relationships/image" Target="../media/image4.png"/><Relationship Id="rId1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6.png"/><Relationship Id="rId4" Type="http://schemas.openxmlformats.org/officeDocument/2006/relationships/image" Target="../media/image33.png"/><Relationship Id="rId5" Type="http://schemas.openxmlformats.org/officeDocument/2006/relationships/image" Target="../media/image37.png"/><Relationship Id="rId6"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5.png"/><Relationship Id="rId4"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5.png"/><Relationship Id="rId4"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33.png"/><Relationship Id="rId8"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png"/><Relationship Id="rId4"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8.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25.png"/><Relationship Id="rId9" Type="http://schemas.openxmlformats.org/officeDocument/2006/relationships/image" Target="../media/image33.png"/><Relationship Id="rId10"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notesSlide" Target="../notesSlides/notesSlide2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grpSp>
        <p:nvGrpSpPr>
          <p:cNvPr id="5" name="!!Glucosa 3D portada"/>
          <p:cNvGrpSpPr/>
          <p:nvPr/>
        </p:nvGrpSpPr>
        <p:grpSpPr>
          <a:xfrm>
            <a:off x="2407085" y="487987"/>
            <a:ext cx="2404021" cy="1814891"/>
            <a:chOff x="2407085" y="487987"/>
            <a:chExt cx="2404021" cy="1814891"/>
          </a:xfrm>
        </p:grpSpPr>
        <p:sp>
          <p:nvSpPr>
            <p:cNvPr id="6" name="Átomo H"/>
            <p:cNvSpPr/>
            <p:nvPr/>
          </p:nvSpPr>
          <p:spPr>
            <a:xfrm>
              <a:off x="3995842" y="1339989"/>
              <a:ext cx="153232" cy="15323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 name="Átomo H_2"/>
            <p:cNvSpPr/>
            <p:nvPr/>
          </p:nvSpPr>
          <p:spPr>
            <a:xfrm>
              <a:off x="4095838" y="611562"/>
              <a:ext cx="154744" cy="15474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 name="Flecha 7_2"/>
            <p:cNvSpPr/>
            <p:nvPr/>
          </p:nvSpPr>
          <p:spPr>
            <a:xfrm>
              <a:off x="4072458" y="1416605"/>
              <a:ext cx="71923" cy="67524"/>
            </a:xfrm>
            <a:custGeom>
              <a:avLst/>
              <a:gdLst/>
              <a:ahLst/>
              <a:cxnLst/>
              <a:rect l="0" t="0" r="r" b="b"/>
              <a:pathLst>
                <a:path w="78" h="73" fill="none">
                  <a:moveTo>
                    <a:pt x="78" y="73"/>
                  </a:moveTo>
                  <a:lnTo>
                    <a:pt x="0" y="0"/>
                  </a:lnTo>
                </a:path>
              </a:pathLst>
            </a:custGeom>
            <a:noFill/>
            <a:ln w="39125" cap="rnd">
              <a:solidFill>
                <a:srgbClr val="9A9A9A"/>
              </a:solidFill>
              <a:round/>
            </a:ln>
          </p:spPr>
        </p:sp>
        <p:sp>
          <p:nvSpPr>
            <p:cNvPr id="9" name="Flecha 9_2"/>
            <p:cNvSpPr/>
            <p:nvPr/>
          </p:nvSpPr>
          <p:spPr>
            <a:xfrm>
              <a:off x="4173210" y="688935"/>
              <a:ext cx="231982" cy="89871"/>
            </a:xfrm>
            <a:custGeom>
              <a:avLst/>
              <a:gdLst/>
              <a:ahLst/>
              <a:cxnLst/>
              <a:rect l="0" t="0" r="r" b="b"/>
              <a:pathLst>
                <a:path w="253" h="98" fill="none">
                  <a:moveTo>
                    <a:pt x="253" y="98"/>
                  </a:moveTo>
                  <a:lnTo>
                    <a:pt x="0" y="0"/>
                  </a:lnTo>
                </a:path>
              </a:pathLst>
            </a:custGeom>
            <a:noFill/>
            <a:ln w="39125" cap="rnd">
              <a:solidFill>
                <a:srgbClr val="9A9A9A"/>
              </a:solidFill>
              <a:round/>
            </a:ln>
          </p:spPr>
        </p:sp>
        <p:sp>
          <p:nvSpPr>
            <p:cNvPr id="10" name="Átomo H_3"/>
            <p:cNvSpPr/>
            <p:nvPr/>
          </p:nvSpPr>
          <p:spPr>
            <a:xfrm>
              <a:off x="3168626" y="1389950"/>
              <a:ext cx="155983" cy="15598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 name="Átomo H_4"/>
            <p:cNvSpPr/>
            <p:nvPr/>
          </p:nvSpPr>
          <p:spPr>
            <a:xfrm>
              <a:off x="4655048" y="1500990"/>
              <a:ext cx="156057" cy="15605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 name="Flecha 13_2"/>
            <p:cNvSpPr/>
            <p:nvPr/>
          </p:nvSpPr>
          <p:spPr>
            <a:xfrm>
              <a:off x="4508998" y="1579018"/>
              <a:ext cx="224079" cy="170085"/>
            </a:xfrm>
            <a:custGeom>
              <a:avLst/>
              <a:gdLst/>
              <a:ahLst/>
              <a:cxnLst/>
              <a:rect l="0" t="0" r="r" b="b"/>
              <a:pathLst>
                <a:path w="245" h="186" fill="none">
                  <a:moveTo>
                    <a:pt x="0" y="186"/>
                  </a:moveTo>
                  <a:lnTo>
                    <a:pt x="245" y="0"/>
                  </a:lnTo>
                </a:path>
              </a:pathLst>
            </a:custGeom>
            <a:noFill/>
            <a:ln w="39125" cap="rnd">
              <a:solidFill>
                <a:srgbClr val="9A9A9A"/>
              </a:solidFill>
              <a:round/>
            </a:ln>
          </p:spPr>
        </p:sp>
        <p:sp>
          <p:nvSpPr>
            <p:cNvPr id="13" name="Átomo H_5"/>
            <p:cNvSpPr/>
            <p:nvPr/>
          </p:nvSpPr>
          <p:spPr>
            <a:xfrm>
              <a:off x="3914997" y="2145838"/>
              <a:ext cx="157040" cy="1570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 name="Átomo O"/>
            <p:cNvSpPr/>
            <p:nvPr/>
          </p:nvSpPr>
          <p:spPr>
            <a:xfrm>
              <a:off x="4281620" y="655233"/>
              <a:ext cx="247144" cy="24714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5" name="Flecha 17_2"/>
            <p:cNvSpPr/>
            <p:nvPr/>
          </p:nvSpPr>
          <p:spPr>
            <a:xfrm>
              <a:off x="3713244" y="2107604"/>
              <a:ext cx="280273" cy="116754"/>
            </a:xfrm>
            <a:custGeom>
              <a:avLst/>
              <a:gdLst/>
              <a:ahLst/>
              <a:cxnLst/>
              <a:rect l="0" t="0" r="r" b="b"/>
              <a:pathLst>
                <a:path w="306" h="127" fill="none">
                  <a:moveTo>
                    <a:pt x="0" y="0"/>
                  </a:moveTo>
                  <a:lnTo>
                    <a:pt x="306" y="127"/>
                  </a:lnTo>
                </a:path>
              </a:pathLst>
            </a:custGeom>
            <a:noFill/>
            <a:ln w="39125" cap="rnd">
              <a:solidFill>
                <a:srgbClr val="9A9A9A"/>
              </a:solidFill>
              <a:round/>
            </a:ln>
          </p:spPr>
        </p:sp>
        <p:sp>
          <p:nvSpPr>
            <p:cNvPr id="16" name="Átomo O_2"/>
            <p:cNvSpPr/>
            <p:nvPr/>
          </p:nvSpPr>
          <p:spPr>
            <a:xfrm>
              <a:off x="3589377" y="1983737"/>
              <a:ext cx="247733" cy="2477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7" name="Átomo O_3"/>
            <p:cNvSpPr/>
            <p:nvPr/>
          </p:nvSpPr>
          <p:spPr>
            <a:xfrm>
              <a:off x="4385053" y="1625159"/>
              <a:ext cx="247889" cy="24788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8" name="Flecha 21_2"/>
            <p:cNvSpPr/>
            <p:nvPr/>
          </p:nvSpPr>
          <p:spPr>
            <a:xfrm>
              <a:off x="4144381" y="1484128"/>
              <a:ext cx="364616" cy="264975"/>
            </a:xfrm>
            <a:custGeom>
              <a:avLst/>
              <a:gdLst/>
              <a:ahLst/>
              <a:cxnLst/>
              <a:rect l="0" t="0" r="r" b="b"/>
              <a:pathLst>
                <a:path w="398" h="289" fill="none">
                  <a:moveTo>
                    <a:pt x="0" y="0"/>
                  </a:moveTo>
                  <a:lnTo>
                    <a:pt x="398" y="289"/>
                  </a:lnTo>
                </a:path>
              </a:pathLst>
            </a:custGeom>
            <a:noFill/>
            <a:ln w="39125" cap="rnd">
              <a:solidFill>
                <a:srgbClr val="9A9A9A"/>
              </a:solidFill>
              <a:round/>
            </a:ln>
          </p:spPr>
        </p:sp>
        <p:sp>
          <p:nvSpPr>
            <p:cNvPr id="19" name="Átomo C"/>
            <p:cNvSpPr/>
            <p:nvPr/>
          </p:nvSpPr>
          <p:spPr>
            <a:xfrm>
              <a:off x="4012805" y="1352552"/>
              <a:ext cx="263152" cy="26315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 name="Flecha 24_2"/>
            <p:cNvSpPr/>
            <p:nvPr/>
          </p:nvSpPr>
          <p:spPr>
            <a:xfrm>
              <a:off x="3246617" y="1441739"/>
              <a:ext cx="139667" cy="26202"/>
            </a:xfrm>
            <a:custGeom>
              <a:avLst/>
              <a:gdLst/>
              <a:ahLst/>
              <a:cxnLst/>
              <a:rect l="0" t="0" r="r" b="b"/>
              <a:pathLst>
                <a:path w="152" h="28" fill="none">
                  <a:moveTo>
                    <a:pt x="152" y="0"/>
                  </a:moveTo>
                  <a:lnTo>
                    <a:pt x="0" y="28"/>
                  </a:lnTo>
                </a:path>
              </a:pathLst>
            </a:custGeom>
            <a:noFill/>
            <a:ln w="39125" cap="rnd">
              <a:solidFill>
                <a:srgbClr val="9A9A9A"/>
              </a:solidFill>
              <a:round/>
            </a:ln>
          </p:spPr>
        </p:sp>
        <p:sp>
          <p:nvSpPr>
            <p:cNvPr id="21" name="Flecha 26_2"/>
            <p:cNvSpPr/>
            <p:nvPr/>
          </p:nvSpPr>
          <p:spPr>
            <a:xfrm>
              <a:off x="3713244" y="1720879"/>
              <a:ext cx="66278" cy="386725"/>
            </a:xfrm>
            <a:custGeom>
              <a:avLst/>
              <a:gdLst/>
              <a:ahLst/>
              <a:cxnLst/>
              <a:rect l="0" t="0" r="r" b="b"/>
              <a:pathLst>
                <a:path w="72" h="422" fill="none">
                  <a:moveTo>
                    <a:pt x="72" y="0"/>
                  </a:moveTo>
                  <a:lnTo>
                    <a:pt x="0" y="422"/>
                  </a:lnTo>
                </a:path>
              </a:pathLst>
            </a:custGeom>
            <a:noFill/>
            <a:ln w="39125" cap="rnd">
              <a:solidFill>
                <a:srgbClr val="9A9A9A"/>
              </a:solidFill>
              <a:round/>
            </a:ln>
          </p:spPr>
        </p:sp>
        <p:sp>
          <p:nvSpPr>
            <p:cNvPr id="22" name="Flecha 28_2"/>
            <p:cNvSpPr/>
            <p:nvPr/>
          </p:nvSpPr>
          <p:spPr>
            <a:xfrm>
              <a:off x="3779522" y="1484128"/>
              <a:ext cx="364859" cy="236750"/>
            </a:xfrm>
            <a:custGeom>
              <a:avLst/>
              <a:gdLst/>
              <a:ahLst/>
              <a:cxnLst/>
              <a:rect l="0" t="0" r="r" b="b"/>
              <a:pathLst>
                <a:path w="399" h="258" fill="none">
                  <a:moveTo>
                    <a:pt x="399" y="0"/>
                  </a:moveTo>
                  <a:lnTo>
                    <a:pt x="0" y="258"/>
                  </a:lnTo>
                </a:path>
              </a:pathLst>
            </a:custGeom>
            <a:noFill/>
            <a:ln w="39125" cap="rnd">
              <a:solidFill>
                <a:srgbClr val="9A9A9A"/>
              </a:solidFill>
              <a:round/>
            </a:ln>
          </p:spPr>
        </p:sp>
        <p:sp>
          <p:nvSpPr>
            <p:cNvPr id="23" name="Flecha 30_2"/>
            <p:cNvSpPr/>
            <p:nvPr/>
          </p:nvSpPr>
          <p:spPr>
            <a:xfrm>
              <a:off x="4238852" y="778805"/>
              <a:ext cx="166341" cy="301808"/>
            </a:xfrm>
            <a:custGeom>
              <a:avLst/>
              <a:gdLst/>
              <a:ahLst/>
              <a:cxnLst/>
              <a:rect l="0" t="0" r="r" b="b"/>
              <a:pathLst>
                <a:path w="181" h="330" fill="none">
                  <a:moveTo>
                    <a:pt x="0" y="330"/>
                  </a:moveTo>
                  <a:lnTo>
                    <a:pt x="181" y="0"/>
                  </a:lnTo>
                </a:path>
              </a:pathLst>
            </a:custGeom>
            <a:noFill/>
            <a:ln w="39125" cap="rnd">
              <a:solidFill>
                <a:srgbClr val="9A9A9A"/>
              </a:solidFill>
              <a:round/>
            </a:ln>
          </p:spPr>
        </p:sp>
        <p:sp>
          <p:nvSpPr>
            <p:cNvPr id="24" name="Flecha 32_2"/>
            <p:cNvSpPr/>
            <p:nvPr/>
          </p:nvSpPr>
          <p:spPr>
            <a:xfrm>
              <a:off x="4144381" y="1080613"/>
              <a:ext cx="94470" cy="403515"/>
            </a:xfrm>
            <a:custGeom>
              <a:avLst/>
              <a:gdLst/>
              <a:ahLst/>
              <a:cxnLst/>
              <a:rect l="0" t="0" r="r" b="b"/>
              <a:pathLst>
                <a:path w="103" h="441" fill="none">
                  <a:moveTo>
                    <a:pt x="103" y="0"/>
                  </a:moveTo>
                  <a:lnTo>
                    <a:pt x="0" y="441"/>
                  </a:lnTo>
                </a:path>
              </a:pathLst>
            </a:custGeom>
            <a:noFill/>
            <a:ln w="39125" cap="rnd">
              <a:solidFill>
                <a:srgbClr val="9A9A9A"/>
              </a:solidFill>
              <a:round/>
            </a:ln>
          </p:spPr>
        </p:sp>
        <p:sp>
          <p:nvSpPr>
            <p:cNvPr id="25" name="Átomo C_2"/>
            <p:cNvSpPr/>
            <p:nvPr/>
          </p:nvSpPr>
          <p:spPr>
            <a:xfrm>
              <a:off x="3252601" y="1308056"/>
              <a:ext cx="267366" cy="26736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 name="Flecha 35_2"/>
            <p:cNvSpPr/>
            <p:nvPr/>
          </p:nvSpPr>
          <p:spPr>
            <a:xfrm>
              <a:off x="3386284" y="1441739"/>
              <a:ext cx="393238" cy="279139"/>
            </a:xfrm>
            <a:custGeom>
              <a:avLst/>
              <a:gdLst/>
              <a:ahLst/>
              <a:cxnLst/>
              <a:rect l="0" t="0" r="r" b="b"/>
              <a:pathLst>
                <a:path w="430" h="305" fill="none">
                  <a:moveTo>
                    <a:pt x="430" y="305"/>
                  </a:moveTo>
                  <a:lnTo>
                    <a:pt x="0" y="0"/>
                  </a:lnTo>
                </a:path>
              </a:pathLst>
            </a:custGeom>
            <a:noFill/>
            <a:ln w="39125" cap="rnd">
              <a:solidFill>
                <a:srgbClr val="9A9A9A"/>
              </a:solidFill>
              <a:round/>
            </a:ln>
          </p:spPr>
        </p:sp>
        <p:sp>
          <p:nvSpPr>
            <p:cNvPr id="27" name="Átomo C_3"/>
            <p:cNvSpPr/>
            <p:nvPr/>
          </p:nvSpPr>
          <p:spPr>
            <a:xfrm>
              <a:off x="3645595" y="1586951"/>
              <a:ext cx="267854" cy="26785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8_2"/>
            <p:cNvSpPr/>
            <p:nvPr/>
          </p:nvSpPr>
          <p:spPr>
            <a:xfrm>
              <a:off x="3386284" y="1000392"/>
              <a:ext cx="91255" cy="441347"/>
            </a:xfrm>
            <a:custGeom>
              <a:avLst/>
              <a:gdLst/>
              <a:ahLst/>
              <a:cxnLst/>
              <a:rect l="0" t="0" r="r" b="b"/>
              <a:pathLst>
                <a:path w="99" h="482" fill="none">
                  <a:moveTo>
                    <a:pt x="0" y="482"/>
                  </a:moveTo>
                  <a:lnTo>
                    <a:pt x="99" y="0"/>
                  </a:lnTo>
                </a:path>
              </a:pathLst>
            </a:custGeom>
            <a:noFill/>
            <a:ln w="39125" cap="rnd">
              <a:solidFill>
                <a:srgbClr val="9A9A9A"/>
              </a:solidFill>
              <a:round/>
            </a:ln>
          </p:spPr>
        </p:sp>
        <p:sp>
          <p:nvSpPr>
            <p:cNvPr id="29" name="Átomo O_4"/>
            <p:cNvSpPr/>
            <p:nvPr/>
          </p:nvSpPr>
          <p:spPr>
            <a:xfrm>
              <a:off x="3350923" y="873775"/>
              <a:ext cx="253233" cy="2532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0" name="Átomo C_4"/>
            <p:cNvSpPr/>
            <p:nvPr/>
          </p:nvSpPr>
          <p:spPr>
            <a:xfrm>
              <a:off x="4104385" y="946146"/>
              <a:ext cx="268934" cy="26893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1" name="Flecha 42_2"/>
            <p:cNvSpPr/>
            <p:nvPr/>
          </p:nvSpPr>
          <p:spPr>
            <a:xfrm>
              <a:off x="3052781" y="1441739"/>
              <a:ext cx="333504" cy="142722"/>
            </a:xfrm>
            <a:custGeom>
              <a:avLst/>
              <a:gdLst/>
              <a:ahLst/>
              <a:cxnLst/>
              <a:rect l="0" t="0" r="r" b="b"/>
              <a:pathLst>
                <a:path w="364" h="156" fill="none">
                  <a:moveTo>
                    <a:pt x="0" y="156"/>
                  </a:moveTo>
                  <a:lnTo>
                    <a:pt x="364" y="0"/>
                  </a:lnTo>
                </a:path>
              </a:pathLst>
            </a:custGeom>
            <a:noFill/>
            <a:ln w="39125" cap="rnd">
              <a:solidFill>
                <a:srgbClr val="9A9A9A"/>
              </a:solidFill>
              <a:round/>
            </a:ln>
          </p:spPr>
        </p:sp>
        <p:sp>
          <p:nvSpPr>
            <p:cNvPr id="32" name="Flecha 44_2"/>
            <p:cNvSpPr/>
            <p:nvPr/>
          </p:nvSpPr>
          <p:spPr>
            <a:xfrm>
              <a:off x="3477539" y="912488"/>
              <a:ext cx="366600" cy="87904"/>
            </a:xfrm>
            <a:custGeom>
              <a:avLst/>
              <a:gdLst/>
              <a:ahLst/>
              <a:cxnLst/>
              <a:rect l="0" t="0" r="r" b="b"/>
              <a:pathLst>
                <a:path w="400" h="96" fill="none">
                  <a:moveTo>
                    <a:pt x="0" y="96"/>
                  </a:moveTo>
                  <a:lnTo>
                    <a:pt x="400" y="0"/>
                  </a:lnTo>
                </a:path>
              </a:pathLst>
            </a:custGeom>
            <a:noFill/>
            <a:ln w="39125" cap="rnd">
              <a:solidFill>
                <a:srgbClr val="9A9A9A"/>
              </a:solidFill>
              <a:round/>
            </a:ln>
          </p:spPr>
        </p:sp>
        <p:sp>
          <p:nvSpPr>
            <p:cNvPr id="33" name="Flecha 46_2"/>
            <p:cNvSpPr/>
            <p:nvPr/>
          </p:nvSpPr>
          <p:spPr>
            <a:xfrm>
              <a:off x="3844139" y="912488"/>
              <a:ext cx="394713" cy="168126"/>
            </a:xfrm>
            <a:custGeom>
              <a:avLst/>
              <a:gdLst/>
              <a:ahLst/>
              <a:cxnLst/>
              <a:rect l="0" t="0" r="r" b="b"/>
              <a:pathLst>
                <a:path w="431" h="183" fill="none">
                  <a:moveTo>
                    <a:pt x="0" y="0"/>
                  </a:moveTo>
                  <a:lnTo>
                    <a:pt x="431" y="183"/>
                  </a:lnTo>
                </a:path>
              </a:pathLst>
            </a:custGeom>
            <a:noFill/>
            <a:ln w="39125" cap="rnd">
              <a:solidFill>
                <a:srgbClr val="9A9A9A"/>
              </a:solidFill>
              <a:round/>
            </a:ln>
          </p:spPr>
        </p:sp>
        <p:sp>
          <p:nvSpPr>
            <p:cNvPr id="34" name="Flecha 48_2"/>
            <p:cNvSpPr/>
            <p:nvPr/>
          </p:nvSpPr>
          <p:spPr>
            <a:xfrm>
              <a:off x="4238852" y="1080613"/>
              <a:ext cx="247880" cy="58104"/>
            </a:xfrm>
            <a:custGeom>
              <a:avLst/>
              <a:gdLst/>
              <a:ahLst/>
              <a:cxnLst/>
              <a:rect l="0" t="0" r="r" b="b"/>
              <a:pathLst>
                <a:path w="271" h="63" fill="none">
                  <a:moveTo>
                    <a:pt x="0" y="0"/>
                  </a:moveTo>
                  <a:lnTo>
                    <a:pt x="271" y="63"/>
                  </a:lnTo>
                </a:path>
              </a:pathLst>
            </a:custGeom>
            <a:noFill/>
            <a:ln w="39125" cap="rnd">
              <a:solidFill>
                <a:srgbClr val="9A9A9A"/>
              </a:solidFill>
              <a:round/>
            </a:ln>
          </p:spPr>
        </p:sp>
        <p:sp>
          <p:nvSpPr>
            <p:cNvPr id="35" name="Flecha 50_2"/>
            <p:cNvSpPr/>
            <p:nvPr/>
          </p:nvSpPr>
          <p:spPr>
            <a:xfrm>
              <a:off x="3779522" y="1720879"/>
              <a:ext cx="78579" cy="82667"/>
            </a:xfrm>
            <a:custGeom>
              <a:avLst/>
              <a:gdLst/>
              <a:ahLst/>
              <a:cxnLst/>
              <a:rect l="0" t="0" r="r" b="b"/>
              <a:pathLst>
                <a:path w="85" h="90" fill="none">
                  <a:moveTo>
                    <a:pt x="0" y="0"/>
                  </a:moveTo>
                  <a:lnTo>
                    <a:pt x="85" y="90"/>
                  </a:lnTo>
                </a:path>
              </a:pathLst>
            </a:custGeom>
            <a:noFill/>
            <a:ln w="39125" cap="rnd">
              <a:solidFill>
                <a:srgbClr val="9A9A9A"/>
              </a:solidFill>
              <a:round/>
            </a:ln>
          </p:spPr>
        </p:sp>
        <p:sp>
          <p:nvSpPr>
            <p:cNvPr id="36" name="Átomo O_5"/>
            <p:cNvSpPr/>
            <p:nvPr/>
          </p:nvSpPr>
          <p:spPr>
            <a:xfrm>
              <a:off x="2530901" y="1260897"/>
              <a:ext cx="257109" cy="25710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7" name="Flecha 53_2"/>
            <p:cNvSpPr/>
            <p:nvPr/>
          </p:nvSpPr>
          <p:spPr>
            <a:xfrm>
              <a:off x="2659455" y="1389451"/>
              <a:ext cx="393325" cy="195010"/>
            </a:xfrm>
            <a:custGeom>
              <a:avLst/>
              <a:gdLst/>
              <a:ahLst/>
              <a:cxnLst/>
              <a:rect l="0" t="0" r="r" b="b"/>
              <a:pathLst>
                <a:path w="430" h="213" fill="none">
                  <a:moveTo>
                    <a:pt x="0" y="0"/>
                  </a:moveTo>
                  <a:lnTo>
                    <a:pt x="430" y="213"/>
                  </a:lnTo>
                </a:path>
              </a:pathLst>
            </a:custGeom>
            <a:noFill/>
            <a:ln w="39125" cap="rnd">
              <a:solidFill>
                <a:srgbClr val="9A9A9A"/>
              </a:solidFill>
              <a:round/>
            </a:ln>
          </p:spPr>
        </p:sp>
        <p:sp>
          <p:nvSpPr>
            <p:cNvPr id="38" name="Átomo C_5"/>
            <p:cNvSpPr/>
            <p:nvPr/>
          </p:nvSpPr>
          <p:spPr>
            <a:xfrm>
              <a:off x="3707040" y="775389"/>
              <a:ext cx="274197" cy="27419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Átomo H_6"/>
            <p:cNvSpPr/>
            <p:nvPr/>
          </p:nvSpPr>
          <p:spPr>
            <a:xfrm>
              <a:off x="4404420" y="1056406"/>
              <a:ext cx="164623" cy="16462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0" name="Flecha 57_2"/>
            <p:cNvSpPr/>
            <p:nvPr/>
          </p:nvSpPr>
          <p:spPr>
            <a:xfrm>
              <a:off x="3844139" y="570443"/>
              <a:ext cx="16601" cy="342045"/>
            </a:xfrm>
            <a:custGeom>
              <a:avLst/>
              <a:gdLst/>
              <a:ahLst/>
              <a:cxnLst/>
              <a:rect l="0" t="0" r="r" b="b"/>
              <a:pathLst>
                <a:path w="18" h="374" fill="none">
                  <a:moveTo>
                    <a:pt x="0" y="374"/>
                  </a:moveTo>
                  <a:lnTo>
                    <a:pt x="18" y="0"/>
                  </a:lnTo>
                </a:path>
              </a:pathLst>
            </a:custGeom>
            <a:noFill/>
            <a:ln w="39125" cap="rnd">
              <a:solidFill>
                <a:srgbClr val="9A9A9A"/>
              </a:solidFill>
              <a:round/>
            </a:ln>
          </p:spPr>
        </p:sp>
        <p:sp>
          <p:nvSpPr>
            <p:cNvPr id="41" name="Átomo H_7"/>
            <p:cNvSpPr/>
            <p:nvPr/>
          </p:nvSpPr>
          <p:spPr>
            <a:xfrm>
              <a:off x="2922863" y="1840900"/>
              <a:ext cx="164684" cy="1646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2" name="Flecha 60_2"/>
            <p:cNvSpPr/>
            <p:nvPr/>
          </p:nvSpPr>
          <p:spPr>
            <a:xfrm>
              <a:off x="3005205" y="1584461"/>
              <a:ext cx="47575" cy="338782"/>
            </a:xfrm>
            <a:custGeom>
              <a:avLst/>
              <a:gdLst/>
              <a:ahLst/>
              <a:cxnLst/>
              <a:rect l="0" t="0" r="r" b="b"/>
              <a:pathLst>
                <a:path w="52" h="370" fill="none">
                  <a:moveTo>
                    <a:pt x="52" y="0"/>
                  </a:moveTo>
                  <a:lnTo>
                    <a:pt x="0" y="370"/>
                  </a:lnTo>
                </a:path>
              </a:pathLst>
            </a:custGeom>
            <a:noFill/>
            <a:ln w="39125" cap="rnd">
              <a:solidFill>
                <a:srgbClr val="9A9A9A"/>
              </a:solidFill>
              <a:round/>
            </a:ln>
          </p:spPr>
        </p:sp>
        <p:sp>
          <p:nvSpPr>
            <p:cNvPr id="43" name="Átomo C_6"/>
            <p:cNvSpPr/>
            <p:nvPr/>
          </p:nvSpPr>
          <p:spPr>
            <a:xfrm>
              <a:off x="2915366" y="1447046"/>
              <a:ext cx="274830" cy="27483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Átomo H_8"/>
            <p:cNvSpPr/>
            <p:nvPr/>
          </p:nvSpPr>
          <p:spPr>
            <a:xfrm>
              <a:off x="3778284" y="487987"/>
              <a:ext cx="164913" cy="16491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5" name="Átomo H_9"/>
            <p:cNvSpPr/>
            <p:nvPr/>
          </p:nvSpPr>
          <p:spPr>
            <a:xfrm>
              <a:off x="3775455" y="1720899"/>
              <a:ext cx="165292" cy="16529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Flecha 65_2"/>
            <p:cNvSpPr/>
            <p:nvPr/>
          </p:nvSpPr>
          <p:spPr>
            <a:xfrm>
              <a:off x="2490683" y="1389451"/>
              <a:ext cx="168772" cy="18204"/>
            </a:xfrm>
            <a:custGeom>
              <a:avLst/>
              <a:gdLst/>
              <a:ahLst/>
              <a:cxnLst/>
              <a:rect l="0" t="0" r="r" b="b"/>
              <a:pathLst>
                <a:path w="184" h="19" fill="none">
                  <a:moveTo>
                    <a:pt x="184" y="0"/>
                  </a:moveTo>
                  <a:lnTo>
                    <a:pt x="0" y="19"/>
                  </a:lnTo>
                </a:path>
              </a:pathLst>
            </a:custGeom>
            <a:noFill/>
            <a:ln w="39125" cap="rnd">
              <a:solidFill>
                <a:srgbClr val="9A9A9A"/>
              </a:solidFill>
              <a:round/>
            </a:ln>
          </p:spPr>
        </p:sp>
        <p:sp>
          <p:nvSpPr>
            <p:cNvPr id="47" name="Flecha 67_2"/>
            <p:cNvSpPr/>
            <p:nvPr/>
          </p:nvSpPr>
          <p:spPr>
            <a:xfrm>
              <a:off x="3052781" y="1495245"/>
              <a:ext cx="86715" cy="89216"/>
            </a:xfrm>
            <a:custGeom>
              <a:avLst/>
              <a:gdLst/>
              <a:ahLst/>
              <a:cxnLst/>
              <a:rect l="0" t="0" r="r" b="b"/>
              <a:pathLst>
                <a:path w="94" h="97" fill="none">
                  <a:moveTo>
                    <a:pt x="0" y="97"/>
                  </a:moveTo>
                  <a:lnTo>
                    <a:pt x="94" y="0"/>
                  </a:lnTo>
                </a:path>
              </a:pathLst>
            </a:custGeom>
            <a:noFill/>
            <a:ln w="39125" cap="rnd">
              <a:solidFill>
                <a:srgbClr val="9A9A9A"/>
              </a:solidFill>
              <a:round/>
            </a:ln>
          </p:spPr>
        </p:sp>
        <p:sp>
          <p:nvSpPr>
            <p:cNvPr id="48" name="Átomo H_10"/>
            <p:cNvSpPr/>
            <p:nvPr/>
          </p:nvSpPr>
          <p:spPr>
            <a:xfrm>
              <a:off x="2407085" y="1324056"/>
              <a:ext cx="167197" cy="16719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9" name="Flecha 70_2"/>
            <p:cNvSpPr/>
            <p:nvPr/>
          </p:nvSpPr>
          <p:spPr>
            <a:xfrm>
              <a:off x="3809038" y="912488"/>
              <a:ext cx="35101" cy="166647"/>
            </a:xfrm>
            <a:custGeom>
              <a:avLst/>
              <a:gdLst/>
              <a:ahLst/>
              <a:cxnLst/>
              <a:rect l="0" t="0" r="r" b="b"/>
              <a:pathLst>
                <a:path w="38" h="182" fill="none">
                  <a:moveTo>
                    <a:pt x="38" y="0"/>
                  </a:moveTo>
                  <a:lnTo>
                    <a:pt x="0" y="182"/>
                  </a:lnTo>
                </a:path>
              </a:pathLst>
            </a:custGeom>
            <a:noFill/>
            <a:ln w="39125" cap="rnd">
              <a:solidFill>
                <a:srgbClr val="9A9A9A"/>
              </a:solidFill>
              <a:round/>
            </a:ln>
          </p:spPr>
        </p:sp>
        <p:sp>
          <p:nvSpPr>
            <p:cNvPr id="50" name="Átomo H_11"/>
            <p:cNvSpPr/>
            <p:nvPr/>
          </p:nvSpPr>
          <p:spPr>
            <a:xfrm>
              <a:off x="3054791" y="1410540"/>
              <a:ext cx="169410" cy="16941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1" name="Átomo O_6"/>
            <p:cNvSpPr/>
            <p:nvPr/>
          </p:nvSpPr>
          <p:spPr>
            <a:xfrm>
              <a:off x="3675211" y="945307"/>
              <a:ext cx="267655" cy="26765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2" name="Flecha 74_2"/>
            <p:cNvSpPr/>
            <p:nvPr/>
          </p:nvSpPr>
          <p:spPr>
            <a:xfrm>
              <a:off x="3809038" y="926715"/>
              <a:ext cx="208528" cy="152419"/>
            </a:xfrm>
            <a:custGeom>
              <a:avLst/>
              <a:gdLst/>
              <a:ahLst/>
              <a:cxnLst/>
              <a:rect l="0" t="0" r="r" b="b"/>
              <a:pathLst>
                <a:path w="228" h="166" fill="none">
                  <a:moveTo>
                    <a:pt x="0" y="166"/>
                  </a:moveTo>
                  <a:lnTo>
                    <a:pt x="228" y="0"/>
                  </a:lnTo>
                </a:path>
              </a:pathLst>
            </a:custGeom>
            <a:noFill/>
            <a:ln w="39125" cap="rnd">
              <a:solidFill>
                <a:srgbClr val="9A9A9A"/>
              </a:solidFill>
              <a:round/>
            </a:ln>
          </p:spPr>
        </p:sp>
        <p:sp>
          <p:nvSpPr>
            <p:cNvPr id="53" name="Átomo H_12"/>
            <p:cNvSpPr/>
            <p:nvPr/>
          </p:nvSpPr>
          <p:spPr>
            <a:xfrm>
              <a:off x="3931170" y="840318"/>
              <a:ext cx="172793" cy="1727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54" name="!!Ácido graso 3D portada"/>
          <p:cNvGrpSpPr/>
          <p:nvPr/>
        </p:nvGrpSpPr>
        <p:grpSpPr>
          <a:xfrm>
            <a:off x="5255216" y="5510690"/>
            <a:ext cx="4104329" cy="2143857"/>
            <a:chOff x="5255216" y="5510690"/>
            <a:chExt cx="4104329" cy="2143857"/>
          </a:xfrm>
        </p:grpSpPr>
        <p:sp>
          <p:nvSpPr>
            <p:cNvPr id="55" name="Átomo O_7"/>
            <p:cNvSpPr/>
            <p:nvPr/>
          </p:nvSpPr>
          <p:spPr>
            <a:xfrm>
              <a:off x="8399838" y="6245899"/>
              <a:ext cx="300005" cy="30000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6" name="Flecha 79_2"/>
            <p:cNvSpPr/>
            <p:nvPr/>
          </p:nvSpPr>
          <p:spPr>
            <a:xfrm>
              <a:off x="8528217" y="6098767"/>
              <a:ext cx="344541" cy="269489"/>
            </a:xfrm>
            <a:custGeom>
              <a:avLst/>
              <a:gdLst/>
              <a:ahLst/>
              <a:cxnLst/>
              <a:rect l="0" t="0" r="r" b="b"/>
              <a:pathLst>
                <a:path w="376" h="294" fill="none">
                  <a:moveTo>
                    <a:pt x="376" y="0"/>
                  </a:moveTo>
                  <a:lnTo>
                    <a:pt x="0" y="294"/>
                  </a:lnTo>
                </a:path>
              </a:pathLst>
            </a:custGeom>
            <a:noFill/>
            <a:ln w="38997" cap="rnd">
              <a:solidFill>
                <a:srgbClr val="9A9A9A"/>
              </a:solidFill>
              <a:round/>
            </a:ln>
          </p:spPr>
        </p:sp>
        <p:sp>
          <p:nvSpPr>
            <p:cNvPr id="57" name="Flecha 81_2"/>
            <p:cNvSpPr/>
            <p:nvPr/>
          </p:nvSpPr>
          <p:spPr>
            <a:xfrm>
              <a:off x="8571464" y="6154058"/>
              <a:ext cx="344541" cy="269489"/>
            </a:xfrm>
            <a:custGeom>
              <a:avLst/>
              <a:gdLst/>
              <a:ahLst/>
              <a:cxnLst/>
              <a:rect l="0" t="0" r="r" b="b"/>
              <a:pathLst>
                <a:path w="376" h="294" fill="none">
                  <a:moveTo>
                    <a:pt x="376" y="0"/>
                  </a:moveTo>
                  <a:lnTo>
                    <a:pt x="0" y="294"/>
                  </a:lnTo>
                </a:path>
              </a:pathLst>
            </a:custGeom>
            <a:noFill/>
            <a:ln w="38997" cap="rnd">
              <a:solidFill>
                <a:srgbClr val="9A9A9A"/>
              </a:solidFill>
              <a:round/>
            </a:ln>
          </p:spPr>
        </p:sp>
        <p:sp>
          <p:nvSpPr>
            <p:cNvPr id="58" name="Átomo O_8"/>
            <p:cNvSpPr/>
            <p:nvPr/>
          </p:nvSpPr>
          <p:spPr>
            <a:xfrm>
              <a:off x="8883147" y="5510690"/>
              <a:ext cx="301059" cy="30105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9" name="Flecha 84_2"/>
            <p:cNvSpPr/>
            <p:nvPr/>
          </p:nvSpPr>
          <p:spPr>
            <a:xfrm>
              <a:off x="8894382" y="5661219"/>
              <a:ext cx="139295" cy="465193"/>
            </a:xfrm>
            <a:custGeom>
              <a:avLst/>
              <a:gdLst/>
              <a:ahLst/>
              <a:cxnLst/>
              <a:rect l="0" t="0" r="r" b="b"/>
              <a:pathLst>
                <a:path w="152" h="508" fill="none">
                  <a:moveTo>
                    <a:pt x="0" y="508"/>
                  </a:moveTo>
                  <a:lnTo>
                    <a:pt x="152" y="0"/>
                  </a:lnTo>
                </a:path>
              </a:pathLst>
            </a:custGeom>
            <a:noFill/>
            <a:ln w="48746" cap="rnd">
              <a:solidFill>
                <a:srgbClr val="9A9A9A"/>
              </a:solidFill>
              <a:round/>
            </a:ln>
          </p:spPr>
        </p:sp>
        <p:sp>
          <p:nvSpPr>
            <p:cNvPr id="60" name="Átomo C_7"/>
            <p:cNvSpPr/>
            <p:nvPr/>
          </p:nvSpPr>
          <p:spPr>
            <a:xfrm>
              <a:off x="8734382" y="5966412"/>
              <a:ext cx="320000" cy="3200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1" name="Flecha 87_2"/>
            <p:cNvSpPr/>
            <p:nvPr/>
          </p:nvSpPr>
          <p:spPr>
            <a:xfrm>
              <a:off x="8894382" y="6126412"/>
              <a:ext cx="303399" cy="269661"/>
            </a:xfrm>
            <a:custGeom>
              <a:avLst/>
              <a:gdLst/>
              <a:ahLst/>
              <a:cxnLst/>
              <a:rect l="0" t="0" r="r" b="b"/>
              <a:pathLst>
                <a:path w="331" h="294" fill="none">
                  <a:moveTo>
                    <a:pt x="331" y="294"/>
                  </a:moveTo>
                  <a:lnTo>
                    <a:pt x="0" y="0"/>
                  </a:lnTo>
                </a:path>
              </a:pathLst>
            </a:custGeom>
            <a:noFill/>
            <a:ln w="48746" cap="rnd">
              <a:solidFill>
                <a:srgbClr val="9A9A9A"/>
              </a:solidFill>
              <a:round/>
            </a:ln>
          </p:spPr>
        </p:sp>
        <p:sp>
          <p:nvSpPr>
            <p:cNvPr id="62" name="Átomo C_8"/>
            <p:cNvSpPr/>
            <p:nvPr/>
          </p:nvSpPr>
          <p:spPr>
            <a:xfrm>
              <a:off x="9036017" y="6234309"/>
              <a:ext cx="323529" cy="3235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3" name="Flecha 90_2"/>
            <p:cNvSpPr/>
            <p:nvPr/>
          </p:nvSpPr>
          <p:spPr>
            <a:xfrm>
              <a:off x="8932961" y="6396074"/>
              <a:ext cx="264820" cy="466078"/>
            </a:xfrm>
            <a:custGeom>
              <a:avLst/>
              <a:gdLst/>
              <a:ahLst/>
              <a:cxnLst/>
              <a:rect l="0" t="0" r="r" b="b"/>
              <a:pathLst>
                <a:path w="289" h="509" fill="none">
                  <a:moveTo>
                    <a:pt x="0" y="509"/>
                  </a:moveTo>
                  <a:lnTo>
                    <a:pt x="289" y="0"/>
                  </a:lnTo>
                </a:path>
              </a:pathLst>
            </a:custGeom>
            <a:noFill/>
            <a:ln w="48746" cap="rnd">
              <a:solidFill>
                <a:srgbClr val="9A9A9A"/>
              </a:solidFill>
              <a:round/>
            </a:ln>
          </p:spPr>
        </p:sp>
        <p:sp>
          <p:nvSpPr>
            <p:cNvPr id="64" name="Átomo C_9"/>
            <p:cNvSpPr/>
            <p:nvPr/>
          </p:nvSpPr>
          <p:spPr>
            <a:xfrm>
              <a:off x="8770157" y="6699348"/>
              <a:ext cx="325608" cy="3256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5" name="Flecha 93_2"/>
            <p:cNvSpPr/>
            <p:nvPr/>
          </p:nvSpPr>
          <p:spPr>
            <a:xfrm>
              <a:off x="8463082" y="6700864"/>
              <a:ext cx="469879" cy="161288"/>
            </a:xfrm>
            <a:custGeom>
              <a:avLst/>
              <a:gdLst/>
              <a:ahLst/>
              <a:cxnLst/>
              <a:rect l="0" t="0" r="r" b="b"/>
              <a:pathLst>
                <a:path w="513" h="176" fill="none">
                  <a:moveTo>
                    <a:pt x="0" y="0"/>
                  </a:moveTo>
                  <a:lnTo>
                    <a:pt x="513" y="176"/>
                  </a:lnTo>
                </a:path>
              </a:pathLst>
            </a:custGeom>
            <a:noFill/>
            <a:ln w="48746" cap="rnd">
              <a:solidFill>
                <a:srgbClr val="9A9A9A"/>
              </a:solidFill>
              <a:round/>
            </a:ln>
          </p:spPr>
        </p:sp>
        <p:sp>
          <p:nvSpPr>
            <p:cNvPr id="66" name="Átomo C_10"/>
            <p:cNvSpPr/>
            <p:nvPr/>
          </p:nvSpPr>
          <p:spPr>
            <a:xfrm>
              <a:off x="8298944" y="6536727"/>
              <a:ext cx="328275" cy="3282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7" name="Flecha 96_2"/>
            <p:cNvSpPr/>
            <p:nvPr/>
          </p:nvSpPr>
          <p:spPr>
            <a:xfrm>
              <a:off x="8211531" y="6700864"/>
              <a:ext cx="251551" cy="472869"/>
            </a:xfrm>
            <a:custGeom>
              <a:avLst/>
              <a:gdLst/>
              <a:ahLst/>
              <a:cxnLst/>
              <a:rect l="0" t="0" r="r" b="b"/>
              <a:pathLst>
                <a:path w="275" h="517" fill="none">
                  <a:moveTo>
                    <a:pt x="0" y="517"/>
                  </a:moveTo>
                  <a:lnTo>
                    <a:pt x="275" y="0"/>
                  </a:lnTo>
                </a:path>
              </a:pathLst>
            </a:custGeom>
            <a:noFill/>
            <a:ln w="48746" cap="rnd">
              <a:solidFill>
                <a:srgbClr val="9A9A9A"/>
              </a:solidFill>
              <a:round/>
            </a:ln>
          </p:spPr>
        </p:sp>
        <p:sp>
          <p:nvSpPr>
            <p:cNvPr id="68" name="Átomo C_11"/>
            <p:cNvSpPr/>
            <p:nvPr/>
          </p:nvSpPr>
          <p:spPr>
            <a:xfrm>
              <a:off x="8046336" y="7008538"/>
              <a:ext cx="330391" cy="3303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9" name="Flecha 99_2"/>
            <p:cNvSpPr/>
            <p:nvPr/>
          </p:nvSpPr>
          <p:spPr>
            <a:xfrm>
              <a:off x="7742241" y="7013345"/>
              <a:ext cx="469290" cy="160388"/>
            </a:xfrm>
            <a:custGeom>
              <a:avLst/>
              <a:gdLst/>
              <a:ahLst/>
              <a:cxnLst/>
              <a:rect l="0" t="0" r="r" b="b"/>
              <a:pathLst>
                <a:path w="513" h="175" fill="none">
                  <a:moveTo>
                    <a:pt x="0" y="0"/>
                  </a:moveTo>
                  <a:lnTo>
                    <a:pt x="513" y="175"/>
                  </a:lnTo>
                </a:path>
              </a:pathLst>
            </a:custGeom>
            <a:noFill/>
            <a:ln w="48746" cap="rnd">
              <a:solidFill>
                <a:srgbClr val="9A9A9A"/>
              </a:solidFill>
              <a:round/>
            </a:ln>
          </p:spPr>
        </p:sp>
        <p:sp>
          <p:nvSpPr>
            <p:cNvPr id="70" name="Átomo C_12"/>
            <p:cNvSpPr/>
            <p:nvPr/>
          </p:nvSpPr>
          <p:spPr>
            <a:xfrm>
              <a:off x="7575709" y="6846814"/>
              <a:ext cx="333063" cy="33306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102_2"/>
            <p:cNvSpPr/>
            <p:nvPr/>
          </p:nvSpPr>
          <p:spPr>
            <a:xfrm>
              <a:off x="7492573" y="7013345"/>
              <a:ext cx="249668" cy="473609"/>
            </a:xfrm>
            <a:custGeom>
              <a:avLst/>
              <a:gdLst/>
              <a:ahLst/>
              <a:cxnLst/>
              <a:rect l="0" t="0" r="r" b="b"/>
              <a:pathLst>
                <a:path w="273" h="517" fill="none">
                  <a:moveTo>
                    <a:pt x="0" y="517"/>
                  </a:moveTo>
                  <a:lnTo>
                    <a:pt x="273" y="0"/>
                  </a:lnTo>
                </a:path>
              </a:pathLst>
            </a:custGeom>
            <a:noFill/>
            <a:ln w="48746" cap="rnd">
              <a:solidFill>
                <a:srgbClr val="9A9A9A"/>
              </a:solidFill>
              <a:round/>
            </a:ln>
          </p:spPr>
        </p:sp>
        <p:sp>
          <p:nvSpPr>
            <p:cNvPr id="72" name="Átomo C_13"/>
            <p:cNvSpPr/>
            <p:nvPr/>
          </p:nvSpPr>
          <p:spPr>
            <a:xfrm>
              <a:off x="7324980" y="7319362"/>
              <a:ext cx="335185" cy="3351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3" name="Flecha 105_2"/>
            <p:cNvSpPr/>
            <p:nvPr/>
          </p:nvSpPr>
          <p:spPr>
            <a:xfrm>
              <a:off x="6992360" y="7356918"/>
              <a:ext cx="500213" cy="130036"/>
            </a:xfrm>
            <a:custGeom>
              <a:avLst/>
              <a:gdLst/>
              <a:ahLst/>
              <a:cxnLst/>
              <a:rect l="0" t="0" r="r" b="b"/>
              <a:pathLst>
                <a:path w="547" h="142" fill="none">
                  <a:moveTo>
                    <a:pt x="0" y="0"/>
                  </a:moveTo>
                  <a:lnTo>
                    <a:pt x="547" y="142"/>
                  </a:lnTo>
                </a:path>
              </a:pathLst>
            </a:custGeom>
            <a:noFill/>
            <a:ln w="48746" cap="rnd">
              <a:solidFill>
                <a:srgbClr val="9A9A9A"/>
              </a:solidFill>
              <a:round/>
            </a:ln>
          </p:spPr>
        </p:sp>
        <p:sp>
          <p:nvSpPr>
            <p:cNvPr id="74" name="Átomo C_14"/>
            <p:cNvSpPr/>
            <p:nvPr/>
          </p:nvSpPr>
          <p:spPr>
            <a:xfrm>
              <a:off x="6823560" y="7188119"/>
              <a:ext cx="337600" cy="3376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5" name="Flecha 108_2"/>
            <p:cNvSpPr/>
            <p:nvPr/>
          </p:nvSpPr>
          <p:spPr>
            <a:xfrm>
              <a:off x="6992360" y="7013975"/>
              <a:ext cx="94207" cy="342943"/>
            </a:xfrm>
            <a:custGeom>
              <a:avLst/>
              <a:gdLst/>
              <a:ahLst/>
              <a:cxnLst/>
              <a:rect l="0" t="0" r="r" b="b"/>
              <a:pathLst>
                <a:path w="103" h="375" fill="none">
                  <a:moveTo>
                    <a:pt x="103" y="0"/>
                  </a:moveTo>
                  <a:lnTo>
                    <a:pt x="0" y="375"/>
                  </a:lnTo>
                </a:path>
              </a:pathLst>
            </a:custGeom>
            <a:noFill/>
            <a:ln w="48746" cap="rnd">
              <a:solidFill>
                <a:srgbClr val="9A9A9A"/>
              </a:solidFill>
              <a:round/>
            </a:ln>
          </p:spPr>
        </p:sp>
        <p:sp>
          <p:nvSpPr>
            <p:cNvPr id="76" name="Átomo C_15"/>
            <p:cNvSpPr/>
            <p:nvPr/>
          </p:nvSpPr>
          <p:spPr>
            <a:xfrm>
              <a:off x="6915838" y="6843246"/>
              <a:ext cx="341459" cy="34145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7" name="Flecha 111_2"/>
            <p:cNvSpPr/>
            <p:nvPr/>
          </p:nvSpPr>
          <p:spPr>
            <a:xfrm>
              <a:off x="6586459" y="6883226"/>
              <a:ext cx="500108" cy="130749"/>
            </a:xfrm>
            <a:custGeom>
              <a:avLst/>
              <a:gdLst/>
              <a:ahLst/>
              <a:cxnLst/>
              <a:rect l="0" t="0" r="r" b="b"/>
              <a:pathLst>
                <a:path w="546" h="142" fill="none">
                  <a:moveTo>
                    <a:pt x="0" y="0"/>
                  </a:moveTo>
                  <a:lnTo>
                    <a:pt x="546" y="142"/>
                  </a:lnTo>
                </a:path>
              </a:pathLst>
            </a:custGeom>
            <a:noFill/>
            <a:ln w="48746" cap="rnd">
              <a:solidFill>
                <a:srgbClr val="9A9A9A"/>
              </a:solidFill>
              <a:round/>
            </a:ln>
          </p:spPr>
        </p:sp>
        <p:sp>
          <p:nvSpPr>
            <p:cNvPr id="78" name="Átomo C_16"/>
            <p:cNvSpPr/>
            <p:nvPr/>
          </p:nvSpPr>
          <p:spPr>
            <a:xfrm>
              <a:off x="6414520" y="6711287"/>
              <a:ext cx="343878" cy="3438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Flecha 114_2"/>
            <p:cNvSpPr/>
            <p:nvPr/>
          </p:nvSpPr>
          <p:spPr>
            <a:xfrm>
              <a:off x="6346338" y="6883226"/>
              <a:ext cx="240121" cy="471040"/>
            </a:xfrm>
            <a:custGeom>
              <a:avLst/>
              <a:gdLst/>
              <a:ahLst/>
              <a:cxnLst/>
              <a:rect l="0" t="0" r="r" b="b"/>
              <a:pathLst>
                <a:path w="262" h="515" fill="none">
                  <a:moveTo>
                    <a:pt x="0" y="515"/>
                  </a:moveTo>
                  <a:lnTo>
                    <a:pt x="262" y="0"/>
                  </a:lnTo>
                </a:path>
              </a:pathLst>
            </a:custGeom>
            <a:noFill/>
            <a:ln w="48746" cap="rnd">
              <a:solidFill>
                <a:srgbClr val="9A9A9A"/>
              </a:solidFill>
              <a:round/>
            </a:ln>
          </p:spPr>
        </p:sp>
        <p:sp>
          <p:nvSpPr>
            <p:cNvPr id="80" name="Átomo C_17"/>
            <p:cNvSpPr/>
            <p:nvPr/>
          </p:nvSpPr>
          <p:spPr>
            <a:xfrm>
              <a:off x="6173282" y="7181210"/>
              <a:ext cx="346111" cy="3461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1" name="Flecha 117_2"/>
            <p:cNvSpPr/>
            <p:nvPr/>
          </p:nvSpPr>
          <p:spPr>
            <a:xfrm>
              <a:off x="5846271" y="7223098"/>
              <a:ext cx="500067" cy="131168"/>
            </a:xfrm>
            <a:custGeom>
              <a:avLst/>
              <a:gdLst/>
              <a:ahLst/>
              <a:cxnLst/>
              <a:rect l="0" t="0" r="r" b="b"/>
              <a:pathLst>
                <a:path w="546" h="143" fill="none">
                  <a:moveTo>
                    <a:pt x="0" y="0"/>
                  </a:moveTo>
                  <a:lnTo>
                    <a:pt x="546" y="143"/>
                  </a:lnTo>
                </a:path>
              </a:pathLst>
            </a:custGeom>
            <a:noFill/>
            <a:ln w="48746" cap="rnd">
              <a:solidFill>
                <a:srgbClr val="9A9A9A"/>
              </a:solidFill>
              <a:round/>
            </a:ln>
          </p:spPr>
        </p:sp>
        <p:sp>
          <p:nvSpPr>
            <p:cNvPr id="82" name="Átomo C_18"/>
            <p:cNvSpPr/>
            <p:nvPr/>
          </p:nvSpPr>
          <p:spPr>
            <a:xfrm>
              <a:off x="5672008" y="7048835"/>
              <a:ext cx="348524" cy="3485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3" name="Flecha 120_2"/>
            <p:cNvSpPr/>
            <p:nvPr/>
          </p:nvSpPr>
          <p:spPr>
            <a:xfrm>
              <a:off x="5846271" y="6866940"/>
              <a:ext cx="90622" cy="356157"/>
            </a:xfrm>
            <a:custGeom>
              <a:avLst/>
              <a:gdLst/>
              <a:ahLst/>
              <a:cxnLst/>
              <a:rect l="0" t="0" r="r" b="b"/>
              <a:pathLst>
                <a:path w="99" h="389" fill="none">
                  <a:moveTo>
                    <a:pt x="99" y="0"/>
                  </a:moveTo>
                  <a:lnTo>
                    <a:pt x="0" y="389"/>
                  </a:lnTo>
                </a:path>
              </a:pathLst>
            </a:custGeom>
            <a:noFill/>
            <a:ln w="48746" cap="rnd">
              <a:solidFill>
                <a:srgbClr val="9A9A9A"/>
              </a:solidFill>
              <a:round/>
            </a:ln>
          </p:spPr>
        </p:sp>
        <p:sp>
          <p:nvSpPr>
            <p:cNvPr id="84" name="Átomo C_19"/>
            <p:cNvSpPr/>
            <p:nvPr/>
          </p:nvSpPr>
          <p:spPr>
            <a:xfrm>
              <a:off x="5760736" y="6690785"/>
              <a:ext cx="352311" cy="3523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5" name="Flecha 123_2"/>
            <p:cNvSpPr/>
            <p:nvPr/>
          </p:nvSpPr>
          <p:spPr>
            <a:xfrm>
              <a:off x="5432619" y="6787719"/>
              <a:ext cx="504273" cy="79221"/>
            </a:xfrm>
            <a:custGeom>
              <a:avLst/>
              <a:gdLst/>
              <a:ahLst/>
              <a:cxnLst/>
              <a:rect l="0" t="0" r="r" b="b"/>
              <a:pathLst>
                <a:path w="551" h="86" fill="none">
                  <a:moveTo>
                    <a:pt x="0" y="0"/>
                  </a:moveTo>
                  <a:lnTo>
                    <a:pt x="551" y="86"/>
                  </a:lnTo>
                </a:path>
              </a:pathLst>
            </a:custGeom>
            <a:noFill/>
            <a:ln w="48746" cap="rnd">
              <a:solidFill>
                <a:srgbClr val="9A9A9A"/>
              </a:solidFill>
              <a:round/>
            </a:ln>
          </p:spPr>
        </p:sp>
        <p:sp>
          <p:nvSpPr>
            <p:cNvPr id="86" name="Átomo C_20"/>
            <p:cNvSpPr/>
            <p:nvPr/>
          </p:nvSpPr>
          <p:spPr>
            <a:xfrm>
              <a:off x="5255216" y="6610317"/>
              <a:ext cx="354805" cy="35480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7" name="Flecha 126_2"/>
            <p:cNvSpPr/>
            <p:nvPr/>
          </p:nvSpPr>
          <p:spPr>
            <a:xfrm>
              <a:off x="5432619" y="6466754"/>
              <a:ext cx="75982" cy="320965"/>
            </a:xfrm>
            <a:custGeom>
              <a:avLst/>
              <a:gdLst/>
              <a:ahLst/>
              <a:cxnLst/>
              <a:rect l="0" t="0" r="r" b="b"/>
              <a:pathLst>
                <a:path w="83" h="351" fill="none">
                  <a:moveTo>
                    <a:pt x="83" y="0"/>
                  </a:moveTo>
                  <a:lnTo>
                    <a:pt x="0" y="351"/>
                  </a:lnTo>
                </a:path>
              </a:pathLst>
            </a:custGeom>
            <a:noFill/>
            <a:ln w="48746" cap="rnd">
              <a:solidFill>
                <a:srgbClr val="9A9A9A"/>
              </a:solidFill>
              <a:round/>
            </a:ln>
          </p:spPr>
        </p:sp>
        <p:sp>
          <p:nvSpPr>
            <p:cNvPr id="88" name="Átomo C_21"/>
            <p:cNvSpPr/>
            <p:nvPr/>
          </p:nvSpPr>
          <p:spPr>
            <a:xfrm>
              <a:off x="5486697" y="5725119"/>
              <a:ext cx="357982" cy="35798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9" name="Flecha 129_2"/>
            <p:cNvSpPr/>
            <p:nvPr/>
          </p:nvSpPr>
          <p:spPr>
            <a:xfrm>
              <a:off x="5508601" y="5904110"/>
              <a:ext cx="157086" cy="562644"/>
            </a:xfrm>
            <a:custGeom>
              <a:avLst/>
              <a:gdLst/>
              <a:ahLst/>
              <a:cxnLst/>
              <a:rect l="0" t="0" r="r" b="b"/>
              <a:pathLst>
                <a:path w="171" h="615" fill="none">
                  <a:moveTo>
                    <a:pt x="171" y="0"/>
                  </a:moveTo>
                  <a:lnTo>
                    <a:pt x="0" y="615"/>
                  </a:lnTo>
                </a:path>
              </a:pathLst>
            </a:custGeom>
            <a:noFill/>
            <a:ln w="48746" cap="rnd">
              <a:solidFill>
                <a:srgbClr val="9A9A9A"/>
              </a:solidFill>
              <a:round/>
            </a:ln>
          </p:spPr>
        </p:sp>
        <p:sp>
          <p:nvSpPr>
            <p:cNvPr id="90" name="Átomo C_22"/>
            <p:cNvSpPr/>
            <p:nvPr/>
          </p:nvSpPr>
          <p:spPr>
            <a:xfrm>
              <a:off x="5329198" y="6287350"/>
              <a:ext cx="358807" cy="35880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grpSp>
        <p:nvGrpSpPr>
          <p:cNvPr id="91" name="!!β-OHB 3D portada"/>
          <p:cNvGrpSpPr/>
          <p:nvPr/>
        </p:nvGrpSpPr>
        <p:grpSpPr>
          <a:xfrm>
            <a:off x="7751671" y="574342"/>
            <a:ext cx="1633311" cy="1263043"/>
            <a:chOff x="7751671" y="574342"/>
            <a:chExt cx="1633311" cy="1263043"/>
          </a:xfrm>
        </p:grpSpPr>
        <p:sp>
          <p:nvSpPr>
            <p:cNvPr id="92" name="Átomo H_13"/>
            <p:cNvSpPr/>
            <p:nvPr/>
          </p:nvSpPr>
          <p:spPr>
            <a:xfrm>
              <a:off x="8317168" y="1195152"/>
              <a:ext cx="147372" cy="14737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3" name="Átomo O_9"/>
            <p:cNvSpPr/>
            <p:nvPr/>
          </p:nvSpPr>
          <p:spPr>
            <a:xfrm>
              <a:off x="9152885" y="1262125"/>
              <a:ext cx="232097" cy="23209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4" name="Flecha 135_2"/>
            <p:cNvSpPr/>
            <p:nvPr/>
          </p:nvSpPr>
          <p:spPr>
            <a:xfrm>
              <a:off x="9001676" y="1147277"/>
              <a:ext cx="267257" cy="230896"/>
            </a:xfrm>
            <a:custGeom>
              <a:avLst/>
              <a:gdLst/>
              <a:ahLst/>
              <a:cxnLst/>
              <a:rect l="0" t="0" r="r" b="b"/>
              <a:pathLst>
                <a:path w="292" h="252" fill="none">
                  <a:moveTo>
                    <a:pt x="0" y="0"/>
                  </a:moveTo>
                  <a:lnTo>
                    <a:pt x="292" y="252"/>
                  </a:lnTo>
                </a:path>
              </a:pathLst>
            </a:custGeom>
            <a:noFill/>
            <a:ln w="37629" cap="rnd">
              <a:solidFill>
                <a:srgbClr val="9A9A9A"/>
              </a:solidFill>
              <a:round/>
            </a:ln>
          </p:spPr>
        </p:sp>
        <p:sp>
          <p:nvSpPr>
            <p:cNvPr id="95" name="Flecha 137_2"/>
            <p:cNvSpPr/>
            <p:nvPr/>
          </p:nvSpPr>
          <p:spPr>
            <a:xfrm>
              <a:off x="8390854" y="1268838"/>
              <a:ext cx="206170" cy="77595"/>
            </a:xfrm>
            <a:custGeom>
              <a:avLst/>
              <a:gdLst/>
              <a:ahLst/>
              <a:cxnLst/>
              <a:rect l="0" t="0" r="r" b="b"/>
              <a:pathLst>
                <a:path w="225" h="84" fill="none">
                  <a:moveTo>
                    <a:pt x="225" y="84"/>
                  </a:moveTo>
                  <a:lnTo>
                    <a:pt x="0" y="0"/>
                  </a:lnTo>
                </a:path>
              </a:pathLst>
            </a:custGeom>
            <a:noFill/>
            <a:ln w="37629" cap="rnd">
              <a:solidFill>
                <a:srgbClr val="9A9A9A"/>
              </a:solidFill>
              <a:round/>
            </a:ln>
          </p:spPr>
        </p:sp>
        <p:sp>
          <p:nvSpPr>
            <p:cNvPr id="96" name="Átomo C_23"/>
            <p:cNvSpPr/>
            <p:nvPr/>
          </p:nvSpPr>
          <p:spPr>
            <a:xfrm>
              <a:off x="8876555" y="1022156"/>
              <a:ext cx="250242" cy="2502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7" name="Flecha 140_2"/>
            <p:cNvSpPr/>
            <p:nvPr/>
          </p:nvSpPr>
          <p:spPr>
            <a:xfrm>
              <a:off x="9028745" y="774899"/>
              <a:ext cx="15595" cy="373508"/>
            </a:xfrm>
            <a:custGeom>
              <a:avLst/>
              <a:gdLst/>
              <a:ahLst/>
              <a:cxnLst/>
              <a:rect l="0" t="0" r="r" b="b"/>
              <a:pathLst>
                <a:path w="17" h="408" fill="none">
                  <a:moveTo>
                    <a:pt x="0" y="408"/>
                  </a:moveTo>
                  <a:lnTo>
                    <a:pt x="17" y="0"/>
                  </a:lnTo>
                </a:path>
              </a:pathLst>
            </a:custGeom>
            <a:noFill/>
            <a:ln w="30103" cap="rnd">
              <a:solidFill>
                <a:srgbClr val="9A9A9A"/>
              </a:solidFill>
              <a:round/>
            </a:ln>
          </p:spPr>
        </p:sp>
        <p:sp>
          <p:nvSpPr>
            <p:cNvPr id="98" name="Flecha 142_2"/>
            <p:cNvSpPr/>
            <p:nvPr/>
          </p:nvSpPr>
          <p:spPr>
            <a:xfrm>
              <a:off x="8974607" y="772639"/>
              <a:ext cx="15595" cy="373508"/>
            </a:xfrm>
            <a:custGeom>
              <a:avLst/>
              <a:gdLst/>
              <a:ahLst/>
              <a:cxnLst/>
              <a:rect l="0" t="0" r="r" b="b"/>
              <a:pathLst>
                <a:path w="17" h="408" fill="none">
                  <a:moveTo>
                    <a:pt x="0" y="408"/>
                  </a:moveTo>
                  <a:lnTo>
                    <a:pt x="17" y="0"/>
                  </a:lnTo>
                </a:path>
              </a:pathLst>
            </a:custGeom>
            <a:noFill/>
            <a:ln w="30103" cap="rnd">
              <a:solidFill>
                <a:srgbClr val="9A9A9A"/>
              </a:solidFill>
              <a:round/>
            </a:ln>
          </p:spPr>
        </p:sp>
        <p:sp>
          <p:nvSpPr>
            <p:cNvPr id="99" name="Flecha 144_2"/>
            <p:cNvSpPr/>
            <p:nvPr/>
          </p:nvSpPr>
          <p:spPr>
            <a:xfrm>
              <a:off x="8597024" y="1147277"/>
              <a:ext cx="404652" cy="199156"/>
            </a:xfrm>
            <a:custGeom>
              <a:avLst/>
              <a:gdLst/>
              <a:ahLst/>
              <a:cxnLst/>
              <a:rect l="0" t="0" r="r" b="b"/>
              <a:pathLst>
                <a:path w="442" h="217" fill="none">
                  <a:moveTo>
                    <a:pt x="0" y="217"/>
                  </a:moveTo>
                  <a:lnTo>
                    <a:pt x="442" y="0"/>
                  </a:lnTo>
                </a:path>
              </a:pathLst>
            </a:custGeom>
            <a:noFill/>
            <a:ln w="37629" cap="rnd">
              <a:solidFill>
                <a:srgbClr val="9A9A9A"/>
              </a:solidFill>
              <a:round/>
            </a:ln>
          </p:spPr>
        </p:sp>
        <p:sp>
          <p:nvSpPr>
            <p:cNvPr id="100" name="Átomo O_10"/>
            <p:cNvSpPr/>
            <p:nvPr/>
          </p:nvSpPr>
          <p:spPr>
            <a:xfrm>
              <a:off x="8898257" y="654755"/>
              <a:ext cx="238028" cy="23802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01" name="Flecha 147_2"/>
            <p:cNvSpPr/>
            <p:nvPr/>
          </p:nvSpPr>
          <p:spPr>
            <a:xfrm>
              <a:off x="8597024" y="1346433"/>
              <a:ext cx="38063" cy="327680"/>
            </a:xfrm>
            <a:custGeom>
              <a:avLst/>
              <a:gdLst/>
              <a:ahLst/>
              <a:cxnLst/>
              <a:rect l="0" t="0" r="r" b="b"/>
              <a:pathLst>
                <a:path w="41" h="358" fill="none">
                  <a:moveTo>
                    <a:pt x="0" y="0"/>
                  </a:moveTo>
                  <a:lnTo>
                    <a:pt x="41" y="358"/>
                  </a:lnTo>
                </a:path>
              </a:pathLst>
            </a:custGeom>
            <a:noFill/>
            <a:ln w="37629" cap="rnd">
              <a:solidFill>
                <a:srgbClr val="9A9A9A"/>
              </a:solidFill>
              <a:round/>
            </a:ln>
          </p:spPr>
        </p:sp>
        <p:sp>
          <p:nvSpPr>
            <p:cNvPr id="102" name="Átomo C_24"/>
            <p:cNvSpPr/>
            <p:nvPr/>
          </p:nvSpPr>
          <p:spPr>
            <a:xfrm>
              <a:off x="8470622" y="1220031"/>
              <a:ext cx="252803" cy="2528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3" name="Átomo H_14"/>
            <p:cNvSpPr/>
            <p:nvPr/>
          </p:nvSpPr>
          <p:spPr>
            <a:xfrm>
              <a:off x="8559194" y="1598221"/>
              <a:ext cx="151784" cy="1517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4" name="Flecha 151_2"/>
            <p:cNvSpPr/>
            <p:nvPr/>
          </p:nvSpPr>
          <p:spPr>
            <a:xfrm>
              <a:off x="8439273" y="1195215"/>
              <a:ext cx="157751" cy="151218"/>
            </a:xfrm>
            <a:custGeom>
              <a:avLst/>
              <a:gdLst/>
              <a:ahLst/>
              <a:cxnLst/>
              <a:rect l="0" t="0" r="r" b="b"/>
              <a:pathLst>
                <a:path w="172" h="165" fill="none">
                  <a:moveTo>
                    <a:pt x="0" y="0"/>
                  </a:moveTo>
                  <a:lnTo>
                    <a:pt x="172" y="165"/>
                  </a:lnTo>
                </a:path>
              </a:pathLst>
            </a:custGeom>
            <a:noFill/>
            <a:ln w="37629" cap="rnd">
              <a:solidFill>
                <a:srgbClr val="9A9A9A"/>
              </a:solidFill>
              <a:round/>
            </a:ln>
          </p:spPr>
        </p:sp>
        <p:sp>
          <p:nvSpPr>
            <p:cNvPr id="105" name="Átomo H_15"/>
            <p:cNvSpPr/>
            <p:nvPr/>
          </p:nvSpPr>
          <p:spPr>
            <a:xfrm>
              <a:off x="8470351" y="574342"/>
              <a:ext cx="155930" cy="15593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6" name="Flecha 154_2"/>
            <p:cNvSpPr/>
            <p:nvPr/>
          </p:nvSpPr>
          <p:spPr>
            <a:xfrm>
              <a:off x="8312517" y="652307"/>
              <a:ext cx="235800" cy="132640"/>
            </a:xfrm>
            <a:custGeom>
              <a:avLst/>
              <a:gdLst/>
              <a:ahLst/>
              <a:cxnLst/>
              <a:rect l="0" t="0" r="r" b="b"/>
              <a:pathLst>
                <a:path w="257" h="145" fill="none">
                  <a:moveTo>
                    <a:pt x="0" y="145"/>
                  </a:moveTo>
                  <a:lnTo>
                    <a:pt x="257" y="0"/>
                  </a:lnTo>
                </a:path>
              </a:pathLst>
            </a:custGeom>
            <a:noFill/>
            <a:ln w="37629" cap="rnd">
              <a:solidFill>
                <a:srgbClr val="9A9A9A"/>
              </a:solidFill>
              <a:round/>
            </a:ln>
          </p:spPr>
        </p:sp>
        <p:sp>
          <p:nvSpPr>
            <p:cNvPr id="107" name="Átomo H_16"/>
            <p:cNvSpPr/>
            <p:nvPr/>
          </p:nvSpPr>
          <p:spPr>
            <a:xfrm>
              <a:off x="7751671" y="1339814"/>
              <a:ext cx="157352" cy="15735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8" name="Átomo O_11"/>
            <p:cNvSpPr/>
            <p:nvPr/>
          </p:nvSpPr>
          <p:spPr>
            <a:xfrm>
              <a:off x="8188252" y="660682"/>
              <a:ext cx="248529" cy="24852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09" name="Flecha 158_2"/>
            <p:cNvSpPr/>
            <p:nvPr/>
          </p:nvSpPr>
          <p:spPr>
            <a:xfrm>
              <a:off x="8312517" y="784946"/>
              <a:ext cx="126756" cy="410268"/>
            </a:xfrm>
            <a:custGeom>
              <a:avLst/>
              <a:gdLst/>
              <a:ahLst/>
              <a:cxnLst/>
              <a:rect l="0" t="0" r="r" b="b"/>
              <a:pathLst>
                <a:path w="138" h="448" fill="none">
                  <a:moveTo>
                    <a:pt x="138" y="448"/>
                  </a:moveTo>
                  <a:lnTo>
                    <a:pt x="0" y="0"/>
                  </a:lnTo>
                </a:path>
              </a:pathLst>
            </a:custGeom>
            <a:noFill/>
            <a:ln w="37629" cap="rnd">
              <a:solidFill>
                <a:srgbClr val="9A9A9A"/>
              </a:solidFill>
              <a:round/>
            </a:ln>
          </p:spPr>
        </p:sp>
        <p:sp>
          <p:nvSpPr>
            <p:cNvPr id="110" name="Átomo C_25"/>
            <p:cNvSpPr/>
            <p:nvPr/>
          </p:nvSpPr>
          <p:spPr>
            <a:xfrm>
              <a:off x="8306977" y="1062920"/>
              <a:ext cx="264590" cy="2645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1" name="Flecha 161_2"/>
            <p:cNvSpPr/>
            <p:nvPr/>
          </p:nvSpPr>
          <p:spPr>
            <a:xfrm>
              <a:off x="7830347" y="1418490"/>
              <a:ext cx="246510" cy="20625"/>
            </a:xfrm>
            <a:custGeom>
              <a:avLst/>
              <a:gdLst/>
              <a:ahLst/>
              <a:cxnLst/>
              <a:rect l="0" t="0" r="r" b="b"/>
              <a:pathLst>
                <a:path w="269" h="22" fill="none">
                  <a:moveTo>
                    <a:pt x="269" y="22"/>
                  </a:moveTo>
                  <a:lnTo>
                    <a:pt x="0" y="0"/>
                  </a:lnTo>
                </a:path>
              </a:pathLst>
            </a:custGeom>
            <a:noFill/>
            <a:ln w="37629" cap="rnd">
              <a:solidFill>
                <a:srgbClr val="9A9A9A"/>
              </a:solidFill>
              <a:round/>
            </a:ln>
          </p:spPr>
        </p:sp>
        <p:sp>
          <p:nvSpPr>
            <p:cNvPr id="112" name="Flecha 163_2"/>
            <p:cNvSpPr/>
            <p:nvPr/>
          </p:nvSpPr>
          <p:spPr>
            <a:xfrm>
              <a:off x="8076857" y="1195215"/>
              <a:ext cx="362415" cy="243901"/>
            </a:xfrm>
            <a:custGeom>
              <a:avLst/>
              <a:gdLst/>
              <a:ahLst/>
              <a:cxnLst/>
              <a:rect l="0" t="0" r="r" b="b"/>
              <a:pathLst>
                <a:path w="396" h="266" fill="none">
                  <a:moveTo>
                    <a:pt x="0" y="266"/>
                  </a:moveTo>
                  <a:lnTo>
                    <a:pt x="396" y="0"/>
                  </a:lnTo>
                </a:path>
              </a:pathLst>
            </a:custGeom>
            <a:noFill/>
            <a:ln w="37629" cap="rnd">
              <a:solidFill>
                <a:srgbClr val="9A9A9A"/>
              </a:solidFill>
              <a:round/>
            </a:ln>
          </p:spPr>
        </p:sp>
        <p:sp>
          <p:nvSpPr>
            <p:cNvPr id="113" name="Flecha 165_2"/>
            <p:cNvSpPr/>
            <p:nvPr/>
          </p:nvSpPr>
          <p:spPr>
            <a:xfrm>
              <a:off x="8439273" y="1195215"/>
              <a:ext cx="234478" cy="13493"/>
            </a:xfrm>
            <a:custGeom>
              <a:avLst/>
              <a:gdLst/>
              <a:ahLst/>
              <a:cxnLst/>
              <a:rect l="0" t="0" r="r" b="b"/>
              <a:pathLst>
                <a:path w="256" h="14" fill="none">
                  <a:moveTo>
                    <a:pt x="0" y="0"/>
                  </a:moveTo>
                  <a:lnTo>
                    <a:pt x="256" y="14"/>
                  </a:lnTo>
                </a:path>
              </a:pathLst>
            </a:custGeom>
            <a:noFill/>
            <a:ln w="37629" cap="rnd">
              <a:solidFill>
                <a:srgbClr val="9A9A9A"/>
              </a:solidFill>
              <a:round/>
            </a:ln>
          </p:spPr>
        </p:sp>
        <p:sp>
          <p:nvSpPr>
            <p:cNvPr id="114" name="Átomo C_26"/>
            <p:cNvSpPr/>
            <p:nvPr/>
          </p:nvSpPr>
          <p:spPr>
            <a:xfrm>
              <a:off x="7942540" y="1304798"/>
              <a:ext cx="268635" cy="26863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5" name="Flecha 168_2"/>
            <p:cNvSpPr/>
            <p:nvPr/>
          </p:nvSpPr>
          <p:spPr>
            <a:xfrm>
              <a:off x="8076857" y="1439115"/>
              <a:ext cx="77833" cy="317311"/>
            </a:xfrm>
            <a:custGeom>
              <a:avLst/>
              <a:gdLst/>
              <a:ahLst/>
              <a:cxnLst/>
              <a:rect l="0" t="0" r="r" b="b"/>
              <a:pathLst>
                <a:path w="85" h="347" fill="none">
                  <a:moveTo>
                    <a:pt x="0" y="0"/>
                  </a:moveTo>
                  <a:lnTo>
                    <a:pt x="85" y="347"/>
                  </a:lnTo>
                </a:path>
              </a:pathLst>
            </a:custGeom>
            <a:noFill/>
            <a:ln w="37629" cap="rnd">
              <a:solidFill>
                <a:srgbClr val="9A9A9A"/>
              </a:solidFill>
              <a:round/>
            </a:ln>
          </p:spPr>
        </p:sp>
        <p:sp>
          <p:nvSpPr>
            <p:cNvPr id="116" name="Átomo H_17"/>
            <p:cNvSpPr/>
            <p:nvPr/>
          </p:nvSpPr>
          <p:spPr>
            <a:xfrm>
              <a:off x="8073732" y="1675468"/>
              <a:ext cx="161916" cy="16191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7" name="Átomo H_18"/>
            <p:cNvSpPr/>
            <p:nvPr/>
          </p:nvSpPr>
          <p:spPr>
            <a:xfrm>
              <a:off x="8592339" y="1127296"/>
              <a:ext cx="162823" cy="16282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8" name="Flecha 172_2"/>
            <p:cNvSpPr/>
            <p:nvPr/>
          </p:nvSpPr>
          <p:spPr>
            <a:xfrm>
              <a:off x="7960784" y="1321053"/>
              <a:ext cx="116073" cy="118062"/>
            </a:xfrm>
            <a:custGeom>
              <a:avLst/>
              <a:gdLst/>
              <a:ahLst/>
              <a:cxnLst/>
              <a:rect l="0" t="0" r="r" b="b"/>
              <a:pathLst>
                <a:path w="126" h="129" fill="none">
                  <a:moveTo>
                    <a:pt x="126" y="129"/>
                  </a:moveTo>
                  <a:lnTo>
                    <a:pt x="0" y="0"/>
                  </a:lnTo>
                </a:path>
              </a:pathLst>
            </a:custGeom>
            <a:noFill/>
            <a:ln w="37629" cap="rnd">
              <a:solidFill>
                <a:srgbClr val="9A9A9A"/>
              </a:solidFill>
              <a:round/>
            </a:ln>
          </p:spPr>
        </p:sp>
        <p:sp>
          <p:nvSpPr>
            <p:cNvPr id="119" name="Átomo H_19"/>
            <p:cNvSpPr/>
            <p:nvPr/>
          </p:nvSpPr>
          <p:spPr>
            <a:xfrm>
              <a:off x="7877691" y="1237961"/>
              <a:ext cx="166185" cy="16618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120" name="!!Glicerol 3D portada"/>
          <p:cNvGrpSpPr/>
          <p:nvPr/>
        </p:nvGrpSpPr>
        <p:grpSpPr>
          <a:xfrm>
            <a:off x="2629175" y="5235288"/>
            <a:ext cx="1415082" cy="1377445"/>
            <a:chOff x="2629175" y="5235288"/>
            <a:chExt cx="1415082" cy="1377445"/>
          </a:xfrm>
        </p:grpSpPr>
        <p:sp>
          <p:nvSpPr>
            <p:cNvPr id="121" name="Átomo H_20"/>
            <p:cNvSpPr/>
            <p:nvPr/>
          </p:nvSpPr>
          <p:spPr>
            <a:xfrm>
              <a:off x="3346450" y="5569174"/>
              <a:ext cx="148586" cy="1485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2" name="Flecha 177_2"/>
            <p:cNvSpPr/>
            <p:nvPr/>
          </p:nvSpPr>
          <p:spPr>
            <a:xfrm>
              <a:off x="3420743" y="5643467"/>
              <a:ext cx="160360" cy="125667"/>
            </a:xfrm>
            <a:custGeom>
              <a:avLst/>
              <a:gdLst/>
              <a:ahLst/>
              <a:cxnLst/>
              <a:rect l="0" t="0" r="r" b="b"/>
              <a:pathLst>
                <a:path w="175" h="137" fill="none">
                  <a:moveTo>
                    <a:pt x="175" y="137"/>
                  </a:moveTo>
                  <a:lnTo>
                    <a:pt x="0" y="0"/>
                  </a:lnTo>
                </a:path>
              </a:pathLst>
            </a:custGeom>
            <a:noFill/>
            <a:ln w="37939" cap="rnd">
              <a:solidFill>
                <a:srgbClr val="9A9A9A"/>
              </a:solidFill>
              <a:round/>
            </a:ln>
          </p:spPr>
        </p:sp>
        <p:sp>
          <p:nvSpPr>
            <p:cNvPr id="123" name="Átomo H_21"/>
            <p:cNvSpPr/>
            <p:nvPr/>
          </p:nvSpPr>
          <p:spPr>
            <a:xfrm>
              <a:off x="3755707" y="5876715"/>
              <a:ext cx="151430" cy="15143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4" name="Flecha 180_2"/>
            <p:cNvSpPr/>
            <p:nvPr/>
          </p:nvSpPr>
          <p:spPr>
            <a:xfrm>
              <a:off x="3581104" y="5769134"/>
              <a:ext cx="250318" cy="183297"/>
            </a:xfrm>
            <a:custGeom>
              <a:avLst/>
              <a:gdLst/>
              <a:ahLst/>
              <a:cxnLst/>
              <a:rect l="0" t="0" r="r" b="b"/>
              <a:pathLst>
                <a:path w="273" h="200" fill="none">
                  <a:moveTo>
                    <a:pt x="0" y="0"/>
                  </a:moveTo>
                  <a:lnTo>
                    <a:pt x="273" y="200"/>
                  </a:lnTo>
                </a:path>
              </a:pathLst>
            </a:custGeom>
            <a:noFill/>
            <a:ln w="37939" cap="rnd">
              <a:solidFill>
                <a:srgbClr val="9A9A9A"/>
              </a:solidFill>
              <a:round/>
            </a:ln>
          </p:spPr>
        </p:sp>
        <p:sp>
          <p:nvSpPr>
            <p:cNvPr id="125" name="Átomo C_27"/>
            <p:cNvSpPr/>
            <p:nvPr/>
          </p:nvSpPr>
          <p:spPr>
            <a:xfrm>
              <a:off x="3452925" y="5640955"/>
              <a:ext cx="256357" cy="2563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6" name="Átomo O_12"/>
            <p:cNvSpPr/>
            <p:nvPr/>
          </p:nvSpPr>
          <p:spPr>
            <a:xfrm>
              <a:off x="3035881" y="6244094"/>
              <a:ext cx="242367" cy="24236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27" name="Flecha 184_2"/>
            <p:cNvSpPr/>
            <p:nvPr/>
          </p:nvSpPr>
          <p:spPr>
            <a:xfrm>
              <a:off x="2988658" y="6365278"/>
              <a:ext cx="168407" cy="168600"/>
            </a:xfrm>
            <a:custGeom>
              <a:avLst/>
              <a:gdLst/>
              <a:ahLst/>
              <a:cxnLst/>
              <a:rect l="0" t="0" r="r" b="b"/>
              <a:pathLst>
                <a:path w="184" h="184" fill="none">
                  <a:moveTo>
                    <a:pt x="184" y="0"/>
                  </a:moveTo>
                  <a:lnTo>
                    <a:pt x="0" y="184"/>
                  </a:lnTo>
                </a:path>
              </a:pathLst>
            </a:custGeom>
            <a:noFill/>
            <a:ln w="37939" cap="rnd">
              <a:solidFill>
                <a:srgbClr val="9A9A9A"/>
              </a:solidFill>
              <a:round/>
            </a:ln>
          </p:spPr>
        </p:sp>
        <p:sp>
          <p:nvSpPr>
            <p:cNvPr id="128" name="Flecha 186_2"/>
            <p:cNvSpPr/>
            <p:nvPr/>
          </p:nvSpPr>
          <p:spPr>
            <a:xfrm>
              <a:off x="3581104" y="5440113"/>
              <a:ext cx="162850" cy="329021"/>
            </a:xfrm>
            <a:custGeom>
              <a:avLst/>
              <a:gdLst/>
              <a:ahLst/>
              <a:cxnLst/>
              <a:rect l="0" t="0" r="r" b="b"/>
              <a:pathLst>
                <a:path w="178" h="359" fill="none">
                  <a:moveTo>
                    <a:pt x="0" y="359"/>
                  </a:moveTo>
                  <a:lnTo>
                    <a:pt x="178" y="0"/>
                  </a:lnTo>
                </a:path>
              </a:pathLst>
            </a:custGeom>
            <a:noFill/>
            <a:ln w="37939" cap="rnd">
              <a:solidFill>
                <a:srgbClr val="9A9A9A"/>
              </a:solidFill>
              <a:round/>
            </a:ln>
          </p:spPr>
        </p:sp>
        <p:sp>
          <p:nvSpPr>
            <p:cNvPr id="129" name="Flecha 188_2"/>
            <p:cNvSpPr/>
            <p:nvPr/>
          </p:nvSpPr>
          <p:spPr>
            <a:xfrm>
              <a:off x="3292884" y="5769134"/>
              <a:ext cx="288220" cy="259772"/>
            </a:xfrm>
            <a:custGeom>
              <a:avLst/>
              <a:gdLst/>
              <a:ahLst/>
              <a:cxnLst/>
              <a:rect l="0" t="0" r="r" b="b"/>
              <a:pathLst>
                <a:path w="315" h="284" fill="none">
                  <a:moveTo>
                    <a:pt x="0" y="284"/>
                  </a:moveTo>
                  <a:lnTo>
                    <a:pt x="315" y="0"/>
                  </a:lnTo>
                </a:path>
              </a:pathLst>
            </a:custGeom>
            <a:noFill/>
            <a:ln w="37939" cap="rnd">
              <a:solidFill>
                <a:srgbClr val="9A9A9A"/>
              </a:solidFill>
              <a:round/>
            </a:ln>
          </p:spPr>
        </p:sp>
        <p:sp>
          <p:nvSpPr>
            <p:cNvPr id="130" name="Flecha 190_2"/>
            <p:cNvSpPr/>
            <p:nvPr/>
          </p:nvSpPr>
          <p:spPr>
            <a:xfrm>
              <a:off x="3157065" y="6028906"/>
              <a:ext cx="135819" cy="336372"/>
            </a:xfrm>
            <a:custGeom>
              <a:avLst/>
              <a:gdLst/>
              <a:ahLst/>
              <a:cxnLst/>
              <a:rect l="0" t="0" r="r" b="b"/>
              <a:pathLst>
                <a:path w="148" h="367" fill="none">
                  <a:moveTo>
                    <a:pt x="148" y="0"/>
                  </a:moveTo>
                  <a:lnTo>
                    <a:pt x="0" y="367"/>
                  </a:lnTo>
                </a:path>
              </a:pathLst>
            </a:custGeom>
            <a:noFill/>
            <a:ln w="37939" cap="rnd">
              <a:solidFill>
                <a:srgbClr val="9A9A9A"/>
              </a:solidFill>
              <a:round/>
            </a:ln>
          </p:spPr>
        </p:sp>
        <p:sp>
          <p:nvSpPr>
            <p:cNvPr id="131" name="Átomo H_22"/>
            <p:cNvSpPr/>
            <p:nvPr/>
          </p:nvSpPr>
          <p:spPr>
            <a:xfrm>
              <a:off x="2689888" y="5557531"/>
              <a:ext cx="156959" cy="1569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2" name="Átomo H_23"/>
            <p:cNvSpPr/>
            <p:nvPr/>
          </p:nvSpPr>
          <p:spPr>
            <a:xfrm>
              <a:off x="2909802" y="6455022"/>
              <a:ext cx="157711" cy="15771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3" name="Átomo O_13"/>
            <p:cNvSpPr/>
            <p:nvPr/>
          </p:nvSpPr>
          <p:spPr>
            <a:xfrm>
              <a:off x="3619513" y="5315673"/>
              <a:ext cx="248880" cy="24888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34" name="Átomo C_28"/>
            <p:cNvSpPr/>
            <p:nvPr/>
          </p:nvSpPr>
          <p:spPr>
            <a:xfrm>
              <a:off x="3160438" y="5896460"/>
              <a:ext cx="264891" cy="2648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5" name="Flecha 196_2"/>
            <p:cNvSpPr/>
            <p:nvPr/>
          </p:nvSpPr>
          <p:spPr>
            <a:xfrm>
              <a:off x="2768368" y="5636010"/>
              <a:ext cx="161900" cy="143255"/>
            </a:xfrm>
            <a:custGeom>
              <a:avLst/>
              <a:gdLst/>
              <a:ahLst/>
              <a:cxnLst/>
              <a:rect l="0" t="0" r="r" b="b"/>
              <a:pathLst>
                <a:path w="177" h="156" fill="none">
                  <a:moveTo>
                    <a:pt x="177" y="156"/>
                  </a:moveTo>
                  <a:lnTo>
                    <a:pt x="0" y="0"/>
                  </a:lnTo>
                </a:path>
              </a:pathLst>
            </a:custGeom>
            <a:noFill/>
            <a:ln w="37939" cap="rnd">
              <a:solidFill>
                <a:srgbClr val="9A9A9A"/>
              </a:solidFill>
              <a:round/>
            </a:ln>
          </p:spPr>
        </p:sp>
        <p:sp>
          <p:nvSpPr>
            <p:cNvPr id="136" name="Flecha 198_2"/>
            <p:cNvSpPr/>
            <p:nvPr/>
          </p:nvSpPr>
          <p:spPr>
            <a:xfrm>
              <a:off x="3743953" y="5440113"/>
              <a:ext cx="219475" cy="110877"/>
            </a:xfrm>
            <a:custGeom>
              <a:avLst/>
              <a:gdLst/>
              <a:ahLst/>
              <a:cxnLst/>
              <a:rect l="0" t="0" r="r" b="b"/>
              <a:pathLst>
                <a:path w="240" h="121" fill="none">
                  <a:moveTo>
                    <a:pt x="0" y="0"/>
                  </a:moveTo>
                  <a:lnTo>
                    <a:pt x="240" y="121"/>
                  </a:lnTo>
                </a:path>
              </a:pathLst>
            </a:custGeom>
            <a:noFill/>
            <a:ln w="37939" cap="rnd">
              <a:solidFill>
                <a:srgbClr val="9A9A9A"/>
              </a:solidFill>
              <a:round/>
            </a:ln>
          </p:spPr>
        </p:sp>
        <p:sp>
          <p:nvSpPr>
            <p:cNvPr id="137" name="Flecha 200_2"/>
            <p:cNvSpPr/>
            <p:nvPr/>
          </p:nvSpPr>
          <p:spPr>
            <a:xfrm>
              <a:off x="2930268" y="5779265"/>
              <a:ext cx="362616" cy="249641"/>
            </a:xfrm>
            <a:custGeom>
              <a:avLst/>
              <a:gdLst/>
              <a:ahLst/>
              <a:cxnLst/>
              <a:rect l="0" t="0" r="r" b="b"/>
              <a:pathLst>
                <a:path w="396" h="273" fill="none">
                  <a:moveTo>
                    <a:pt x="0" y="0"/>
                  </a:moveTo>
                  <a:lnTo>
                    <a:pt x="396" y="273"/>
                  </a:lnTo>
                </a:path>
              </a:pathLst>
            </a:custGeom>
            <a:noFill/>
            <a:ln w="37939" cap="rnd">
              <a:solidFill>
                <a:srgbClr val="9A9A9A"/>
              </a:solidFill>
              <a:round/>
            </a:ln>
          </p:spPr>
        </p:sp>
        <p:sp>
          <p:nvSpPr>
            <p:cNvPr id="138" name="Flecha 202_2"/>
            <p:cNvSpPr/>
            <p:nvPr/>
          </p:nvSpPr>
          <p:spPr>
            <a:xfrm>
              <a:off x="3292884" y="6028906"/>
              <a:ext cx="169193" cy="116348"/>
            </a:xfrm>
            <a:custGeom>
              <a:avLst/>
              <a:gdLst/>
              <a:ahLst/>
              <a:cxnLst/>
              <a:rect l="0" t="0" r="r" b="b"/>
              <a:pathLst>
                <a:path w="185" h="127" fill="none">
                  <a:moveTo>
                    <a:pt x="0" y="0"/>
                  </a:moveTo>
                  <a:lnTo>
                    <a:pt x="185" y="127"/>
                  </a:lnTo>
                </a:path>
              </a:pathLst>
            </a:custGeom>
            <a:noFill/>
            <a:ln w="37939" cap="rnd">
              <a:solidFill>
                <a:srgbClr val="9A9A9A"/>
              </a:solidFill>
              <a:round/>
            </a:ln>
          </p:spPr>
        </p:sp>
        <p:sp>
          <p:nvSpPr>
            <p:cNvPr id="139" name="Átomo H_24"/>
            <p:cNvSpPr/>
            <p:nvPr/>
          </p:nvSpPr>
          <p:spPr>
            <a:xfrm>
              <a:off x="3882601" y="5470163"/>
              <a:ext cx="161655" cy="16165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0" name="Átomo C_29"/>
            <p:cNvSpPr/>
            <p:nvPr/>
          </p:nvSpPr>
          <p:spPr>
            <a:xfrm>
              <a:off x="2795279" y="5644276"/>
              <a:ext cx="269978" cy="2699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41" name="Flecha 206_2"/>
            <p:cNvSpPr/>
            <p:nvPr/>
          </p:nvSpPr>
          <p:spPr>
            <a:xfrm>
              <a:off x="2711691" y="5779265"/>
              <a:ext cx="218577" cy="198156"/>
            </a:xfrm>
            <a:custGeom>
              <a:avLst/>
              <a:gdLst/>
              <a:ahLst/>
              <a:cxnLst/>
              <a:rect l="0" t="0" r="r" b="b"/>
              <a:pathLst>
                <a:path w="239" h="216" fill="none">
                  <a:moveTo>
                    <a:pt x="239" y="0"/>
                  </a:moveTo>
                  <a:lnTo>
                    <a:pt x="0" y="216"/>
                  </a:lnTo>
                </a:path>
              </a:pathLst>
            </a:custGeom>
            <a:noFill/>
            <a:ln w="37939" cap="rnd">
              <a:solidFill>
                <a:srgbClr val="9A9A9A"/>
              </a:solidFill>
              <a:round/>
            </a:ln>
          </p:spPr>
        </p:sp>
        <p:sp>
          <p:nvSpPr>
            <p:cNvPr id="142" name="Átomo H_25"/>
            <p:cNvSpPr/>
            <p:nvPr/>
          </p:nvSpPr>
          <p:spPr>
            <a:xfrm>
              <a:off x="3380003" y="6063181"/>
              <a:ext cx="164147" cy="1641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3" name="Flecha 209_2"/>
            <p:cNvSpPr/>
            <p:nvPr/>
          </p:nvSpPr>
          <p:spPr>
            <a:xfrm>
              <a:off x="2930268" y="5473934"/>
              <a:ext cx="121630" cy="305331"/>
            </a:xfrm>
            <a:custGeom>
              <a:avLst/>
              <a:gdLst/>
              <a:ahLst/>
              <a:cxnLst/>
              <a:rect l="0" t="0" r="r" b="b"/>
              <a:pathLst>
                <a:path w="133" h="333" fill="none">
                  <a:moveTo>
                    <a:pt x="133" y="0"/>
                  </a:moveTo>
                  <a:lnTo>
                    <a:pt x="0" y="333"/>
                  </a:lnTo>
                </a:path>
              </a:pathLst>
            </a:custGeom>
            <a:noFill/>
            <a:ln w="37939" cap="rnd">
              <a:solidFill>
                <a:srgbClr val="9A9A9A"/>
              </a:solidFill>
              <a:round/>
            </a:ln>
          </p:spPr>
        </p:sp>
        <p:sp>
          <p:nvSpPr>
            <p:cNvPr id="144" name="Átomo H_26"/>
            <p:cNvSpPr/>
            <p:nvPr/>
          </p:nvSpPr>
          <p:spPr>
            <a:xfrm>
              <a:off x="3184571" y="5235288"/>
              <a:ext cx="164886" cy="1648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5" name="Átomo H_27"/>
            <p:cNvSpPr/>
            <p:nvPr/>
          </p:nvSpPr>
          <p:spPr>
            <a:xfrm>
              <a:off x="2629175" y="5894904"/>
              <a:ext cx="165033" cy="16503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6" name="Flecha 213_2"/>
            <p:cNvSpPr/>
            <p:nvPr/>
          </p:nvSpPr>
          <p:spPr>
            <a:xfrm>
              <a:off x="3051898" y="5317731"/>
              <a:ext cx="215116" cy="156203"/>
            </a:xfrm>
            <a:custGeom>
              <a:avLst/>
              <a:gdLst/>
              <a:ahLst/>
              <a:cxnLst/>
              <a:rect l="0" t="0" r="r" b="b"/>
              <a:pathLst>
                <a:path w="235" h="170" fill="none">
                  <a:moveTo>
                    <a:pt x="0" y="170"/>
                  </a:moveTo>
                  <a:lnTo>
                    <a:pt x="235" y="0"/>
                  </a:lnTo>
                </a:path>
              </a:pathLst>
            </a:custGeom>
            <a:noFill/>
            <a:ln w="37939" cap="rnd">
              <a:solidFill>
                <a:srgbClr val="9A9A9A"/>
              </a:solidFill>
              <a:round/>
            </a:ln>
          </p:spPr>
        </p:sp>
        <p:sp>
          <p:nvSpPr>
            <p:cNvPr id="147" name="Átomo O_14"/>
            <p:cNvSpPr/>
            <p:nvPr/>
          </p:nvSpPr>
          <p:spPr>
            <a:xfrm>
              <a:off x="2920249" y="5342284"/>
              <a:ext cx="263300" cy="26330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grpSp>
      <p:pic>
        <p:nvPicPr>
          <p:cNvPr id="148" name="!!Adipocitos portada" descr="Ilustración biomédica (Servier Medical Art, CC BY)"/>
          <p:cNvPicPr>
            <a:picLocks noChangeAspect="1"/>
          </p:cNvPicPr>
          <p:nvPr/>
        </p:nvPicPr>
        <p:blipFill>
          <a:blip r:embed="rId2"/>
          <a:stretch>
            <a:fillRect/>
          </a:stretch>
        </p:blipFill>
        <p:spPr>
          <a:xfrm>
            <a:off x="137160" y="4526280"/>
            <a:ext cx="2103120" cy="2144478"/>
          </a:xfrm>
          <a:prstGeom prst="rect">
            <a:avLst/>
          </a:prstGeom>
        </p:spPr>
      </p:pic>
      <p:pic>
        <p:nvPicPr>
          <p:cNvPr id="149" name="!!Páncreas portada" descr="Ilustración biomédica (Servier Medical Art, CC BY)"/>
          <p:cNvPicPr>
            <a:picLocks noChangeAspect="1"/>
          </p:cNvPicPr>
          <p:nvPr/>
        </p:nvPicPr>
        <p:blipFill>
          <a:blip r:embed="rId3"/>
          <a:stretch>
            <a:fillRect/>
          </a:stretch>
        </p:blipFill>
        <p:spPr>
          <a:xfrm>
            <a:off x="9829800" y="1097280"/>
            <a:ext cx="2286000" cy="948690"/>
          </a:xfrm>
          <a:prstGeom prst="rect">
            <a:avLst/>
          </a:prstGeom>
        </p:spPr>
      </p:pic>
      <p:pic>
        <p:nvPicPr>
          <p:cNvPr id="150" name="!!Hígado portada" descr="Ilustración biomédica (Servier Medical Art, CC BY)"/>
          <p:cNvPicPr>
            <a:picLocks noChangeAspect="1"/>
          </p:cNvPicPr>
          <p:nvPr/>
        </p:nvPicPr>
        <p:blipFill>
          <a:blip r:embed="rId4"/>
          <a:stretch>
            <a:fillRect/>
          </a:stretch>
        </p:blipFill>
        <p:spPr>
          <a:xfrm>
            <a:off x="9875520" y="4206240"/>
            <a:ext cx="2194560" cy="1592394"/>
          </a:xfrm>
          <a:prstGeom prst="rect">
            <a:avLst/>
          </a:prstGeom>
        </p:spPr>
      </p:pic>
      <p:sp>
        <p:nvSpPr>
          <p:cNvPr id="151" name="Título portada"/>
          <p:cNvSpPr txBox="1"/>
          <p:nvPr/>
        </p:nvSpPr>
        <p:spPr>
          <a:xfrm>
            <a:off x="2377440" y="1783080"/>
            <a:ext cx="7406640" cy="17937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100" dirty="0">
                <a:solidFill>
                  <a:srgbClr val="1E1E1E"/>
                </a:solidFill>
                <a:effectLst>
                  <a:glow rad="101600">
                    <a:srgbClr val="FFFFFF">
                      <a:alpha val="70000"/>
                    </a:srgbClr>
                  </a:glow>
                </a:effectLst>
                <a:latin typeface="Permanent Marker"/>
                <a:ea typeface="Permanent Marker"/>
                <a:cs typeface="Permanent Marker"/>
                <a:sym typeface="Permanent Marker"/>
              </a:rPr>
              <a:t>DIABETES, OBESIDAD</a:t>
            </a:r>
            <a:endParaRPr lang="es-AR" sz="5100" dirty="0">
              <a:latin typeface="Permanent Marker"/>
            </a:endParaRPr>
          </a:p>
          <a:p>
            <a:pPr algn="ctr">
              <a:lnSpc>
                <a:spcPct val="920"/>
              </a:lnSpc>
              <a:spcAft>
                <a:spcPts val="300"/>
              </a:spcAft>
              <a:buNone/>
            </a:pPr>
            <a:r>
              <a:rPr lang="es-AR" sz="5100" dirty="0">
                <a:solidFill>
                  <a:srgbClr val="1E1E1E"/>
                </a:solidFill>
                <a:effectLst>
                  <a:glow rad="101600">
                    <a:srgbClr val="FFFFFF">
                      <a:alpha val="70000"/>
                    </a:srgbClr>
                  </a:glow>
                </a:effectLst>
                <a:latin typeface="Permanent Marker"/>
                <a:ea typeface="Permanent Marker"/>
                <a:cs typeface="Permanent Marker"/>
                <a:sym typeface="Permanent Marker"/>
              </a:rPr>
              <a:t>Y TEJIDO ADIPOSO</a:t>
            </a:r>
            <a:endParaRPr lang="es-AR" sz="5100" dirty="0">
              <a:latin typeface="Permanent Marker"/>
            </a:endParaRPr>
          </a:p>
        </p:txBody>
      </p:sp>
      <p:sp>
        <p:nvSpPr>
          <p:cNvPr id="152" name="Subtítulo portada"/>
          <p:cNvSpPr txBox="1"/>
          <p:nvPr/>
        </p:nvSpPr>
        <p:spPr>
          <a:xfrm>
            <a:off x="2560320" y="3703320"/>
            <a:ext cx="7040880" cy="777240"/>
          </a:xfrm>
          <a:prstGeom prst="rect">
            <a:avLst/>
          </a:prstGeom>
          <a:noFill/>
          <a:ln>
            <a:noFill/>
          </a:ln>
        </p:spPr>
        <p:txBody>
          <a:bodyPr wrap="square" lIns="0" tIns="0" rIns="0" bIns="0" anchor="ctr" rtlCol="0">
            <a:noAutofit/>
          </a:bodyPr>
          <a:lstStyle/>
          <a:p>
            <a:pPr algn="ctr">
              <a:spcAft>
                <a:spcPts val="300"/>
              </a:spcAft>
              <a:buNone/>
            </a:pPr>
            <a:r>
              <a:rPr lang="es-AR" sz="17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Integración metabólica: regulación hormonal, señalización celular,</a:t>
            </a:r>
            <a:endParaRPr lang="es-AR" sz="1700" dirty="0">
              <a:latin typeface="Fira Sans Condensed"/>
            </a:endParaRPr>
          </a:p>
          <a:p>
            <a:pPr algn="ctr">
              <a:spcAft>
                <a:spcPts val="300"/>
              </a:spcAft>
              <a:buNone/>
            </a:pPr>
            <a:r>
              <a:rPr lang="es-AR" sz="17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metabolismo interorgánico y fisiopatología</a:t>
            </a:r>
            <a:endParaRPr lang="es-AR" sz="1700" dirty="0">
              <a:latin typeface="Fira Sans Condensed"/>
            </a:endParaRPr>
          </a:p>
        </p:txBody>
      </p:sp>
      <p:sp>
        <p:nvSpPr>
          <p:cNvPr id="153" name="Etiqueta portada"/>
          <p:cNvSpPr/>
          <p:nvPr/>
        </p:nvSpPr>
        <p:spPr>
          <a:xfrm>
            <a:off x="3977640" y="4617720"/>
            <a:ext cx="42062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BIOQUÍMICA INTEGRADA · MEDICINA</a:t>
            </a:r>
            <a:endParaRPr lang="es-AR" sz="15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2"/>
                                        </p:tgtEl>
                                        <p:attrNameLst>
                                          <p:attrName>style.visibility</p:attrName>
                                        </p:attrNameLst>
                                      </p:cBhvr>
                                      <p:to>
                                        <p:strVal val="visible"/>
                                      </p:to>
                                    </p:set>
                                    <p:animEffect transition="in" filter="fade">
                                      <p:cBhvr>
                                        <p:cTn id="5" dur="500"/>
                                        <p:tgtEl>
                                          <p:spTgt spid="152"/>
                                        </p:tgtEl>
                                      </p:cBhvr>
                                    </p:animEffect>
                                  </p:childTnLst>
                                </p:cTn>
                              </p:par>
                            </p:childTnLst>
                          </p:cTn>
                        </p:par>
                        <p:par>
                          <p:cTn id="12" fill="hold">
                            <p:stCondLst>
                              <p:cond delay="500"/>
                            </p:stCondLst>
                            <p:childTnLst>
                              <p:par>
                                <p:cTn id="7" presetID="53" presetClass="entr" presetSubtype="16" fill="hold" grpId="0" nodeType="afterEffect">
                                  <p:stCondLst>
                                    <p:cond delay="0"/>
                                  </p:stCondLst>
                                  <p:childTnLst>
                                    <p:set>
                                      <p:cBhvr>
                                        <p:cTn id="8" dur="1" fill="hold">
                                          <p:stCondLst>
                                            <p:cond delay="0"/>
                                          </p:stCondLst>
                                        </p:cTn>
                                        <p:tgtEl>
                                          <p:spTgt spid="153"/>
                                        </p:tgtEl>
                                        <p:attrNameLst>
                                          <p:attrName>style.visibility</p:attrName>
                                        </p:attrNameLst>
                                      </p:cBhvr>
                                      <p:to>
                                        <p:strVal val="visible"/>
                                      </p:to>
                                    </p:set>
                                    <p:anim calcmode="lin" valueType="num">
                                      <p:cBhvr>
                                        <p:cTn id="9" dur="500" fill="hold"/>
                                        <p:tgtEl>
                                          <p:spTgt spid="153"/>
                                        </p:tgtEl>
                                        <p:attrNameLst>
                                          <p:attrName>ppt_w</p:attrName>
                                        </p:attrNameLst>
                                      </p:cBhvr>
                                      <p:tavLst>
                                        <p:tav tm="0">
                                          <p:val>
                                            <p:fltVal val="0"/>
                                          </p:val>
                                        </p:tav>
                                        <p:tav tm="100000">
                                          <p:val>
                                            <p:strVal val="#ppt_w"/>
                                          </p:val>
                                        </p:tav>
                                      </p:tavLst>
                                    </p:anim>
                                    <p:anim calcmode="lin" valueType="num">
                                      <p:cBhvr>
                                        <p:cTn id="10" dur="500" fill="hold"/>
                                        <p:tgtEl>
                                          <p:spTgt spid="153"/>
                                        </p:tgtEl>
                                        <p:attrNameLst>
                                          <p:attrName>ppt_h</p:attrName>
                                        </p:attrNameLst>
                                      </p:cBhvr>
                                      <p:tavLst>
                                        <p:tav tm="0">
                                          <p:val>
                                            <p:fltVal val="0"/>
                                          </p:val>
                                        </p:tav>
                                        <p:tav tm="100000">
                                          <p:val>
                                            <p:strVal val="#ppt_h"/>
                                          </p:val>
                                        </p:tav>
                                      </p:tavLst>
                                    </p:anim>
                                    <p:animEffect transition="in" filter="fade">
                                      <p:cBhvr>
                                        <p:cTn id="11"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animBg="1"/>
      <p:bldP spid="15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Parte I"/>
          <p:cNvGrpSpPr/>
          <p:nvPr/>
        </p:nvGrpSpPr>
        <p:grpSpPr>
          <a:xfrm>
            <a:off x="457200" y="1097280"/>
            <a:ext cx="5532120" cy="658368"/>
            <a:chOff x="457200" y="1097280"/>
            <a:chExt cx="5532120" cy="658368"/>
          </a:xfrm>
        </p:grpSpPr>
        <p:sp>
          <p:nvSpPr>
            <p:cNvPr id="8" name="Forma 7"/>
            <p:cNvSpPr/>
            <p:nvPr/>
          </p:nvSpPr>
          <p:spPr>
            <a:xfrm>
              <a:off x="457200" y="109728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I</a:t>
              </a:r>
              <a:endParaRPr lang="es-AR" sz="2400" dirty="0">
                <a:latin typeface="Bangers"/>
              </a:endParaRPr>
            </a:p>
          </p:txBody>
        </p:sp>
        <p:sp>
          <p:nvSpPr>
            <p:cNvPr id="9" name="Recuadro Bases bioquímicas de l"/>
            <p:cNvSpPr/>
            <p:nvPr/>
          </p:nvSpPr>
          <p:spPr>
            <a:xfrm>
              <a:off x="1417320" y="1097280"/>
              <a:ext cx="4572000" cy="65836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Bases bioquímicas de la diabetes</a:t>
              </a:r>
              <a:endParaRPr lang="es-AR" sz="1600" dirty="0">
                <a:latin typeface="Fira Sans Condensed"/>
              </a:endParaRPr>
            </a:p>
          </p:txBody>
        </p:sp>
      </p:grpSp>
      <p:grpSp>
        <p:nvGrpSpPr>
          <p:cNvPr id="10" name="Parte II"/>
          <p:cNvGrpSpPr/>
          <p:nvPr/>
        </p:nvGrpSpPr>
        <p:grpSpPr>
          <a:xfrm>
            <a:off x="457200" y="1965960"/>
            <a:ext cx="5532120" cy="658368"/>
            <a:chOff x="457200" y="1965960"/>
            <a:chExt cx="5532120" cy="658368"/>
          </a:xfrm>
        </p:grpSpPr>
        <p:sp>
          <p:nvSpPr>
            <p:cNvPr id="11" name="Forma 10"/>
            <p:cNvSpPr/>
            <p:nvPr/>
          </p:nvSpPr>
          <p:spPr>
            <a:xfrm>
              <a:off x="457200" y="196596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II</a:t>
              </a:r>
              <a:endParaRPr lang="es-AR" sz="2400" dirty="0">
                <a:latin typeface="Bangers"/>
              </a:endParaRPr>
            </a:p>
          </p:txBody>
        </p:sp>
        <p:sp>
          <p:nvSpPr>
            <p:cNvPr id="12" name="Recuadro Caso 11: cetoacidosis "/>
            <p:cNvSpPr/>
            <p:nvPr/>
          </p:nvSpPr>
          <p:spPr>
            <a:xfrm>
              <a:off x="1417320" y="1965960"/>
              <a:ext cx="4572000" cy="65836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Caso 11: cetoacidosis y neumonía</a:t>
              </a:r>
              <a:endParaRPr lang="es-AR" sz="1600" dirty="0">
                <a:latin typeface="Fira Sans Condensed"/>
              </a:endParaRPr>
            </a:p>
          </p:txBody>
        </p:sp>
      </p:grpSp>
      <p:grpSp>
        <p:nvGrpSpPr>
          <p:cNvPr id="13" name="Parte III"/>
          <p:cNvGrpSpPr/>
          <p:nvPr/>
        </p:nvGrpSpPr>
        <p:grpSpPr>
          <a:xfrm>
            <a:off x="457200" y="2834640"/>
            <a:ext cx="5532120" cy="658368"/>
            <a:chOff x="457200" y="2834640"/>
            <a:chExt cx="5532120" cy="658368"/>
          </a:xfrm>
        </p:grpSpPr>
        <p:sp>
          <p:nvSpPr>
            <p:cNvPr id="14" name="Forma 13"/>
            <p:cNvSpPr/>
            <p:nvPr/>
          </p:nvSpPr>
          <p:spPr>
            <a:xfrm>
              <a:off x="457200" y="283464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III</a:t>
              </a:r>
              <a:endParaRPr lang="es-AR" sz="2400" dirty="0">
                <a:latin typeface="Bangers"/>
              </a:endParaRPr>
            </a:p>
          </p:txBody>
        </p:sp>
        <p:sp>
          <p:nvSpPr>
            <p:cNvPr id="15" name="Recuadro Caso 12: estado hiperg"/>
            <p:cNvSpPr/>
            <p:nvPr/>
          </p:nvSpPr>
          <p:spPr>
            <a:xfrm>
              <a:off x="1417320" y="2834640"/>
              <a:ext cx="4572000" cy="65836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Caso 12: estado hiperglucémico hiperosmolar</a:t>
              </a:r>
              <a:endParaRPr lang="es-AR" sz="1600" dirty="0">
                <a:latin typeface="Fira Sans Condensed"/>
              </a:endParaRPr>
            </a:p>
          </p:txBody>
        </p:sp>
      </p:grpSp>
      <p:grpSp>
        <p:nvGrpSpPr>
          <p:cNvPr id="16" name="Parte IV"/>
          <p:cNvGrpSpPr/>
          <p:nvPr/>
        </p:nvGrpSpPr>
        <p:grpSpPr>
          <a:xfrm>
            <a:off x="457200" y="3703320"/>
            <a:ext cx="5532120" cy="658368"/>
            <a:chOff x="457200" y="3703320"/>
            <a:chExt cx="5532120" cy="658368"/>
          </a:xfrm>
        </p:grpSpPr>
        <p:sp>
          <p:nvSpPr>
            <p:cNvPr id="17" name="Forma 16"/>
            <p:cNvSpPr/>
            <p:nvPr/>
          </p:nvSpPr>
          <p:spPr>
            <a:xfrm>
              <a:off x="457200" y="370332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IV</a:t>
              </a:r>
              <a:endParaRPr lang="es-AR" sz="2400" dirty="0">
                <a:latin typeface="Bangers"/>
              </a:endParaRPr>
            </a:p>
          </p:txBody>
        </p:sp>
        <p:sp>
          <p:nvSpPr>
            <p:cNvPr id="18" name="Recuadro Integración CAD frente"/>
            <p:cNvSpPr/>
            <p:nvPr/>
          </p:nvSpPr>
          <p:spPr>
            <a:xfrm>
              <a:off x="1417320" y="3703320"/>
              <a:ext cx="4572000" cy="658368"/>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Integración CAD frente a EHH</a:t>
              </a:r>
              <a:endParaRPr lang="es-AR" sz="1600" dirty="0">
                <a:latin typeface="Fira Sans Condensed"/>
              </a:endParaRPr>
            </a:p>
          </p:txBody>
        </p:sp>
      </p:grpSp>
      <p:grpSp>
        <p:nvGrpSpPr>
          <p:cNvPr id="19" name="Parte V"/>
          <p:cNvGrpSpPr/>
          <p:nvPr/>
        </p:nvGrpSpPr>
        <p:grpSpPr>
          <a:xfrm>
            <a:off x="457200" y="4572000"/>
            <a:ext cx="5532120" cy="658368"/>
            <a:chOff x="457200" y="4572000"/>
            <a:chExt cx="5532120" cy="658368"/>
          </a:xfrm>
        </p:grpSpPr>
        <p:sp>
          <p:nvSpPr>
            <p:cNvPr id="20" name="Forma 19"/>
            <p:cNvSpPr/>
            <p:nvPr/>
          </p:nvSpPr>
          <p:spPr>
            <a:xfrm>
              <a:off x="457200" y="457200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V</a:t>
              </a:r>
              <a:endParaRPr lang="es-AR" sz="2400" dirty="0">
                <a:latin typeface="Bangers"/>
              </a:endParaRPr>
            </a:p>
          </p:txBody>
        </p:sp>
        <p:sp>
          <p:nvSpPr>
            <p:cNvPr id="21" name="Recuadro Tejido adiposo: histol"/>
            <p:cNvSpPr/>
            <p:nvPr/>
          </p:nvSpPr>
          <p:spPr>
            <a:xfrm>
              <a:off x="1417320" y="4572000"/>
              <a:ext cx="4572000" cy="65836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Tejido adiposo: histología, señalización y metabolismo</a:t>
              </a:r>
              <a:endParaRPr lang="es-AR" sz="1600" dirty="0">
                <a:latin typeface="Fira Sans Condensed"/>
              </a:endParaRPr>
            </a:p>
          </p:txBody>
        </p:sp>
      </p:grpSp>
      <p:grpSp>
        <p:nvGrpSpPr>
          <p:cNvPr id="22" name="Parte VI"/>
          <p:cNvGrpSpPr/>
          <p:nvPr/>
        </p:nvGrpSpPr>
        <p:grpSpPr>
          <a:xfrm>
            <a:off x="457200" y="5440680"/>
            <a:ext cx="5532120" cy="658368"/>
            <a:chOff x="457200" y="5440680"/>
            <a:chExt cx="5532120" cy="658368"/>
          </a:xfrm>
        </p:grpSpPr>
        <p:sp>
          <p:nvSpPr>
            <p:cNvPr id="23" name="Forma 22"/>
            <p:cNvSpPr/>
            <p:nvPr/>
          </p:nvSpPr>
          <p:spPr>
            <a:xfrm>
              <a:off x="457200" y="544068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VI</a:t>
              </a:r>
              <a:endParaRPr lang="es-AR" sz="2400" dirty="0">
                <a:latin typeface="Bangers"/>
              </a:endParaRPr>
            </a:p>
          </p:txBody>
        </p:sp>
        <p:sp>
          <p:nvSpPr>
            <p:cNvPr id="24" name="Recuadro Apetito, peso y gasto "/>
            <p:cNvSpPr/>
            <p:nvPr/>
          </p:nvSpPr>
          <p:spPr>
            <a:xfrm>
              <a:off x="1417320" y="5440680"/>
              <a:ext cx="4572000" cy="65836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Apetito, peso y gasto energético</a:t>
              </a:r>
              <a:endParaRPr lang="es-AR" sz="1600" dirty="0">
                <a:latin typeface="Fira Sans Condensed"/>
              </a:endParaRPr>
            </a:p>
          </p:txBody>
        </p:sp>
      </p:grpSp>
      <p:grpSp>
        <p:nvGrpSpPr>
          <p:cNvPr id="25" name="Parte VII"/>
          <p:cNvGrpSpPr/>
          <p:nvPr/>
        </p:nvGrpSpPr>
        <p:grpSpPr>
          <a:xfrm>
            <a:off x="6263640" y="1097280"/>
            <a:ext cx="5532120" cy="658368"/>
            <a:chOff x="6263640" y="1097280"/>
            <a:chExt cx="5532120" cy="658368"/>
          </a:xfrm>
        </p:grpSpPr>
        <p:sp>
          <p:nvSpPr>
            <p:cNvPr id="26" name="Forma 25"/>
            <p:cNvSpPr/>
            <p:nvPr/>
          </p:nvSpPr>
          <p:spPr>
            <a:xfrm>
              <a:off x="6263640" y="109728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VII</a:t>
              </a:r>
              <a:endParaRPr lang="es-AR" sz="2400" dirty="0">
                <a:latin typeface="Bangers"/>
              </a:endParaRPr>
            </a:p>
          </p:txBody>
        </p:sp>
        <p:sp>
          <p:nvSpPr>
            <p:cNvPr id="27" name="Recuadro Caso 20: obesidad clas"/>
            <p:cNvSpPr/>
            <p:nvPr/>
          </p:nvSpPr>
          <p:spPr>
            <a:xfrm>
              <a:off x="7223760" y="1097280"/>
              <a:ext cx="4572000" cy="65836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Caso 20: obesidad clase III</a:t>
              </a:r>
              <a:endParaRPr lang="es-AR" sz="1600" dirty="0">
                <a:latin typeface="Fira Sans Condensed"/>
              </a:endParaRPr>
            </a:p>
          </p:txBody>
        </p:sp>
      </p:grpSp>
      <p:grpSp>
        <p:nvGrpSpPr>
          <p:cNvPr id="28" name="Parte VIII"/>
          <p:cNvGrpSpPr/>
          <p:nvPr/>
        </p:nvGrpSpPr>
        <p:grpSpPr>
          <a:xfrm>
            <a:off x="6263640" y="1965960"/>
            <a:ext cx="5532120" cy="658368"/>
            <a:chOff x="6263640" y="1965960"/>
            <a:chExt cx="5532120" cy="658368"/>
          </a:xfrm>
        </p:grpSpPr>
        <p:sp>
          <p:nvSpPr>
            <p:cNvPr id="29" name="Forma 28"/>
            <p:cNvSpPr/>
            <p:nvPr/>
          </p:nvSpPr>
          <p:spPr>
            <a:xfrm>
              <a:off x="6263640" y="196596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VIII</a:t>
              </a:r>
              <a:endParaRPr lang="es-AR" sz="2400" dirty="0">
                <a:latin typeface="Bangers"/>
              </a:endParaRPr>
            </a:p>
          </p:txBody>
        </p:sp>
        <p:sp>
          <p:nvSpPr>
            <p:cNvPr id="30" name="Recuadro Tratamiento, farmacolo"/>
            <p:cNvSpPr/>
            <p:nvPr/>
          </p:nvSpPr>
          <p:spPr>
            <a:xfrm>
              <a:off x="7223760" y="1965960"/>
              <a:ext cx="4572000" cy="658368"/>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Tratamiento, farmacología y normativa</a:t>
              </a:r>
              <a:endParaRPr lang="es-AR" sz="1600" dirty="0">
                <a:latin typeface="Fira Sans Condensed"/>
              </a:endParaRPr>
            </a:p>
          </p:txBody>
        </p:sp>
      </p:grpSp>
      <p:grpSp>
        <p:nvGrpSpPr>
          <p:cNvPr id="31" name="Parte IX"/>
          <p:cNvGrpSpPr/>
          <p:nvPr/>
        </p:nvGrpSpPr>
        <p:grpSpPr>
          <a:xfrm>
            <a:off x="6263640" y="2834640"/>
            <a:ext cx="5532120" cy="658368"/>
            <a:chOff x="6263640" y="2834640"/>
            <a:chExt cx="5532120" cy="658368"/>
          </a:xfrm>
        </p:grpSpPr>
        <p:sp>
          <p:nvSpPr>
            <p:cNvPr id="32" name="Forma 31"/>
            <p:cNvSpPr/>
            <p:nvPr/>
          </p:nvSpPr>
          <p:spPr>
            <a:xfrm>
              <a:off x="6263640" y="283464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IX</a:t>
              </a:r>
              <a:endParaRPr lang="es-AR" sz="2400" dirty="0">
                <a:latin typeface="Bangers"/>
              </a:endParaRPr>
            </a:p>
          </p:txBody>
        </p:sp>
        <p:sp>
          <p:nvSpPr>
            <p:cNvPr id="33" name="Recuadro Síndrome metabólico"/>
            <p:cNvSpPr/>
            <p:nvPr/>
          </p:nvSpPr>
          <p:spPr>
            <a:xfrm>
              <a:off x="7223760" y="2834640"/>
              <a:ext cx="4572000" cy="65836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Síndrome metabólico</a:t>
              </a:r>
              <a:endParaRPr lang="es-AR" sz="1600" dirty="0">
                <a:latin typeface="Fira Sans Condensed"/>
              </a:endParaRPr>
            </a:p>
          </p:txBody>
        </p:sp>
      </p:grpSp>
      <p:grpSp>
        <p:nvGrpSpPr>
          <p:cNvPr id="34" name="Parte X"/>
          <p:cNvGrpSpPr/>
          <p:nvPr/>
        </p:nvGrpSpPr>
        <p:grpSpPr>
          <a:xfrm>
            <a:off x="6263640" y="3703320"/>
            <a:ext cx="5532120" cy="658368"/>
            <a:chOff x="6263640" y="3703320"/>
            <a:chExt cx="5532120" cy="658368"/>
          </a:xfrm>
        </p:grpSpPr>
        <p:sp>
          <p:nvSpPr>
            <p:cNvPr id="35" name="Forma 34"/>
            <p:cNvSpPr/>
            <p:nvPr/>
          </p:nvSpPr>
          <p:spPr>
            <a:xfrm>
              <a:off x="6263640" y="370332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X</a:t>
              </a:r>
              <a:endParaRPr lang="es-AR" sz="2400" dirty="0">
                <a:latin typeface="Bangers"/>
              </a:endParaRPr>
            </a:p>
          </p:txBody>
        </p:sp>
        <p:sp>
          <p:nvSpPr>
            <p:cNvPr id="36" name="Recuadro Práctica aplicada: cál"/>
            <p:cNvSpPr/>
            <p:nvPr/>
          </p:nvSpPr>
          <p:spPr>
            <a:xfrm>
              <a:off x="7223760" y="3703320"/>
              <a:ext cx="4572000" cy="65836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Práctica aplicada: cálculos y preguntas</a:t>
              </a:r>
              <a:endParaRPr lang="es-AR" sz="1600" dirty="0">
                <a:latin typeface="Fira Sans Condensed"/>
              </a:endParaRPr>
            </a:p>
          </p:txBody>
        </p:sp>
      </p:grpSp>
      <p:grpSp>
        <p:nvGrpSpPr>
          <p:cNvPr id="37" name="Parte XI"/>
          <p:cNvGrpSpPr/>
          <p:nvPr/>
        </p:nvGrpSpPr>
        <p:grpSpPr>
          <a:xfrm>
            <a:off x="6263640" y="4572000"/>
            <a:ext cx="5532120" cy="658368"/>
            <a:chOff x="6263640" y="4572000"/>
            <a:chExt cx="5532120" cy="658368"/>
          </a:xfrm>
        </p:grpSpPr>
        <p:sp>
          <p:nvSpPr>
            <p:cNvPr id="38" name="Forma 37"/>
            <p:cNvSpPr/>
            <p:nvPr/>
          </p:nvSpPr>
          <p:spPr>
            <a:xfrm>
              <a:off x="6263640" y="4572000"/>
              <a:ext cx="868680" cy="658368"/>
            </a:xfrm>
            <a:prstGeom prst="rect">
              <a:avLst/>
            </a:prstGeom>
            <a:solidFill>
              <a:srgbClr val="1E1E1E"/>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FFC000"/>
                  </a:solidFill>
                  <a:latin typeface="Bangers"/>
                  <a:ea typeface="Bangers"/>
                  <a:cs typeface="Bangers"/>
                  <a:sym typeface="Bangers"/>
                </a:rPr>
                <a:t>XI</a:t>
              </a:r>
              <a:endParaRPr lang="es-AR" sz="2400" dirty="0">
                <a:latin typeface="Bangers"/>
              </a:endParaRPr>
            </a:p>
          </p:txBody>
        </p:sp>
        <p:sp>
          <p:nvSpPr>
            <p:cNvPr id="39" name="Recuadro Fuentes, límites e int"/>
            <p:cNvSpPr/>
            <p:nvPr/>
          </p:nvSpPr>
          <p:spPr>
            <a:xfrm>
              <a:off x="7223760" y="4572000"/>
              <a:ext cx="4572000" cy="65836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Fuentes, límites e integración final</a:t>
              </a:r>
              <a:endParaRPr lang="es-AR" sz="16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RECORRIDO DE LA CLASE</a:t>
            </a:r>
            <a:endParaRPr lang="es-AR" sz="3400" dirty="0">
              <a:latin typeface="Permanent Marker"/>
            </a:endParaRPr>
          </a:p>
        </p:txBody>
      </p:sp>
      <p:sp>
        <p:nvSpPr>
          <p:cNvPr id="6" name="Etiqueta sección"/>
          <p:cNvSpPr/>
          <p:nvPr/>
        </p:nvSpPr>
        <p:spPr>
          <a:xfrm>
            <a:off x="164592" y="6510528"/>
            <a:ext cx="234522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DIABETES · OBESIDAD · TEJIDO ADIPOSO</a:t>
            </a:r>
            <a:endParaRPr lang="es-AR" sz="950" dirty="0">
              <a:latin typeface="Fira Sans Condensed"/>
            </a:endParaRPr>
          </a:p>
        </p:txBody>
      </p:sp>
      <p:sp>
        <p:nvSpPr>
          <p:cNvPr id="4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200"/>
                                        <p:tgtEl>
                                          <p:spTgt spid="7"/>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200"/>
                                        <p:tgtEl>
                                          <p:spTgt spid="10"/>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
                                        <p:tgtEl>
                                          <p:spTgt spid="13"/>
                                        </p:tgtEl>
                                      </p:cBhvr>
                                    </p:animEffect>
                                  </p:childTnLst>
                                </p:cTn>
                              </p:par>
                            </p:childTnLst>
                          </p:cTn>
                        </p:par>
                        <p:par>
                          <p:cTn id="18"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00"/>
                                        <p:tgtEl>
                                          <p:spTgt spid="16"/>
                                        </p:tgtEl>
                                      </p:cBhvr>
                                    </p:animEffect>
                                  </p:childTnLst>
                                </p:cTn>
                              </p:par>
                            </p:childTnLst>
                          </p:cTn>
                        </p:par>
                        <p:par>
                          <p:cTn id="22"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200"/>
                                        <p:tgtEl>
                                          <p:spTgt spid="19"/>
                                        </p:tgtEl>
                                      </p:cBhvr>
                                    </p:animEffect>
                                  </p:childTnLst>
                                </p:cTn>
                              </p:par>
                            </p:childTnLst>
                          </p:cTn>
                        </p:par>
                        <p:par>
                          <p:cTn id="26"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00"/>
                                        <p:tgtEl>
                                          <p:spTgt spid="22"/>
                                        </p:tgtEl>
                                      </p:cBhvr>
                                    </p:animEffect>
                                  </p:childTnLst>
                                </p:cTn>
                              </p:par>
                            </p:childTnLst>
                          </p:cTn>
                        </p:par>
                      </p:childTnLst>
                    </p:cTn>
                  </p:par>
                  <p:par>
                    <p:cTn id="48"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200"/>
                                        <p:tgtEl>
                                          <p:spTgt spid="25"/>
                                        </p:tgtEl>
                                      </p:cBhvr>
                                    </p:animEffect>
                                  </p:childTnLst>
                                </p:cTn>
                              </p:par>
                            </p:childTnLst>
                          </p:cTn>
                        </p:par>
                        <p:par>
                          <p:cTn id="35" fill="hold">
                            <p:stCondLst>
                              <p:cond delay="200"/>
                            </p:stCondLst>
                            <p:childTnLst>
                              <p:par>
                                <p:cTn id="32" presetID="10" presetClass="entr" presetSubtype="0"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200"/>
                                        <p:tgtEl>
                                          <p:spTgt spid="28"/>
                                        </p:tgtEl>
                                      </p:cBhvr>
                                    </p:animEffect>
                                  </p:childTnLst>
                                </p:cTn>
                              </p:par>
                            </p:childTnLst>
                          </p:cTn>
                        </p:par>
                        <p:par>
                          <p:cTn id="39" fill="hold">
                            <p:stCondLst>
                              <p:cond delay="400"/>
                            </p:stCondLst>
                            <p:childTnLst>
                              <p:par>
                                <p:cTn id="36" presetID="10" presetClass="entr" presetSubtype="0"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200"/>
                                        <p:tgtEl>
                                          <p:spTgt spid="31"/>
                                        </p:tgtEl>
                                      </p:cBhvr>
                                    </p:animEffect>
                                  </p:childTnLst>
                                </p:cTn>
                              </p:par>
                            </p:childTnLst>
                          </p:cTn>
                        </p:par>
                        <p:par>
                          <p:cTn id="43" fill="hold">
                            <p:stCondLst>
                              <p:cond delay="600"/>
                            </p:stCondLst>
                            <p:childTnLst>
                              <p:par>
                                <p:cTn id="40" presetID="10" presetClass="entr" presetSubtype="0"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200"/>
                                        <p:tgtEl>
                                          <p:spTgt spid="34"/>
                                        </p:tgtEl>
                                      </p:cBhvr>
                                    </p:animEffect>
                                  </p:childTnLst>
                                </p:cTn>
                              </p:par>
                            </p:childTnLst>
                          </p:cTn>
                        </p:par>
                        <p:par>
                          <p:cTn id="47" fill="hold">
                            <p:stCondLst>
                              <p:cond delay="800"/>
                            </p:stCondLst>
                            <p:childTnLst>
                              <p:par>
                                <p:cTn id="44" presetID="10" presetClass="entr" presetSubtype="0" fill="hold" grpId="0"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2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Código 0"/>
          <p:cNvGrpSpPr/>
          <p:nvPr/>
        </p:nvGrpSpPr>
        <p:grpSpPr>
          <a:xfrm>
            <a:off x="548640" y="1170432"/>
            <a:ext cx="5532120" cy="603504"/>
            <a:chOff x="548640" y="1170432"/>
            <a:chExt cx="5532120" cy="603504"/>
          </a:xfrm>
        </p:grpSpPr>
        <p:sp>
          <p:nvSpPr>
            <p:cNvPr id="7" name="Recuadro Glucosa"/>
            <p:cNvSpPr/>
            <p:nvPr/>
          </p:nvSpPr>
          <p:spPr>
            <a:xfrm>
              <a:off x="548640" y="1188720"/>
              <a:ext cx="23774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GLUCOSA</a:t>
              </a:r>
              <a:endParaRPr lang="es-AR" sz="1600" dirty="0">
                <a:latin typeface="Fira Sans Condensed"/>
              </a:endParaRPr>
            </a:p>
          </p:txBody>
        </p:sp>
        <p:sp>
          <p:nvSpPr>
            <p:cNvPr id="8" name="Forma 7"/>
            <p:cNvSpPr txBox="1"/>
            <p:nvPr/>
          </p:nvSpPr>
          <p:spPr>
            <a:xfrm>
              <a:off x="3154680" y="1170432"/>
              <a:ext cx="2926080" cy="603504"/>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Metabolito / molécula clave (recuadro amarillo, borde negro, texto rojo)</a:t>
              </a:r>
              <a:endParaRPr lang="es-AR" sz="1350" dirty="0">
                <a:latin typeface="Fira Sans Condensed"/>
              </a:endParaRPr>
            </a:p>
          </p:txBody>
        </p:sp>
      </p:grpSp>
      <p:grpSp>
        <p:nvGrpSpPr>
          <p:cNvPr id="9" name="Código 1"/>
          <p:cNvGrpSpPr/>
          <p:nvPr/>
        </p:nvGrpSpPr>
        <p:grpSpPr>
          <a:xfrm>
            <a:off x="548640" y="1993392"/>
            <a:ext cx="5532120" cy="603504"/>
            <a:chOff x="548640" y="1993392"/>
            <a:chExt cx="5532120" cy="603504"/>
          </a:xfrm>
        </p:grpSpPr>
        <p:sp>
          <p:nvSpPr>
            <p:cNvPr id="10" name="Recuadro Hormona / señal"/>
            <p:cNvSpPr/>
            <p:nvPr/>
          </p:nvSpPr>
          <p:spPr>
            <a:xfrm>
              <a:off x="548640" y="2011680"/>
              <a:ext cx="2377440" cy="56692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Hormona / señal</a:t>
              </a:r>
              <a:endParaRPr lang="es-AR" sz="1600" dirty="0">
                <a:latin typeface="Fira Sans Condensed"/>
              </a:endParaRPr>
            </a:p>
          </p:txBody>
        </p:sp>
        <p:sp>
          <p:nvSpPr>
            <p:cNvPr id="11" name="Forma 10"/>
            <p:cNvSpPr txBox="1"/>
            <p:nvPr/>
          </p:nvSpPr>
          <p:spPr>
            <a:xfrm>
              <a:off x="3154680" y="1993392"/>
              <a:ext cx="2926080" cy="603504"/>
            </a:xfrm>
            <a:prstGeom prst="rect">
              <a:avLst/>
            </a:prstGeom>
            <a:noFill/>
            <a:ln>
              <a:noFill/>
            </a:ln>
          </p:spPr>
          <p:txBody>
            <a:bodyPr wrap="square" lIns="0" tIns="0" rIns="0" bIns="0"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Hormona, citocina o mediador</a:t>
              </a:r>
              <a:endParaRPr lang="es-AR" sz="1400" dirty="0">
                <a:latin typeface="Fira Sans Condensed"/>
              </a:endParaRPr>
            </a:p>
          </p:txBody>
        </p:sp>
      </p:grpSp>
      <p:grpSp>
        <p:nvGrpSpPr>
          <p:cNvPr id="12" name="Código 2"/>
          <p:cNvGrpSpPr/>
          <p:nvPr/>
        </p:nvGrpSpPr>
        <p:grpSpPr>
          <a:xfrm>
            <a:off x="548640" y="2816352"/>
            <a:ext cx="5532120" cy="603504"/>
            <a:chOff x="548640" y="2816352"/>
            <a:chExt cx="5532120" cy="603504"/>
          </a:xfrm>
        </p:grpSpPr>
        <p:sp>
          <p:nvSpPr>
            <p:cNvPr id="13" name="Recuadro Receptor / transportad"/>
            <p:cNvSpPr/>
            <p:nvPr/>
          </p:nvSpPr>
          <p:spPr>
            <a:xfrm>
              <a:off x="548640" y="2834640"/>
              <a:ext cx="2377440" cy="56692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Receptor / transportador</a:t>
              </a:r>
              <a:endParaRPr lang="es-AR" sz="1500" dirty="0">
                <a:latin typeface="Fira Sans Condensed"/>
              </a:endParaRPr>
            </a:p>
          </p:txBody>
        </p:sp>
        <p:sp>
          <p:nvSpPr>
            <p:cNvPr id="14" name="Forma 13"/>
            <p:cNvSpPr txBox="1"/>
            <p:nvPr/>
          </p:nvSpPr>
          <p:spPr>
            <a:xfrm>
              <a:off x="3154680" y="2816352"/>
              <a:ext cx="2926080" cy="603504"/>
            </a:xfrm>
            <a:prstGeom prst="rect">
              <a:avLst/>
            </a:prstGeom>
            <a:noFill/>
            <a:ln>
              <a:noFill/>
            </a:ln>
          </p:spPr>
          <p:txBody>
            <a:bodyPr wrap="square" lIns="0" tIns="0" rIns="0" bIns="0"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Receptor, canal o transportador</a:t>
              </a:r>
              <a:endParaRPr lang="es-AR" sz="1400" dirty="0">
                <a:latin typeface="Fira Sans Condensed"/>
              </a:endParaRPr>
            </a:p>
          </p:txBody>
        </p:sp>
      </p:grpSp>
      <p:grpSp>
        <p:nvGrpSpPr>
          <p:cNvPr id="15" name="Código 3"/>
          <p:cNvGrpSpPr/>
          <p:nvPr/>
        </p:nvGrpSpPr>
        <p:grpSpPr>
          <a:xfrm>
            <a:off x="777240" y="3657600"/>
            <a:ext cx="5303520" cy="603504"/>
            <a:chOff x="777240" y="3657600"/>
            <a:chExt cx="5303520" cy="603504"/>
          </a:xfrm>
        </p:grpSpPr>
        <p:sp>
          <p:nvSpPr>
            <p:cNvPr id="16" name="Rótulo ENZIMA · proceso"/>
            <p:cNvSpPr/>
            <p:nvPr/>
          </p:nvSpPr>
          <p:spPr>
            <a:xfrm>
              <a:off x="777240" y="3767328"/>
              <a:ext cx="1465270" cy="25590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ENZIMA · proceso</a:t>
              </a:r>
              <a:endParaRPr lang="es-AR" sz="1300" dirty="0">
                <a:latin typeface="Fira Sans Condensed"/>
              </a:endParaRPr>
            </a:p>
          </p:txBody>
        </p:sp>
        <p:sp>
          <p:nvSpPr>
            <p:cNvPr id="17" name="Forma 16"/>
            <p:cNvSpPr txBox="1"/>
            <p:nvPr/>
          </p:nvSpPr>
          <p:spPr>
            <a:xfrm>
              <a:off x="3154680" y="3657600"/>
              <a:ext cx="2926080" cy="603504"/>
            </a:xfrm>
            <a:prstGeom prst="rect">
              <a:avLst/>
            </a:prstGeom>
            <a:noFill/>
            <a:ln>
              <a:noFill/>
            </a:ln>
          </p:spPr>
          <p:txBody>
            <a:bodyPr wrap="square" lIns="0" tIns="0" rIns="0" bIns="0"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Enzima o proceso escrito sobre la flecha</a:t>
              </a:r>
              <a:endParaRPr lang="es-AR" sz="1400" dirty="0">
                <a:latin typeface="Fira Sans Condensed"/>
              </a:endParaRPr>
            </a:p>
          </p:txBody>
        </p:sp>
      </p:grpSp>
      <p:grpSp>
        <p:nvGrpSpPr>
          <p:cNvPr id="18" name="Código 4"/>
          <p:cNvGrpSpPr/>
          <p:nvPr/>
        </p:nvGrpSpPr>
        <p:grpSpPr>
          <a:xfrm>
            <a:off x="548640" y="4416552"/>
            <a:ext cx="5532120" cy="603504"/>
            <a:chOff x="548640" y="4416552"/>
            <a:chExt cx="5532120" cy="603504"/>
          </a:xfrm>
        </p:grpSpPr>
        <p:sp>
          <p:nvSpPr>
            <p:cNvPr id="19" name="Recuadro Consecuencia clínica"/>
            <p:cNvSpPr/>
            <p:nvPr/>
          </p:nvSpPr>
          <p:spPr>
            <a:xfrm>
              <a:off x="548640" y="4434840"/>
              <a:ext cx="2377440" cy="566928"/>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Consecuencia clínica</a:t>
              </a:r>
              <a:endParaRPr lang="es-AR" sz="1500" dirty="0">
                <a:latin typeface="Fira Sans Condensed"/>
              </a:endParaRPr>
            </a:p>
          </p:txBody>
        </p:sp>
        <p:sp>
          <p:nvSpPr>
            <p:cNvPr id="20" name="Forma 19"/>
            <p:cNvSpPr txBox="1"/>
            <p:nvPr/>
          </p:nvSpPr>
          <p:spPr>
            <a:xfrm>
              <a:off x="3154680" y="4416552"/>
              <a:ext cx="2926080" cy="603504"/>
            </a:xfrm>
            <a:prstGeom prst="rect">
              <a:avLst/>
            </a:prstGeom>
            <a:noFill/>
            <a:ln>
              <a:noFill/>
            </a:ln>
          </p:spPr>
          <p:txBody>
            <a:bodyPr wrap="square" lIns="0" tIns="0" rIns="0" bIns="0"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Consecuencia clínica o alerta</a:t>
              </a:r>
              <a:endParaRPr lang="es-AR" sz="1400" dirty="0">
                <a:latin typeface="Fira Sans Condensed"/>
              </a:endParaRPr>
            </a:p>
          </p:txBody>
        </p:sp>
      </p:grpSp>
      <p:grpSp>
        <p:nvGrpSpPr>
          <p:cNvPr id="21" name="Código flechas"/>
          <p:cNvGrpSpPr/>
          <p:nvPr/>
        </p:nvGrpSpPr>
        <p:grpSpPr>
          <a:xfrm>
            <a:off x="6583680" y="1280160"/>
            <a:ext cx="5303520" cy="2286000"/>
            <a:chOff x="6583680" y="1280160"/>
            <a:chExt cx="5303520" cy="2286000"/>
          </a:xfrm>
        </p:grpSpPr>
        <p:sp>
          <p:nvSpPr>
            <p:cNvPr id="22" name="Flecha 21_2"/>
            <p:cNvSpPr/>
            <p:nvPr/>
          </p:nvSpPr>
          <p:spPr>
            <a:xfrm>
              <a:off x="6583680" y="1463040"/>
              <a:ext cx="1463040" cy="9144"/>
            </a:xfrm>
            <a:custGeom>
              <a:avLst/>
              <a:gdLst/>
              <a:ahLst/>
              <a:cxnLst/>
              <a:rect l="0" t="0" r="r" b="b"/>
              <a:pathLst>
                <a:path w="1600" h="10" fill="none">
                  <a:moveTo>
                    <a:pt x="0" y="0"/>
                  </a:moveTo>
                  <a:lnTo>
                    <a:pt x="1600" y="0"/>
                  </a:lnTo>
                </a:path>
              </a:pathLst>
            </a:custGeom>
            <a:noFill/>
            <a:ln w="31750" cap="rnd">
              <a:solidFill>
                <a:srgbClr val="1E1E1E"/>
              </a:solidFill>
              <a:round/>
              <a:tailEnd type="triangle" w="med" len="med"/>
            </a:ln>
          </p:spPr>
        </p:sp>
        <p:sp>
          <p:nvSpPr>
            <p:cNvPr id="23" name="Forma 23"/>
            <p:cNvSpPr txBox="1"/>
            <p:nvPr/>
          </p:nvSpPr>
          <p:spPr>
            <a:xfrm>
              <a:off x="8229600" y="1280160"/>
              <a:ext cx="3657600" cy="365760"/>
            </a:xfrm>
            <a:prstGeom prst="rect">
              <a:avLst/>
            </a:prstGeom>
            <a:noFill/>
            <a:ln>
              <a:noFill/>
            </a:ln>
          </p:spPr>
          <p:txBody>
            <a:bodyPr wrap="square" lIns="0" tIns="0" rIns="0" bIns="0"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Conversión, flujo o estímulo</a:t>
              </a:r>
              <a:endParaRPr lang="es-AR" sz="1400" dirty="0">
                <a:latin typeface="Fira Sans Condensed"/>
              </a:endParaRPr>
            </a:p>
          </p:txBody>
        </p:sp>
        <p:sp>
          <p:nvSpPr>
            <p:cNvPr id="24" name="Flecha 24_2"/>
            <p:cNvSpPr/>
            <p:nvPr/>
          </p:nvSpPr>
          <p:spPr>
            <a:xfrm>
              <a:off x="6583680" y="2103120"/>
              <a:ext cx="1463040" cy="9144"/>
            </a:xfrm>
            <a:custGeom>
              <a:avLst/>
              <a:gdLst/>
              <a:ahLst/>
              <a:cxnLst/>
              <a:rect l="0" t="0" r="r" b="b"/>
              <a:pathLst>
                <a:path w="1600" h="10" fill="none">
                  <a:moveTo>
                    <a:pt x="0" y="0"/>
                  </a:moveTo>
                  <a:lnTo>
                    <a:pt x="1600" y="0"/>
                  </a:lnTo>
                </a:path>
              </a:pathLst>
            </a:custGeom>
            <a:noFill/>
            <a:ln w="38100" cap="rnd">
              <a:solidFill>
                <a:srgbClr val="1E8C3A"/>
              </a:solidFill>
              <a:round/>
              <a:tailEnd type="triangle" w="med" len="med"/>
            </a:ln>
          </p:spPr>
        </p:sp>
        <p:sp>
          <p:nvSpPr>
            <p:cNvPr id="25" name="Forma 26"/>
            <p:cNvSpPr txBox="1"/>
            <p:nvPr/>
          </p:nvSpPr>
          <p:spPr>
            <a:xfrm>
              <a:off x="8229600" y="1920240"/>
              <a:ext cx="3657600" cy="36576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1E8C3A"/>
                  </a:solidFill>
                  <a:latin typeface="Fira Sans Condensed"/>
                  <a:ea typeface="Fira Sans Condensed"/>
                  <a:cs typeface="Fira Sans Condensed"/>
                  <a:sym typeface="Fira Sans Condensed"/>
                </a:rPr>
                <a:t>Activación</a:t>
              </a:r>
              <a:endParaRPr lang="es-AR" sz="1400" dirty="0">
                <a:latin typeface="Fira Sans Condensed"/>
              </a:endParaRPr>
            </a:p>
          </p:txBody>
        </p:sp>
        <p:grpSp>
          <p:nvGrpSpPr>
            <p:cNvPr id="26" name="Inhibición"/>
            <p:cNvGrpSpPr/>
            <p:nvPr/>
          </p:nvGrpSpPr>
          <p:grpSpPr>
            <a:xfrm>
              <a:off x="6583680" y="2642616"/>
              <a:ext cx="1472184" cy="201168"/>
              <a:chOff x="6583680" y="2642616"/>
              <a:chExt cx="1472184" cy="201168"/>
            </a:xfrm>
          </p:grpSpPr>
          <p:sp>
            <p:nvSpPr>
              <p:cNvPr id="27" name="Flecha 28_2"/>
              <p:cNvSpPr/>
              <p:nvPr/>
            </p:nvSpPr>
            <p:spPr>
              <a:xfrm>
                <a:off x="6583680" y="2743200"/>
                <a:ext cx="1463040" cy="9144"/>
              </a:xfrm>
              <a:custGeom>
                <a:avLst/>
                <a:gdLst/>
                <a:ahLst/>
                <a:cxnLst/>
                <a:rect l="0" t="0" r="r" b="b"/>
                <a:pathLst>
                  <a:path w="1600" h="10" fill="none">
                    <a:moveTo>
                      <a:pt x="0" y="0"/>
                    </a:moveTo>
                    <a:lnTo>
                      <a:pt x="1600" y="0"/>
                    </a:lnTo>
                  </a:path>
                </a:pathLst>
              </a:custGeom>
              <a:noFill/>
              <a:ln w="31750" cap="rnd">
                <a:solidFill>
                  <a:srgbClr val="C00000"/>
                </a:solidFill>
                <a:round/>
              </a:ln>
            </p:spPr>
          </p:sp>
          <p:sp>
            <p:nvSpPr>
              <p:cNvPr id="28" name="Flecha 30_2"/>
              <p:cNvSpPr/>
              <p:nvPr/>
            </p:nvSpPr>
            <p:spPr>
              <a:xfrm>
                <a:off x="8046720" y="2642616"/>
                <a:ext cx="9144" cy="201168"/>
              </a:xfrm>
              <a:custGeom>
                <a:avLst/>
                <a:gdLst/>
                <a:ahLst/>
                <a:cxnLst/>
                <a:rect l="0" t="0" r="r" b="b"/>
                <a:pathLst>
                  <a:path w="10" h="219" fill="none">
                    <a:moveTo>
                      <a:pt x="0" y="0"/>
                    </a:moveTo>
                    <a:lnTo>
                      <a:pt x="0" y="219"/>
                    </a:lnTo>
                  </a:path>
                </a:pathLst>
              </a:custGeom>
              <a:noFill/>
              <a:ln w="50800" cap="rnd">
                <a:solidFill>
                  <a:srgbClr val="C00000"/>
                </a:solidFill>
                <a:round/>
              </a:ln>
            </p:spPr>
          </p:sp>
        </p:grpSp>
        <p:sp>
          <p:nvSpPr>
            <p:cNvPr id="29" name="Forma 32"/>
            <p:cNvSpPr txBox="1"/>
            <p:nvPr/>
          </p:nvSpPr>
          <p:spPr>
            <a:xfrm>
              <a:off x="8229600" y="2560320"/>
              <a:ext cx="3657600" cy="36576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C00000"/>
                  </a:solidFill>
                  <a:latin typeface="Fira Sans Condensed"/>
                  <a:ea typeface="Fira Sans Condensed"/>
                  <a:cs typeface="Fira Sans Condensed"/>
                  <a:sym typeface="Fira Sans Condensed"/>
                </a:rPr>
                <a:t>Inhibición (</a:t>
              </a:r>
              <a:r>
                <a:rPr lang="es-AR" sz="1400" b="1" dirty="0">
                  <a:solidFill>
                    <a:srgbClr val="C00000"/>
                  </a:solidFill>
                  <a:latin typeface="Cambria Math"/>
                  <a:ea typeface="Cambria Math"/>
                  <a:cs typeface="Cambria Math"/>
                  <a:sym typeface="Cambria Math"/>
                </a:rPr>
                <a:t>⊣</a:t>
              </a:r>
              <a:r>
                <a:rPr lang="es-AR" sz="1400" b="1" dirty="0">
                  <a:solidFill>
                    <a:srgbClr val="C00000"/>
                  </a:solidFill>
                  <a:latin typeface="Fira Sans Condensed"/>
                  <a:ea typeface="Fira Sans Condensed"/>
                  <a:cs typeface="Fira Sans Condensed"/>
                  <a:sym typeface="Fira Sans Condensed"/>
                </a:rPr>
                <a:t>)</a:t>
              </a:r>
              <a:endParaRPr lang="es-AR" sz="1400" dirty="0">
                <a:latin typeface="Fira Sans Condensed"/>
              </a:endParaRPr>
            </a:p>
          </p:txBody>
        </p:sp>
        <p:sp>
          <p:nvSpPr>
            <p:cNvPr id="30" name="Flecha 33_2"/>
            <p:cNvSpPr/>
            <p:nvPr/>
          </p:nvSpPr>
          <p:spPr>
            <a:xfrm>
              <a:off x="6583680" y="3383280"/>
              <a:ext cx="1463040" cy="9144"/>
            </a:xfrm>
            <a:custGeom>
              <a:avLst/>
              <a:gdLst/>
              <a:ahLst/>
              <a:cxnLst/>
              <a:rect l="0" t="0" r="r" b="b"/>
              <a:pathLst>
                <a:path w="1600" h="10" fill="none">
                  <a:moveTo>
                    <a:pt x="0" y="0"/>
                  </a:moveTo>
                  <a:lnTo>
                    <a:pt x="1600" y="0"/>
                  </a:lnTo>
                </a:path>
              </a:pathLst>
            </a:custGeom>
            <a:noFill/>
            <a:ln w="38100" cap="rnd">
              <a:solidFill>
                <a:srgbClr val="2563B0"/>
              </a:solidFill>
              <a:prstDash val="dash"/>
              <a:round/>
              <a:tailEnd type="triangle" w="med" len="med"/>
            </a:ln>
          </p:spPr>
        </p:sp>
        <p:sp>
          <p:nvSpPr>
            <p:cNvPr id="31" name="Forma 35"/>
            <p:cNvSpPr txBox="1"/>
            <p:nvPr/>
          </p:nvSpPr>
          <p:spPr>
            <a:xfrm>
              <a:off x="8229600" y="3200400"/>
              <a:ext cx="3657600" cy="36576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2563B0"/>
                  </a:solidFill>
                  <a:latin typeface="Fira Sans Condensed"/>
                  <a:ea typeface="Fira Sans Condensed"/>
                  <a:cs typeface="Fira Sans Condensed"/>
                  <a:sym typeface="Fira Sans Condensed"/>
                </a:rPr>
                <a:t>Transporte entre compartimentos</a:t>
              </a:r>
              <a:endParaRPr lang="es-AR" sz="1400" dirty="0">
                <a:latin typeface="Fira Sans Condensed"/>
              </a:endParaRPr>
            </a:p>
          </p:txBody>
        </p:sp>
      </p:grpSp>
      <p:grpSp>
        <p:nvGrpSpPr>
          <p:cNvPr id="32" name="Código moléculas"/>
          <p:cNvGrpSpPr/>
          <p:nvPr/>
        </p:nvGrpSpPr>
        <p:grpSpPr>
          <a:xfrm>
            <a:off x="6217920" y="4068137"/>
            <a:ext cx="5669280" cy="2241223"/>
            <a:chOff x="6217920" y="4068137"/>
            <a:chExt cx="5669280" cy="2241223"/>
          </a:xfrm>
        </p:grpSpPr>
        <p:grpSp>
          <p:nvGrpSpPr>
            <p:cNvPr id="33" name="Modelo 3D glucosa"/>
            <p:cNvGrpSpPr/>
            <p:nvPr/>
          </p:nvGrpSpPr>
          <p:grpSpPr>
            <a:xfrm>
              <a:off x="6217920" y="4068137"/>
              <a:ext cx="1965960" cy="1409767"/>
              <a:chOff x="6217920" y="4068137"/>
              <a:chExt cx="1965960" cy="1409767"/>
            </a:xfrm>
          </p:grpSpPr>
          <p:sp>
            <p:nvSpPr>
              <p:cNvPr id="34" name="Átomo H"/>
              <p:cNvSpPr/>
              <p:nvPr/>
            </p:nvSpPr>
            <p:spPr>
              <a:xfrm>
                <a:off x="7394833" y="4560534"/>
                <a:ext cx="82483" cy="8248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5" name="Átomo H_2"/>
              <p:cNvSpPr/>
              <p:nvPr/>
            </p:nvSpPr>
            <p:spPr>
              <a:xfrm>
                <a:off x="7521840" y="4182964"/>
                <a:ext cx="82964" cy="8296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6" name="Flecha 40_2"/>
              <p:cNvSpPr/>
              <p:nvPr/>
            </p:nvSpPr>
            <p:spPr>
              <a:xfrm>
                <a:off x="7563322" y="4224446"/>
                <a:ext cx="118623" cy="65874"/>
              </a:xfrm>
              <a:custGeom>
                <a:avLst/>
                <a:gdLst/>
                <a:ahLst/>
                <a:cxnLst/>
                <a:rect l="0" t="0" r="r" b="b"/>
                <a:pathLst>
                  <a:path w="129" h="72" fill="none">
                    <a:moveTo>
                      <a:pt x="129" y="72"/>
                    </a:moveTo>
                    <a:lnTo>
                      <a:pt x="0" y="0"/>
                    </a:lnTo>
                  </a:path>
                </a:pathLst>
              </a:custGeom>
              <a:noFill/>
              <a:ln w="21060" cap="rnd">
                <a:solidFill>
                  <a:srgbClr val="9A9A9A"/>
                </a:solidFill>
                <a:round/>
              </a:ln>
            </p:spPr>
          </p:sp>
          <p:sp>
            <p:nvSpPr>
              <p:cNvPr id="37" name="Flecha 42_2"/>
              <p:cNvSpPr/>
              <p:nvPr/>
            </p:nvSpPr>
            <p:spPr>
              <a:xfrm>
                <a:off x="7436075" y="4601776"/>
                <a:ext cx="40203" cy="34349"/>
              </a:xfrm>
              <a:custGeom>
                <a:avLst/>
                <a:gdLst/>
                <a:ahLst/>
                <a:cxnLst/>
                <a:rect l="0" t="0" r="r" b="b"/>
                <a:pathLst>
                  <a:path w="43" h="37" fill="none">
                    <a:moveTo>
                      <a:pt x="43" y="37"/>
                    </a:moveTo>
                    <a:lnTo>
                      <a:pt x="0" y="0"/>
                    </a:lnTo>
                  </a:path>
                </a:pathLst>
              </a:custGeom>
              <a:noFill/>
              <a:ln w="21060" cap="rnd">
                <a:solidFill>
                  <a:srgbClr val="9A9A9A"/>
                </a:solidFill>
                <a:round/>
              </a:ln>
            </p:spPr>
          </p:sp>
          <p:sp>
            <p:nvSpPr>
              <p:cNvPr id="38" name="Átomo H_3"/>
              <p:cNvSpPr/>
              <p:nvPr/>
            </p:nvSpPr>
            <p:spPr>
              <a:xfrm>
                <a:off x="7732821" y="4705944"/>
                <a:ext cx="83898" cy="8389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9" name="Átomo H_4"/>
              <p:cNvSpPr/>
              <p:nvPr/>
            </p:nvSpPr>
            <p:spPr>
              <a:xfrm>
                <a:off x="6957508" y="4500006"/>
                <a:ext cx="84271" cy="842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0" name="Átomo O"/>
              <p:cNvSpPr/>
              <p:nvPr/>
            </p:nvSpPr>
            <p:spPr>
              <a:xfrm>
                <a:off x="7615695" y="4224070"/>
                <a:ext cx="132500" cy="13250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1" name="Flecha 47_2"/>
              <p:cNvSpPr/>
              <p:nvPr/>
            </p:nvSpPr>
            <p:spPr>
              <a:xfrm>
                <a:off x="7642866" y="4747893"/>
                <a:ext cx="131905" cy="64631"/>
              </a:xfrm>
              <a:custGeom>
                <a:avLst/>
                <a:gdLst/>
                <a:ahLst/>
                <a:cxnLst/>
                <a:rect l="0" t="0" r="r" b="b"/>
                <a:pathLst>
                  <a:path w="144" h="70" fill="none">
                    <a:moveTo>
                      <a:pt x="0" y="70"/>
                    </a:moveTo>
                    <a:lnTo>
                      <a:pt x="144" y="0"/>
                    </a:lnTo>
                  </a:path>
                </a:pathLst>
              </a:custGeom>
              <a:noFill/>
              <a:ln w="21060" cap="rnd">
                <a:solidFill>
                  <a:srgbClr val="9A9A9A"/>
                </a:solidFill>
                <a:round/>
              </a:ln>
            </p:spPr>
          </p:sp>
          <p:sp>
            <p:nvSpPr>
              <p:cNvPr id="42" name="Átomo H_5"/>
              <p:cNvSpPr/>
              <p:nvPr/>
            </p:nvSpPr>
            <p:spPr>
              <a:xfrm>
                <a:off x="7280081" y="4971457"/>
                <a:ext cx="84948" cy="8494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3" name="Átomo O_2"/>
              <p:cNvSpPr/>
              <p:nvPr/>
            </p:nvSpPr>
            <p:spPr>
              <a:xfrm>
                <a:off x="7576105" y="4745763"/>
                <a:ext cx="133522" cy="13352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4" name="Flecha 51_2"/>
              <p:cNvSpPr/>
              <p:nvPr/>
            </p:nvSpPr>
            <p:spPr>
              <a:xfrm>
                <a:off x="7476278" y="4636125"/>
                <a:ext cx="166587" cy="176399"/>
              </a:xfrm>
              <a:custGeom>
                <a:avLst/>
                <a:gdLst/>
                <a:ahLst/>
                <a:cxnLst/>
                <a:rect l="0" t="0" r="r" b="b"/>
                <a:pathLst>
                  <a:path w="182" h="192" fill="none">
                    <a:moveTo>
                      <a:pt x="0" y="0"/>
                    </a:moveTo>
                    <a:lnTo>
                      <a:pt x="182" y="192"/>
                    </a:lnTo>
                  </a:path>
                </a:pathLst>
              </a:custGeom>
              <a:noFill/>
              <a:ln w="21060" cap="rnd">
                <a:solidFill>
                  <a:srgbClr val="9A9A9A"/>
                </a:solidFill>
                <a:round/>
              </a:ln>
            </p:spPr>
          </p:sp>
          <p:sp>
            <p:nvSpPr>
              <p:cNvPr id="45" name="Átomo C"/>
              <p:cNvSpPr/>
              <p:nvPr/>
            </p:nvSpPr>
            <p:spPr>
              <a:xfrm>
                <a:off x="7405407" y="4565253"/>
                <a:ext cx="141743" cy="1417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6" name="Flecha 54_2"/>
              <p:cNvSpPr/>
              <p:nvPr/>
            </p:nvSpPr>
            <p:spPr>
              <a:xfrm>
                <a:off x="7186945" y="4923371"/>
                <a:ext cx="135610" cy="90559"/>
              </a:xfrm>
              <a:custGeom>
                <a:avLst/>
                <a:gdLst/>
                <a:ahLst/>
                <a:cxnLst/>
                <a:rect l="0" t="0" r="r" b="b"/>
                <a:pathLst>
                  <a:path w="148" h="99" fill="none">
                    <a:moveTo>
                      <a:pt x="0" y="0"/>
                    </a:moveTo>
                    <a:lnTo>
                      <a:pt x="148" y="99"/>
                    </a:lnTo>
                  </a:path>
                </a:pathLst>
              </a:custGeom>
              <a:noFill/>
              <a:ln w="21060" cap="rnd">
                <a:solidFill>
                  <a:srgbClr val="9A9A9A"/>
                </a:solidFill>
                <a:round/>
              </a:ln>
            </p:spPr>
          </p:sp>
          <p:sp>
            <p:nvSpPr>
              <p:cNvPr id="47" name="Átomo O_3"/>
              <p:cNvSpPr/>
              <p:nvPr/>
            </p:nvSpPr>
            <p:spPr>
              <a:xfrm>
                <a:off x="7119909" y="4856335"/>
                <a:ext cx="134072" cy="13407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8" name="Flecha 57_2"/>
              <p:cNvSpPr/>
              <p:nvPr/>
            </p:nvSpPr>
            <p:spPr>
              <a:xfrm>
                <a:off x="6999644" y="4534070"/>
                <a:ext cx="84760" cy="9144"/>
              </a:xfrm>
              <a:custGeom>
                <a:avLst/>
                <a:gdLst/>
                <a:ahLst/>
                <a:cxnLst/>
                <a:rect l="0" t="0" r="r" b="b"/>
                <a:pathLst>
                  <a:path w="92" h="10" fill="none">
                    <a:moveTo>
                      <a:pt x="92" y="0"/>
                    </a:moveTo>
                    <a:lnTo>
                      <a:pt x="0" y="8"/>
                    </a:lnTo>
                  </a:path>
                </a:pathLst>
              </a:custGeom>
              <a:noFill/>
              <a:ln w="21060" cap="rnd">
                <a:solidFill>
                  <a:srgbClr val="9A9A9A"/>
                </a:solidFill>
                <a:round/>
              </a:ln>
            </p:spPr>
          </p:sp>
          <p:sp>
            <p:nvSpPr>
              <p:cNvPr id="49" name="Flecha 59_2"/>
              <p:cNvSpPr/>
              <p:nvPr/>
            </p:nvSpPr>
            <p:spPr>
              <a:xfrm>
                <a:off x="7572203" y="4290320"/>
                <a:ext cx="109741" cy="135612"/>
              </a:xfrm>
              <a:custGeom>
                <a:avLst/>
                <a:gdLst/>
                <a:ahLst/>
                <a:cxnLst/>
                <a:rect l="0" t="0" r="r" b="b"/>
                <a:pathLst>
                  <a:path w="120" h="148" fill="none">
                    <a:moveTo>
                      <a:pt x="0" y="148"/>
                    </a:moveTo>
                    <a:lnTo>
                      <a:pt x="120" y="0"/>
                    </a:lnTo>
                  </a:path>
                </a:pathLst>
              </a:custGeom>
              <a:noFill/>
              <a:ln w="21060" cap="rnd">
                <a:solidFill>
                  <a:srgbClr val="9A9A9A"/>
                </a:solidFill>
                <a:round/>
              </a:ln>
            </p:spPr>
          </p:sp>
          <p:sp>
            <p:nvSpPr>
              <p:cNvPr id="50" name="Flecha 61_2"/>
              <p:cNvSpPr/>
              <p:nvPr/>
            </p:nvSpPr>
            <p:spPr>
              <a:xfrm>
                <a:off x="7476278" y="4425932"/>
                <a:ext cx="95925" cy="210193"/>
              </a:xfrm>
              <a:custGeom>
                <a:avLst/>
                <a:gdLst/>
                <a:ahLst/>
                <a:cxnLst/>
                <a:rect l="0" t="0" r="r" b="b"/>
                <a:pathLst>
                  <a:path w="104" h="229" fill="none">
                    <a:moveTo>
                      <a:pt x="104" y="0"/>
                    </a:moveTo>
                    <a:lnTo>
                      <a:pt x="0" y="229"/>
                    </a:lnTo>
                  </a:path>
                </a:pathLst>
              </a:custGeom>
              <a:noFill/>
              <a:ln w="21060" cap="rnd">
                <a:solidFill>
                  <a:srgbClr val="9A9A9A"/>
                </a:solidFill>
                <a:round/>
              </a:ln>
            </p:spPr>
          </p:sp>
          <p:sp>
            <p:nvSpPr>
              <p:cNvPr id="51" name="Flecha 63_2"/>
              <p:cNvSpPr/>
              <p:nvPr/>
            </p:nvSpPr>
            <p:spPr>
              <a:xfrm>
                <a:off x="7265562" y="4636125"/>
                <a:ext cx="210717" cy="83871"/>
              </a:xfrm>
              <a:custGeom>
                <a:avLst/>
                <a:gdLst/>
                <a:ahLst/>
                <a:cxnLst/>
                <a:rect l="0" t="0" r="r" b="b"/>
                <a:pathLst>
                  <a:path w="230" h="91" fill="none">
                    <a:moveTo>
                      <a:pt x="230" y="0"/>
                    </a:moveTo>
                    <a:lnTo>
                      <a:pt x="0" y="91"/>
                    </a:lnTo>
                  </a:path>
                </a:pathLst>
              </a:custGeom>
              <a:noFill/>
              <a:ln w="21060" cap="rnd">
                <a:solidFill>
                  <a:srgbClr val="9A9A9A"/>
                </a:solidFill>
                <a:round/>
              </a:ln>
            </p:spPr>
          </p:sp>
          <p:sp>
            <p:nvSpPr>
              <p:cNvPr id="52" name="Flecha 65_2"/>
              <p:cNvSpPr/>
              <p:nvPr/>
            </p:nvSpPr>
            <p:spPr>
              <a:xfrm>
                <a:off x="7186945" y="4719995"/>
                <a:ext cx="78617" cy="203376"/>
              </a:xfrm>
              <a:custGeom>
                <a:avLst/>
                <a:gdLst/>
                <a:ahLst/>
                <a:cxnLst/>
                <a:rect l="0" t="0" r="r" b="b"/>
                <a:pathLst>
                  <a:path w="85" h="222" fill="none">
                    <a:moveTo>
                      <a:pt x="85" y="0"/>
                    </a:moveTo>
                    <a:lnTo>
                      <a:pt x="0" y="222"/>
                    </a:lnTo>
                  </a:path>
                </a:pathLst>
              </a:custGeom>
              <a:noFill/>
              <a:ln w="21060" cap="rnd">
                <a:solidFill>
                  <a:srgbClr val="9A9A9A"/>
                </a:solidFill>
                <a:round/>
              </a:ln>
            </p:spPr>
          </p:sp>
          <p:sp>
            <p:nvSpPr>
              <p:cNvPr id="53" name="Átomo C_2"/>
              <p:cNvSpPr/>
              <p:nvPr/>
            </p:nvSpPr>
            <p:spPr>
              <a:xfrm>
                <a:off x="7012196" y="4461862"/>
                <a:ext cx="144415" cy="14441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4" name="Flecha 68_2"/>
              <p:cNvSpPr/>
              <p:nvPr/>
            </p:nvSpPr>
            <p:spPr>
              <a:xfrm>
                <a:off x="7084404" y="4534070"/>
                <a:ext cx="181158" cy="185925"/>
              </a:xfrm>
              <a:custGeom>
                <a:avLst/>
                <a:gdLst/>
                <a:ahLst/>
                <a:cxnLst/>
                <a:rect l="0" t="0" r="r" b="b"/>
                <a:pathLst>
                  <a:path w="198" h="203" fill="none">
                    <a:moveTo>
                      <a:pt x="198" y="203"/>
                    </a:moveTo>
                    <a:lnTo>
                      <a:pt x="0" y="0"/>
                    </a:lnTo>
                  </a:path>
                </a:pathLst>
              </a:custGeom>
              <a:noFill/>
              <a:ln w="21060" cap="rnd">
                <a:solidFill>
                  <a:srgbClr val="9A9A9A"/>
                </a:solidFill>
                <a:round/>
              </a:ln>
            </p:spPr>
          </p:sp>
          <p:sp>
            <p:nvSpPr>
              <p:cNvPr id="55" name="Flecha 70_2"/>
              <p:cNvSpPr/>
              <p:nvPr/>
            </p:nvSpPr>
            <p:spPr>
              <a:xfrm>
                <a:off x="7084404" y="4308539"/>
                <a:ext cx="92760" cy="225531"/>
              </a:xfrm>
              <a:custGeom>
                <a:avLst/>
                <a:gdLst/>
                <a:ahLst/>
                <a:cxnLst/>
                <a:rect l="0" t="0" r="r" b="b"/>
                <a:pathLst>
                  <a:path w="101" h="246" fill="none">
                    <a:moveTo>
                      <a:pt x="0" y="246"/>
                    </a:moveTo>
                    <a:lnTo>
                      <a:pt x="101" y="0"/>
                    </a:lnTo>
                  </a:path>
                </a:pathLst>
              </a:custGeom>
              <a:noFill/>
              <a:ln w="21060" cap="rnd">
                <a:solidFill>
                  <a:srgbClr val="9A9A9A"/>
                </a:solidFill>
                <a:round/>
              </a:ln>
            </p:spPr>
          </p:sp>
          <p:sp>
            <p:nvSpPr>
              <p:cNvPr id="56" name="Átomo C_3"/>
              <p:cNvSpPr/>
              <p:nvPr/>
            </p:nvSpPr>
            <p:spPr>
              <a:xfrm>
                <a:off x="7499918" y="4353647"/>
                <a:ext cx="144571" cy="1445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7" name="Átomo C_4"/>
              <p:cNvSpPr/>
              <p:nvPr/>
            </p:nvSpPr>
            <p:spPr>
              <a:xfrm>
                <a:off x="7193220" y="4647654"/>
                <a:ext cx="144682" cy="14468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8" name="Átomo O_4"/>
              <p:cNvSpPr/>
              <p:nvPr/>
            </p:nvSpPr>
            <p:spPr>
              <a:xfrm>
                <a:off x="7108941" y="4240317"/>
                <a:ext cx="136444" cy="13644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9" name="Flecha 75_2"/>
              <p:cNvSpPr/>
              <p:nvPr/>
            </p:nvSpPr>
            <p:spPr>
              <a:xfrm>
                <a:off x="7572203" y="4425932"/>
                <a:ext cx="131515" cy="49329"/>
              </a:xfrm>
              <a:custGeom>
                <a:avLst/>
                <a:gdLst/>
                <a:ahLst/>
                <a:cxnLst/>
                <a:rect l="0" t="0" r="r" b="b"/>
                <a:pathLst>
                  <a:path w="143" h="53" fill="none">
                    <a:moveTo>
                      <a:pt x="0" y="0"/>
                    </a:moveTo>
                    <a:lnTo>
                      <a:pt x="143" y="53"/>
                    </a:lnTo>
                  </a:path>
                </a:pathLst>
              </a:custGeom>
              <a:noFill/>
              <a:ln w="21060" cap="rnd">
                <a:solidFill>
                  <a:srgbClr val="9A9A9A"/>
                </a:solidFill>
                <a:round/>
              </a:ln>
            </p:spPr>
          </p:sp>
          <p:sp>
            <p:nvSpPr>
              <p:cNvPr id="60" name="Flecha 77_2"/>
              <p:cNvSpPr/>
              <p:nvPr/>
            </p:nvSpPr>
            <p:spPr>
              <a:xfrm>
                <a:off x="7385917" y="4292266"/>
                <a:ext cx="186287" cy="133666"/>
              </a:xfrm>
              <a:custGeom>
                <a:avLst/>
                <a:gdLst/>
                <a:ahLst/>
                <a:cxnLst/>
                <a:rect l="0" t="0" r="r" b="b"/>
                <a:pathLst>
                  <a:path w="203" h="146" fill="none">
                    <a:moveTo>
                      <a:pt x="0" y="0"/>
                    </a:moveTo>
                    <a:lnTo>
                      <a:pt x="203" y="146"/>
                    </a:lnTo>
                  </a:path>
                </a:pathLst>
              </a:custGeom>
              <a:noFill/>
              <a:ln w="21060" cap="rnd">
                <a:solidFill>
                  <a:srgbClr val="9A9A9A"/>
                </a:solidFill>
                <a:round/>
              </a:ln>
            </p:spPr>
          </p:sp>
          <p:sp>
            <p:nvSpPr>
              <p:cNvPr id="61" name="Flecha 79_2"/>
              <p:cNvSpPr/>
              <p:nvPr/>
            </p:nvSpPr>
            <p:spPr>
              <a:xfrm>
                <a:off x="7177163" y="4292266"/>
                <a:ext cx="208753" cy="16273"/>
              </a:xfrm>
              <a:custGeom>
                <a:avLst/>
                <a:gdLst/>
                <a:ahLst/>
                <a:cxnLst/>
                <a:rect l="0" t="0" r="r" b="b"/>
                <a:pathLst>
                  <a:path w="228" h="17" fill="none">
                    <a:moveTo>
                      <a:pt x="0" y="17"/>
                    </a:moveTo>
                    <a:lnTo>
                      <a:pt x="228" y="0"/>
                    </a:lnTo>
                  </a:path>
                </a:pathLst>
              </a:custGeom>
              <a:noFill/>
              <a:ln w="21060" cap="rnd">
                <a:solidFill>
                  <a:srgbClr val="9A9A9A"/>
                </a:solidFill>
                <a:round/>
              </a:ln>
            </p:spPr>
          </p:sp>
          <p:sp>
            <p:nvSpPr>
              <p:cNvPr id="62" name="Flecha 81_2"/>
              <p:cNvSpPr/>
              <p:nvPr/>
            </p:nvSpPr>
            <p:spPr>
              <a:xfrm>
                <a:off x="6902578" y="4534070"/>
                <a:ext cx="181826" cy="34275"/>
              </a:xfrm>
              <a:custGeom>
                <a:avLst/>
                <a:gdLst/>
                <a:ahLst/>
                <a:cxnLst/>
                <a:rect l="0" t="0" r="r" b="b"/>
                <a:pathLst>
                  <a:path w="198" h="37" fill="none">
                    <a:moveTo>
                      <a:pt x="0" y="37"/>
                    </a:moveTo>
                    <a:lnTo>
                      <a:pt x="198" y="0"/>
                    </a:lnTo>
                  </a:path>
                </a:pathLst>
              </a:custGeom>
              <a:noFill/>
              <a:ln w="21060" cap="rnd">
                <a:solidFill>
                  <a:srgbClr val="9A9A9A"/>
                </a:solidFill>
                <a:round/>
              </a:ln>
            </p:spPr>
          </p:sp>
          <p:sp>
            <p:nvSpPr>
              <p:cNvPr id="63" name="Flecha 83_2"/>
              <p:cNvSpPr/>
              <p:nvPr/>
            </p:nvSpPr>
            <p:spPr>
              <a:xfrm>
                <a:off x="7265562" y="4719995"/>
                <a:ext cx="42091" cy="43156"/>
              </a:xfrm>
              <a:custGeom>
                <a:avLst/>
                <a:gdLst/>
                <a:ahLst/>
                <a:cxnLst/>
                <a:rect l="0" t="0" r="r" b="b"/>
                <a:pathLst>
                  <a:path w="46" h="47" fill="none">
                    <a:moveTo>
                      <a:pt x="0" y="0"/>
                    </a:moveTo>
                    <a:lnTo>
                      <a:pt x="46" y="47"/>
                    </a:lnTo>
                  </a:path>
                </a:pathLst>
              </a:custGeom>
              <a:noFill/>
              <a:ln w="21060" cap="rnd">
                <a:solidFill>
                  <a:srgbClr val="9A9A9A"/>
                </a:solidFill>
                <a:round/>
              </a:ln>
            </p:spPr>
          </p:sp>
          <p:sp>
            <p:nvSpPr>
              <p:cNvPr id="64" name="Átomo H_6"/>
              <p:cNvSpPr/>
              <p:nvPr/>
            </p:nvSpPr>
            <p:spPr>
              <a:xfrm>
                <a:off x="7659478" y="4431021"/>
                <a:ext cx="88480" cy="8848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5" name="Átomo C_5"/>
              <p:cNvSpPr/>
              <p:nvPr/>
            </p:nvSpPr>
            <p:spPr>
              <a:xfrm>
                <a:off x="7312147" y="4218496"/>
                <a:ext cx="147539" cy="1475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6" name="Flecha 87_2"/>
              <p:cNvSpPr/>
              <p:nvPr/>
            </p:nvSpPr>
            <p:spPr>
              <a:xfrm>
                <a:off x="7385917" y="4112430"/>
                <a:ext cx="42955" cy="179836"/>
              </a:xfrm>
              <a:custGeom>
                <a:avLst/>
                <a:gdLst/>
                <a:ahLst/>
                <a:cxnLst/>
                <a:rect l="0" t="0" r="r" b="b"/>
                <a:pathLst>
                  <a:path w="46" h="196" fill="none">
                    <a:moveTo>
                      <a:pt x="0" y="196"/>
                    </a:moveTo>
                    <a:lnTo>
                      <a:pt x="46" y="0"/>
                    </a:lnTo>
                  </a:path>
                </a:pathLst>
              </a:custGeom>
              <a:noFill/>
              <a:ln w="21060" cap="rnd">
                <a:solidFill>
                  <a:srgbClr val="9A9A9A"/>
                </a:solidFill>
                <a:round/>
              </a:ln>
            </p:spPr>
          </p:sp>
          <p:sp>
            <p:nvSpPr>
              <p:cNvPr id="67" name="Átomo H_7"/>
              <p:cNvSpPr/>
              <p:nvPr/>
            </p:nvSpPr>
            <p:spPr>
              <a:xfrm>
                <a:off x="7384579" y="4068137"/>
                <a:ext cx="88585" cy="8858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8" name="Átomo O_5"/>
              <p:cNvSpPr/>
              <p:nvPr/>
            </p:nvSpPr>
            <p:spPr>
              <a:xfrm>
                <a:off x="6641666" y="4359052"/>
                <a:ext cx="139236" cy="13923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9" name="Flecha 91_2"/>
              <p:cNvSpPr/>
              <p:nvPr/>
            </p:nvSpPr>
            <p:spPr>
              <a:xfrm>
                <a:off x="6711284" y="4428670"/>
                <a:ext cx="191294" cy="139676"/>
              </a:xfrm>
              <a:custGeom>
                <a:avLst/>
                <a:gdLst/>
                <a:ahLst/>
                <a:cxnLst/>
                <a:rect l="0" t="0" r="r" b="b"/>
                <a:pathLst>
                  <a:path w="209" h="152" fill="none">
                    <a:moveTo>
                      <a:pt x="0" y="0"/>
                    </a:moveTo>
                    <a:lnTo>
                      <a:pt x="209" y="152"/>
                    </a:lnTo>
                  </a:path>
                </a:pathLst>
              </a:custGeom>
              <a:noFill/>
              <a:ln w="21060" cap="rnd">
                <a:solidFill>
                  <a:srgbClr val="9A9A9A"/>
                </a:solidFill>
                <a:round/>
              </a:ln>
            </p:spPr>
          </p:sp>
          <p:sp>
            <p:nvSpPr>
              <p:cNvPr id="70" name="Flecha 93_2"/>
              <p:cNvSpPr/>
              <p:nvPr/>
            </p:nvSpPr>
            <p:spPr>
              <a:xfrm>
                <a:off x="6843907" y="4568345"/>
                <a:ext cx="58671" cy="174717"/>
              </a:xfrm>
              <a:custGeom>
                <a:avLst/>
                <a:gdLst/>
                <a:ahLst/>
                <a:cxnLst/>
                <a:rect l="0" t="0" r="r" b="b"/>
                <a:pathLst>
                  <a:path w="64" h="191" fill="none">
                    <a:moveTo>
                      <a:pt x="64" y="0"/>
                    </a:moveTo>
                    <a:lnTo>
                      <a:pt x="0" y="191"/>
                    </a:lnTo>
                  </a:path>
                </a:pathLst>
              </a:custGeom>
              <a:noFill/>
              <a:ln w="21060" cap="rnd">
                <a:solidFill>
                  <a:srgbClr val="9A9A9A"/>
                </a:solidFill>
                <a:round/>
              </a:ln>
            </p:spPr>
          </p:sp>
          <p:sp>
            <p:nvSpPr>
              <p:cNvPr id="71" name="Átomo C_6"/>
              <p:cNvSpPr/>
              <p:nvPr/>
            </p:nvSpPr>
            <p:spPr>
              <a:xfrm>
                <a:off x="6828185" y="4493953"/>
                <a:ext cx="148785" cy="1487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2" name="Átomo H_8"/>
              <p:cNvSpPr/>
              <p:nvPr/>
            </p:nvSpPr>
            <p:spPr>
              <a:xfrm>
                <a:off x="6799249" y="4698404"/>
                <a:ext cx="89316" cy="8931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3" name="Átomo H_9"/>
              <p:cNvSpPr/>
              <p:nvPr/>
            </p:nvSpPr>
            <p:spPr>
              <a:xfrm>
                <a:off x="7262987" y="4718485"/>
                <a:ext cx="89332" cy="8933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4" name="Flecha 98_2"/>
              <p:cNvSpPr/>
              <p:nvPr/>
            </p:nvSpPr>
            <p:spPr>
              <a:xfrm>
                <a:off x="6627030" y="4415077"/>
                <a:ext cx="84254" cy="13592"/>
              </a:xfrm>
              <a:custGeom>
                <a:avLst/>
                <a:gdLst/>
                <a:ahLst/>
                <a:cxnLst/>
                <a:rect l="0" t="0" r="r" b="b"/>
                <a:pathLst>
                  <a:path w="92" h="14" fill="none">
                    <a:moveTo>
                      <a:pt x="92" y="14"/>
                    </a:moveTo>
                    <a:lnTo>
                      <a:pt x="0" y="0"/>
                    </a:lnTo>
                  </a:path>
                </a:pathLst>
              </a:custGeom>
              <a:noFill/>
              <a:ln w="21060" cap="rnd">
                <a:solidFill>
                  <a:srgbClr val="9A9A9A"/>
                </a:solidFill>
                <a:round/>
              </a:ln>
            </p:spPr>
          </p:sp>
          <p:sp>
            <p:nvSpPr>
              <p:cNvPr id="75" name="Flecha 100_2"/>
              <p:cNvSpPr/>
              <p:nvPr/>
            </p:nvSpPr>
            <p:spPr>
              <a:xfrm>
                <a:off x="7362012" y="4292266"/>
                <a:ext cx="23905" cy="74054"/>
              </a:xfrm>
              <a:custGeom>
                <a:avLst/>
                <a:gdLst/>
                <a:ahLst/>
                <a:cxnLst/>
                <a:rect l="0" t="0" r="r" b="b"/>
                <a:pathLst>
                  <a:path w="26" h="80" fill="none">
                    <a:moveTo>
                      <a:pt x="26" y="0"/>
                    </a:moveTo>
                    <a:lnTo>
                      <a:pt x="0" y="80"/>
                    </a:lnTo>
                  </a:path>
                </a:pathLst>
              </a:custGeom>
              <a:noFill/>
              <a:ln w="21060" cap="rnd">
                <a:solidFill>
                  <a:srgbClr val="9A9A9A"/>
                </a:solidFill>
                <a:round/>
              </a:ln>
            </p:spPr>
          </p:sp>
          <p:sp>
            <p:nvSpPr>
              <p:cNvPr id="76" name="Flecha 102_2"/>
              <p:cNvSpPr/>
              <p:nvPr/>
            </p:nvSpPr>
            <p:spPr>
              <a:xfrm>
                <a:off x="6902578" y="4521594"/>
                <a:ext cx="63066" cy="46752"/>
              </a:xfrm>
              <a:custGeom>
                <a:avLst/>
                <a:gdLst/>
                <a:ahLst/>
                <a:cxnLst/>
                <a:rect l="0" t="0" r="r" b="b"/>
                <a:pathLst>
                  <a:path w="68" h="51" fill="none">
                    <a:moveTo>
                      <a:pt x="0" y="51"/>
                    </a:moveTo>
                    <a:lnTo>
                      <a:pt x="68" y="0"/>
                    </a:lnTo>
                  </a:path>
                </a:pathLst>
              </a:custGeom>
              <a:noFill/>
              <a:ln w="21060" cap="rnd">
                <a:solidFill>
                  <a:srgbClr val="9A9A9A"/>
                </a:solidFill>
                <a:round/>
              </a:ln>
            </p:spPr>
          </p:sp>
          <p:sp>
            <p:nvSpPr>
              <p:cNvPr id="77" name="Átomo H_10"/>
              <p:cNvSpPr/>
              <p:nvPr/>
            </p:nvSpPr>
            <p:spPr>
              <a:xfrm>
                <a:off x="6581715" y="4369763"/>
                <a:ext cx="90629" cy="9062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8" name="Átomo H_11"/>
              <p:cNvSpPr/>
              <p:nvPr/>
            </p:nvSpPr>
            <p:spPr>
              <a:xfrm>
                <a:off x="6919805" y="4475754"/>
                <a:ext cx="91679" cy="9167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9" name="Átomo O_6"/>
              <p:cNvSpPr/>
              <p:nvPr/>
            </p:nvSpPr>
            <p:spPr>
              <a:xfrm>
                <a:off x="7289890" y="4294198"/>
                <a:ext cx="144244" cy="14424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0" name="Flecha 107_2"/>
              <p:cNvSpPr/>
              <p:nvPr/>
            </p:nvSpPr>
            <p:spPr>
              <a:xfrm>
                <a:off x="7362012" y="4301938"/>
                <a:ext cx="129791" cy="64382"/>
              </a:xfrm>
              <a:custGeom>
                <a:avLst/>
                <a:gdLst/>
                <a:ahLst/>
                <a:cxnLst/>
                <a:rect l="0" t="0" r="r" b="b"/>
                <a:pathLst>
                  <a:path w="141" h="70" fill="none">
                    <a:moveTo>
                      <a:pt x="0" y="70"/>
                    </a:moveTo>
                    <a:lnTo>
                      <a:pt x="141" y="0"/>
                    </a:lnTo>
                  </a:path>
                </a:pathLst>
              </a:custGeom>
              <a:noFill/>
              <a:ln w="21060" cap="rnd">
                <a:solidFill>
                  <a:srgbClr val="9A9A9A"/>
                </a:solidFill>
                <a:round/>
              </a:ln>
            </p:spPr>
          </p:sp>
          <p:sp>
            <p:nvSpPr>
              <p:cNvPr id="81" name="Átomo H_12"/>
              <p:cNvSpPr/>
              <p:nvPr/>
            </p:nvSpPr>
            <p:spPr>
              <a:xfrm>
                <a:off x="7445297" y="4255432"/>
                <a:ext cx="93013" cy="9301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2" name="Forma 110"/>
              <p:cNvSpPr txBox="1"/>
              <p:nvPr/>
            </p:nvSpPr>
            <p:spPr>
              <a:xfrm>
                <a:off x="6217920" y="5167009"/>
                <a:ext cx="196596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Glucosa</a:t>
                </a:r>
                <a:endParaRPr lang="es-AR" sz="1300" dirty="0">
                  <a:latin typeface="Fira Sans Condensed"/>
                </a:endParaRPr>
              </a:p>
            </p:txBody>
          </p:sp>
        </p:grpSp>
        <p:grpSp>
          <p:nvGrpSpPr>
            <p:cNvPr id="83" name="Modelo 3D acetoacetato"/>
            <p:cNvGrpSpPr/>
            <p:nvPr/>
          </p:nvGrpSpPr>
          <p:grpSpPr>
            <a:xfrm>
              <a:off x="7909560" y="4194583"/>
              <a:ext cx="1737360" cy="1357041"/>
              <a:chOff x="7909560" y="4194583"/>
              <a:chExt cx="1737360" cy="1357041"/>
            </a:xfrm>
          </p:grpSpPr>
          <p:sp>
            <p:nvSpPr>
              <p:cNvPr id="84" name="Átomo O_7"/>
              <p:cNvSpPr/>
              <p:nvPr/>
            </p:nvSpPr>
            <p:spPr>
              <a:xfrm>
                <a:off x="8999988" y="4656247"/>
                <a:ext cx="166086" cy="16608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5" name="Flecha 113_2"/>
              <p:cNvSpPr/>
              <p:nvPr/>
            </p:nvSpPr>
            <p:spPr>
              <a:xfrm>
                <a:off x="9099373" y="4728779"/>
                <a:ext cx="44259" cy="68812"/>
              </a:xfrm>
              <a:custGeom>
                <a:avLst/>
                <a:gdLst/>
                <a:ahLst/>
                <a:cxnLst/>
                <a:rect l="0" t="0" r="r" b="b"/>
                <a:pathLst>
                  <a:path w="48" h="75" fill="none">
                    <a:moveTo>
                      <a:pt x="48" y="75"/>
                    </a:moveTo>
                    <a:lnTo>
                      <a:pt x="0" y="0"/>
                    </a:lnTo>
                  </a:path>
                </a:pathLst>
              </a:custGeom>
              <a:noFill/>
              <a:ln w="21589" cap="rnd">
                <a:solidFill>
                  <a:srgbClr val="9A9A9A"/>
                </a:solidFill>
                <a:round/>
              </a:ln>
            </p:spPr>
          </p:sp>
          <p:sp>
            <p:nvSpPr>
              <p:cNvPr id="86" name="Flecha 115_2"/>
              <p:cNvSpPr/>
              <p:nvPr/>
            </p:nvSpPr>
            <p:spPr>
              <a:xfrm>
                <a:off x="9066689" y="4749801"/>
                <a:ext cx="44259" cy="68812"/>
              </a:xfrm>
              <a:custGeom>
                <a:avLst/>
                <a:gdLst/>
                <a:ahLst/>
                <a:cxnLst/>
                <a:rect l="0" t="0" r="r" b="b"/>
                <a:pathLst>
                  <a:path w="48" h="75" fill="none">
                    <a:moveTo>
                      <a:pt x="48" y="75"/>
                    </a:moveTo>
                    <a:lnTo>
                      <a:pt x="0" y="0"/>
                    </a:lnTo>
                  </a:path>
                </a:pathLst>
              </a:custGeom>
              <a:noFill/>
              <a:ln w="21589" cap="rnd">
                <a:solidFill>
                  <a:srgbClr val="9A9A9A"/>
                </a:solidFill>
                <a:round/>
              </a:ln>
            </p:spPr>
          </p:sp>
          <p:sp>
            <p:nvSpPr>
              <p:cNvPr id="87" name="Átomo C_7"/>
              <p:cNvSpPr/>
              <p:nvPr/>
            </p:nvSpPr>
            <p:spPr>
              <a:xfrm>
                <a:off x="9034915" y="4715726"/>
                <a:ext cx="184750" cy="18475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8" name="Átomo H_13"/>
              <p:cNvSpPr/>
              <p:nvPr/>
            </p:nvSpPr>
            <p:spPr>
              <a:xfrm>
                <a:off x="8487261" y="4785705"/>
                <a:ext cx="111577" cy="11157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9" name="Flecha 119_2"/>
              <p:cNvSpPr/>
              <p:nvPr/>
            </p:nvSpPr>
            <p:spPr>
              <a:xfrm>
                <a:off x="9127291" y="4808102"/>
                <a:ext cx="69031" cy="241625"/>
              </a:xfrm>
              <a:custGeom>
                <a:avLst/>
                <a:gdLst/>
                <a:ahLst/>
                <a:cxnLst/>
                <a:rect l="0" t="0" r="r" b="b"/>
                <a:pathLst>
                  <a:path w="75" h="264" fill="none">
                    <a:moveTo>
                      <a:pt x="0" y="0"/>
                    </a:moveTo>
                    <a:lnTo>
                      <a:pt x="75" y="264"/>
                    </a:lnTo>
                  </a:path>
                </a:pathLst>
              </a:custGeom>
              <a:noFill/>
              <a:ln w="26986" cap="rnd">
                <a:solidFill>
                  <a:srgbClr val="9A9A9A"/>
                </a:solidFill>
                <a:round/>
              </a:ln>
            </p:spPr>
          </p:sp>
          <p:sp>
            <p:nvSpPr>
              <p:cNvPr id="90" name="Átomo O_8"/>
              <p:cNvSpPr/>
              <p:nvPr/>
            </p:nvSpPr>
            <p:spPr>
              <a:xfrm>
                <a:off x="9107572" y="4960977"/>
                <a:ext cx="177498" cy="17749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1" name="Flecha 122_2"/>
              <p:cNvSpPr/>
              <p:nvPr/>
            </p:nvSpPr>
            <p:spPr>
              <a:xfrm>
                <a:off x="9088476" y="4568262"/>
                <a:ext cx="38814" cy="239840"/>
              </a:xfrm>
              <a:custGeom>
                <a:avLst/>
                <a:gdLst/>
                <a:ahLst/>
                <a:cxnLst/>
                <a:rect l="0" t="0" r="r" b="b"/>
                <a:pathLst>
                  <a:path w="42" h="262" fill="none">
                    <a:moveTo>
                      <a:pt x="0" y="0"/>
                    </a:moveTo>
                    <a:lnTo>
                      <a:pt x="42" y="262"/>
                    </a:lnTo>
                  </a:path>
                </a:pathLst>
              </a:custGeom>
              <a:noFill/>
              <a:ln w="26986" cap="rnd">
                <a:solidFill>
                  <a:srgbClr val="9A9A9A"/>
                </a:solidFill>
                <a:round/>
              </a:ln>
            </p:spPr>
          </p:sp>
          <p:sp>
            <p:nvSpPr>
              <p:cNvPr id="92" name="Átomo H_14"/>
              <p:cNvSpPr/>
              <p:nvPr/>
            </p:nvSpPr>
            <p:spPr>
              <a:xfrm>
                <a:off x="9122315" y="4311012"/>
                <a:ext cx="113451" cy="11345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3" name="Flecha 125_2"/>
              <p:cNvSpPr/>
              <p:nvPr/>
            </p:nvSpPr>
            <p:spPr>
              <a:xfrm>
                <a:off x="8543050" y="4775009"/>
                <a:ext cx="25420" cy="66484"/>
              </a:xfrm>
              <a:custGeom>
                <a:avLst/>
                <a:gdLst/>
                <a:ahLst/>
                <a:cxnLst/>
                <a:rect l="0" t="0" r="r" b="b"/>
                <a:pathLst>
                  <a:path w="27" h="72" fill="none">
                    <a:moveTo>
                      <a:pt x="27" y="0"/>
                    </a:moveTo>
                    <a:lnTo>
                      <a:pt x="0" y="72"/>
                    </a:lnTo>
                  </a:path>
                </a:pathLst>
              </a:custGeom>
              <a:noFill/>
              <a:ln w="26986" cap="rnd">
                <a:solidFill>
                  <a:srgbClr val="9A9A9A"/>
                </a:solidFill>
                <a:round/>
              </a:ln>
            </p:spPr>
          </p:sp>
          <p:sp>
            <p:nvSpPr>
              <p:cNvPr id="94" name="Flecha 127_2"/>
              <p:cNvSpPr/>
              <p:nvPr/>
            </p:nvSpPr>
            <p:spPr>
              <a:xfrm>
                <a:off x="9088476" y="4367738"/>
                <a:ext cx="90564" cy="200524"/>
              </a:xfrm>
              <a:custGeom>
                <a:avLst/>
                <a:gdLst/>
                <a:ahLst/>
                <a:cxnLst/>
                <a:rect l="0" t="0" r="r" b="b"/>
                <a:pathLst>
                  <a:path w="99" h="219" fill="none">
                    <a:moveTo>
                      <a:pt x="0" y="219"/>
                    </a:moveTo>
                    <a:lnTo>
                      <a:pt x="99" y="0"/>
                    </a:lnTo>
                  </a:path>
                </a:pathLst>
              </a:custGeom>
              <a:noFill/>
              <a:ln w="26986" cap="rnd">
                <a:solidFill>
                  <a:srgbClr val="9A9A9A"/>
                </a:solidFill>
                <a:round/>
              </a:ln>
            </p:spPr>
          </p:sp>
          <p:sp>
            <p:nvSpPr>
              <p:cNvPr id="95" name="Átomo C_8"/>
              <p:cNvSpPr/>
              <p:nvPr/>
            </p:nvSpPr>
            <p:spPr>
              <a:xfrm>
                <a:off x="8992500" y="4472286"/>
                <a:ext cx="191952" cy="19195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6" name="Flecha 130_2"/>
              <p:cNvSpPr/>
              <p:nvPr/>
            </p:nvSpPr>
            <p:spPr>
              <a:xfrm>
                <a:off x="8773959" y="4523193"/>
                <a:ext cx="314518" cy="45069"/>
              </a:xfrm>
              <a:custGeom>
                <a:avLst/>
                <a:gdLst/>
                <a:ahLst/>
                <a:cxnLst/>
                <a:rect l="0" t="0" r="r" b="b"/>
                <a:pathLst>
                  <a:path w="343" h="49" fill="none">
                    <a:moveTo>
                      <a:pt x="0" y="0"/>
                    </a:moveTo>
                    <a:lnTo>
                      <a:pt x="343" y="49"/>
                    </a:lnTo>
                  </a:path>
                </a:pathLst>
              </a:custGeom>
              <a:noFill/>
              <a:ln w="26986" cap="rnd">
                <a:solidFill>
                  <a:srgbClr val="9A9A9A"/>
                </a:solidFill>
                <a:round/>
              </a:ln>
            </p:spPr>
          </p:sp>
          <p:sp>
            <p:nvSpPr>
              <p:cNvPr id="97" name="Átomo C_9"/>
              <p:cNvSpPr/>
              <p:nvPr/>
            </p:nvSpPr>
            <p:spPr>
              <a:xfrm>
                <a:off x="8471768" y="4678307"/>
                <a:ext cx="193403" cy="1934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8" name="Flecha 133_2"/>
              <p:cNvSpPr/>
              <p:nvPr/>
            </p:nvSpPr>
            <p:spPr>
              <a:xfrm>
                <a:off x="8568470" y="4523193"/>
                <a:ext cx="205489" cy="251816"/>
              </a:xfrm>
              <a:custGeom>
                <a:avLst/>
                <a:gdLst/>
                <a:ahLst/>
                <a:cxnLst/>
                <a:rect l="0" t="0" r="r" b="b"/>
                <a:pathLst>
                  <a:path w="224" h="275" fill="none">
                    <a:moveTo>
                      <a:pt x="0" y="275"/>
                    </a:moveTo>
                    <a:lnTo>
                      <a:pt x="224" y="0"/>
                    </a:lnTo>
                  </a:path>
                </a:pathLst>
              </a:custGeom>
              <a:noFill/>
              <a:ln w="26986" cap="rnd">
                <a:solidFill>
                  <a:srgbClr val="9A9A9A"/>
                </a:solidFill>
                <a:round/>
              </a:ln>
            </p:spPr>
          </p:sp>
          <p:sp>
            <p:nvSpPr>
              <p:cNvPr id="99" name="Átomo C_10"/>
              <p:cNvSpPr/>
              <p:nvPr/>
            </p:nvSpPr>
            <p:spPr>
              <a:xfrm>
                <a:off x="8676904" y="4426138"/>
                <a:ext cx="194109" cy="19410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0" name="Flecha 136_2"/>
              <p:cNvSpPr/>
              <p:nvPr/>
            </p:nvSpPr>
            <p:spPr>
              <a:xfrm>
                <a:off x="8356594" y="4710265"/>
                <a:ext cx="211875" cy="64744"/>
              </a:xfrm>
              <a:custGeom>
                <a:avLst/>
                <a:gdLst/>
                <a:ahLst/>
                <a:cxnLst/>
                <a:rect l="0" t="0" r="r" b="b"/>
                <a:pathLst>
                  <a:path w="231" h="70" fill="none">
                    <a:moveTo>
                      <a:pt x="231" y="70"/>
                    </a:moveTo>
                    <a:lnTo>
                      <a:pt x="0" y="0"/>
                    </a:lnTo>
                  </a:path>
                </a:pathLst>
              </a:custGeom>
              <a:noFill/>
              <a:ln w="26986" cap="rnd">
                <a:solidFill>
                  <a:srgbClr val="9A9A9A"/>
                </a:solidFill>
                <a:round/>
              </a:ln>
            </p:spPr>
          </p:sp>
          <p:sp>
            <p:nvSpPr>
              <p:cNvPr id="101" name="Flecha 138_2"/>
              <p:cNvSpPr/>
              <p:nvPr/>
            </p:nvSpPr>
            <p:spPr>
              <a:xfrm>
                <a:off x="9088476" y="4568262"/>
                <a:ext cx="111409" cy="51612"/>
              </a:xfrm>
              <a:custGeom>
                <a:avLst/>
                <a:gdLst/>
                <a:ahLst/>
                <a:cxnLst/>
                <a:rect l="0" t="0" r="r" b="b"/>
                <a:pathLst>
                  <a:path w="121" h="56" fill="none">
                    <a:moveTo>
                      <a:pt x="0" y="0"/>
                    </a:moveTo>
                    <a:lnTo>
                      <a:pt x="121" y="56"/>
                    </a:lnTo>
                  </a:path>
                </a:pathLst>
              </a:custGeom>
              <a:noFill/>
              <a:ln w="26986" cap="rnd">
                <a:solidFill>
                  <a:srgbClr val="9A9A9A"/>
                </a:solidFill>
                <a:round/>
              </a:ln>
            </p:spPr>
          </p:sp>
          <p:sp>
            <p:nvSpPr>
              <p:cNvPr id="102" name="Flecha 140_2"/>
              <p:cNvSpPr/>
              <p:nvPr/>
            </p:nvSpPr>
            <p:spPr>
              <a:xfrm>
                <a:off x="8568470" y="4775009"/>
                <a:ext cx="78689" cy="179164"/>
              </a:xfrm>
              <a:custGeom>
                <a:avLst/>
                <a:gdLst/>
                <a:ahLst/>
                <a:cxnLst/>
                <a:rect l="0" t="0" r="r" b="b"/>
                <a:pathLst>
                  <a:path w="86" h="195" fill="none">
                    <a:moveTo>
                      <a:pt x="0" y="0"/>
                    </a:moveTo>
                    <a:lnTo>
                      <a:pt x="86" y="195"/>
                    </a:lnTo>
                  </a:path>
                </a:pathLst>
              </a:custGeom>
              <a:noFill/>
              <a:ln w="26986" cap="rnd">
                <a:solidFill>
                  <a:srgbClr val="9A9A9A"/>
                </a:solidFill>
                <a:round/>
              </a:ln>
            </p:spPr>
          </p:sp>
          <p:sp>
            <p:nvSpPr>
              <p:cNvPr id="103" name="Flecha 142_2"/>
              <p:cNvSpPr/>
              <p:nvPr/>
            </p:nvSpPr>
            <p:spPr>
              <a:xfrm>
                <a:off x="8704899" y="4280766"/>
                <a:ext cx="87281" cy="235678"/>
              </a:xfrm>
              <a:custGeom>
                <a:avLst/>
                <a:gdLst/>
                <a:ahLst/>
                <a:cxnLst/>
                <a:rect l="0" t="0" r="r" b="b"/>
                <a:pathLst>
                  <a:path w="95" h="257" fill="none">
                    <a:moveTo>
                      <a:pt x="95" y="257"/>
                    </a:moveTo>
                    <a:lnTo>
                      <a:pt x="0" y="0"/>
                    </a:lnTo>
                  </a:path>
                </a:pathLst>
              </a:custGeom>
              <a:noFill/>
              <a:ln w="21589" cap="rnd">
                <a:solidFill>
                  <a:srgbClr val="9A9A9A"/>
                </a:solidFill>
                <a:round/>
              </a:ln>
            </p:spPr>
          </p:sp>
          <p:sp>
            <p:nvSpPr>
              <p:cNvPr id="104" name="Flecha 144_2"/>
              <p:cNvSpPr/>
              <p:nvPr/>
            </p:nvSpPr>
            <p:spPr>
              <a:xfrm>
                <a:off x="8668457" y="4294262"/>
                <a:ext cx="87281" cy="235678"/>
              </a:xfrm>
              <a:custGeom>
                <a:avLst/>
                <a:gdLst/>
                <a:ahLst/>
                <a:cxnLst/>
                <a:rect l="0" t="0" r="r" b="b"/>
                <a:pathLst>
                  <a:path w="95" h="257" fill="none">
                    <a:moveTo>
                      <a:pt x="95" y="257"/>
                    </a:moveTo>
                    <a:lnTo>
                      <a:pt x="0" y="0"/>
                    </a:lnTo>
                  </a:path>
                </a:pathLst>
              </a:custGeom>
              <a:noFill/>
              <a:ln w="21589" cap="rnd">
                <a:solidFill>
                  <a:srgbClr val="9A9A9A"/>
                </a:solidFill>
                <a:round/>
              </a:ln>
            </p:spPr>
          </p:sp>
          <p:sp>
            <p:nvSpPr>
              <p:cNvPr id="105" name="Átomo H_15"/>
              <p:cNvSpPr/>
              <p:nvPr/>
            </p:nvSpPr>
            <p:spPr>
              <a:xfrm>
                <a:off x="8297759" y="4651430"/>
                <a:ext cx="117671" cy="1176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6" name="Átomo O_9"/>
              <p:cNvSpPr/>
              <p:nvPr/>
            </p:nvSpPr>
            <p:spPr>
              <a:xfrm>
                <a:off x="8593747" y="4194583"/>
                <a:ext cx="185862" cy="18586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07" name="Átomo H_16"/>
              <p:cNvSpPr/>
              <p:nvPr/>
            </p:nvSpPr>
            <p:spPr>
              <a:xfrm>
                <a:off x="8587829" y="4894843"/>
                <a:ext cx="118659" cy="1186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8" name="Átomo H_17"/>
              <p:cNvSpPr/>
              <p:nvPr/>
            </p:nvSpPr>
            <p:spPr>
              <a:xfrm>
                <a:off x="9140294" y="4560282"/>
                <a:ext cx="119183" cy="11918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9" name="Forma 150"/>
              <p:cNvSpPr txBox="1"/>
              <p:nvPr/>
            </p:nvSpPr>
            <p:spPr>
              <a:xfrm>
                <a:off x="7909560" y="5240729"/>
                <a:ext cx="173736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Acetoacetato</a:t>
                </a:r>
                <a:endParaRPr lang="es-AR" sz="1300" dirty="0">
                  <a:latin typeface="Fira Sans Condensed"/>
                </a:endParaRPr>
              </a:p>
            </p:txBody>
          </p:sp>
        </p:grpSp>
        <p:grpSp>
          <p:nvGrpSpPr>
            <p:cNvPr id="110" name="Modelo 3D glicerol"/>
            <p:cNvGrpSpPr/>
            <p:nvPr/>
          </p:nvGrpSpPr>
          <p:grpSpPr>
            <a:xfrm>
              <a:off x="9372600" y="4146513"/>
              <a:ext cx="1600200" cy="1117663"/>
              <a:chOff x="9372600" y="4146513"/>
              <a:chExt cx="1600200" cy="1117663"/>
            </a:xfrm>
          </p:grpSpPr>
          <p:sp>
            <p:nvSpPr>
              <p:cNvPr id="111" name="Átomo H_18"/>
              <p:cNvSpPr/>
              <p:nvPr/>
            </p:nvSpPr>
            <p:spPr>
              <a:xfrm>
                <a:off x="10153001" y="4444652"/>
                <a:ext cx="86563" cy="8656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2" name="Flecha 153_2"/>
              <p:cNvSpPr/>
              <p:nvPr/>
            </p:nvSpPr>
            <p:spPr>
              <a:xfrm>
                <a:off x="10196283" y="4487934"/>
                <a:ext cx="74213" cy="83999"/>
              </a:xfrm>
              <a:custGeom>
                <a:avLst/>
                <a:gdLst/>
                <a:ahLst/>
                <a:cxnLst/>
                <a:rect l="0" t="0" r="r" b="b"/>
                <a:pathLst>
                  <a:path w="81" h="91" fill="none">
                    <a:moveTo>
                      <a:pt x="81" y="91"/>
                    </a:moveTo>
                    <a:lnTo>
                      <a:pt x="0" y="0"/>
                    </a:lnTo>
                  </a:path>
                </a:pathLst>
              </a:custGeom>
              <a:noFill/>
              <a:ln w="22102" cap="rnd">
                <a:solidFill>
                  <a:srgbClr val="9A9A9A"/>
                </a:solidFill>
                <a:round/>
              </a:ln>
            </p:spPr>
          </p:sp>
          <p:sp>
            <p:nvSpPr>
              <p:cNvPr id="113" name="Átomo H_19"/>
              <p:cNvSpPr/>
              <p:nvPr/>
            </p:nvSpPr>
            <p:spPr>
              <a:xfrm>
                <a:off x="10300256" y="4697349"/>
                <a:ext cx="88638" cy="8863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4" name="Flecha 156_2"/>
              <p:cNvSpPr/>
              <p:nvPr/>
            </p:nvSpPr>
            <p:spPr>
              <a:xfrm>
                <a:off x="10270497" y="4571933"/>
                <a:ext cx="74078" cy="169735"/>
              </a:xfrm>
              <a:custGeom>
                <a:avLst/>
                <a:gdLst/>
                <a:ahLst/>
                <a:cxnLst/>
                <a:rect l="0" t="0" r="r" b="b"/>
                <a:pathLst>
                  <a:path w="81" h="185" fill="none">
                    <a:moveTo>
                      <a:pt x="0" y="0"/>
                    </a:moveTo>
                    <a:lnTo>
                      <a:pt x="81" y="185"/>
                    </a:lnTo>
                  </a:path>
                </a:pathLst>
              </a:custGeom>
              <a:noFill/>
              <a:ln w="22102" cap="rnd">
                <a:solidFill>
                  <a:srgbClr val="9A9A9A"/>
                </a:solidFill>
                <a:round/>
              </a:ln>
            </p:spPr>
          </p:sp>
          <p:sp>
            <p:nvSpPr>
              <p:cNvPr id="115" name="Átomo C_11"/>
              <p:cNvSpPr/>
              <p:nvPr/>
            </p:nvSpPr>
            <p:spPr>
              <a:xfrm>
                <a:off x="10195657" y="4497094"/>
                <a:ext cx="149679" cy="1496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6" name="Flecha 159_2"/>
              <p:cNvSpPr/>
              <p:nvPr/>
            </p:nvSpPr>
            <p:spPr>
              <a:xfrm>
                <a:off x="10270497" y="4425805"/>
                <a:ext cx="186235" cy="146128"/>
              </a:xfrm>
              <a:custGeom>
                <a:avLst/>
                <a:gdLst/>
                <a:ahLst/>
                <a:cxnLst/>
                <a:rect l="0" t="0" r="r" b="b"/>
                <a:pathLst>
                  <a:path w="203" h="159" fill="none">
                    <a:moveTo>
                      <a:pt x="0" y="159"/>
                    </a:moveTo>
                    <a:lnTo>
                      <a:pt x="203" y="0"/>
                    </a:lnTo>
                  </a:path>
                </a:pathLst>
              </a:custGeom>
              <a:noFill/>
              <a:ln w="22102" cap="rnd">
                <a:solidFill>
                  <a:srgbClr val="9A9A9A"/>
                </a:solidFill>
                <a:round/>
              </a:ln>
            </p:spPr>
          </p:sp>
          <p:sp>
            <p:nvSpPr>
              <p:cNvPr id="117" name="Átomo O_10"/>
              <p:cNvSpPr/>
              <p:nvPr/>
            </p:nvSpPr>
            <p:spPr>
              <a:xfrm>
                <a:off x="10384765" y="4353838"/>
                <a:ext cx="143933" cy="1439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18" name="Flecha 162_2"/>
              <p:cNvSpPr/>
              <p:nvPr/>
            </p:nvSpPr>
            <p:spPr>
              <a:xfrm>
                <a:off x="10077745" y="4571933"/>
                <a:ext cx="192751" cy="36291"/>
              </a:xfrm>
              <a:custGeom>
                <a:avLst/>
                <a:gdLst/>
                <a:ahLst/>
                <a:cxnLst/>
                <a:rect l="0" t="0" r="r" b="b"/>
                <a:pathLst>
                  <a:path w="210" h="39" fill="none">
                    <a:moveTo>
                      <a:pt x="0" y="39"/>
                    </a:moveTo>
                    <a:lnTo>
                      <a:pt x="210" y="0"/>
                    </a:lnTo>
                  </a:path>
                </a:pathLst>
              </a:custGeom>
              <a:noFill/>
              <a:ln w="22102" cap="rnd">
                <a:solidFill>
                  <a:srgbClr val="9A9A9A"/>
                </a:solidFill>
                <a:round/>
              </a:ln>
            </p:spPr>
          </p:sp>
          <p:sp>
            <p:nvSpPr>
              <p:cNvPr id="119" name="Átomo O_11"/>
              <p:cNvSpPr/>
              <p:nvPr/>
            </p:nvSpPr>
            <p:spPr>
              <a:xfrm>
                <a:off x="9831015" y="4693657"/>
                <a:ext cx="144231" cy="14423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20" name="Átomo H_20"/>
              <p:cNvSpPr/>
              <p:nvPr/>
            </p:nvSpPr>
            <p:spPr>
              <a:xfrm>
                <a:off x="9848998" y="4231936"/>
                <a:ext cx="91984" cy="919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1" name="Flecha 166_2"/>
              <p:cNvSpPr/>
              <p:nvPr/>
            </p:nvSpPr>
            <p:spPr>
              <a:xfrm>
                <a:off x="10456731" y="4425805"/>
                <a:ext cx="100291" cy="100196"/>
              </a:xfrm>
              <a:custGeom>
                <a:avLst/>
                <a:gdLst/>
                <a:ahLst/>
                <a:cxnLst/>
                <a:rect l="0" t="0" r="r" b="b"/>
                <a:pathLst>
                  <a:path w="109" h="109" fill="none">
                    <a:moveTo>
                      <a:pt x="0" y="0"/>
                    </a:moveTo>
                    <a:lnTo>
                      <a:pt x="109" y="109"/>
                    </a:lnTo>
                  </a:path>
                </a:pathLst>
              </a:custGeom>
              <a:noFill/>
              <a:ln w="22102" cap="rnd">
                <a:solidFill>
                  <a:srgbClr val="9A9A9A"/>
                </a:solidFill>
                <a:round/>
              </a:ln>
            </p:spPr>
          </p:sp>
          <p:sp>
            <p:nvSpPr>
              <p:cNvPr id="122" name="Flecha 168_2"/>
              <p:cNvSpPr/>
              <p:nvPr/>
            </p:nvSpPr>
            <p:spPr>
              <a:xfrm>
                <a:off x="9903130" y="4608224"/>
                <a:ext cx="174615" cy="157549"/>
              </a:xfrm>
              <a:custGeom>
                <a:avLst/>
                <a:gdLst/>
                <a:ahLst/>
                <a:cxnLst/>
                <a:rect l="0" t="0" r="r" b="b"/>
                <a:pathLst>
                  <a:path w="190" h="172" fill="none">
                    <a:moveTo>
                      <a:pt x="190" y="0"/>
                    </a:moveTo>
                    <a:lnTo>
                      <a:pt x="0" y="172"/>
                    </a:lnTo>
                  </a:path>
                </a:pathLst>
              </a:custGeom>
              <a:noFill/>
              <a:ln w="22102" cap="rnd">
                <a:solidFill>
                  <a:srgbClr val="9A9A9A"/>
                </a:solidFill>
                <a:round/>
              </a:ln>
            </p:spPr>
          </p:sp>
          <p:sp>
            <p:nvSpPr>
              <p:cNvPr id="123" name="Flecha 170_2"/>
              <p:cNvSpPr/>
              <p:nvPr/>
            </p:nvSpPr>
            <p:spPr>
              <a:xfrm>
                <a:off x="9788377" y="4765772"/>
                <a:ext cx="114753" cy="27762"/>
              </a:xfrm>
              <a:custGeom>
                <a:avLst/>
                <a:gdLst/>
                <a:ahLst/>
                <a:cxnLst/>
                <a:rect l="0" t="0" r="r" b="b"/>
                <a:pathLst>
                  <a:path w="125" h="30" fill="none">
                    <a:moveTo>
                      <a:pt x="125" y="0"/>
                    </a:moveTo>
                    <a:lnTo>
                      <a:pt x="0" y="30"/>
                    </a:lnTo>
                  </a:path>
                </a:pathLst>
              </a:custGeom>
              <a:noFill/>
              <a:ln w="22102" cap="rnd">
                <a:solidFill>
                  <a:srgbClr val="9A9A9A"/>
                </a:solidFill>
                <a:round/>
              </a:ln>
            </p:spPr>
          </p:sp>
          <p:sp>
            <p:nvSpPr>
              <p:cNvPr id="124" name="Flecha 172_2"/>
              <p:cNvSpPr/>
              <p:nvPr/>
            </p:nvSpPr>
            <p:spPr>
              <a:xfrm>
                <a:off x="9894990" y="4277928"/>
                <a:ext cx="69764" cy="94299"/>
              </a:xfrm>
              <a:custGeom>
                <a:avLst/>
                <a:gdLst/>
                <a:ahLst/>
                <a:cxnLst/>
                <a:rect l="0" t="0" r="r" b="b"/>
                <a:pathLst>
                  <a:path w="76" h="103" fill="none">
                    <a:moveTo>
                      <a:pt x="76" y="103"/>
                    </a:moveTo>
                    <a:lnTo>
                      <a:pt x="0" y="0"/>
                    </a:lnTo>
                  </a:path>
                </a:pathLst>
              </a:custGeom>
              <a:noFill/>
              <a:ln w="22102" cap="rnd">
                <a:solidFill>
                  <a:srgbClr val="9A9A9A"/>
                </a:solidFill>
                <a:round/>
              </a:ln>
            </p:spPr>
          </p:sp>
          <p:sp>
            <p:nvSpPr>
              <p:cNvPr id="125" name="Átomo H_21"/>
              <p:cNvSpPr/>
              <p:nvPr/>
            </p:nvSpPr>
            <p:spPr>
              <a:xfrm>
                <a:off x="10510218" y="4479197"/>
                <a:ext cx="93608" cy="936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6" name="Átomo C_12"/>
              <p:cNvSpPr/>
              <p:nvPr/>
            </p:nvSpPr>
            <p:spPr>
              <a:xfrm>
                <a:off x="9999700" y="4530178"/>
                <a:ext cx="156091" cy="1560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7" name="Átomo H_22"/>
              <p:cNvSpPr/>
              <p:nvPr/>
            </p:nvSpPr>
            <p:spPr>
              <a:xfrm>
                <a:off x="9741199" y="4746356"/>
                <a:ext cx="94356" cy="9435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8" name="Flecha 177_2"/>
              <p:cNvSpPr/>
              <p:nvPr/>
            </p:nvSpPr>
            <p:spPr>
              <a:xfrm>
                <a:off x="9964754" y="4372227"/>
                <a:ext cx="112992" cy="235996"/>
              </a:xfrm>
              <a:custGeom>
                <a:avLst/>
                <a:gdLst/>
                <a:ahLst/>
                <a:cxnLst/>
                <a:rect l="0" t="0" r="r" b="b"/>
                <a:pathLst>
                  <a:path w="123" h="258" fill="none">
                    <a:moveTo>
                      <a:pt x="0" y="0"/>
                    </a:moveTo>
                    <a:lnTo>
                      <a:pt x="123" y="258"/>
                    </a:lnTo>
                  </a:path>
                </a:pathLst>
              </a:custGeom>
              <a:noFill/>
              <a:ln w="22102" cap="rnd">
                <a:solidFill>
                  <a:srgbClr val="9A9A9A"/>
                </a:solidFill>
                <a:round/>
              </a:ln>
            </p:spPr>
          </p:sp>
          <p:sp>
            <p:nvSpPr>
              <p:cNvPr id="129" name="Átomo C_13"/>
              <p:cNvSpPr/>
              <p:nvPr/>
            </p:nvSpPr>
            <p:spPr>
              <a:xfrm>
                <a:off x="9885462" y="4292936"/>
                <a:ext cx="158583" cy="1585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0" name="Flecha 180_2"/>
              <p:cNvSpPr/>
              <p:nvPr/>
            </p:nvSpPr>
            <p:spPr>
              <a:xfrm>
                <a:off x="10077745" y="4608224"/>
                <a:ext cx="81059" cy="81586"/>
              </a:xfrm>
              <a:custGeom>
                <a:avLst/>
                <a:gdLst/>
                <a:ahLst/>
                <a:cxnLst/>
                <a:rect l="0" t="0" r="r" b="b"/>
                <a:pathLst>
                  <a:path w="88" h="89" fill="none">
                    <a:moveTo>
                      <a:pt x="0" y="0"/>
                    </a:moveTo>
                    <a:lnTo>
                      <a:pt x="88" y="89"/>
                    </a:lnTo>
                  </a:path>
                </a:pathLst>
              </a:custGeom>
              <a:noFill/>
              <a:ln w="22102" cap="rnd">
                <a:solidFill>
                  <a:srgbClr val="9A9A9A"/>
                </a:solidFill>
                <a:round/>
              </a:ln>
            </p:spPr>
          </p:sp>
          <p:sp>
            <p:nvSpPr>
              <p:cNvPr id="131" name="Átomo H_23"/>
              <p:cNvSpPr/>
              <p:nvPr/>
            </p:nvSpPr>
            <p:spPr>
              <a:xfrm>
                <a:off x="10219557" y="4162783"/>
                <a:ext cx="95509" cy="9550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2" name="Flecha 183_2"/>
              <p:cNvSpPr/>
              <p:nvPr/>
            </p:nvSpPr>
            <p:spPr>
              <a:xfrm>
                <a:off x="9814719" y="4372227"/>
                <a:ext cx="150034" cy="31703"/>
              </a:xfrm>
              <a:custGeom>
                <a:avLst/>
                <a:gdLst/>
                <a:ahLst/>
                <a:cxnLst/>
                <a:rect l="0" t="0" r="r" b="b"/>
                <a:pathLst>
                  <a:path w="164" h="34" fill="none">
                    <a:moveTo>
                      <a:pt x="164" y="0"/>
                    </a:moveTo>
                    <a:lnTo>
                      <a:pt x="0" y="34"/>
                    </a:lnTo>
                  </a:path>
                </a:pathLst>
              </a:custGeom>
              <a:noFill/>
              <a:ln w="22102" cap="rnd">
                <a:solidFill>
                  <a:srgbClr val="9A9A9A"/>
                </a:solidFill>
                <a:round/>
              </a:ln>
            </p:spPr>
          </p:sp>
          <p:sp>
            <p:nvSpPr>
              <p:cNvPr id="133" name="Flecha 185_2"/>
              <p:cNvSpPr/>
              <p:nvPr/>
            </p:nvSpPr>
            <p:spPr>
              <a:xfrm>
                <a:off x="9964754" y="4223210"/>
                <a:ext cx="163187" cy="149018"/>
              </a:xfrm>
              <a:custGeom>
                <a:avLst/>
                <a:gdLst/>
                <a:ahLst/>
                <a:cxnLst/>
                <a:rect l="0" t="0" r="r" b="b"/>
                <a:pathLst>
                  <a:path w="178" h="162" fill="none">
                    <a:moveTo>
                      <a:pt x="178" y="0"/>
                    </a:moveTo>
                    <a:lnTo>
                      <a:pt x="0" y="162"/>
                    </a:lnTo>
                  </a:path>
                </a:pathLst>
              </a:custGeom>
              <a:noFill/>
              <a:ln w="22102" cap="rnd">
                <a:solidFill>
                  <a:srgbClr val="9A9A9A"/>
                </a:solidFill>
                <a:round/>
              </a:ln>
            </p:spPr>
          </p:sp>
          <p:sp>
            <p:nvSpPr>
              <p:cNvPr id="134" name="Flecha 187_2"/>
              <p:cNvSpPr/>
              <p:nvPr/>
            </p:nvSpPr>
            <p:spPr>
              <a:xfrm>
                <a:off x="10127941" y="4210537"/>
                <a:ext cx="139371" cy="12672"/>
              </a:xfrm>
              <a:custGeom>
                <a:avLst/>
                <a:gdLst/>
                <a:ahLst/>
                <a:cxnLst/>
                <a:rect l="0" t="0" r="r" b="b"/>
                <a:pathLst>
                  <a:path w="152" h="13" fill="none">
                    <a:moveTo>
                      <a:pt x="0" y="13"/>
                    </a:moveTo>
                    <a:lnTo>
                      <a:pt x="152" y="0"/>
                    </a:lnTo>
                  </a:path>
                </a:pathLst>
              </a:custGeom>
              <a:noFill/>
              <a:ln w="22102" cap="rnd">
                <a:solidFill>
                  <a:srgbClr val="9A9A9A"/>
                </a:solidFill>
                <a:round/>
              </a:ln>
            </p:spPr>
          </p:sp>
          <p:sp>
            <p:nvSpPr>
              <p:cNvPr id="135" name="Átomo H_24"/>
              <p:cNvSpPr/>
              <p:nvPr/>
            </p:nvSpPr>
            <p:spPr>
              <a:xfrm>
                <a:off x="10110374" y="4641380"/>
                <a:ext cx="96860" cy="9686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6" name="Átomo H_25"/>
              <p:cNvSpPr/>
              <p:nvPr/>
            </p:nvSpPr>
            <p:spPr>
              <a:xfrm>
                <a:off x="9765931" y="4355142"/>
                <a:ext cx="97578" cy="9757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7" name="Átomo O_12"/>
              <p:cNvSpPr/>
              <p:nvPr/>
            </p:nvSpPr>
            <p:spPr>
              <a:xfrm>
                <a:off x="10051244" y="4146513"/>
                <a:ext cx="153393" cy="15339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38" name="Forma 192"/>
              <p:cNvSpPr txBox="1"/>
              <p:nvPr/>
            </p:nvSpPr>
            <p:spPr>
              <a:xfrm>
                <a:off x="9372600" y="4953279"/>
                <a:ext cx="160020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Glicerol</a:t>
                </a:r>
                <a:endParaRPr lang="es-AR" sz="1300" dirty="0">
                  <a:latin typeface="Fira Sans Condensed"/>
                </a:endParaRPr>
              </a:p>
            </p:txBody>
          </p:sp>
        </p:grpSp>
        <p:sp>
          <p:nvSpPr>
            <p:cNvPr id="139" name="Forma 193"/>
            <p:cNvSpPr txBox="1"/>
            <p:nvPr/>
          </p:nvSpPr>
          <p:spPr>
            <a:xfrm>
              <a:off x="6492240" y="5760720"/>
              <a:ext cx="5394960" cy="548640"/>
            </a:xfrm>
            <a:prstGeom prst="rect">
              <a:avLst/>
            </a:prstGeom>
            <a:noFill/>
            <a:ln>
              <a:noFill/>
            </a:ln>
          </p:spPr>
          <p:txBody>
            <a:bodyPr wrap="square" lIns="0" tIns="0" rIns="0" bIns="0" anchor="ctr" rtlCol="0">
              <a:noAutofit/>
            </a:bodyPr>
            <a:lstStyle/>
            <a:p>
              <a:pPr algn="ctr">
                <a:spcAft>
                  <a:spcPts val="300"/>
                </a:spcAft>
                <a:buNone/>
              </a:pPr>
              <a:r>
                <a:rPr lang="es-AR" sz="1400" dirty="0">
                  <a:solidFill>
                    <a:srgbClr val="1E1E1E"/>
                  </a:solidFill>
                  <a:latin typeface="Fira Sans Condensed"/>
                  <a:ea typeface="Fira Sans Condensed"/>
                  <a:cs typeface="Fira Sans Condensed"/>
                  <a:sym typeface="Fira Sans Condensed"/>
                </a:rPr>
                <a:t>Modelos 3D: </a:t>
              </a:r>
              <a:r>
                <a:rPr lang="es-AR" sz="1400" b="1" dirty="0">
                  <a:solidFill>
                    <a:srgbClr val="1E1E1E"/>
                  </a:solidFill>
                  <a:latin typeface="Fira Sans Condensed"/>
                  <a:ea typeface="Fira Sans Condensed"/>
                  <a:cs typeface="Fira Sans Condensed"/>
                  <a:sym typeface="Fira Sans Condensed"/>
                </a:rPr>
                <a:t>C</a:t>
              </a:r>
              <a:r>
                <a:rPr lang="es-AR" sz="1400" dirty="0">
                  <a:solidFill>
                    <a:srgbClr val="1E1E1E"/>
                  </a:solidFill>
                  <a:latin typeface="Fira Sans Condensed"/>
                  <a:ea typeface="Fira Sans Condensed"/>
                  <a:cs typeface="Fira Sans Condensed"/>
                  <a:sym typeface="Fira Sans Condensed"/>
                </a:rPr>
                <a:t> gris · </a:t>
              </a:r>
              <a:r>
                <a:rPr lang="es-AR" sz="1400" b="1" dirty="0">
                  <a:solidFill>
                    <a:srgbClr val="C00000"/>
                  </a:solidFill>
                  <a:latin typeface="Fira Sans Condensed"/>
                  <a:ea typeface="Fira Sans Condensed"/>
                  <a:cs typeface="Fira Sans Condensed"/>
                  <a:sym typeface="Fira Sans Condensed"/>
                </a:rPr>
                <a:t>O</a:t>
              </a:r>
              <a:r>
                <a:rPr lang="es-AR" sz="1400" dirty="0">
                  <a:solidFill>
                    <a:srgbClr val="1E1E1E"/>
                  </a:solidFill>
                  <a:latin typeface="Fira Sans Condensed"/>
                  <a:ea typeface="Fira Sans Condensed"/>
                  <a:cs typeface="Fira Sans Condensed"/>
                  <a:sym typeface="Fira Sans Condensed"/>
                </a:rPr>
                <a:t> rojo · H blanco · </a:t>
              </a:r>
              <a:r>
                <a:rPr lang="es-AR" sz="1400" b="1" dirty="0">
                  <a:solidFill>
                    <a:srgbClr val="2563B0"/>
                  </a:solidFill>
                  <a:latin typeface="Fira Sans Condensed"/>
                  <a:ea typeface="Fira Sans Condensed"/>
                  <a:cs typeface="Fira Sans Condensed"/>
                  <a:sym typeface="Fira Sans Condensed"/>
                </a:rPr>
                <a:t>N</a:t>
              </a:r>
              <a:r>
                <a:rPr lang="es-AR" sz="1400" dirty="0">
                  <a:solidFill>
                    <a:srgbClr val="1E1E1E"/>
                  </a:solidFill>
                  <a:latin typeface="Fira Sans Condensed"/>
                  <a:ea typeface="Fira Sans Condensed"/>
                  <a:cs typeface="Fira Sans Condensed"/>
                  <a:sym typeface="Fira Sans Condensed"/>
                </a:rPr>
                <a:t> azul · </a:t>
              </a:r>
              <a:r>
                <a:rPr lang="es-AR" sz="1400" b="1" dirty="0">
                  <a:solidFill>
                    <a:srgbClr val="C55A11"/>
                  </a:solidFill>
                  <a:latin typeface="Fira Sans Condensed"/>
                  <a:ea typeface="Fira Sans Condensed"/>
                  <a:cs typeface="Fira Sans Condensed"/>
                  <a:sym typeface="Fira Sans Condensed"/>
                </a:rPr>
                <a:t>P</a:t>
              </a:r>
              <a:r>
                <a:rPr lang="es-AR" sz="1400" dirty="0">
                  <a:solidFill>
                    <a:srgbClr val="1E1E1E"/>
                  </a:solidFill>
                  <a:latin typeface="Fira Sans Condensed"/>
                  <a:ea typeface="Fira Sans Condensed"/>
                  <a:cs typeface="Fira Sans Condensed"/>
                  <a:sym typeface="Fira Sans Condensed"/>
                </a:rPr>
                <a:t> naranja</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CÓDIGO VISUAL DE LOS MAPAS</a:t>
            </a:r>
            <a:endParaRPr lang="es-AR" sz="3400" dirty="0">
              <a:latin typeface="Permanent Marker"/>
            </a:endParaRPr>
          </a:p>
        </p:txBody>
      </p:sp>
      <p:sp>
        <p:nvSpPr>
          <p:cNvPr id="5" name="Etiqueta sección"/>
          <p:cNvSpPr/>
          <p:nvPr/>
        </p:nvSpPr>
        <p:spPr>
          <a:xfrm>
            <a:off x="164592" y="6510528"/>
            <a:ext cx="234522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DIABETES · OBESIDAD · TEJIDO ADIPOSO</a:t>
            </a:r>
            <a:endParaRPr lang="es-AR" sz="950" dirty="0">
              <a:latin typeface="Fira Sans Condensed"/>
            </a:endParaRPr>
          </a:p>
        </p:txBody>
      </p:sp>
      <p:sp>
        <p:nvSpPr>
          <p:cNvPr id="14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Cerebro red" descr="Ilustración biomédica (Servier Medical Art, CC BY)"/>
          <p:cNvPicPr>
            <a:picLocks noChangeAspect="1"/>
          </p:cNvPicPr>
          <p:nvPr/>
        </p:nvPicPr>
        <p:blipFill>
          <a:blip r:embed="rId2"/>
          <a:stretch>
            <a:fillRect/>
          </a:stretch>
        </p:blipFill>
        <p:spPr>
          <a:xfrm>
            <a:off x="5257800" y="914400"/>
            <a:ext cx="1600200" cy="1634048"/>
          </a:xfrm>
          <a:prstGeom prst="rect">
            <a:avLst/>
          </a:prstGeom>
        </p:spPr>
      </p:pic>
      <p:pic>
        <p:nvPicPr>
          <p:cNvPr id="8" name="!!Hígado red" descr="Ilustración biomédica (Servier Medical Art, CC BY)"/>
          <p:cNvPicPr>
            <a:picLocks noChangeAspect="1"/>
          </p:cNvPicPr>
          <p:nvPr/>
        </p:nvPicPr>
        <p:blipFill>
          <a:blip r:embed="rId3"/>
          <a:stretch>
            <a:fillRect/>
          </a:stretch>
        </p:blipFill>
        <p:spPr>
          <a:xfrm>
            <a:off x="502920" y="1325880"/>
            <a:ext cx="2651760" cy="1924143"/>
          </a:xfrm>
          <a:prstGeom prst="rect">
            <a:avLst/>
          </a:prstGeom>
        </p:spPr>
      </p:pic>
      <p:pic>
        <p:nvPicPr>
          <p:cNvPr id="9" name="!!Páncreas red" descr="Ilustración biomédica (Servier Medical Art, CC BY)"/>
          <p:cNvPicPr>
            <a:picLocks noChangeAspect="1"/>
          </p:cNvPicPr>
          <p:nvPr/>
        </p:nvPicPr>
        <p:blipFill>
          <a:blip r:embed="rId4"/>
          <a:stretch>
            <a:fillRect/>
          </a:stretch>
        </p:blipFill>
        <p:spPr>
          <a:xfrm>
            <a:off x="4480560" y="3063240"/>
            <a:ext cx="2377440" cy="986638"/>
          </a:xfrm>
          <a:prstGeom prst="rect">
            <a:avLst/>
          </a:prstGeom>
        </p:spPr>
      </p:pic>
      <p:pic>
        <p:nvPicPr>
          <p:cNvPr id="10" name="!!Tejido adiposo red" descr="Ilustración biomédica (Servier Medical Art, CC BY)"/>
          <p:cNvPicPr>
            <a:picLocks noChangeAspect="1"/>
          </p:cNvPicPr>
          <p:nvPr/>
        </p:nvPicPr>
        <p:blipFill>
          <a:blip r:embed="rId5"/>
          <a:stretch>
            <a:fillRect/>
          </a:stretch>
        </p:blipFill>
        <p:spPr>
          <a:xfrm>
            <a:off x="9509760" y="1051560"/>
            <a:ext cx="2011680" cy="2051240"/>
          </a:xfrm>
          <a:prstGeom prst="rect">
            <a:avLst/>
          </a:prstGeom>
        </p:spPr>
      </p:pic>
      <p:pic>
        <p:nvPicPr>
          <p:cNvPr id="11" name="!!Músculo red" descr="Ilustración biomédica (Servier Medical Art, CC BY)"/>
          <p:cNvPicPr>
            <a:picLocks noChangeAspect="1"/>
          </p:cNvPicPr>
          <p:nvPr/>
        </p:nvPicPr>
        <p:blipFill>
          <a:blip r:embed="rId6"/>
          <a:stretch>
            <a:fillRect/>
          </a:stretch>
        </p:blipFill>
        <p:spPr>
          <a:xfrm>
            <a:off x="9006840" y="4251960"/>
            <a:ext cx="2560320" cy="1188720"/>
          </a:xfrm>
          <a:prstGeom prst="rect">
            <a:avLst/>
          </a:prstGeom>
        </p:spPr>
      </p:pic>
      <p:pic>
        <p:nvPicPr>
          <p:cNvPr id="12" name="!!Riñón red" descr="Ilustración biomédica (Servier Medical Art, CC BY)"/>
          <p:cNvPicPr>
            <a:picLocks noChangeAspect="1"/>
          </p:cNvPicPr>
          <p:nvPr/>
        </p:nvPicPr>
        <p:blipFill>
          <a:blip r:embed="rId7"/>
          <a:stretch>
            <a:fillRect/>
          </a:stretch>
        </p:blipFill>
        <p:spPr>
          <a:xfrm>
            <a:off x="3063240" y="4480560"/>
            <a:ext cx="868680" cy="1537487"/>
          </a:xfrm>
          <a:prstGeom prst="rect">
            <a:avLst/>
          </a:prstGeom>
        </p:spPr>
      </p:pic>
      <p:pic>
        <p:nvPicPr>
          <p:cNvPr id="13" name="!!Corazón red" descr="Ilustración biomédica (Servier Medical Art, CC BY)"/>
          <p:cNvPicPr>
            <a:picLocks noChangeAspect="1"/>
          </p:cNvPicPr>
          <p:nvPr/>
        </p:nvPicPr>
        <p:blipFill>
          <a:blip r:embed="rId8"/>
          <a:stretch>
            <a:fillRect/>
          </a:stretch>
        </p:blipFill>
        <p:spPr>
          <a:xfrm>
            <a:off x="685800" y="4160520"/>
            <a:ext cx="1417320" cy="2006317"/>
          </a:xfrm>
          <a:prstGeom prst="rect">
            <a:avLst/>
          </a:prstGeom>
        </p:spPr>
      </p:pic>
      <p:sp>
        <p:nvSpPr>
          <p:cNvPr id="14" name="!!Rótulo hipotálamo"/>
          <p:cNvSpPr/>
          <p:nvPr/>
        </p:nvSpPr>
        <p:spPr>
          <a:xfrm>
            <a:off x="6903720" y="1554480"/>
            <a:ext cx="1263605"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HIPOTÁLAMO</a:t>
            </a:r>
            <a:endParaRPr lang="es-AR" sz="1300" dirty="0">
              <a:latin typeface="Fira Sans Condensed"/>
            </a:endParaRPr>
          </a:p>
        </p:txBody>
      </p:sp>
      <p:sp>
        <p:nvSpPr>
          <p:cNvPr id="15" name="!!Rótulo hígado"/>
          <p:cNvSpPr/>
          <p:nvPr/>
        </p:nvSpPr>
        <p:spPr>
          <a:xfrm>
            <a:off x="685800" y="2880360"/>
            <a:ext cx="890481"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HÍGADO</a:t>
            </a:r>
            <a:endParaRPr lang="es-AR" sz="1300" dirty="0">
              <a:latin typeface="Fira Sans Condensed"/>
            </a:endParaRPr>
          </a:p>
        </p:txBody>
      </p:sp>
      <p:sp>
        <p:nvSpPr>
          <p:cNvPr id="16" name="!!Rótulo páncreas"/>
          <p:cNvSpPr/>
          <p:nvPr/>
        </p:nvSpPr>
        <p:spPr>
          <a:xfrm>
            <a:off x="4709160" y="3977640"/>
            <a:ext cx="1070514"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PÁNCREAS</a:t>
            </a:r>
            <a:endParaRPr lang="es-AR" sz="1300" dirty="0">
              <a:latin typeface="Fira Sans Condensed"/>
            </a:endParaRPr>
          </a:p>
        </p:txBody>
      </p:sp>
      <p:sp>
        <p:nvSpPr>
          <p:cNvPr id="17" name="!!Rótulo tejido adiposo"/>
          <p:cNvSpPr/>
          <p:nvPr/>
        </p:nvSpPr>
        <p:spPr>
          <a:xfrm>
            <a:off x="9555480" y="3017520"/>
            <a:ext cx="1499077"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TEJIDO ADIPOSO</a:t>
            </a:r>
            <a:endParaRPr lang="es-AR" sz="1300" dirty="0">
              <a:latin typeface="Fira Sans Condensed"/>
            </a:endParaRPr>
          </a:p>
        </p:txBody>
      </p:sp>
      <p:sp>
        <p:nvSpPr>
          <p:cNvPr id="18" name="!!Rótulo músculo"/>
          <p:cNvSpPr/>
          <p:nvPr/>
        </p:nvSpPr>
        <p:spPr>
          <a:xfrm>
            <a:off x="9326880" y="5577840"/>
            <a:ext cx="1022103"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MÚSCULO</a:t>
            </a:r>
            <a:endParaRPr lang="es-AR" sz="1300" dirty="0">
              <a:latin typeface="Fira Sans Condensed"/>
            </a:endParaRPr>
          </a:p>
        </p:txBody>
      </p:sp>
      <p:sp>
        <p:nvSpPr>
          <p:cNvPr id="19" name="!!Rótulo riñón"/>
          <p:cNvSpPr/>
          <p:nvPr/>
        </p:nvSpPr>
        <p:spPr>
          <a:xfrm>
            <a:off x="4023360" y="4846320"/>
            <a:ext cx="789795"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RIÑÓN</a:t>
            </a:r>
            <a:endParaRPr lang="es-AR" sz="1300" dirty="0">
              <a:latin typeface="Fira Sans Condensed"/>
            </a:endParaRPr>
          </a:p>
        </p:txBody>
      </p:sp>
      <p:sp>
        <p:nvSpPr>
          <p:cNvPr id="20" name="!!Rótulo sistema cardiovascular"/>
          <p:cNvSpPr/>
          <p:nvPr/>
        </p:nvSpPr>
        <p:spPr>
          <a:xfrm>
            <a:off x="548640" y="5897880"/>
            <a:ext cx="2277259"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SISTEMA CARDIOVASCULAR</a:t>
            </a:r>
            <a:endParaRPr lang="es-AR" sz="1300" dirty="0">
              <a:latin typeface="Fira Sans Condensed"/>
            </a:endParaRPr>
          </a:p>
        </p:txBody>
      </p:sp>
      <p:grpSp>
        <p:nvGrpSpPr>
          <p:cNvPr id="21" name="Insulina a hígado"/>
          <p:cNvGrpSpPr/>
          <p:nvPr/>
        </p:nvGrpSpPr>
        <p:grpSpPr>
          <a:xfrm>
            <a:off x="3063240" y="2468880"/>
            <a:ext cx="1874520" cy="914400"/>
            <a:chOff x="3063240" y="2468880"/>
            <a:chExt cx="1874520" cy="914400"/>
          </a:xfrm>
        </p:grpSpPr>
        <p:sp>
          <p:nvSpPr>
            <p:cNvPr id="22" name="Flecha 21_2"/>
            <p:cNvSpPr/>
            <p:nvPr/>
          </p:nvSpPr>
          <p:spPr>
            <a:xfrm>
              <a:off x="3063240" y="2468880"/>
              <a:ext cx="1874520" cy="914400"/>
            </a:xfrm>
            <a:custGeom>
              <a:avLst/>
              <a:gdLst/>
              <a:ahLst/>
              <a:cxnLst/>
              <a:rect l="0" t="0" r="r" b="b"/>
              <a:pathLst>
                <a:path w="2050" h="1000" fill="none">
                  <a:moveTo>
                    <a:pt x="2050" y="1000"/>
                  </a:moveTo>
                  <a:lnTo>
                    <a:pt x="0" y="0"/>
                  </a:lnTo>
                </a:path>
              </a:pathLst>
            </a:custGeom>
            <a:noFill/>
            <a:ln w="38100" cap="rnd">
              <a:solidFill>
                <a:srgbClr val="1E8C3A"/>
              </a:solidFill>
              <a:round/>
              <a:tailEnd type="triangle" w="med" len="med"/>
            </a:ln>
          </p:spPr>
        </p:sp>
        <p:sp>
          <p:nvSpPr>
            <p:cNvPr id="23" name="Forma 23"/>
            <p:cNvSpPr/>
            <p:nvPr/>
          </p:nvSpPr>
          <p:spPr>
            <a:xfrm>
              <a:off x="3108960" y="2971800"/>
              <a:ext cx="173736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1E8C3A"/>
                  </a:solidFill>
                  <a:latin typeface="Fira Sans Condensed"/>
                  <a:ea typeface="Fira Sans Condensed"/>
                  <a:cs typeface="Fira Sans Condensed"/>
                  <a:sym typeface="Fira Sans Condensed"/>
                </a:rPr>
                <a:t>insulina / glucagón</a:t>
              </a:r>
              <a:endParaRPr lang="es-AR" sz="1150" dirty="0">
                <a:latin typeface="Fira Sans Condensed"/>
              </a:endParaRPr>
            </a:p>
          </p:txBody>
        </p:sp>
      </p:grpSp>
      <p:grpSp>
        <p:nvGrpSpPr>
          <p:cNvPr id="24" name="Insulina a músculo"/>
          <p:cNvGrpSpPr/>
          <p:nvPr/>
        </p:nvGrpSpPr>
        <p:grpSpPr>
          <a:xfrm>
            <a:off x="6812280" y="3520440"/>
            <a:ext cx="2331720" cy="1143000"/>
            <a:chOff x="6812280" y="3520440"/>
            <a:chExt cx="2331720" cy="1143000"/>
          </a:xfrm>
        </p:grpSpPr>
        <p:sp>
          <p:nvSpPr>
            <p:cNvPr id="25" name="Flecha 25_2"/>
            <p:cNvSpPr/>
            <p:nvPr/>
          </p:nvSpPr>
          <p:spPr>
            <a:xfrm>
              <a:off x="6812280" y="3520440"/>
              <a:ext cx="2331720" cy="1143000"/>
            </a:xfrm>
            <a:custGeom>
              <a:avLst/>
              <a:gdLst/>
              <a:ahLst/>
              <a:cxnLst/>
              <a:rect l="0" t="0" r="r" b="b"/>
              <a:pathLst>
                <a:path w="2550" h="1249" fill="none">
                  <a:moveTo>
                    <a:pt x="0" y="0"/>
                  </a:moveTo>
                  <a:lnTo>
                    <a:pt x="2550" y="1249"/>
                  </a:lnTo>
                </a:path>
              </a:pathLst>
            </a:custGeom>
            <a:noFill/>
            <a:ln w="38100" cap="rnd">
              <a:solidFill>
                <a:srgbClr val="1E8C3A"/>
              </a:solidFill>
              <a:round/>
              <a:tailEnd type="triangle" w="med" len="med"/>
            </a:ln>
          </p:spPr>
        </p:sp>
        <p:sp>
          <p:nvSpPr>
            <p:cNvPr id="26" name="Forma 27"/>
            <p:cNvSpPr/>
            <p:nvPr/>
          </p:nvSpPr>
          <p:spPr>
            <a:xfrm>
              <a:off x="7498080" y="4206240"/>
              <a:ext cx="91440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1E8C3A"/>
                  </a:solidFill>
                  <a:latin typeface="Fira Sans Condensed"/>
                  <a:ea typeface="Fira Sans Condensed"/>
                  <a:cs typeface="Fira Sans Condensed"/>
                  <a:sym typeface="Fira Sans Condensed"/>
                </a:rPr>
                <a:t>insulina</a:t>
              </a:r>
              <a:endParaRPr lang="es-AR" sz="1150" dirty="0">
                <a:latin typeface="Fira Sans Condensed"/>
              </a:endParaRPr>
            </a:p>
          </p:txBody>
        </p:sp>
      </p:grpSp>
      <p:grpSp>
        <p:nvGrpSpPr>
          <p:cNvPr id="27" name="Insulina a adiposo"/>
          <p:cNvGrpSpPr/>
          <p:nvPr/>
        </p:nvGrpSpPr>
        <p:grpSpPr>
          <a:xfrm>
            <a:off x="6720840" y="2240280"/>
            <a:ext cx="2743200" cy="1005840"/>
            <a:chOff x="6720840" y="2240280"/>
            <a:chExt cx="2743200" cy="1005840"/>
          </a:xfrm>
        </p:grpSpPr>
        <p:sp>
          <p:nvSpPr>
            <p:cNvPr id="28" name="Flecha 29_2"/>
            <p:cNvSpPr/>
            <p:nvPr/>
          </p:nvSpPr>
          <p:spPr>
            <a:xfrm>
              <a:off x="6720840" y="2240280"/>
              <a:ext cx="2743200" cy="1005840"/>
            </a:xfrm>
            <a:custGeom>
              <a:avLst/>
              <a:gdLst/>
              <a:ahLst/>
              <a:cxnLst/>
              <a:rect l="0" t="0" r="r" b="b"/>
              <a:pathLst>
                <a:path w="3000" h="1099" fill="none">
                  <a:moveTo>
                    <a:pt x="0" y="1099"/>
                  </a:moveTo>
                  <a:lnTo>
                    <a:pt x="3000" y="0"/>
                  </a:lnTo>
                </a:path>
              </a:pathLst>
            </a:custGeom>
            <a:noFill/>
            <a:ln w="38100" cap="rnd">
              <a:solidFill>
                <a:srgbClr val="1E8C3A"/>
              </a:solidFill>
              <a:round/>
              <a:tailEnd type="triangle" w="med" len="med"/>
            </a:ln>
          </p:spPr>
        </p:sp>
        <p:sp>
          <p:nvSpPr>
            <p:cNvPr id="29" name="Forma 31"/>
            <p:cNvSpPr/>
            <p:nvPr/>
          </p:nvSpPr>
          <p:spPr>
            <a:xfrm>
              <a:off x="7635240" y="2514600"/>
              <a:ext cx="91440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1E8C3A"/>
                  </a:solidFill>
                  <a:latin typeface="Fira Sans Condensed"/>
                  <a:ea typeface="Fira Sans Condensed"/>
                  <a:cs typeface="Fira Sans Condensed"/>
                  <a:sym typeface="Fira Sans Condensed"/>
                </a:rPr>
                <a:t>insulina</a:t>
              </a:r>
              <a:endParaRPr lang="es-AR" sz="1150" dirty="0">
                <a:latin typeface="Fira Sans Condensed"/>
              </a:endParaRPr>
            </a:p>
          </p:txBody>
        </p:sp>
      </p:grpSp>
      <p:grpSp>
        <p:nvGrpSpPr>
          <p:cNvPr id="30" name="Leptina a cerebro"/>
          <p:cNvGrpSpPr/>
          <p:nvPr/>
        </p:nvGrpSpPr>
        <p:grpSpPr>
          <a:xfrm>
            <a:off x="6903720" y="1024128"/>
            <a:ext cx="2606040" cy="438912"/>
            <a:chOff x="6903720" y="1024128"/>
            <a:chExt cx="2606040" cy="438912"/>
          </a:xfrm>
        </p:grpSpPr>
        <p:sp>
          <p:nvSpPr>
            <p:cNvPr id="31" name="Flecha 33_2"/>
            <p:cNvSpPr/>
            <p:nvPr/>
          </p:nvSpPr>
          <p:spPr>
            <a:xfrm>
              <a:off x="6903720" y="1325880"/>
              <a:ext cx="2606040" cy="137160"/>
            </a:xfrm>
            <a:custGeom>
              <a:avLst/>
              <a:gdLst/>
              <a:ahLst/>
              <a:cxnLst/>
              <a:rect l="0" t="0" r="r" b="b"/>
              <a:pathLst>
                <a:path w="2850" h="150" fill="none">
                  <a:moveTo>
                    <a:pt x="2850" y="150"/>
                  </a:moveTo>
                  <a:lnTo>
                    <a:pt x="0" y="0"/>
                  </a:lnTo>
                </a:path>
              </a:pathLst>
            </a:custGeom>
            <a:noFill/>
            <a:ln w="38100" cap="rnd">
              <a:solidFill>
                <a:srgbClr val="7030A0"/>
              </a:solidFill>
              <a:round/>
              <a:tailEnd type="triangle" w="med" len="med"/>
            </a:ln>
          </p:spPr>
        </p:sp>
        <p:sp>
          <p:nvSpPr>
            <p:cNvPr id="32" name="Forma 35"/>
            <p:cNvSpPr/>
            <p:nvPr/>
          </p:nvSpPr>
          <p:spPr>
            <a:xfrm>
              <a:off x="7772400" y="1024128"/>
              <a:ext cx="82296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7030A0"/>
                  </a:solidFill>
                  <a:latin typeface="Fira Sans Condensed"/>
                  <a:ea typeface="Fira Sans Condensed"/>
                  <a:cs typeface="Fira Sans Condensed"/>
                  <a:sym typeface="Fira Sans Condensed"/>
                </a:rPr>
                <a:t>leptina</a:t>
              </a:r>
              <a:endParaRPr lang="es-AR" sz="1150" dirty="0">
                <a:latin typeface="Fira Sans Condensed"/>
              </a:endParaRPr>
            </a:p>
          </p:txBody>
        </p:sp>
      </p:grpSp>
      <p:grpSp>
        <p:nvGrpSpPr>
          <p:cNvPr id="33" name="AGNE a hígado"/>
          <p:cNvGrpSpPr/>
          <p:nvPr/>
        </p:nvGrpSpPr>
        <p:grpSpPr>
          <a:xfrm>
            <a:off x="3154680" y="1874520"/>
            <a:ext cx="6355080" cy="303276"/>
            <a:chOff x="3154680" y="1874520"/>
            <a:chExt cx="6355080" cy="303276"/>
          </a:xfrm>
        </p:grpSpPr>
        <p:sp>
          <p:nvSpPr>
            <p:cNvPr id="34" name="Flecha 37_2"/>
            <p:cNvSpPr/>
            <p:nvPr/>
          </p:nvSpPr>
          <p:spPr>
            <a:xfrm>
              <a:off x="3154680" y="1874520"/>
              <a:ext cx="6355080" cy="45720"/>
            </a:xfrm>
            <a:custGeom>
              <a:avLst/>
              <a:gdLst/>
              <a:ahLst/>
              <a:cxnLst/>
              <a:rect l="0" t="0" r="r" b="b"/>
              <a:pathLst>
                <a:path w="6950" h="50" fill="none">
                  <a:moveTo>
                    <a:pt x="6950" y="0"/>
                  </a:moveTo>
                  <a:lnTo>
                    <a:pt x="0" y="50"/>
                  </a:lnTo>
                </a:path>
              </a:pathLst>
            </a:custGeom>
            <a:noFill/>
            <a:ln w="31750" cap="rnd">
              <a:solidFill>
                <a:srgbClr val="2563B0"/>
              </a:solidFill>
              <a:prstDash val="dash"/>
              <a:round/>
              <a:tailEnd type="triangle" w="med" len="med"/>
            </a:ln>
          </p:spPr>
        </p:sp>
        <p:sp>
          <p:nvSpPr>
            <p:cNvPr id="35" name="Forma 39"/>
            <p:cNvSpPr/>
            <p:nvPr/>
          </p:nvSpPr>
          <p:spPr>
            <a:xfrm>
              <a:off x="6355080" y="1965960"/>
              <a:ext cx="137160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2563B0"/>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36" name="Glucosa a riñón"/>
          <p:cNvGrpSpPr/>
          <p:nvPr/>
        </p:nvGrpSpPr>
        <p:grpSpPr>
          <a:xfrm>
            <a:off x="1463040" y="3291840"/>
            <a:ext cx="1645920" cy="1371600"/>
            <a:chOff x="1463040" y="3291840"/>
            <a:chExt cx="1645920" cy="1371600"/>
          </a:xfrm>
        </p:grpSpPr>
        <p:sp>
          <p:nvSpPr>
            <p:cNvPr id="37" name="Flecha 41_2"/>
            <p:cNvSpPr/>
            <p:nvPr/>
          </p:nvSpPr>
          <p:spPr>
            <a:xfrm>
              <a:off x="2011680" y="3291840"/>
              <a:ext cx="1097280" cy="1371600"/>
            </a:xfrm>
            <a:custGeom>
              <a:avLst/>
              <a:gdLst/>
              <a:ahLst/>
              <a:cxnLst/>
              <a:rect l="0" t="0" r="r" b="b"/>
              <a:pathLst>
                <a:path w="1199" h="1499" fill="none">
                  <a:moveTo>
                    <a:pt x="0" y="0"/>
                  </a:moveTo>
                  <a:lnTo>
                    <a:pt x="1199" y="1499"/>
                  </a:lnTo>
                </a:path>
              </a:pathLst>
            </a:custGeom>
            <a:noFill/>
            <a:ln w="31750" cap="rnd">
              <a:solidFill>
                <a:srgbClr val="1E1E1E"/>
              </a:solidFill>
              <a:round/>
              <a:tailEnd type="triangle" w="med" len="med"/>
            </a:ln>
          </p:spPr>
        </p:sp>
        <p:sp>
          <p:nvSpPr>
            <p:cNvPr id="38" name="Forma 43"/>
            <p:cNvSpPr/>
            <p:nvPr/>
          </p:nvSpPr>
          <p:spPr>
            <a:xfrm>
              <a:off x="1463040" y="3840480"/>
              <a:ext cx="82296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a:t>
              </a:r>
              <a:endParaRPr lang="es-AR" sz="1150" dirty="0">
                <a:latin typeface="Fira Sans Condensed"/>
              </a:endParaRPr>
            </a:p>
          </p:txBody>
        </p:sp>
      </p:grpSp>
      <p:grpSp>
        <p:nvGrpSpPr>
          <p:cNvPr id="39" name="SNA a páncreas"/>
          <p:cNvGrpSpPr/>
          <p:nvPr/>
        </p:nvGrpSpPr>
        <p:grpSpPr>
          <a:xfrm>
            <a:off x="5257800" y="2514600"/>
            <a:ext cx="731520" cy="640080"/>
            <a:chOff x="5257800" y="2514600"/>
            <a:chExt cx="731520" cy="640080"/>
          </a:xfrm>
        </p:grpSpPr>
        <p:sp>
          <p:nvSpPr>
            <p:cNvPr id="40" name="Flecha 45_2"/>
            <p:cNvSpPr/>
            <p:nvPr/>
          </p:nvSpPr>
          <p:spPr>
            <a:xfrm>
              <a:off x="5760720" y="2514600"/>
              <a:ext cx="228600" cy="640080"/>
            </a:xfrm>
            <a:custGeom>
              <a:avLst/>
              <a:gdLst/>
              <a:ahLst/>
              <a:cxnLst/>
              <a:rect l="0" t="0" r="r" b="b"/>
              <a:pathLst>
                <a:path w="250" h="700" fill="none">
                  <a:moveTo>
                    <a:pt x="250" y="0"/>
                  </a:moveTo>
                  <a:lnTo>
                    <a:pt x="0" y="700"/>
                  </a:lnTo>
                </a:path>
              </a:pathLst>
            </a:custGeom>
            <a:noFill/>
            <a:ln w="31750" cap="rnd">
              <a:solidFill>
                <a:srgbClr val="7030A0"/>
              </a:solidFill>
              <a:round/>
              <a:tailEnd type="triangle" w="med" len="med"/>
            </a:ln>
          </p:spPr>
        </p:sp>
        <p:sp>
          <p:nvSpPr>
            <p:cNvPr id="41" name="Forma 47"/>
            <p:cNvSpPr/>
            <p:nvPr/>
          </p:nvSpPr>
          <p:spPr>
            <a:xfrm>
              <a:off x="5257800" y="2697480"/>
              <a:ext cx="502920" cy="20421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00" b="1" dirty="0">
                  <a:solidFill>
                    <a:srgbClr val="7030A0"/>
                  </a:solidFill>
                  <a:latin typeface="Fira Sans Condensed"/>
                  <a:ea typeface="Fira Sans Condensed"/>
                  <a:cs typeface="Fira Sans Condensed"/>
                  <a:sym typeface="Fira Sans Condensed"/>
                </a:rPr>
                <a:t>SNA</a:t>
              </a:r>
              <a:endParaRPr lang="es-AR" sz="1100" dirty="0">
                <a:latin typeface="Fira Sans Condensed"/>
              </a:endParaRPr>
            </a:p>
          </p:txBody>
        </p:sp>
      </p:grpSp>
      <p:grpSp>
        <p:nvGrpSpPr>
          <p:cNvPr id="42" name="Riñón a corazón"/>
          <p:cNvGrpSpPr/>
          <p:nvPr/>
        </p:nvGrpSpPr>
        <p:grpSpPr>
          <a:xfrm>
            <a:off x="2148840" y="4937760"/>
            <a:ext cx="1828800" cy="284988"/>
            <a:chOff x="2148840" y="4937760"/>
            <a:chExt cx="1828800" cy="284988"/>
          </a:xfrm>
        </p:grpSpPr>
        <p:sp>
          <p:nvSpPr>
            <p:cNvPr id="43" name="Flecha 49_2"/>
            <p:cNvSpPr/>
            <p:nvPr/>
          </p:nvSpPr>
          <p:spPr>
            <a:xfrm>
              <a:off x="2148840" y="4937760"/>
              <a:ext cx="1828800" cy="9144"/>
            </a:xfrm>
            <a:custGeom>
              <a:avLst/>
              <a:gdLst/>
              <a:ahLst/>
              <a:cxnLst/>
              <a:rect l="0" t="0" r="r" b="b"/>
              <a:pathLst>
                <a:path w="1999" h="10" fill="none">
                  <a:moveTo>
                    <a:pt x="1999" y="0"/>
                  </a:moveTo>
                  <a:lnTo>
                    <a:pt x="0" y="0"/>
                  </a:lnTo>
                </a:path>
              </a:pathLst>
            </a:custGeom>
            <a:noFill/>
            <a:ln w="31750" cap="rnd">
              <a:solidFill>
                <a:srgbClr val="C00000"/>
              </a:solidFill>
              <a:round/>
              <a:tailEnd type="triangle" w="med" len="med"/>
            </a:ln>
          </p:spPr>
        </p:sp>
        <p:sp>
          <p:nvSpPr>
            <p:cNvPr id="44" name="Forma 51"/>
            <p:cNvSpPr/>
            <p:nvPr/>
          </p:nvSpPr>
          <p:spPr>
            <a:xfrm>
              <a:off x="2377440" y="5010912"/>
              <a:ext cx="1188720" cy="211836"/>
            </a:xfrm>
            <a:prstGeom prst="roundRect">
              <a:avLst>
                <a:gd name="adj" fmla="val 30000"/>
              </a:avLst>
            </a:prstGeom>
            <a:solidFill>
              <a:srgbClr val="FFFFFF"/>
            </a:solidFill>
            <a:ln>
              <a:noFill/>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Na⁺ · volumen</a:t>
              </a:r>
              <a:endParaRPr lang="es-AR" sz="1150" dirty="0">
                <a:latin typeface="Fira Sans Condensed"/>
              </a:endParaRPr>
            </a:p>
          </p:txBody>
        </p:sp>
      </p:grpSp>
      <p:sp>
        <p:nvSpPr>
          <p:cNvPr id="45" name="Perla clínica"/>
          <p:cNvSpPr/>
          <p:nvPr/>
        </p:nvSpPr>
        <p:spPr>
          <a:xfrm>
            <a:off x="4206240" y="5669280"/>
            <a:ext cx="4572000" cy="7772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La energía no circula por órganos aislados: el organismo funciona como una red metabólica, hormonal, neuronal y vascular.</a:t>
            </a:r>
            <a:endParaRPr lang="es-AR" sz="14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LA RED INTERORGÁNICA</a:t>
            </a:r>
            <a:endParaRPr lang="es-AR" sz="3400" dirty="0">
              <a:latin typeface="Permanent Marker"/>
            </a:endParaRPr>
          </a:p>
        </p:txBody>
      </p:sp>
      <p:sp>
        <p:nvSpPr>
          <p:cNvPr id="6" name="Etiqueta sección"/>
          <p:cNvSpPr/>
          <p:nvPr/>
        </p:nvSpPr>
        <p:spPr>
          <a:xfrm>
            <a:off x="164592" y="6510528"/>
            <a:ext cx="234522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DIABETES · OBESIDAD · TEJIDO ADIPOSO</a:t>
            </a:r>
            <a:endParaRPr lang="es-AR" sz="950" dirty="0">
              <a:latin typeface="Fira Sans Condensed"/>
            </a:endParaRPr>
          </a:p>
        </p:txBody>
      </p:sp>
      <p:sp>
        <p:nvSpPr>
          <p:cNvPr id="4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9"/>
                                        </p:tgtEl>
                                      </p:cBhvr>
                                      <p:by x="112000" y="112000"/>
                                    </p:animScale>
                                  </p:childTnLst>
                                </p:cTn>
                              </p:par>
                            </p:childTnLst>
                          </p:cTn>
                        </p:par>
                        <p:par>
                          <p:cTn id="9" fill="hold">
                            <p:stCondLst>
                              <p:cond delay="300"/>
                            </p:stCondLst>
                            <p:childTnLst>
                              <p:par>
                                <p:cTn id="6" presetID="10" presetClass="entr" presetSubtype="0" fill="hold" grpId="0" nodeType="after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500"/>
                                        <p:tgtEl>
                                          <p:spTgt spid="16"/>
                                        </p:tgtEl>
                                      </p:cBhvr>
                                    </p:animEffect>
                                  </p:childTnLst>
                                </p:cTn>
                              </p:par>
                            </p:childTnLst>
                          </p:cTn>
                        </p:par>
                      </p:childTnLst>
                    </p:cTn>
                  </p:par>
                  <p:par>
                    <p:cTn id="23" fill="hold">
                      <p:stCondLst>
                        <p:cond delay="indefinite"/>
                      </p:stCondLst>
                      <p:childTnLst>
                        <p:par>
                          <p:cTn id="14"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par>
                          <p:cTn id="18"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childTnLst>
                    </p:cTn>
                  </p:par>
                  <p:par>
                    <p:cTn id="32"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par>
                          <p:cTn id="31"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childTnLst>
                    </p:cTn>
                  </p:par>
                  <p:par>
                    <p:cTn id="45"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par>
                          <p:cTn id="40"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childTnLst>
                          </p:cTn>
                        </p:par>
                        <p:par>
                          <p:cTn id="44" fill="hold">
                            <p:stCondLst>
                              <p:cond delay="1000"/>
                            </p:stCondLst>
                            <p:childTnLst>
                              <p:par>
                                <p:cTn id="41" presetID="10" presetClass="entr" presetSubtype="0" fill="hold" grpId="0"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par>
                    <p:cTn id="52" fill="hold">
                      <p:stCondLst>
                        <p:cond delay="indefinite"/>
                      </p:stCondLst>
                      <p:childTnLst>
                        <p:par>
                          <p:cTn id="51"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 calcmode="lin" valueType="num">
                                      <p:cBhvr>
                                        <p:cTn id="48" dur="500" fill="hold"/>
                                        <p:tgtEl>
                                          <p:spTgt spid="45"/>
                                        </p:tgtEl>
                                        <p:attrNameLst>
                                          <p:attrName>ppt_w</p:attrName>
                                        </p:attrNameLst>
                                      </p:cBhvr>
                                      <p:tavLst>
                                        <p:tav tm="0">
                                          <p:val>
                                            <p:fltVal val="0"/>
                                          </p:val>
                                        </p:tav>
                                        <p:tav tm="100000">
                                          <p:val>
                                            <p:strVal val="#ppt_w"/>
                                          </p:val>
                                        </p:tav>
                                      </p:tavLst>
                                    </p:anim>
                                    <p:anim calcmode="lin" valueType="num">
                                      <p:cBhvr>
                                        <p:cTn id="49" dur="500" fill="hold"/>
                                        <p:tgtEl>
                                          <p:spTgt spid="45"/>
                                        </p:tgtEl>
                                        <p:attrNameLst>
                                          <p:attrName>ppt_h</p:attrName>
                                        </p:attrNameLst>
                                      </p:cBhvr>
                                      <p:tavLst>
                                        <p:tav tm="0">
                                          <p:val>
                                            <p:fltVal val="0"/>
                                          </p:val>
                                        </p:tav>
                                        <p:tav tm="100000">
                                          <p:val>
                                            <p:strVal val="#ppt_h"/>
                                          </p:val>
                                        </p:tav>
                                      </p:tavLst>
                                    </p:anim>
                                    <p:animEffect transition="in" filter="fade">
                                      <p:cBhvr>
                                        <p:cTn id="5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Idea 1"/>
          <p:cNvGrpSpPr/>
          <p:nvPr/>
        </p:nvGrpSpPr>
        <p:grpSpPr>
          <a:xfrm>
            <a:off x="457200" y="1005840"/>
            <a:ext cx="11338560" cy="914400"/>
            <a:chOff x="457200" y="1005840"/>
            <a:chExt cx="11338560" cy="914400"/>
          </a:xfrm>
        </p:grpSpPr>
        <p:sp>
          <p:nvSpPr>
            <p:cNvPr id="7" name="Forma 6"/>
            <p:cNvSpPr/>
            <p:nvPr/>
          </p:nvSpPr>
          <p:spPr>
            <a:xfrm>
              <a:off x="457200" y="1051560"/>
              <a:ext cx="685800" cy="68580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600" dirty="0">
                  <a:solidFill>
                    <a:srgbClr val="C00000"/>
                  </a:solidFill>
                  <a:latin typeface="Bangers"/>
                  <a:ea typeface="Bangers"/>
                  <a:cs typeface="Bangers"/>
                  <a:sym typeface="Bangers"/>
                </a:rPr>
                <a:t>1</a:t>
              </a:r>
              <a:endParaRPr lang="es-AR" sz="2600" dirty="0">
                <a:latin typeface="Bangers"/>
              </a:endParaRPr>
            </a:p>
          </p:txBody>
        </p:sp>
        <p:pic>
          <p:nvPicPr>
            <p:cNvPr id="8" name="Imagen adipocyte-1" descr="Ilustración biomédica (Servier Medical Art, CC BY)"/>
            <p:cNvPicPr>
              <a:picLocks noChangeAspect="1"/>
            </p:cNvPicPr>
            <p:nvPr/>
          </p:nvPicPr>
          <p:blipFill>
            <a:blip r:embed="rId2"/>
            <a:stretch>
              <a:fillRect/>
            </a:stretch>
          </p:blipFill>
          <p:spPr>
            <a:xfrm>
              <a:off x="1403277" y="1005840"/>
              <a:ext cx="896765" cy="914400"/>
            </a:xfrm>
            <a:prstGeom prst="rect">
              <a:avLst/>
            </a:prstGeom>
          </p:spPr>
        </p:pic>
        <p:sp>
          <p:nvSpPr>
            <p:cNvPr id="9" name="Forma 8"/>
            <p:cNvSpPr/>
            <p:nvPr/>
          </p:nvSpPr>
          <p:spPr>
            <a:xfrm>
              <a:off x="2514600" y="1005840"/>
              <a:ext cx="92811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adipocito almacena y señaliza</a:t>
              </a:r>
              <a:r>
                <a:rPr lang="es-AR" sz="1500" dirty="0">
                  <a:solidFill>
                    <a:srgbClr val="1E1E1E"/>
                  </a:solidFill>
                  <a:latin typeface="Fira Sans Condensed"/>
                  <a:ea typeface="Fira Sans Condensed"/>
                  <a:cs typeface="Fira Sans Condensed"/>
                  <a:sym typeface="Fira Sans Condensed"/>
                </a:rPr>
                <a:t>: integra glucosa, ácidos grasos, insulina, catecolaminas y citocinas. La expansión </a:t>
              </a:r>
              <a:r>
                <a:rPr lang="es-AR" sz="1500" b="1" dirty="0">
                  <a:solidFill>
                    <a:srgbClr val="1E1E1E"/>
                  </a:solidFill>
                  <a:latin typeface="Fira Sans Condensed"/>
                  <a:ea typeface="Fira Sans Condensed"/>
                  <a:cs typeface="Fira Sans Condensed"/>
                  <a:sym typeface="Fira Sans Condensed"/>
                </a:rPr>
                <a:t>disfuncional</a:t>
              </a:r>
              <a:r>
                <a:rPr lang="es-AR" sz="1500" dirty="0">
                  <a:solidFill>
                    <a:srgbClr val="1E1E1E"/>
                  </a:solidFill>
                  <a:latin typeface="Fira Sans Condensed"/>
                  <a:ea typeface="Fira Sans Condensed"/>
                  <a:cs typeface="Fira Sans Condensed"/>
                  <a:sym typeface="Fira Sans Condensed"/>
                </a:rPr>
                <a:t> de grasa visceral favorece lipotoxicidad e inflamación.</a:t>
              </a:r>
              <a:endParaRPr lang="es-AR" sz="1500" dirty="0">
                <a:latin typeface="Fira Sans Condensed"/>
              </a:endParaRPr>
            </a:p>
          </p:txBody>
        </p:sp>
      </p:grpSp>
      <p:grpSp>
        <p:nvGrpSpPr>
          <p:cNvPr id="10" name="Idea 2"/>
          <p:cNvGrpSpPr/>
          <p:nvPr/>
        </p:nvGrpSpPr>
        <p:grpSpPr>
          <a:xfrm>
            <a:off x="457200" y="2084832"/>
            <a:ext cx="11338560" cy="914400"/>
            <a:chOff x="457200" y="2084832"/>
            <a:chExt cx="11338560" cy="914400"/>
          </a:xfrm>
        </p:grpSpPr>
        <p:sp>
          <p:nvSpPr>
            <p:cNvPr id="11" name="Forma 10"/>
            <p:cNvSpPr/>
            <p:nvPr/>
          </p:nvSpPr>
          <p:spPr>
            <a:xfrm>
              <a:off x="457200" y="2130552"/>
              <a:ext cx="685800" cy="68580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600" dirty="0">
                  <a:solidFill>
                    <a:srgbClr val="C00000"/>
                  </a:solidFill>
                  <a:latin typeface="Bangers"/>
                  <a:ea typeface="Bangers"/>
                  <a:cs typeface="Bangers"/>
                  <a:sym typeface="Bangers"/>
                </a:rPr>
                <a:t>2</a:t>
              </a:r>
              <a:endParaRPr lang="es-AR" sz="2600" dirty="0">
                <a:latin typeface="Bangers"/>
              </a:endParaRPr>
            </a:p>
          </p:txBody>
        </p:sp>
        <p:pic>
          <p:nvPicPr>
            <p:cNvPr id="12" name="Imagen pancreas" descr="Ilustración biomédica (Servier Medical Art, CC BY)"/>
            <p:cNvPicPr>
              <a:picLocks noChangeAspect="1"/>
            </p:cNvPicPr>
            <p:nvPr/>
          </p:nvPicPr>
          <p:blipFill>
            <a:blip r:embed="rId3"/>
            <a:stretch>
              <a:fillRect/>
            </a:stretch>
          </p:blipFill>
          <p:spPr>
            <a:xfrm>
              <a:off x="1280160" y="2304860"/>
              <a:ext cx="1143000" cy="474345"/>
            </a:xfrm>
            <a:prstGeom prst="rect">
              <a:avLst/>
            </a:prstGeom>
          </p:spPr>
        </p:pic>
        <p:sp>
          <p:nvSpPr>
            <p:cNvPr id="13" name="Forma 12"/>
            <p:cNvSpPr/>
            <p:nvPr/>
          </p:nvSpPr>
          <p:spPr>
            <a:xfrm>
              <a:off x="2514600" y="2084832"/>
              <a:ext cx="92811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a:t>
              </a:r>
              <a:r>
                <a:rPr lang="es-AR" sz="1500" b="1" dirty="0">
                  <a:solidFill>
                    <a:srgbClr val="1E1E1E"/>
                  </a:solidFill>
                  <a:latin typeface="Fira Sans Condensed"/>
                  <a:ea typeface="Fira Sans Condensed"/>
                  <a:cs typeface="Fira Sans Condensed"/>
                  <a:sym typeface="Fira Sans Condensed"/>
                </a:rPr>
                <a:t>insulina conecta órganos</a:t>
              </a:r>
              <a:r>
                <a:rPr lang="es-AR" sz="1500" dirty="0">
                  <a:solidFill>
                    <a:srgbClr val="1E1E1E"/>
                  </a:solidFill>
                  <a:latin typeface="Fira Sans Condensed"/>
                  <a:ea typeface="Fira Sans Condensed"/>
                  <a:cs typeface="Fira Sans Condensed"/>
                  <a:sym typeface="Fira Sans Condensed"/>
                </a:rPr>
                <a:t>: su </a:t>
              </a:r>
              <a:r>
                <a:rPr lang="es-AR" sz="1500" b="1" dirty="0">
                  <a:solidFill>
                    <a:srgbClr val="1E1E1E"/>
                  </a:solidFill>
                  <a:latin typeface="Fira Sans Condensed"/>
                  <a:ea typeface="Fira Sans Condensed"/>
                  <a:cs typeface="Fira Sans Condensed"/>
                  <a:sym typeface="Fira Sans Condensed"/>
                </a:rPr>
                <a:t>ausencia</a:t>
              </a:r>
              <a:r>
                <a:rPr lang="es-AR" sz="1500" dirty="0">
                  <a:solidFill>
                    <a:srgbClr val="1E1E1E"/>
                  </a:solidFill>
                  <a:latin typeface="Fira Sans Condensed"/>
                  <a:ea typeface="Fira Sans Condensed"/>
                  <a:cs typeface="Fira Sans Condensed"/>
                  <a:sym typeface="Fira Sans Condensed"/>
                </a:rPr>
                <a:t> activa cetogénesis (cetoacidosis); su </a:t>
              </a:r>
              <a:r>
                <a:rPr lang="es-AR" sz="1500" b="1" dirty="0">
                  <a:solidFill>
                    <a:srgbClr val="1E1E1E"/>
                  </a:solidFill>
                  <a:latin typeface="Fira Sans Condensed"/>
                  <a:ea typeface="Fira Sans Condensed"/>
                  <a:cs typeface="Fira Sans Condensed"/>
                  <a:sym typeface="Fira Sans Condensed"/>
                </a:rPr>
                <a:t>eficacia insuficiente</a:t>
              </a:r>
              <a:r>
                <a:rPr lang="es-AR" sz="1500" dirty="0">
                  <a:solidFill>
                    <a:srgbClr val="1E1E1E"/>
                  </a:solidFill>
                  <a:latin typeface="Fira Sans Condensed"/>
                  <a:ea typeface="Fira Sans Condensed"/>
                  <a:cs typeface="Fira Sans Condensed"/>
                  <a:sym typeface="Fira Sans Condensed"/>
                </a:rPr>
                <a:t> genera hiperglucemia, dislipidemia y DM2.</a:t>
              </a:r>
              <a:endParaRPr lang="es-AR" sz="1500" dirty="0">
                <a:latin typeface="Fira Sans Condensed"/>
              </a:endParaRPr>
            </a:p>
          </p:txBody>
        </p:sp>
      </p:grpSp>
      <p:grpSp>
        <p:nvGrpSpPr>
          <p:cNvPr id="14" name="Idea 3"/>
          <p:cNvGrpSpPr/>
          <p:nvPr/>
        </p:nvGrpSpPr>
        <p:grpSpPr>
          <a:xfrm>
            <a:off x="457200" y="3163824"/>
            <a:ext cx="11338560" cy="914400"/>
            <a:chOff x="457200" y="3163824"/>
            <a:chExt cx="11338560" cy="914400"/>
          </a:xfrm>
        </p:grpSpPr>
        <p:sp>
          <p:nvSpPr>
            <p:cNvPr id="15" name="Forma 14"/>
            <p:cNvSpPr/>
            <p:nvPr/>
          </p:nvSpPr>
          <p:spPr>
            <a:xfrm>
              <a:off x="457200" y="3209544"/>
              <a:ext cx="685800" cy="68580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600" dirty="0">
                  <a:solidFill>
                    <a:srgbClr val="C00000"/>
                  </a:solidFill>
                  <a:latin typeface="Bangers"/>
                  <a:ea typeface="Bangers"/>
                  <a:cs typeface="Bangers"/>
                  <a:sym typeface="Bangers"/>
                </a:rPr>
                <a:t>3</a:t>
              </a:r>
              <a:endParaRPr lang="es-AR" sz="2600" dirty="0">
                <a:latin typeface="Bangers"/>
              </a:endParaRPr>
            </a:p>
          </p:txBody>
        </p:sp>
        <p:pic>
          <p:nvPicPr>
            <p:cNvPr id="16" name="Imagen brain-2" descr="Ilustración biomédica (Servier Medical Art, CC BY)"/>
            <p:cNvPicPr>
              <a:picLocks noChangeAspect="1"/>
            </p:cNvPicPr>
            <p:nvPr/>
          </p:nvPicPr>
          <p:blipFill>
            <a:blip r:embed="rId4"/>
            <a:stretch>
              <a:fillRect/>
            </a:stretch>
          </p:blipFill>
          <p:spPr>
            <a:xfrm>
              <a:off x="1403931" y="3163824"/>
              <a:ext cx="895459" cy="914400"/>
            </a:xfrm>
            <a:prstGeom prst="rect">
              <a:avLst/>
            </a:prstGeom>
          </p:spPr>
        </p:pic>
        <p:sp>
          <p:nvSpPr>
            <p:cNvPr id="17" name="Forma 16"/>
            <p:cNvSpPr/>
            <p:nvPr/>
          </p:nvSpPr>
          <p:spPr>
            <a:xfrm>
              <a:off x="2514600" y="3163824"/>
              <a:ext cx="92811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cerebro decide ingesta y gasto</a:t>
              </a:r>
              <a:r>
                <a:rPr lang="es-AR" sz="1500" dirty="0">
                  <a:solidFill>
                    <a:srgbClr val="1E1E1E"/>
                  </a:solidFill>
                  <a:latin typeface="Fira Sans Condensed"/>
                  <a:ea typeface="Fira Sans Condensed"/>
                  <a:cs typeface="Fira Sans Condensed"/>
                  <a:sym typeface="Fira Sans Condensed"/>
                </a:rPr>
                <a:t>: hipotálamo, tronco, circuitos mesolímbicos y sistema de estrés traducen hormonas y nutrientes en conducta alimentaria.</a:t>
              </a:r>
              <a:endParaRPr lang="es-AR" sz="1500" dirty="0">
                <a:latin typeface="Fira Sans Condensed"/>
              </a:endParaRPr>
            </a:p>
          </p:txBody>
        </p:sp>
      </p:grpSp>
      <p:grpSp>
        <p:nvGrpSpPr>
          <p:cNvPr id="18" name="Idea 4"/>
          <p:cNvGrpSpPr/>
          <p:nvPr/>
        </p:nvGrpSpPr>
        <p:grpSpPr>
          <a:xfrm>
            <a:off x="457200" y="4242816"/>
            <a:ext cx="11338560" cy="914400"/>
            <a:chOff x="457200" y="4242816"/>
            <a:chExt cx="11338560" cy="914400"/>
          </a:xfrm>
        </p:grpSpPr>
        <p:sp>
          <p:nvSpPr>
            <p:cNvPr id="19" name="Forma 18"/>
            <p:cNvSpPr/>
            <p:nvPr/>
          </p:nvSpPr>
          <p:spPr>
            <a:xfrm>
              <a:off x="457200" y="4288536"/>
              <a:ext cx="685800" cy="68580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600" dirty="0">
                  <a:solidFill>
                    <a:srgbClr val="C00000"/>
                  </a:solidFill>
                  <a:latin typeface="Bangers"/>
                  <a:ea typeface="Bangers"/>
                  <a:cs typeface="Bangers"/>
                  <a:sym typeface="Bangers"/>
                </a:rPr>
                <a:t>4</a:t>
              </a:r>
              <a:endParaRPr lang="es-AR" sz="2600" dirty="0">
                <a:latin typeface="Bangers"/>
              </a:endParaRPr>
            </a:p>
          </p:txBody>
        </p:sp>
        <p:pic>
          <p:nvPicPr>
            <p:cNvPr id="20" name="Imagen kidney-1" descr="Ilustración biomédica (Servier Medical Art, CC BY)"/>
            <p:cNvPicPr>
              <a:picLocks noChangeAspect="1"/>
            </p:cNvPicPr>
            <p:nvPr/>
          </p:nvPicPr>
          <p:blipFill>
            <a:blip r:embed="rId5"/>
            <a:stretch>
              <a:fillRect/>
            </a:stretch>
          </p:blipFill>
          <p:spPr>
            <a:xfrm>
              <a:off x="1593342" y="4242816"/>
              <a:ext cx="516636" cy="914400"/>
            </a:xfrm>
            <a:prstGeom prst="rect">
              <a:avLst/>
            </a:prstGeom>
          </p:spPr>
        </p:pic>
        <p:sp>
          <p:nvSpPr>
            <p:cNvPr id="21" name="Forma 20"/>
            <p:cNvSpPr/>
            <p:nvPr/>
          </p:nvSpPr>
          <p:spPr>
            <a:xfrm>
              <a:off x="2514600" y="4242816"/>
              <a:ext cx="92811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riñón convierte hiperglucemia en deshidratación</a:t>
              </a:r>
              <a:r>
                <a:rPr lang="es-AR" sz="1500" dirty="0">
                  <a:solidFill>
                    <a:srgbClr val="1E1E1E"/>
                  </a:solidFill>
                  <a:latin typeface="Fira Sans Condensed"/>
                  <a:ea typeface="Fira Sans Condensed"/>
                  <a:cs typeface="Fira Sans Condensed"/>
                  <a:sym typeface="Fira Sans Condensed"/>
                </a:rPr>
                <a:t>: carga filtrada &gt; reabsorción → glucosuria, diuresis osmótica y pérdida de agua y electrolitos.</a:t>
              </a:r>
              <a:endParaRPr lang="es-AR" sz="1500" dirty="0">
                <a:latin typeface="Fira Sans Condensed"/>
              </a:endParaRPr>
            </a:p>
          </p:txBody>
        </p:sp>
      </p:grpSp>
      <p:grpSp>
        <p:nvGrpSpPr>
          <p:cNvPr id="22" name="Idea 5"/>
          <p:cNvGrpSpPr/>
          <p:nvPr/>
        </p:nvGrpSpPr>
        <p:grpSpPr>
          <a:xfrm>
            <a:off x="457200" y="5321808"/>
            <a:ext cx="11338560" cy="914400"/>
            <a:chOff x="457200" y="5321808"/>
            <a:chExt cx="11338560" cy="914400"/>
          </a:xfrm>
        </p:grpSpPr>
        <p:sp>
          <p:nvSpPr>
            <p:cNvPr id="23" name="Forma 22"/>
            <p:cNvSpPr/>
            <p:nvPr/>
          </p:nvSpPr>
          <p:spPr>
            <a:xfrm>
              <a:off x="457200" y="5367528"/>
              <a:ext cx="685800" cy="68580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600" dirty="0">
                  <a:solidFill>
                    <a:srgbClr val="C00000"/>
                  </a:solidFill>
                  <a:latin typeface="Bangers"/>
                  <a:ea typeface="Bangers"/>
                  <a:cs typeface="Bangers"/>
                  <a:sym typeface="Bangers"/>
                </a:rPr>
                <a:t>5</a:t>
              </a:r>
              <a:endParaRPr lang="es-AR" sz="2600" dirty="0">
                <a:latin typeface="Bangers"/>
              </a:endParaRPr>
            </a:p>
          </p:txBody>
        </p:sp>
        <p:pic>
          <p:nvPicPr>
            <p:cNvPr id="24" name="Imagen heart-front" descr="Ilustración biomédica (Servier Medical Art, CC BY)"/>
            <p:cNvPicPr>
              <a:picLocks noChangeAspect="1"/>
            </p:cNvPicPr>
            <p:nvPr/>
          </p:nvPicPr>
          <p:blipFill>
            <a:blip r:embed="rId6"/>
            <a:stretch>
              <a:fillRect/>
            </a:stretch>
          </p:blipFill>
          <p:spPr>
            <a:xfrm>
              <a:off x="1528681" y="5321808"/>
              <a:ext cx="645958" cy="914400"/>
            </a:xfrm>
            <a:prstGeom prst="rect">
              <a:avLst/>
            </a:prstGeom>
          </p:spPr>
        </p:pic>
        <p:sp>
          <p:nvSpPr>
            <p:cNvPr id="25" name="Forma 24"/>
            <p:cNvSpPr/>
            <p:nvPr/>
          </p:nvSpPr>
          <p:spPr>
            <a:xfrm>
              <a:off x="2514600" y="5321808"/>
              <a:ext cx="92811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a:t>
              </a:r>
              <a:r>
                <a:rPr lang="es-AR" sz="1500" b="1" dirty="0">
                  <a:solidFill>
                    <a:srgbClr val="1E1E1E"/>
                  </a:solidFill>
                  <a:latin typeface="Fira Sans Condensed"/>
                  <a:ea typeface="Fira Sans Condensed"/>
                  <a:cs typeface="Fira Sans Condensed"/>
                  <a:sym typeface="Fira Sans Condensed"/>
                </a:rPr>
                <a:t>enfermedad es sistémica</a:t>
              </a:r>
              <a:r>
                <a:rPr lang="es-AR" sz="1500" dirty="0">
                  <a:solidFill>
                    <a:srgbClr val="1E1E1E"/>
                  </a:solidFill>
                  <a:latin typeface="Fira Sans Condensed"/>
                  <a:ea typeface="Fira Sans Condensed"/>
                  <a:cs typeface="Fira Sans Condensed"/>
                  <a:sym typeface="Fira Sans Condensed"/>
                </a:rPr>
                <a:t>: resistencia insulínica, HTA, dislipidemia, esteatosis, apnea y aterosclerosis comparten vías, pero exigen evaluación </a:t>
              </a:r>
              <a:r>
                <a:rPr lang="es-AR" sz="1500" b="1" dirty="0">
                  <a:solidFill>
                    <a:srgbClr val="1E1E1E"/>
                  </a:solidFill>
                  <a:latin typeface="Fira Sans Condensed"/>
                  <a:ea typeface="Fira Sans Condensed"/>
                  <a:cs typeface="Fira Sans Condensed"/>
                  <a:sym typeface="Fira Sans Condensed"/>
                </a:rPr>
                <a:t>individual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CINCO IDEAS QUE ORGANIZAN TODA LA CLASE</a:t>
            </a:r>
            <a:endParaRPr lang="es-AR" sz="3400" dirty="0">
              <a:latin typeface="Permanent Marker"/>
            </a:endParaRPr>
          </a:p>
        </p:txBody>
      </p:sp>
      <p:sp>
        <p:nvSpPr>
          <p:cNvPr id="5" name="Etiqueta sección"/>
          <p:cNvSpPr/>
          <p:nvPr/>
        </p:nvSpPr>
        <p:spPr>
          <a:xfrm>
            <a:off x="164592" y="6510528"/>
            <a:ext cx="234522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DIABETES · OBESIDAD · TEJIDO ADIPOSO</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I</a:t>
            </a:r>
            <a:endParaRPr lang="es-AR" sz="2000" dirty="0">
              <a:latin typeface="Fira Sans Condensed"/>
            </a:endParaRPr>
          </a:p>
        </p:txBody>
      </p:sp>
      <p:sp>
        <p:nvSpPr>
          <p:cNvPr id="6" name="Título unidad"/>
          <p:cNvSpPr txBox="1"/>
          <p:nvPr/>
        </p:nvSpPr>
        <p:spPr>
          <a:xfrm>
            <a:off x="2468880" y="960120"/>
            <a:ext cx="7223760" cy="16946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4800" dirty="0">
                <a:solidFill>
                  <a:srgbClr val="1E1E1E"/>
                </a:solidFill>
                <a:effectLst>
                  <a:glow rad="101600">
                    <a:srgbClr val="FFFFFF">
                      <a:alpha val="70000"/>
                    </a:srgbClr>
                  </a:glow>
                </a:effectLst>
                <a:latin typeface="Permanent Marker"/>
                <a:ea typeface="Permanent Marker"/>
                <a:cs typeface="Permanent Marker"/>
                <a:sym typeface="Permanent Marker"/>
              </a:rPr>
              <a:t>BASES BIOQUÍMICAS</a:t>
            </a:r>
            <a:endParaRPr lang="es-AR" sz="4800" dirty="0">
              <a:latin typeface="Permanent Marker"/>
            </a:endParaRPr>
          </a:p>
          <a:p>
            <a:pPr algn="ctr">
              <a:lnSpc>
                <a:spcPct val="920"/>
              </a:lnSpc>
              <a:spcAft>
                <a:spcPts val="300"/>
              </a:spcAft>
              <a:buNone/>
            </a:pPr>
            <a:r>
              <a:rPr lang="es-AR" sz="4800" dirty="0">
                <a:solidFill>
                  <a:srgbClr val="1E1E1E"/>
                </a:solidFill>
                <a:effectLst>
                  <a:glow rad="101600">
                    <a:srgbClr val="FFFFFF">
                      <a:alpha val="70000"/>
                    </a:srgbClr>
                  </a:glow>
                </a:effectLst>
                <a:latin typeface="Permanent Marker"/>
                <a:ea typeface="Permanent Marker"/>
                <a:cs typeface="Permanent Marker"/>
                <a:sym typeface="Permanent Marker"/>
              </a:rPr>
              <a:t>DE LA DIABETES</a:t>
            </a:r>
            <a:endParaRPr lang="es-AR" sz="48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Insulina, señalización y metabolismo intermedio</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Definición y clasificación</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Biosíntesis y secreción de insulina</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Receptor e IRS–PI3K–Akt / Ras–MAPK</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Hormonas contrarreguladoras</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Estado alimentado, ayuno y déficit de insulina</a:t>
            </a:r>
            <a:endParaRPr lang="es-AR" sz="13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Diagnóstico y HbA1c</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Glucotoxicidad, AGE/RAGE y complicaciones</a:t>
            </a:r>
            <a:endParaRPr lang="es-AR" sz="1300" dirty="0">
              <a:latin typeface="Fira Sans Condensed"/>
            </a:endParaRPr>
          </a:p>
        </p:txBody>
      </p:sp>
      <p:grpSp>
        <p:nvGrpSpPr>
          <p:cNvPr id="15" name="Glucosa 3D"/>
          <p:cNvGrpSpPr/>
          <p:nvPr/>
        </p:nvGrpSpPr>
        <p:grpSpPr>
          <a:xfrm>
            <a:off x="9962570" y="682926"/>
            <a:ext cx="1832586" cy="1466461"/>
            <a:chOff x="9962570" y="682926"/>
            <a:chExt cx="1832586" cy="1466461"/>
          </a:xfrm>
        </p:grpSpPr>
        <p:sp>
          <p:nvSpPr>
            <p:cNvPr id="16" name="Átomo H"/>
            <p:cNvSpPr/>
            <p:nvPr/>
          </p:nvSpPr>
          <p:spPr>
            <a:xfrm>
              <a:off x="11169132" y="1413579"/>
              <a:ext cx="122395" cy="12239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7" name="Átomo H_2"/>
            <p:cNvSpPr/>
            <p:nvPr/>
          </p:nvSpPr>
          <p:spPr>
            <a:xfrm>
              <a:off x="11357593" y="853314"/>
              <a:ext cx="123108" cy="1231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8" name="Flecha 17_2"/>
            <p:cNvSpPr/>
            <p:nvPr/>
          </p:nvSpPr>
          <p:spPr>
            <a:xfrm>
              <a:off x="11419147" y="914868"/>
              <a:ext cx="176021" cy="97748"/>
            </a:xfrm>
            <a:custGeom>
              <a:avLst/>
              <a:gdLst/>
              <a:ahLst/>
              <a:cxnLst/>
              <a:rect l="0" t="0" r="r" b="b"/>
              <a:pathLst>
                <a:path w="192" h="106" fill="none">
                  <a:moveTo>
                    <a:pt x="192" y="106"/>
                  </a:moveTo>
                  <a:lnTo>
                    <a:pt x="0" y="0"/>
                  </a:lnTo>
                </a:path>
              </a:pathLst>
            </a:custGeom>
            <a:noFill/>
            <a:ln w="31251" cap="rnd">
              <a:solidFill>
                <a:srgbClr val="9A9A9A"/>
              </a:solidFill>
              <a:round/>
            </a:ln>
          </p:spPr>
        </p:sp>
        <p:sp>
          <p:nvSpPr>
            <p:cNvPr id="19" name="Flecha 19_2"/>
            <p:cNvSpPr/>
            <p:nvPr/>
          </p:nvSpPr>
          <p:spPr>
            <a:xfrm>
              <a:off x="11230329" y="1474777"/>
              <a:ext cx="59657" cy="50970"/>
            </a:xfrm>
            <a:custGeom>
              <a:avLst/>
              <a:gdLst/>
              <a:ahLst/>
              <a:cxnLst/>
              <a:rect l="0" t="0" r="r" b="b"/>
              <a:pathLst>
                <a:path w="65" h="55" fill="none">
                  <a:moveTo>
                    <a:pt x="65" y="55"/>
                  </a:moveTo>
                  <a:lnTo>
                    <a:pt x="0" y="0"/>
                  </a:lnTo>
                </a:path>
              </a:pathLst>
            </a:custGeom>
            <a:noFill/>
            <a:ln w="31251" cap="rnd">
              <a:solidFill>
                <a:srgbClr val="9A9A9A"/>
              </a:solidFill>
              <a:round/>
            </a:ln>
          </p:spPr>
        </p:sp>
        <p:sp>
          <p:nvSpPr>
            <p:cNvPr id="20" name="Átomo H_3"/>
            <p:cNvSpPr/>
            <p:nvPr/>
          </p:nvSpPr>
          <p:spPr>
            <a:xfrm>
              <a:off x="11670663" y="1629349"/>
              <a:ext cx="124493" cy="1244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1" name="Átomo H_4"/>
            <p:cNvSpPr/>
            <p:nvPr/>
          </p:nvSpPr>
          <p:spPr>
            <a:xfrm>
              <a:off x="10520198" y="1323763"/>
              <a:ext cx="125048" cy="12504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2" name="Átomo O"/>
            <p:cNvSpPr/>
            <p:nvPr/>
          </p:nvSpPr>
          <p:spPr>
            <a:xfrm>
              <a:off x="11496862" y="914310"/>
              <a:ext cx="196613" cy="19661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3" name="Flecha 24_2"/>
            <p:cNvSpPr/>
            <p:nvPr/>
          </p:nvSpPr>
          <p:spPr>
            <a:xfrm>
              <a:off x="11537180" y="1691596"/>
              <a:ext cx="195729" cy="95904"/>
            </a:xfrm>
            <a:custGeom>
              <a:avLst/>
              <a:gdLst/>
              <a:ahLst/>
              <a:cxnLst/>
              <a:rect l="0" t="0" r="r" b="b"/>
              <a:pathLst>
                <a:path w="214" h="104" fill="none">
                  <a:moveTo>
                    <a:pt x="0" y="104"/>
                  </a:moveTo>
                  <a:lnTo>
                    <a:pt x="214" y="0"/>
                  </a:lnTo>
                </a:path>
              </a:pathLst>
            </a:custGeom>
            <a:noFill/>
            <a:ln w="31251" cap="rnd">
              <a:solidFill>
                <a:srgbClr val="9A9A9A"/>
              </a:solidFill>
              <a:round/>
            </a:ln>
          </p:spPr>
        </p:sp>
        <p:sp>
          <p:nvSpPr>
            <p:cNvPr id="24" name="Átomo H_5"/>
            <p:cNvSpPr/>
            <p:nvPr/>
          </p:nvSpPr>
          <p:spPr>
            <a:xfrm>
              <a:off x="10998855" y="2023336"/>
              <a:ext cx="126052" cy="12605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5" name="Átomo O_2"/>
            <p:cNvSpPr/>
            <p:nvPr/>
          </p:nvSpPr>
          <p:spPr>
            <a:xfrm>
              <a:off x="11438115" y="1688435"/>
              <a:ext cx="198129" cy="19812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6" name="Flecha 28_2"/>
            <p:cNvSpPr/>
            <p:nvPr/>
          </p:nvSpPr>
          <p:spPr>
            <a:xfrm>
              <a:off x="11289986" y="1525746"/>
              <a:ext cx="247194" cy="261753"/>
            </a:xfrm>
            <a:custGeom>
              <a:avLst/>
              <a:gdLst/>
              <a:ahLst/>
              <a:cxnLst/>
              <a:rect l="0" t="0" r="r" b="b"/>
              <a:pathLst>
                <a:path w="270" h="286" fill="none">
                  <a:moveTo>
                    <a:pt x="0" y="0"/>
                  </a:moveTo>
                  <a:lnTo>
                    <a:pt x="270" y="286"/>
                  </a:lnTo>
                </a:path>
              </a:pathLst>
            </a:custGeom>
            <a:noFill/>
            <a:ln w="31251" cap="rnd">
              <a:solidFill>
                <a:srgbClr val="9A9A9A"/>
              </a:solidFill>
              <a:round/>
            </a:ln>
          </p:spPr>
        </p:sp>
        <p:sp>
          <p:nvSpPr>
            <p:cNvPr id="27" name="Átomo C"/>
            <p:cNvSpPr/>
            <p:nvPr/>
          </p:nvSpPr>
          <p:spPr>
            <a:xfrm>
              <a:off x="11184822" y="1420582"/>
              <a:ext cx="210328" cy="2103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1_2"/>
            <p:cNvSpPr/>
            <p:nvPr/>
          </p:nvSpPr>
          <p:spPr>
            <a:xfrm>
              <a:off x="10860652" y="1951983"/>
              <a:ext cx="201228" cy="134378"/>
            </a:xfrm>
            <a:custGeom>
              <a:avLst/>
              <a:gdLst/>
              <a:ahLst/>
              <a:cxnLst/>
              <a:rect l="0" t="0" r="r" b="b"/>
              <a:pathLst>
                <a:path w="220" h="146" fill="none">
                  <a:moveTo>
                    <a:pt x="0" y="0"/>
                  </a:moveTo>
                  <a:lnTo>
                    <a:pt x="220" y="146"/>
                  </a:lnTo>
                </a:path>
              </a:pathLst>
            </a:custGeom>
            <a:noFill/>
            <a:ln w="31251" cap="rnd">
              <a:solidFill>
                <a:srgbClr val="9A9A9A"/>
              </a:solidFill>
              <a:round/>
            </a:ln>
          </p:spPr>
        </p:sp>
        <p:sp>
          <p:nvSpPr>
            <p:cNvPr id="29" name="Átomo O_3"/>
            <p:cNvSpPr/>
            <p:nvPr/>
          </p:nvSpPr>
          <p:spPr>
            <a:xfrm>
              <a:off x="10761180" y="1852511"/>
              <a:ext cx="198945" cy="19894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0" name="Flecha 34_2"/>
            <p:cNvSpPr/>
            <p:nvPr/>
          </p:nvSpPr>
          <p:spPr>
            <a:xfrm>
              <a:off x="10582722" y="1374310"/>
              <a:ext cx="125772" cy="11977"/>
            </a:xfrm>
            <a:custGeom>
              <a:avLst/>
              <a:gdLst/>
              <a:ahLst/>
              <a:cxnLst/>
              <a:rect l="0" t="0" r="r" b="b"/>
              <a:pathLst>
                <a:path w="137" h="13" fill="none">
                  <a:moveTo>
                    <a:pt x="137" y="0"/>
                  </a:moveTo>
                  <a:lnTo>
                    <a:pt x="0" y="13"/>
                  </a:lnTo>
                </a:path>
              </a:pathLst>
            </a:custGeom>
            <a:noFill/>
            <a:ln w="31251" cap="rnd">
              <a:solidFill>
                <a:srgbClr val="9A9A9A"/>
              </a:solidFill>
              <a:round/>
            </a:ln>
          </p:spPr>
        </p:sp>
        <p:sp>
          <p:nvSpPr>
            <p:cNvPr id="31" name="Flecha 36_2"/>
            <p:cNvSpPr/>
            <p:nvPr/>
          </p:nvSpPr>
          <p:spPr>
            <a:xfrm>
              <a:off x="11432326" y="1012617"/>
              <a:ext cx="162842" cy="201231"/>
            </a:xfrm>
            <a:custGeom>
              <a:avLst/>
              <a:gdLst/>
              <a:ahLst/>
              <a:cxnLst/>
              <a:rect l="0" t="0" r="r" b="b"/>
              <a:pathLst>
                <a:path w="178" h="220" fill="none">
                  <a:moveTo>
                    <a:pt x="0" y="220"/>
                  </a:moveTo>
                  <a:lnTo>
                    <a:pt x="178" y="0"/>
                  </a:lnTo>
                </a:path>
              </a:pathLst>
            </a:custGeom>
            <a:noFill/>
            <a:ln w="31251" cap="rnd">
              <a:solidFill>
                <a:srgbClr val="9A9A9A"/>
              </a:solidFill>
              <a:round/>
            </a:ln>
          </p:spPr>
        </p:sp>
        <p:sp>
          <p:nvSpPr>
            <p:cNvPr id="32" name="Flecha 38_2"/>
            <p:cNvSpPr/>
            <p:nvPr/>
          </p:nvSpPr>
          <p:spPr>
            <a:xfrm>
              <a:off x="11289986" y="1213847"/>
              <a:ext cx="142341" cy="311899"/>
            </a:xfrm>
            <a:custGeom>
              <a:avLst/>
              <a:gdLst/>
              <a:ahLst/>
              <a:cxnLst/>
              <a:rect l="0" t="0" r="r" b="b"/>
              <a:pathLst>
                <a:path w="155" h="341" fill="none">
                  <a:moveTo>
                    <a:pt x="155" y="0"/>
                  </a:moveTo>
                  <a:lnTo>
                    <a:pt x="0" y="341"/>
                  </a:lnTo>
                </a:path>
              </a:pathLst>
            </a:custGeom>
            <a:noFill/>
            <a:ln w="31251" cap="rnd">
              <a:solidFill>
                <a:srgbClr val="9A9A9A"/>
              </a:solidFill>
              <a:round/>
            </a:ln>
          </p:spPr>
        </p:sp>
        <p:sp>
          <p:nvSpPr>
            <p:cNvPr id="33" name="Flecha 40_2"/>
            <p:cNvSpPr/>
            <p:nvPr/>
          </p:nvSpPr>
          <p:spPr>
            <a:xfrm>
              <a:off x="10977309" y="1525746"/>
              <a:ext cx="312676" cy="124453"/>
            </a:xfrm>
            <a:custGeom>
              <a:avLst/>
              <a:gdLst/>
              <a:ahLst/>
              <a:cxnLst/>
              <a:rect l="0" t="0" r="r" b="b"/>
              <a:pathLst>
                <a:path w="341" h="136" fill="none">
                  <a:moveTo>
                    <a:pt x="341" y="0"/>
                  </a:moveTo>
                  <a:lnTo>
                    <a:pt x="0" y="136"/>
                  </a:lnTo>
                </a:path>
              </a:pathLst>
            </a:custGeom>
            <a:noFill/>
            <a:ln w="31251" cap="rnd">
              <a:solidFill>
                <a:srgbClr val="9A9A9A"/>
              </a:solidFill>
              <a:round/>
            </a:ln>
          </p:spPr>
        </p:sp>
        <p:sp>
          <p:nvSpPr>
            <p:cNvPr id="34" name="Flecha 42_2"/>
            <p:cNvSpPr/>
            <p:nvPr/>
          </p:nvSpPr>
          <p:spPr>
            <a:xfrm>
              <a:off x="10860652" y="1650199"/>
              <a:ext cx="116657" cy="301784"/>
            </a:xfrm>
            <a:custGeom>
              <a:avLst/>
              <a:gdLst/>
              <a:ahLst/>
              <a:cxnLst/>
              <a:rect l="0" t="0" r="r" b="b"/>
              <a:pathLst>
                <a:path w="127" h="330" fill="none">
                  <a:moveTo>
                    <a:pt x="127" y="0"/>
                  </a:moveTo>
                  <a:lnTo>
                    <a:pt x="0" y="330"/>
                  </a:lnTo>
                </a:path>
              </a:pathLst>
            </a:custGeom>
            <a:noFill/>
            <a:ln w="31251" cap="rnd">
              <a:solidFill>
                <a:srgbClr val="9A9A9A"/>
              </a:solidFill>
              <a:round/>
            </a:ln>
          </p:spPr>
        </p:sp>
        <p:sp>
          <p:nvSpPr>
            <p:cNvPr id="35" name="Átomo C_2"/>
            <p:cNvSpPr/>
            <p:nvPr/>
          </p:nvSpPr>
          <p:spPr>
            <a:xfrm>
              <a:off x="10601348" y="1267164"/>
              <a:ext cx="214294" cy="21429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6" name="Flecha 45_2"/>
            <p:cNvSpPr/>
            <p:nvPr/>
          </p:nvSpPr>
          <p:spPr>
            <a:xfrm>
              <a:off x="10708495" y="1374310"/>
              <a:ext cx="268815" cy="275889"/>
            </a:xfrm>
            <a:custGeom>
              <a:avLst/>
              <a:gdLst/>
              <a:ahLst/>
              <a:cxnLst/>
              <a:rect l="0" t="0" r="r" b="b"/>
              <a:pathLst>
                <a:path w="293" h="301" fill="none">
                  <a:moveTo>
                    <a:pt x="293" y="301"/>
                  </a:moveTo>
                  <a:lnTo>
                    <a:pt x="0" y="0"/>
                  </a:lnTo>
                </a:path>
              </a:pathLst>
            </a:custGeom>
            <a:noFill/>
            <a:ln w="31251" cap="rnd">
              <a:solidFill>
                <a:srgbClr val="9A9A9A"/>
              </a:solidFill>
              <a:round/>
            </a:ln>
          </p:spPr>
        </p:sp>
        <p:sp>
          <p:nvSpPr>
            <p:cNvPr id="37" name="Flecha 47_2"/>
            <p:cNvSpPr/>
            <p:nvPr/>
          </p:nvSpPr>
          <p:spPr>
            <a:xfrm>
              <a:off x="10708495" y="1039652"/>
              <a:ext cx="137643" cy="334659"/>
            </a:xfrm>
            <a:custGeom>
              <a:avLst/>
              <a:gdLst/>
              <a:ahLst/>
              <a:cxnLst/>
              <a:rect l="0" t="0" r="r" b="b"/>
              <a:pathLst>
                <a:path w="150" h="365" fill="none">
                  <a:moveTo>
                    <a:pt x="0" y="365"/>
                  </a:moveTo>
                  <a:lnTo>
                    <a:pt x="150" y="0"/>
                  </a:lnTo>
                </a:path>
              </a:pathLst>
            </a:custGeom>
            <a:noFill/>
            <a:ln w="31251" cap="rnd">
              <a:solidFill>
                <a:srgbClr val="9A9A9A"/>
              </a:solidFill>
              <a:round/>
            </a:ln>
          </p:spPr>
        </p:sp>
        <p:sp>
          <p:nvSpPr>
            <p:cNvPr id="38" name="Átomo C_3"/>
            <p:cNvSpPr/>
            <p:nvPr/>
          </p:nvSpPr>
          <p:spPr>
            <a:xfrm>
              <a:off x="11325064" y="1106585"/>
              <a:ext cx="214524" cy="2145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Átomo C_4"/>
            <p:cNvSpPr/>
            <p:nvPr/>
          </p:nvSpPr>
          <p:spPr>
            <a:xfrm>
              <a:off x="10869965" y="1542855"/>
              <a:ext cx="214690" cy="2146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Átomo O_4"/>
            <p:cNvSpPr/>
            <p:nvPr/>
          </p:nvSpPr>
          <p:spPr>
            <a:xfrm>
              <a:off x="10744905" y="938419"/>
              <a:ext cx="202465" cy="20246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1" name="Flecha 52_2"/>
            <p:cNvSpPr/>
            <p:nvPr/>
          </p:nvSpPr>
          <p:spPr>
            <a:xfrm>
              <a:off x="11432326" y="1213847"/>
              <a:ext cx="195151" cy="73198"/>
            </a:xfrm>
            <a:custGeom>
              <a:avLst/>
              <a:gdLst/>
              <a:ahLst/>
              <a:cxnLst/>
              <a:rect l="0" t="0" r="r" b="b"/>
              <a:pathLst>
                <a:path w="213" h="80" fill="none">
                  <a:moveTo>
                    <a:pt x="0" y="0"/>
                  </a:moveTo>
                  <a:lnTo>
                    <a:pt x="213" y="80"/>
                  </a:lnTo>
                </a:path>
              </a:pathLst>
            </a:custGeom>
            <a:noFill/>
            <a:ln w="31251" cap="rnd">
              <a:solidFill>
                <a:srgbClr val="9A9A9A"/>
              </a:solidFill>
              <a:round/>
            </a:ln>
          </p:spPr>
        </p:sp>
        <p:sp>
          <p:nvSpPr>
            <p:cNvPr id="42" name="Flecha 54_2"/>
            <p:cNvSpPr/>
            <p:nvPr/>
          </p:nvSpPr>
          <p:spPr>
            <a:xfrm>
              <a:off x="11155901" y="1015504"/>
              <a:ext cx="276425" cy="198343"/>
            </a:xfrm>
            <a:custGeom>
              <a:avLst/>
              <a:gdLst/>
              <a:ahLst/>
              <a:cxnLst/>
              <a:rect l="0" t="0" r="r" b="b"/>
              <a:pathLst>
                <a:path w="302" h="216" fill="none">
                  <a:moveTo>
                    <a:pt x="0" y="0"/>
                  </a:moveTo>
                  <a:lnTo>
                    <a:pt x="302" y="216"/>
                  </a:lnTo>
                </a:path>
              </a:pathLst>
            </a:custGeom>
            <a:noFill/>
            <a:ln w="31251" cap="rnd">
              <a:solidFill>
                <a:srgbClr val="9A9A9A"/>
              </a:solidFill>
              <a:round/>
            </a:ln>
          </p:spPr>
        </p:sp>
        <p:sp>
          <p:nvSpPr>
            <p:cNvPr id="43" name="Flecha 56_2"/>
            <p:cNvSpPr/>
            <p:nvPr/>
          </p:nvSpPr>
          <p:spPr>
            <a:xfrm>
              <a:off x="10846138" y="1015504"/>
              <a:ext cx="309763" cy="24148"/>
            </a:xfrm>
            <a:custGeom>
              <a:avLst/>
              <a:gdLst/>
              <a:ahLst/>
              <a:cxnLst/>
              <a:rect l="0" t="0" r="r" b="b"/>
              <a:pathLst>
                <a:path w="338" h="26" fill="none">
                  <a:moveTo>
                    <a:pt x="0" y="26"/>
                  </a:moveTo>
                  <a:lnTo>
                    <a:pt x="338" y="0"/>
                  </a:lnTo>
                </a:path>
              </a:pathLst>
            </a:custGeom>
            <a:noFill/>
            <a:ln w="31251" cap="rnd">
              <a:solidFill>
                <a:srgbClr val="9A9A9A"/>
              </a:solidFill>
              <a:round/>
            </a:ln>
          </p:spPr>
        </p:sp>
        <p:sp>
          <p:nvSpPr>
            <p:cNvPr id="44" name="Flecha 58_2"/>
            <p:cNvSpPr/>
            <p:nvPr/>
          </p:nvSpPr>
          <p:spPr>
            <a:xfrm>
              <a:off x="10438688" y="1374310"/>
              <a:ext cx="269806" cy="50860"/>
            </a:xfrm>
            <a:custGeom>
              <a:avLst/>
              <a:gdLst/>
              <a:ahLst/>
              <a:cxnLst/>
              <a:rect l="0" t="0" r="r" b="b"/>
              <a:pathLst>
                <a:path w="295" h="55" fill="none">
                  <a:moveTo>
                    <a:pt x="0" y="55"/>
                  </a:moveTo>
                  <a:lnTo>
                    <a:pt x="295" y="0"/>
                  </a:lnTo>
                </a:path>
              </a:pathLst>
            </a:custGeom>
            <a:noFill/>
            <a:ln w="31251" cap="rnd">
              <a:solidFill>
                <a:srgbClr val="9A9A9A"/>
              </a:solidFill>
              <a:round/>
            </a:ln>
          </p:spPr>
        </p:sp>
        <p:sp>
          <p:nvSpPr>
            <p:cNvPr id="45" name="Flecha 60_2"/>
            <p:cNvSpPr/>
            <p:nvPr/>
          </p:nvSpPr>
          <p:spPr>
            <a:xfrm>
              <a:off x="10977309" y="1650199"/>
              <a:ext cx="62458" cy="64038"/>
            </a:xfrm>
            <a:custGeom>
              <a:avLst/>
              <a:gdLst/>
              <a:ahLst/>
              <a:cxnLst/>
              <a:rect l="0" t="0" r="r" b="b"/>
              <a:pathLst>
                <a:path w="68" h="70" fill="none">
                  <a:moveTo>
                    <a:pt x="0" y="0"/>
                  </a:moveTo>
                  <a:lnTo>
                    <a:pt x="68" y="70"/>
                  </a:lnTo>
                </a:path>
              </a:pathLst>
            </a:custGeom>
            <a:noFill/>
            <a:ln w="31251" cap="rnd">
              <a:solidFill>
                <a:srgbClr val="9A9A9A"/>
              </a:solidFill>
              <a:round/>
            </a:ln>
          </p:spPr>
        </p:sp>
        <p:sp>
          <p:nvSpPr>
            <p:cNvPr id="46" name="Átomo H_6"/>
            <p:cNvSpPr/>
            <p:nvPr/>
          </p:nvSpPr>
          <p:spPr>
            <a:xfrm>
              <a:off x="11561831" y="1221399"/>
              <a:ext cx="131292" cy="13129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7" name="Átomo C_5"/>
            <p:cNvSpPr/>
            <p:nvPr/>
          </p:nvSpPr>
          <p:spPr>
            <a:xfrm>
              <a:off x="11046437" y="906040"/>
              <a:ext cx="218929" cy="2189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Flecha 64_2"/>
            <p:cNvSpPr/>
            <p:nvPr/>
          </p:nvSpPr>
          <p:spPr>
            <a:xfrm>
              <a:off x="11155901" y="748651"/>
              <a:ext cx="63740" cy="266853"/>
            </a:xfrm>
            <a:custGeom>
              <a:avLst/>
              <a:gdLst/>
              <a:ahLst/>
              <a:cxnLst/>
              <a:rect l="0" t="0" r="r" b="b"/>
              <a:pathLst>
                <a:path w="69" h="291" fill="none">
                  <a:moveTo>
                    <a:pt x="0" y="291"/>
                  </a:moveTo>
                  <a:lnTo>
                    <a:pt x="69" y="0"/>
                  </a:lnTo>
                </a:path>
              </a:pathLst>
            </a:custGeom>
            <a:noFill/>
            <a:ln w="31251" cap="rnd">
              <a:solidFill>
                <a:srgbClr val="9A9A9A"/>
              </a:solidFill>
              <a:round/>
            </a:ln>
          </p:spPr>
        </p:sp>
        <p:sp>
          <p:nvSpPr>
            <p:cNvPr id="49" name="Átomo H_7"/>
            <p:cNvSpPr/>
            <p:nvPr/>
          </p:nvSpPr>
          <p:spPr>
            <a:xfrm>
              <a:off x="11153916" y="682926"/>
              <a:ext cx="131449" cy="13144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0" name="Átomo O_5"/>
            <p:cNvSpPr/>
            <p:nvPr/>
          </p:nvSpPr>
          <p:spPr>
            <a:xfrm>
              <a:off x="10051529" y="1114606"/>
              <a:ext cx="206608" cy="20660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1" name="Flecha 68_2"/>
            <p:cNvSpPr/>
            <p:nvPr/>
          </p:nvSpPr>
          <p:spPr>
            <a:xfrm>
              <a:off x="10154833" y="1217910"/>
              <a:ext cx="283855" cy="207261"/>
            </a:xfrm>
            <a:custGeom>
              <a:avLst/>
              <a:gdLst/>
              <a:ahLst/>
              <a:cxnLst/>
              <a:rect l="0" t="0" r="r" b="b"/>
              <a:pathLst>
                <a:path w="310" h="226" fill="none">
                  <a:moveTo>
                    <a:pt x="0" y="0"/>
                  </a:moveTo>
                  <a:lnTo>
                    <a:pt x="310" y="226"/>
                  </a:lnTo>
                </a:path>
              </a:pathLst>
            </a:custGeom>
            <a:noFill/>
            <a:ln w="31251" cap="rnd">
              <a:solidFill>
                <a:srgbClr val="9A9A9A"/>
              </a:solidFill>
              <a:round/>
            </a:ln>
          </p:spPr>
        </p:sp>
        <p:sp>
          <p:nvSpPr>
            <p:cNvPr id="52" name="Flecha 70_2"/>
            <p:cNvSpPr/>
            <p:nvPr/>
          </p:nvSpPr>
          <p:spPr>
            <a:xfrm>
              <a:off x="10351628" y="1425171"/>
              <a:ext cx="87060" cy="259257"/>
            </a:xfrm>
            <a:custGeom>
              <a:avLst/>
              <a:gdLst/>
              <a:ahLst/>
              <a:cxnLst/>
              <a:rect l="0" t="0" r="r" b="b"/>
              <a:pathLst>
                <a:path w="95" h="283" fill="none">
                  <a:moveTo>
                    <a:pt x="95" y="0"/>
                  </a:moveTo>
                  <a:lnTo>
                    <a:pt x="0" y="283"/>
                  </a:lnTo>
                </a:path>
              </a:pathLst>
            </a:custGeom>
            <a:noFill/>
            <a:ln w="31251" cap="rnd">
              <a:solidFill>
                <a:srgbClr val="9A9A9A"/>
              </a:solidFill>
              <a:round/>
            </a:ln>
          </p:spPr>
        </p:sp>
        <p:sp>
          <p:nvSpPr>
            <p:cNvPr id="53" name="Átomo C_6"/>
            <p:cNvSpPr/>
            <p:nvPr/>
          </p:nvSpPr>
          <p:spPr>
            <a:xfrm>
              <a:off x="10328300" y="1314782"/>
              <a:ext cx="220778" cy="2207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4" name="Átomo H_8"/>
            <p:cNvSpPr/>
            <p:nvPr/>
          </p:nvSpPr>
          <p:spPr>
            <a:xfrm>
              <a:off x="10285361" y="1618161"/>
              <a:ext cx="132534" cy="1325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5" name="Átomo H_9"/>
            <p:cNvSpPr/>
            <p:nvPr/>
          </p:nvSpPr>
          <p:spPr>
            <a:xfrm>
              <a:off x="10973488" y="1647959"/>
              <a:ext cx="132557" cy="13255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6" name="Flecha 75_2"/>
            <p:cNvSpPr/>
            <p:nvPr/>
          </p:nvSpPr>
          <p:spPr>
            <a:xfrm>
              <a:off x="10029811" y="1197740"/>
              <a:ext cx="125022" cy="20169"/>
            </a:xfrm>
            <a:custGeom>
              <a:avLst/>
              <a:gdLst/>
              <a:ahLst/>
              <a:cxnLst/>
              <a:rect l="0" t="0" r="r" b="b"/>
              <a:pathLst>
                <a:path w="136" h="22" fill="none">
                  <a:moveTo>
                    <a:pt x="136" y="22"/>
                  </a:moveTo>
                  <a:lnTo>
                    <a:pt x="0" y="0"/>
                  </a:lnTo>
                </a:path>
              </a:pathLst>
            </a:custGeom>
            <a:noFill/>
            <a:ln w="31251" cap="rnd">
              <a:solidFill>
                <a:srgbClr val="9A9A9A"/>
              </a:solidFill>
              <a:round/>
            </a:ln>
          </p:spPr>
        </p:sp>
        <p:sp>
          <p:nvSpPr>
            <p:cNvPr id="57" name="Flecha 77_2"/>
            <p:cNvSpPr/>
            <p:nvPr/>
          </p:nvSpPr>
          <p:spPr>
            <a:xfrm>
              <a:off x="11120430" y="1015504"/>
              <a:ext cx="35471" cy="109887"/>
            </a:xfrm>
            <a:custGeom>
              <a:avLst/>
              <a:gdLst/>
              <a:ahLst/>
              <a:cxnLst/>
              <a:rect l="0" t="0" r="r" b="b"/>
              <a:pathLst>
                <a:path w="38" h="120" fill="none">
                  <a:moveTo>
                    <a:pt x="38" y="0"/>
                  </a:moveTo>
                  <a:lnTo>
                    <a:pt x="0" y="120"/>
                  </a:lnTo>
                </a:path>
              </a:pathLst>
            </a:custGeom>
            <a:noFill/>
            <a:ln w="31251" cap="rnd">
              <a:solidFill>
                <a:srgbClr val="9A9A9A"/>
              </a:solidFill>
              <a:round/>
            </a:ln>
          </p:spPr>
        </p:sp>
        <p:sp>
          <p:nvSpPr>
            <p:cNvPr id="58" name="Flecha 79_2"/>
            <p:cNvSpPr/>
            <p:nvPr/>
          </p:nvSpPr>
          <p:spPr>
            <a:xfrm>
              <a:off x="10438688" y="1355797"/>
              <a:ext cx="93583" cy="69374"/>
            </a:xfrm>
            <a:custGeom>
              <a:avLst/>
              <a:gdLst/>
              <a:ahLst/>
              <a:cxnLst/>
              <a:rect l="0" t="0" r="r" b="b"/>
              <a:pathLst>
                <a:path w="102" h="75" fill="none">
                  <a:moveTo>
                    <a:pt x="0" y="75"/>
                  </a:moveTo>
                  <a:lnTo>
                    <a:pt x="102" y="0"/>
                  </a:lnTo>
                </a:path>
              </a:pathLst>
            </a:custGeom>
            <a:noFill/>
            <a:ln w="31251" cap="rnd">
              <a:solidFill>
                <a:srgbClr val="9A9A9A"/>
              </a:solidFill>
              <a:round/>
            </a:ln>
          </p:spPr>
        </p:sp>
        <p:sp>
          <p:nvSpPr>
            <p:cNvPr id="59" name="Átomo H_10"/>
            <p:cNvSpPr/>
            <p:nvPr/>
          </p:nvSpPr>
          <p:spPr>
            <a:xfrm>
              <a:off x="9962570" y="1130499"/>
              <a:ext cx="134482" cy="13448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0" name="Átomo H_11"/>
            <p:cNvSpPr/>
            <p:nvPr/>
          </p:nvSpPr>
          <p:spPr>
            <a:xfrm>
              <a:off x="10464251" y="1287777"/>
              <a:ext cx="136040" cy="1360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1" name="Átomo O_6"/>
            <p:cNvSpPr/>
            <p:nvPr/>
          </p:nvSpPr>
          <p:spPr>
            <a:xfrm>
              <a:off x="11013410" y="1018371"/>
              <a:ext cx="214039" cy="21403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2" name="Flecha 84_2"/>
            <p:cNvSpPr/>
            <p:nvPr/>
          </p:nvSpPr>
          <p:spPr>
            <a:xfrm>
              <a:off x="11120430" y="1029857"/>
              <a:ext cx="192594" cy="95534"/>
            </a:xfrm>
            <a:custGeom>
              <a:avLst/>
              <a:gdLst/>
              <a:ahLst/>
              <a:cxnLst/>
              <a:rect l="0" t="0" r="r" b="b"/>
              <a:pathLst>
                <a:path w="210" h="104" fill="none">
                  <a:moveTo>
                    <a:pt x="0" y="104"/>
                  </a:moveTo>
                  <a:lnTo>
                    <a:pt x="210" y="0"/>
                  </a:lnTo>
                </a:path>
              </a:pathLst>
            </a:custGeom>
            <a:noFill/>
            <a:ln w="31251" cap="rnd">
              <a:solidFill>
                <a:srgbClr val="9A9A9A"/>
              </a:solidFill>
              <a:round/>
            </a:ln>
          </p:spPr>
        </p:sp>
        <p:sp>
          <p:nvSpPr>
            <p:cNvPr id="63" name="Átomo H_12"/>
            <p:cNvSpPr/>
            <p:nvPr/>
          </p:nvSpPr>
          <p:spPr>
            <a:xfrm>
              <a:off x="11244014" y="960847"/>
              <a:ext cx="138019" cy="13801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pic>
        <p:nvPicPr>
          <p:cNvPr id="64" name="Islote" descr="Ilustración biomédica (Servier Medical Art, CC BY)"/>
          <p:cNvPicPr>
            <a:picLocks noChangeAspect="1"/>
          </p:cNvPicPr>
          <p:nvPr/>
        </p:nvPicPr>
        <p:blipFill>
          <a:blip r:embed="rId2"/>
          <a:stretch>
            <a:fillRect/>
          </a:stretch>
        </p:blipFill>
        <p:spPr>
          <a:xfrm>
            <a:off x="9692640" y="2743200"/>
            <a:ext cx="2286000" cy="2494466"/>
          </a:xfrm>
          <a:prstGeom prst="rect">
            <a:avLst/>
          </a:prstGeom>
        </p:spPr>
      </p:pic>
      <p:pic>
        <p:nvPicPr>
          <p:cNvPr id="65" name="Páncreas" descr="Ilustración biomédica (Servier Medical Art, CC BY)"/>
          <p:cNvPicPr>
            <a:picLocks noChangeAspect="1"/>
          </p:cNvPicPr>
          <p:nvPr/>
        </p:nvPicPr>
        <p:blipFill>
          <a:blip r:embed="rId3"/>
          <a:stretch>
            <a:fillRect/>
          </a:stretch>
        </p:blipFill>
        <p:spPr>
          <a:xfrm>
            <a:off x="91440" y="4846320"/>
            <a:ext cx="2194560" cy="910742"/>
          </a:xfrm>
          <a:prstGeom prst="rect">
            <a:avLst/>
          </a:prstGeom>
        </p:spPr>
      </p:pic>
      <p:grpSp>
        <p:nvGrpSpPr>
          <p:cNvPr id="66" name="G6P 3D"/>
          <p:cNvGrpSpPr/>
          <p:nvPr/>
        </p:nvGrpSpPr>
        <p:grpSpPr>
          <a:xfrm>
            <a:off x="-91440" y="1357865"/>
            <a:ext cx="2560320" cy="1331791"/>
            <a:chOff x="-91440" y="1357865"/>
            <a:chExt cx="2560320" cy="1331791"/>
          </a:xfrm>
        </p:grpSpPr>
        <p:sp>
          <p:nvSpPr>
            <p:cNvPr id="67" name="Átomo O_7"/>
            <p:cNvSpPr/>
            <p:nvPr/>
          </p:nvSpPr>
          <p:spPr>
            <a:xfrm>
              <a:off x="1766395" y="1470199"/>
              <a:ext cx="154536" cy="15453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8" name="Átomo O_8"/>
            <p:cNvSpPr/>
            <p:nvPr/>
          </p:nvSpPr>
          <p:spPr>
            <a:xfrm>
              <a:off x="1493102" y="1902180"/>
              <a:ext cx="155722" cy="15572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9" name="Flecha 92_2"/>
            <p:cNvSpPr/>
            <p:nvPr/>
          </p:nvSpPr>
          <p:spPr>
            <a:xfrm>
              <a:off x="1788396" y="1547467"/>
              <a:ext cx="55267" cy="248287"/>
            </a:xfrm>
            <a:custGeom>
              <a:avLst/>
              <a:gdLst/>
              <a:ahLst/>
              <a:cxnLst/>
              <a:rect l="0" t="0" r="r" b="b"/>
              <a:pathLst>
                <a:path w="60" h="271" fill="none">
                  <a:moveTo>
                    <a:pt x="0" y="271"/>
                  </a:moveTo>
                  <a:lnTo>
                    <a:pt x="60" y="0"/>
                  </a:lnTo>
                </a:path>
              </a:pathLst>
            </a:custGeom>
            <a:noFill/>
            <a:ln w="25109" cap="rnd">
              <a:solidFill>
                <a:srgbClr val="9A9A9A"/>
              </a:solidFill>
              <a:round/>
            </a:ln>
          </p:spPr>
        </p:sp>
        <p:sp>
          <p:nvSpPr>
            <p:cNvPr id="70" name="Flecha 94_2"/>
            <p:cNvSpPr/>
            <p:nvPr/>
          </p:nvSpPr>
          <p:spPr>
            <a:xfrm>
              <a:off x="1559273" y="1781963"/>
              <a:ext cx="217433" cy="184287"/>
            </a:xfrm>
            <a:custGeom>
              <a:avLst/>
              <a:gdLst/>
              <a:ahLst/>
              <a:cxnLst/>
              <a:rect l="0" t="0" r="r" b="b"/>
              <a:pathLst>
                <a:path w="237" h="201" fill="none">
                  <a:moveTo>
                    <a:pt x="237" y="0"/>
                  </a:moveTo>
                  <a:lnTo>
                    <a:pt x="0" y="201"/>
                  </a:lnTo>
                </a:path>
              </a:pathLst>
            </a:custGeom>
            <a:noFill/>
            <a:ln w="20087" cap="rnd">
              <a:solidFill>
                <a:srgbClr val="9A9A9A"/>
              </a:solidFill>
              <a:round/>
            </a:ln>
          </p:spPr>
        </p:sp>
        <p:sp>
          <p:nvSpPr>
            <p:cNvPr id="71" name="Flecha 96_2"/>
            <p:cNvSpPr/>
            <p:nvPr/>
          </p:nvSpPr>
          <p:spPr>
            <a:xfrm>
              <a:off x="1582652" y="1809546"/>
              <a:ext cx="217433" cy="184287"/>
            </a:xfrm>
            <a:custGeom>
              <a:avLst/>
              <a:gdLst/>
              <a:ahLst/>
              <a:cxnLst/>
              <a:rect l="0" t="0" r="r" b="b"/>
              <a:pathLst>
                <a:path w="237" h="201" fill="none">
                  <a:moveTo>
                    <a:pt x="237" y="0"/>
                  </a:moveTo>
                  <a:lnTo>
                    <a:pt x="0" y="201"/>
                  </a:lnTo>
                </a:path>
              </a:pathLst>
            </a:custGeom>
            <a:noFill/>
            <a:ln w="20087" cap="rnd">
              <a:solidFill>
                <a:srgbClr val="9A9A9A"/>
              </a:solidFill>
              <a:round/>
            </a:ln>
          </p:spPr>
        </p:sp>
        <p:sp>
          <p:nvSpPr>
            <p:cNvPr id="72" name="Átomo P"/>
            <p:cNvSpPr/>
            <p:nvPr/>
          </p:nvSpPr>
          <p:spPr>
            <a:xfrm>
              <a:off x="1686605" y="1693963"/>
              <a:ext cx="203582" cy="203582"/>
            </a:xfrm>
            <a:prstGeom prst="ellipse">
              <a:avLst/>
            </a:prstGeom>
            <a:gradFill rotWithShape="1">
              <a:gsLst>
                <a:gs pos="0">
                  <a:srgbClr val="FFFFFF"/>
                </a:gs>
                <a:gs pos="28000">
                  <a:srgbClr val="F39C12"/>
                </a:gs>
                <a:gs pos="100000">
                  <a:srgbClr val="6D4608"/>
                </a:gs>
              </a:gsLst>
              <a:path path="circle">
                <a:fillToRect l="30000" t="25000" r="70000" b="75000"/>
              </a:path>
            </a:gradFill>
            <a:ln>
              <a:noFill/>
            </a:ln>
          </p:spPr>
        </p:sp>
        <p:sp>
          <p:nvSpPr>
            <p:cNvPr id="73" name="Flecha 99_2"/>
            <p:cNvSpPr/>
            <p:nvPr/>
          </p:nvSpPr>
          <p:spPr>
            <a:xfrm>
              <a:off x="1788396" y="1795755"/>
              <a:ext cx="245460" cy="143644"/>
            </a:xfrm>
            <a:custGeom>
              <a:avLst/>
              <a:gdLst/>
              <a:ahLst/>
              <a:cxnLst/>
              <a:rect l="0" t="0" r="r" b="b"/>
              <a:pathLst>
                <a:path w="268" h="157" fill="none">
                  <a:moveTo>
                    <a:pt x="0" y="0"/>
                  </a:moveTo>
                  <a:lnTo>
                    <a:pt x="268" y="157"/>
                  </a:lnTo>
                </a:path>
              </a:pathLst>
            </a:custGeom>
            <a:noFill/>
            <a:ln w="25109" cap="rnd">
              <a:solidFill>
                <a:srgbClr val="9A9A9A"/>
              </a:solidFill>
              <a:round/>
            </a:ln>
          </p:spPr>
        </p:sp>
        <p:sp>
          <p:nvSpPr>
            <p:cNvPr id="74" name="Átomo O_9"/>
            <p:cNvSpPr/>
            <p:nvPr/>
          </p:nvSpPr>
          <p:spPr>
            <a:xfrm>
              <a:off x="1953676" y="1859218"/>
              <a:ext cx="160361" cy="16036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5" name="Flecha 102_2"/>
            <p:cNvSpPr/>
            <p:nvPr/>
          </p:nvSpPr>
          <p:spPr>
            <a:xfrm>
              <a:off x="1641595" y="1677055"/>
              <a:ext cx="146801" cy="118699"/>
            </a:xfrm>
            <a:custGeom>
              <a:avLst/>
              <a:gdLst/>
              <a:ahLst/>
              <a:cxnLst/>
              <a:rect l="0" t="0" r="r" b="b"/>
              <a:pathLst>
                <a:path w="160" h="129" fill="none">
                  <a:moveTo>
                    <a:pt x="0" y="0"/>
                  </a:moveTo>
                  <a:lnTo>
                    <a:pt x="160" y="129"/>
                  </a:lnTo>
                </a:path>
              </a:pathLst>
            </a:custGeom>
            <a:noFill/>
            <a:ln w="25109" cap="rnd">
              <a:solidFill>
                <a:srgbClr val="9A9A9A"/>
              </a:solidFill>
              <a:round/>
            </a:ln>
          </p:spPr>
        </p:sp>
        <p:sp>
          <p:nvSpPr>
            <p:cNvPr id="76" name="Átomo O_10"/>
            <p:cNvSpPr/>
            <p:nvPr/>
          </p:nvSpPr>
          <p:spPr>
            <a:xfrm>
              <a:off x="589916" y="2119078"/>
              <a:ext cx="161381" cy="16138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7" name="Átomo C_7"/>
            <p:cNvSpPr/>
            <p:nvPr/>
          </p:nvSpPr>
          <p:spPr>
            <a:xfrm>
              <a:off x="961857" y="1808822"/>
              <a:ext cx="172068" cy="17206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8" name="Flecha 106_2"/>
            <p:cNvSpPr/>
            <p:nvPr/>
          </p:nvSpPr>
          <p:spPr>
            <a:xfrm>
              <a:off x="1047891" y="1894856"/>
              <a:ext cx="166660" cy="233727"/>
            </a:xfrm>
            <a:custGeom>
              <a:avLst/>
              <a:gdLst/>
              <a:ahLst/>
              <a:cxnLst/>
              <a:rect l="0" t="0" r="r" b="b"/>
              <a:pathLst>
                <a:path w="182" h="255" fill="none">
                  <a:moveTo>
                    <a:pt x="0" y="0"/>
                  </a:moveTo>
                  <a:lnTo>
                    <a:pt x="182" y="255"/>
                  </a:lnTo>
                </a:path>
              </a:pathLst>
            </a:custGeom>
            <a:noFill/>
            <a:ln w="25109" cap="rnd">
              <a:solidFill>
                <a:srgbClr val="9A9A9A"/>
              </a:solidFill>
              <a:round/>
            </a:ln>
          </p:spPr>
        </p:sp>
        <p:sp>
          <p:nvSpPr>
            <p:cNvPr id="79" name="Átomo O_11"/>
            <p:cNvSpPr/>
            <p:nvPr/>
          </p:nvSpPr>
          <p:spPr>
            <a:xfrm>
              <a:off x="1133370" y="2047402"/>
              <a:ext cx="162362" cy="16236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0" name="Átomo C_8"/>
            <p:cNvSpPr/>
            <p:nvPr/>
          </p:nvSpPr>
          <p:spPr>
            <a:xfrm>
              <a:off x="1321179" y="1438113"/>
              <a:ext cx="172610" cy="17261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1" name="Flecha 110_2"/>
            <p:cNvSpPr/>
            <p:nvPr/>
          </p:nvSpPr>
          <p:spPr>
            <a:xfrm>
              <a:off x="670606" y="1987435"/>
              <a:ext cx="109909" cy="212334"/>
            </a:xfrm>
            <a:custGeom>
              <a:avLst/>
              <a:gdLst/>
              <a:ahLst/>
              <a:cxnLst/>
              <a:rect l="0" t="0" r="r" b="b"/>
              <a:pathLst>
                <a:path w="120" h="232" fill="none">
                  <a:moveTo>
                    <a:pt x="120" y="0"/>
                  </a:moveTo>
                  <a:lnTo>
                    <a:pt x="0" y="232"/>
                  </a:lnTo>
                </a:path>
              </a:pathLst>
            </a:custGeom>
            <a:noFill/>
            <a:ln w="25109" cap="rnd">
              <a:solidFill>
                <a:srgbClr val="9A9A9A"/>
              </a:solidFill>
              <a:round/>
            </a:ln>
          </p:spPr>
        </p:sp>
        <p:sp>
          <p:nvSpPr>
            <p:cNvPr id="82" name="Flecha 112_2"/>
            <p:cNvSpPr/>
            <p:nvPr/>
          </p:nvSpPr>
          <p:spPr>
            <a:xfrm>
              <a:off x="1407484" y="1524418"/>
              <a:ext cx="234111" cy="152637"/>
            </a:xfrm>
            <a:custGeom>
              <a:avLst/>
              <a:gdLst/>
              <a:ahLst/>
              <a:cxnLst/>
              <a:rect l="0" t="0" r="r" b="b"/>
              <a:pathLst>
                <a:path w="256" h="166" fill="none">
                  <a:moveTo>
                    <a:pt x="0" y="0"/>
                  </a:moveTo>
                  <a:lnTo>
                    <a:pt x="256" y="166"/>
                  </a:lnTo>
                </a:path>
              </a:pathLst>
            </a:custGeom>
            <a:noFill/>
            <a:ln w="25109" cap="rnd">
              <a:solidFill>
                <a:srgbClr val="9A9A9A"/>
              </a:solidFill>
              <a:round/>
            </a:ln>
          </p:spPr>
        </p:sp>
        <p:sp>
          <p:nvSpPr>
            <p:cNvPr id="83" name="Flecha 114_2"/>
            <p:cNvSpPr/>
            <p:nvPr/>
          </p:nvSpPr>
          <p:spPr>
            <a:xfrm>
              <a:off x="780516" y="1894856"/>
              <a:ext cx="267375" cy="92579"/>
            </a:xfrm>
            <a:custGeom>
              <a:avLst/>
              <a:gdLst/>
              <a:ahLst/>
              <a:cxnLst/>
              <a:rect l="0" t="0" r="r" b="b"/>
              <a:pathLst>
                <a:path w="292" h="101" fill="none">
                  <a:moveTo>
                    <a:pt x="292" y="0"/>
                  </a:moveTo>
                  <a:lnTo>
                    <a:pt x="0" y="101"/>
                  </a:lnTo>
                </a:path>
              </a:pathLst>
            </a:custGeom>
            <a:noFill/>
            <a:ln w="25109" cap="rnd">
              <a:solidFill>
                <a:srgbClr val="9A9A9A"/>
              </a:solidFill>
              <a:round/>
            </a:ln>
          </p:spPr>
        </p:sp>
        <p:sp>
          <p:nvSpPr>
            <p:cNvPr id="84" name="Átomo O_12"/>
            <p:cNvSpPr/>
            <p:nvPr/>
          </p:nvSpPr>
          <p:spPr>
            <a:xfrm>
              <a:off x="1559729" y="1595190"/>
              <a:ext cx="163731" cy="16373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5" name="Flecha 117_2"/>
            <p:cNvSpPr/>
            <p:nvPr/>
          </p:nvSpPr>
          <p:spPr>
            <a:xfrm>
              <a:off x="1047891" y="1652455"/>
              <a:ext cx="112759" cy="242401"/>
            </a:xfrm>
            <a:custGeom>
              <a:avLst/>
              <a:gdLst/>
              <a:ahLst/>
              <a:cxnLst/>
              <a:rect l="0" t="0" r="r" b="b"/>
              <a:pathLst>
                <a:path w="123" h="265" fill="none">
                  <a:moveTo>
                    <a:pt x="123" y="0"/>
                  </a:moveTo>
                  <a:lnTo>
                    <a:pt x="0" y="265"/>
                  </a:lnTo>
                </a:path>
              </a:pathLst>
            </a:custGeom>
            <a:noFill/>
            <a:ln w="25109" cap="rnd">
              <a:solidFill>
                <a:srgbClr val="9A9A9A"/>
              </a:solidFill>
              <a:round/>
            </a:ln>
          </p:spPr>
        </p:sp>
        <p:sp>
          <p:nvSpPr>
            <p:cNvPr id="86" name="Flecha 119_2"/>
            <p:cNvSpPr/>
            <p:nvPr/>
          </p:nvSpPr>
          <p:spPr>
            <a:xfrm>
              <a:off x="1160649" y="1524418"/>
              <a:ext cx="246834" cy="128037"/>
            </a:xfrm>
            <a:custGeom>
              <a:avLst/>
              <a:gdLst/>
              <a:ahLst/>
              <a:cxnLst/>
              <a:rect l="0" t="0" r="r" b="b"/>
              <a:pathLst>
                <a:path w="269" h="140" fill="none">
                  <a:moveTo>
                    <a:pt x="0" y="140"/>
                  </a:moveTo>
                  <a:lnTo>
                    <a:pt x="269" y="0"/>
                  </a:lnTo>
                </a:path>
              </a:pathLst>
            </a:custGeom>
            <a:noFill/>
            <a:ln w="25109" cap="rnd">
              <a:solidFill>
                <a:srgbClr val="9A9A9A"/>
              </a:solidFill>
              <a:round/>
            </a:ln>
          </p:spPr>
        </p:sp>
        <p:sp>
          <p:nvSpPr>
            <p:cNvPr id="87" name="Átomo C_9"/>
            <p:cNvSpPr/>
            <p:nvPr/>
          </p:nvSpPr>
          <p:spPr>
            <a:xfrm>
              <a:off x="693109" y="1900028"/>
              <a:ext cx="174814" cy="17481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8" name="Flecha 122_2"/>
            <p:cNvSpPr/>
            <p:nvPr/>
          </p:nvSpPr>
          <p:spPr>
            <a:xfrm>
              <a:off x="582035" y="1754751"/>
              <a:ext cx="198480" cy="232684"/>
            </a:xfrm>
            <a:custGeom>
              <a:avLst/>
              <a:gdLst/>
              <a:ahLst/>
              <a:cxnLst/>
              <a:rect l="0" t="0" r="r" b="b"/>
              <a:pathLst>
                <a:path w="217" h="254" fill="none">
                  <a:moveTo>
                    <a:pt x="217" y="254"/>
                  </a:moveTo>
                  <a:lnTo>
                    <a:pt x="0" y="0"/>
                  </a:lnTo>
                </a:path>
              </a:pathLst>
            </a:custGeom>
            <a:noFill/>
            <a:ln w="25109" cap="rnd">
              <a:solidFill>
                <a:srgbClr val="9A9A9A"/>
              </a:solidFill>
              <a:round/>
            </a:ln>
          </p:spPr>
        </p:sp>
        <p:sp>
          <p:nvSpPr>
            <p:cNvPr id="89" name="Átomo C_10"/>
            <p:cNvSpPr/>
            <p:nvPr/>
          </p:nvSpPr>
          <p:spPr>
            <a:xfrm>
              <a:off x="494350" y="1667066"/>
              <a:ext cx="175371" cy="1753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0" name="Átomo C_11"/>
            <p:cNvSpPr/>
            <p:nvPr/>
          </p:nvSpPr>
          <p:spPr>
            <a:xfrm>
              <a:off x="1072870" y="1564675"/>
              <a:ext cx="175560" cy="17556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1" name="Flecha 126_2"/>
            <p:cNvSpPr/>
            <p:nvPr/>
          </p:nvSpPr>
          <p:spPr>
            <a:xfrm>
              <a:off x="961699" y="1440864"/>
              <a:ext cx="198950" cy="211591"/>
            </a:xfrm>
            <a:custGeom>
              <a:avLst/>
              <a:gdLst/>
              <a:ahLst/>
              <a:cxnLst/>
              <a:rect l="0" t="0" r="r" b="b"/>
              <a:pathLst>
                <a:path w="217" h="231" fill="none">
                  <a:moveTo>
                    <a:pt x="0" y="0"/>
                  </a:moveTo>
                  <a:lnTo>
                    <a:pt x="217" y="231"/>
                  </a:lnTo>
                </a:path>
              </a:pathLst>
            </a:custGeom>
            <a:noFill/>
            <a:ln w="25109" cap="rnd">
              <a:solidFill>
                <a:srgbClr val="9A9A9A"/>
              </a:solidFill>
              <a:round/>
            </a:ln>
          </p:spPr>
        </p:sp>
        <p:sp>
          <p:nvSpPr>
            <p:cNvPr id="92" name="Átomo O_13"/>
            <p:cNvSpPr/>
            <p:nvPr/>
          </p:nvSpPr>
          <p:spPr>
            <a:xfrm>
              <a:off x="878700" y="1357865"/>
              <a:ext cx="165998" cy="16599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3" name="Flecha 129_2"/>
            <p:cNvSpPr/>
            <p:nvPr/>
          </p:nvSpPr>
          <p:spPr>
            <a:xfrm>
              <a:off x="343584" y="1754751"/>
              <a:ext cx="238452" cy="80129"/>
            </a:xfrm>
            <a:custGeom>
              <a:avLst/>
              <a:gdLst/>
              <a:ahLst/>
              <a:cxnLst/>
              <a:rect l="0" t="0" r="r" b="b"/>
              <a:pathLst>
                <a:path w="260" h="87" fill="none">
                  <a:moveTo>
                    <a:pt x="260" y="0"/>
                  </a:moveTo>
                  <a:lnTo>
                    <a:pt x="0" y="87"/>
                  </a:lnTo>
                </a:path>
              </a:pathLst>
            </a:custGeom>
            <a:noFill/>
            <a:ln w="25109" cap="rnd">
              <a:solidFill>
                <a:srgbClr val="9A9A9A"/>
              </a:solidFill>
              <a:round/>
            </a:ln>
          </p:spPr>
        </p:sp>
        <p:sp>
          <p:nvSpPr>
            <p:cNvPr id="94" name="Flecha 131_2"/>
            <p:cNvSpPr/>
            <p:nvPr/>
          </p:nvSpPr>
          <p:spPr>
            <a:xfrm>
              <a:off x="582035" y="1521687"/>
              <a:ext cx="135318" cy="233064"/>
            </a:xfrm>
            <a:custGeom>
              <a:avLst/>
              <a:gdLst/>
              <a:ahLst/>
              <a:cxnLst/>
              <a:rect l="0" t="0" r="r" b="b"/>
              <a:pathLst>
                <a:path w="147" h="254" fill="none">
                  <a:moveTo>
                    <a:pt x="0" y="254"/>
                  </a:moveTo>
                  <a:lnTo>
                    <a:pt x="147" y="0"/>
                  </a:lnTo>
                </a:path>
              </a:pathLst>
            </a:custGeom>
            <a:noFill/>
            <a:ln w="25109" cap="rnd">
              <a:solidFill>
                <a:srgbClr val="9A9A9A"/>
              </a:solidFill>
              <a:round/>
            </a:ln>
          </p:spPr>
        </p:sp>
        <p:sp>
          <p:nvSpPr>
            <p:cNvPr id="95" name="Flecha 133_2"/>
            <p:cNvSpPr/>
            <p:nvPr/>
          </p:nvSpPr>
          <p:spPr>
            <a:xfrm>
              <a:off x="717353" y="1440864"/>
              <a:ext cx="244346" cy="80823"/>
            </a:xfrm>
            <a:custGeom>
              <a:avLst/>
              <a:gdLst/>
              <a:ahLst/>
              <a:cxnLst/>
              <a:rect l="0" t="0" r="r" b="b"/>
              <a:pathLst>
                <a:path w="267" h="88" fill="none">
                  <a:moveTo>
                    <a:pt x="0" y="88"/>
                  </a:moveTo>
                  <a:lnTo>
                    <a:pt x="267" y="0"/>
                  </a:lnTo>
                </a:path>
              </a:pathLst>
            </a:custGeom>
            <a:noFill/>
            <a:ln w="25109" cap="rnd">
              <a:solidFill>
                <a:srgbClr val="9A9A9A"/>
              </a:solidFill>
              <a:round/>
            </a:ln>
          </p:spPr>
        </p:sp>
        <p:sp>
          <p:nvSpPr>
            <p:cNvPr id="96" name="Átomo O_14"/>
            <p:cNvSpPr/>
            <p:nvPr/>
          </p:nvSpPr>
          <p:spPr>
            <a:xfrm>
              <a:off x="259397" y="1750693"/>
              <a:ext cx="168374" cy="16837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7" name="Átomo C_12"/>
            <p:cNvSpPr/>
            <p:nvPr/>
          </p:nvSpPr>
          <p:spPr>
            <a:xfrm>
              <a:off x="628000" y="1432334"/>
              <a:ext cx="178706" cy="17870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8" name="Flecha 137_2"/>
            <p:cNvSpPr/>
            <p:nvPr/>
          </p:nvSpPr>
          <p:spPr>
            <a:xfrm>
              <a:off x="717353" y="1521687"/>
              <a:ext cx="43580" cy="68559"/>
            </a:xfrm>
            <a:custGeom>
              <a:avLst/>
              <a:gdLst/>
              <a:ahLst/>
              <a:cxnLst/>
              <a:rect l="0" t="0" r="r" b="b"/>
              <a:pathLst>
                <a:path w="47" h="74" fill="none">
                  <a:moveTo>
                    <a:pt x="47" y="74"/>
                  </a:moveTo>
                  <a:lnTo>
                    <a:pt x="0" y="0"/>
                  </a:lnTo>
                </a:path>
              </a:pathLst>
            </a:custGeom>
            <a:noFill/>
            <a:ln w="25109" cap="rnd">
              <a:solidFill>
                <a:srgbClr val="9A9A9A"/>
              </a:solidFill>
              <a:round/>
            </a:ln>
          </p:spPr>
        </p:sp>
        <p:sp>
          <p:nvSpPr>
            <p:cNvPr id="99" name="Átomo O_15"/>
            <p:cNvSpPr/>
            <p:nvPr/>
          </p:nvSpPr>
          <p:spPr>
            <a:xfrm>
              <a:off x="673801" y="1503114"/>
              <a:ext cx="174264" cy="17426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00" name="Forma 140"/>
            <p:cNvSpPr txBox="1"/>
            <p:nvPr/>
          </p:nvSpPr>
          <p:spPr>
            <a:xfrm>
              <a:off x="-91440" y="2378760"/>
              <a:ext cx="256032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Glucosa-6-P</a:t>
              </a:r>
              <a:endParaRPr lang="es-AR" sz="1300" dirty="0">
                <a:latin typeface="Fira Sans Condensed"/>
              </a:endParaRPr>
            </a:p>
          </p:txBody>
        </p:sp>
      </p:grpSp>
      <p:sp>
        <p:nvSpPr>
          <p:cNvPr id="10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Páncreas def" descr="Ilustración biomédica (Servier Medical Art, CC BY)"/>
          <p:cNvPicPr>
            <a:picLocks noChangeAspect="1"/>
          </p:cNvPicPr>
          <p:nvPr/>
        </p:nvPicPr>
        <p:blipFill>
          <a:blip r:embed="rId2"/>
          <a:stretch>
            <a:fillRect/>
          </a:stretch>
        </p:blipFill>
        <p:spPr>
          <a:xfrm>
            <a:off x="457200" y="1234440"/>
            <a:ext cx="3291840" cy="1366114"/>
          </a:xfrm>
          <a:prstGeom prst="rect">
            <a:avLst/>
          </a:prstGeom>
        </p:spPr>
      </p:pic>
      <p:sp>
        <p:nvSpPr>
          <p:cNvPr id="8" name="Hiperglucemia crónica"/>
          <p:cNvSpPr/>
          <p:nvPr/>
        </p:nvSpPr>
        <p:spPr>
          <a:xfrm>
            <a:off x="4343400" y="1188720"/>
            <a:ext cx="3474720" cy="7772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200" b="1" dirty="0">
                <a:solidFill>
                  <a:srgbClr val="C00000"/>
                </a:solidFill>
                <a:latin typeface="Fira Sans Condensed"/>
                <a:ea typeface="Fira Sans Condensed"/>
                <a:cs typeface="Fira Sans Condensed"/>
                <a:sym typeface="Fira Sans Condensed"/>
              </a:rPr>
              <a:t>HIPERGLUCEMIA CRÓNICA</a:t>
            </a:r>
            <a:endParaRPr lang="es-AR" sz="2200" dirty="0">
              <a:latin typeface="Fira Sans Condensed"/>
            </a:endParaRPr>
          </a:p>
        </p:txBody>
      </p:sp>
      <p:sp>
        <p:nvSpPr>
          <p:cNvPr id="9" name="Recuadro Deficiencia en la SECR"/>
          <p:cNvSpPr/>
          <p:nvPr/>
        </p:nvSpPr>
        <p:spPr>
          <a:xfrm>
            <a:off x="457200" y="3063240"/>
            <a:ext cx="338328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Deficiencia en la SECRECIÓN de insulina</a:t>
            </a:r>
            <a:endParaRPr lang="es-AR" sz="1600" dirty="0">
              <a:latin typeface="Fira Sans Condensed"/>
            </a:endParaRPr>
          </a:p>
        </p:txBody>
      </p:sp>
      <p:sp>
        <p:nvSpPr>
          <p:cNvPr id="10" name="Recuadro Disminución de su ACCI"/>
          <p:cNvSpPr/>
          <p:nvPr/>
        </p:nvSpPr>
        <p:spPr>
          <a:xfrm>
            <a:off x="4389120" y="3063240"/>
            <a:ext cx="338328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Disminución de su ACCIÓN en tejidos diana</a:t>
            </a:r>
            <a:endParaRPr lang="es-AR" sz="1600" dirty="0">
              <a:latin typeface="Fira Sans Condensed"/>
            </a:endParaRPr>
          </a:p>
        </p:txBody>
      </p:sp>
      <p:sp>
        <p:nvSpPr>
          <p:cNvPr id="11" name="Recuadro Ambas (lo más frecuent"/>
          <p:cNvSpPr/>
          <p:nvPr/>
        </p:nvSpPr>
        <p:spPr>
          <a:xfrm>
            <a:off x="8321040" y="3063240"/>
            <a:ext cx="338328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Ambas (lo más frecuente en DM2)</a:t>
            </a:r>
            <a:endParaRPr lang="es-AR" sz="1600" dirty="0">
              <a:latin typeface="Fira Sans Condensed"/>
            </a:endParaRPr>
          </a:p>
        </p:txBody>
      </p:sp>
      <p:sp>
        <p:nvSpPr>
          <p:cNvPr id="12" name="Flecha 11_2"/>
          <p:cNvSpPr/>
          <p:nvPr/>
        </p:nvSpPr>
        <p:spPr>
          <a:xfrm>
            <a:off x="2148840" y="2011680"/>
            <a:ext cx="2606040" cy="1005840"/>
          </a:xfrm>
          <a:custGeom>
            <a:avLst/>
            <a:gdLst/>
            <a:ahLst/>
            <a:cxnLst/>
            <a:rect l="0" t="0" r="r" b="b"/>
            <a:pathLst>
              <a:path w="2850" h="1099" fill="none">
                <a:moveTo>
                  <a:pt x="0" y="1099"/>
                </a:moveTo>
                <a:lnTo>
                  <a:pt x="2850" y="0"/>
                </a:lnTo>
              </a:path>
            </a:pathLst>
          </a:custGeom>
          <a:noFill/>
          <a:ln w="31750" cap="rnd">
            <a:solidFill>
              <a:srgbClr val="1E1E1E"/>
            </a:solidFill>
            <a:round/>
            <a:tailEnd type="triangle" w="med" len="med"/>
          </a:ln>
        </p:spPr>
      </p:sp>
      <p:sp>
        <p:nvSpPr>
          <p:cNvPr id="13" name="Flecha 13_2"/>
          <p:cNvSpPr/>
          <p:nvPr/>
        </p:nvSpPr>
        <p:spPr>
          <a:xfrm>
            <a:off x="6080760" y="2011680"/>
            <a:ext cx="9144" cy="1005840"/>
          </a:xfrm>
          <a:custGeom>
            <a:avLst/>
            <a:gdLst/>
            <a:ahLst/>
            <a:cxnLst/>
            <a:rect l="0" t="0" r="r" b="b"/>
            <a:pathLst>
              <a:path w="10" h="1099" fill="none">
                <a:moveTo>
                  <a:pt x="0" y="1099"/>
                </a:moveTo>
                <a:lnTo>
                  <a:pt x="0" y="0"/>
                </a:lnTo>
              </a:path>
            </a:pathLst>
          </a:custGeom>
          <a:noFill/>
          <a:ln w="31750" cap="rnd">
            <a:solidFill>
              <a:srgbClr val="1E1E1E"/>
            </a:solidFill>
            <a:round/>
            <a:tailEnd type="triangle" w="med" len="med"/>
          </a:ln>
        </p:spPr>
      </p:sp>
      <p:sp>
        <p:nvSpPr>
          <p:cNvPr id="14" name="Flecha 15_2"/>
          <p:cNvSpPr/>
          <p:nvPr/>
        </p:nvSpPr>
        <p:spPr>
          <a:xfrm>
            <a:off x="7406640" y="2011680"/>
            <a:ext cx="2560320" cy="1005840"/>
          </a:xfrm>
          <a:custGeom>
            <a:avLst/>
            <a:gdLst/>
            <a:ahLst/>
            <a:cxnLst/>
            <a:rect l="0" t="0" r="r" b="b"/>
            <a:pathLst>
              <a:path w="2800" h="1099" fill="none">
                <a:moveTo>
                  <a:pt x="2800" y="1099"/>
                </a:moveTo>
                <a:lnTo>
                  <a:pt x="0" y="0"/>
                </a:lnTo>
              </a:path>
            </a:pathLst>
          </a:custGeom>
          <a:noFill/>
          <a:ln w="31750" cap="rnd">
            <a:solidFill>
              <a:srgbClr val="1E1E1E"/>
            </a:solidFill>
            <a:round/>
            <a:tailEnd type="triangle" w="med" len="med"/>
          </a:ln>
        </p:spPr>
      </p:sp>
      <p:grpSp>
        <p:nvGrpSpPr>
          <p:cNvPr id="15" name="Cuadro Consecuencia metabólic"/>
          <p:cNvGrpSpPr/>
          <p:nvPr/>
        </p:nvGrpSpPr>
        <p:grpSpPr>
          <a:xfrm>
            <a:off x="457200" y="4343400"/>
            <a:ext cx="5669280" cy="1600200"/>
            <a:chOff x="457200" y="4343400"/>
            <a:chExt cx="5669280" cy="1600200"/>
          </a:xfrm>
        </p:grpSpPr>
        <p:sp>
          <p:nvSpPr>
            <p:cNvPr id="16" name="Forma 18"/>
            <p:cNvSpPr/>
            <p:nvPr/>
          </p:nvSpPr>
          <p:spPr>
            <a:xfrm>
              <a:off x="457200" y="4544568"/>
              <a:ext cx="566928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600" dirty="0">
                  <a:solidFill>
                    <a:srgbClr val="1E1E1E"/>
                  </a:solidFill>
                  <a:latin typeface="Fira Sans Condensed"/>
                  <a:ea typeface="Fira Sans Condensed"/>
                  <a:cs typeface="Fira Sans Condensed"/>
                  <a:sym typeface="Fira Sans Condensed"/>
                </a:rPr>
                <a:t>La hiperglucemia prolongada modifica el metabolismo de </a:t>
              </a:r>
              <a:r>
                <a:rPr lang="es-AR" sz="1600" b="1" dirty="0">
                  <a:solidFill>
                    <a:srgbClr val="1E1E1E"/>
                  </a:solidFill>
                  <a:latin typeface="Fira Sans Condensed"/>
                  <a:ea typeface="Fira Sans Condensed"/>
                  <a:cs typeface="Fira Sans Condensed"/>
                  <a:sym typeface="Fira Sans Condensed"/>
                </a:rPr>
                <a:t>carbohidratos, lípidos y proteínas</a:t>
              </a:r>
              <a:r>
                <a:rPr lang="es-AR" sz="1600" dirty="0">
                  <a:solidFill>
                    <a:srgbClr val="1E1E1E"/>
                  </a:solidFill>
                  <a:latin typeface="Fira Sans Condensed"/>
                  <a:ea typeface="Fira Sans Condensed"/>
                  <a:cs typeface="Fira Sans Condensed"/>
                  <a:sym typeface="Fira Sans Condensed"/>
                </a:rPr>
                <a:t>. No equivale a una única etiología: es un </a:t>
              </a:r>
              <a:r>
                <a:rPr lang="es-AR" sz="1600" b="1" dirty="0">
                  <a:solidFill>
                    <a:srgbClr val="1E1E1E"/>
                  </a:solidFill>
                  <a:latin typeface="Fira Sans Condensed"/>
                  <a:ea typeface="Fira Sans Condensed"/>
                  <a:cs typeface="Fira Sans Condensed"/>
                  <a:sym typeface="Fira Sans Condensed"/>
                </a:rPr>
                <a:t>conjunto heterogéneo</a:t>
              </a:r>
              <a:r>
                <a:rPr lang="es-AR" sz="1600" dirty="0">
                  <a:solidFill>
                    <a:srgbClr val="1E1E1E"/>
                  </a:solidFill>
                  <a:latin typeface="Fira Sans Condensed"/>
                  <a:ea typeface="Fira Sans Condensed"/>
                  <a:cs typeface="Fira Sans Condensed"/>
                  <a:sym typeface="Fira Sans Condensed"/>
                </a:rPr>
                <a:t> de enfermedades.</a:t>
              </a:r>
              <a:endParaRPr lang="es-AR" sz="1600" dirty="0">
                <a:latin typeface="Fira Sans Condensed"/>
              </a:endParaRPr>
            </a:p>
          </p:txBody>
        </p:sp>
        <p:sp>
          <p:nvSpPr>
            <p:cNvPr id="17" name="Forma 19"/>
            <p:cNvSpPr/>
            <p:nvPr/>
          </p:nvSpPr>
          <p:spPr>
            <a:xfrm>
              <a:off x="594360" y="4343400"/>
              <a:ext cx="257201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CONSECUENCIA METABÓLICA</a:t>
              </a:r>
              <a:endParaRPr lang="es-AR" sz="1400" dirty="0">
                <a:latin typeface="Fira Sans Condensed"/>
              </a:endParaRPr>
            </a:p>
          </p:txBody>
        </p:sp>
      </p:grpSp>
      <p:grpSp>
        <p:nvGrpSpPr>
          <p:cNvPr id="18" name="Órganos blanco"/>
          <p:cNvGrpSpPr/>
          <p:nvPr/>
        </p:nvGrpSpPr>
        <p:grpSpPr>
          <a:xfrm>
            <a:off x="6400800" y="4434840"/>
            <a:ext cx="5349240" cy="1417320"/>
            <a:chOff x="6400800" y="4434840"/>
            <a:chExt cx="5349240" cy="1417320"/>
          </a:xfrm>
        </p:grpSpPr>
        <p:pic>
          <p:nvPicPr>
            <p:cNvPr id="19" name="Imagen diabetic-retinopathy-eye" descr="Ilustración biomédica (Servier Medical Art, CC BY)"/>
            <p:cNvPicPr>
              <a:picLocks noChangeAspect="1"/>
            </p:cNvPicPr>
            <p:nvPr/>
          </p:nvPicPr>
          <p:blipFill>
            <a:blip r:embed="rId3"/>
            <a:stretch>
              <a:fillRect/>
            </a:stretch>
          </p:blipFill>
          <p:spPr>
            <a:xfrm>
              <a:off x="6400800" y="4546054"/>
              <a:ext cx="960120" cy="829132"/>
            </a:xfrm>
            <a:prstGeom prst="rect">
              <a:avLst/>
            </a:prstGeom>
          </p:spPr>
        </p:pic>
        <p:sp>
          <p:nvSpPr>
            <p:cNvPr id="20" name="Forma 22"/>
            <p:cNvSpPr txBox="1"/>
            <p:nvPr/>
          </p:nvSpPr>
          <p:spPr>
            <a:xfrm>
              <a:off x="6400800" y="5532120"/>
              <a:ext cx="9601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Retina</a:t>
              </a:r>
              <a:endParaRPr lang="es-AR" sz="1250" dirty="0">
                <a:latin typeface="Fira Sans Condensed"/>
              </a:endParaRPr>
            </a:p>
          </p:txBody>
        </p:sp>
        <p:pic>
          <p:nvPicPr>
            <p:cNvPr id="21" name="Imagen kidney-1" descr="Ilustración biomédica (Servier Medical Art, CC BY)"/>
            <p:cNvPicPr>
              <a:picLocks noChangeAspect="1"/>
            </p:cNvPicPr>
            <p:nvPr/>
          </p:nvPicPr>
          <p:blipFill>
            <a:blip r:embed="rId4"/>
            <a:stretch>
              <a:fillRect/>
            </a:stretch>
          </p:blipFill>
          <p:spPr>
            <a:xfrm>
              <a:off x="7681074" y="4434840"/>
              <a:ext cx="594131" cy="1051560"/>
            </a:xfrm>
            <a:prstGeom prst="rect">
              <a:avLst/>
            </a:prstGeom>
          </p:spPr>
        </p:pic>
        <p:sp>
          <p:nvSpPr>
            <p:cNvPr id="22" name="Forma 24"/>
            <p:cNvSpPr txBox="1"/>
            <p:nvPr/>
          </p:nvSpPr>
          <p:spPr>
            <a:xfrm>
              <a:off x="7498080" y="5532120"/>
              <a:ext cx="9601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Riñón</a:t>
              </a:r>
              <a:endParaRPr lang="es-AR" sz="1250" dirty="0">
                <a:latin typeface="Fira Sans Condensed"/>
              </a:endParaRPr>
            </a:p>
          </p:txBody>
        </p:sp>
        <p:pic>
          <p:nvPicPr>
            <p:cNvPr id="23" name="Imagen Pyramidal_Neuron" descr="Ilustración biomédica (Servier Medical Art, CC BY)"/>
            <p:cNvPicPr>
              <a:picLocks noChangeAspect="1"/>
            </p:cNvPicPr>
            <p:nvPr/>
          </p:nvPicPr>
          <p:blipFill>
            <a:blip r:embed="rId5"/>
            <a:stretch>
              <a:fillRect/>
            </a:stretch>
          </p:blipFill>
          <p:spPr>
            <a:xfrm>
              <a:off x="8757699" y="4434840"/>
              <a:ext cx="635443" cy="1051560"/>
            </a:xfrm>
            <a:prstGeom prst="rect">
              <a:avLst/>
            </a:prstGeom>
          </p:spPr>
        </p:pic>
        <p:sp>
          <p:nvSpPr>
            <p:cNvPr id="24" name="Forma 26"/>
            <p:cNvSpPr txBox="1"/>
            <p:nvPr/>
          </p:nvSpPr>
          <p:spPr>
            <a:xfrm>
              <a:off x="8595360" y="5532120"/>
              <a:ext cx="9601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Nervios</a:t>
              </a:r>
              <a:endParaRPr lang="es-AR" sz="1250" dirty="0">
                <a:latin typeface="Fira Sans Condensed"/>
              </a:endParaRPr>
            </a:p>
          </p:txBody>
        </p:sp>
        <p:pic>
          <p:nvPicPr>
            <p:cNvPr id="25" name="Imagen heart-front" descr="Ilustración biomédica (Servier Medical Art, CC BY)"/>
            <p:cNvPicPr>
              <a:picLocks noChangeAspect="1"/>
            </p:cNvPicPr>
            <p:nvPr/>
          </p:nvPicPr>
          <p:blipFill>
            <a:blip r:embed="rId6"/>
            <a:stretch>
              <a:fillRect/>
            </a:stretch>
          </p:blipFill>
          <p:spPr>
            <a:xfrm>
              <a:off x="9801274" y="4434840"/>
              <a:ext cx="742852" cy="1051560"/>
            </a:xfrm>
            <a:prstGeom prst="rect">
              <a:avLst/>
            </a:prstGeom>
          </p:spPr>
        </p:pic>
        <p:sp>
          <p:nvSpPr>
            <p:cNvPr id="26" name="Forma 28"/>
            <p:cNvSpPr txBox="1"/>
            <p:nvPr/>
          </p:nvSpPr>
          <p:spPr>
            <a:xfrm>
              <a:off x="9692640" y="5532120"/>
              <a:ext cx="9601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Corazón</a:t>
              </a:r>
              <a:endParaRPr lang="es-AR" sz="1250" dirty="0">
                <a:latin typeface="Fira Sans Condensed"/>
              </a:endParaRPr>
            </a:p>
          </p:txBody>
        </p:sp>
        <p:pic>
          <p:nvPicPr>
            <p:cNvPr id="27" name="Imagen vein-crossection-3d" descr="Ilustración biomédica (Servier Medical Art, CC BY)"/>
            <p:cNvPicPr>
              <a:picLocks noChangeAspect="1"/>
            </p:cNvPicPr>
            <p:nvPr/>
          </p:nvPicPr>
          <p:blipFill>
            <a:blip r:embed="rId7"/>
            <a:stretch>
              <a:fillRect/>
            </a:stretch>
          </p:blipFill>
          <p:spPr>
            <a:xfrm>
              <a:off x="10789920" y="4581030"/>
              <a:ext cx="960120" cy="759181"/>
            </a:xfrm>
            <a:prstGeom prst="rect">
              <a:avLst/>
            </a:prstGeom>
          </p:spPr>
        </p:pic>
        <p:sp>
          <p:nvSpPr>
            <p:cNvPr id="28" name="Forma 30"/>
            <p:cNvSpPr txBox="1"/>
            <p:nvPr/>
          </p:nvSpPr>
          <p:spPr>
            <a:xfrm>
              <a:off x="10789920" y="5532120"/>
              <a:ext cx="9601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Vasos</a:t>
              </a:r>
              <a:endParaRPr lang="es-AR" sz="125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DIABETES MELLITUS: DEFINICIÓN</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childTnLst>
                    </p:cTn>
                  </p:par>
                  <p:par>
                    <p:cTn id="32" fill="hold">
                      <p:stCondLst>
                        <p:cond delay="indefinite"/>
                      </p:stCondLst>
                      <p:childTnLst>
                        <p:par>
                          <p:cTn id="13"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600"/>
                                        <p:tgtEl>
                                          <p:spTgt spid="12"/>
                                        </p:tgtEl>
                                      </p:cBhvr>
                                    </p:animEffect>
                                  </p:childTnLst>
                                </p:cTn>
                              </p:par>
                            </p:childTnLst>
                          </p:cTn>
                        </p:par>
                        <p:par>
                          <p:cTn id="20"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600"/>
                                        <p:tgtEl>
                                          <p:spTgt spid="13"/>
                                        </p:tgtEl>
                                      </p:cBhvr>
                                    </p:animEffect>
                                  </p:childTnLst>
                                </p:cTn>
                              </p:par>
                            </p:childTnLst>
                          </p:cTn>
                        </p:par>
                        <p:par>
                          <p:cTn id="27"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down)">
                                      <p:cBhvr>
                                        <p:cTn id="26" dur="600"/>
                                        <p:tgtEl>
                                          <p:spTgt spid="14"/>
                                        </p:tgtEl>
                                      </p:cBhvr>
                                    </p:animEffect>
                                  </p:childTnLst>
                                </p:cTn>
                              </p:par>
                            </p:childTnLst>
                          </p:cTn>
                        </p:par>
                        <p:par>
                          <p:cTn id="31" fill="hold">
                            <p:stCondLst>
                              <p:cond delay="18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41"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40"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9" grpId="0" animBg="1"/>
      <p:bldP spid="13" grpId="0" animBg="1"/>
      <p:bldP spid="10" grpId="0" animBg="1"/>
      <p:bldP spid="14" grpId="0" animBg="1"/>
      <p:bldP spid="1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Tipo DM1"/>
          <p:cNvGrpSpPr/>
          <p:nvPr/>
        </p:nvGrpSpPr>
        <p:grpSpPr>
          <a:xfrm>
            <a:off x="365760" y="1143000"/>
            <a:ext cx="2743200" cy="4663440"/>
            <a:chOff x="365760" y="1143000"/>
            <a:chExt cx="2743200" cy="4663440"/>
          </a:xfrm>
        </p:grpSpPr>
        <p:sp>
          <p:nvSpPr>
            <p:cNvPr id="7" name="Recuadro DM1"/>
            <p:cNvSpPr/>
            <p:nvPr/>
          </p:nvSpPr>
          <p:spPr>
            <a:xfrm>
              <a:off x="365760" y="1143000"/>
              <a:ext cx="274320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C00000"/>
                  </a:solidFill>
                  <a:latin typeface="Fira Sans Condensed"/>
                  <a:ea typeface="Fira Sans Condensed"/>
                  <a:cs typeface="Fira Sans Condensed"/>
                  <a:sym typeface="Fira Sans Condensed"/>
                </a:rPr>
                <a:t>DM1</a:t>
              </a:r>
              <a:endParaRPr lang="es-AR" sz="2000" dirty="0">
                <a:latin typeface="Fira Sans Condensed"/>
              </a:endParaRPr>
            </a:p>
          </p:txBody>
        </p:sp>
        <p:pic>
          <p:nvPicPr>
            <p:cNvPr id="8" name="Imagen langerhans-islet-pancreas" descr="Ilustración biomédica (Servier Medical Art, CC BY)"/>
            <p:cNvPicPr>
              <a:picLocks noChangeAspect="1"/>
            </p:cNvPicPr>
            <p:nvPr/>
          </p:nvPicPr>
          <p:blipFill>
            <a:blip r:embed="rId2"/>
            <a:stretch>
              <a:fillRect/>
            </a:stretch>
          </p:blipFill>
          <p:spPr>
            <a:xfrm>
              <a:off x="1087924" y="1783080"/>
              <a:ext cx="1298873" cy="1417320"/>
            </a:xfrm>
            <a:prstGeom prst="rect">
              <a:avLst/>
            </a:prstGeom>
          </p:spPr>
        </p:pic>
        <p:sp>
          <p:nvSpPr>
            <p:cNvPr id="9" name="Forma 8"/>
            <p:cNvSpPr/>
            <p:nvPr/>
          </p:nvSpPr>
          <p:spPr>
            <a:xfrm>
              <a:off x="365760" y="3291840"/>
              <a:ext cx="2743200" cy="2514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Destrucción </a:t>
              </a:r>
              <a:r>
                <a:rPr lang="es-AR" sz="1450" b="1" dirty="0">
                  <a:solidFill>
                    <a:srgbClr val="1E1E1E"/>
                  </a:solidFill>
                  <a:latin typeface="Fira Sans Condensed"/>
                  <a:ea typeface="Fira Sans Condensed"/>
                  <a:cs typeface="Fira Sans Condensed"/>
                  <a:sym typeface="Fira Sans Condensed"/>
                </a:rPr>
                <a:t>autoinmunitaria</a:t>
              </a:r>
              <a:r>
                <a:rPr lang="es-AR" sz="1450" dirty="0">
                  <a:solidFill>
                    <a:srgbClr val="1E1E1E"/>
                  </a:solidFill>
                  <a:latin typeface="Fira Sans Condensed"/>
                  <a:ea typeface="Fira Sans Condensed"/>
                  <a:cs typeface="Fira Sans Condensed"/>
                  <a:sym typeface="Fira Sans Condensed"/>
                </a:rPr>
                <a:t> de células β (anti-GAD65, IA-2, ZnT8, antiinsulina). Déficit insulínico </a:t>
              </a:r>
              <a:r>
                <a:rPr lang="es-AR" sz="1450" b="1" dirty="0">
                  <a:solidFill>
                    <a:srgbClr val="1E1E1E"/>
                  </a:solidFill>
                  <a:latin typeface="Fira Sans Condensed"/>
                  <a:ea typeface="Fira Sans Condensed"/>
                  <a:cs typeface="Fira Sans Condensed"/>
                  <a:sym typeface="Fira Sans Condensed"/>
                </a:rPr>
                <a:t>marcado o absoluto</a:t>
              </a:r>
              <a:r>
                <a:rPr lang="es-AR" sz="1450" dirty="0">
                  <a:solidFill>
                    <a:srgbClr val="1E1E1E"/>
                  </a:solidFill>
                  <a:latin typeface="Fira Sans Condensed"/>
                  <a:ea typeface="Fira Sans Condensed"/>
                  <a:cs typeface="Fira Sans Condensed"/>
                  <a:sym typeface="Fira Sans Condensed"/>
                </a:rPr>
                <a:t>; riesgo de cetogénesis </a:t>
              </a:r>
              <a:r>
                <a:rPr lang="es-AR" sz="1450" b="1" dirty="0">
                  <a:solidFill>
                    <a:srgbClr val="1E1E1E"/>
                  </a:solidFill>
                  <a:latin typeface="Fira Sans Condensed"/>
                  <a:ea typeface="Fira Sans Condensed"/>
                  <a:cs typeface="Fira Sans Condensed"/>
                  <a:sym typeface="Fira Sans Condensed"/>
                </a:rPr>
                <a:t>elevado</a:t>
              </a:r>
              <a:r>
                <a:rPr lang="es-AR" sz="1450" dirty="0">
                  <a:solidFill>
                    <a:srgbClr val="1E1E1E"/>
                  </a:solidFill>
                  <a:latin typeface="Fira Sans Condensed"/>
                  <a:ea typeface="Fira Sans Condensed"/>
                  <a:cs typeface="Fira Sans Condensed"/>
                  <a:sym typeface="Fira Sans Condensed"/>
                </a:rPr>
                <a:t>. Cualquier edad.</a:t>
              </a:r>
              <a:endParaRPr lang="es-AR" sz="1450" dirty="0">
                <a:latin typeface="Fira Sans Condensed"/>
              </a:endParaRPr>
            </a:p>
          </p:txBody>
        </p:sp>
      </p:grpSp>
      <p:grpSp>
        <p:nvGrpSpPr>
          <p:cNvPr id="10" name="Tipo DM2"/>
          <p:cNvGrpSpPr/>
          <p:nvPr/>
        </p:nvGrpSpPr>
        <p:grpSpPr>
          <a:xfrm>
            <a:off x="3264408" y="1143000"/>
            <a:ext cx="2743200" cy="4663440"/>
            <a:chOff x="3264408" y="1143000"/>
            <a:chExt cx="2743200" cy="4663440"/>
          </a:xfrm>
        </p:grpSpPr>
        <p:sp>
          <p:nvSpPr>
            <p:cNvPr id="11" name="Recuadro DM2"/>
            <p:cNvSpPr/>
            <p:nvPr/>
          </p:nvSpPr>
          <p:spPr>
            <a:xfrm>
              <a:off x="3264408" y="1143000"/>
              <a:ext cx="2743200" cy="56692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1E1E1E"/>
                  </a:solidFill>
                  <a:latin typeface="Fira Sans Condensed"/>
                  <a:ea typeface="Fira Sans Condensed"/>
                  <a:cs typeface="Fira Sans Condensed"/>
                  <a:sym typeface="Fira Sans Condensed"/>
                </a:rPr>
                <a:t>DM2</a:t>
              </a:r>
              <a:endParaRPr lang="es-AR" sz="2000" dirty="0">
                <a:latin typeface="Fira Sans Condensed"/>
              </a:endParaRPr>
            </a:p>
          </p:txBody>
        </p:sp>
        <p:pic>
          <p:nvPicPr>
            <p:cNvPr id="12" name="Imagen obese-man" descr="Ilustración biomédica (Servier Medical Art, CC BY)"/>
            <p:cNvPicPr>
              <a:picLocks noChangeAspect="1"/>
            </p:cNvPicPr>
            <p:nvPr/>
          </p:nvPicPr>
          <p:blipFill>
            <a:blip r:embed="rId3"/>
            <a:stretch>
              <a:fillRect/>
            </a:stretch>
          </p:blipFill>
          <p:spPr>
            <a:xfrm>
              <a:off x="4245739" y="1783080"/>
              <a:ext cx="780538" cy="1417320"/>
            </a:xfrm>
            <a:prstGeom prst="rect">
              <a:avLst/>
            </a:prstGeom>
          </p:spPr>
        </p:pic>
        <p:sp>
          <p:nvSpPr>
            <p:cNvPr id="13" name="Forma 12"/>
            <p:cNvSpPr/>
            <p:nvPr/>
          </p:nvSpPr>
          <p:spPr>
            <a:xfrm>
              <a:off x="3264408" y="3291840"/>
              <a:ext cx="2743200" cy="2514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Resistencia</a:t>
              </a:r>
              <a:r>
                <a:rPr lang="es-AR" sz="1450" dirty="0">
                  <a:solidFill>
                    <a:srgbClr val="1E1E1E"/>
                  </a:solidFill>
                  <a:latin typeface="Fira Sans Condensed"/>
                  <a:ea typeface="Fira Sans Condensed"/>
                  <a:cs typeface="Fira Sans Condensed"/>
                  <a:sym typeface="Fira Sans Condensed"/>
                </a:rPr>
                <a:t> a la insulina (hígado, músculo, adiposo) + </a:t>
              </a:r>
              <a:r>
                <a:rPr lang="es-AR" sz="1450" b="1" dirty="0">
                  <a:solidFill>
                    <a:srgbClr val="1E1E1E"/>
                  </a:solidFill>
                  <a:latin typeface="Fira Sans Condensed"/>
                  <a:ea typeface="Fira Sans Condensed"/>
                  <a:cs typeface="Fira Sans Condensed"/>
                  <a:sym typeface="Fira Sans Condensed"/>
                </a:rPr>
                <a:t>incapacidad progresiva</a:t>
              </a:r>
              <a:r>
                <a:rPr lang="es-AR" sz="1450" dirty="0">
                  <a:solidFill>
                    <a:srgbClr val="1E1E1E"/>
                  </a:solidFill>
                  <a:latin typeface="Fira Sans Condensed"/>
                  <a:ea typeface="Fira Sans Condensed"/>
                  <a:cs typeface="Fira Sans Condensed"/>
                  <a:sym typeface="Fira Sans Condensed"/>
                </a:rPr>
                <a:t> de células β para compensarla. Al comienzo puede haber hiperinsulinemia.</a:t>
              </a:r>
              <a:endParaRPr lang="es-AR" sz="1450" dirty="0">
                <a:latin typeface="Fira Sans Condensed"/>
              </a:endParaRPr>
            </a:p>
          </p:txBody>
        </p:sp>
      </p:grpSp>
      <p:grpSp>
        <p:nvGrpSpPr>
          <p:cNvPr id="14" name="Tipo GESTACIONAL"/>
          <p:cNvGrpSpPr/>
          <p:nvPr/>
        </p:nvGrpSpPr>
        <p:grpSpPr>
          <a:xfrm>
            <a:off x="6163056" y="1143000"/>
            <a:ext cx="2743200" cy="4663440"/>
            <a:chOff x="6163056" y="1143000"/>
            <a:chExt cx="2743200" cy="4663440"/>
          </a:xfrm>
        </p:grpSpPr>
        <p:sp>
          <p:nvSpPr>
            <p:cNvPr id="15" name="Recuadro GESTACIONAL"/>
            <p:cNvSpPr/>
            <p:nvPr/>
          </p:nvSpPr>
          <p:spPr>
            <a:xfrm>
              <a:off x="6163056" y="1143000"/>
              <a:ext cx="2743200" cy="56692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1E1E1E"/>
                  </a:solidFill>
                  <a:latin typeface="Fira Sans Condensed"/>
                  <a:ea typeface="Fira Sans Condensed"/>
                  <a:cs typeface="Fira Sans Condensed"/>
                  <a:sym typeface="Fira Sans Condensed"/>
                </a:rPr>
                <a:t>GESTACIONAL</a:t>
              </a:r>
              <a:endParaRPr lang="es-AR" sz="2000" dirty="0">
                <a:latin typeface="Fira Sans Condensed"/>
              </a:endParaRPr>
            </a:p>
          </p:txBody>
        </p:sp>
        <p:sp>
          <p:nvSpPr>
            <p:cNvPr id="16" name="Recuadro Placenta: mediadores"/>
            <p:cNvSpPr/>
            <p:nvPr/>
          </p:nvSpPr>
          <p:spPr>
            <a:xfrm>
              <a:off x="6483096" y="1828800"/>
              <a:ext cx="210312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Placenta: mediadores</a:t>
              </a:r>
              <a:endParaRPr lang="es-AR" sz="1300" dirty="0">
                <a:latin typeface="Fira Sans Condensed"/>
              </a:endParaRPr>
            </a:p>
          </p:txBody>
        </p:sp>
        <p:sp>
          <p:nvSpPr>
            <p:cNvPr id="17" name="Flecha 16_2"/>
            <p:cNvSpPr/>
            <p:nvPr/>
          </p:nvSpPr>
          <p:spPr>
            <a:xfrm>
              <a:off x="7534656" y="2377440"/>
              <a:ext cx="9144" cy="274320"/>
            </a:xfrm>
            <a:custGeom>
              <a:avLst/>
              <a:gdLst/>
              <a:ahLst/>
              <a:cxnLst/>
              <a:rect l="0" t="0" r="r" b="b"/>
              <a:pathLst>
                <a:path w="10" h="299" fill="none">
                  <a:moveTo>
                    <a:pt x="0" y="0"/>
                  </a:moveTo>
                  <a:lnTo>
                    <a:pt x="0" y="299"/>
                  </a:lnTo>
                </a:path>
              </a:pathLst>
            </a:custGeom>
            <a:noFill/>
            <a:ln w="31750" cap="rnd">
              <a:solidFill>
                <a:srgbClr val="1E1E1E"/>
              </a:solidFill>
              <a:round/>
              <a:tailEnd type="triangle" w="med" len="med"/>
            </a:ln>
          </p:spPr>
        </p:sp>
        <p:sp>
          <p:nvSpPr>
            <p:cNvPr id="18" name="Recuadro Resistencia insulínica"/>
            <p:cNvSpPr/>
            <p:nvPr/>
          </p:nvSpPr>
          <p:spPr>
            <a:xfrm>
              <a:off x="6483096" y="2697480"/>
              <a:ext cx="210312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Resistencia insulínica ↑</a:t>
              </a:r>
              <a:endParaRPr lang="es-AR" sz="1300" dirty="0">
                <a:latin typeface="Fira Sans Condensed"/>
              </a:endParaRPr>
            </a:p>
          </p:txBody>
        </p:sp>
        <p:sp>
          <p:nvSpPr>
            <p:cNvPr id="19" name="Forma 19"/>
            <p:cNvSpPr/>
            <p:nvPr/>
          </p:nvSpPr>
          <p:spPr>
            <a:xfrm>
              <a:off x="6163056" y="3291840"/>
              <a:ext cx="2743200" cy="2514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Hiperglucemia diagnosticada por primera vez en el </a:t>
              </a:r>
              <a:r>
                <a:rPr lang="es-AR" sz="1450" b="1" dirty="0">
                  <a:solidFill>
                    <a:srgbClr val="1E1E1E"/>
                  </a:solidFill>
                  <a:latin typeface="Fira Sans Condensed"/>
                  <a:ea typeface="Fira Sans Condensed"/>
                  <a:cs typeface="Fira Sans Condensed"/>
                  <a:sym typeface="Fira Sans Condensed"/>
                </a:rPr>
                <a:t>2.º o 3.er trimestre</a:t>
              </a:r>
              <a:r>
                <a:rPr lang="es-AR" sz="1450" dirty="0">
                  <a:solidFill>
                    <a:srgbClr val="1E1E1E"/>
                  </a:solidFill>
                  <a:latin typeface="Fira Sans Condensed"/>
                  <a:ea typeface="Fira Sans Condensed"/>
                  <a:cs typeface="Fira Sans Condensed"/>
                  <a:sym typeface="Fira Sans Condensed"/>
                </a:rPr>
                <a:t>, sin diabetes manifiesta previa. Mediadores placentarios aumentan la resistencia insulínica.</a:t>
              </a:r>
              <a:endParaRPr lang="es-AR" sz="1450" dirty="0">
                <a:latin typeface="Fira Sans Condensed"/>
              </a:endParaRPr>
            </a:p>
          </p:txBody>
        </p:sp>
      </p:grpSp>
      <p:grpSp>
        <p:nvGrpSpPr>
          <p:cNvPr id="20" name="Tipo OTROS TIPOS"/>
          <p:cNvGrpSpPr/>
          <p:nvPr/>
        </p:nvGrpSpPr>
        <p:grpSpPr>
          <a:xfrm>
            <a:off x="9061704" y="1143000"/>
            <a:ext cx="2743200" cy="4663440"/>
            <a:chOff x="9061704" y="1143000"/>
            <a:chExt cx="2743200" cy="4663440"/>
          </a:xfrm>
        </p:grpSpPr>
        <p:sp>
          <p:nvSpPr>
            <p:cNvPr id="21" name="Recuadro OTROS TIPOS"/>
            <p:cNvSpPr/>
            <p:nvPr/>
          </p:nvSpPr>
          <p:spPr>
            <a:xfrm>
              <a:off x="9061704" y="1143000"/>
              <a:ext cx="2743200" cy="566928"/>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1E1E1E"/>
                  </a:solidFill>
                  <a:latin typeface="Fira Sans Condensed"/>
                  <a:ea typeface="Fira Sans Condensed"/>
                  <a:cs typeface="Fira Sans Condensed"/>
                  <a:sym typeface="Fira Sans Condensed"/>
                </a:rPr>
                <a:t>OTROS TIPOS</a:t>
              </a:r>
              <a:endParaRPr lang="es-AR" sz="2000" dirty="0">
                <a:latin typeface="Fira Sans Condensed"/>
              </a:endParaRPr>
            </a:p>
          </p:txBody>
        </p:sp>
        <p:pic>
          <p:nvPicPr>
            <p:cNvPr id="22" name="Imagen pancreas-2" descr="Ilustración biomédica (Servier Medical Art, CC BY)"/>
            <p:cNvPicPr>
              <a:picLocks noChangeAspect="1"/>
            </p:cNvPicPr>
            <p:nvPr/>
          </p:nvPicPr>
          <p:blipFill>
            <a:blip r:embed="rId4"/>
            <a:stretch>
              <a:fillRect/>
            </a:stretch>
          </p:blipFill>
          <p:spPr>
            <a:xfrm>
              <a:off x="9427464" y="1872430"/>
              <a:ext cx="2011680" cy="1238620"/>
            </a:xfrm>
            <a:prstGeom prst="rect">
              <a:avLst/>
            </a:prstGeom>
          </p:spPr>
        </p:pic>
        <p:sp>
          <p:nvSpPr>
            <p:cNvPr id="23" name="Forma 23"/>
            <p:cNvSpPr/>
            <p:nvPr/>
          </p:nvSpPr>
          <p:spPr>
            <a:xfrm>
              <a:off x="9061704" y="3291840"/>
              <a:ext cx="2743200" cy="2514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Monogénica</a:t>
              </a:r>
              <a:r>
                <a:rPr lang="es-AR" sz="1450" dirty="0">
                  <a:solidFill>
                    <a:srgbClr val="1E1E1E"/>
                  </a:solidFill>
                  <a:latin typeface="Fira Sans Condensed"/>
                  <a:ea typeface="Fira Sans Condensed"/>
                  <a:cs typeface="Fira Sans Condensed"/>
                  <a:sym typeface="Fira Sans Condensed"/>
                </a:rPr>
                <a:t> (MODY, neonatal) · </a:t>
              </a:r>
              <a:r>
                <a:rPr lang="es-AR" sz="1450" b="1" dirty="0">
                  <a:solidFill>
                    <a:srgbClr val="1E1E1E"/>
                  </a:solidFill>
                  <a:latin typeface="Fira Sans Condensed"/>
                  <a:ea typeface="Fira Sans Condensed"/>
                  <a:cs typeface="Fira Sans Condensed"/>
                  <a:sym typeface="Fira Sans Condensed"/>
                </a:rPr>
                <a:t>páncreas exocrino</a:t>
              </a:r>
              <a:r>
                <a:rPr lang="es-AR" sz="1450" dirty="0">
                  <a:solidFill>
                    <a:srgbClr val="1E1E1E"/>
                  </a:solidFill>
                  <a:latin typeface="Fira Sans Condensed"/>
                  <a:ea typeface="Fira Sans Condensed"/>
                  <a:cs typeface="Fira Sans Condensed"/>
                  <a:sym typeface="Fira Sans Condensed"/>
                </a:rPr>
                <a:t> (pancreatitis, fibrosis quística, pancreatectomía) · </a:t>
              </a:r>
              <a:r>
                <a:rPr lang="es-AR" sz="1450" b="1" dirty="0">
                  <a:solidFill>
                    <a:srgbClr val="1E1E1E"/>
                  </a:solidFill>
                  <a:latin typeface="Fira Sans Condensed"/>
                  <a:ea typeface="Fira Sans Condensed"/>
                  <a:cs typeface="Fira Sans Condensed"/>
                  <a:sym typeface="Fira Sans Condensed"/>
                </a:rPr>
                <a:t>endocrinopatías</a:t>
              </a:r>
              <a:r>
                <a:rPr lang="es-AR" sz="1450" dirty="0">
                  <a:solidFill>
                    <a:srgbClr val="1E1E1E"/>
                  </a:solidFill>
                  <a:latin typeface="Fira Sans Condensed"/>
                  <a:ea typeface="Fira Sans Condensed"/>
                  <a:cs typeface="Fira Sans Condensed"/>
                  <a:sym typeface="Fira Sans Condensed"/>
                </a:rPr>
                <a:t> (Cushing, acromegalia, glucagonoma) · </a:t>
              </a:r>
              <a:r>
                <a:rPr lang="es-AR" sz="1450" b="1" dirty="0">
                  <a:solidFill>
                    <a:srgbClr val="1E1E1E"/>
                  </a:solidFill>
                  <a:latin typeface="Fira Sans Condensed"/>
                  <a:ea typeface="Fira Sans Condensed"/>
                  <a:cs typeface="Fira Sans Condensed"/>
                  <a:sym typeface="Fira Sans Condensed"/>
                </a:rPr>
                <a:t>fármacos</a:t>
              </a:r>
              <a:r>
                <a:rPr lang="es-AR" sz="1450" dirty="0">
                  <a:solidFill>
                    <a:srgbClr val="1E1E1E"/>
                  </a:solidFill>
                  <a:latin typeface="Fira Sans Condensed"/>
                  <a:ea typeface="Fira Sans Condensed"/>
                  <a:cs typeface="Fira Sans Condensed"/>
                  <a:sym typeface="Fira Sans Condensed"/>
                </a:rPr>
                <a:t> (glucocorticoides, inmunosupresores, antipsicóticos).</a:t>
              </a:r>
              <a:endParaRPr lang="es-AR" sz="1450" dirty="0">
                <a:latin typeface="Fira Sans Condensed"/>
              </a:endParaRPr>
            </a:p>
          </p:txBody>
        </p:sp>
      </p:grpSp>
      <p:sp>
        <p:nvSpPr>
          <p:cNvPr id="24" name="Perla clínica"/>
          <p:cNvSpPr/>
          <p:nvPr/>
        </p:nvSpPr>
        <p:spPr>
          <a:xfrm>
            <a:off x="365760" y="5943600"/>
            <a:ext cx="114757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Distinguir de la </a:t>
            </a:r>
            <a:r>
              <a:rPr lang="es-AR" sz="1450" b="1" dirty="0">
                <a:solidFill>
                  <a:srgbClr val="FFFFFF"/>
                </a:solidFill>
                <a:latin typeface="Fira Sans Condensed"/>
                <a:ea typeface="Fira Sans Condensed"/>
                <a:cs typeface="Fira Sans Condensed"/>
                <a:sym typeface="Fira Sans Condensed"/>
              </a:rPr>
              <a:t>hiperglucemia transitoria por estrés agudo</a:t>
            </a:r>
            <a:r>
              <a:rPr lang="es-AR" sz="1450" dirty="0">
                <a:solidFill>
                  <a:srgbClr val="FFFFFF"/>
                </a:solidFill>
                <a:latin typeface="Fira Sans Condensed"/>
                <a:ea typeface="Fira Sans Condensed"/>
                <a:cs typeface="Fira Sans Condensed"/>
                <a:sym typeface="Fira Sans Condensed"/>
              </a:rPr>
              <a:t>, que no es diabetes por sí misma.</a:t>
            </a:r>
            <a:endParaRPr lang="es-AR" sz="14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CLASIFICACIÓN: CUATRO GRANDES GRUPOS</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p:cTn id="25" dur="500" fill="hold"/>
                                        <p:tgtEl>
                                          <p:spTgt spid="24"/>
                                        </p:tgtEl>
                                        <p:attrNameLst>
                                          <p:attrName>ppt_w</p:attrName>
                                        </p:attrNameLst>
                                      </p:cBhvr>
                                      <p:tavLst>
                                        <p:tav tm="0">
                                          <p:val>
                                            <p:fltVal val="0"/>
                                          </p:val>
                                        </p:tav>
                                        <p:tav tm="100000">
                                          <p:val>
                                            <p:strVal val="#ppt_w"/>
                                          </p:val>
                                        </p:tav>
                                      </p:tavLst>
                                    </p:anim>
                                    <p:anim calcmode="lin" valueType="num">
                                      <p:cBhvr>
                                        <p:cTn id="26" dur="500" fill="hold"/>
                                        <p:tgtEl>
                                          <p:spTgt spid="24"/>
                                        </p:tgtEl>
                                        <p:attrNameLst>
                                          <p:attrName>ppt_h</p:attrName>
                                        </p:attrNameLst>
                                      </p:cBhvr>
                                      <p:tavLst>
                                        <p:tav tm="0">
                                          <p:val>
                                            <p:fltVal val="0"/>
                                          </p:val>
                                        </p:tav>
                                        <p:tav tm="100000">
                                          <p:val>
                                            <p:strVal val="#ppt_h"/>
                                          </p:val>
                                        </p:tav>
                                      </p:tavLst>
                                    </p:anim>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Islote DM1" descr="Ilustración biomédica (Servier Medical Art, CC BY)"/>
          <p:cNvPicPr>
            <a:picLocks noChangeAspect="1"/>
          </p:cNvPicPr>
          <p:nvPr/>
        </p:nvPicPr>
        <p:blipFill>
          <a:blip r:embed="rId2"/>
          <a:stretch>
            <a:fillRect/>
          </a:stretch>
        </p:blipFill>
        <p:spPr>
          <a:xfrm>
            <a:off x="495670" y="1097280"/>
            <a:ext cx="2849140" cy="3108960"/>
          </a:xfrm>
          <a:prstGeom prst="rect">
            <a:avLst/>
          </a:prstGeom>
        </p:spPr>
      </p:pic>
      <p:sp>
        <p:nvSpPr>
          <p:cNvPr id="8" name="Linfocito T 0"/>
          <p:cNvSpPr/>
          <p:nvPr/>
        </p:nvSpPr>
        <p:spPr>
          <a:xfrm>
            <a:off x="3383280" y="1417320"/>
            <a:ext cx="502920" cy="502920"/>
          </a:xfrm>
          <a:prstGeom prst="ellipse">
            <a:avLst/>
          </a:prstGeom>
          <a:gradFill rotWithShape="1">
            <a:gsLst>
              <a:gs pos="0">
                <a:srgbClr val="FFFFFF"/>
              </a:gs>
              <a:gs pos="30000">
                <a:srgbClr val="6C3483"/>
              </a:gs>
              <a:gs pos="100000">
                <a:srgbClr val="361A41"/>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100" b="1" dirty="0">
                <a:solidFill>
                  <a:srgbClr val="FFFFFF"/>
                </a:solidFill>
                <a:latin typeface="Fira Sans Condensed"/>
                <a:ea typeface="Fira Sans Condensed"/>
                <a:cs typeface="Fira Sans Condensed"/>
                <a:sym typeface="Fira Sans Condensed"/>
              </a:rPr>
              <a:t>LT</a:t>
            </a:r>
            <a:endParaRPr lang="es-AR" sz="1100" dirty="0">
              <a:latin typeface="Fira Sans Condensed"/>
            </a:endParaRPr>
          </a:p>
        </p:txBody>
      </p:sp>
      <p:sp>
        <p:nvSpPr>
          <p:cNvPr id="9" name="Linfocito T 1"/>
          <p:cNvSpPr/>
          <p:nvPr/>
        </p:nvSpPr>
        <p:spPr>
          <a:xfrm>
            <a:off x="3566160" y="2377440"/>
            <a:ext cx="502920" cy="502920"/>
          </a:xfrm>
          <a:prstGeom prst="ellipse">
            <a:avLst/>
          </a:prstGeom>
          <a:gradFill rotWithShape="1">
            <a:gsLst>
              <a:gs pos="0">
                <a:srgbClr val="FFFFFF"/>
              </a:gs>
              <a:gs pos="30000">
                <a:srgbClr val="6C3483"/>
              </a:gs>
              <a:gs pos="100000">
                <a:srgbClr val="361A41"/>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100" b="1" dirty="0">
                <a:solidFill>
                  <a:srgbClr val="FFFFFF"/>
                </a:solidFill>
                <a:latin typeface="Fira Sans Condensed"/>
                <a:ea typeface="Fira Sans Condensed"/>
                <a:cs typeface="Fira Sans Condensed"/>
                <a:sym typeface="Fira Sans Condensed"/>
              </a:rPr>
              <a:t>LT</a:t>
            </a:r>
            <a:endParaRPr lang="es-AR" sz="1100" dirty="0">
              <a:latin typeface="Fira Sans Condensed"/>
            </a:endParaRPr>
          </a:p>
        </p:txBody>
      </p:sp>
      <p:sp>
        <p:nvSpPr>
          <p:cNvPr id="10" name="Linfocito T 2"/>
          <p:cNvSpPr/>
          <p:nvPr/>
        </p:nvSpPr>
        <p:spPr>
          <a:xfrm>
            <a:off x="3246120" y="3337560"/>
            <a:ext cx="502920" cy="502920"/>
          </a:xfrm>
          <a:prstGeom prst="ellipse">
            <a:avLst/>
          </a:prstGeom>
          <a:gradFill rotWithShape="1">
            <a:gsLst>
              <a:gs pos="0">
                <a:srgbClr val="FFFFFF"/>
              </a:gs>
              <a:gs pos="30000">
                <a:srgbClr val="6C3483"/>
              </a:gs>
              <a:gs pos="100000">
                <a:srgbClr val="361A41"/>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100" b="1" dirty="0">
                <a:solidFill>
                  <a:srgbClr val="FFFFFF"/>
                </a:solidFill>
                <a:latin typeface="Fira Sans Condensed"/>
                <a:ea typeface="Fira Sans Condensed"/>
                <a:cs typeface="Fira Sans Condensed"/>
                <a:sym typeface="Fira Sans Condensed"/>
              </a:rPr>
              <a:t>LT</a:t>
            </a:r>
            <a:endParaRPr lang="es-AR" sz="1100" dirty="0">
              <a:latin typeface="Fira Sans Condensed"/>
            </a:endParaRPr>
          </a:p>
        </p:txBody>
      </p:sp>
      <p:sp>
        <p:nvSpPr>
          <p:cNvPr id="11" name="Linfocito T 3"/>
          <p:cNvSpPr/>
          <p:nvPr/>
        </p:nvSpPr>
        <p:spPr>
          <a:xfrm>
            <a:off x="228600" y="3017520"/>
            <a:ext cx="502920" cy="502920"/>
          </a:xfrm>
          <a:prstGeom prst="ellipse">
            <a:avLst/>
          </a:prstGeom>
          <a:gradFill rotWithShape="1">
            <a:gsLst>
              <a:gs pos="0">
                <a:srgbClr val="FFFFFF"/>
              </a:gs>
              <a:gs pos="30000">
                <a:srgbClr val="6C3483"/>
              </a:gs>
              <a:gs pos="100000">
                <a:srgbClr val="361A41"/>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100" b="1" dirty="0">
                <a:solidFill>
                  <a:srgbClr val="FFFFFF"/>
                </a:solidFill>
                <a:latin typeface="Fira Sans Condensed"/>
                <a:ea typeface="Fira Sans Condensed"/>
                <a:cs typeface="Fira Sans Condensed"/>
                <a:sym typeface="Fira Sans Condensed"/>
              </a:rPr>
              <a:t>LT</a:t>
            </a:r>
            <a:endParaRPr lang="es-AR" sz="1100" dirty="0">
              <a:latin typeface="Fira Sans Condensed"/>
            </a:endParaRPr>
          </a:p>
        </p:txBody>
      </p:sp>
      <p:grpSp>
        <p:nvGrpSpPr>
          <p:cNvPr id="12" name="Autoanticuerpos"/>
          <p:cNvGrpSpPr/>
          <p:nvPr/>
        </p:nvGrpSpPr>
        <p:grpSpPr>
          <a:xfrm>
            <a:off x="411480" y="4709160"/>
            <a:ext cx="3291840" cy="1042416"/>
            <a:chOff x="411480" y="4709160"/>
            <a:chExt cx="3291840" cy="1042416"/>
          </a:xfrm>
        </p:grpSpPr>
        <p:sp>
          <p:nvSpPr>
            <p:cNvPr id="13" name="Recuadro Anti-GAD65"/>
            <p:cNvSpPr/>
            <p:nvPr/>
          </p:nvSpPr>
          <p:spPr>
            <a:xfrm>
              <a:off x="411480" y="4709160"/>
              <a:ext cx="1600200" cy="47548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Anti-GAD65</a:t>
              </a:r>
              <a:endParaRPr lang="es-AR" sz="1350" dirty="0">
                <a:latin typeface="Fira Sans Condensed"/>
              </a:endParaRPr>
            </a:p>
          </p:txBody>
        </p:sp>
        <p:sp>
          <p:nvSpPr>
            <p:cNvPr id="14" name="Recuadro Anti-IA-2"/>
            <p:cNvSpPr/>
            <p:nvPr/>
          </p:nvSpPr>
          <p:spPr>
            <a:xfrm>
              <a:off x="2103120" y="4709160"/>
              <a:ext cx="1600200" cy="47548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Anti-IA-2</a:t>
              </a:r>
              <a:endParaRPr lang="es-AR" sz="1350" dirty="0">
                <a:latin typeface="Fira Sans Condensed"/>
              </a:endParaRPr>
            </a:p>
          </p:txBody>
        </p:sp>
        <p:sp>
          <p:nvSpPr>
            <p:cNvPr id="15" name="Recuadro Anti-ZnT8"/>
            <p:cNvSpPr/>
            <p:nvPr/>
          </p:nvSpPr>
          <p:spPr>
            <a:xfrm>
              <a:off x="411480" y="5276088"/>
              <a:ext cx="1600200" cy="47548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Anti-ZnT8</a:t>
              </a:r>
              <a:endParaRPr lang="es-AR" sz="1350" dirty="0">
                <a:latin typeface="Fira Sans Condensed"/>
              </a:endParaRPr>
            </a:p>
          </p:txBody>
        </p:sp>
        <p:sp>
          <p:nvSpPr>
            <p:cNvPr id="16" name="Recuadro Antiinsulina"/>
            <p:cNvSpPr/>
            <p:nvPr/>
          </p:nvSpPr>
          <p:spPr>
            <a:xfrm>
              <a:off x="2103120" y="5276088"/>
              <a:ext cx="1600200" cy="47548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Antiinsulina</a:t>
              </a:r>
              <a:endParaRPr lang="es-AR" sz="1350" dirty="0">
                <a:latin typeface="Fira Sans Condensed"/>
              </a:endParaRPr>
            </a:p>
          </p:txBody>
        </p:sp>
      </p:grpSp>
      <p:sp>
        <p:nvSpPr>
          <p:cNvPr id="17" name="Forma 16"/>
          <p:cNvSpPr txBox="1"/>
          <p:nvPr/>
        </p:nvSpPr>
        <p:spPr>
          <a:xfrm>
            <a:off x="411480" y="4343400"/>
            <a:ext cx="3291840" cy="347472"/>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MARCADORES DE AUTOINMUNIDAD</a:t>
            </a:r>
            <a:endParaRPr lang="es-AR" sz="1300" dirty="0">
              <a:latin typeface="Fira Sans Condensed"/>
            </a:endParaRPr>
          </a:p>
        </p:txBody>
      </p:sp>
      <p:sp>
        <p:nvSpPr>
          <p:cNvPr id="18" name="Forma 17"/>
          <p:cNvSpPr txBox="1"/>
          <p:nvPr/>
        </p:nvSpPr>
        <p:spPr>
          <a:xfrm>
            <a:off x="4572000" y="1097280"/>
            <a:ext cx="7223760" cy="365760"/>
          </a:xfrm>
          <a:prstGeom prst="rect">
            <a:avLst/>
          </a:prstGeom>
          <a:noFill/>
          <a:ln>
            <a:noFill/>
          </a:ln>
        </p:spPr>
        <p:txBody>
          <a:bodyPr wrap="square" lIns="0" tIns="0" rIns="0" bIns="0" anchor="ctr" rtlCol="0">
            <a:noAutofit/>
          </a:bodyPr>
          <a:lstStyle/>
          <a:p>
            <a:pPr algn="ctr">
              <a:spcAft>
                <a:spcPts val="300"/>
              </a:spcAft>
              <a:buNone/>
            </a:pPr>
            <a:r>
              <a:rPr lang="es-AR" sz="14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MASA FUNCIONAL DE CÉLULAS β A LO LARGO DEL TIEMPO</a:t>
            </a:r>
            <a:endParaRPr lang="es-AR" sz="1400" dirty="0">
              <a:latin typeface="Fira Sans Condensed"/>
            </a:endParaRPr>
          </a:p>
        </p:txBody>
      </p:sp>
      <p:grpSp>
        <p:nvGrpSpPr>
          <p:cNvPr id="19" name="Estadio 1"/>
          <p:cNvGrpSpPr/>
          <p:nvPr/>
        </p:nvGrpSpPr>
        <p:grpSpPr>
          <a:xfrm>
            <a:off x="4754880" y="2011680"/>
            <a:ext cx="2194560" cy="4160520"/>
            <a:chOff x="4754880" y="2011680"/>
            <a:chExt cx="2194560" cy="4160520"/>
          </a:xfrm>
        </p:grpSpPr>
        <p:sp>
          <p:nvSpPr>
            <p:cNvPr id="20" name="Forma 19"/>
            <p:cNvSpPr/>
            <p:nvPr/>
          </p:nvSpPr>
          <p:spPr>
            <a:xfrm>
              <a:off x="5257800" y="2011680"/>
              <a:ext cx="1188720" cy="2331720"/>
            </a:xfrm>
            <a:prstGeom prst="rect">
              <a:avLst/>
            </a:prstGeom>
            <a:gradFill rotWithShape="1">
              <a:gsLst>
                <a:gs pos="0">
                  <a:srgbClr val="5DADE2"/>
                </a:gs>
                <a:gs pos="100000">
                  <a:srgbClr val="1F618D"/>
                </a:gs>
              </a:gsLst>
              <a:lin ang="5400000" scaled="0"/>
            </a:gradFill>
            <a:ln w="19050" cap="rnd">
              <a:solidFill>
                <a:srgbClr val="1E1E1E"/>
              </a:solidFill>
              <a:round/>
            </a:ln>
            <a:effectLst>
              <a:outerShdw blurRad="63500" dist="38100" dir="2700000" algn="tl" rotWithShape="0">
                <a:srgbClr val="000000">
                  <a:alpha val="32000"/>
                </a:srgbClr>
              </a:outerShdw>
            </a:effectLst>
          </p:spPr>
        </p:sp>
        <p:sp>
          <p:nvSpPr>
            <p:cNvPr id="21" name="Recuadro Estadio 1"/>
            <p:cNvSpPr/>
            <p:nvPr/>
          </p:nvSpPr>
          <p:spPr>
            <a:xfrm>
              <a:off x="4754880" y="4434840"/>
              <a:ext cx="21945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Estadio 1</a:t>
              </a:r>
              <a:endParaRPr lang="es-AR" sz="1500" dirty="0">
                <a:latin typeface="Fira Sans Condensed"/>
              </a:endParaRPr>
            </a:p>
          </p:txBody>
        </p:sp>
        <p:sp>
          <p:nvSpPr>
            <p:cNvPr id="22" name="Forma 21"/>
            <p:cNvSpPr/>
            <p:nvPr/>
          </p:nvSpPr>
          <p:spPr>
            <a:xfrm>
              <a:off x="4754880" y="4983480"/>
              <a:ext cx="219456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Autoinmunidad</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≥2 autoanticuerpos</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normoglucemia</a:t>
              </a:r>
              <a:endParaRPr lang="es-AR" sz="1350" dirty="0">
                <a:latin typeface="Fira Sans Condensed"/>
              </a:endParaRPr>
            </a:p>
          </p:txBody>
        </p:sp>
      </p:grpSp>
      <p:grpSp>
        <p:nvGrpSpPr>
          <p:cNvPr id="23" name="Estadio 2"/>
          <p:cNvGrpSpPr/>
          <p:nvPr/>
        </p:nvGrpSpPr>
        <p:grpSpPr>
          <a:xfrm>
            <a:off x="7178040" y="2834640"/>
            <a:ext cx="2194560" cy="3337560"/>
            <a:chOff x="7178040" y="2834640"/>
            <a:chExt cx="2194560" cy="3337560"/>
          </a:xfrm>
        </p:grpSpPr>
        <p:sp>
          <p:nvSpPr>
            <p:cNvPr id="24" name="Forma 23"/>
            <p:cNvSpPr/>
            <p:nvPr/>
          </p:nvSpPr>
          <p:spPr>
            <a:xfrm>
              <a:off x="7680960" y="2834640"/>
              <a:ext cx="1188720" cy="1508760"/>
            </a:xfrm>
            <a:prstGeom prst="rect">
              <a:avLst/>
            </a:prstGeom>
            <a:gradFill rotWithShape="1">
              <a:gsLst>
                <a:gs pos="0">
                  <a:srgbClr val="5DADE2"/>
                </a:gs>
                <a:gs pos="100000">
                  <a:srgbClr val="1F618D"/>
                </a:gs>
              </a:gsLst>
              <a:lin ang="5400000" scaled="0"/>
            </a:gradFill>
            <a:ln w="19050" cap="rnd">
              <a:solidFill>
                <a:srgbClr val="1E1E1E"/>
              </a:solidFill>
              <a:round/>
            </a:ln>
            <a:effectLst>
              <a:outerShdw blurRad="63500" dist="38100" dir="2700000" algn="tl" rotWithShape="0">
                <a:srgbClr val="000000">
                  <a:alpha val="32000"/>
                </a:srgbClr>
              </a:outerShdw>
            </a:effectLst>
          </p:spPr>
        </p:sp>
        <p:sp>
          <p:nvSpPr>
            <p:cNvPr id="25" name="Recuadro Estadio 2"/>
            <p:cNvSpPr/>
            <p:nvPr/>
          </p:nvSpPr>
          <p:spPr>
            <a:xfrm>
              <a:off x="7178040" y="4434840"/>
              <a:ext cx="219456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ESTADIO 2</a:t>
              </a:r>
              <a:endParaRPr lang="es-AR" sz="1500" dirty="0">
                <a:latin typeface="Fira Sans Condensed"/>
              </a:endParaRPr>
            </a:p>
          </p:txBody>
        </p:sp>
        <p:sp>
          <p:nvSpPr>
            <p:cNvPr id="26" name="Forma 25"/>
            <p:cNvSpPr/>
            <p:nvPr/>
          </p:nvSpPr>
          <p:spPr>
            <a:xfrm>
              <a:off x="7178040" y="4983480"/>
              <a:ext cx="219456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Autoinmunidad</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disglucemia</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presintomática</a:t>
              </a:r>
              <a:endParaRPr lang="es-AR" sz="1350" dirty="0">
                <a:latin typeface="Fira Sans Condensed"/>
              </a:endParaRPr>
            </a:p>
          </p:txBody>
        </p:sp>
      </p:grpSp>
      <p:grpSp>
        <p:nvGrpSpPr>
          <p:cNvPr id="27" name="Estadio 3"/>
          <p:cNvGrpSpPr/>
          <p:nvPr/>
        </p:nvGrpSpPr>
        <p:grpSpPr>
          <a:xfrm>
            <a:off x="9601200" y="3794760"/>
            <a:ext cx="2194560" cy="2377440"/>
            <a:chOff x="9601200" y="3794760"/>
            <a:chExt cx="2194560" cy="2377440"/>
          </a:xfrm>
        </p:grpSpPr>
        <p:sp>
          <p:nvSpPr>
            <p:cNvPr id="28" name="Forma 27"/>
            <p:cNvSpPr/>
            <p:nvPr/>
          </p:nvSpPr>
          <p:spPr>
            <a:xfrm>
              <a:off x="10104120" y="3794760"/>
              <a:ext cx="1188720" cy="548640"/>
            </a:xfrm>
            <a:prstGeom prst="rect">
              <a:avLst/>
            </a:prstGeom>
            <a:gradFill rotWithShape="1">
              <a:gsLst>
                <a:gs pos="0">
                  <a:srgbClr val="5DADE2"/>
                </a:gs>
                <a:gs pos="100000">
                  <a:srgbClr val="1F618D"/>
                </a:gs>
              </a:gsLst>
              <a:lin ang="5400000" scaled="0"/>
            </a:gradFill>
            <a:ln w="19050" cap="rnd">
              <a:solidFill>
                <a:srgbClr val="1E1E1E"/>
              </a:solidFill>
              <a:round/>
            </a:ln>
            <a:effectLst>
              <a:outerShdw blurRad="63500" dist="38100" dir="2700000" algn="tl" rotWithShape="0">
                <a:srgbClr val="000000">
                  <a:alpha val="32000"/>
                </a:srgbClr>
              </a:outerShdw>
            </a:effectLst>
          </p:spPr>
        </p:sp>
        <p:sp>
          <p:nvSpPr>
            <p:cNvPr id="29" name="Recuadro Estadio 3"/>
            <p:cNvSpPr/>
            <p:nvPr/>
          </p:nvSpPr>
          <p:spPr>
            <a:xfrm>
              <a:off x="9601200" y="4434840"/>
              <a:ext cx="2194560" cy="457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Estadio 3</a:t>
              </a:r>
              <a:endParaRPr lang="es-AR" sz="1500" dirty="0">
                <a:latin typeface="Fira Sans Condensed"/>
              </a:endParaRPr>
            </a:p>
          </p:txBody>
        </p:sp>
        <p:sp>
          <p:nvSpPr>
            <p:cNvPr id="30" name="Forma 29"/>
            <p:cNvSpPr/>
            <p:nvPr/>
          </p:nvSpPr>
          <p:spPr>
            <a:xfrm>
              <a:off x="9601200" y="4983480"/>
              <a:ext cx="219456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Diabetes clínica</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síntomas</a:t>
              </a:r>
              <a:endParaRPr lang="es-AR" sz="1350" dirty="0">
                <a:latin typeface="Fira Sans Condensed"/>
              </a:endParaRPr>
            </a:p>
            <a:p>
              <a:pPr algn="l">
                <a:spcAft>
                  <a:spcPts val="400"/>
                </a:spcAft>
                <a:buNone/>
              </a:pPr>
              <a:r>
                <a:rPr lang="es-AR" sz="1350" dirty="0">
                  <a:solidFill>
                    <a:srgbClr val="1E1E1E"/>
                  </a:solidFill>
                  <a:latin typeface="Fira Sans Condensed"/>
                  <a:ea typeface="Fira Sans Condensed"/>
                  <a:cs typeface="Fira Sans Condensed"/>
                  <a:sym typeface="Fira Sans Condensed"/>
                </a:rPr>
                <a:t>riesgo de CAD</a:t>
              </a:r>
              <a:endParaRPr lang="es-AR" sz="1350" dirty="0">
                <a:latin typeface="Fira Sans Condensed"/>
              </a:endParaRPr>
            </a:p>
          </p:txBody>
        </p:sp>
      </p:grpSp>
      <p:sp>
        <p:nvSpPr>
          <p:cNvPr id="31" name="Flecha 30_2"/>
          <p:cNvSpPr/>
          <p:nvPr/>
        </p:nvSpPr>
        <p:spPr>
          <a:xfrm>
            <a:off x="4617720" y="1554480"/>
            <a:ext cx="9144" cy="2834640"/>
          </a:xfrm>
          <a:custGeom>
            <a:avLst/>
            <a:gdLst/>
            <a:ahLst/>
            <a:cxnLst/>
            <a:rect l="0" t="0" r="r" b="b"/>
            <a:pathLst>
              <a:path w="10" h="3099" fill="none">
                <a:moveTo>
                  <a:pt x="0" y="3099"/>
                </a:moveTo>
                <a:lnTo>
                  <a:pt x="0" y="0"/>
                </a:lnTo>
              </a:path>
            </a:pathLst>
          </a:custGeom>
          <a:noFill/>
          <a:ln w="25400" cap="rnd">
            <a:solidFill>
              <a:srgbClr val="1E1E1E"/>
            </a:solidFill>
            <a:round/>
            <a:tailEnd type="triangle" w="med" len="med"/>
          </a:ln>
        </p:spPr>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DM1: DESTRUCCIÓN AUTOINMUNITARIA DE CÉLULAS </a:t>
            </a:r>
            <a:r>
              <a:rPr lang="es-AR" sz="31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endParaRPr lang="es-AR" sz="31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300"/>
                                        <p:tgtEl>
                                          <p:spTgt spid="8"/>
                                        </p:tgtEl>
                                      </p:cBhvr>
                                    </p:animEffect>
                                  </p:childTnLst>
                                </p:cTn>
                              </p:par>
                            </p:childTnLst>
                          </p:cTn>
                        </p:par>
                        <p:par>
                          <p:cTn id="10" fill="hold">
                            <p:stCondLst>
                              <p:cond delay="30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300"/>
                                        <p:tgtEl>
                                          <p:spTgt spid="9"/>
                                        </p:tgtEl>
                                      </p:cBhvr>
                                    </p:animEffect>
                                  </p:childTnLst>
                                </p:cTn>
                              </p:par>
                            </p:childTnLst>
                          </p:cTn>
                        </p:par>
                        <p:par>
                          <p:cTn id="14" fill="hold">
                            <p:stCondLst>
                              <p:cond delay="6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childTnLst>
                          </p:cTn>
                        </p:par>
                        <p:par>
                          <p:cTn id="18"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300"/>
                                        <p:tgtEl>
                                          <p:spTgt spid="11"/>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34" fill="hold">
                      <p:stCondLst>
                        <p:cond delay="indefinite"/>
                      </p:stCondLst>
                      <p:childTnLst>
                        <p:par>
                          <p:cTn id="33"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9" fill="hold">
                      <p:stCondLst>
                        <p:cond delay="indefinite"/>
                      </p:stCondLst>
                      <p:childTnLst>
                        <p:par>
                          <p:cTn id="38"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aphicFrame>
        <p:nvGraphicFramePr>
          <p:cNvPr id="6" name="Gráfico DM2"/>
          <p:cNvGraphicFramePr>
            <a:graphicFrameLocks noGrp="1"/>
          </p:cNvGraphicFramePr>
          <p:nvPr/>
        </p:nvGraphicFramePr>
        <p:xfrm>
          <a:off x="411480" y="1097280"/>
          <a:ext cx="6675120" cy="4206240"/>
        </p:xfrm>
        <a:graphic>
          <a:graphicData uri="http://schemas.openxmlformats.org/drawingml/2006/chart">
            <c:chart xmlns:c="http://schemas.openxmlformats.org/drawingml/2006/chart" r:id="rId2"/>
          </a:graphicData>
        </a:graphic>
      </p:graphicFrame>
      <p:grpSp>
        <p:nvGrpSpPr>
          <p:cNvPr id="7" name="Paso 1"/>
          <p:cNvGrpSpPr/>
          <p:nvPr/>
        </p:nvGrpSpPr>
        <p:grpSpPr>
          <a:xfrm>
            <a:off x="7360920" y="1097280"/>
            <a:ext cx="4480560" cy="827532"/>
            <a:chOff x="7360920" y="1097280"/>
            <a:chExt cx="4480560" cy="827532"/>
          </a:xfrm>
        </p:grpSpPr>
        <p:sp>
          <p:nvSpPr>
            <p:cNvPr id="8" name="Forma 6"/>
            <p:cNvSpPr/>
            <p:nvPr/>
          </p:nvSpPr>
          <p:spPr>
            <a:xfrm>
              <a:off x="7360920" y="1097280"/>
              <a:ext cx="4480560" cy="82753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b="1" dirty="0">
                  <a:solidFill>
                    <a:srgbClr val="1E1E1E"/>
                  </a:solidFill>
                  <a:latin typeface="Fira Sans Condensed"/>
                  <a:ea typeface="Fira Sans Condensed"/>
                  <a:cs typeface="Fira Sans Condensed"/>
                  <a:sym typeface="Fira Sans Condensed"/>
                </a:rPr>
                <a:t>Resistencia</a:t>
              </a:r>
              <a:r>
                <a:rPr lang="es-AR" sz="1450" dirty="0">
                  <a:solidFill>
                    <a:srgbClr val="1E1E1E"/>
                  </a:solidFill>
                  <a:latin typeface="Fira Sans Condensed"/>
                  <a:ea typeface="Fira Sans Condensed"/>
                  <a:cs typeface="Fira Sans Condensed"/>
                  <a:sym typeface="Fira Sans Condensed"/>
                </a:rPr>
                <a:t> en hígado, músculo y tejido adiposo: la misma insulina produce menos efecto.</a:t>
              </a:r>
              <a:endParaRPr lang="es-AR" sz="1450" dirty="0">
                <a:latin typeface="Fira Sans Condensed"/>
              </a:endParaRPr>
            </a:p>
          </p:txBody>
        </p:sp>
        <p:sp>
          <p:nvSpPr>
            <p:cNvPr id="9" name="Forma 7"/>
            <p:cNvSpPr/>
            <p:nvPr/>
          </p:nvSpPr>
          <p:spPr>
            <a:xfrm>
              <a:off x="7452360" y="133731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0" name="Paso 2"/>
          <p:cNvGrpSpPr/>
          <p:nvPr/>
        </p:nvGrpSpPr>
        <p:grpSpPr>
          <a:xfrm>
            <a:off x="7360920" y="2016252"/>
            <a:ext cx="4480560" cy="606552"/>
            <a:chOff x="7360920" y="2016252"/>
            <a:chExt cx="4480560" cy="606552"/>
          </a:xfrm>
        </p:grpSpPr>
        <p:sp>
          <p:nvSpPr>
            <p:cNvPr id="11" name="Forma 9"/>
            <p:cNvSpPr/>
            <p:nvPr/>
          </p:nvSpPr>
          <p:spPr>
            <a:xfrm>
              <a:off x="7360920" y="2016252"/>
              <a:ext cx="4480560" cy="606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b="1" dirty="0">
                  <a:solidFill>
                    <a:srgbClr val="1E1E1E"/>
                  </a:solidFill>
                  <a:latin typeface="Fira Sans Condensed"/>
                  <a:ea typeface="Fira Sans Condensed"/>
                  <a:cs typeface="Fira Sans Condensed"/>
                  <a:sym typeface="Fira Sans Condensed"/>
                </a:rPr>
                <a:t>Compensación β</a:t>
              </a:r>
              <a:r>
                <a:rPr lang="es-AR" sz="1450" dirty="0">
                  <a:solidFill>
                    <a:srgbClr val="1E1E1E"/>
                  </a:solidFill>
                  <a:latin typeface="Fira Sans Condensed"/>
                  <a:ea typeface="Fira Sans Condensed"/>
                  <a:cs typeface="Fira Sans Condensed"/>
                  <a:sym typeface="Fira Sans Condensed"/>
                </a:rPr>
                <a:t>: hiperinsulinemia mantiene la glucemia casi normal durante años.</a:t>
              </a:r>
              <a:endParaRPr lang="es-AR" sz="1450" dirty="0">
                <a:latin typeface="Fira Sans Condensed"/>
              </a:endParaRPr>
            </a:p>
          </p:txBody>
        </p:sp>
        <p:sp>
          <p:nvSpPr>
            <p:cNvPr id="12" name="Forma 10"/>
            <p:cNvSpPr/>
            <p:nvPr/>
          </p:nvSpPr>
          <p:spPr>
            <a:xfrm>
              <a:off x="7452360" y="214579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3" name="Paso 3"/>
          <p:cNvGrpSpPr/>
          <p:nvPr/>
        </p:nvGrpSpPr>
        <p:grpSpPr>
          <a:xfrm>
            <a:off x="7360920" y="2714244"/>
            <a:ext cx="4480560" cy="606552"/>
            <a:chOff x="7360920" y="2714244"/>
            <a:chExt cx="4480560" cy="606552"/>
          </a:xfrm>
        </p:grpSpPr>
        <p:sp>
          <p:nvSpPr>
            <p:cNvPr id="14" name="Forma 12"/>
            <p:cNvSpPr/>
            <p:nvPr/>
          </p:nvSpPr>
          <p:spPr>
            <a:xfrm>
              <a:off x="7360920" y="2714244"/>
              <a:ext cx="4480560" cy="606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b="1" dirty="0">
                  <a:solidFill>
                    <a:srgbClr val="1E1E1E"/>
                  </a:solidFill>
                  <a:latin typeface="Fira Sans Condensed"/>
                  <a:ea typeface="Fira Sans Condensed"/>
                  <a:cs typeface="Fira Sans Condensed"/>
                  <a:sym typeface="Fira Sans Condensed"/>
                </a:rPr>
                <a:t>Fracaso relativo</a:t>
              </a:r>
              <a:r>
                <a:rPr lang="es-AR" sz="1450" dirty="0">
                  <a:solidFill>
                    <a:srgbClr val="1E1E1E"/>
                  </a:solidFill>
                  <a:latin typeface="Fira Sans Condensed"/>
                  <a:ea typeface="Fira Sans Condensed"/>
                  <a:cs typeface="Fira Sans Condensed"/>
                  <a:sym typeface="Fira Sans Condensed"/>
                </a:rPr>
                <a:t>: gluco/lipotoxicidad, estrés del RE, genética → la secreción ya no alcanza.</a:t>
              </a:r>
              <a:endParaRPr lang="es-AR" sz="1450" dirty="0">
                <a:latin typeface="Fira Sans Condensed"/>
              </a:endParaRPr>
            </a:p>
          </p:txBody>
        </p:sp>
        <p:sp>
          <p:nvSpPr>
            <p:cNvPr id="15" name="Forma 13"/>
            <p:cNvSpPr/>
            <p:nvPr/>
          </p:nvSpPr>
          <p:spPr>
            <a:xfrm>
              <a:off x="7452360" y="284378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6" name="Paso 4"/>
          <p:cNvGrpSpPr/>
          <p:nvPr/>
        </p:nvGrpSpPr>
        <p:grpSpPr>
          <a:xfrm>
            <a:off x="7360920" y="3412236"/>
            <a:ext cx="4480560" cy="827532"/>
            <a:chOff x="7360920" y="3412236"/>
            <a:chExt cx="4480560" cy="827532"/>
          </a:xfrm>
        </p:grpSpPr>
        <p:sp>
          <p:nvSpPr>
            <p:cNvPr id="17" name="Forma 15"/>
            <p:cNvSpPr/>
            <p:nvPr/>
          </p:nvSpPr>
          <p:spPr>
            <a:xfrm>
              <a:off x="7360920" y="3412236"/>
              <a:ext cx="4480560" cy="82753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b="1" dirty="0">
                  <a:solidFill>
                    <a:srgbClr val="1E1E1E"/>
                  </a:solidFill>
                  <a:latin typeface="Fira Sans Condensed"/>
                  <a:ea typeface="Fira Sans Condensed"/>
                  <a:cs typeface="Fira Sans Condensed"/>
                  <a:sym typeface="Fira Sans Condensed"/>
                </a:rPr>
                <a:t>Hiperglucemia sostenida</a:t>
              </a:r>
              <a:r>
                <a:rPr lang="es-AR" sz="1450" dirty="0">
                  <a:solidFill>
                    <a:srgbClr val="1E1E1E"/>
                  </a:solidFill>
                  <a:latin typeface="Fira Sans Condensed"/>
                  <a:ea typeface="Fira Sans Condensed"/>
                  <a:cs typeface="Fira Sans Condensed"/>
                  <a:sym typeface="Fira Sans Condensed"/>
                </a:rPr>
                <a:t> y daño orgánico; la obesidad visceral suele contribuir, pero existe DM2 sin obesidad.</a:t>
              </a:r>
              <a:endParaRPr lang="es-AR" sz="1450" dirty="0">
                <a:latin typeface="Fira Sans Condensed"/>
              </a:endParaRPr>
            </a:p>
          </p:txBody>
        </p:sp>
        <p:sp>
          <p:nvSpPr>
            <p:cNvPr id="18" name="Forma 16"/>
            <p:cNvSpPr/>
            <p:nvPr/>
          </p:nvSpPr>
          <p:spPr>
            <a:xfrm>
              <a:off x="7452360" y="365226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DM2: RESISTENCIA INSULÍNICA + FRACASO </a:t>
            </a:r>
            <a:r>
              <a:rPr lang="es-AR" sz="28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 PROGRESIVO</a:t>
            </a:r>
            <a:endParaRPr lang="es-AR" sz="28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DM1 problema"/>
          <p:cNvGrpSpPr/>
          <p:nvPr/>
        </p:nvGrpSpPr>
        <p:grpSpPr>
          <a:xfrm>
            <a:off x="457200" y="1188720"/>
            <a:ext cx="5394960" cy="4389120"/>
            <a:chOff x="457200" y="1188720"/>
            <a:chExt cx="5394960" cy="4389120"/>
          </a:xfrm>
        </p:grpSpPr>
        <p:sp>
          <p:nvSpPr>
            <p:cNvPr id="8" name="Recuadro DM1 = PROBLEMA DE DISP"/>
            <p:cNvSpPr/>
            <p:nvPr/>
          </p:nvSpPr>
          <p:spPr>
            <a:xfrm>
              <a:off x="457200" y="1188720"/>
              <a:ext cx="539496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DM1 = PROBLEMA DE DISPONIBILIDAD DE INSULINA</a:t>
              </a:r>
              <a:endParaRPr lang="es-AR" sz="1700" dirty="0">
                <a:latin typeface="Fira Sans Condensed"/>
              </a:endParaRPr>
            </a:p>
          </p:txBody>
        </p:sp>
        <p:pic>
          <p:nvPicPr>
            <p:cNvPr id="9" name="Imagen langerhans-islet-pancreas" descr="Ilustración biomédica (Servier Medical Art, CC BY)"/>
            <p:cNvPicPr>
              <a:picLocks noChangeAspect="1"/>
            </p:cNvPicPr>
            <p:nvPr/>
          </p:nvPicPr>
          <p:blipFill>
            <a:blip r:embed="rId2"/>
            <a:stretch>
              <a:fillRect/>
            </a:stretch>
          </p:blipFill>
          <p:spPr>
            <a:xfrm>
              <a:off x="2011680" y="1965960"/>
              <a:ext cx="2286000" cy="2494466"/>
            </a:xfrm>
            <a:prstGeom prst="rect">
              <a:avLst/>
            </a:prstGeom>
          </p:spPr>
        </p:pic>
        <p:sp>
          <p:nvSpPr>
            <p:cNvPr id="10" name="Forma 9"/>
            <p:cNvSpPr/>
            <p:nvPr/>
          </p:nvSpPr>
          <p:spPr>
            <a:xfrm>
              <a:off x="457200" y="4343400"/>
              <a:ext cx="539496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célula β no fabrica suficiente hormona: el tejido diana podría responder, pero </a:t>
              </a:r>
              <a:r>
                <a:rPr lang="es-AR" sz="1500" b="1" dirty="0">
                  <a:solidFill>
                    <a:srgbClr val="1E1E1E"/>
                  </a:solidFill>
                  <a:latin typeface="Fira Sans Condensed"/>
                  <a:ea typeface="Fira Sans Condensed"/>
                  <a:cs typeface="Fira Sans Condensed"/>
                  <a:sym typeface="Fira Sans Condensed"/>
                </a:rPr>
                <a:t>no recibe la señal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grpSp>
      <p:grpSp>
        <p:nvGrpSpPr>
          <p:cNvPr id="11" name="DM2 problema"/>
          <p:cNvGrpSpPr/>
          <p:nvPr/>
        </p:nvGrpSpPr>
        <p:grpSpPr>
          <a:xfrm>
            <a:off x="6309360" y="1188720"/>
            <a:ext cx="5440680" cy="4389120"/>
            <a:chOff x="6309360" y="1188720"/>
            <a:chExt cx="5440680" cy="4389120"/>
          </a:xfrm>
        </p:grpSpPr>
        <p:sp>
          <p:nvSpPr>
            <p:cNvPr id="12" name="Recuadro DM2 = SENSIBILIDAD + C"/>
            <p:cNvSpPr/>
            <p:nvPr/>
          </p:nvSpPr>
          <p:spPr>
            <a:xfrm>
              <a:off x="6309360" y="1188720"/>
              <a:ext cx="5440680" cy="6400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DM2 = SENSIBILIDAD + CAPACIDAD SECRETORA</a:t>
              </a:r>
              <a:endParaRPr lang="es-AR" sz="1700" dirty="0">
                <a:latin typeface="Fira Sans Condensed"/>
              </a:endParaRPr>
            </a:p>
          </p:txBody>
        </p:sp>
        <p:pic>
          <p:nvPicPr>
            <p:cNvPr id="13" name="Imagen muscle-fiber" descr="Ilustración biomédica (Servier Medical Art, CC BY)"/>
            <p:cNvPicPr>
              <a:picLocks noChangeAspect="1"/>
            </p:cNvPicPr>
            <p:nvPr/>
          </p:nvPicPr>
          <p:blipFill>
            <a:blip r:embed="rId3"/>
            <a:stretch>
              <a:fillRect/>
            </a:stretch>
          </p:blipFill>
          <p:spPr>
            <a:xfrm>
              <a:off x="6766560" y="2194560"/>
              <a:ext cx="2194560" cy="1018903"/>
            </a:xfrm>
            <a:prstGeom prst="rect">
              <a:avLst/>
            </a:prstGeom>
          </p:spPr>
        </p:pic>
        <p:pic>
          <p:nvPicPr>
            <p:cNvPr id="14" name="Imagen healthy_liver" descr="Ilustración biomédica (Servier Medical Art, CC BY)"/>
            <p:cNvPicPr>
              <a:picLocks noChangeAspect="1"/>
            </p:cNvPicPr>
            <p:nvPr/>
          </p:nvPicPr>
          <p:blipFill>
            <a:blip r:embed="rId4"/>
            <a:stretch>
              <a:fillRect/>
            </a:stretch>
          </p:blipFill>
          <p:spPr>
            <a:xfrm>
              <a:off x="9235440" y="2103120"/>
              <a:ext cx="2103120" cy="1526044"/>
            </a:xfrm>
            <a:prstGeom prst="rect">
              <a:avLst/>
            </a:prstGeom>
          </p:spPr>
        </p:pic>
        <p:sp>
          <p:nvSpPr>
            <p:cNvPr id="15" name="Forma 14"/>
            <p:cNvSpPr/>
            <p:nvPr/>
          </p:nvSpPr>
          <p:spPr>
            <a:xfrm>
              <a:off x="6309360" y="4343400"/>
              <a:ext cx="544068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Problema </a:t>
              </a:r>
              <a:r>
                <a:rPr lang="es-AR" sz="1500" b="1" dirty="0">
                  <a:solidFill>
                    <a:srgbClr val="1E1E1E"/>
                  </a:solidFill>
                  <a:latin typeface="Fira Sans Condensed"/>
                  <a:ea typeface="Fira Sans Condensed"/>
                  <a:cs typeface="Fira Sans Condensed"/>
                  <a:sym typeface="Fira Sans Condensed"/>
                </a:rPr>
                <a:t>combinado</a:t>
              </a:r>
              <a:r>
                <a:rPr lang="es-AR" sz="1500" dirty="0">
                  <a:solidFill>
                    <a:srgbClr val="1E1E1E"/>
                  </a:solidFill>
                  <a:latin typeface="Fira Sans Condensed"/>
                  <a:ea typeface="Fira Sans Condensed"/>
                  <a:cs typeface="Fira Sans Condensed"/>
                  <a:sym typeface="Fira Sans Condensed"/>
                </a:rPr>
                <a:t>: los tejidos responden menos y la célula β no logra compensar de forma sostenida.</a:t>
              </a:r>
              <a:endParaRPr lang="es-AR" sz="1500" dirty="0">
                <a:latin typeface="Fira Sans Condensed"/>
              </a:endParaRPr>
            </a:p>
          </p:txBody>
        </p:sp>
      </p:grpSp>
      <p:sp>
        <p:nvSpPr>
          <p:cNvPr id="16" name="Perla clínica"/>
          <p:cNvSpPr/>
          <p:nvPr/>
        </p:nvSpPr>
        <p:spPr>
          <a:xfrm>
            <a:off x="457200" y="5760720"/>
            <a:ext cx="1129284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No equiparar DM1 con «joven delgado» ni DM2 con «adulto obeso»: son </a:t>
            </a:r>
            <a:r>
              <a:rPr lang="es-AR" sz="1600" b="1" dirty="0">
                <a:solidFill>
                  <a:srgbClr val="FFFFFF"/>
                </a:solidFill>
                <a:latin typeface="Fira Sans Condensed"/>
                <a:ea typeface="Fira Sans Condensed"/>
                <a:cs typeface="Fira Sans Condensed"/>
                <a:sym typeface="Fira Sans Condensed"/>
              </a:rPr>
              <a:t>patrones</a:t>
            </a:r>
            <a:r>
              <a:rPr lang="es-AR" sz="1600" dirty="0">
                <a:solidFill>
                  <a:srgbClr val="FFFFFF"/>
                </a:solidFill>
                <a:latin typeface="Fira Sans Condensed"/>
                <a:ea typeface="Fira Sans Condensed"/>
                <a:cs typeface="Fira Sans Condensed"/>
                <a:sym typeface="Fira Sans Condensed"/>
              </a:rPr>
              <a:t>, no criterios diagnósticos.</a:t>
            </a:r>
            <a:endParaRPr lang="es-AR" sz="16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PATRONES NO SON CRITERIOS DIAGNÓSTICOS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ppt_w</p:attrName>
                                        </p:attrNameLst>
                                      </p:cBhvr>
                                      <p:tavLst>
                                        <p:tav tm="0">
                                          <p:val>
                                            <p:fltVal val="0"/>
                                          </p:val>
                                        </p:tav>
                                        <p:tav tm="100000">
                                          <p:val>
                                            <p:strVal val="#ppt_w"/>
                                          </p:val>
                                        </p:tav>
                                      </p:tavLst>
                                    </p:anim>
                                    <p:anim calcmode="lin" valueType="num">
                                      <p:cBhvr>
                                        <p:cTn id="16" dur="500" fill="hold"/>
                                        <p:tgtEl>
                                          <p:spTgt spid="16"/>
                                        </p:tgtEl>
                                        <p:attrNameLst>
                                          <p:attrName>ppt_h</p:attrName>
                                        </p:attrNameLst>
                                      </p:cBhvr>
                                      <p:tavLst>
                                        <p:tav tm="0">
                                          <p:val>
                                            <p:fltVal val="0"/>
                                          </p:val>
                                        </p:tav>
                                        <p:tav tm="100000">
                                          <p:val>
                                            <p:strVal val="#ppt_h"/>
                                          </p:val>
                                        </p:tav>
                                      </p:tavLst>
                                    </p:anim>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Forma 5"/>
          <p:cNvSpPr txBox="1"/>
          <p:nvPr/>
        </p:nvSpPr>
        <p:spPr>
          <a:xfrm>
            <a:off x="548640" y="1097280"/>
            <a:ext cx="3657600" cy="347472"/>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1 · RE RUGOSO</a:t>
            </a:r>
            <a:endParaRPr lang="es-AR" sz="1500" dirty="0">
              <a:latin typeface="Fira Sans Condensed"/>
            </a:endParaRPr>
          </a:p>
        </p:txBody>
      </p:sp>
      <p:grpSp>
        <p:nvGrpSpPr>
          <p:cNvPr id="7" name="Preproinsulina"/>
          <p:cNvGrpSpPr/>
          <p:nvPr/>
        </p:nvGrpSpPr>
        <p:grpSpPr>
          <a:xfrm>
            <a:off x="548640" y="1463040"/>
            <a:ext cx="7452360" cy="502920"/>
            <a:chOff x="548640" y="1463040"/>
            <a:chExt cx="7452360" cy="502920"/>
          </a:xfrm>
        </p:grpSpPr>
        <p:sp>
          <p:nvSpPr>
            <p:cNvPr id="8" name="Forma 7"/>
            <p:cNvSpPr/>
            <p:nvPr/>
          </p:nvSpPr>
          <p:spPr>
            <a:xfrm>
              <a:off x="548640" y="1463040"/>
              <a:ext cx="1280160" cy="502920"/>
            </a:xfrm>
            <a:prstGeom prst="rect">
              <a:avLst/>
            </a:prstGeom>
            <a:solidFill>
              <a:srgbClr val="BFBFBF"/>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Péptido señal</a:t>
              </a:r>
              <a:endParaRPr lang="es-AR" sz="1300" dirty="0">
                <a:latin typeface="Fira Sans Condensed"/>
              </a:endParaRPr>
            </a:p>
          </p:txBody>
        </p:sp>
        <p:sp>
          <p:nvSpPr>
            <p:cNvPr id="9" name="Forma 8"/>
            <p:cNvSpPr/>
            <p:nvPr/>
          </p:nvSpPr>
          <p:spPr>
            <a:xfrm>
              <a:off x="1874520" y="1463040"/>
              <a:ext cx="2194560" cy="502920"/>
            </a:xfrm>
            <a:prstGeom prst="rect">
              <a:avLst/>
            </a:prstGeom>
            <a:solidFill>
              <a:srgbClr val="2E86C1"/>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Cadena B (30 aa)</a:t>
              </a:r>
              <a:endParaRPr lang="es-AR" sz="1300" dirty="0">
                <a:latin typeface="Fira Sans Condensed"/>
              </a:endParaRPr>
            </a:p>
          </p:txBody>
        </p:sp>
        <p:sp>
          <p:nvSpPr>
            <p:cNvPr id="10" name="Forma 9"/>
            <p:cNvSpPr/>
            <p:nvPr/>
          </p:nvSpPr>
          <p:spPr>
            <a:xfrm>
              <a:off x="4114800" y="1463040"/>
              <a:ext cx="210312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Péptido C (31 aa)</a:t>
              </a:r>
              <a:endParaRPr lang="es-AR" sz="1300" dirty="0">
                <a:latin typeface="Fira Sans Condensed"/>
              </a:endParaRPr>
            </a:p>
          </p:txBody>
        </p:sp>
        <p:sp>
          <p:nvSpPr>
            <p:cNvPr id="11" name="Forma 10"/>
            <p:cNvSpPr/>
            <p:nvPr/>
          </p:nvSpPr>
          <p:spPr>
            <a:xfrm>
              <a:off x="6263640" y="1463040"/>
              <a:ext cx="1737360" cy="502920"/>
            </a:xfrm>
            <a:prstGeom prst="rect">
              <a:avLst/>
            </a:prstGeom>
            <a:solidFill>
              <a:srgbClr val="C0392B"/>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Cadena A (21 aa)</a:t>
              </a:r>
              <a:endParaRPr lang="es-AR" sz="1300" dirty="0">
                <a:latin typeface="Fira Sans Condensed"/>
              </a:endParaRPr>
            </a:p>
          </p:txBody>
        </p:sp>
      </p:grpSp>
      <p:sp>
        <p:nvSpPr>
          <p:cNvPr id="12" name="Forma 11"/>
          <p:cNvSpPr txBox="1"/>
          <p:nvPr/>
        </p:nvSpPr>
        <p:spPr>
          <a:xfrm>
            <a:off x="8229600" y="1463040"/>
            <a:ext cx="2377440" cy="50292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PREPROINSULINA</a:t>
            </a:r>
            <a:endParaRPr lang="es-AR" sz="1400" dirty="0">
              <a:latin typeface="Fira Sans Condensed"/>
            </a:endParaRPr>
          </a:p>
        </p:txBody>
      </p:sp>
      <p:sp>
        <p:nvSpPr>
          <p:cNvPr id="13" name="Forma 12"/>
          <p:cNvSpPr txBox="1"/>
          <p:nvPr/>
        </p:nvSpPr>
        <p:spPr>
          <a:xfrm>
            <a:off x="548640" y="2240280"/>
            <a:ext cx="5486400" cy="347472"/>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2 · CORTE DEL PÉPTIDO SEÑAL · PLEGADO · 3 PUENTES S–S</a:t>
            </a:r>
            <a:endParaRPr lang="es-AR" sz="1500" dirty="0">
              <a:latin typeface="Fira Sans Condensed"/>
            </a:endParaRPr>
          </a:p>
        </p:txBody>
      </p:sp>
      <p:grpSp>
        <p:nvGrpSpPr>
          <p:cNvPr id="14" name="Proinsulina"/>
          <p:cNvGrpSpPr/>
          <p:nvPr/>
        </p:nvGrpSpPr>
        <p:grpSpPr>
          <a:xfrm>
            <a:off x="548640" y="2606040"/>
            <a:ext cx="6126480" cy="502920"/>
            <a:chOff x="548640" y="2606040"/>
            <a:chExt cx="6126480" cy="502920"/>
          </a:xfrm>
        </p:grpSpPr>
        <p:sp>
          <p:nvSpPr>
            <p:cNvPr id="15" name="Forma 14"/>
            <p:cNvSpPr/>
            <p:nvPr/>
          </p:nvSpPr>
          <p:spPr>
            <a:xfrm>
              <a:off x="548640" y="2606040"/>
              <a:ext cx="2194560" cy="502920"/>
            </a:xfrm>
            <a:prstGeom prst="rect">
              <a:avLst/>
            </a:prstGeom>
            <a:solidFill>
              <a:srgbClr val="2E86C1"/>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Cadena B (30 aa)</a:t>
              </a:r>
              <a:endParaRPr lang="es-AR" sz="1300" dirty="0">
                <a:latin typeface="Fira Sans Condensed"/>
              </a:endParaRPr>
            </a:p>
          </p:txBody>
        </p:sp>
        <p:sp>
          <p:nvSpPr>
            <p:cNvPr id="16" name="Forma 15"/>
            <p:cNvSpPr/>
            <p:nvPr/>
          </p:nvSpPr>
          <p:spPr>
            <a:xfrm>
              <a:off x="2788920" y="2606040"/>
              <a:ext cx="210312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Péptido C (31 aa)</a:t>
              </a:r>
              <a:endParaRPr lang="es-AR" sz="1300" dirty="0">
                <a:latin typeface="Fira Sans Condensed"/>
              </a:endParaRPr>
            </a:p>
          </p:txBody>
        </p:sp>
        <p:sp>
          <p:nvSpPr>
            <p:cNvPr id="17" name="Forma 16"/>
            <p:cNvSpPr/>
            <p:nvPr/>
          </p:nvSpPr>
          <p:spPr>
            <a:xfrm>
              <a:off x="4937760" y="2606040"/>
              <a:ext cx="1737360" cy="502920"/>
            </a:xfrm>
            <a:prstGeom prst="rect">
              <a:avLst/>
            </a:prstGeom>
            <a:solidFill>
              <a:srgbClr val="C0392B"/>
            </a:solidFill>
            <a:ln w="1905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Cadena A (21 aa)</a:t>
              </a:r>
              <a:endParaRPr lang="es-AR" sz="1300" dirty="0">
                <a:latin typeface="Fira Sans Condensed"/>
              </a:endParaRPr>
            </a:p>
          </p:txBody>
        </p:sp>
      </p:grpSp>
      <p:sp>
        <p:nvSpPr>
          <p:cNvPr id="18" name="Forma 17"/>
          <p:cNvSpPr txBox="1"/>
          <p:nvPr/>
        </p:nvSpPr>
        <p:spPr>
          <a:xfrm>
            <a:off x="7086600" y="2606040"/>
            <a:ext cx="1828800" cy="50292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PROINSULINA</a:t>
            </a:r>
            <a:endParaRPr lang="es-AR" sz="1400" dirty="0">
              <a:latin typeface="Fira Sans Condensed"/>
            </a:endParaRPr>
          </a:p>
        </p:txBody>
      </p:sp>
      <p:sp>
        <p:nvSpPr>
          <p:cNvPr id="19" name="Forma 18"/>
          <p:cNvSpPr txBox="1"/>
          <p:nvPr/>
        </p:nvSpPr>
        <p:spPr>
          <a:xfrm>
            <a:off x="548640" y="3383280"/>
            <a:ext cx="7315200" cy="347472"/>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3 · GOLGI → GRÁNULOS: PC1/3 · PC2 · CARBOXIPEPTIDASA E</a:t>
            </a:r>
            <a:endParaRPr lang="es-AR" sz="1500" dirty="0">
              <a:latin typeface="Fira Sans Condensed"/>
            </a:endParaRPr>
          </a:p>
        </p:txBody>
      </p:sp>
      <p:grpSp>
        <p:nvGrpSpPr>
          <p:cNvPr id="20" name="Insulina madura"/>
          <p:cNvGrpSpPr/>
          <p:nvPr/>
        </p:nvGrpSpPr>
        <p:grpSpPr>
          <a:xfrm>
            <a:off x="548640" y="3794760"/>
            <a:ext cx="4023360" cy="1005840"/>
            <a:chOff x="548640" y="3794760"/>
            <a:chExt cx="4023360" cy="1005840"/>
          </a:xfrm>
        </p:grpSpPr>
        <p:sp>
          <p:nvSpPr>
            <p:cNvPr id="21" name="Forma 20"/>
            <p:cNvSpPr/>
            <p:nvPr/>
          </p:nvSpPr>
          <p:spPr>
            <a:xfrm>
              <a:off x="548640" y="3794760"/>
              <a:ext cx="2194560" cy="457200"/>
            </a:xfrm>
            <a:prstGeom prst="rect">
              <a:avLst/>
            </a:prstGeom>
            <a:solidFill>
              <a:srgbClr val="2E86C1"/>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B</a:t>
              </a:r>
              <a:endParaRPr lang="es-AR" sz="1400" dirty="0">
                <a:latin typeface="Fira Sans Condensed"/>
              </a:endParaRPr>
            </a:p>
          </p:txBody>
        </p:sp>
        <p:sp>
          <p:nvSpPr>
            <p:cNvPr id="22" name="Forma 21"/>
            <p:cNvSpPr/>
            <p:nvPr/>
          </p:nvSpPr>
          <p:spPr>
            <a:xfrm>
              <a:off x="548640" y="4343400"/>
              <a:ext cx="1737360" cy="457200"/>
            </a:xfrm>
            <a:prstGeom prst="rect">
              <a:avLst/>
            </a:prstGeom>
            <a:solidFill>
              <a:srgbClr val="C0392B"/>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A</a:t>
              </a:r>
              <a:endParaRPr lang="es-AR" sz="1400" dirty="0">
                <a:latin typeface="Fira Sans Condensed"/>
              </a:endParaRPr>
            </a:p>
          </p:txBody>
        </p:sp>
        <p:sp>
          <p:nvSpPr>
            <p:cNvPr id="23" name="Flecha 22_2"/>
            <p:cNvSpPr/>
            <p:nvPr/>
          </p:nvSpPr>
          <p:spPr>
            <a:xfrm>
              <a:off x="960120" y="4251960"/>
              <a:ext cx="9144" cy="91440"/>
            </a:xfrm>
            <a:custGeom>
              <a:avLst/>
              <a:gdLst/>
              <a:ahLst/>
              <a:cxnLst/>
              <a:rect l="0" t="0" r="r" b="b"/>
              <a:pathLst>
                <a:path w="10" h="99" fill="none">
                  <a:moveTo>
                    <a:pt x="0" y="0"/>
                  </a:moveTo>
                  <a:lnTo>
                    <a:pt x="0" y="99"/>
                  </a:lnTo>
                </a:path>
              </a:pathLst>
            </a:custGeom>
            <a:noFill/>
            <a:ln w="50800" cap="rnd">
              <a:solidFill>
                <a:srgbClr val="D4AC0D"/>
              </a:solidFill>
              <a:round/>
            </a:ln>
          </p:spPr>
        </p:sp>
        <p:sp>
          <p:nvSpPr>
            <p:cNvPr id="24" name="Flecha 24_2"/>
            <p:cNvSpPr/>
            <p:nvPr/>
          </p:nvSpPr>
          <p:spPr>
            <a:xfrm>
              <a:off x="1600200" y="4251960"/>
              <a:ext cx="9144" cy="91440"/>
            </a:xfrm>
            <a:custGeom>
              <a:avLst/>
              <a:gdLst/>
              <a:ahLst/>
              <a:cxnLst/>
              <a:rect l="0" t="0" r="r" b="b"/>
              <a:pathLst>
                <a:path w="10" h="99" fill="none">
                  <a:moveTo>
                    <a:pt x="0" y="0"/>
                  </a:moveTo>
                  <a:lnTo>
                    <a:pt x="0" y="99"/>
                  </a:lnTo>
                </a:path>
              </a:pathLst>
            </a:custGeom>
            <a:noFill/>
            <a:ln w="50800" cap="rnd">
              <a:solidFill>
                <a:srgbClr val="D4AC0D"/>
              </a:solidFill>
              <a:round/>
            </a:ln>
          </p:spPr>
        </p:sp>
        <p:sp>
          <p:nvSpPr>
            <p:cNvPr id="25" name="Forma 26"/>
            <p:cNvSpPr txBox="1"/>
            <p:nvPr/>
          </p:nvSpPr>
          <p:spPr>
            <a:xfrm>
              <a:off x="2834640" y="3931920"/>
              <a:ext cx="1737360" cy="54864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INSULINA</a:t>
              </a:r>
              <a:endParaRPr lang="es-AR" sz="1500" dirty="0">
                <a:latin typeface="Fira Sans Condensed"/>
              </a:endParaRPr>
            </a:p>
          </p:txBody>
        </p:sp>
      </p:grpSp>
      <p:grpSp>
        <p:nvGrpSpPr>
          <p:cNvPr id="26" name="Péptido C libre"/>
          <p:cNvGrpSpPr/>
          <p:nvPr/>
        </p:nvGrpSpPr>
        <p:grpSpPr>
          <a:xfrm>
            <a:off x="4572000" y="4069080"/>
            <a:ext cx="2103120" cy="457200"/>
            <a:chOff x="4572000" y="4069080"/>
            <a:chExt cx="2103120" cy="457200"/>
          </a:xfrm>
        </p:grpSpPr>
        <p:sp>
          <p:nvSpPr>
            <p:cNvPr id="27" name="Forma 28"/>
            <p:cNvSpPr/>
            <p:nvPr/>
          </p:nvSpPr>
          <p:spPr>
            <a:xfrm>
              <a:off x="4572000" y="4069080"/>
              <a:ext cx="2103120" cy="457200"/>
            </a:xfrm>
            <a:prstGeom prst="rect">
              <a:avLst/>
            </a:prstGeom>
            <a:solidFill>
              <a:srgbClr val="FFC000"/>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Péptido C</a:t>
              </a:r>
              <a:endParaRPr lang="es-AR" sz="1400" dirty="0">
                <a:latin typeface="Fira Sans Condensed"/>
              </a:endParaRPr>
            </a:p>
          </p:txBody>
        </p:sp>
      </p:grpSp>
      <p:sp>
        <p:nvSpPr>
          <p:cNvPr id="28" name="Recuadro EQUIMOLAR"/>
          <p:cNvSpPr/>
          <p:nvPr/>
        </p:nvSpPr>
        <p:spPr>
          <a:xfrm>
            <a:off x="6949440" y="3931920"/>
            <a:ext cx="1828800" cy="7315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EQUIMOLAR</a:t>
            </a:r>
            <a:endParaRPr lang="es-AR" sz="1500" dirty="0">
              <a:latin typeface="Fira Sans Condensed"/>
            </a:endParaRPr>
          </a:p>
        </p:txBody>
      </p:sp>
      <p:grpSp>
        <p:nvGrpSpPr>
          <p:cNvPr id="29" name="Gránulos"/>
          <p:cNvGrpSpPr/>
          <p:nvPr/>
        </p:nvGrpSpPr>
        <p:grpSpPr>
          <a:xfrm>
            <a:off x="9052560" y="1097280"/>
            <a:ext cx="2743200" cy="3749040"/>
            <a:chOff x="9052560" y="1097280"/>
            <a:chExt cx="2743200" cy="3749040"/>
          </a:xfrm>
        </p:grpSpPr>
        <p:pic>
          <p:nvPicPr>
            <p:cNvPr id="30" name="RE rugoso" descr="Ilustración biomédica (Servier Medical Art, CC BY)"/>
            <p:cNvPicPr>
              <a:picLocks noChangeAspect="1"/>
            </p:cNvPicPr>
            <p:nvPr/>
          </p:nvPicPr>
          <p:blipFill>
            <a:blip r:embed="rId2"/>
            <a:stretch>
              <a:fillRect/>
            </a:stretch>
          </p:blipFill>
          <p:spPr>
            <a:xfrm>
              <a:off x="9052560" y="1097280"/>
              <a:ext cx="2651760" cy="1000092"/>
            </a:xfrm>
            <a:prstGeom prst="rect">
              <a:avLst/>
            </a:prstGeom>
          </p:spPr>
        </p:pic>
        <p:grpSp>
          <p:nvGrpSpPr>
            <p:cNvPr id="31" name="Gránulo de insulina"/>
            <p:cNvGrpSpPr/>
            <p:nvPr/>
          </p:nvGrpSpPr>
          <p:grpSpPr>
            <a:xfrm>
              <a:off x="9326880" y="3291840"/>
              <a:ext cx="566928" cy="566928"/>
              <a:chOff x="9326880" y="3291840"/>
              <a:chExt cx="566928" cy="566928"/>
            </a:xfrm>
          </p:grpSpPr>
          <p:sp>
            <p:nvSpPr>
              <p:cNvPr id="32" name="Forma 33"/>
              <p:cNvSpPr/>
              <p:nvPr/>
            </p:nvSpPr>
            <p:spPr>
              <a:xfrm>
                <a:off x="9326880" y="3291840"/>
                <a:ext cx="566928" cy="566928"/>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33" name="Forma 34"/>
              <p:cNvSpPr/>
              <p:nvPr/>
            </p:nvSpPr>
            <p:spPr>
              <a:xfrm>
                <a:off x="9496958" y="3461918"/>
                <a:ext cx="226771" cy="226771"/>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34" name="Gránulo de insulina_2"/>
            <p:cNvGrpSpPr/>
            <p:nvPr/>
          </p:nvGrpSpPr>
          <p:grpSpPr>
            <a:xfrm>
              <a:off x="10012680" y="3520440"/>
              <a:ext cx="566928" cy="566928"/>
              <a:chOff x="10012680" y="3520440"/>
              <a:chExt cx="566928" cy="566928"/>
            </a:xfrm>
          </p:grpSpPr>
          <p:sp>
            <p:nvSpPr>
              <p:cNvPr id="35" name="Forma 36"/>
              <p:cNvSpPr/>
              <p:nvPr/>
            </p:nvSpPr>
            <p:spPr>
              <a:xfrm>
                <a:off x="10012680" y="3520440"/>
                <a:ext cx="566928" cy="566928"/>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36" name="Forma 37"/>
              <p:cNvSpPr/>
              <p:nvPr/>
            </p:nvSpPr>
            <p:spPr>
              <a:xfrm>
                <a:off x="10182758" y="3690518"/>
                <a:ext cx="226771" cy="226771"/>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37" name="Gránulo de insulina_3"/>
            <p:cNvGrpSpPr/>
            <p:nvPr/>
          </p:nvGrpSpPr>
          <p:grpSpPr>
            <a:xfrm>
              <a:off x="10744200" y="3246120"/>
              <a:ext cx="566928" cy="566928"/>
              <a:chOff x="10744200" y="3246120"/>
              <a:chExt cx="566928" cy="566928"/>
            </a:xfrm>
          </p:grpSpPr>
          <p:sp>
            <p:nvSpPr>
              <p:cNvPr id="38" name="Forma 39"/>
              <p:cNvSpPr/>
              <p:nvPr/>
            </p:nvSpPr>
            <p:spPr>
              <a:xfrm>
                <a:off x="10744200" y="3246120"/>
                <a:ext cx="566928" cy="566928"/>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39" name="Forma 40"/>
              <p:cNvSpPr/>
              <p:nvPr/>
            </p:nvSpPr>
            <p:spPr>
              <a:xfrm>
                <a:off x="10914278" y="3416198"/>
                <a:ext cx="226771" cy="226771"/>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0" name="Gránulo de insulina_4"/>
            <p:cNvGrpSpPr/>
            <p:nvPr/>
          </p:nvGrpSpPr>
          <p:grpSpPr>
            <a:xfrm>
              <a:off x="10332720" y="4023360"/>
              <a:ext cx="566928" cy="566928"/>
              <a:chOff x="10332720" y="4023360"/>
              <a:chExt cx="566928" cy="566928"/>
            </a:xfrm>
          </p:grpSpPr>
          <p:sp>
            <p:nvSpPr>
              <p:cNvPr id="41" name="Forma 42"/>
              <p:cNvSpPr/>
              <p:nvPr/>
            </p:nvSpPr>
            <p:spPr>
              <a:xfrm>
                <a:off x="10332720" y="4023360"/>
                <a:ext cx="566928" cy="566928"/>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2" name="Forma 43"/>
              <p:cNvSpPr/>
              <p:nvPr/>
            </p:nvSpPr>
            <p:spPr>
              <a:xfrm>
                <a:off x="10502798" y="4193438"/>
                <a:ext cx="226771" cy="226771"/>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3" name="Gránulo de insulina_5"/>
            <p:cNvGrpSpPr/>
            <p:nvPr/>
          </p:nvGrpSpPr>
          <p:grpSpPr>
            <a:xfrm>
              <a:off x="11155680" y="3931920"/>
              <a:ext cx="566928" cy="566928"/>
              <a:chOff x="11155680" y="3931920"/>
              <a:chExt cx="566928" cy="566928"/>
            </a:xfrm>
          </p:grpSpPr>
          <p:sp>
            <p:nvSpPr>
              <p:cNvPr id="44" name="Forma 45"/>
              <p:cNvSpPr/>
              <p:nvPr/>
            </p:nvSpPr>
            <p:spPr>
              <a:xfrm>
                <a:off x="11155680" y="3931920"/>
                <a:ext cx="566928" cy="566928"/>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5" name="Forma 46"/>
              <p:cNvSpPr/>
              <p:nvPr/>
            </p:nvSpPr>
            <p:spPr>
              <a:xfrm>
                <a:off x="11325758" y="4101998"/>
                <a:ext cx="226771" cy="226771"/>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sp>
          <p:nvSpPr>
            <p:cNvPr id="46" name="Forma 47"/>
            <p:cNvSpPr txBox="1"/>
            <p:nvPr/>
          </p:nvSpPr>
          <p:spPr>
            <a:xfrm>
              <a:off x="9052560" y="4526280"/>
              <a:ext cx="274320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GRÁNULOS DE SECRECIÓN</a:t>
              </a:r>
              <a:endParaRPr lang="es-AR" sz="1250" dirty="0">
                <a:latin typeface="Fira Sans Condensed"/>
              </a:endParaRPr>
            </a:p>
          </p:txBody>
        </p:sp>
      </p:grpSp>
      <p:grpSp>
        <p:nvGrpSpPr>
          <p:cNvPr id="47" name="Cuadro Uso clínico"/>
          <p:cNvGrpSpPr/>
          <p:nvPr/>
        </p:nvGrpSpPr>
        <p:grpSpPr>
          <a:xfrm>
            <a:off x="548640" y="5074920"/>
            <a:ext cx="11292840" cy="1234440"/>
            <a:chOff x="548640" y="5074920"/>
            <a:chExt cx="11292840" cy="1234440"/>
          </a:xfrm>
        </p:grpSpPr>
        <p:sp>
          <p:nvSpPr>
            <p:cNvPr id="48" name="Forma 49"/>
            <p:cNvSpPr/>
            <p:nvPr/>
          </p:nvSpPr>
          <p:spPr>
            <a:xfrm>
              <a:off x="548640" y="5276088"/>
              <a:ext cx="11292840" cy="1033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péptido C</a:t>
              </a:r>
              <a:r>
                <a:rPr lang="es-AR" sz="1500" dirty="0">
                  <a:solidFill>
                    <a:srgbClr val="1E1E1E"/>
                  </a:solidFill>
                  <a:latin typeface="Fira Sans Condensed"/>
                  <a:ea typeface="Fira Sans Condensed"/>
                  <a:cs typeface="Fira Sans Condensed"/>
                  <a:sym typeface="Fira Sans Condensed"/>
                </a:rPr>
                <a:t> se secreta en cantidad equimolar con la insulina y refleja </a:t>
              </a:r>
              <a:r>
                <a:rPr lang="es-AR" sz="1500" b="1" dirty="0">
                  <a:solidFill>
                    <a:srgbClr val="1E1E1E"/>
                  </a:solidFill>
                  <a:latin typeface="Fira Sans Condensed"/>
                  <a:ea typeface="Fira Sans Condensed"/>
                  <a:cs typeface="Fira Sans Condensed"/>
                  <a:sym typeface="Fira Sans Condensed"/>
                </a:rPr>
                <a:t>producción endógena</a:t>
              </a:r>
              <a:r>
                <a:rPr lang="es-AR" sz="1500" dirty="0">
                  <a:solidFill>
                    <a:srgbClr val="1E1E1E"/>
                  </a:solidFill>
                  <a:latin typeface="Fira Sans Condensed"/>
                  <a:ea typeface="Fira Sans Condensed"/>
                  <a:cs typeface="Fira Sans Condensed"/>
                  <a:sym typeface="Fira Sans Condensed"/>
                </a:rPr>
                <a:t> (la insulina exógena no lo contiene). Ayuda a clasificar la diabetes cuando se interpreta según </a:t>
              </a:r>
              <a:r>
                <a:rPr lang="es-AR" sz="1500" b="1" dirty="0">
                  <a:solidFill>
                    <a:srgbClr val="1E1E1E"/>
                  </a:solidFill>
                  <a:latin typeface="Fira Sans Condensed"/>
                  <a:ea typeface="Fira Sans Condensed"/>
                  <a:cs typeface="Fira Sans Condensed"/>
                  <a:sym typeface="Fira Sans Condensed"/>
                </a:rPr>
                <a:t>glucemia y función renal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49" name="Forma 50"/>
            <p:cNvSpPr/>
            <p:nvPr/>
          </p:nvSpPr>
          <p:spPr>
            <a:xfrm>
              <a:off x="685800" y="5074920"/>
              <a:ext cx="135465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USO CLÍNICO</a:t>
              </a:r>
              <a:endParaRPr lang="es-AR" sz="1400" dirty="0">
                <a:latin typeface="Fira Sans Condensed"/>
              </a:endParaRPr>
            </a:p>
          </p:txBody>
        </p:sp>
      </p:grpSp>
      <p:sp>
        <p:nvSpPr>
          <p:cNvPr id="50" name="Flecha 51_2"/>
          <p:cNvSpPr/>
          <p:nvPr/>
        </p:nvSpPr>
        <p:spPr>
          <a:xfrm>
            <a:off x="5120640" y="2011680"/>
            <a:ext cx="9144" cy="548640"/>
          </a:xfrm>
          <a:custGeom>
            <a:avLst/>
            <a:gdLst/>
            <a:ahLst/>
            <a:cxnLst/>
            <a:rect l="0" t="0" r="r" b="b"/>
            <a:pathLst>
              <a:path w="10" h="599" fill="none">
                <a:moveTo>
                  <a:pt x="0" y="0"/>
                </a:moveTo>
                <a:lnTo>
                  <a:pt x="0" y="599"/>
                </a:lnTo>
              </a:path>
            </a:pathLst>
          </a:custGeom>
          <a:noFill/>
          <a:ln w="31750" cap="rnd">
            <a:solidFill>
              <a:srgbClr val="1E1E1E"/>
            </a:solidFill>
            <a:round/>
            <a:tailEnd type="triangle" w="med" len="med"/>
          </a:ln>
        </p:spPr>
      </p:sp>
      <p:sp>
        <p:nvSpPr>
          <p:cNvPr id="51" name="Flecha 53_2"/>
          <p:cNvSpPr/>
          <p:nvPr/>
        </p:nvSpPr>
        <p:spPr>
          <a:xfrm>
            <a:off x="3931920" y="3154680"/>
            <a:ext cx="9144" cy="594360"/>
          </a:xfrm>
          <a:custGeom>
            <a:avLst/>
            <a:gdLst/>
            <a:ahLst/>
            <a:cxnLst/>
            <a:rect l="0" t="0" r="r" b="b"/>
            <a:pathLst>
              <a:path w="10" h="649" fill="none">
                <a:moveTo>
                  <a:pt x="0" y="0"/>
                </a:moveTo>
                <a:lnTo>
                  <a:pt x="0" y="649"/>
                </a:lnTo>
              </a:path>
            </a:pathLst>
          </a:custGeom>
          <a:noFill/>
          <a:ln w="31750" cap="rnd">
            <a:solidFill>
              <a:srgbClr val="1E1E1E"/>
            </a:solidFill>
            <a:round/>
            <a:tailEnd type="triangle" w="med" len="med"/>
          </a:ln>
        </p:spPr>
      </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BIOSÍNTESIS: PREPROINSULINA </a:t>
            </a:r>
            <a:r>
              <a:rPr lang="es-AR" sz="29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 INSULINA + PÉPTIDO C</a:t>
            </a:r>
            <a:endParaRPr lang="es-AR" sz="29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6" fill="hold">
                      <p:stCondLst>
                        <p:cond delay="indefinite"/>
                      </p:stCondLst>
                      <p:childTnLst>
                        <p:par>
                          <p:cTn id="11" fill="hold">
                            <p:stCondLst>
                              <p:cond delay="0"/>
                            </p:stCondLst>
                            <p:childTnLst>
                              <p:par>
                                <p:cTn id="8" presetID="22" presetClass="entr" presetSubtype="1" fill="hold" grpId="0" nodeType="click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wipe(up)">
                                      <p:cBhvr>
                                        <p:cTn id="10" dur="600"/>
                                        <p:tgtEl>
                                          <p:spTgt spid="50"/>
                                        </p:tgtEl>
                                      </p:cBhvr>
                                    </p:animEffect>
                                  </p:childTnLst>
                                </p:cTn>
                              </p:par>
                            </p:childTnLst>
                          </p:cTn>
                        </p:par>
                        <p:par>
                          <p:cTn id="15" fill="hold">
                            <p:stCondLst>
                              <p:cond delay="6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35" fill="hold">
                      <p:stCondLst>
                        <p:cond delay="indefinite"/>
                      </p:stCondLst>
                      <p:childTnLst>
                        <p:par>
                          <p:cTn id="20"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wipe(up)">
                                      <p:cBhvr>
                                        <p:cTn id="19" dur="600"/>
                                        <p:tgtEl>
                                          <p:spTgt spid="51"/>
                                        </p:tgtEl>
                                      </p:cBhvr>
                                    </p:animEffect>
                                  </p:childTnLst>
                                </p:cTn>
                              </p:par>
                            </p:childTnLst>
                          </p:cTn>
                        </p:par>
                        <p:par>
                          <p:cTn id="24" fill="hold">
                            <p:stCondLst>
                              <p:cond delay="6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par>
                          <p:cTn id="28" fill="hold">
                            <p:stCondLst>
                              <p:cond delay="110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par>
                          <p:cTn id="34" fill="hold">
                            <p:stCondLst>
                              <p:cond delay="1600"/>
                            </p:stCondLst>
                            <p:childTnLst>
                              <p:par>
                                <p:cTn id="29" presetID="53" presetClass="entr" presetSubtype="16"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p:cTn id="31" dur="500" fill="hold"/>
                                        <p:tgtEl>
                                          <p:spTgt spid="28"/>
                                        </p:tgtEl>
                                        <p:attrNameLst>
                                          <p:attrName>ppt_w</p:attrName>
                                        </p:attrNameLst>
                                      </p:cBhvr>
                                      <p:tavLst>
                                        <p:tav tm="0">
                                          <p:val>
                                            <p:fltVal val="0"/>
                                          </p:val>
                                        </p:tav>
                                        <p:tav tm="100000">
                                          <p:val>
                                            <p:strVal val="#ppt_w"/>
                                          </p:val>
                                        </p:tav>
                                      </p:tavLst>
                                    </p:anim>
                                    <p:anim calcmode="lin" valueType="num">
                                      <p:cBhvr>
                                        <p:cTn id="32" dur="500" fill="hold"/>
                                        <p:tgtEl>
                                          <p:spTgt spid="28"/>
                                        </p:tgtEl>
                                        <p:attrNameLst>
                                          <p:attrName>ppt_h</p:attrName>
                                        </p:attrNameLst>
                                      </p:cBhvr>
                                      <p:tavLst>
                                        <p:tav tm="0">
                                          <p:val>
                                            <p:fltVal val="0"/>
                                          </p:val>
                                        </p:tav>
                                        <p:tav tm="100000">
                                          <p:val>
                                            <p:strVal val="#ppt_h"/>
                                          </p:val>
                                        </p:tav>
                                      </p:tavLst>
                                    </p:anim>
                                    <p:animEffect transition="in" filter="fade">
                                      <p:cBhvr>
                                        <p:cTn id="33" dur="500"/>
                                        <p:tgtEl>
                                          <p:spTgt spid="28"/>
                                        </p:tgtEl>
                                      </p:cBhvr>
                                    </p:animEffect>
                                  </p:childTnLst>
                                </p:cTn>
                              </p:par>
                            </p:childTnLst>
                          </p:cTn>
                        </p:par>
                      </p:childTnLst>
                    </p:cTn>
                  </p:par>
                  <p:par>
                    <p:cTn id="40" fill="hold">
                      <p:stCondLst>
                        <p:cond delay="indefinite"/>
                      </p:stCondLst>
                      <p:childTnLst>
                        <p:par>
                          <p:cTn id="39"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45" fill="hold">
                      <p:stCondLst>
                        <p:cond delay="indefinite"/>
                      </p:stCondLst>
                      <p:childTnLst>
                        <p:par>
                          <p:cTn id="4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28"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Modelo insulina grande"/>
          <p:cNvGrpSpPr/>
          <p:nvPr/>
        </p:nvGrpSpPr>
        <p:grpSpPr>
          <a:xfrm>
            <a:off x="548640" y="1530706"/>
            <a:ext cx="6112215" cy="2790749"/>
            <a:chOff x="548640" y="1530706"/>
            <a:chExt cx="6112215" cy="2790749"/>
          </a:xfrm>
        </p:grpSpPr>
        <p:sp>
          <p:nvSpPr>
            <p:cNvPr id="8" name="Flecha 7_2"/>
            <p:cNvSpPr/>
            <p:nvPr/>
          </p:nvSpPr>
          <p:spPr>
            <a:xfrm>
              <a:off x="1170432" y="1934870"/>
              <a:ext cx="3419856" cy="1119226"/>
            </a:xfrm>
            <a:custGeom>
              <a:avLst/>
              <a:gdLst/>
              <a:ahLst/>
              <a:cxnLst/>
              <a:rect l="0" t="0" r="r" b="b"/>
              <a:pathLst>
                <a:path w="3739" h="1223" fill="none">
                  <a:moveTo>
                    <a:pt x="0" y="0"/>
                  </a:moveTo>
                  <a:lnTo>
                    <a:pt x="238" y="169"/>
                  </a:lnTo>
                  <a:lnTo>
                    <a:pt x="476" y="339"/>
                  </a:lnTo>
                  <a:lnTo>
                    <a:pt x="680" y="544"/>
                  </a:lnTo>
                  <a:lnTo>
                    <a:pt x="850" y="781"/>
                  </a:lnTo>
                  <a:lnTo>
                    <a:pt x="1156" y="781"/>
                  </a:lnTo>
                  <a:lnTo>
                    <a:pt x="986" y="1190"/>
                  </a:lnTo>
                  <a:lnTo>
                    <a:pt x="1326" y="1223"/>
                  </a:lnTo>
                  <a:lnTo>
                    <a:pt x="1598" y="1087"/>
                  </a:lnTo>
                  <a:lnTo>
                    <a:pt x="1734" y="815"/>
                  </a:lnTo>
                  <a:lnTo>
                    <a:pt x="1462" y="611"/>
                  </a:lnTo>
                  <a:lnTo>
                    <a:pt x="1700" y="374"/>
                  </a:lnTo>
                  <a:lnTo>
                    <a:pt x="1972" y="238"/>
                  </a:lnTo>
                  <a:lnTo>
                    <a:pt x="2244" y="339"/>
                  </a:lnTo>
                  <a:lnTo>
                    <a:pt x="2482" y="509"/>
                  </a:lnTo>
                  <a:lnTo>
                    <a:pt x="2686" y="714"/>
                  </a:lnTo>
                  <a:lnTo>
                    <a:pt x="2890" y="883"/>
                  </a:lnTo>
                  <a:lnTo>
                    <a:pt x="3060" y="1087"/>
                  </a:lnTo>
                  <a:lnTo>
                    <a:pt x="3264" y="985"/>
                  </a:lnTo>
                  <a:lnTo>
                    <a:pt x="3467" y="1223"/>
                  </a:lnTo>
                  <a:lnTo>
                    <a:pt x="3739" y="1122"/>
                  </a:lnTo>
                </a:path>
              </a:pathLst>
            </a:custGeom>
            <a:noFill/>
            <a:ln w="34544" cap="rnd">
              <a:solidFill>
                <a:srgbClr val="7F8C8D"/>
              </a:solidFill>
              <a:round/>
            </a:ln>
          </p:spPr>
        </p:sp>
        <p:sp>
          <p:nvSpPr>
            <p:cNvPr id="9" name="Flecha 9_2"/>
            <p:cNvSpPr/>
            <p:nvPr/>
          </p:nvSpPr>
          <p:spPr>
            <a:xfrm>
              <a:off x="921715" y="3576851"/>
              <a:ext cx="5589910" cy="197589"/>
            </a:xfrm>
            <a:custGeom>
              <a:avLst/>
              <a:gdLst/>
              <a:ahLst/>
              <a:cxnLst/>
              <a:rect l="0" t="0" r="r" b="b"/>
              <a:pathLst>
                <a:path w="6113" h="216" fill="none">
                  <a:moveTo>
                    <a:pt x="0" y="108"/>
                  </a:moveTo>
                  <a:lnTo>
                    <a:pt x="210" y="108"/>
                  </a:lnTo>
                  <a:lnTo>
                    <a:pt x="421" y="108"/>
                  </a:lnTo>
                  <a:lnTo>
                    <a:pt x="632" y="108"/>
                  </a:lnTo>
                  <a:lnTo>
                    <a:pt x="843" y="108"/>
                  </a:lnTo>
                  <a:lnTo>
                    <a:pt x="1053" y="108"/>
                  </a:lnTo>
                  <a:lnTo>
                    <a:pt x="1264" y="108"/>
                  </a:lnTo>
                  <a:lnTo>
                    <a:pt x="1475" y="108"/>
                  </a:lnTo>
                  <a:lnTo>
                    <a:pt x="1686" y="216"/>
                  </a:lnTo>
                  <a:lnTo>
                    <a:pt x="1897" y="103"/>
                  </a:lnTo>
                  <a:lnTo>
                    <a:pt x="2108" y="2"/>
                  </a:lnTo>
                  <a:lnTo>
                    <a:pt x="2318" y="150"/>
                  </a:lnTo>
                  <a:lnTo>
                    <a:pt x="2529" y="199"/>
                  </a:lnTo>
                  <a:lnTo>
                    <a:pt x="2740" y="33"/>
                  </a:lnTo>
                  <a:lnTo>
                    <a:pt x="2951" y="43"/>
                  </a:lnTo>
                  <a:lnTo>
                    <a:pt x="3162" y="206"/>
                  </a:lnTo>
                  <a:lnTo>
                    <a:pt x="3372" y="137"/>
                  </a:lnTo>
                  <a:lnTo>
                    <a:pt x="3583" y="0"/>
                  </a:lnTo>
                  <a:lnTo>
                    <a:pt x="3794" y="117"/>
                  </a:lnTo>
                  <a:lnTo>
                    <a:pt x="4005" y="108"/>
                  </a:lnTo>
                  <a:lnTo>
                    <a:pt x="4215" y="108"/>
                  </a:lnTo>
                  <a:lnTo>
                    <a:pt x="4426" y="108"/>
                  </a:lnTo>
                  <a:lnTo>
                    <a:pt x="4637" y="108"/>
                  </a:lnTo>
                  <a:lnTo>
                    <a:pt x="4848" y="108"/>
                  </a:lnTo>
                  <a:lnTo>
                    <a:pt x="5059" y="108"/>
                  </a:lnTo>
                  <a:lnTo>
                    <a:pt x="5269" y="108"/>
                  </a:lnTo>
                  <a:lnTo>
                    <a:pt x="5480" y="108"/>
                  </a:lnTo>
                  <a:lnTo>
                    <a:pt x="5691" y="108"/>
                  </a:lnTo>
                  <a:lnTo>
                    <a:pt x="5902" y="108"/>
                  </a:lnTo>
                  <a:lnTo>
                    <a:pt x="6113" y="108"/>
                  </a:lnTo>
                </a:path>
              </a:pathLst>
            </a:custGeom>
            <a:noFill/>
            <a:ln w="34544" cap="rnd">
              <a:solidFill>
                <a:srgbClr val="7F8C8D"/>
              </a:solidFill>
              <a:round/>
            </a:ln>
          </p:spPr>
        </p:sp>
        <p:sp>
          <p:nvSpPr>
            <p:cNvPr id="10" name="Flecha 11_2"/>
            <p:cNvSpPr/>
            <p:nvPr/>
          </p:nvSpPr>
          <p:spPr>
            <a:xfrm>
              <a:off x="2227478" y="2494483"/>
              <a:ext cx="279806" cy="155448"/>
            </a:xfrm>
            <a:custGeom>
              <a:avLst/>
              <a:gdLst/>
              <a:ahLst/>
              <a:cxnLst/>
              <a:rect l="0" t="0" r="r" b="b"/>
              <a:pathLst>
                <a:path w="306" h="169" fill="none">
                  <a:moveTo>
                    <a:pt x="0" y="169"/>
                  </a:moveTo>
                  <a:lnTo>
                    <a:pt x="306" y="0"/>
                  </a:lnTo>
                </a:path>
              </a:pathLst>
            </a:custGeom>
            <a:noFill/>
            <a:ln w="60452" cap="rnd">
              <a:solidFill>
                <a:srgbClr val="D4AC0D"/>
              </a:solidFill>
              <a:prstDash val="sysDash"/>
              <a:round/>
            </a:ln>
          </p:spPr>
        </p:sp>
        <p:sp>
          <p:nvSpPr>
            <p:cNvPr id="11" name="Flecha 13_2"/>
            <p:cNvSpPr/>
            <p:nvPr/>
          </p:nvSpPr>
          <p:spPr>
            <a:xfrm>
              <a:off x="2072030" y="3023006"/>
              <a:ext cx="9144" cy="652882"/>
            </a:xfrm>
            <a:custGeom>
              <a:avLst/>
              <a:gdLst/>
              <a:ahLst/>
              <a:cxnLst/>
              <a:rect l="0" t="0" r="r" b="b"/>
              <a:pathLst>
                <a:path w="10" h="713" fill="none">
                  <a:moveTo>
                    <a:pt x="0" y="0"/>
                  </a:moveTo>
                  <a:lnTo>
                    <a:pt x="6" y="713"/>
                  </a:lnTo>
                </a:path>
              </a:pathLst>
            </a:custGeom>
            <a:noFill/>
            <a:ln w="60452" cap="rnd">
              <a:solidFill>
                <a:srgbClr val="D4AC0D"/>
              </a:solidFill>
              <a:prstDash val="sysDash"/>
              <a:round/>
            </a:ln>
          </p:spPr>
        </p:sp>
        <p:sp>
          <p:nvSpPr>
            <p:cNvPr id="12" name="Flecha 15_2"/>
            <p:cNvSpPr/>
            <p:nvPr/>
          </p:nvSpPr>
          <p:spPr>
            <a:xfrm>
              <a:off x="4341571" y="3054096"/>
              <a:ext cx="49743" cy="630146"/>
            </a:xfrm>
            <a:custGeom>
              <a:avLst/>
              <a:gdLst/>
              <a:ahLst/>
              <a:cxnLst/>
              <a:rect l="0" t="0" r="r" b="b"/>
              <a:pathLst>
                <a:path w="54" h="689" fill="none">
                  <a:moveTo>
                    <a:pt x="0" y="0"/>
                  </a:moveTo>
                  <a:lnTo>
                    <a:pt x="54" y="689"/>
                  </a:lnTo>
                </a:path>
              </a:pathLst>
            </a:custGeom>
            <a:noFill/>
            <a:ln w="60452" cap="rnd">
              <a:solidFill>
                <a:srgbClr val="D4AC0D"/>
              </a:solidFill>
              <a:prstDash val="sysDash"/>
              <a:round/>
            </a:ln>
          </p:spPr>
        </p:sp>
        <p:sp>
          <p:nvSpPr>
            <p:cNvPr id="13" name="Residuo A1"/>
            <p:cNvSpPr/>
            <p:nvPr/>
          </p:nvSpPr>
          <p:spPr>
            <a:xfrm>
              <a:off x="1021202" y="1785640"/>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14" name="Residuo A2"/>
            <p:cNvSpPr/>
            <p:nvPr/>
          </p:nvSpPr>
          <p:spPr>
            <a:xfrm>
              <a:off x="1238829" y="1941088"/>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15" name="Residuo A3"/>
            <p:cNvSpPr/>
            <p:nvPr/>
          </p:nvSpPr>
          <p:spPr>
            <a:xfrm>
              <a:off x="1456456" y="2096536"/>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16" name="Residuo A4"/>
            <p:cNvSpPr/>
            <p:nvPr/>
          </p:nvSpPr>
          <p:spPr>
            <a:xfrm>
              <a:off x="1642994" y="2283074"/>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17" name="Residuo A5"/>
            <p:cNvSpPr/>
            <p:nvPr/>
          </p:nvSpPr>
          <p:spPr>
            <a:xfrm>
              <a:off x="1798442" y="2500701"/>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18" name="Residuo A6"/>
            <p:cNvSpPr/>
            <p:nvPr/>
          </p:nvSpPr>
          <p:spPr>
            <a:xfrm>
              <a:off x="2078248" y="2500701"/>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19" name="Residuo A7"/>
            <p:cNvSpPr/>
            <p:nvPr/>
          </p:nvSpPr>
          <p:spPr>
            <a:xfrm>
              <a:off x="1922800" y="2873776"/>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20" name="Residuo A8"/>
            <p:cNvSpPr/>
            <p:nvPr/>
          </p:nvSpPr>
          <p:spPr>
            <a:xfrm>
              <a:off x="2233696" y="2904866"/>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1" name="Residuo A9"/>
            <p:cNvSpPr/>
            <p:nvPr/>
          </p:nvSpPr>
          <p:spPr>
            <a:xfrm>
              <a:off x="2482413" y="2780508"/>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2" name="Residuo A10"/>
            <p:cNvSpPr/>
            <p:nvPr/>
          </p:nvSpPr>
          <p:spPr>
            <a:xfrm>
              <a:off x="2606772" y="2531791"/>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3" name="Residuo A11"/>
            <p:cNvSpPr/>
            <p:nvPr/>
          </p:nvSpPr>
          <p:spPr>
            <a:xfrm>
              <a:off x="2358055" y="2345253"/>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24" name="Residuo A12"/>
            <p:cNvSpPr/>
            <p:nvPr/>
          </p:nvSpPr>
          <p:spPr>
            <a:xfrm>
              <a:off x="2575682" y="2127626"/>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5" name="Residuo A13"/>
            <p:cNvSpPr/>
            <p:nvPr/>
          </p:nvSpPr>
          <p:spPr>
            <a:xfrm>
              <a:off x="2824399" y="2003268"/>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6" name="Residuo A14"/>
            <p:cNvSpPr/>
            <p:nvPr/>
          </p:nvSpPr>
          <p:spPr>
            <a:xfrm>
              <a:off x="3073116" y="2096536"/>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7" name="Residuo A15"/>
            <p:cNvSpPr/>
            <p:nvPr/>
          </p:nvSpPr>
          <p:spPr>
            <a:xfrm>
              <a:off x="3290743" y="2251984"/>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8" name="Residuo A16"/>
            <p:cNvSpPr/>
            <p:nvPr/>
          </p:nvSpPr>
          <p:spPr>
            <a:xfrm>
              <a:off x="3477280" y="2438522"/>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29" name="Residuo A17"/>
            <p:cNvSpPr/>
            <p:nvPr/>
          </p:nvSpPr>
          <p:spPr>
            <a:xfrm>
              <a:off x="3663818" y="2593970"/>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30" name="Residuo A18"/>
            <p:cNvSpPr/>
            <p:nvPr/>
          </p:nvSpPr>
          <p:spPr>
            <a:xfrm>
              <a:off x="3819266" y="2780508"/>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31" name="Residuo A19"/>
            <p:cNvSpPr/>
            <p:nvPr/>
          </p:nvSpPr>
          <p:spPr>
            <a:xfrm>
              <a:off x="4005804" y="2687239"/>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32" name="Residuo A20"/>
            <p:cNvSpPr/>
            <p:nvPr/>
          </p:nvSpPr>
          <p:spPr>
            <a:xfrm>
              <a:off x="4192341" y="2904866"/>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33" name="Residuo A21"/>
            <p:cNvSpPr/>
            <p:nvPr/>
          </p:nvSpPr>
          <p:spPr>
            <a:xfrm>
              <a:off x="4441058" y="2811597"/>
              <a:ext cx="298460" cy="298460"/>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34" name="Residuo B1"/>
            <p:cNvSpPr/>
            <p:nvPr/>
          </p:nvSpPr>
          <p:spPr>
            <a:xfrm>
              <a:off x="772485"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35" name="Residuo B2"/>
            <p:cNvSpPr/>
            <p:nvPr/>
          </p:nvSpPr>
          <p:spPr>
            <a:xfrm>
              <a:off x="965241"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36" name="Residuo B3"/>
            <p:cNvSpPr/>
            <p:nvPr/>
          </p:nvSpPr>
          <p:spPr>
            <a:xfrm>
              <a:off x="1157996"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37" name="Residuo B4"/>
            <p:cNvSpPr/>
            <p:nvPr/>
          </p:nvSpPr>
          <p:spPr>
            <a:xfrm>
              <a:off x="1350752"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38" name="Residuo B5"/>
            <p:cNvSpPr/>
            <p:nvPr/>
          </p:nvSpPr>
          <p:spPr>
            <a:xfrm>
              <a:off x="1543507"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39" name="Residuo B6"/>
            <p:cNvSpPr/>
            <p:nvPr/>
          </p:nvSpPr>
          <p:spPr>
            <a:xfrm>
              <a:off x="1736263"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0" name="Residuo B7"/>
            <p:cNvSpPr/>
            <p:nvPr/>
          </p:nvSpPr>
          <p:spPr>
            <a:xfrm>
              <a:off x="1929018" y="3526658"/>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41" name="Residuo B8"/>
            <p:cNvSpPr/>
            <p:nvPr/>
          </p:nvSpPr>
          <p:spPr>
            <a:xfrm>
              <a:off x="2121774"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2" name="Residuo B9"/>
            <p:cNvSpPr/>
            <p:nvPr/>
          </p:nvSpPr>
          <p:spPr>
            <a:xfrm>
              <a:off x="2314529" y="3625210"/>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3" name="Residuo B10"/>
            <p:cNvSpPr/>
            <p:nvPr/>
          </p:nvSpPr>
          <p:spPr>
            <a:xfrm>
              <a:off x="2507285" y="3522477"/>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4" name="Residuo B11"/>
            <p:cNvSpPr/>
            <p:nvPr/>
          </p:nvSpPr>
          <p:spPr>
            <a:xfrm>
              <a:off x="2700040" y="3429596"/>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5" name="Residuo B12"/>
            <p:cNvSpPr/>
            <p:nvPr/>
          </p:nvSpPr>
          <p:spPr>
            <a:xfrm>
              <a:off x="2892796" y="3565441"/>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6" name="Residuo B13"/>
            <p:cNvSpPr/>
            <p:nvPr/>
          </p:nvSpPr>
          <p:spPr>
            <a:xfrm>
              <a:off x="3085551" y="3609894"/>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7" name="Residuo B14"/>
            <p:cNvSpPr/>
            <p:nvPr/>
          </p:nvSpPr>
          <p:spPr>
            <a:xfrm>
              <a:off x="3278307" y="3458202"/>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8" name="Residuo B15"/>
            <p:cNvSpPr/>
            <p:nvPr/>
          </p:nvSpPr>
          <p:spPr>
            <a:xfrm>
              <a:off x="3471062" y="3467826"/>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49" name="Residuo B16"/>
            <p:cNvSpPr/>
            <p:nvPr/>
          </p:nvSpPr>
          <p:spPr>
            <a:xfrm>
              <a:off x="3663818" y="3616087"/>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0" name="Residuo B17"/>
            <p:cNvSpPr/>
            <p:nvPr/>
          </p:nvSpPr>
          <p:spPr>
            <a:xfrm>
              <a:off x="3856573" y="3553609"/>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1" name="Residuo B18"/>
            <p:cNvSpPr/>
            <p:nvPr/>
          </p:nvSpPr>
          <p:spPr>
            <a:xfrm>
              <a:off x="4049329" y="3427621"/>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2" name="Residuo B19"/>
            <p:cNvSpPr/>
            <p:nvPr/>
          </p:nvSpPr>
          <p:spPr>
            <a:xfrm>
              <a:off x="4242084" y="3535012"/>
              <a:ext cx="298460" cy="298460"/>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53" name="Residuo B20"/>
            <p:cNvSpPr/>
            <p:nvPr/>
          </p:nvSpPr>
          <p:spPr>
            <a:xfrm>
              <a:off x="4434840"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4" name="Residuo B21"/>
            <p:cNvSpPr/>
            <p:nvPr/>
          </p:nvSpPr>
          <p:spPr>
            <a:xfrm>
              <a:off x="4627596"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5" name="Residuo B22"/>
            <p:cNvSpPr/>
            <p:nvPr/>
          </p:nvSpPr>
          <p:spPr>
            <a:xfrm>
              <a:off x="4820351"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6" name="Residuo B23"/>
            <p:cNvSpPr/>
            <p:nvPr/>
          </p:nvSpPr>
          <p:spPr>
            <a:xfrm>
              <a:off x="5013107"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7" name="Residuo B24"/>
            <p:cNvSpPr/>
            <p:nvPr/>
          </p:nvSpPr>
          <p:spPr>
            <a:xfrm>
              <a:off x="5205862"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8" name="Residuo B25"/>
            <p:cNvSpPr/>
            <p:nvPr/>
          </p:nvSpPr>
          <p:spPr>
            <a:xfrm>
              <a:off x="5398618"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59" name="Residuo B26"/>
            <p:cNvSpPr/>
            <p:nvPr/>
          </p:nvSpPr>
          <p:spPr>
            <a:xfrm>
              <a:off x="5591373"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60" name="Residuo B27"/>
            <p:cNvSpPr/>
            <p:nvPr/>
          </p:nvSpPr>
          <p:spPr>
            <a:xfrm>
              <a:off x="5784129"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61" name="Residuo B28"/>
            <p:cNvSpPr/>
            <p:nvPr/>
          </p:nvSpPr>
          <p:spPr>
            <a:xfrm>
              <a:off x="5976884"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62" name="Residuo B29"/>
            <p:cNvSpPr/>
            <p:nvPr/>
          </p:nvSpPr>
          <p:spPr>
            <a:xfrm>
              <a:off x="6169640"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63" name="Residuo B30"/>
            <p:cNvSpPr/>
            <p:nvPr/>
          </p:nvSpPr>
          <p:spPr>
            <a:xfrm>
              <a:off x="6362395" y="3526658"/>
              <a:ext cx="298460" cy="298460"/>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64" name="Forma 68"/>
            <p:cNvSpPr txBox="1"/>
            <p:nvPr/>
          </p:nvSpPr>
          <p:spPr>
            <a:xfrm>
              <a:off x="1419149" y="1530706"/>
              <a:ext cx="2238451" cy="365760"/>
            </a:xfrm>
            <a:prstGeom prst="rect">
              <a:avLst/>
            </a:prstGeom>
            <a:noFill/>
            <a:ln>
              <a:noFill/>
            </a:ln>
          </p:spPr>
          <p:txBody>
            <a:bodyPr wrap="square" lIns="0" tIns="0" rIns="0" bIns="0" anchor="t" rtlCol="0">
              <a:noAutofit/>
            </a:bodyPr>
            <a:lstStyle/>
            <a:p>
              <a:pPr algn="l">
                <a:spcAft>
                  <a:spcPts val="300"/>
                </a:spcAft>
                <a:buNone/>
              </a:pPr>
              <a:r>
                <a:rPr lang="es-AR" sz="1200" b="1" dirty="0">
                  <a:solidFill>
                    <a:srgbClr val="C0392B"/>
                  </a:solidFill>
                  <a:latin typeface="Fira Sans Condensed"/>
                  <a:ea typeface="Fira Sans Condensed"/>
                  <a:cs typeface="Fira Sans Condensed"/>
                  <a:sym typeface="Fira Sans Condensed"/>
                </a:rPr>
                <a:t>CADENA A (21 aa)</a:t>
              </a:r>
              <a:endParaRPr lang="es-AR" sz="1200" dirty="0">
                <a:latin typeface="Fira Sans Condensed"/>
              </a:endParaRPr>
            </a:p>
          </p:txBody>
        </p:sp>
        <p:sp>
          <p:nvSpPr>
            <p:cNvPr id="65" name="Forma 69"/>
            <p:cNvSpPr txBox="1"/>
            <p:nvPr/>
          </p:nvSpPr>
          <p:spPr>
            <a:xfrm>
              <a:off x="548640" y="3955694"/>
              <a:ext cx="2238451" cy="365760"/>
            </a:xfrm>
            <a:prstGeom prst="rect">
              <a:avLst/>
            </a:prstGeom>
            <a:noFill/>
            <a:ln>
              <a:noFill/>
            </a:ln>
          </p:spPr>
          <p:txBody>
            <a:bodyPr wrap="square" lIns="0" tIns="0" rIns="0" bIns="0" anchor="t" rtlCol="0">
              <a:noAutofit/>
            </a:bodyPr>
            <a:lstStyle/>
            <a:p>
              <a:pPr algn="l">
                <a:spcAft>
                  <a:spcPts val="300"/>
                </a:spcAft>
                <a:buNone/>
              </a:pPr>
              <a:r>
                <a:rPr lang="es-AR" sz="1200" b="1" dirty="0">
                  <a:solidFill>
                    <a:srgbClr val="1F618D"/>
                  </a:solidFill>
                  <a:latin typeface="Fira Sans Condensed"/>
                  <a:ea typeface="Fira Sans Condensed"/>
                  <a:cs typeface="Fira Sans Condensed"/>
                  <a:sym typeface="Fira Sans Condensed"/>
                </a:rPr>
                <a:t>CADENA B (30 aa)</a:t>
              </a:r>
              <a:endParaRPr lang="es-AR" sz="1200" dirty="0">
                <a:latin typeface="Fira Sans Condensed"/>
              </a:endParaRPr>
            </a:p>
          </p:txBody>
        </p:sp>
      </p:grpSp>
      <p:grpSp>
        <p:nvGrpSpPr>
          <p:cNvPr id="66" name="Leyenda"/>
          <p:cNvGrpSpPr/>
          <p:nvPr/>
        </p:nvGrpSpPr>
        <p:grpSpPr>
          <a:xfrm>
            <a:off x="7223760" y="1325880"/>
            <a:ext cx="4434840" cy="1389888"/>
            <a:chOff x="7223760" y="1325880"/>
            <a:chExt cx="4434840" cy="1389888"/>
          </a:xfrm>
        </p:grpSpPr>
        <p:sp>
          <p:nvSpPr>
            <p:cNvPr id="67" name="Esfera"/>
            <p:cNvSpPr/>
            <p:nvPr/>
          </p:nvSpPr>
          <p:spPr>
            <a:xfrm>
              <a:off x="7223760" y="1325880"/>
              <a:ext cx="384048" cy="384048"/>
            </a:xfrm>
            <a:prstGeom prst="ellipse">
              <a:avLst/>
            </a:prstGeom>
            <a:gradFill rotWithShape="1">
              <a:gsLst>
                <a:gs pos="0">
                  <a:srgbClr val="FFFFFF"/>
                </a:gs>
                <a:gs pos="30000">
                  <a:srgbClr val="E74C3C"/>
                </a:gs>
                <a:gs pos="100000">
                  <a:srgbClr val="73261E"/>
                </a:gs>
              </a:gsLst>
              <a:path path="circle">
                <a:fillToRect l="30000" t="25000" r="70000" b="75000"/>
              </a:path>
            </a:gradFill>
            <a:ln>
              <a:noFill/>
            </a:ln>
          </p:spPr>
        </p:sp>
        <p:sp>
          <p:nvSpPr>
            <p:cNvPr id="68" name="Forma 72"/>
            <p:cNvSpPr txBox="1"/>
            <p:nvPr/>
          </p:nvSpPr>
          <p:spPr>
            <a:xfrm>
              <a:off x="7726680" y="1325880"/>
              <a:ext cx="3931920" cy="384048"/>
            </a:xfrm>
            <a:prstGeom prst="rect">
              <a:avLst/>
            </a:prstGeom>
            <a:noFill/>
            <a:ln>
              <a:noFill/>
            </a:ln>
          </p:spPr>
          <p:txBody>
            <a:bodyPr wrap="square" lIns="0" tIns="0" rIns="0" bIns="0"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Residuo de la cadena </a:t>
              </a:r>
              <a:r>
                <a:rPr lang="es-AR" sz="1500" b="1" dirty="0">
                  <a:solidFill>
                    <a:srgbClr val="1E1E1E"/>
                  </a:solidFill>
                  <a:latin typeface="Fira Sans Condensed"/>
                  <a:ea typeface="Fira Sans Condensed"/>
                  <a:cs typeface="Fira Sans Condensed"/>
                  <a:sym typeface="Fira Sans Condensed"/>
                </a:rPr>
                <a:t>A</a:t>
              </a:r>
              <a:endParaRPr lang="es-AR" sz="1500" dirty="0">
                <a:latin typeface="Fira Sans Condensed"/>
              </a:endParaRPr>
            </a:p>
          </p:txBody>
        </p:sp>
        <p:sp>
          <p:nvSpPr>
            <p:cNvPr id="69" name="Esfera_2"/>
            <p:cNvSpPr/>
            <p:nvPr/>
          </p:nvSpPr>
          <p:spPr>
            <a:xfrm>
              <a:off x="7223760" y="1828800"/>
              <a:ext cx="384048" cy="384048"/>
            </a:xfrm>
            <a:prstGeom prst="ellipse">
              <a:avLst/>
            </a:prstGeom>
            <a:gradFill rotWithShape="1">
              <a:gsLst>
                <a:gs pos="0">
                  <a:srgbClr val="FFFFFF"/>
                </a:gs>
                <a:gs pos="30000">
                  <a:srgbClr val="2E86C1"/>
                </a:gs>
                <a:gs pos="100000">
                  <a:srgbClr val="174360"/>
                </a:gs>
              </a:gsLst>
              <a:path path="circle">
                <a:fillToRect l="30000" t="25000" r="70000" b="75000"/>
              </a:path>
            </a:gradFill>
            <a:ln>
              <a:noFill/>
            </a:ln>
          </p:spPr>
        </p:sp>
        <p:sp>
          <p:nvSpPr>
            <p:cNvPr id="70" name="Forma 74"/>
            <p:cNvSpPr txBox="1"/>
            <p:nvPr/>
          </p:nvSpPr>
          <p:spPr>
            <a:xfrm>
              <a:off x="7726680" y="1828800"/>
              <a:ext cx="3931920" cy="384048"/>
            </a:xfrm>
            <a:prstGeom prst="rect">
              <a:avLst/>
            </a:prstGeom>
            <a:noFill/>
            <a:ln>
              <a:noFill/>
            </a:ln>
          </p:spPr>
          <p:txBody>
            <a:bodyPr wrap="square" lIns="0" tIns="0" rIns="0" bIns="0"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Residuo de la cadena </a:t>
              </a:r>
              <a:r>
                <a:rPr lang="es-AR" sz="1500" b="1" dirty="0">
                  <a:solidFill>
                    <a:srgbClr val="1E1E1E"/>
                  </a:solidFill>
                  <a:latin typeface="Fira Sans Condensed"/>
                  <a:ea typeface="Fira Sans Condensed"/>
                  <a:cs typeface="Fira Sans Condensed"/>
                  <a:sym typeface="Fira Sans Condensed"/>
                </a:rPr>
                <a:t>B</a:t>
              </a:r>
              <a:endParaRPr lang="es-AR" sz="1500" dirty="0">
                <a:latin typeface="Fira Sans Condensed"/>
              </a:endParaRPr>
            </a:p>
          </p:txBody>
        </p:sp>
        <p:sp>
          <p:nvSpPr>
            <p:cNvPr id="71" name="Esfera_3"/>
            <p:cNvSpPr/>
            <p:nvPr/>
          </p:nvSpPr>
          <p:spPr>
            <a:xfrm>
              <a:off x="7223760" y="2331720"/>
              <a:ext cx="384048" cy="384048"/>
            </a:xfrm>
            <a:prstGeom prst="ellipse">
              <a:avLst/>
            </a:prstGeom>
            <a:gradFill rotWithShape="1">
              <a:gsLst>
                <a:gs pos="0">
                  <a:srgbClr val="FFFFFF"/>
                </a:gs>
                <a:gs pos="30000">
                  <a:srgbClr val="F4D03F"/>
                </a:gs>
                <a:gs pos="100000">
                  <a:srgbClr val="7A681F"/>
                </a:gs>
              </a:gsLst>
              <a:path path="circle">
                <a:fillToRect l="30000" t="25000" r="70000" b="75000"/>
              </a:path>
            </a:gradFill>
            <a:ln>
              <a:noFill/>
            </a:ln>
          </p:spPr>
        </p:sp>
        <p:sp>
          <p:nvSpPr>
            <p:cNvPr id="72" name="Forma 76"/>
            <p:cNvSpPr txBox="1"/>
            <p:nvPr/>
          </p:nvSpPr>
          <p:spPr>
            <a:xfrm>
              <a:off x="7726680" y="2331720"/>
              <a:ext cx="3931920" cy="384048"/>
            </a:xfrm>
            <a:prstGeom prst="rect">
              <a:avLst/>
            </a:prstGeom>
            <a:noFill/>
            <a:ln>
              <a:noFill/>
            </a:ln>
          </p:spPr>
          <p:txBody>
            <a:bodyPr wrap="square" lIns="0" tIns="0" rIns="0" bIns="0"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Cisteína (puente disulfuro)</a:t>
              </a:r>
              <a:endParaRPr lang="es-AR" sz="1500" dirty="0">
                <a:latin typeface="Fira Sans Condensed"/>
              </a:endParaRPr>
            </a:p>
          </p:txBody>
        </p:sp>
      </p:grpSp>
      <p:grpSp>
        <p:nvGrpSpPr>
          <p:cNvPr id="73" name="Cuadro Estructura"/>
          <p:cNvGrpSpPr/>
          <p:nvPr/>
        </p:nvGrpSpPr>
        <p:grpSpPr>
          <a:xfrm>
            <a:off x="7132320" y="2971800"/>
            <a:ext cx="4663440" cy="3291840"/>
            <a:chOff x="7132320" y="2971800"/>
            <a:chExt cx="4663440" cy="3291840"/>
          </a:xfrm>
        </p:grpSpPr>
        <p:sp>
          <p:nvSpPr>
            <p:cNvPr id="74" name="Forma 78"/>
            <p:cNvSpPr/>
            <p:nvPr/>
          </p:nvSpPr>
          <p:spPr>
            <a:xfrm>
              <a:off x="7132320" y="3172968"/>
              <a:ext cx="4663440" cy="3090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2 puentes intercatenarios</a:t>
              </a:r>
              <a:r>
                <a:rPr lang="es-AR" sz="1500" dirty="0">
                  <a:solidFill>
                    <a:srgbClr val="1E1E1E"/>
                  </a:solidFill>
                  <a:latin typeface="Fira Sans Condensed"/>
                  <a:ea typeface="Fira Sans Condensed"/>
                  <a:cs typeface="Fira Sans Condensed"/>
                  <a:sym typeface="Fira Sans Condensed"/>
                </a:rPr>
                <a:t>: A7–B7 y A20–B19.</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1 puente intracatenario</a:t>
              </a:r>
              <a:r>
                <a:rPr lang="es-AR" sz="1500" dirty="0">
                  <a:solidFill>
                    <a:srgbClr val="1E1E1E"/>
                  </a:solidFill>
                  <a:latin typeface="Fira Sans Condensed"/>
                  <a:ea typeface="Fira Sans Condensed"/>
                  <a:cs typeface="Fira Sans Condensed"/>
                  <a:sym typeface="Fira Sans Condensed"/>
                </a:rPr>
                <a:t>: A6–A11.</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En los gránulos se almacena como </a:t>
              </a:r>
              <a:r>
                <a:rPr lang="es-AR" sz="1500" b="1" dirty="0">
                  <a:solidFill>
                    <a:srgbClr val="1E1E1E"/>
                  </a:solidFill>
                  <a:latin typeface="Fira Sans Condensed"/>
                  <a:ea typeface="Fira Sans Condensed"/>
                  <a:cs typeface="Fira Sans Condensed"/>
                  <a:sym typeface="Fira Sans Condensed"/>
                </a:rPr>
                <a:t>hexámeros con Zn²⁺</a:t>
              </a:r>
              <a:r>
                <a:rPr lang="es-AR" sz="1500" dirty="0">
                  <a:solidFill>
                    <a:srgbClr val="1E1E1E"/>
                  </a:solidFill>
                  <a:latin typeface="Fira Sans Condensed"/>
                  <a:ea typeface="Fira Sans Condensed"/>
                  <a:cs typeface="Fira Sans Condensed"/>
                  <a:sym typeface="Fira Sans Condensed"/>
                </a:rPr>
                <a:t>; circula y actúa como </a:t>
              </a:r>
              <a:r>
                <a:rPr lang="es-AR" sz="1500" b="1" dirty="0">
                  <a:solidFill>
                    <a:srgbClr val="1E1E1E"/>
                  </a:solidFill>
                  <a:latin typeface="Fira Sans Condensed"/>
                  <a:ea typeface="Fira Sans Condensed"/>
                  <a:cs typeface="Fira Sans Condensed"/>
                  <a:sym typeface="Fira Sans Condensed"/>
                </a:rPr>
                <a:t>monómero</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La unión al receptor induce un </a:t>
              </a:r>
              <a:r>
                <a:rPr lang="es-AR" sz="1500" b="1" dirty="0">
                  <a:solidFill>
                    <a:srgbClr val="1E1E1E"/>
                  </a:solidFill>
                  <a:latin typeface="Fira Sans Condensed"/>
                  <a:ea typeface="Fira Sans Condensed"/>
                  <a:cs typeface="Fira Sans Condensed"/>
                  <a:sym typeface="Fira Sans Condensed"/>
                </a:rPr>
                <a:t>cambio conformacional</a:t>
              </a:r>
              <a:r>
                <a:rPr lang="es-AR" sz="1500" dirty="0">
                  <a:solidFill>
                    <a:srgbClr val="1E1E1E"/>
                  </a:solidFill>
                  <a:latin typeface="Fira Sans Condensed"/>
                  <a:ea typeface="Fira Sans Condensed"/>
                  <a:cs typeface="Fira Sans Condensed"/>
                  <a:sym typeface="Fira Sans Condensed"/>
                </a:rPr>
                <a:t> de su ectodominio.</a:t>
              </a:r>
              <a:endParaRPr lang="es-AR" sz="1500" dirty="0">
                <a:latin typeface="Fira Sans Condensed"/>
              </a:endParaRPr>
            </a:p>
          </p:txBody>
        </p:sp>
        <p:sp>
          <p:nvSpPr>
            <p:cNvPr id="75" name="Forma 79"/>
            <p:cNvSpPr/>
            <p:nvPr/>
          </p:nvSpPr>
          <p:spPr>
            <a:xfrm>
              <a:off x="7269480" y="2971800"/>
              <a:ext cx="137177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ESTRUCTURA</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INSULINA: MODELO PROTEICO</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7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6"/>
                                        </p:tgtEl>
                                        <p:attrNameLst>
                                          <p:attrName>style.visibility</p:attrName>
                                        </p:attrNameLst>
                                      </p:cBhvr>
                                      <p:to>
                                        <p:strVal val="visible"/>
                                      </p:to>
                                    </p:set>
                                    <p:animEffect transition="in" filter="fade">
                                      <p:cBhvr>
                                        <p:cTn id="5" dur="500"/>
                                        <p:tgtEl>
                                          <p:spTgt spid="6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Organismo" descr="Ilustración biomédica (Servier Medical Art, CC BY)"/>
          <p:cNvPicPr>
            <a:picLocks noChangeAspect="1"/>
          </p:cNvPicPr>
          <p:nvPr/>
        </p:nvPicPr>
        <p:blipFill>
          <a:blip r:embed="rId2"/>
          <a:stretch>
            <a:fillRect/>
          </a:stretch>
        </p:blipFill>
        <p:spPr>
          <a:xfrm>
            <a:off x="1463040" y="960120"/>
            <a:ext cx="2259025" cy="5577840"/>
          </a:xfrm>
          <a:prstGeom prst="rect">
            <a:avLst/>
          </a:prstGeom>
        </p:spPr>
      </p:pic>
      <p:pic>
        <p:nvPicPr>
          <p:cNvPr id="8" name="!!Páncreas" descr="Ilustración biomédica (Servier Medical Art, CC BY)"/>
          <p:cNvPicPr>
            <a:picLocks noChangeAspect="1"/>
          </p:cNvPicPr>
          <p:nvPr/>
        </p:nvPicPr>
        <p:blipFill>
          <a:blip r:embed="rId3"/>
          <a:stretch>
            <a:fillRect/>
          </a:stretch>
        </p:blipFill>
        <p:spPr>
          <a:xfrm>
            <a:off x="2331720" y="3337560"/>
            <a:ext cx="777240" cy="322555"/>
          </a:xfrm>
          <a:prstGeom prst="rect">
            <a:avLst/>
          </a:prstGeom>
        </p:spPr>
      </p:pic>
      <p:sp>
        <p:nvSpPr>
          <p:cNvPr id="9" name="!!Lupa"/>
          <p:cNvSpPr/>
          <p:nvPr/>
        </p:nvSpPr>
        <p:spPr>
          <a:xfrm>
            <a:off x="2148840" y="3063240"/>
            <a:ext cx="1143000" cy="777240"/>
          </a:xfrm>
          <a:prstGeom prst="ellipse">
            <a:avLst/>
          </a:prstGeom>
          <a:noFill/>
          <a:ln w="38100" cap="rnd">
            <a:solidFill>
              <a:srgbClr val="C00000"/>
            </a:solidFill>
            <a:round/>
          </a:ln>
        </p:spPr>
      </p:sp>
      <p:grpSp>
        <p:nvGrpSpPr>
          <p:cNvPr id="10" name="!!Texto A"/>
          <p:cNvGrpSpPr/>
          <p:nvPr/>
        </p:nvGrpSpPr>
        <p:grpSpPr>
          <a:xfrm>
            <a:off x="6675120" y="1280160"/>
            <a:ext cx="5120640" cy="2011680"/>
            <a:chOff x="6675120" y="1280160"/>
            <a:chExt cx="5120640" cy="2011680"/>
          </a:xfrm>
        </p:grpSpPr>
        <p:sp>
          <p:nvSpPr>
            <p:cNvPr id="11" name="Forma 10"/>
            <p:cNvSpPr/>
            <p:nvPr/>
          </p:nvSpPr>
          <p:spPr>
            <a:xfrm>
              <a:off x="6675120" y="1481328"/>
              <a:ext cx="5120640" cy="18105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600" dirty="0">
                  <a:solidFill>
                    <a:srgbClr val="1E1E1E"/>
                  </a:solidFill>
                  <a:latin typeface="Fira Sans Condensed"/>
                  <a:ea typeface="Fira Sans Condensed"/>
                  <a:cs typeface="Fira Sans Condensed"/>
                  <a:sym typeface="Fira Sans Condensed"/>
                </a:rPr>
                <a:t>El páncreas se ubica en el </a:t>
              </a:r>
              <a:r>
                <a:rPr lang="es-AR" sz="1600" b="1" dirty="0">
                  <a:solidFill>
                    <a:srgbClr val="1E1E1E"/>
                  </a:solidFill>
                  <a:latin typeface="Fira Sans Condensed"/>
                  <a:ea typeface="Fira Sans Condensed"/>
                  <a:cs typeface="Fira Sans Condensed"/>
                  <a:sym typeface="Fira Sans Condensed"/>
                </a:rPr>
                <a:t>retroperitoneo</a:t>
              </a:r>
              <a:r>
                <a:rPr lang="es-AR" sz="1600" dirty="0">
                  <a:solidFill>
                    <a:srgbClr val="1E1E1E"/>
                  </a:solidFill>
                  <a:latin typeface="Fira Sans Condensed"/>
                  <a:ea typeface="Fira Sans Condensed"/>
                  <a:cs typeface="Fira Sans Condensed"/>
                  <a:sym typeface="Fira Sans Condensed"/>
                </a:rPr>
                <a:t>, detrás del estómago. Más del 95 % es tejido </a:t>
              </a:r>
              <a:r>
                <a:rPr lang="es-AR" sz="1600" b="1" dirty="0">
                  <a:solidFill>
                    <a:srgbClr val="1E1E1E"/>
                  </a:solidFill>
                  <a:latin typeface="Fira Sans Condensed"/>
                  <a:ea typeface="Fira Sans Condensed"/>
                  <a:cs typeface="Fira Sans Condensed"/>
                  <a:sym typeface="Fira Sans Condensed"/>
                </a:rPr>
                <a:t>exocrino</a:t>
              </a:r>
              <a:r>
                <a:rPr lang="es-AR" sz="1600" dirty="0">
                  <a:solidFill>
                    <a:srgbClr val="1E1E1E"/>
                  </a:solidFill>
                  <a:latin typeface="Fira Sans Condensed"/>
                  <a:ea typeface="Fira Sans Condensed"/>
                  <a:cs typeface="Fira Sans Condensed"/>
                  <a:sym typeface="Fira Sans Condensed"/>
                </a:rPr>
                <a:t>; los </a:t>
              </a:r>
              <a:r>
                <a:rPr lang="es-AR" sz="1600" b="1" dirty="0">
                  <a:solidFill>
                    <a:srgbClr val="1E1E1E"/>
                  </a:solidFill>
                  <a:latin typeface="Fira Sans Condensed"/>
                  <a:ea typeface="Fira Sans Condensed"/>
                  <a:cs typeface="Fira Sans Condensed"/>
                  <a:sym typeface="Fira Sans Condensed"/>
                </a:rPr>
                <a:t>islotes de Langerhans</a:t>
              </a:r>
              <a:r>
                <a:rPr lang="es-AR" sz="1600" dirty="0">
                  <a:solidFill>
                    <a:srgbClr val="1E1E1E"/>
                  </a:solidFill>
                  <a:latin typeface="Fira Sans Condensed"/>
                  <a:ea typeface="Fira Sans Condensed"/>
                  <a:cs typeface="Fira Sans Condensed"/>
                  <a:sym typeface="Fira Sans Condensed"/>
                </a:rPr>
                <a:t> forman una fracción mínima, pero muy vascularizada e inervada.</a:t>
              </a:r>
              <a:endParaRPr lang="es-AR" sz="1600" dirty="0">
                <a:latin typeface="Fira Sans Condensed"/>
              </a:endParaRPr>
            </a:p>
          </p:txBody>
        </p:sp>
        <p:sp>
          <p:nvSpPr>
            <p:cNvPr id="12" name="Forma 11"/>
            <p:cNvSpPr/>
            <p:nvPr/>
          </p:nvSpPr>
          <p:spPr>
            <a:xfrm>
              <a:off x="6812280" y="1280160"/>
              <a:ext cx="1574395"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ÓRGANO MIXTO</a:t>
              </a:r>
              <a:endParaRPr lang="es-AR" sz="1400" dirty="0">
                <a:latin typeface="Fira Sans Condensed"/>
              </a:endParaRPr>
            </a:p>
          </p:txBody>
        </p:sp>
      </p:grpSp>
      <p:grpSp>
        <p:nvGrpSpPr>
          <p:cNvPr id="13" name="Cuadro Drenaje portal"/>
          <p:cNvGrpSpPr/>
          <p:nvPr/>
        </p:nvGrpSpPr>
        <p:grpSpPr>
          <a:xfrm>
            <a:off x="6675120" y="3657600"/>
            <a:ext cx="5120640" cy="1920240"/>
            <a:chOff x="6675120" y="3657600"/>
            <a:chExt cx="5120640" cy="1920240"/>
          </a:xfrm>
        </p:grpSpPr>
        <p:sp>
          <p:nvSpPr>
            <p:cNvPr id="14" name="Forma 13"/>
            <p:cNvSpPr/>
            <p:nvPr/>
          </p:nvSpPr>
          <p:spPr>
            <a:xfrm>
              <a:off x="6675120" y="3858768"/>
              <a:ext cx="5120640" cy="1719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600" dirty="0">
                  <a:solidFill>
                    <a:srgbClr val="1E1E1E"/>
                  </a:solidFill>
                  <a:latin typeface="Fira Sans Condensed"/>
                  <a:ea typeface="Fira Sans Condensed"/>
                  <a:cs typeface="Fira Sans Condensed"/>
                  <a:sym typeface="Fira Sans Condensed"/>
                </a:rPr>
                <a:t>La sangre de los islotes drena a la </a:t>
              </a:r>
              <a:r>
                <a:rPr lang="es-AR" sz="1600" b="1" dirty="0">
                  <a:solidFill>
                    <a:srgbClr val="1E1E1E"/>
                  </a:solidFill>
                  <a:latin typeface="Fira Sans Condensed"/>
                  <a:ea typeface="Fira Sans Condensed"/>
                  <a:cs typeface="Fira Sans Condensed"/>
                  <a:sym typeface="Fira Sans Condensed"/>
                </a:rPr>
                <a:t>vena porta</a:t>
              </a:r>
              <a:r>
                <a:rPr lang="es-AR" sz="1600" dirty="0">
                  <a:solidFill>
                    <a:srgbClr val="1E1E1E"/>
                  </a:solidFill>
                  <a:latin typeface="Fira Sans Condensed"/>
                  <a:ea typeface="Fira Sans Condensed"/>
                  <a:cs typeface="Fira Sans Condensed"/>
                  <a:sym typeface="Fira Sans Condensed"/>
                </a:rPr>
                <a:t>: el </a:t>
              </a:r>
              <a:r>
                <a:rPr lang="es-AR" sz="1600" b="1" dirty="0">
                  <a:solidFill>
                    <a:srgbClr val="1E1E1E"/>
                  </a:solidFill>
                  <a:latin typeface="Fira Sans Condensed"/>
                  <a:ea typeface="Fira Sans Condensed"/>
                  <a:cs typeface="Fira Sans Condensed"/>
                  <a:sym typeface="Fira Sans Condensed"/>
                </a:rPr>
                <a:t>hígado</a:t>
              </a:r>
              <a:r>
                <a:rPr lang="es-AR" sz="1600" dirty="0">
                  <a:solidFill>
                    <a:srgbClr val="1E1E1E"/>
                  </a:solidFill>
                  <a:latin typeface="Fira Sans Condensed"/>
                  <a:ea typeface="Fira Sans Condensed"/>
                  <a:cs typeface="Fira Sans Condensed"/>
                  <a:sym typeface="Fira Sans Condensed"/>
                </a:rPr>
                <a:t> recibe primero las concentraciones más altas de insulina y glucagón.</a:t>
              </a:r>
              <a:endParaRPr lang="es-AR" sz="1600" dirty="0">
                <a:latin typeface="Fira Sans Condensed"/>
              </a:endParaRPr>
            </a:p>
          </p:txBody>
        </p:sp>
        <p:sp>
          <p:nvSpPr>
            <p:cNvPr id="15" name="Forma 14"/>
            <p:cNvSpPr/>
            <p:nvPr/>
          </p:nvSpPr>
          <p:spPr>
            <a:xfrm>
              <a:off x="6812280" y="3657600"/>
              <a:ext cx="168015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DRENAJE PORTAL</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A · DEL ORGANISMO AL PÁNCREAS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 calcmode="lin" valueType="num">
                                      <p:cBhvr>
                                        <p:cTn id="5" dur="500" fill="hold"/>
                                        <p:tgtEl>
                                          <p:spTgt spid="9"/>
                                        </p:tgtEl>
                                        <p:attrNameLst>
                                          <p:attrName>ppt_w</p:attrName>
                                        </p:attrNameLst>
                                      </p:cBhvr>
                                      <p:tavLst>
                                        <p:tav tm="0">
                                          <p:val>
                                            <p:fltVal val="0"/>
                                          </p:val>
                                        </p:tav>
                                        <p:tav tm="100000">
                                          <p:val>
                                            <p:strVal val="#ppt_w"/>
                                          </p:val>
                                        </p:tav>
                                      </p:tavLst>
                                    </p:anim>
                                    <p:anim calcmode="lin" valueType="num">
                                      <p:cBhvr>
                                        <p:cTn id="6" dur="500" fill="hold"/>
                                        <p:tgtEl>
                                          <p:spTgt spid="9"/>
                                        </p:tgtEl>
                                        <p:attrNameLst>
                                          <p:attrName>ppt_h</p:attrName>
                                        </p:attrNameLst>
                                      </p:cBhvr>
                                      <p:tavLst>
                                        <p:tav tm="0">
                                          <p:val>
                                            <p:fltVal val="0"/>
                                          </p:val>
                                        </p:tav>
                                        <p:tav tm="100000">
                                          <p:val>
                                            <p:strVal val="#ppt_h"/>
                                          </p:val>
                                        </p:tav>
                                      </p:tavLst>
                                    </p:anim>
                                    <p:animEffect transition="in" filter="fade">
                                      <p:cBhvr>
                                        <p:cTn id="7" dur="500"/>
                                        <p:tgtEl>
                                          <p:spTgt spid="9"/>
                                        </p:tgtEl>
                                      </p:cBhvr>
                                    </p:animEffect>
                                  </p:childTnLst>
                                </p:cTn>
                              </p:par>
                            </p:childTnLst>
                          </p:cTn>
                        </p:par>
                        <p:par>
                          <p:cTn id="11" fill="hold">
                            <p:stCondLst>
                              <p:cond delay="500"/>
                            </p:stCondLst>
                            <p:childTnLst>
                              <p:par>
                                <p:cTn id="9" presetID="6" presetClass="emph" presetSubtype="0" fill="hold" grpId="0" nodeType="afterEffect">
                                  <p:stCondLst>
                                    <p:cond delay="0"/>
                                  </p:stCondLst>
                                  <p:childTnLst>
                                    <p:animScale>
                                      <p:cBhvr>
                                        <p:cTn id="10" dur="300" autoRev="1" fill="hold"/>
                                        <p:tgtEl>
                                          <p:spTgt spid="8"/>
                                        </p:tgtEl>
                                      </p:cBhvr>
                                      <p:by x="112000" y="112000"/>
                                    </p:animScale>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Organismo" descr="Ilustración biomédica (Servier Medical Art, CC BY)"/>
          <p:cNvPicPr>
            <a:picLocks noChangeAspect="1"/>
          </p:cNvPicPr>
          <p:nvPr/>
        </p:nvPicPr>
        <p:blipFill>
          <a:blip r:embed="rId2">
            <a:alphaModFix amt="25000"/>
          </a:blip>
          <a:stretch>
            <a:fillRect/>
          </a:stretch>
        </p:blipFill>
        <p:spPr>
          <a:xfrm>
            <a:off x="-3291840" y="-6309360"/>
            <a:ext cx="8887968" cy="21945600"/>
          </a:xfrm>
          <a:prstGeom prst="rect">
            <a:avLst/>
          </a:prstGeom>
        </p:spPr>
      </p:pic>
      <p:pic>
        <p:nvPicPr>
          <p:cNvPr id="8" name="!!Páncreas" descr="Ilustración biomédica (Servier Medical Art, CC BY)"/>
          <p:cNvPicPr>
            <a:picLocks noChangeAspect="1"/>
          </p:cNvPicPr>
          <p:nvPr/>
        </p:nvPicPr>
        <p:blipFill>
          <a:blip r:embed="rId3"/>
          <a:stretch>
            <a:fillRect/>
          </a:stretch>
        </p:blipFill>
        <p:spPr>
          <a:xfrm>
            <a:off x="822960" y="1828800"/>
            <a:ext cx="6949440" cy="2884018"/>
          </a:xfrm>
          <a:prstGeom prst="rect">
            <a:avLst/>
          </a:prstGeom>
        </p:spPr>
      </p:pic>
      <p:sp>
        <p:nvSpPr>
          <p:cNvPr id="9" name="!!Lupa"/>
          <p:cNvSpPr/>
          <p:nvPr/>
        </p:nvSpPr>
        <p:spPr>
          <a:xfrm>
            <a:off x="4709160" y="2788920"/>
            <a:ext cx="822960" cy="685800"/>
          </a:xfrm>
          <a:prstGeom prst="ellipse">
            <a:avLst/>
          </a:prstGeom>
          <a:noFill/>
          <a:ln w="38100" cap="rnd">
            <a:solidFill>
              <a:srgbClr val="C00000"/>
            </a:solidFill>
            <a:round/>
          </a:ln>
        </p:spPr>
      </p:sp>
      <p:sp>
        <p:nvSpPr>
          <p:cNvPr id="10" name="Forma 9"/>
          <p:cNvSpPr txBox="1"/>
          <p:nvPr/>
        </p:nvSpPr>
        <p:spPr>
          <a:xfrm>
            <a:off x="822960" y="4937760"/>
            <a:ext cx="6949440" cy="411480"/>
          </a:xfrm>
          <a:prstGeom prst="rect">
            <a:avLst/>
          </a:prstGeom>
          <a:noFill/>
          <a:ln>
            <a:noFill/>
          </a:ln>
        </p:spPr>
        <p:txBody>
          <a:bodyPr wrap="square" lIns="0" tIns="0" rIns="0" bIns="0" anchor="ctr" rtlCol="0">
            <a:noAutofit/>
          </a:bodyPr>
          <a:lstStyle/>
          <a:p>
            <a:pPr algn="ctr">
              <a:spcAft>
                <a:spcPts val="300"/>
              </a:spcAft>
              <a:buNone/>
            </a:pPr>
            <a:r>
              <a:rPr lang="es-AR" sz="15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CABEZA · CUELLO · CUERPO · COLA</a:t>
            </a:r>
            <a:endParaRPr lang="es-AR" sz="1500" dirty="0">
              <a:latin typeface="Fira Sans Condensed"/>
            </a:endParaRPr>
          </a:p>
        </p:txBody>
      </p:sp>
      <p:grpSp>
        <p:nvGrpSpPr>
          <p:cNvPr id="11" name="!!Texto A"/>
          <p:cNvGrpSpPr/>
          <p:nvPr/>
        </p:nvGrpSpPr>
        <p:grpSpPr>
          <a:xfrm>
            <a:off x="8138160" y="1280160"/>
            <a:ext cx="3749040" cy="4206240"/>
            <a:chOff x="8138160" y="1280160"/>
            <a:chExt cx="3749040" cy="4206240"/>
          </a:xfrm>
        </p:grpSpPr>
        <p:sp>
          <p:nvSpPr>
            <p:cNvPr id="12" name="Forma 11"/>
            <p:cNvSpPr/>
            <p:nvPr/>
          </p:nvSpPr>
          <p:spPr>
            <a:xfrm>
              <a:off x="8138160" y="1481328"/>
              <a:ext cx="3749040" cy="4005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Ácinos</a:t>
              </a:r>
              <a:r>
                <a:rPr lang="es-AR" sz="1550" dirty="0">
                  <a:solidFill>
                    <a:srgbClr val="1E1E1E"/>
                  </a:solidFill>
                  <a:latin typeface="Fira Sans Condensed"/>
                  <a:ea typeface="Fira Sans Condensed"/>
                  <a:cs typeface="Fira Sans Condensed"/>
                  <a:sym typeface="Fira Sans Condensed"/>
                </a:rPr>
                <a:t> (exocrino): enzimas digestivas hacia el duodeno.</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Islotes</a:t>
              </a:r>
              <a:r>
                <a:rPr lang="es-AR" sz="1550" dirty="0">
                  <a:solidFill>
                    <a:srgbClr val="1E1E1E"/>
                  </a:solidFill>
                  <a:latin typeface="Fira Sans Condensed"/>
                  <a:ea typeface="Fira Sans Condensed"/>
                  <a:cs typeface="Fira Sans Condensed"/>
                  <a:sym typeface="Fira Sans Condensed"/>
                </a:rPr>
                <a:t> dispersos (endocrino): células β (insulina, amilina), α (glucagón), δ (somatostatina) y PP.</a:t>
              </a:r>
              <a:endParaRPr lang="es-AR" sz="1550" dirty="0">
                <a:latin typeface="Fira Sans Condensed"/>
              </a:endParaRPr>
            </a:p>
            <a:p>
              <a:pPr algn="l" marL="147637" indent="-147637">
                <a:spcAft>
                  <a:spcPts val="400"/>
                </a:spcAft>
                <a:buClr>
                  <a:srgbClr val="1E1E1E"/>
                </a:buClr>
                <a:buFont typeface="Arial"/>
                <a:buChar char="•"/>
              </a:pPr>
              <a:r>
                <a:rPr lang="es-AR" sz="1550" dirty="0">
                  <a:solidFill>
                    <a:srgbClr val="1E1E1E"/>
                  </a:solidFill>
                  <a:latin typeface="Fira Sans Condensed"/>
                  <a:ea typeface="Fira Sans Condensed"/>
                  <a:cs typeface="Fira Sans Condensed"/>
                  <a:sym typeface="Fira Sans Condensed"/>
                </a:rPr>
                <a:t>Inervación </a:t>
              </a:r>
              <a:r>
                <a:rPr lang="es-AR" sz="1550" b="1" dirty="0">
                  <a:solidFill>
                    <a:srgbClr val="1E1E1E"/>
                  </a:solidFill>
                  <a:latin typeface="Fira Sans Condensed"/>
                  <a:ea typeface="Fira Sans Condensed"/>
                  <a:cs typeface="Fira Sans Condensed"/>
                  <a:sym typeface="Fira Sans Condensed"/>
                </a:rPr>
                <a:t>vagal</a:t>
              </a:r>
              <a:r>
                <a:rPr lang="es-AR" sz="1550" dirty="0">
                  <a:solidFill>
                    <a:srgbClr val="1E1E1E"/>
                  </a:solidFill>
                  <a:latin typeface="Fira Sans Condensed"/>
                  <a:ea typeface="Fira Sans Condensed"/>
                  <a:cs typeface="Fira Sans Condensed"/>
                  <a:sym typeface="Fira Sans Condensed"/>
                </a:rPr>
                <a:t> (estimula) y </a:t>
              </a:r>
              <a:r>
                <a:rPr lang="es-AR" sz="1550" b="1" dirty="0">
                  <a:solidFill>
                    <a:srgbClr val="1E1E1E"/>
                  </a:solidFill>
                  <a:latin typeface="Fira Sans Condensed"/>
                  <a:ea typeface="Fira Sans Condensed"/>
                  <a:cs typeface="Fira Sans Condensed"/>
                  <a:sym typeface="Fira Sans Condensed"/>
                </a:rPr>
                <a:t>simpática</a:t>
              </a:r>
              <a:r>
                <a:rPr lang="es-AR" sz="1550" dirty="0">
                  <a:solidFill>
                    <a:srgbClr val="1E1E1E"/>
                  </a:solidFill>
                  <a:latin typeface="Fira Sans Condensed"/>
                  <a:ea typeface="Fira Sans Condensed"/>
                  <a:cs typeface="Fira Sans Condensed"/>
                  <a:sym typeface="Fira Sans Condensed"/>
                </a:rPr>
                <a:t>.</a:t>
              </a:r>
              <a:endParaRPr lang="es-AR" sz="1550" dirty="0">
                <a:latin typeface="Fira Sans Condensed"/>
              </a:endParaRPr>
            </a:p>
          </p:txBody>
        </p:sp>
        <p:sp>
          <p:nvSpPr>
            <p:cNvPr id="13" name="Forma 12"/>
            <p:cNvSpPr/>
            <p:nvPr/>
          </p:nvSpPr>
          <p:spPr>
            <a:xfrm>
              <a:off x="8275320" y="1280160"/>
              <a:ext cx="228265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DOS GLÁNDULAS EN UNA</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A · PÁNCREAS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0"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9"/>
                                        </p:tgtEl>
                                      </p:cBhvr>
                                      <p:by x="112000" y="112000"/>
                                    </p:animScale>
                                  </p:childTnLst>
                                </p:cTn>
                              </p:par>
                            </p:childTnLst>
                          </p:cTn>
                        </p:par>
                        <p:par>
                          <p:cTn id="9" fill="hold">
                            <p:stCondLst>
                              <p:cond delay="300"/>
                            </p:stCondLst>
                            <p:childTnLst>
                              <p:par>
                                <p:cTn id="6" presetID="10" presetClass="entr" presetSubtype="0" fill="hold" grpId="0" nodeType="after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Páncreas" descr="Ilustración biomédica (Servier Medical Art, CC BY)"/>
          <p:cNvPicPr>
            <a:picLocks noChangeAspect="1"/>
          </p:cNvPicPr>
          <p:nvPr/>
        </p:nvPicPr>
        <p:blipFill>
          <a:blip r:embed="rId2">
            <a:alphaModFix amt="55000"/>
          </a:blip>
          <a:stretch>
            <a:fillRect/>
          </a:stretch>
        </p:blipFill>
        <p:spPr>
          <a:xfrm>
            <a:off x="-10972800" y="-5486400"/>
            <a:ext cx="28346400" cy="11763756"/>
          </a:xfrm>
          <a:prstGeom prst="rect">
            <a:avLst/>
          </a:prstGeom>
        </p:spPr>
      </p:pic>
      <p:pic>
        <p:nvPicPr>
          <p:cNvPr id="8" name="!!Islote" descr="Ilustración biomédica (Servier Medical Art, CC BY)"/>
          <p:cNvPicPr>
            <a:picLocks noChangeAspect="1"/>
          </p:cNvPicPr>
          <p:nvPr/>
        </p:nvPicPr>
        <p:blipFill>
          <a:blip r:embed="rId3"/>
          <a:stretch>
            <a:fillRect/>
          </a:stretch>
        </p:blipFill>
        <p:spPr>
          <a:xfrm>
            <a:off x="640080" y="1051560"/>
            <a:ext cx="4944095" cy="5394960"/>
          </a:xfrm>
          <a:prstGeom prst="rect">
            <a:avLst/>
          </a:prstGeom>
        </p:spPr>
      </p:pic>
      <p:sp>
        <p:nvSpPr>
          <p:cNvPr id="9" name="!!Lupa"/>
          <p:cNvSpPr/>
          <p:nvPr/>
        </p:nvSpPr>
        <p:spPr>
          <a:xfrm>
            <a:off x="2377440" y="2743200"/>
            <a:ext cx="1005840" cy="914400"/>
          </a:xfrm>
          <a:prstGeom prst="ellipse">
            <a:avLst/>
          </a:prstGeom>
          <a:noFill/>
          <a:ln w="38100" cap="rnd">
            <a:solidFill>
              <a:srgbClr val="C00000"/>
            </a:solidFill>
            <a:round/>
          </a:ln>
        </p:spPr>
      </p:sp>
      <p:grpSp>
        <p:nvGrpSpPr>
          <p:cNvPr id="10" name="Célula β"/>
          <p:cNvGrpSpPr/>
          <p:nvPr/>
        </p:nvGrpSpPr>
        <p:grpSpPr>
          <a:xfrm>
            <a:off x="6675120" y="1143000"/>
            <a:ext cx="5166360" cy="868680"/>
            <a:chOff x="6675120" y="1143000"/>
            <a:chExt cx="5166360" cy="868680"/>
          </a:xfrm>
        </p:grpSpPr>
        <p:sp>
          <p:nvSpPr>
            <p:cNvPr id="11" name="Esfera"/>
            <p:cNvSpPr/>
            <p:nvPr/>
          </p:nvSpPr>
          <p:spPr>
            <a:xfrm>
              <a:off x="6675120" y="1188720"/>
              <a:ext cx="777240" cy="777240"/>
            </a:xfrm>
            <a:prstGeom prst="ellipse">
              <a:avLst/>
            </a:prstGeom>
            <a:gradFill rotWithShape="1">
              <a:gsLst>
                <a:gs pos="0">
                  <a:srgbClr val="FFFFFF"/>
                </a:gs>
                <a:gs pos="30000">
                  <a:srgbClr val="7FB3D5"/>
                </a:gs>
                <a:gs pos="100000">
                  <a:srgbClr val="3F596A"/>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β</a:t>
              </a:r>
              <a:endParaRPr lang="es-AR" sz="1800" dirty="0">
                <a:latin typeface="Fira Sans Condensed"/>
              </a:endParaRPr>
            </a:p>
          </p:txBody>
        </p:sp>
        <p:sp>
          <p:nvSpPr>
            <p:cNvPr id="12" name="Forma 11"/>
            <p:cNvSpPr/>
            <p:nvPr/>
          </p:nvSpPr>
          <p:spPr>
            <a:xfrm>
              <a:off x="7635240" y="1143000"/>
              <a:ext cx="42062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Insulina y amilina · mayoritarias · </a:t>
              </a:r>
              <a:r>
                <a:rPr lang="es-AR" sz="1450" b="1" dirty="0">
                  <a:solidFill>
                    <a:srgbClr val="1E1E1E"/>
                  </a:solidFill>
                  <a:latin typeface="Fira Sans Condensed"/>
                  <a:ea typeface="Fira Sans Condensed"/>
                  <a:cs typeface="Fira Sans Condensed"/>
                  <a:sym typeface="Fira Sans Condensed"/>
                </a:rPr>
                <a:t>sensor de glucosa</a:t>
              </a:r>
              <a:endParaRPr lang="es-AR" sz="1450" dirty="0">
                <a:latin typeface="Fira Sans Condensed"/>
              </a:endParaRPr>
            </a:p>
          </p:txBody>
        </p:sp>
      </p:grpSp>
      <p:grpSp>
        <p:nvGrpSpPr>
          <p:cNvPr id="13" name="Célula α"/>
          <p:cNvGrpSpPr/>
          <p:nvPr/>
        </p:nvGrpSpPr>
        <p:grpSpPr>
          <a:xfrm>
            <a:off x="6675120" y="2331720"/>
            <a:ext cx="5166360" cy="868680"/>
            <a:chOff x="6675120" y="2331720"/>
            <a:chExt cx="5166360" cy="868680"/>
          </a:xfrm>
        </p:grpSpPr>
        <p:sp>
          <p:nvSpPr>
            <p:cNvPr id="14" name="Esfera_2"/>
            <p:cNvSpPr/>
            <p:nvPr/>
          </p:nvSpPr>
          <p:spPr>
            <a:xfrm>
              <a:off x="6675120" y="2377440"/>
              <a:ext cx="777240" cy="777240"/>
            </a:xfrm>
            <a:prstGeom prst="ellipse">
              <a:avLst/>
            </a:prstGeom>
            <a:gradFill rotWithShape="1">
              <a:gsLst>
                <a:gs pos="0">
                  <a:srgbClr val="FFFFFF"/>
                </a:gs>
                <a:gs pos="30000">
                  <a:srgbClr val="F1948A"/>
                </a:gs>
                <a:gs pos="100000">
                  <a:srgbClr val="784A45"/>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α</a:t>
              </a:r>
              <a:endParaRPr lang="es-AR" sz="1800" dirty="0">
                <a:latin typeface="Fira Sans Condensed"/>
              </a:endParaRPr>
            </a:p>
          </p:txBody>
        </p:sp>
        <p:sp>
          <p:nvSpPr>
            <p:cNvPr id="15" name="Forma 14"/>
            <p:cNvSpPr/>
            <p:nvPr/>
          </p:nvSpPr>
          <p:spPr>
            <a:xfrm>
              <a:off x="7635240" y="2331720"/>
              <a:ext cx="42062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Glucagón · responde a hipoglucemia, aminoácidos y SNA</a:t>
              </a:r>
              <a:endParaRPr lang="es-AR" sz="1450" dirty="0">
                <a:latin typeface="Fira Sans Condensed"/>
              </a:endParaRPr>
            </a:p>
          </p:txBody>
        </p:sp>
      </p:grpSp>
      <p:grpSp>
        <p:nvGrpSpPr>
          <p:cNvPr id="16" name="Célula δ"/>
          <p:cNvGrpSpPr/>
          <p:nvPr/>
        </p:nvGrpSpPr>
        <p:grpSpPr>
          <a:xfrm>
            <a:off x="6675120" y="3520440"/>
            <a:ext cx="5166360" cy="868680"/>
            <a:chOff x="6675120" y="3520440"/>
            <a:chExt cx="5166360" cy="868680"/>
          </a:xfrm>
        </p:grpSpPr>
        <p:sp>
          <p:nvSpPr>
            <p:cNvPr id="17" name="Esfera_3"/>
            <p:cNvSpPr/>
            <p:nvPr/>
          </p:nvSpPr>
          <p:spPr>
            <a:xfrm>
              <a:off x="6675120" y="3566160"/>
              <a:ext cx="777240" cy="777240"/>
            </a:xfrm>
            <a:prstGeom prst="ellipse">
              <a:avLst/>
            </a:prstGeom>
            <a:gradFill rotWithShape="1">
              <a:gsLst>
                <a:gs pos="0">
                  <a:srgbClr val="FFFFFF"/>
                </a:gs>
                <a:gs pos="30000">
                  <a:srgbClr val="F7DC6F"/>
                </a:gs>
                <a:gs pos="100000">
                  <a:srgbClr val="7B6E37"/>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δ</a:t>
              </a:r>
              <a:endParaRPr lang="es-AR" sz="1800" dirty="0">
                <a:latin typeface="Fira Sans Condensed"/>
              </a:endParaRPr>
            </a:p>
          </p:txBody>
        </p:sp>
        <p:sp>
          <p:nvSpPr>
            <p:cNvPr id="18" name="Forma 17"/>
            <p:cNvSpPr/>
            <p:nvPr/>
          </p:nvSpPr>
          <p:spPr>
            <a:xfrm>
              <a:off x="7635240" y="3520440"/>
              <a:ext cx="42062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Somatostatina · freno </a:t>
              </a:r>
              <a:r>
                <a:rPr lang="es-AR" sz="1450" b="1" dirty="0">
                  <a:solidFill>
                    <a:srgbClr val="1E1E1E"/>
                  </a:solidFill>
                  <a:latin typeface="Fira Sans Condensed"/>
                  <a:ea typeface="Fira Sans Condensed"/>
                  <a:cs typeface="Fira Sans Condensed"/>
                  <a:sym typeface="Fira Sans Condensed"/>
                </a:rPr>
                <a:t>paracrino</a:t>
              </a:r>
              <a:r>
                <a:rPr lang="es-AR" sz="1450" dirty="0">
                  <a:solidFill>
                    <a:srgbClr val="1E1E1E"/>
                  </a:solidFill>
                  <a:latin typeface="Fira Sans Condensed"/>
                  <a:ea typeface="Fira Sans Condensed"/>
                  <a:cs typeface="Fira Sans Condensed"/>
                  <a:sym typeface="Fira Sans Condensed"/>
                </a:rPr>
                <a:t> de α y β</a:t>
              </a:r>
              <a:endParaRPr lang="es-AR" sz="1450" dirty="0">
                <a:latin typeface="Fira Sans Condensed"/>
              </a:endParaRPr>
            </a:p>
          </p:txBody>
        </p:sp>
      </p:grpSp>
      <p:grpSp>
        <p:nvGrpSpPr>
          <p:cNvPr id="19" name="Célula PP"/>
          <p:cNvGrpSpPr/>
          <p:nvPr/>
        </p:nvGrpSpPr>
        <p:grpSpPr>
          <a:xfrm>
            <a:off x="6675120" y="4709160"/>
            <a:ext cx="5166360" cy="868680"/>
            <a:chOff x="6675120" y="4709160"/>
            <a:chExt cx="5166360" cy="868680"/>
          </a:xfrm>
        </p:grpSpPr>
        <p:sp>
          <p:nvSpPr>
            <p:cNvPr id="20" name="Esfera_4"/>
            <p:cNvSpPr/>
            <p:nvPr/>
          </p:nvSpPr>
          <p:spPr>
            <a:xfrm>
              <a:off x="6675120" y="4754880"/>
              <a:ext cx="777240" cy="777240"/>
            </a:xfrm>
            <a:prstGeom prst="ellipse">
              <a:avLst/>
            </a:prstGeom>
            <a:gradFill rotWithShape="1">
              <a:gsLst>
                <a:gs pos="0">
                  <a:srgbClr val="FFFFFF"/>
                </a:gs>
                <a:gs pos="30000">
                  <a:srgbClr val="C39BD3"/>
                </a:gs>
                <a:gs pos="100000">
                  <a:srgbClr val="614D69"/>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PP</a:t>
              </a:r>
              <a:endParaRPr lang="es-AR" sz="1800" dirty="0">
                <a:latin typeface="Fira Sans Condensed"/>
              </a:endParaRPr>
            </a:p>
          </p:txBody>
        </p:sp>
        <p:sp>
          <p:nvSpPr>
            <p:cNvPr id="21" name="Forma 20"/>
            <p:cNvSpPr/>
            <p:nvPr/>
          </p:nvSpPr>
          <p:spPr>
            <a:xfrm>
              <a:off x="7635240" y="4709160"/>
              <a:ext cx="42062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Polipéptido pancreático</a:t>
              </a:r>
              <a:endParaRPr lang="es-AR" sz="145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A · ISLOTE DE LANGERHANS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childTnLst>
                          </p:cTn>
                        </p:par>
                        <p:par>
                          <p:cTn id="14"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par>
                          <p:cTn id="18"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23" fill="hold">
                      <p:stCondLst>
                        <p:cond delay="indefinite"/>
                      </p:stCondLst>
                      <p:childTnLst>
                        <p:par>
                          <p:cTn id="22" fill="hold">
                            <p:stCondLst>
                              <p:cond delay="0"/>
                            </p:stCondLst>
                            <p:childTnLst>
                              <p:par>
                                <p:cTn id="20" presetID="6" presetClass="emph" presetSubtype="0" fill="hold" grpId="0" nodeType="clickEffect">
                                  <p:stCondLst>
                                    <p:cond delay="0"/>
                                  </p:stCondLst>
                                  <p:childTnLst>
                                    <p:animScale>
                                      <p:cBhvr>
                                        <p:cTn id="21" dur="300" autoRev="1" fill="hold"/>
                                        <p:tgtEl>
                                          <p:spTgt spid="9"/>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Islote" descr="Ilustración biomédica (Servier Medical Art, CC BY)"/>
          <p:cNvPicPr>
            <a:picLocks noChangeAspect="1"/>
          </p:cNvPicPr>
          <p:nvPr/>
        </p:nvPicPr>
        <p:blipFill>
          <a:blip r:embed="rId2">
            <a:alphaModFix amt="88000"/>
          </a:blip>
          <a:stretch>
            <a:fillRect/>
          </a:stretch>
        </p:blipFill>
        <p:spPr>
          <a:xfrm>
            <a:off x="-16459200" y="-12801600"/>
            <a:ext cx="27653415" cy="30175200"/>
          </a:xfrm>
          <a:prstGeom prst="rect">
            <a:avLst/>
          </a:prstGeom>
        </p:spPr>
      </p:pic>
      <p:sp>
        <p:nvSpPr>
          <p:cNvPr id="8"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9" name="!!Célula beta"/>
          <p:cNvGrpSpPr/>
          <p:nvPr/>
        </p:nvGrpSpPr>
        <p:grpSpPr>
          <a:xfrm>
            <a:off x="365760" y="2148840"/>
            <a:ext cx="7315200" cy="4297680"/>
            <a:chOff x="365760" y="2148840"/>
            <a:chExt cx="7315200" cy="4297680"/>
          </a:xfrm>
        </p:grpSpPr>
        <p:sp>
          <p:nvSpPr>
            <p:cNvPr id="10" name="Forma 9"/>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1" name="Forma 10"/>
            <p:cNvSpPr/>
            <p:nvPr/>
          </p:nvSpPr>
          <p:spPr>
            <a:xfrm>
              <a:off x="384048" y="2167128"/>
              <a:ext cx="7278624" cy="4261104"/>
            </a:xfrm>
            <a:prstGeom prst="roundRect">
              <a:avLst>
                <a:gd name="adj" fmla="val 16000"/>
              </a:avLst>
            </a:prstGeom>
            <a:noFill/>
            <a:ln w="50800" cap="rnd">
              <a:solidFill>
                <a:srgbClr val="F5CBA7"/>
              </a:solidFill>
              <a:round/>
            </a:ln>
          </p:spPr>
        </p:sp>
        <p:grpSp>
          <p:nvGrpSpPr>
            <p:cNvPr id="12" name="Núcleo"/>
            <p:cNvGrpSpPr/>
            <p:nvPr/>
          </p:nvGrpSpPr>
          <p:grpSpPr>
            <a:xfrm>
              <a:off x="950976" y="4512564"/>
              <a:ext cx="1316736" cy="1185062"/>
              <a:chOff x="950976" y="4512564"/>
              <a:chExt cx="1316736" cy="1185062"/>
            </a:xfrm>
          </p:grpSpPr>
          <p:sp>
            <p:nvSpPr>
              <p:cNvPr id="13" name="Forma 12"/>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4" name="Forma 13"/>
              <p:cNvSpPr/>
              <p:nvPr/>
            </p:nvSpPr>
            <p:spPr>
              <a:xfrm>
                <a:off x="1635679" y="4907585"/>
                <a:ext cx="289682" cy="263347"/>
              </a:xfrm>
              <a:prstGeom prst="ellipse">
                <a:avLst/>
              </a:prstGeom>
              <a:solidFill>
                <a:srgbClr val="513B6B"/>
              </a:solidFill>
              <a:ln>
                <a:noFill/>
              </a:ln>
            </p:spPr>
          </p:sp>
        </p:grpSp>
        <p:grpSp>
          <p:nvGrpSpPr>
            <p:cNvPr id="15" name="Retículo endoplasmático"/>
            <p:cNvGrpSpPr/>
            <p:nvPr/>
          </p:nvGrpSpPr>
          <p:grpSpPr>
            <a:xfrm>
              <a:off x="2560320" y="4962388"/>
              <a:ext cx="1243584" cy="830885"/>
              <a:chOff x="2560320" y="4962388"/>
              <a:chExt cx="1243584" cy="830885"/>
            </a:xfrm>
          </p:grpSpPr>
          <p:sp>
            <p:nvSpPr>
              <p:cNvPr id="16" name="Forma 15"/>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7" name="Forma 16"/>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8" name="Forma 17"/>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9" name="Forma 18"/>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20" name="Forma 19"/>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1" name="Forma 20"/>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2" name="!!GLUT"/>
          <p:cNvGrpSpPr/>
          <p:nvPr/>
        </p:nvGrpSpPr>
        <p:grpSpPr>
          <a:xfrm>
            <a:off x="594360" y="1856232"/>
            <a:ext cx="1207740" cy="822960"/>
            <a:chOff x="594360" y="1856232"/>
            <a:chExt cx="1207740" cy="822960"/>
          </a:xfrm>
        </p:grpSpPr>
        <p:sp>
          <p:nvSpPr>
            <p:cNvPr id="23" name="Forma 22"/>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5" name="Forma 24"/>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6" name="!!KATP"/>
          <p:cNvGrpSpPr/>
          <p:nvPr/>
        </p:nvGrpSpPr>
        <p:grpSpPr>
          <a:xfrm>
            <a:off x="2331720" y="1819656"/>
            <a:ext cx="1733702" cy="914400"/>
            <a:chOff x="2331720" y="1819656"/>
            <a:chExt cx="1733702" cy="914400"/>
          </a:xfrm>
        </p:grpSpPr>
        <p:sp>
          <p:nvSpPr>
            <p:cNvPr id="27" name="Forma 26"/>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8" name="Forma 27"/>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249778"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30" name="Forma 29"/>
            <p:cNvSpPr/>
            <p:nvPr/>
          </p:nvSpPr>
          <p:spPr>
            <a:xfrm>
              <a:off x="3416198"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1" name="Forma 30"/>
            <p:cNvSpPr txBox="1"/>
            <p:nvPr/>
          </p:nvSpPr>
          <p:spPr>
            <a:xfrm>
              <a:off x="2331720" y="2478024"/>
              <a:ext cx="1733702"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abierto</a:t>
              </a:r>
              <a:endParaRPr lang="es-AR" sz="1150" dirty="0">
                <a:latin typeface="Fira Sans Condensed"/>
              </a:endParaRPr>
            </a:p>
          </p:txBody>
        </p:sp>
      </p:grpSp>
      <p:grpSp>
        <p:nvGrpSpPr>
          <p:cNvPr id="32" name="!!CaV"/>
          <p:cNvGrpSpPr/>
          <p:nvPr/>
        </p:nvGrpSpPr>
        <p:grpSpPr>
          <a:xfrm>
            <a:off x="4434840" y="1819656"/>
            <a:ext cx="1640434" cy="914400"/>
            <a:chOff x="4434840" y="1819656"/>
            <a:chExt cx="1640434" cy="914400"/>
          </a:xfrm>
        </p:grpSpPr>
        <p:sp>
          <p:nvSpPr>
            <p:cNvPr id="33" name="Forma 32"/>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4" name="Forma 33"/>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259629"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6" name="Forma 35"/>
            <p:cNvSpPr/>
            <p:nvPr/>
          </p:nvSpPr>
          <p:spPr>
            <a:xfrm>
              <a:off x="542605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7" name="Forma 36"/>
            <p:cNvSpPr txBox="1"/>
            <p:nvPr/>
          </p:nvSpPr>
          <p:spPr>
            <a:xfrm>
              <a:off x="443484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8" name="!!Mitocondria beta"/>
          <p:cNvGrpSpPr/>
          <p:nvPr/>
        </p:nvGrpSpPr>
        <p:grpSpPr>
          <a:xfrm>
            <a:off x="1828800" y="3657600"/>
            <a:ext cx="1554480" cy="777240"/>
            <a:chOff x="1828800" y="3657600"/>
            <a:chExt cx="1554480" cy="777240"/>
          </a:xfrm>
        </p:grpSpPr>
        <p:sp>
          <p:nvSpPr>
            <p:cNvPr id="39" name="Forma 38"/>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0" name="Forma 39"/>
            <p:cNvSpPr/>
            <p:nvPr/>
          </p:nvSpPr>
          <p:spPr>
            <a:xfrm>
              <a:off x="1937614" y="3766414"/>
              <a:ext cx="1336853" cy="559613"/>
            </a:xfrm>
            <a:prstGeom prst="ellipse">
              <a:avLst/>
            </a:prstGeom>
            <a:solidFill>
              <a:srgbClr val="F8D8B4"/>
            </a:solidFill>
            <a:ln w="9525" cap="rnd">
              <a:solidFill>
                <a:srgbClr val="B2732B"/>
              </a:solidFill>
              <a:round/>
            </a:ln>
          </p:spPr>
        </p:sp>
        <p:sp>
          <p:nvSpPr>
            <p:cNvPr id="41" name="Forma 40"/>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2" name="!!Gránulo 0"/>
          <p:cNvGrpSpPr/>
          <p:nvPr/>
        </p:nvGrpSpPr>
        <p:grpSpPr>
          <a:xfrm>
            <a:off x="4754880" y="3383280"/>
            <a:ext cx="457200" cy="457200"/>
            <a:chOff x="4754880" y="3383280"/>
            <a:chExt cx="457200" cy="457200"/>
          </a:xfrm>
        </p:grpSpPr>
        <p:sp>
          <p:nvSpPr>
            <p:cNvPr id="43" name="Forma 42"/>
            <p:cNvSpPr/>
            <p:nvPr/>
          </p:nvSpPr>
          <p:spPr>
            <a:xfrm>
              <a:off x="4754880" y="33832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4" name="Forma 43"/>
            <p:cNvSpPr/>
            <p:nvPr/>
          </p:nvSpPr>
          <p:spPr>
            <a:xfrm>
              <a:off x="4892040" y="35204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5" name="!!Gránulo 1"/>
          <p:cNvGrpSpPr/>
          <p:nvPr/>
        </p:nvGrpSpPr>
        <p:grpSpPr>
          <a:xfrm>
            <a:off x="5486400" y="3154680"/>
            <a:ext cx="457200" cy="457200"/>
            <a:chOff x="5486400" y="3154680"/>
            <a:chExt cx="457200" cy="457200"/>
          </a:xfrm>
        </p:grpSpPr>
        <p:sp>
          <p:nvSpPr>
            <p:cNvPr id="46" name="Forma 45"/>
            <p:cNvSpPr/>
            <p:nvPr/>
          </p:nvSpPr>
          <p:spPr>
            <a:xfrm>
              <a:off x="5486400" y="31546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7" name="Forma 46"/>
            <p:cNvSpPr/>
            <p:nvPr/>
          </p:nvSpPr>
          <p:spPr>
            <a:xfrm>
              <a:off x="5623560" y="32918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8" name="!!Gránulo 2"/>
          <p:cNvGrpSpPr/>
          <p:nvPr/>
        </p:nvGrpSpPr>
        <p:grpSpPr>
          <a:xfrm>
            <a:off x="6217920" y="3429000"/>
            <a:ext cx="457200" cy="457200"/>
            <a:chOff x="6217920" y="3429000"/>
            <a:chExt cx="457200" cy="457200"/>
          </a:xfrm>
        </p:grpSpPr>
        <p:sp>
          <p:nvSpPr>
            <p:cNvPr id="49" name="Forma 48"/>
            <p:cNvSpPr/>
            <p:nvPr/>
          </p:nvSpPr>
          <p:spPr>
            <a:xfrm>
              <a:off x="6217920" y="34290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0" name="Forma 49"/>
            <p:cNvSpPr/>
            <p:nvPr/>
          </p:nvSpPr>
          <p:spPr>
            <a:xfrm>
              <a:off x="6355080" y="35661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1" name="!!Gránulo 3"/>
          <p:cNvGrpSpPr/>
          <p:nvPr/>
        </p:nvGrpSpPr>
        <p:grpSpPr>
          <a:xfrm>
            <a:off x="5120640" y="4069080"/>
            <a:ext cx="457200" cy="457200"/>
            <a:chOff x="5120640" y="4069080"/>
            <a:chExt cx="457200" cy="457200"/>
          </a:xfrm>
        </p:grpSpPr>
        <p:sp>
          <p:nvSpPr>
            <p:cNvPr id="52" name="Forma 51"/>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3" name="Forma 52"/>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4" name="!!Gránulo 4"/>
          <p:cNvGrpSpPr/>
          <p:nvPr/>
        </p:nvGrpSpPr>
        <p:grpSpPr>
          <a:xfrm>
            <a:off x="5897880" y="4023360"/>
            <a:ext cx="457200" cy="457200"/>
            <a:chOff x="5897880" y="4023360"/>
            <a:chExt cx="457200" cy="457200"/>
          </a:xfrm>
        </p:grpSpPr>
        <p:sp>
          <p:nvSpPr>
            <p:cNvPr id="55" name="Forma 54"/>
            <p:cNvSpPr/>
            <p:nvPr/>
          </p:nvSpPr>
          <p:spPr>
            <a:xfrm>
              <a:off x="5897880" y="40233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6" name="Forma 55"/>
            <p:cNvSpPr/>
            <p:nvPr/>
          </p:nvSpPr>
          <p:spPr>
            <a:xfrm>
              <a:off x="6035040" y="41605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7" name="!!Gránulo 5"/>
          <p:cNvGrpSpPr/>
          <p:nvPr/>
        </p:nvGrpSpPr>
        <p:grpSpPr>
          <a:xfrm>
            <a:off x="6583680" y="4206240"/>
            <a:ext cx="457200" cy="457200"/>
            <a:chOff x="6583680" y="4206240"/>
            <a:chExt cx="457200" cy="457200"/>
          </a:xfrm>
        </p:grpSpPr>
        <p:sp>
          <p:nvSpPr>
            <p:cNvPr id="58" name="Forma 57"/>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9" name="Forma 58"/>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0" name="!!Gránulo 6"/>
          <p:cNvGrpSpPr/>
          <p:nvPr/>
        </p:nvGrpSpPr>
        <p:grpSpPr>
          <a:xfrm>
            <a:off x="4846320" y="4800600"/>
            <a:ext cx="457200" cy="457200"/>
            <a:chOff x="4846320" y="4800600"/>
            <a:chExt cx="457200" cy="457200"/>
          </a:xfrm>
        </p:grpSpPr>
        <p:sp>
          <p:nvSpPr>
            <p:cNvPr id="61" name="Forma 60"/>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2" name="Forma 61"/>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3" name="!!Gránulo 7"/>
          <p:cNvGrpSpPr/>
          <p:nvPr/>
        </p:nvGrpSpPr>
        <p:grpSpPr>
          <a:xfrm>
            <a:off x="5623560" y="4754880"/>
            <a:ext cx="457200" cy="457200"/>
            <a:chOff x="5623560" y="4754880"/>
            <a:chExt cx="457200" cy="457200"/>
          </a:xfrm>
        </p:grpSpPr>
        <p:sp>
          <p:nvSpPr>
            <p:cNvPr id="64" name="Forma 63"/>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5" name="Forma 64"/>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6" name="!!Cargas de membrana"/>
          <p:cNvGrpSpPr/>
          <p:nvPr/>
        </p:nvGrpSpPr>
        <p:grpSpPr>
          <a:xfrm>
            <a:off x="685800" y="1481328"/>
            <a:ext cx="6537960" cy="1307592"/>
            <a:chOff x="685800" y="1481328"/>
            <a:chExt cx="6537960" cy="1307592"/>
          </a:xfrm>
        </p:grpSpPr>
        <p:sp>
          <p:nvSpPr>
            <p:cNvPr id="67" name="Forma 66"/>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6" name="Forma 75"/>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7" name="!!Potencial"/>
          <p:cNvSpPr/>
          <p:nvPr/>
        </p:nvSpPr>
        <p:spPr>
          <a:xfrm>
            <a:off x="502920" y="5897880"/>
            <a:ext cx="2194560" cy="384048"/>
          </a:xfrm>
          <a:prstGeom prst="rect">
            <a:avLst/>
          </a:prstGeom>
          <a:solidFill>
            <a:srgbClr val="FFFFFF"/>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 −70 mV</a:t>
            </a:r>
            <a:endParaRPr lang="es-AR" sz="1250" dirty="0">
              <a:latin typeface="Fira Sans Condensed"/>
            </a:endParaRPr>
          </a:p>
        </p:txBody>
      </p:sp>
      <p:grpSp>
        <p:nvGrpSpPr>
          <p:cNvPr id="78" name="!!Progreso"/>
          <p:cNvGrpSpPr/>
          <p:nvPr/>
        </p:nvGrpSpPr>
        <p:grpSpPr>
          <a:xfrm>
            <a:off x="8028432" y="6053328"/>
            <a:ext cx="3785616" cy="310896"/>
            <a:chOff x="8028432" y="6053328"/>
            <a:chExt cx="3785616" cy="310896"/>
          </a:xfrm>
        </p:grpSpPr>
        <p:sp>
          <p:nvSpPr>
            <p:cNvPr id="79" name="Progreso 1"/>
            <p:cNvSpPr/>
            <p:nvPr/>
          </p:nvSpPr>
          <p:spPr>
            <a:xfrm>
              <a:off x="802843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80" name="Progreso 2"/>
            <p:cNvSpPr/>
            <p:nvPr/>
          </p:nvSpPr>
          <p:spPr>
            <a:xfrm>
              <a:off x="8375904"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81" name="Progreso 3"/>
            <p:cNvSpPr/>
            <p:nvPr/>
          </p:nvSpPr>
          <p:spPr>
            <a:xfrm>
              <a:off x="8723376"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82" name="Progreso 4"/>
            <p:cNvSpPr/>
            <p:nvPr/>
          </p:nvSpPr>
          <p:spPr>
            <a:xfrm>
              <a:off x="907084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83" name="Progreso 5"/>
            <p:cNvSpPr/>
            <p:nvPr/>
          </p:nvSpPr>
          <p:spPr>
            <a:xfrm>
              <a:off x="941832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84" name="Progreso 6"/>
            <p:cNvSpPr/>
            <p:nvPr/>
          </p:nvSpPr>
          <p:spPr>
            <a:xfrm>
              <a:off x="976579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85" name="Progreso 7"/>
            <p:cNvSpPr/>
            <p:nvPr/>
          </p:nvSpPr>
          <p:spPr>
            <a:xfrm>
              <a:off x="10113264"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86" name="Progreso 8"/>
            <p:cNvSpPr/>
            <p:nvPr/>
          </p:nvSpPr>
          <p:spPr>
            <a:xfrm>
              <a:off x="10460736"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87" name="Progreso 9"/>
            <p:cNvSpPr/>
            <p:nvPr/>
          </p:nvSpPr>
          <p:spPr>
            <a:xfrm>
              <a:off x="1080820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88" name="Progreso 10"/>
            <p:cNvSpPr/>
            <p:nvPr/>
          </p:nvSpPr>
          <p:spPr>
            <a:xfrm>
              <a:off x="1115568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89" name="Progreso 11"/>
            <p:cNvSpPr/>
            <p:nvPr/>
          </p:nvSpPr>
          <p:spPr>
            <a:xfrm>
              <a:off x="1150315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grpSp>
      <p:grpSp>
        <p:nvGrpSpPr>
          <p:cNvPr id="90" name="!!Panel"/>
          <p:cNvGrpSpPr/>
          <p:nvPr/>
        </p:nvGrpSpPr>
        <p:grpSpPr>
          <a:xfrm>
            <a:off x="8001000" y="1051560"/>
            <a:ext cx="3840480" cy="4297680"/>
            <a:chOff x="8001000" y="1051560"/>
            <a:chExt cx="3840480" cy="4297680"/>
          </a:xfrm>
        </p:grpSpPr>
        <p:sp>
          <p:nvSpPr>
            <p:cNvPr id="91" name="Forma 90"/>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92" name="Forma 91"/>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β</a:t>
              </a:r>
              <a:endParaRPr lang="es-AR" sz="1500" dirty="0">
                <a:latin typeface="Fira Sans Condensed"/>
              </a:endParaRPr>
            </a:p>
          </p:txBody>
        </p:sp>
        <p:sp>
          <p:nvSpPr>
            <p:cNvPr id="93" name="Forma 92"/>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Componentes del sensor</a:t>
              </a:r>
              <a:endParaRPr lang="es-AR" sz="1650" dirty="0">
                <a:latin typeface="Fira Sans Condensed"/>
              </a:endParaRPr>
            </a:p>
          </p:txBody>
        </p:sp>
        <p:sp>
          <p:nvSpPr>
            <p:cNvPr id="94" name="Forma 93"/>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GLUT</a:t>
              </a:r>
              <a:r>
                <a:rPr lang="es-AR" sz="1450" dirty="0">
                  <a:solidFill>
                    <a:srgbClr val="1E1E1E"/>
                  </a:solidFill>
                  <a:latin typeface="Fira Sans Condensed"/>
                  <a:ea typeface="Fira Sans Condensed"/>
                  <a:cs typeface="Fira Sans Condensed"/>
                  <a:sym typeface="Fira Sans Condensed"/>
                </a:rPr>
                <a:t>: entrada de glucosa por difusión facilitada.</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Glucocinasa (GCK)</a:t>
              </a:r>
              <a:r>
                <a:rPr lang="es-AR" sz="1450" dirty="0">
                  <a:solidFill>
                    <a:srgbClr val="1E1E1E"/>
                  </a:solidFill>
                  <a:latin typeface="Fira Sans Condensed"/>
                  <a:ea typeface="Fira Sans Condensed"/>
                  <a:cs typeface="Fira Sans Condensed"/>
                  <a:sym typeface="Fira Sans Condensed"/>
                </a:rPr>
                <a:t>: fija el umbral; es el verdadero sensor.</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Mitocondria</a:t>
              </a:r>
              <a:r>
                <a:rPr lang="es-AR" sz="1450" dirty="0">
                  <a:solidFill>
                    <a:srgbClr val="1E1E1E"/>
                  </a:solidFill>
                  <a:latin typeface="Fira Sans Condensed"/>
                  <a:ea typeface="Fira Sans Condensed"/>
                  <a:cs typeface="Fira Sans Condensed"/>
                  <a:sym typeface="Fira Sans Condensed"/>
                </a:rPr>
                <a:t>: convierte flujo de glucosa en ATP.</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K</a:t>
              </a:r>
              <a:r>
                <a:rPr lang="es-AR" sz="1450" b="1" baseline="-25000" dirty="0">
                  <a:solidFill>
                    <a:srgbClr val="1E1E1E"/>
                  </a:solidFill>
                  <a:latin typeface="Fira Sans Condensed"/>
                  <a:ea typeface="Fira Sans Condensed"/>
                  <a:cs typeface="Fira Sans Condensed"/>
                  <a:sym typeface="Fira Sans Condensed"/>
                </a:rPr>
                <a:t>ATP</a:t>
              </a:r>
              <a:r>
                <a:rPr lang="es-AR" sz="1450" dirty="0">
                  <a:solidFill>
                    <a:srgbClr val="1E1E1E"/>
                  </a:solidFill>
                  <a:latin typeface="Fira Sans Condensed"/>
                  <a:ea typeface="Fira Sans Condensed"/>
                  <a:cs typeface="Fira Sans Condensed"/>
                  <a:sym typeface="Fira Sans Condensed"/>
                </a:rPr>
                <a:t> (Kir6.2/SUR1) y </a:t>
              </a:r>
              <a:r>
                <a:rPr lang="es-AR" sz="1450" b="1" dirty="0">
                  <a:solidFill>
                    <a:srgbClr val="1E1E1E"/>
                  </a:solidFill>
                  <a:latin typeface="Fira Sans Condensed"/>
                  <a:ea typeface="Fira Sans Condensed"/>
                  <a:cs typeface="Fira Sans Condensed"/>
                  <a:sym typeface="Fira Sans Condensed"/>
                </a:rPr>
                <a:t>Ca</a:t>
              </a:r>
              <a:r>
                <a:rPr lang="es-AR" sz="1450" b="1" baseline="-25000" dirty="0">
                  <a:solidFill>
                    <a:srgbClr val="1E1E1E"/>
                  </a:solidFill>
                  <a:latin typeface="Fira Sans Condensed"/>
                  <a:ea typeface="Fira Sans Condensed"/>
                  <a:cs typeface="Fira Sans Condensed"/>
                  <a:sym typeface="Fira Sans Condensed"/>
                </a:rPr>
                <a:t>V</a:t>
              </a:r>
              <a:r>
                <a:rPr lang="es-AR" sz="1450" dirty="0">
                  <a:solidFill>
                    <a:srgbClr val="1E1E1E"/>
                  </a:solidFill>
                  <a:latin typeface="Fira Sans Condensed"/>
                  <a:ea typeface="Fira Sans Condensed"/>
                  <a:cs typeface="Fira Sans Condensed"/>
                  <a:sym typeface="Fira Sans Condensed"/>
                </a:rPr>
                <a:t>: traducen metabolismo en señal eléctrica.</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Gránulos</a:t>
              </a:r>
              <a:r>
                <a:rPr lang="es-AR" sz="1450" dirty="0">
                  <a:solidFill>
                    <a:srgbClr val="1E1E1E"/>
                  </a:solidFill>
                  <a:latin typeface="Fira Sans Condensed"/>
                  <a:ea typeface="Fira Sans Condensed"/>
                  <a:cs typeface="Fira Sans Condensed"/>
                  <a:sym typeface="Fira Sans Condensed"/>
                </a:rPr>
                <a:t>: insulina + péptido C listos para exocitosis.</a:t>
              </a:r>
              <a:endParaRPr lang="es-AR" sz="145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CÉLULA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 EL SENSOR COMPLETO</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9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2"/>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26"/>
                                        </p:tgtEl>
                                      </p:cBhvr>
                                      <p:by x="112000" y="112000"/>
                                    </p:animScale>
                                  </p:childTnLst>
                                </p:cTn>
                              </p:par>
                            </p:childTnLst>
                          </p:cTn>
                        </p:par>
                        <p:par>
                          <p:cTn id="11" fill="hold">
                            <p:stCondLst>
                              <p:cond delay="600"/>
                            </p:stCondLst>
                            <p:childTnLst>
                              <p:par>
                                <p:cTn id="9" presetID="6" presetClass="emph" presetSubtype="0" fill="hold" grpId="0" nodeType="afterEffect">
                                  <p:stCondLst>
                                    <p:cond delay="0"/>
                                  </p:stCondLst>
                                  <p:childTnLst>
                                    <p:animScale>
                                      <p:cBhvr>
                                        <p:cTn id="10" dur="300" autoRev="1" fill="hold"/>
                                        <p:tgtEl>
                                          <p:spTgt spid="32"/>
                                        </p:tgtEl>
                                      </p:cBhvr>
                                      <p:by x="112000" y="112000"/>
                                    </p:animScale>
                                  </p:childTnLst>
                                </p:cTn>
                              </p:par>
                            </p:childTnLst>
                          </p:cTn>
                        </p:par>
                        <p:par>
                          <p:cTn id="14" fill="hold">
                            <p:stCondLst>
                              <p:cond delay="900"/>
                            </p:stCondLst>
                            <p:childTnLst>
                              <p:par>
                                <p:cTn id="12" presetID="6" presetClass="emph" presetSubtype="0" fill="hold" grpId="0" nodeType="afterEffect">
                                  <p:stCondLst>
                                    <p:cond delay="0"/>
                                  </p:stCondLst>
                                  <p:childTnLst>
                                    <p:animScale>
                                      <p:cBhvr>
                                        <p:cTn id="13" dur="300" autoRev="1" fill="hold"/>
                                        <p:tgtEl>
                                          <p:spTgt spid="38"/>
                                        </p:tgtEl>
                                      </p:cBhvr>
                                      <p:by x="112000" y="112000"/>
                                    </p:animScale>
                                  </p:childTnLst>
                                </p:cTn>
                              </p:par>
                            </p:childTnLst>
                          </p:cTn>
                        </p:par>
                      </p:childTnLst>
                    </p:cTn>
                  </p:par>
                  <p:par>
                    <p:cTn id="28" fill="hold">
                      <p:stCondLst>
                        <p:cond delay="indefinite"/>
                      </p:stCondLst>
                      <p:childTnLst>
                        <p:par>
                          <p:cTn id="18" fill="hold">
                            <p:stCondLst>
                              <p:cond delay="0"/>
                            </p:stCondLst>
                            <p:childTnLst>
                              <p:par>
                                <p:cTn id="16" presetID="6" presetClass="emph" presetSubtype="0" fill="hold" grpId="0" nodeType="clickEffect">
                                  <p:stCondLst>
                                    <p:cond delay="0"/>
                                  </p:stCondLst>
                                  <p:childTnLst>
                                    <p:animScale>
                                      <p:cBhvr>
                                        <p:cTn id="17" dur="200" autoRev="1" fill="hold"/>
                                        <p:tgtEl>
                                          <p:spTgt spid="42"/>
                                        </p:tgtEl>
                                      </p:cBhvr>
                                      <p:by x="112000" y="112000"/>
                                    </p:animScale>
                                  </p:childTnLst>
                                </p:cTn>
                              </p:par>
                            </p:childTnLst>
                          </p:cTn>
                        </p:par>
                        <p:par>
                          <p:cTn id="21" fill="hold">
                            <p:stCondLst>
                              <p:cond delay="200"/>
                            </p:stCondLst>
                            <p:childTnLst>
                              <p:par>
                                <p:cTn id="19" presetID="6" presetClass="emph" presetSubtype="0" fill="hold" grpId="0" nodeType="afterEffect">
                                  <p:stCondLst>
                                    <p:cond delay="0"/>
                                  </p:stCondLst>
                                  <p:childTnLst>
                                    <p:animScale>
                                      <p:cBhvr>
                                        <p:cTn id="20" dur="200" autoRev="1" fill="hold"/>
                                        <p:tgtEl>
                                          <p:spTgt spid="45"/>
                                        </p:tgtEl>
                                      </p:cBhvr>
                                      <p:by x="112000" y="112000"/>
                                    </p:animScale>
                                  </p:childTnLst>
                                </p:cTn>
                              </p:par>
                            </p:childTnLst>
                          </p:cTn>
                        </p:par>
                        <p:par>
                          <p:cTn id="24" fill="hold">
                            <p:stCondLst>
                              <p:cond delay="400"/>
                            </p:stCondLst>
                            <p:childTnLst>
                              <p:par>
                                <p:cTn id="22" presetID="6" presetClass="emph" presetSubtype="0" fill="hold" grpId="0" nodeType="afterEffect">
                                  <p:stCondLst>
                                    <p:cond delay="0"/>
                                  </p:stCondLst>
                                  <p:childTnLst>
                                    <p:animScale>
                                      <p:cBhvr>
                                        <p:cTn id="23" dur="200" autoRev="1" fill="hold"/>
                                        <p:tgtEl>
                                          <p:spTgt spid="48"/>
                                        </p:tgtEl>
                                      </p:cBhvr>
                                      <p:by x="112000" y="112000"/>
                                    </p:animScale>
                                  </p:childTnLst>
                                </p:cTn>
                              </p:par>
                            </p:childTnLst>
                          </p:cTn>
                        </p:par>
                        <p:par>
                          <p:cTn id="27" fill="hold">
                            <p:stCondLst>
                              <p:cond delay="600"/>
                            </p:stCondLst>
                            <p:childTnLst>
                              <p:par>
                                <p:cTn id="25" presetID="6" presetClass="emph" presetSubtype="0" fill="hold" grpId="0" nodeType="afterEffect">
                                  <p:stCondLst>
                                    <p:cond delay="0"/>
                                  </p:stCondLst>
                                  <p:childTnLst>
                                    <p:animScale>
                                      <p:cBhvr>
                                        <p:cTn id="26" dur="200" autoRev="1" fill="hold"/>
                                        <p:tgtEl>
                                          <p:spTgt spid="5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8" name="!!Célula beta"/>
          <p:cNvGrpSpPr/>
          <p:nvPr/>
        </p:nvGrpSpPr>
        <p:grpSpPr>
          <a:xfrm>
            <a:off x="365760" y="2148840"/>
            <a:ext cx="7315200" cy="4297680"/>
            <a:chOff x="365760" y="2148840"/>
            <a:chExt cx="7315200" cy="4297680"/>
          </a:xfrm>
        </p:grpSpPr>
        <p:sp>
          <p:nvSpPr>
            <p:cNvPr id="9" name="Forma 8"/>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0" name="Forma 9"/>
            <p:cNvSpPr/>
            <p:nvPr/>
          </p:nvSpPr>
          <p:spPr>
            <a:xfrm>
              <a:off x="384048" y="2167128"/>
              <a:ext cx="7278624" cy="4261104"/>
            </a:xfrm>
            <a:prstGeom prst="roundRect">
              <a:avLst>
                <a:gd name="adj" fmla="val 16000"/>
              </a:avLst>
            </a:prstGeom>
            <a:noFill/>
            <a:ln w="50800" cap="rnd">
              <a:solidFill>
                <a:srgbClr val="F5CBA7"/>
              </a:solidFill>
              <a:round/>
            </a:ln>
          </p:spPr>
        </p:sp>
        <p:grpSp>
          <p:nvGrpSpPr>
            <p:cNvPr id="11" name="Núcleo"/>
            <p:cNvGrpSpPr/>
            <p:nvPr/>
          </p:nvGrpSpPr>
          <p:grpSpPr>
            <a:xfrm>
              <a:off x="950976" y="4512564"/>
              <a:ext cx="1316736" cy="1185062"/>
              <a:chOff x="950976" y="4512564"/>
              <a:chExt cx="1316736" cy="1185062"/>
            </a:xfrm>
          </p:grpSpPr>
          <p:sp>
            <p:nvSpPr>
              <p:cNvPr id="12" name="Forma 11"/>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3" name="Forma 12"/>
              <p:cNvSpPr/>
              <p:nvPr/>
            </p:nvSpPr>
            <p:spPr>
              <a:xfrm>
                <a:off x="1635679" y="4907585"/>
                <a:ext cx="289682" cy="263347"/>
              </a:xfrm>
              <a:prstGeom prst="ellipse">
                <a:avLst/>
              </a:prstGeom>
              <a:solidFill>
                <a:srgbClr val="513B6B"/>
              </a:solidFill>
              <a:ln>
                <a:noFill/>
              </a:ln>
            </p:spPr>
          </p:sp>
        </p:grpSp>
        <p:grpSp>
          <p:nvGrpSpPr>
            <p:cNvPr id="14" name="Retículo endoplasmático"/>
            <p:cNvGrpSpPr/>
            <p:nvPr/>
          </p:nvGrpSpPr>
          <p:grpSpPr>
            <a:xfrm>
              <a:off x="2560320" y="4962388"/>
              <a:ext cx="1243584" cy="830885"/>
              <a:chOff x="2560320" y="4962388"/>
              <a:chExt cx="1243584" cy="830885"/>
            </a:xfrm>
          </p:grpSpPr>
          <p:sp>
            <p:nvSpPr>
              <p:cNvPr id="15" name="Forma 14"/>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6" name="Forma 15"/>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7" name="Forma 16"/>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8" name="Forma 17"/>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9" name="Forma 18"/>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0" name="Forma 19"/>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1" name="!!GLUT"/>
          <p:cNvGrpSpPr/>
          <p:nvPr/>
        </p:nvGrpSpPr>
        <p:grpSpPr>
          <a:xfrm>
            <a:off x="594360" y="1856232"/>
            <a:ext cx="1207740" cy="822960"/>
            <a:chOff x="594360" y="1856232"/>
            <a:chExt cx="1207740" cy="822960"/>
          </a:xfrm>
        </p:grpSpPr>
        <p:sp>
          <p:nvSpPr>
            <p:cNvPr id="22" name="Forma 21"/>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3" name="Forma 22"/>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5" name="!!KATP"/>
          <p:cNvGrpSpPr/>
          <p:nvPr/>
        </p:nvGrpSpPr>
        <p:grpSpPr>
          <a:xfrm>
            <a:off x="2331720" y="1819656"/>
            <a:ext cx="1733702" cy="914400"/>
            <a:chOff x="2331720" y="1819656"/>
            <a:chExt cx="1733702" cy="914400"/>
          </a:xfrm>
        </p:grpSpPr>
        <p:sp>
          <p:nvSpPr>
            <p:cNvPr id="26" name="Forma 25"/>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7" name="Forma 26"/>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8" name="Forma 27"/>
            <p:cNvSpPr/>
            <p:nvPr/>
          </p:nvSpPr>
          <p:spPr>
            <a:xfrm>
              <a:off x="3249778"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416198"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0" name="Forma 29"/>
            <p:cNvSpPr txBox="1"/>
            <p:nvPr/>
          </p:nvSpPr>
          <p:spPr>
            <a:xfrm>
              <a:off x="2331720" y="2478024"/>
              <a:ext cx="1733702"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abierto</a:t>
              </a:r>
              <a:endParaRPr lang="es-AR" sz="1150" dirty="0">
                <a:latin typeface="Fira Sans Condensed"/>
              </a:endParaRPr>
            </a:p>
          </p:txBody>
        </p:sp>
      </p:grpSp>
      <p:grpSp>
        <p:nvGrpSpPr>
          <p:cNvPr id="31" name="!!CaV"/>
          <p:cNvGrpSpPr/>
          <p:nvPr/>
        </p:nvGrpSpPr>
        <p:grpSpPr>
          <a:xfrm>
            <a:off x="4434840" y="1819656"/>
            <a:ext cx="1640434" cy="914400"/>
            <a:chOff x="4434840" y="1819656"/>
            <a:chExt cx="1640434" cy="914400"/>
          </a:xfrm>
        </p:grpSpPr>
        <p:sp>
          <p:nvSpPr>
            <p:cNvPr id="32" name="Forma 31"/>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3" name="Forma 32"/>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4" name="Forma 33"/>
            <p:cNvSpPr/>
            <p:nvPr/>
          </p:nvSpPr>
          <p:spPr>
            <a:xfrm>
              <a:off x="5259629"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42605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6" name="Forma 35"/>
            <p:cNvSpPr txBox="1"/>
            <p:nvPr/>
          </p:nvSpPr>
          <p:spPr>
            <a:xfrm>
              <a:off x="443484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7" name="!!Mitocondria beta"/>
          <p:cNvGrpSpPr/>
          <p:nvPr/>
        </p:nvGrpSpPr>
        <p:grpSpPr>
          <a:xfrm>
            <a:off x="1828800" y="3657600"/>
            <a:ext cx="1554480" cy="777240"/>
            <a:chOff x="1828800" y="3657600"/>
            <a:chExt cx="1554480" cy="777240"/>
          </a:xfrm>
        </p:grpSpPr>
        <p:sp>
          <p:nvSpPr>
            <p:cNvPr id="38" name="Forma 37"/>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a:off x="1937614" y="3766414"/>
              <a:ext cx="1336853" cy="559613"/>
            </a:xfrm>
            <a:prstGeom prst="ellipse">
              <a:avLst/>
            </a:prstGeom>
            <a:solidFill>
              <a:srgbClr val="F8D8B4"/>
            </a:solidFill>
            <a:ln w="9525" cap="rnd">
              <a:solidFill>
                <a:srgbClr val="B2732B"/>
              </a:solidFill>
              <a:round/>
            </a:ln>
          </p:spPr>
        </p:sp>
        <p:sp>
          <p:nvSpPr>
            <p:cNvPr id="40" name="Forma 39"/>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Gránulo 0"/>
          <p:cNvGrpSpPr/>
          <p:nvPr/>
        </p:nvGrpSpPr>
        <p:grpSpPr>
          <a:xfrm>
            <a:off x="4754880" y="3383280"/>
            <a:ext cx="457200" cy="457200"/>
            <a:chOff x="4754880" y="3383280"/>
            <a:chExt cx="457200" cy="457200"/>
          </a:xfrm>
        </p:grpSpPr>
        <p:sp>
          <p:nvSpPr>
            <p:cNvPr id="42" name="Forma 41"/>
            <p:cNvSpPr/>
            <p:nvPr/>
          </p:nvSpPr>
          <p:spPr>
            <a:xfrm>
              <a:off x="4754880" y="33832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3" name="Forma 42"/>
            <p:cNvSpPr/>
            <p:nvPr/>
          </p:nvSpPr>
          <p:spPr>
            <a:xfrm>
              <a:off x="4892040" y="35204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4" name="!!Gránulo 1"/>
          <p:cNvGrpSpPr/>
          <p:nvPr/>
        </p:nvGrpSpPr>
        <p:grpSpPr>
          <a:xfrm>
            <a:off x="5486400" y="3154680"/>
            <a:ext cx="457200" cy="457200"/>
            <a:chOff x="5486400" y="3154680"/>
            <a:chExt cx="457200" cy="457200"/>
          </a:xfrm>
        </p:grpSpPr>
        <p:sp>
          <p:nvSpPr>
            <p:cNvPr id="45" name="Forma 44"/>
            <p:cNvSpPr/>
            <p:nvPr/>
          </p:nvSpPr>
          <p:spPr>
            <a:xfrm>
              <a:off x="5486400" y="31546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6" name="Forma 45"/>
            <p:cNvSpPr/>
            <p:nvPr/>
          </p:nvSpPr>
          <p:spPr>
            <a:xfrm>
              <a:off x="5623560" y="32918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7" name="!!Gránulo 2"/>
          <p:cNvGrpSpPr/>
          <p:nvPr/>
        </p:nvGrpSpPr>
        <p:grpSpPr>
          <a:xfrm>
            <a:off x="6217920" y="3429000"/>
            <a:ext cx="457200" cy="457200"/>
            <a:chOff x="6217920" y="3429000"/>
            <a:chExt cx="457200" cy="457200"/>
          </a:xfrm>
        </p:grpSpPr>
        <p:sp>
          <p:nvSpPr>
            <p:cNvPr id="48" name="Forma 47"/>
            <p:cNvSpPr/>
            <p:nvPr/>
          </p:nvSpPr>
          <p:spPr>
            <a:xfrm>
              <a:off x="6217920" y="34290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9" name="Forma 48"/>
            <p:cNvSpPr/>
            <p:nvPr/>
          </p:nvSpPr>
          <p:spPr>
            <a:xfrm>
              <a:off x="6355080" y="35661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0" name="!!Gránulo 3"/>
          <p:cNvGrpSpPr/>
          <p:nvPr/>
        </p:nvGrpSpPr>
        <p:grpSpPr>
          <a:xfrm>
            <a:off x="5120640" y="4069080"/>
            <a:ext cx="457200" cy="457200"/>
            <a:chOff x="5120640" y="4069080"/>
            <a:chExt cx="457200" cy="457200"/>
          </a:xfrm>
        </p:grpSpPr>
        <p:sp>
          <p:nvSpPr>
            <p:cNvPr id="51" name="Forma 50"/>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2" name="Forma 51"/>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3" name="!!Gránulo 4"/>
          <p:cNvGrpSpPr/>
          <p:nvPr/>
        </p:nvGrpSpPr>
        <p:grpSpPr>
          <a:xfrm>
            <a:off x="5897880" y="4023360"/>
            <a:ext cx="457200" cy="457200"/>
            <a:chOff x="5897880" y="4023360"/>
            <a:chExt cx="457200" cy="457200"/>
          </a:xfrm>
        </p:grpSpPr>
        <p:sp>
          <p:nvSpPr>
            <p:cNvPr id="54" name="Forma 53"/>
            <p:cNvSpPr/>
            <p:nvPr/>
          </p:nvSpPr>
          <p:spPr>
            <a:xfrm>
              <a:off x="5897880" y="40233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5" name="Forma 54"/>
            <p:cNvSpPr/>
            <p:nvPr/>
          </p:nvSpPr>
          <p:spPr>
            <a:xfrm>
              <a:off x="6035040" y="41605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6" name="!!Gránulo 5"/>
          <p:cNvGrpSpPr/>
          <p:nvPr/>
        </p:nvGrpSpPr>
        <p:grpSpPr>
          <a:xfrm>
            <a:off x="6583680" y="4206240"/>
            <a:ext cx="457200" cy="457200"/>
            <a:chOff x="6583680" y="4206240"/>
            <a:chExt cx="457200" cy="457200"/>
          </a:xfrm>
        </p:grpSpPr>
        <p:sp>
          <p:nvSpPr>
            <p:cNvPr id="57" name="Forma 56"/>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8" name="Forma 57"/>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9" name="!!Gránulo 6"/>
          <p:cNvGrpSpPr/>
          <p:nvPr/>
        </p:nvGrpSpPr>
        <p:grpSpPr>
          <a:xfrm>
            <a:off x="4846320" y="4800600"/>
            <a:ext cx="457200" cy="457200"/>
            <a:chOff x="4846320" y="4800600"/>
            <a:chExt cx="457200" cy="457200"/>
          </a:xfrm>
        </p:grpSpPr>
        <p:sp>
          <p:nvSpPr>
            <p:cNvPr id="60" name="Forma 59"/>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1" name="Forma 60"/>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2" name="!!Gránulo 7"/>
          <p:cNvGrpSpPr/>
          <p:nvPr/>
        </p:nvGrpSpPr>
        <p:grpSpPr>
          <a:xfrm>
            <a:off x="5623560" y="4754880"/>
            <a:ext cx="457200" cy="457200"/>
            <a:chOff x="5623560" y="4754880"/>
            <a:chExt cx="457200" cy="457200"/>
          </a:xfrm>
        </p:grpSpPr>
        <p:sp>
          <p:nvSpPr>
            <p:cNvPr id="63" name="Forma 62"/>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4" name="Forma 63"/>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5" name="!!Cargas de membrana"/>
          <p:cNvGrpSpPr/>
          <p:nvPr/>
        </p:nvGrpSpPr>
        <p:grpSpPr>
          <a:xfrm>
            <a:off x="685800" y="1481328"/>
            <a:ext cx="6537960" cy="1307592"/>
            <a:chOff x="685800" y="1481328"/>
            <a:chExt cx="6537960" cy="1307592"/>
          </a:xfrm>
        </p:grpSpPr>
        <p:sp>
          <p:nvSpPr>
            <p:cNvPr id="66" name="Forma 65"/>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7" name="Forma 66"/>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6" name="!!Potencial"/>
          <p:cNvSpPr/>
          <p:nvPr/>
        </p:nvSpPr>
        <p:spPr>
          <a:xfrm>
            <a:off x="502920" y="5897880"/>
            <a:ext cx="2194560" cy="384048"/>
          </a:xfrm>
          <a:prstGeom prst="rect">
            <a:avLst/>
          </a:prstGeom>
          <a:solidFill>
            <a:srgbClr val="FFFFFF"/>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 −70 mV</a:t>
            </a:r>
            <a:endParaRPr lang="es-AR" sz="1250" dirty="0">
              <a:latin typeface="Fira Sans Condensed"/>
            </a:endParaRPr>
          </a:p>
        </p:txBody>
      </p:sp>
      <p:sp>
        <p:nvSpPr>
          <p:cNvPr id="77" name="!!G6P"/>
          <p:cNvSpPr/>
          <p:nvPr/>
        </p:nvSpPr>
        <p:spPr>
          <a:xfrm>
            <a:off x="914400" y="2926080"/>
            <a:ext cx="11430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G6P</a:t>
            </a:r>
            <a:endParaRPr lang="es-AR" sz="1300" dirty="0">
              <a:latin typeface="Fira Sans Condensed"/>
            </a:endParaRPr>
          </a:p>
        </p:txBody>
      </p:sp>
      <p:sp>
        <p:nvSpPr>
          <p:cNvPr id="78" name="!!Glucocinasa"/>
          <p:cNvSpPr/>
          <p:nvPr/>
        </p:nvSpPr>
        <p:spPr>
          <a:xfrm>
            <a:off x="960120" y="2606040"/>
            <a:ext cx="962817"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Glucocinasa</a:t>
            </a:r>
            <a:endParaRPr lang="es-AR" sz="1100" dirty="0">
              <a:latin typeface="Fira Sans Condensed"/>
            </a:endParaRPr>
          </a:p>
        </p:txBody>
      </p:sp>
      <p:grpSp>
        <p:nvGrpSpPr>
          <p:cNvPr id="79" name="!!Progreso"/>
          <p:cNvGrpSpPr/>
          <p:nvPr/>
        </p:nvGrpSpPr>
        <p:grpSpPr>
          <a:xfrm>
            <a:off x="8001000" y="5596128"/>
            <a:ext cx="3840480" cy="768096"/>
            <a:chOff x="8001000" y="5596128"/>
            <a:chExt cx="3840480" cy="768096"/>
          </a:xfrm>
        </p:grpSpPr>
        <p:sp>
          <p:nvSpPr>
            <p:cNvPr id="80" name="Progreso 1"/>
            <p:cNvSpPr/>
            <p:nvPr/>
          </p:nvSpPr>
          <p:spPr>
            <a:xfrm>
              <a:off x="8028432"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81" name="Progreso 2"/>
            <p:cNvSpPr/>
            <p:nvPr/>
          </p:nvSpPr>
          <p:spPr>
            <a:xfrm>
              <a:off x="8375904"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82" name="Progreso 3"/>
            <p:cNvSpPr/>
            <p:nvPr/>
          </p:nvSpPr>
          <p:spPr>
            <a:xfrm>
              <a:off x="8723376"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83" name="Progreso 4"/>
            <p:cNvSpPr/>
            <p:nvPr/>
          </p:nvSpPr>
          <p:spPr>
            <a:xfrm>
              <a:off x="907084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84" name="Progreso 5"/>
            <p:cNvSpPr/>
            <p:nvPr/>
          </p:nvSpPr>
          <p:spPr>
            <a:xfrm>
              <a:off x="941832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85" name="Progreso 6"/>
            <p:cNvSpPr/>
            <p:nvPr/>
          </p:nvSpPr>
          <p:spPr>
            <a:xfrm>
              <a:off x="976579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86" name="Progreso 7"/>
            <p:cNvSpPr/>
            <p:nvPr/>
          </p:nvSpPr>
          <p:spPr>
            <a:xfrm>
              <a:off x="10113264"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87" name="Progreso 8"/>
            <p:cNvSpPr/>
            <p:nvPr/>
          </p:nvSpPr>
          <p:spPr>
            <a:xfrm>
              <a:off x="10460736"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88" name="Progreso 9"/>
            <p:cNvSpPr/>
            <p:nvPr/>
          </p:nvSpPr>
          <p:spPr>
            <a:xfrm>
              <a:off x="1080820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89" name="Progreso 10"/>
            <p:cNvSpPr/>
            <p:nvPr/>
          </p:nvSpPr>
          <p:spPr>
            <a:xfrm>
              <a:off x="1115568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90" name="Progreso 11"/>
            <p:cNvSpPr/>
            <p:nvPr/>
          </p:nvSpPr>
          <p:spPr>
            <a:xfrm>
              <a:off x="1150315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sp>
          <p:nvSpPr>
            <p:cNvPr id="91" name="Forma 90"/>
            <p:cNvSpPr/>
            <p:nvPr/>
          </p:nvSpPr>
          <p:spPr>
            <a:xfrm>
              <a:off x="8001000" y="5596128"/>
              <a:ext cx="3840480" cy="384048"/>
            </a:xfrm>
            <a:prstGeom prst="rect">
              <a:avLst/>
            </a:prstGeom>
            <a:solidFill>
              <a:srgbClr val="FFC000"/>
            </a:solidFill>
            <a:ln w="15875" cap="rnd">
              <a:solidFill>
                <a:srgbClr val="1E1E1E"/>
              </a:solidFill>
              <a:round/>
            </a:ln>
          </p:spPr>
          <p:txBody>
            <a:bodyPr wrap="square" lIns="36576" tIns="0" rIns="36576" bIns="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Glucosa ↑ → Entrada GLUT → Glucocinasa</a:t>
              </a:r>
              <a:endParaRPr lang="es-AR" sz="1250" dirty="0">
                <a:latin typeface="Fira Sans Condensed"/>
              </a:endParaRPr>
            </a:p>
          </p:txBody>
        </p:sp>
      </p:grpSp>
      <p:grpSp>
        <p:nvGrpSpPr>
          <p:cNvPr id="92" name="!!Panel"/>
          <p:cNvGrpSpPr/>
          <p:nvPr/>
        </p:nvGrpSpPr>
        <p:grpSpPr>
          <a:xfrm>
            <a:off x="8001000" y="1051560"/>
            <a:ext cx="3840480" cy="4297680"/>
            <a:chOff x="8001000" y="1051560"/>
            <a:chExt cx="3840480" cy="4297680"/>
          </a:xfrm>
        </p:grpSpPr>
        <p:sp>
          <p:nvSpPr>
            <p:cNvPr id="93" name="Forma 92"/>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94" name="Forma 93"/>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1–3</a:t>
              </a:r>
              <a:endParaRPr lang="es-AR" sz="1500" dirty="0">
                <a:latin typeface="Fira Sans Condensed"/>
              </a:endParaRPr>
            </a:p>
          </p:txBody>
        </p:sp>
        <p:sp>
          <p:nvSpPr>
            <p:cNvPr id="95" name="Forma 94"/>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Glucosa → G6P</a:t>
              </a:r>
              <a:endParaRPr lang="es-AR" sz="1650" dirty="0">
                <a:latin typeface="Fira Sans Condensed"/>
              </a:endParaRPr>
            </a:p>
          </p:txBody>
        </p:sp>
        <p:sp>
          <p:nvSpPr>
            <p:cNvPr id="96" name="Forma 95"/>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1.</a:t>
              </a:r>
              <a:r>
                <a:rPr lang="es-AR" sz="1450" dirty="0">
                  <a:solidFill>
                    <a:srgbClr val="1E1E1E"/>
                  </a:solidFill>
                  <a:latin typeface="Fira Sans Condensed"/>
                  <a:ea typeface="Fira Sans Condensed"/>
                  <a:cs typeface="Fira Sans Condensed"/>
                  <a:sym typeface="Fira Sans Condensed"/>
                </a:rPr>
                <a:t> Tras la comida aumenta la glucemia portal y sistémica.</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2.</a:t>
              </a:r>
              <a:r>
                <a:rPr lang="es-AR" sz="1450" dirty="0">
                  <a:solidFill>
                    <a:srgbClr val="1E1E1E"/>
                  </a:solidFill>
                  <a:latin typeface="Fira Sans Condensed"/>
                  <a:ea typeface="Fira Sans Condensed"/>
                  <a:cs typeface="Fira Sans Condensed"/>
                  <a:sym typeface="Fira Sans Condensed"/>
                </a:rPr>
                <a:t> La glucosa ingresa por GLUT siguiendo su gradiente.</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3.</a:t>
              </a:r>
              <a:r>
                <a:rPr lang="es-AR" sz="1450" dirty="0">
                  <a:solidFill>
                    <a:srgbClr val="1E1E1E"/>
                  </a:solidFill>
                  <a:latin typeface="Fira Sans Condensed"/>
                  <a:ea typeface="Fira Sans Condensed"/>
                  <a:cs typeface="Fira Sans Condensed"/>
                  <a:sym typeface="Fira Sans Condensed"/>
                </a:rPr>
                <a:t> La </a:t>
              </a:r>
              <a:r>
                <a:rPr lang="es-AR" sz="1450" b="1" dirty="0">
                  <a:solidFill>
                    <a:srgbClr val="1E1E1E"/>
                  </a:solidFill>
                  <a:latin typeface="Fira Sans Condensed"/>
                  <a:ea typeface="Fira Sans Condensed"/>
                  <a:cs typeface="Fira Sans Condensed"/>
                  <a:sym typeface="Fira Sans Condensed"/>
                </a:rPr>
                <a:t>glucocinasa</a:t>
              </a:r>
              <a:r>
                <a:rPr lang="es-AR" sz="1450" dirty="0">
                  <a:solidFill>
                    <a:srgbClr val="1E1E1E"/>
                  </a:solidFill>
                  <a:latin typeface="Fira Sans Condensed"/>
                  <a:ea typeface="Fira Sans Condensed"/>
                  <a:cs typeface="Fira Sans Condensed"/>
                  <a:sym typeface="Fira Sans Condensed"/>
                </a:rPr>
                <a:t> (K</a:t>
              </a:r>
              <a:r>
                <a:rPr lang="es-AR" sz="1450" baseline="-25000" dirty="0">
                  <a:solidFill>
                    <a:srgbClr val="1E1E1E"/>
                  </a:solidFill>
                  <a:latin typeface="Fira Sans Condensed"/>
                  <a:ea typeface="Fira Sans Condensed"/>
                  <a:cs typeface="Fira Sans Condensed"/>
                  <a:sym typeface="Fira Sans Condensed"/>
                </a:rPr>
                <a:t>m</a:t>
              </a:r>
              <a:r>
                <a:rPr lang="es-AR" sz="1450" dirty="0">
                  <a:solidFill>
                    <a:srgbClr val="1E1E1E"/>
                  </a:solidFill>
                  <a:latin typeface="Fira Sans Condensed"/>
                  <a:ea typeface="Fira Sans Condensed"/>
                  <a:cs typeface="Fira Sans Condensed"/>
                  <a:sym typeface="Fira Sans Condensed"/>
                </a:rPr>
                <a:t> alta, sin inhibición por producto) fosforila la glucosa a </a:t>
              </a:r>
              <a:r>
                <a:rPr lang="es-AR" sz="1450" b="1" dirty="0">
                  <a:solidFill>
                    <a:srgbClr val="1E1E1E"/>
                  </a:solidFill>
                  <a:latin typeface="Fira Sans Condensed"/>
                  <a:ea typeface="Fira Sans Condensed"/>
                  <a:cs typeface="Fira Sans Condensed"/>
                  <a:sym typeface="Fira Sans Condensed"/>
                </a:rPr>
                <a:t>glucosa-6-fosfato</a:t>
              </a:r>
              <a:r>
                <a:rPr lang="es-AR" sz="1450" dirty="0">
                  <a:solidFill>
                    <a:srgbClr val="1E1E1E"/>
                  </a:solidFill>
                  <a:latin typeface="Fira Sans Condensed"/>
                  <a:ea typeface="Fira Sans Condensed"/>
                  <a:cs typeface="Fira Sans Condensed"/>
                  <a:sym typeface="Fira Sans Condensed"/>
                </a:rPr>
                <a:t> en proporción a la glucemia.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entrada no limita la velocidad: el paso que «decide» es la fosforilación.</a:t>
              </a:r>
              <a:endParaRPr lang="es-AR" sz="1450" dirty="0">
                <a:latin typeface="Fira Sans Condensed"/>
              </a:endParaRPr>
            </a:p>
          </p:txBody>
        </p:sp>
      </p:grpSp>
      <p:sp>
        <p:nvSpPr>
          <p:cNvPr id="97" name="Glc ext 0"/>
          <p:cNvSpPr/>
          <p:nvPr/>
        </p:nvSpPr>
        <p:spPr>
          <a:xfrm>
            <a:off x="502920" y="9601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98" name="Glc ext 1"/>
          <p:cNvSpPr/>
          <p:nvPr/>
        </p:nvSpPr>
        <p:spPr>
          <a:xfrm>
            <a:off x="1005840" y="1252728"/>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99" name="Glc ext 2"/>
          <p:cNvSpPr/>
          <p:nvPr/>
        </p:nvSpPr>
        <p:spPr>
          <a:xfrm>
            <a:off x="1508760" y="9601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00" name="Glc ext 3"/>
          <p:cNvSpPr/>
          <p:nvPr/>
        </p:nvSpPr>
        <p:spPr>
          <a:xfrm>
            <a:off x="2011680" y="1252728"/>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PASOS 1–3 · GLUCOSA </a:t>
            </a:r>
            <a:r>
              <a:rPr lang="es-AR" sz="33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 ENTRADA Y GLUCOCINASA</a:t>
            </a:r>
            <a:endParaRPr lang="es-AR" sz="33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0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7"/>
                                        </p:tgtEl>
                                        <p:attrNameLst>
                                          <p:attrName>style.visibility</p:attrName>
                                        </p:attrNameLst>
                                      </p:cBhvr>
                                      <p:to>
                                        <p:strVal val="visible"/>
                                      </p:to>
                                    </p:set>
                                    <p:animEffect transition="in" filter="fade">
                                      <p:cBhvr>
                                        <p:cTn id="5" dur="250"/>
                                        <p:tgtEl>
                                          <p:spTgt spid="97"/>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8"/>
                                        </p:tgtEl>
                                        <p:attrNameLst>
                                          <p:attrName>style.visibility</p:attrName>
                                        </p:attrNameLst>
                                      </p:cBhvr>
                                      <p:to>
                                        <p:strVal val="visible"/>
                                      </p:to>
                                    </p:set>
                                    <p:animEffect transition="in" filter="fade">
                                      <p:cBhvr>
                                        <p:cTn id="9" dur="250"/>
                                        <p:tgtEl>
                                          <p:spTgt spid="98"/>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9"/>
                                        </p:tgtEl>
                                        <p:attrNameLst>
                                          <p:attrName>style.visibility</p:attrName>
                                        </p:attrNameLst>
                                      </p:cBhvr>
                                      <p:to>
                                        <p:strVal val="visible"/>
                                      </p:to>
                                    </p:set>
                                    <p:animEffect transition="in" filter="fade">
                                      <p:cBhvr>
                                        <p:cTn id="13" dur="250"/>
                                        <p:tgtEl>
                                          <p:spTgt spid="99"/>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fade">
                                      <p:cBhvr>
                                        <p:cTn id="17" dur="250"/>
                                        <p:tgtEl>
                                          <p:spTgt spid="100"/>
                                        </p:tgtEl>
                                      </p:cBhvr>
                                    </p:animEffect>
                                  </p:childTnLst>
                                </p:cTn>
                              </p:par>
                            </p:childTnLst>
                          </p:cTn>
                        </p:par>
                      </p:childTnLst>
                    </p:cTn>
                  </p:par>
                  <p:par>
                    <p:cTn id="32" fill="hold">
                      <p:stCondLst>
                        <p:cond delay="indefinite"/>
                      </p:stCondLst>
                      <p:childTnLst>
                        <p:par>
                          <p:cTn id="22" fill="hold">
                            <p:stCondLst>
                              <p:cond delay="0"/>
                            </p:stCondLst>
                            <p:childTnLst>
                              <p:par>
                                <p:cTn id="20" presetID="0" presetClass="path" presetSubtype="0" accel="20000" decel="20000" fill="hold" grpId="0" nodeType="clickEffect">
                                  <p:stCondLst>
                                    <p:cond delay="0"/>
                                  </p:stCondLst>
                                  <p:childTnLst>
                                    <p:animMotion origin="layout" path="M 0 0 L 0.0450 -0.0267 L 0.0450 0.1867 E" pathEditMode="relative" ptsTypes="">
                                      <p:cBhvr>
                                        <p:cTn id="21" dur="1500" fill="hold"/>
                                        <p:tgtEl>
                                          <p:spTgt spid="97"/>
                                        </p:tgtEl>
                                        <p:attrNameLst>
                                          <p:attrName>ppt_x</p:attrName>
                                          <p:attrName>ppt_y</p:attrName>
                                        </p:attrNameLst>
                                      </p:cBhvr>
                                      <p:rCtr x="2250" y="9333"/>
                                    </p:animMotion>
                                  </p:childTnLst>
                                </p:cTn>
                              </p:par>
                            </p:childTnLst>
                          </p:cTn>
                        </p:par>
                        <p:par>
                          <p:cTn id="25" fill="hold">
                            <p:stCondLst>
                              <p:cond delay="300"/>
                            </p:stCondLst>
                            <p:childTnLst>
                              <p:par>
                                <p:cTn id="23" presetID="0" presetClass="path" presetSubtype="0" accel="20000" decel="20000" fill="hold" grpId="0" nodeType="afterEffect">
                                  <p:stCondLst>
                                    <p:cond delay="0"/>
                                  </p:stCondLst>
                                  <p:childTnLst>
                                    <p:animMotion origin="layout" path="M 0 0 L 0.0038 -0.0693 L 0.0038 0.1600 E" pathEditMode="relative" ptsTypes="">
                                      <p:cBhvr>
                                        <p:cTn id="24" dur="1500" fill="hold"/>
                                        <p:tgtEl>
                                          <p:spTgt spid="98"/>
                                        </p:tgtEl>
                                        <p:attrNameLst>
                                          <p:attrName>ppt_x</p:attrName>
                                          <p:attrName>ppt_y</p:attrName>
                                        </p:attrNameLst>
                                      </p:cBhvr>
                                      <p:rCtr x="187" y="8000"/>
                                    </p:animMotion>
                                  </p:childTnLst>
                                </p:cTn>
                              </p:par>
                            </p:childTnLst>
                          </p:cTn>
                        </p:par>
                        <p:par>
                          <p:cTn id="28" fill="hold">
                            <p:stCondLst>
                              <p:cond delay="900"/>
                            </p:stCondLst>
                            <p:childTnLst>
                              <p:par>
                                <p:cTn id="26" presetID="0" presetClass="path" presetSubtype="0" accel="20000" decel="20000" fill="hold" grpId="0" nodeType="afterEffect">
                                  <p:stCondLst>
                                    <p:cond delay="0"/>
                                  </p:stCondLst>
                                  <p:childTnLst>
                                    <p:animMotion origin="layout" path="M 0 0 L -0.0375 -0.0267 L -0.0375 0.2187 E" pathEditMode="relative" ptsTypes="">
                                      <p:cBhvr>
                                        <p:cTn id="27" dur="1500" fill="hold"/>
                                        <p:tgtEl>
                                          <p:spTgt spid="99"/>
                                        </p:tgtEl>
                                        <p:attrNameLst>
                                          <p:attrName>ppt_x</p:attrName>
                                          <p:attrName>ppt_y</p:attrName>
                                        </p:attrNameLst>
                                      </p:cBhvr>
                                      <p:rCtr x="-1875" y="10933"/>
                                    </p:animMotion>
                                  </p:childTnLst>
                                </p:cTn>
                              </p:par>
                            </p:childTnLst>
                          </p:cTn>
                        </p:par>
                        <p:par>
                          <p:cTn id="31" fill="hold">
                            <p:stCondLst>
                              <p:cond delay="1800"/>
                            </p:stCondLst>
                            <p:childTnLst>
                              <p:par>
                                <p:cTn id="29" presetID="0" presetClass="path" presetSubtype="0" accel="20000" decel="20000" fill="hold" grpId="0" nodeType="afterEffect">
                                  <p:stCondLst>
                                    <p:cond delay="0"/>
                                  </p:stCondLst>
                                  <p:childTnLst>
                                    <p:animMotion origin="layout" path="M 0 0 L -0.0788 -0.0693 L -0.0788 0.1920 E" pathEditMode="relative" ptsTypes="">
                                      <p:cBhvr>
                                        <p:cTn id="30" dur="1500" fill="hold"/>
                                        <p:tgtEl>
                                          <p:spTgt spid="100"/>
                                        </p:tgtEl>
                                        <p:attrNameLst>
                                          <p:attrName>ppt_x</p:attrName>
                                          <p:attrName>ppt_y</p:attrName>
                                        </p:attrNameLst>
                                      </p:cBhvr>
                                      <p:rCtr x="-3937" y="9600"/>
                                    </p:animMotion>
                                  </p:childTnLst>
                                </p:cTn>
                              </p:par>
                            </p:childTnLst>
                          </p:cTn>
                        </p:par>
                      </p:childTnLst>
                    </p:cTn>
                  </p:par>
                  <p:par>
                    <p:cTn id="55" fill="hold">
                      <p:stCondLst>
                        <p:cond delay="indefinite"/>
                      </p:stCondLst>
                      <p:childTnLst>
                        <p:par>
                          <p:cTn id="36" fill="hold">
                            <p:stCondLst>
                              <p:cond delay="0"/>
                            </p:stCondLst>
                            <p:childTnLst>
                              <p:par>
                                <p:cTn id="33" presetID="10" presetClass="exit" presetSubtype="0" fill="hold" grpId="0" nodeType="clickEffect">
                                  <p:stCondLst>
                                    <p:cond delay="0"/>
                                  </p:stCondLst>
                                  <p:childTnLst>
                                    <p:animEffect transition="out" filter="fade">
                                      <p:cBhvr>
                                        <p:cTn id="34" dur="200"/>
                                        <p:tgtEl>
                                          <p:spTgt spid="97"/>
                                        </p:tgtEl>
                                      </p:cBhvr>
                                    </p:animEffect>
                                    <p:set>
                                      <p:cBhvr>
                                        <p:cTn id="35" dur="1" fill="hold">
                                          <p:stCondLst>
                                            <p:cond delay="199"/>
                                          </p:stCondLst>
                                        </p:cTn>
                                        <p:tgtEl>
                                          <p:spTgt spid="97"/>
                                        </p:tgtEl>
                                        <p:attrNameLst>
                                          <p:attrName>style.visibility</p:attrName>
                                        </p:attrNameLst>
                                      </p:cBhvr>
                                      <p:to>
                                        <p:strVal val="hidden"/>
                                      </p:to>
                                    </p:set>
                                  </p:childTnLst>
                                </p:cTn>
                              </p:par>
                            </p:childTnLst>
                          </p:cTn>
                        </p:par>
                        <p:par>
                          <p:cTn id="40" fill="hold">
                            <p:stCondLst>
                              <p:cond delay="200"/>
                            </p:stCondLst>
                            <p:childTnLst>
                              <p:par>
                                <p:cTn id="37" presetID="10" presetClass="exit" presetSubtype="0" fill="hold" grpId="0" nodeType="afterEffect">
                                  <p:stCondLst>
                                    <p:cond delay="0"/>
                                  </p:stCondLst>
                                  <p:childTnLst>
                                    <p:animEffect transition="out" filter="fade">
                                      <p:cBhvr>
                                        <p:cTn id="38" dur="200"/>
                                        <p:tgtEl>
                                          <p:spTgt spid="98"/>
                                        </p:tgtEl>
                                      </p:cBhvr>
                                    </p:animEffect>
                                    <p:set>
                                      <p:cBhvr>
                                        <p:cTn id="39" dur="1" fill="hold">
                                          <p:stCondLst>
                                            <p:cond delay="199"/>
                                          </p:stCondLst>
                                        </p:cTn>
                                        <p:tgtEl>
                                          <p:spTgt spid="98"/>
                                        </p:tgtEl>
                                        <p:attrNameLst>
                                          <p:attrName>style.visibility</p:attrName>
                                        </p:attrNameLst>
                                      </p:cBhvr>
                                      <p:to>
                                        <p:strVal val="hidden"/>
                                      </p:to>
                                    </p:set>
                                  </p:childTnLst>
                                </p:cTn>
                              </p:par>
                            </p:childTnLst>
                          </p:cTn>
                        </p:par>
                        <p:par>
                          <p:cTn id="44" fill="hold">
                            <p:stCondLst>
                              <p:cond delay="400"/>
                            </p:stCondLst>
                            <p:childTnLst>
                              <p:par>
                                <p:cTn id="41" presetID="10" presetClass="exit" presetSubtype="0" fill="hold" grpId="0" nodeType="afterEffect">
                                  <p:stCondLst>
                                    <p:cond delay="0"/>
                                  </p:stCondLst>
                                  <p:childTnLst>
                                    <p:animEffect transition="out" filter="fade">
                                      <p:cBhvr>
                                        <p:cTn id="42" dur="200"/>
                                        <p:tgtEl>
                                          <p:spTgt spid="99"/>
                                        </p:tgtEl>
                                      </p:cBhvr>
                                    </p:animEffect>
                                    <p:set>
                                      <p:cBhvr>
                                        <p:cTn id="43" dur="1" fill="hold">
                                          <p:stCondLst>
                                            <p:cond delay="199"/>
                                          </p:stCondLst>
                                        </p:cTn>
                                        <p:tgtEl>
                                          <p:spTgt spid="99"/>
                                        </p:tgtEl>
                                        <p:attrNameLst>
                                          <p:attrName>style.visibility</p:attrName>
                                        </p:attrNameLst>
                                      </p:cBhvr>
                                      <p:to>
                                        <p:strVal val="hidden"/>
                                      </p:to>
                                    </p:set>
                                  </p:childTnLst>
                                </p:cTn>
                              </p:par>
                            </p:childTnLst>
                          </p:cTn>
                        </p:par>
                        <p:par>
                          <p:cTn id="48" fill="hold">
                            <p:stCondLst>
                              <p:cond delay="600"/>
                            </p:stCondLst>
                            <p:childTnLst>
                              <p:par>
                                <p:cTn id="45" presetID="10" presetClass="exit" presetSubtype="0" fill="hold" grpId="0" nodeType="afterEffect">
                                  <p:stCondLst>
                                    <p:cond delay="0"/>
                                  </p:stCondLst>
                                  <p:childTnLst>
                                    <p:animEffect transition="out" filter="fade">
                                      <p:cBhvr>
                                        <p:cTn id="46" dur="200"/>
                                        <p:tgtEl>
                                          <p:spTgt spid="100"/>
                                        </p:tgtEl>
                                      </p:cBhvr>
                                    </p:animEffect>
                                    <p:set>
                                      <p:cBhvr>
                                        <p:cTn id="47" dur="1" fill="hold">
                                          <p:stCondLst>
                                            <p:cond delay="199"/>
                                          </p:stCondLst>
                                        </p:cTn>
                                        <p:tgtEl>
                                          <p:spTgt spid="100"/>
                                        </p:tgtEl>
                                        <p:attrNameLst>
                                          <p:attrName>style.visibility</p:attrName>
                                        </p:attrNameLst>
                                      </p:cBhvr>
                                      <p:to>
                                        <p:strVal val="hidden"/>
                                      </p:to>
                                    </p:set>
                                  </p:childTnLst>
                                </p:cTn>
                              </p:par>
                            </p:childTnLst>
                          </p:cTn>
                        </p:par>
                        <p:par>
                          <p:cTn id="51" fill="hold">
                            <p:stCondLst>
                              <p:cond delay="800"/>
                            </p:stCondLst>
                            <p:childTnLst>
                              <p:par>
                                <p:cTn id="49" presetID="6" presetClass="emph" presetSubtype="0" fill="hold" grpId="0" nodeType="afterEffect">
                                  <p:stCondLst>
                                    <p:cond delay="0"/>
                                  </p:stCondLst>
                                  <p:childTnLst>
                                    <p:animScale>
                                      <p:cBhvr>
                                        <p:cTn id="50" dur="300" autoRev="1" fill="hold"/>
                                        <p:tgtEl>
                                          <p:spTgt spid="78"/>
                                        </p:tgtEl>
                                      </p:cBhvr>
                                      <p:by x="112000" y="112000"/>
                                    </p:animScale>
                                  </p:childTnLst>
                                </p:cTn>
                              </p:par>
                            </p:childTnLst>
                          </p:cTn>
                        </p:par>
                        <p:par>
                          <p:cTn id="54" fill="hold">
                            <p:stCondLst>
                              <p:cond delay="1100"/>
                            </p:stCondLst>
                            <p:childTnLst>
                              <p:par>
                                <p:cTn id="52" presetID="6" presetClass="emph" presetSubtype="0" fill="hold" grpId="0" nodeType="afterEffect">
                                  <p:stCondLst>
                                    <p:cond delay="0"/>
                                  </p:stCondLst>
                                  <p:childTnLst>
                                    <p:animScale>
                                      <p:cBhvr>
                                        <p:cTn id="53" dur="300" autoRev="1" fill="hold"/>
                                        <p:tgtEl>
                                          <p:spTgt spid="77"/>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8" grpId="0" animBg="1"/>
      <p:bldP spid="99" grpId="0" animBg="1"/>
      <p:bldP spid="100" grpId="0" animBg="1"/>
      <p:bldP spid="78" grpId="0" animBg="1"/>
      <p:bldP spid="7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8" name="!!Célula beta"/>
          <p:cNvGrpSpPr/>
          <p:nvPr/>
        </p:nvGrpSpPr>
        <p:grpSpPr>
          <a:xfrm>
            <a:off x="365760" y="2148840"/>
            <a:ext cx="7315200" cy="4297680"/>
            <a:chOff x="365760" y="2148840"/>
            <a:chExt cx="7315200" cy="4297680"/>
          </a:xfrm>
        </p:grpSpPr>
        <p:sp>
          <p:nvSpPr>
            <p:cNvPr id="9" name="Forma 8"/>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0" name="Forma 9"/>
            <p:cNvSpPr/>
            <p:nvPr/>
          </p:nvSpPr>
          <p:spPr>
            <a:xfrm>
              <a:off x="384048" y="2167128"/>
              <a:ext cx="7278624" cy="4261104"/>
            </a:xfrm>
            <a:prstGeom prst="roundRect">
              <a:avLst>
                <a:gd name="adj" fmla="val 16000"/>
              </a:avLst>
            </a:prstGeom>
            <a:noFill/>
            <a:ln w="50800" cap="rnd">
              <a:solidFill>
                <a:srgbClr val="F5CBA7"/>
              </a:solidFill>
              <a:round/>
            </a:ln>
          </p:spPr>
        </p:sp>
        <p:grpSp>
          <p:nvGrpSpPr>
            <p:cNvPr id="11" name="Núcleo"/>
            <p:cNvGrpSpPr/>
            <p:nvPr/>
          </p:nvGrpSpPr>
          <p:grpSpPr>
            <a:xfrm>
              <a:off x="950976" y="4512564"/>
              <a:ext cx="1316736" cy="1185062"/>
              <a:chOff x="950976" y="4512564"/>
              <a:chExt cx="1316736" cy="1185062"/>
            </a:xfrm>
          </p:grpSpPr>
          <p:sp>
            <p:nvSpPr>
              <p:cNvPr id="12" name="Forma 11"/>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3" name="Forma 12"/>
              <p:cNvSpPr/>
              <p:nvPr/>
            </p:nvSpPr>
            <p:spPr>
              <a:xfrm>
                <a:off x="1635679" y="4907585"/>
                <a:ext cx="289682" cy="263347"/>
              </a:xfrm>
              <a:prstGeom prst="ellipse">
                <a:avLst/>
              </a:prstGeom>
              <a:solidFill>
                <a:srgbClr val="513B6B"/>
              </a:solidFill>
              <a:ln>
                <a:noFill/>
              </a:ln>
            </p:spPr>
          </p:sp>
        </p:grpSp>
        <p:grpSp>
          <p:nvGrpSpPr>
            <p:cNvPr id="14" name="Retículo endoplasmático"/>
            <p:cNvGrpSpPr/>
            <p:nvPr/>
          </p:nvGrpSpPr>
          <p:grpSpPr>
            <a:xfrm>
              <a:off x="2560320" y="4962388"/>
              <a:ext cx="1243584" cy="830885"/>
              <a:chOff x="2560320" y="4962388"/>
              <a:chExt cx="1243584" cy="830885"/>
            </a:xfrm>
          </p:grpSpPr>
          <p:sp>
            <p:nvSpPr>
              <p:cNvPr id="15" name="Forma 14"/>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6" name="Forma 15"/>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7" name="Forma 16"/>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8" name="Forma 17"/>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9" name="Forma 18"/>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0" name="Forma 19"/>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1" name="!!GLUT"/>
          <p:cNvGrpSpPr/>
          <p:nvPr/>
        </p:nvGrpSpPr>
        <p:grpSpPr>
          <a:xfrm>
            <a:off x="594360" y="1856232"/>
            <a:ext cx="1207740" cy="822960"/>
            <a:chOff x="594360" y="1856232"/>
            <a:chExt cx="1207740" cy="822960"/>
          </a:xfrm>
        </p:grpSpPr>
        <p:sp>
          <p:nvSpPr>
            <p:cNvPr id="22" name="Forma 21"/>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3" name="Forma 22"/>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5" name="!!KATP"/>
          <p:cNvGrpSpPr/>
          <p:nvPr/>
        </p:nvGrpSpPr>
        <p:grpSpPr>
          <a:xfrm>
            <a:off x="2331720" y="1819656"/>
            <a:ext cx="1733702" cy="914400"/>
            <a:chOff x="2331720" y="1819656"/>
            <a:chExt cx="1733702" cy="914400"/>
          </a:xfrm>
        </p:grpSpPr>
        <p:sp>
          <p:nvSpPr>
            <p:cNvPr id="26" name="Forma 25"/>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7" name="Forma 26"/>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8" name="Forma 27"/>
            <p:cNvSpPr/>
            <p:nvPr/>
          </p:nvSpPr>
          <p:spPr>
            <a:xfrm>
              <a:off x="3249778"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416198"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0" name="Forma 29"/>
            <p:cNvSpPr txBox="1"/>
            <p:nvPr/>
          </p:nvSpPr>
          <p:spPr>
            <a:xfrm>
              <a:off x="2331720" y="2478024"/>
              <a:ext cx="1733702"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abierto</a:t>
              </a:r>
              <a:endParaRPr lang="es-AR" sz="1150" dirty="0">
                <a:latin typeface="Fira Sans Condensed"/>
              </a:endParaRPr>
            </a:p>
          </p:txBody>
        </p:sp>
      </p:grpSp>
      <p:grpSp>
        <p:nvGrpSpPr>
          <p:cNvPr id="31" name="!!CaV"/>
          <p:cNvGrpSpPr/>
          <p:nvPr/>
        </p:nvGrpSpPr>
        <p:grpSpPr>
          <a:xfrm>
            <a:off x="4434840" y="1819656"/>
            <a:ext cx="1640434" cy="914400"/>
            <a:chOff x="4434840" y="1819656"/>
            <a:chExt cx="1640434" cy="914400"/>
          </a:xfrm>
        </p:grpSpPr>
        <p:sp>
          <p:nvSpPr>
            <p:cNvPr id="32" name="Forma 31"/>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3" name="Forma 32"/>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4" name="Forma 33"/>
            <p:cNvSpPr/>
            <p:nvPr/>
          </p:nvSpPr>
          <p:spPr>
            <a:xfrm>
              <a:off x="5259629"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42605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6" name="Forma 35"/>
            <p:cNvSpPr txBox="1"/>
            <p:nvPr/>
          </p:nvSpPr>
          <p:spPr>
            <a:xfrm>
              <a:off x="443484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7" name="!!Mitocondria beta"/>
          <p:cNvGrpSpPr/>
          <p:nvPr/>
        </p:nvGrpSpPr>
        <p:grpSpPr>
          <a:xfrm>
            <a:off x="1828800" y="3657600"/>
            <a:ext cx="1554480" cy="777240"/>
            <a:chOff x="1828800" y="3657600"/>
            <a:chExt cx="1554480" cy="777240"/>
          </a:xfrm>
        </p:grpSpPr>
        <p:sp>
          <p:nvSpPr>
            <p:cNvPr id="38" name="Forma 37"/>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a:off x="1937614" y="3766414"/>
              <a:ext cx="1336853" cy="559613"/>
            </a:xfrm>
            <a:prstGeom prst="ellipse">
              <a:avLst/>
            </a:prstGeom>
            <a:solidFill>
              <a:srgbClr val="F8D8B4"/>
            </a:solidFill>
            <a:ln w="9525" cap="rnd">
              <a:solidFill>
                <a:srgbClr val="B2732B"/>
              </a:solidFill>
              <a:round/>
            </a:ln>
          </p:spPr>
        </p:sp>
        <p:sp>
          <p:nvSpPr>
            <p:cNvPr id="40" name="Forma 39"/>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Gránulo 0"/>
          <p:cNvGrpSpPr/>
          <p:nvPr/>
        </p:nvGrpSpPr>
        <p:grpSpPr>
          <a:xfrm>
            <a:off x="4754880" y="3383280"/>
            <a:ext cx="457200" cy="457200"/>
            <a:chOff x="4754880" y="3383280"/>
            <a:chExt cx="457200" cy="457200"/>
          </a:xfrm>
        </p:grpSpPr>
        <p:sp>
          <p:nvSpPr>
            <p:cNvPr id="42" name="Forma 41"/>
            <p:cNvSpPr/>
            <p:nvPr/>
          </p:nvSpPr>
          <p:spPr>
            <a:xfrm>
              <a:off x="4754880" y="33832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3" name="Forma 42"/>
            <p:cNvSpPr/>
            <p:nvPr/>
          </p:nvSpPr>
          <p:spPr>
            <a:xfrm>
              <a:off x="4892040" y="35204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4" name="!!Gránulo 1"/>
          <p:cNvGrpSpPr/>
          <p:nvPr/>
        </p:nvGrpSpPr>
        <p:grpSpPr>
          <a:xfrm>
            <a:off x="5486400" y="3154680"/>
            <a:ext cx="457200" cy="457200"/>
            <a:chOff x="5486400" y="3154680"/>
            <a:chExt cx="457200" cy="457200"/>
          </a:xfrm>
        </p:grpSpPr>
        <p:sp>
          <p:nvSpPr>
            <p:cNvPr id="45" name="Forma 44"/>
            <p:cNvSpPr/>
            <p:nvPr/>
          </p:nvSpPr>
          <p:spPr>
            <a:xfrm>
              <a:off x="5486400" y="31546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6" name="Forma 45"/>
            <p:cNvSpPr/>
            <p:nvPr/>
          </p:nvSpPr>
          <p:spPr>
            <a:xfrm>
              <a:off x="5623560" y="32918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7" name="!!Gránulo 2"/>
          <p:cNvGrpSpPr/>
          <p:nvPr/>
        </p:nvGrpSpPr>
        <p:grpSpPr>
          <a:xfrm>
            <a:off x="6217920" y="3429000"/>
            <a:ext cx="457200" cy="457200"/>
            <a:chOff x="6217920" y="3429000"/>
            <a:chExt cx="457200" cy="457200"/>
          </a:xfrm>
        </p:grpSpPr>
        <p:sp>
          <p:nvSpPr>
            <p:cNvPr id="48" name="Forma 47"/>
            <p:cNvSpPr/>
            <p:nvPr/>
          </p:nvSpPr>
          <p:spPr>
            <a:xfrm>
              <a:off x="6217920" y="34290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9" name="Forma 48"/>
            <p:cNvSpPr/>
            <p:nvPr/>
          </p:nvSpPr>
          <p:spPr>
            <a:xfrm>
              <a:off x="6355080" y="35661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0" name="!!Gránulo 3"/>
          <p:cNvGrpSpPr/>
          <p:nvPr/>
        </p:nvGrpSpPr>
        <p:grpSpPr>
          <a:xfrm>
            <a:off x="5120640" y="4069080"/>
            <a:ext cx="457200" cy="457200"/>
            <a:chOff x="5120640" y="4069080"/>
            <a:chExt cx="457200" cy="457200"/>
          </a:xfrm>
        </p:grpSpPr>
        <p:sp>
          <p:nvSpPr>
            <p:cNvPr id="51" name="Forma 50"/>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2" name="Forma 51"/>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3" name="!!Gránulo 4"/>
          <p:cNvGrpSpPr/>
          <p:nvPr/>
        </p:nvGrpSpPr>
        <p:grpSpPr>
          <a:xfrm>
            <a:off x="5897880" y="4023360"/>
            <a:ext cx="457200" cy="457200"/>
            <a:chOff x="5897880" y="4023360"/>
            <a:chExt cx="457200" cy="457200"/>
          </a:xfrm>
        </p:grpSpPr>
        <p:sp>
          <p:nvSpPr>
            <p:cNvPr id="54" name="Forma 53"/>
            <p:cNvSpPr/>
            <p:nvPr/>
          </p:nvSpPr>
          <p:spPr>
            <a:xfrm>
              <a:off x="5897880" y="40233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5" name="Forma 54"/>
            <p:cNvSpPr/>
            <p:nvPr/>
          </p:nvSpPr>
          <p:spPr>
            <a:xfrm>
              <a:off x="6035040" y="41605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6" name="!!Gránulo 5"/>
          <p:cNvGrpSpPr/>
          <p:nvPr/>
        </p:nvGrpSpPr>
        <p:grpSpPr>
          <a:xfrm>
            <a:off x="6583680" y="4206240"/>
            <a:ext cx="457200" cy="457200"/>
            <a:chOff x="6583680" y="4206240"/>
            <a:chExt cx="457200" cy="457200"/>
          </a:xfrm>
        </p:grpSpPr>
        <p:sp>
          <p:nvSpPr>
            <p:cNvPr id="57" name="Forma 56"/>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8" name="Forma 57"/>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9" name="!!Gránulo 6"/>
          <p:cNvGrpSpPr/>
          <p:nvPr/>
        </p:nvGrpSpPr>
        <p:grpSpPr>
          <a:xfrm>
            <a:off x="4846320" y="4800600"/>
            <a:ext cx="457200" cy="457200"/>
            <a:chOff x="4846320" y="4800600"/>
            <a:chExt cx="457200" cy="457200"/>
          </a:xfrm>
        </p:grpSpPr>
        <p:sp>
          <p:nvSpPr>
            <p:cNvPr id="60" name="Forma 59"/>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1" name="Forma 60"/>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2" name="!!Gránulo 7"/>
          <p:cNvGrpSpPr/>
          <p:nvPr/>
        </p:nvGrpSpPr>
        <p:grpSpPr>
          <a:xfrm>
            <a:off x="5623560" y="4754880"/>
            <a:ext cx="457200" cy="457200"/>
            <a:chOff x="5623560" y="4754880"/>
            <a:chExt cx="457200" cy="457200"/>
          </a:xfrm>
        </p:grpSpPr>
        <p:sp>
          <p:nvSpPr>
            <p:cNvPr id="63" name="Forma 62"/>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4" name="Forma 63"/>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5" name="!!Cargas de membrana"/>
          <p:cNvGrpSpPr/>
          <p:nvPr/>
        </p:nvGrpSpPr>
        <p:grpSpPr>
          <a:xfrm>
            <a:off x="685800" y="1481328"/>
            <a:ext cx="6537960" cy="1307592"/>
            <a:chOff x="685800" y="1481328"/>
            <a:chExt cx="6537960" cy="1307592"/>
          </a:xfrm>
        </p:grpSpPr>
        <p:sp>
          <p:nvSpPr>
            <p:cNvPr id="66" name="Forma 65"/>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7" name="Forma 66"/>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6" name="!!Potencial"/>
          <p:cNvSpPr/>
          <p:nvPr/>
        </p:nvSpPr>
        <p:spPr>
          <a:xfrm>
            <a:off x="502920" y="5897880"/>
            <a:ext cx="2194560" cy="384048"/>
          </a:xfrm>
          <a:prstGeom prst="rect">
            <a:avLst/>
          </a:prstGeom>
          <a:solidFill>
            <a:srgbClr val="FFFFFF"/>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 −70 mV</a:t>
            </a:r>
            <a:endParaRPr lang="es-AR" sz="1250" dirty="0">
              <a:latin typeface="Fira Sans Condensed"/>
            </a:endParaRPr>
          </a:p>
        </p:txBody>
      </p:sp>
      <p:sp>
        <p:nvSpPr>
          <p:cNvPr id="77" name="!!G6P"/>
          <p:cNvSpPr/>
          <p:nvPr/>
        </p:nvSpPr>
        <p:spPr>
          <a:xfrm>
            <a:off x="914400" y="2926080"/>
            <a:ext cx="11430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G6P</a:t>
            </a:r>
            <a:endParaRPr lang="es-AR" sz="1300" dirty="0">
              <a:latin typeface="Fira Sans Condensed"/>
            </a:endParaRPr>
          </a:p>
        </p:txBody>
      </p:sp>
      <p:sp>
        <p:nvSpPr>
          <p:cNvPr id="78" name="!!Glucocinasa"/>
          <p:cNvSpPr/>
          <p:nvPr/>
        </p:nvSpPr>
        <p:spPr>
          <a:xfrm>
            <a:off x="960120" y="2606040"/>
            <a:ext cx="962817"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Glucocinasa</a:t>
            </a:r>
            <a:endParaRPr lang="es-AR" sz="1100" dirty="0">
              <a:latin typeface="Fira Sans Condensed"/>
            </a:endParaRPr>
          </a:p>
        </p:txBody>
      </p:sp>
      <p:sp>
        <p:nvSpPr>
          <p:cNvPr id="79" name="!!ATP 0"/>
          <p:cNvSpPr/>
          <p:nvPr/>
        </p:nvSpPr>
        <p:spPr>
          <a:xfrm>
            <a:off x="3520440"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0" name="!!ATP 1"/>
          <p:cNvSpPr/>
          <p:nvPr/>
        </p:nvSpPr>
        <p:spPr>
          <a:xfrm>
            <a:off x="3959352"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1" name="!!ATP 2"/>
          <p:cNvSpPr/>
          <p:nvPr/>
        </p:nvSpPr>
        <p:spPr>
          <a:xfrm>
            <a:off x="4398264"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2" name="!!ATP 3"/>
          <p:cNvSpPr/>
          <p:nvPr/>
        </p:nvSpPr>
        <p:spPr>
          <a:xfrm>
            <a:off x="3520440"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3" name="!!ATP 4"/>
          <p:cNvSpPr/>
          <p:nvPr/>
        </p:nvSpPr>
        <p:spPr>
          <a:xfrm>
            <a:off x="3959352"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4" name="!!ATP 5"/>
          <p:cNvSpPr/>
          <p:nvPr/>
        </p:nvSpPr>
        <p:spPr>
          <a:xfrm>
            <a:off x="4398264"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grpSp>
        <p:nvGrpSpPr>
          <p:cNvPr id="85" name="!!Progreso"/>
          <p:cNvGrpSpPr/>
          <p:nvPr/>
        </p:nvGrpSpPr>
        <p:grpSpPr>
          <a:xfrm>
            <a:off x="8001000" y="5596128"/>
            <a:ext cx="3840480" cy="768096"/>
            <a:chOff x="8001000" y="5596128"/>
            <a:chExt cx="3840480" cy="768096"/>
          </a:xfrm>
        </p:grpSpPr>
        <p:sp>
          <p:nvSpPr>
            <p:cNvPr id="86" name="Progreso 1"/>
            <p:cNvSpPr/>
            <p:nvPr/>
          </p:nvSpPr>
          <p:spPr>
            <a:xfrm>
              <a:off x="802843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87" name="Progreso 2"/>
            <p:cNvSpPr/>
            <p:nvPr/>
          </p:nvSpPr>
          <p:spPr>
            <a:xfrm>
              <a:off x="837590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88" name="Progreso 3"/>
            <p:cNvSpPr/>
            <p:nvPr/>
          </p:nvSpPr>
          <p:spPr>
            <a:xfrm>
              <a:off x="8723376"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89" name="Progreso 4"/>
            <p:cNvSpPr/>
            <p:nvPr/>
          </p:nvSpPr>
          <p:spPr>
            <a:xfrm>
              <a:off x="9070848"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90" name="Progreso 5"/>
            <p:cNvSpPr/>
            <p:nvPr/>
          </p:nvSpPr>
          <p:spPr>
            <a:xfrm>
              <a:off x="9418320"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91" name="Progreso 6"/>
            <p:cNvSpPr/>
            <p:nvPr/>
          </p:nvSpPr>
          <p:spPr>
            <a:xfrm>
              <a:off x="976579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92" name="Progreso 7"/>
            <p:cNvSpPr/>
            <p:nvPr/>
          </p:nvSpPr>
          <p:spPr>
            <a:xfrm>
              <a:off x="10113264"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93" name="Progreso 8"/>
            <p:cNvSpPr/>
            <p:nvPr/>
          </p:nvSpPr>
          <p:spPr>
            <a:xfrm>
              <a:off x="10460736"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94" name="Progreso 9"/>
            <p:cNvSpPr/>
            <p:nvPr/>
          </p:nvSpPr>
          <p:spPr>
            <a:xfrm>
              <a:off x="1080820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95" name="Progreso 10"/>
            <p:cNvSpPr/>
            <p:nvPr/>
          </p:nvSpPr>
          <p:spPr>
            <a:xfrm>
              <a:off x="1115568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96" name="Progreso 11"/>
            <p:cNvSpPr/>
            <p:nvPr/>
          </p:nvSpPr>
          <p:spPr>
            <a:xfrm>
              <a:off x="1150315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sp>
          <p:nvSpPr>
            <p:cNvPr id="97" name="Forma 96"/>
            <p:cNvSpPr/>
            <p:nvPr/>
          </p:nvSpPr>
          <p:spPr>
            <a:xfrm>
              <a:off x="8001000" y="5596128"/>
              <a:ext cx="3840480" cy="384048"/>
            </a:xfrm>
            <a:prstGeom prst="rect">
              <a:avLst/>
            </a:prstGeom>
            <a:solidFill>
              <a:srgbClr val="FFC000"/>
            </a:solidFill>
            <a:ln w="15875" cap="rnd">
              <a:solidFill>
                <a:srgbClr val="1E1E1E"/>
              </a:solidFill>
              <a:round/>
            </a:ln>
          </p:spPr>
          <p:txBody>
            <a:bodyPr wrap="square" lIns="36576" tIns="0" rIns="36576" bIns="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Oxidación → ATP/ADP ↑</a:t>
              </a:r>
              <a:endParaRPr lang="es-AR" sz="1250" dirty="0">
                <a:latin typeface="Fira Sans Condensed"/>
              </a:endParaRPr>
            </a:p>
          </p:txBody>
        </p:sp>
      </p:grpSp>
      <p:grpSp>
        <p:nvGrpSpPr>
          <p:cNvPr id="98" name="!!Panel"/>
          <p:cNvGrpSpPr/>
          <p:nvPr/>
        </p:nvGrpSpPr>
        <p:grpSpPr>
          <a:xfrm>
            <a:off x="8001000" y="1051560"/>
            <a:ext cx="3840480" cy="4297680"/>
            <a:chOff x="8001000" y="1051560"/>
            <a:chExt cx="3840480" cy="4297680"/>
          </a:xfrm>
        </p:grpSpPr>
        <p:sp>
          <p:nvSpPr>
            <p:cNvPr id="99" name="Forma 98"/>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00" name="Forma 99"/>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4–5</a:t>
              </a:r>
              <a:endParaRPr lang="es-AR" sz="1500" dirty="0">
                <a:latin typeface="Fira Sans Condensed"/>
              </a:endParaRPr>
            </a:p>
          </p:txBody>
        </p:sp>
        <p:sp>
          <p:nvSpPr>
            <p:cNvPr id="101" name="Forma 100"/>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Metabolismo → ATP</a:t>
              </a:r>
              <a:endParaRPr lang="es-AR" sz="1650" dirty="0">
                <a:latin typeface="Fira Sans Condensed"/>
              </a:endParaRPr>
            </a:p>
          </p:txBody>
        </p:sp>
        <p:sp>
          <p:nvSpPr>
            <p:cNvPr id="102" name="Forma 101"/>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4.</a:t>
              </a:r>
              <a:r>
                <a:rPr lang="es-AR" sz="1450" dirty="0">
                  <a:solidFill>
                    <a:srgbClr val="1E1E1E"/>
                  </a:solidFill>
                  <a:latin typeface="Fira Sans Condensed"/>
                  <a:ea typeface="Fira Sans Condensed"/>
                  <a:cs typeface="Fira Sans Condensed"/>
                  <a:sym typeface="Fira Sans Condensed"/>
                </a:rPr>
                <a:t> Glucólisis → </a:t>
              </a:r>
              <a:r>
                <a:rPr lang="es-AR" sz="1450" b="1" dirty="0">
                  <a:solidFill>
                    <a:srgbClr val="1E1E1E"/>
                  </a:solidFill>
                  <a:latin typeface="Fira Sans Condensed"/>
                  <a:ea typeface="Fira Sans Condensed"/>
                  <a:cs typeface="Fira Sans Condensed"/>
                  <a:sym typeface="Fira Sans Condensed"/>
                </a:rPr>
                <a:t>piruvato</a:t>
              </a:r>
              <a:r>
                <a:rPr lang="es-AR" sz="1450" dirty="0">
                  <a:solidFill>
                    <a:srgbClr val="1E1E1E"/>
                  </a:solidFill>
                  <a:latin typeface="Fira Sans Condensed"/>
                  <a:ea typeface="Fira Sans Condensed"/>
                  <a:cs typeface="Fira Sans Condensed"/>
                  <a:sym typeface="Fira Sans Condensed"/>
                </a:rPr>
                <a:t> → piruvato deshidrogenasa → </a:t>
              </a:r>
              <a:r>
                <a:rPr lang="es-AR" sz="1450" b="1" dirty="0">
                  <a:solidFill>
                    <a:srgbClr val="1E1E1E"/>
                  </a:solidFill>
                  <a:latin typeface="Fira Sans Condensed"/>
                  <a:ea typeface="Fira Sans Condensed"/>
                  <a:cs typeface="Fira Sans Condensed"/>
                  <a:sym typeface="Fira Sans Condensed"/>
                </a:rPr>
                <a:t>acetil-CoA</a:t>
              </a:r>
              <a:r>
                <a:rPr lang="es-AR" sz="1450" dirty="0">
                  <a:solidFill>
                    <a:srgbClr val="1E1E1E"/>
                  </a:solidFill>
                  <a:latin typeface="Fira Sans Condensed"/>
                  <a:ea typeface="Fira Sans Condensed"/>
                  <a:cs typeface="Fira Sans Condensed"/>
                  <a:sym typeface="Fira Sans Condensed"/>
                </a:rPr>
                <a:t> → ciclo de Krebs.</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NADH y FADH₂ alimentan la </a:t>
              </a:r>
              <a:r>
                <a:rPr lang="es-AR" sz="1450" b="1" dirty="0">
                  <a:solidFill>
                    <a:srgbClr val="1E1E1E"/>
                  </a:solidFill>
                  <a:latin typeface="Fira Sans Condensed"/>
                  <a:ea typeface="Fira Sans Condensed"/>
                  <a:cs typeface="Fira Sans Condensed"/>
                  <a:sym typeface="Fira Sans Condensed"/>
                </a:rPr>
                <a:t>cadena respiratoria</a:t>
              </a:r>
              <a:r>
                <a:rPr lang="es-AR" sz="1450" dirty="0">
                  <a:solidFill>
                    <a:srgbClr val="1E1E1E"/>
                  </a:solidFill>
                  <a:latin typeface="Fira Sans Condensed"/>
                  <a:ea typeface="Fira Sans Condensed"/>
                  <a:cs typeface="Fira Sans Condensed"/>
                  <a:sym typeface="Fira Sans Condensed"/>
                </a:rPr>
                <a:t>; la ATP sintasa fosforila ADP.</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5.</a:t>
              </a:r>
              <a:r>
                <a:rPr lang="es-AR" sz="1450" dirty="0">
                  <a:solidFill>
                    <a:srgbClr val="1E1E1E"/>
                  </a:solidFill>
                  <a:latin typeface="Fira Sans Condensed"/>
                  <a:ea typeface="Fira Sans Condensed"/>
                  <a:cs typeface="Fira Sans Condensed"/>
                  <a:sym typeface="Fira Sans Condensed"/>
                </a:rPr>
                <a:t> Sube la relación </a:t>
              </a:r>
              <a:r>
                <a:rPr lang="es-AR" sz="1450" b="1" dirty="0">
                  <a:solidFill>
                    <a:srgbClr val="1E1E1E"/>
                  </a:solidFill>
                  <a:latin typeface="Fira Sans Condensed"/>
                  <a:ea typeface="Fira Sans Condensed"/>
                  <a:cs typeface="Fira Sans Condensed"/>
                  <a:sym typeface="Fira Sans Condensed"/>
                </a:rPr>
                <a:t>ATP/ADP</a:t>
              </a:r>
              <a:r>
                <a:rPr lang="es-AR" sz="1450" dirty="0">
                  <a:solidFill>
                    <a:srgbClr val="1E1E1E"/>
                  </a:solidFill>
                  <a:latin typeface="Fira Sans Condensed"/>
                  <a:ea typeface="Fira Sans Condensed"/>
                  <a:cs typeface="Fira Sans Condensed"/>
                  <a:sym typeface="Fira Sans Condensed"/>
                </a:rPr>
                <a:t> citosólica: la señal metabólica que leerá el canal K</a:t>
              </a:r>
              <a:r>
                <a:rPr lang="es-AR" sz="1450" baseline="-25000" dirty="0">
                  <a:solidFill>
                    <a:srgbClr val="1E1E1E"/>
                  </a:solidFill>
                  <a:latin typeface="Fira Sans Condensed"/>
                  <a:ea typeface="Fira Sans Condensed"/>
                  <a:cs typeface="Fira Sans Condensed"/>
                  <a:sym typeface="Fira Sans Condensed"/>
                </a:rPr>
                <a:t>ATP</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grpSp>
      <p:sp>
        <p:nvSpPr>
          <p:cNvPr id="103" name="Piruvato"/>
          <p:cNvSpPr/>
          <p:nvPr/>
        </p:nvSpPr>
        <p:spPr>
          <a:xfrm>
            <a:off x="1005840" y="3749040"/>
            <a:ext cx="777240" cy="38404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PIR</a:t>
            </a:r>
            <a:endParaRPr lang="es-AR" sz="1200" dirty="0">
              <a:latin typeface="Fira Sans Condensed"/>
            </a:endParaRPr>
          </a:p>
        </p:txBody>
      </p:sp>
      <p:sp>
        <p:nvSpPr>
          <p:cNvPr id="104" name="Flecha 103_2"/>
          <p:cNvSpPr/>
          <p:nvPr/>
        </p:nvSpPr>
        <p:spPr>
          <a:xfrm>
            <a:off x="1417320" y="3364992"/>
            <a:ext cx="45720" cy="365760"/>
          </a:xfrm>
          <a:custGeom>
            <a:avLst/>
            <a:gdLst/>
            <a:ahLst/>
            <a:cxnLst/>
            <a:rect l="0" t="0" r="r" b="b"/>
            <a:pathLst>
              <a:path w="50" h="399" fill="none">
                <a:moveTo>
                  <a:pt x="50" y="0"/>
                </a:moveTo>
                <a:lnTo>
                  <a:pt x="0" y="399"/>
                </a:lnTo>
              </a:path>
            </a:pathLst>
          </a:custGeom>
          <a:noFill/>
          <a:ln w="25400" cap="rnd">
            <a:solidFill>
              <a:srgbClr val="1E1E1E"/>
            </a:solidFill>
            <a:round/>
            <a:tailEnd type="triangle" w="med" len="med"/>
          </a:ln>
        </p:spPr>
      </p:sp>
      <p:sp>
        <p:nvSpPr>
          <p:cNvPr id="105" name="Flecha 105_2"/>
          <p:cNvSpPr/>
          <p:nvPr/>
        </p:nvSpPr>
        <p:spPr>
          <a:xfrm>
            <a:off x="1801368" y="3931920"/>
            <a:ext cx="210312" cy="91440"/>
          </a:xfrm>
          <a:custGeom>
            <a:avLst/>
            <a:gdLst/>
            <a:ahLst/>
            <a:cxnLst/>
            <a:rect l="0" t="0" r="r" b="b"/>
            <a:pathLst>
              <a:path w="230" h="100" fill="none">
                <a:moveTo>
                  <a:pt x="0" y="0"/>
                </a:moveTo>
                <a:lnTo>
                  <a:pt x="230" y="100"/>
                </a:lnTo>
              </a:path>
            </a:pathLst>
          </a:custGeom>
          <a:noFill/>
          <a:ln w="25400" cap="rnd">
            <a:solidFill>
              <a:srgbClr val="1E1E1E"/>
            </a:solidFill>
            <a:round/>
            <a:tailEnd type="triangle" w="med" len="med"/>
          </a:ln>
        </p:spPr>
      </p:sp>
      <p:grpSp>
        <p:nvGrpSpPr>
          <p:cNvPr id="106" name="Relación ATP/ADP"/>
          <p:cNvGrpSpPr/>
          <p:nvPr/>
        </p:nvGrpSpPr>
        <p:grpSpPr>
          <a:xfrm>
            <a:off x="3977640" y="4800600"/>
            <a:ext cx="1920240" cy="320040"/>
            <a:chOff x="3977640" y="4800600"/>
            <a:chExt cx="1920240" cy="320040"/>
          </a:xfrm>
        </p:grpSpPr>
        <p:sp>
          <p:nvSpPr>
            <p:cNvPr id="107" name="Forma 108"/>
            <p:cNvSpPr/>
            <p:nvPr/>
          </p:nvSpPr>
          <p:spPr>
            <a:xfrm>
              <a:off x="3977640" y="4800600"/>
              <a:ext cx="1920240" cy="320040"/>
            </a:xfrm>
            <a:prstGeom prst="rect">
              <a:avLst/>
            </a:prstGeom>
            <a:solidFill>
              <a:srgbClr val="FFFFFF"/>
            </a:solidFill>
            <a:ln w="12700" cap="rnd">
              <a:solidFill>
                <a:srgbClr val="1E1E1E"/>
              </a:solidFill>
              <a:round/>
            </a:ln>
          </p:spPr>
        </p:sp>
        <p:sp>
          <p:nvSpPr>
            <p:cNvPr id="108" name="Forma 109"/>
            <p:cNvSpPr/>
            <p:nvPr/>
          </p:nvSpPr>
          <p:spPr>
            <a:xfrm>
              <a:off x="3977640" y="4800600"/>
              <a:ext cx="1600200" cy="320040"/>
            </a:xfrm>
            <a:prstGeom prst="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ATP/ADP ↑</a:t>
              </a:r>
              <a:endParaRPr lang="es-AR" sz="12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PASOS 4–5 · METABOLISMO OXIDATIVO Y ATP/ADP </a:t>
            </a:r>
            <a:r>
              <a:rPr lang="es-AR" sz="32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endParaRPr lang="es-AR" sz="32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0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8" fill="hold">
                      <p:stCondLst>
                        <p:cond delay="indefinite"/>
                      </p:stCondLst>
                      <p:childTnLst>
                        <p:par>
                          <p:cTn id="6" fill="hold">
                            <p:stCondLst>
                              <p:cond delay="0"/>
                            </p:stCondLst>
                            <p:childTnLst>
                              <p:par>
                                <p:cTn id="3" presetID="22" presetClass="entr" presetSubtype="1" fill="hold" grpId="0" nodeType="clickEffect">
                                  <p:stCondLst>
                                    <p:cond delay="0"/>
                                  </p:stCondLst>
                                  <p:childTnLst>
                                    <p:set>
                                      <p:cBhvr>
                                        <p:cTn id="4" dur="1" fill="hold">
                                          <p:stCondLst>
                                            <p:cond delay="0"/>
                                          </p:stCondLst>
                                        </p:cTn>
                                        <p:tgtEl>
                                          <p:spTgt spid="104"/>
                                        </p:tgtEl>
                                        <p:attrNameLst>
                                          <p:attrName>style.visibility</p:attrName>
                                        </p:attrNameLst>
                                      </p:cBhvr>
                                      <p:to>
                                        <p:strVal val="visible"/>
                                      </p:to>
                                    </p:set>
                                    <p:animEffect transition="in" filter="wipe(up)">
                                      <p:cBhvr>
                                        <p:cTn id="5" dur="600"/>
                                        <p:tgtEl>
                                          <p:spTgt spid="104"/>
                                        </p:tgtEl>
                                      </p:cBhvr>
                                    </p:animEffect>
                                  </p:childTnLst>
                                </p:cTn>
                              </p:par>
                            </p:childTnLst>
                          </p:cTn>
                        </p:par>
                        <p:par>
                          <p:cTn id="10" fill="hold">
                            <p:stCondLst>
                              <p:cond delay="600"/>
                            </p:stCondLst>
                            <p:childTnLst>
                              <p:par>
                                <p:cTn id="7" presetID="10" presetClass="entr" presetSubtype="0" fill="hold" grpId="0" nodeType="afterEffect">
                                  <p:stCondLst>
                                    <p:cond delay="0"/>
                                  </p:stCondLst>
                                  <p:childTnLst>
                                    <p:set>
                                      <p:cBhvr>
                                        <p:cTn id="8" dur="1" fill="hold">
                                          <p:stCondLst>
                                            <p:cond delay="0"/>
                                          </p:stCondLst>
                                        </p:cTn>
                                        <p:tgtEl>
                                          <p:spTgt spid="103"/>
                                        </p:tgtEl>
                                        <p:attrNameLst>
                                          <p:attrName>style.visibility</p:attrName>
                                        </p:attrNameLst>
                                      </p:cBhvr>
                                      <p:to>
                                        <p:strVal val="visible"/>
                                      </p:to>
                                    </p:set>
                                    <p:animEffect transition="in" filter="fade">
                                      <p:cBhvr>
                                        <p:cTn id="9" dur="500"/>
                                        <p:tgtEl>
                                          <p:spTgt spid="103"/>
                                        </p:tgtEl>
                                      </p:cBhvr>
                                    </p:animEffect>
                                  </p:childTnLst>
                                </p:cTn>
                              </p:par>
                            </p:childTnLst>
                          </p:cTn>
                        </p:par>
                        <p:par>
                          <p:cTn id="14" fill="hold">
                            <p:stCondLst>
                              <p:cond delay="1100"/>
                            </p:stCondLst>
                            <p:childTnLst>
                              <p:par>
                                <p:cTn id="11" presetID="22" presetClass="entr" presetSubtype="8" fill="hold" grpId="0" nodeType="afterEffect">
                                  <p:stCondLst>
                                    <p:cond delay="0"/>
                                  </p:stCondLst>
                                  <p:childTnLst>
                                    <p:set>
                                      <p:cBhvr>
                                        <p:cTn id="12" dur="1" fill="hold">
                                          <p:stCondLst>
                                            <p:cond delay="0"/>
                                          </p:stCondLst>
                                        </p:cTn>
                                        <p:tgtEl>
                                          <p:spTgt spid="105"/>
                                        </p:tgtEl>
                                        <p:attrNameLst>
                                          <p:attrName>style.visibility</p:attrName>
                                        </p:attrNameLst>
                                      </p:cBhvr>
                                      <p:to>
                                        <p:strVal val="visible"/>
                                      </p:to>
                                    </p:set>
                                    <p:animEffect transition="in" filter="wipe(left)">
                                      <p:cBhvr>
                                        <p:cTn id="13" dur="600"/>
                                        <p:tgtEl>
                                          <p:spTgt spid="105"/>
                                        </p:tgtEl>
                                      </p:cBhvr>
                                    </p:animEffect>
                                  </p:childTnLst>
                                </p:cTn>
                              </p:par>
                            </p:childTnLst>
                          </p:cTn>
                        </p:par>
                        <p:par>
                          <p:cTn id="17" fill="hold">
                            <p:stCondLst>
                              <p:cond delay="1700"/>
                            </p:stCondLst>
                            <p:childTnLst>
                              <p:par>
                                <p:cTn id="15" presetID="6" presetClass="emph" presetSubtype="0" fill="hold" grpId="0" nodeType="afterEffect">
                                  <p:stCondLst>
                                    <p:cond delay="0"/>
                                  </p:stCondLst>
                                  <p:childTnLst>
                                    <p:animScale>
                                      <p:cBhvr>
                                        <p:cTn id="16" dur="300" autoRev="1" fill="hold"/>
                                        <p:tgtEl>
                                          <p:spTgt spid="37"/>
                                        </p:tgtEl>
                                      </p:cBhvr>
                                      <p:by x="112000" y="112000"/>
                                    </p:animScale>
                                  </p:childTnLst>
                                </p:cTn>
                              </p:par>
                            </p:childTnLst>
                          </p:cTn>
                        </p:par>
                      </p:childTnLst>
                    </p:cTn>
                  </p:par>
                  <p:par>
                    <p:cTn id="55" fill="hold">
                      <p:stCondLst>
                        <p:cond delay="indefinite"/>
                      </p:stCondLst>
                      <p:childTnLst>
                        <p:par>
                          <p:cTn id="24"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9"/>
                                        </p:tgtEl>
                                        <p:attrNameLst>
                                          <p:attrName>style.visibility</p:attrName>
                                        </p:attrNameLst>
                                      </p:cBhvr>
                                      <p:to>
                                        <p:strVal val="visible"/>
                                      </p:to>
                                    </p:set>
                                    <p:anim calcmode="lin" valueType="num">
                                      <p:cBhvr>
                                        <p:cTn id="21" dur="250" fill="hold"/>
                                        <p:tgtEl>
                                          <p:spTgt spid="79"/>
                                        </p:tgtEl>
                                        <p:attrNameLst>
                                          <p:attrName>ppt_w</p:attrName>
                                        </p:attrNameLst>
                                      </p:cBhvr>
                                      <p:tavLst>
                                        <p:tav tm="0">
                                          <p:val>
                                            <p:fltVal val="0"/>
                                          </p:val>
                                        </p:tav>
                                        <p:tav tm="100000">
                                          <p:val>
                                            <p:strVal val="#ppt_w"/>
                                          </p:val>
                                        </p:tav>
                                      </p:tavLst>
                                    </p:anim>
                                    <p:anim calcmode="lin" valueType="num">
                                      <p:cBhvr>
                                        <p:cTn id="22" dur="250" fill="hold"/>
                                        <p:tgtEl>
                                          <p:spTgt spid="79"/>
                                        </p:tgtEl>
                                        <p:attrNameLst>
                                          <p:attrName>ppt_h</p:attrName>
                                        </p:attrNameLst>
                                      </p:cBhvr>
                                      <p:tavLst>
                                        <p:tav tm="0">
                                          <p:val>
                                            <p:fltVal val="0"/>
                                          </p:val>
                                        </p:tav>
                                        <p:tav tm="100000">
                                          <p:val>
                                            <p:strVal val="#ppt_h"/>
                                          </p:val>
                                        </p:tav>
                                      </p:tavLst>
                                    </p:anim>
                                    <p:animEffect transition="in" filter="fade">
                                      <p:cBhvr>
                                        <p:cTn id="23" dur="250"/>
                                        <p:tgtEl>
                                          <p:spTgt spid="79"/>
                                        </p:tgtEl>
                                      </p:cBhvr>
                                    </p:animEffect>
                                  </p:childTnLst>
                                </p:cTn>
                              </p:par>
                            </p:childTnLst>
                          </p:cTn>
                        </p:par>
                        <p:par>
                          <p:cTn id="30" fill="hold">
                            <p:stCondLst>
                              <p:cond delay="250"/>
                            </p:stCondLst>
                            <p:childTnLst>
                              <p:par>
                                <p:cTn id="25" presetID="53" presetClass="entr" presetSubtype="16" fill="hold" grpId="0" nodeType="afterEffect">
                                  <p:stCondLst>
                                    <p:cond delay="0"/>
                                  </p:stCondLst>
                                  <p:childTnLst>
                                    <p:set>
                                      <p:cBhvr>
                                        <p:cTn id="26" dur="1" fill="hold">
                                          <p:stCondLst>
                                            <p:cond delay="0"/>
                                          </p:stCondLst>
                                        </p:cTn>
                                        <p:tgtEl>
                                          <p:spTgt spid="80"/>
                                        </p:tgtEl>
                                        <p:attrNameLst>
                                          <p:attrName>style.visibility</p:attrName>
                                        </p:attrNameLst>
                                      </p:cBhvr>
                                      <p:to>
                                        <p:strVal val="visible"/>
                                      </p:to>
                                    </p:set>
                                    <p:anim calcmode="lin" valueType="num">
                                      <p:cBhvr>
                                        <p:cTn id="27" dur="250" fill="hold"/>
                                        <p:tgtEl>
                                          <p:spTgt spid="80"/>
                                        </p:tgtEl>
                                        <p:attrNameLst>
                                          <p:attrName>ppt_w</p:attrName>
                                        </p:attrNameLst>
                                      </p:cBhvr>
                                      <p:tavLst>
                                        <p:tav tm="0">
                                          <p:val>
                                            <p:fltVal val="0"/>
                                          </p:val>
                                        </p:tav>
                                        <p:tav tm="100000">
                                          <p:val>
                                            <p:strVal val="#ppt_w"/>
                                          </p:val>
                                        </p:tav>
                                      </p:tavLst>
                                    </p:anim>
                                    <p:anim calcmode="lin" valueType="num">
                                      <p:cBhvr>
                                        <p:cTn id="28" dur="250" fill="hold"/>
                                        <p:tgtEl>
                                          <p:spTgt spid="80"/>
                                        </p:tgtEl>
                                        <p:attrNameLst>
                                          <p:attrName>ppt_h</p:attrName>
                                        </p:attrNameLst>
                                      </p:cBhvr>
                                      <p:tavLst>
                                        <p:tav tm="0">
                                          <p:val>
                                            <p:fltVal val="0"/>
                                          </p:val>
                                        </p:tav>
                                        <p:tav tm="100000">
                                          <p:val>
                                            <p:strVal val="#ppt_h"/>
                                          </p:val>
                                        </p:tav>
                                      </p:tavLst>
                                    </p:anim>
                                    <p:animEffect transition="in" filter="fade">
                                      <p:cBhvr>
                                        <p:cTn id="29" dur="250"/>
                                        <p:tgtEl>
                                          <p:spTgt spid="80"/>
                                        </p:tgtEl>
                                      </p:cBhvr>
                                    </p:animEffect>
                                  </p:childTnLst>
                                </p:cTn>
                              </p:par>
                            </p:childTnLst>
                          </p:cTn>
                        </p:par>
                        <p:par>
                          <p:cTn id="36" fill="hold">
                            <p:stCondLst>
                              <p:cond delay="500"/>
                            </p:stCondLst>
                            <p:childTnLst>
                              <p:par>
                                <p:cTn id="31" presetID="53" presetClass="entr" presetSubtype="16" fill="hold" grpId="0" nodeType="afterEffect">
                                  <p:stCondLst>
                                    <p:cond delay="0"/>
                                  </p:stCondLst>
                                  <p:childTnLst>
                                    <p:set>
                                      <p:cBhvr>
                                        <p:cTn id="32" dur="1" fill="hold">
                                          <p:stCondLst>
                                            <p:cond delay="0"/>
                                          </p:stCondLst>
                                        </p:cTn>
                                        <p:tgtEl>
                                          <p:spTgt spid="81"/>
                                        </p:tgtEl>
                                        <p:attrNameLst>
                                          <p:attrName>style.visibility</p:attrName>
                                        </p:attrNameLst>
                                      </p:cBhvr>
                                      <p:to>
                                        <p:strVal val="visible"/>
                                      </p:to>
                                    </p:set>
                                    <p:anim calcmode="lin" valueType="num">
                                      <p:cBhvr>
                                        <p:cTn id="33" dur="250" fill="hold"/>
                                        <p:tgtEl>
                                          <p:spTgt spid="81"/>
                                        </p:tgtEl>
                                        <p:attrNameLst>
                                          <p:attrName>ppt_w</p:attrName>
                                        </p:attrNameLst>
                                      </p:cBhvr>
                                      <p:tavLst>
                                        <p:tav tm="0">
                                          <p:val>
                                            <p:fltVal val="0"/>
                                          </p:val>
                                        </p:tav>
                                        <p:tav tm="100000">
                                          <p:val>
                                            <p:strVal val="#ppt_w"/>
                                          </p:val>
                                        </p:tav>
                                      </p:tavLst>
                                    </p:anim>
                                    <p:anim calcmode="lin" valueType="num">
                                      <p:cBhvr>
                                        <p:cTn id="34" dur="250" fill="hold"/>
                                        <p:tgtEl>
                                          <p:spTgt spid="81"/>
                                        </p:tgtEl>
                                        <p:attrNameLst>
                                          <p:attrName>ppt_h</p:attrName>
                                        </p:attrNameLst>
                                      </p:cBhvr>
                                      <p:tavLst>
                                        <p:tav tm="0">
                                          <p:val>
                                            <p:fltVal val="0"/>
                                          </p:val>
                                        </p:tav>
                                        <p:tav tm="100000">
                                          <p:val>
                                            <p:strVal val="#ppt_h"/>
                                          </p:val>
                                        </p:tav>
                                      </p:tavLst>
                                    </p:anim>
                                    <p:animEffect transition="in" filter="fade">
                                      <p:cBhvr>
                                        <p:cTn id="35" dur="250"/>
                                        <p:tgtEl>
                                          <p:spTgt spid="81"/>
                                        </p:tgtEl>
                                      </p:cBhvr>
                                    </p:animEffect>
                                  </p:childTnLst>
                                </p:cTn>
                              </p:par>
                            </p:childTnLst>
                          </p:cTn>
                        </p:par>
                        <p:par>
                          <p:cTn id="42" fill="hold">
                            <p:stCondLst>
                              <p:cond delay="750"/>
                            </p:stCondLst>
                            <p:childTnLst>
                              <p:par>
                                <p:cTn id="37" presetID="53" presetClass="entr" presetSubtype="16"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anim calcmode="lin" valueType="num">
                                      <p:cBhvr>
                                        <p:cTn id="39" dur="250" fill="hold"/>
                                        <p:tgtEl>
                                          <p:spTgt spid="82"/>
                                        </p:tgtEl>
                                        <p:attrNameLst>
                                          <p:attrName>ppt_w</p:attrName>
                                        </p:attrNameLst>
                                      </p:cBhvr>
                                      <p:tavLst>
                                        <p:tav tm="0">
                                          <p:val>
                                            <p:fltVal val="0"/>
                                          </p:val>
                                        </p:tav>
                                        <p:tav tm="100000">
                                          <p:val>
                                            <p:strVal val="#ppt_w"/>
                                          </p:val>
                                        </p:tav>
                                      </p:tavLst>
                                    </p:anim>
                                    <p:anim calcmode="lin" valueType="num">
                                      <p:cBhvr>
                                        <p:cTn id="40" dur="250" fill="hold"/>
                                        <p:tgtEl>
                                          <p:spTgt spid="82"/>
                                        </p:tgtEl>
                                        <p:attrNameLst>
                                          <p:attrName>ppt_h</p:attrName>
                                        </p:attrNameLst>
                                      </p:cBhvr>
                                      <p:tavLst>
                                        <p:tav tm="0">
                                          <p:val>
                                            <p:fltVal val="0"/>
                                          </p:val>
                                        </p:tav>
                                        <p:tav tm="100000">
                                          <p:val>
                                            <p:strVal val="#ppt_h"/>
                                          </p:val>
                                        </p:tav>
                                      </p:tavLst>
                                    </p:anim>
                                    <p:animEffect transition="in" filter="fade">
                                      <p:cBhvr>
                                        <p:cTn id="41" dur="250"/>
                                        <p:tgtEl>
                                          <p:spTgt spid="82"/>
                                        </p:tgtEl>
                                      </p:cBhvr>
                                    </p:animEffect>
                                  </p:childTnLst>
                                </p:cTn>
                              </p:par>
                            </p:childTnLst>
                          </p:cTn>
                        </p:par>
                        <p:par>
                          <p:cTn id="48" fill="hold">
                            <p:stCondLst>
                              <p:cond delay="1000"/>
                            </p:stCondLst>
                            <p:childTnLst>
                              <p:par>
                                <p:cTn id="43" presetID="53" presetClass="entr" presetSubtype="16" fill="hold" grpId="0" nodeType="afterEffect">
                                  <p:stCondLst>
                                    <p:cond delay="0"/>
                                  </p:stCondLst>
                                  <p:childTnLst>
                                    <p:set>
                                      <p:cBhvr>
                                        <p:cTn id="44" dur="1" fill="hold">
                                          <p:stCondLst>
                                            <p:cond delay="0"/>
                                          </p:stCondLst>
                                        </p:cTn>
                                        <p:tgtEl>
                                          <p:spTgt spid="83"/>
                                        </p:tgtEl>
                                        <p:attrNameLst>
                                          <p:attrName>style.visibility</p:attrName>
                                        </p:attrNameLst>
                                      </p:cBhvr>
                                      <p:to>
                                        <p:strVal val="visible"/>
                                      </p:to>
                                    </p:set>
                                    <p:anim calcmode="lin" valueType="num">
                                      <p:cBhvr>
                                        <p:cTn id="45" dur="250" fill="hold"/>
                                        <p:tgtEl>
                                          <p:spTgt spid="83"/>
                                        </p:tgtEl>
                                        <p:attrNameLst>
                                          <p:attrName>ppt_w</p:attrName>
                                        </p:attrNameLst>
                                      </p:cBhvr>
                                      <p:tavLst>
                                        <p:tav tm="0">
                                          <p:val>
                                            <p:fltVal val="0"/>
                                          </p:val>
                                        </p:tav>
                                        <p:tav tm="100000">
                                          <p:val>
                                            <p:strVal val="#ppt_w"/>
                                          </p:val>
                                        </p:tav>
                                      </p:tavLst>
                                    </p:anim>
                                    <p:anim calcmode="lin" valueType="num">
                                      <p:cBhvr>
                                        <p:cTn id="46" dur="250" fill="hold"/>
                                        <p:tgtEl>
                                          <p:spTgt spid="83"/>
                                        </p:tgtEl>
                                        <p:attrNameLst>
                                          <p:attrName>ppt_h</p:attrName>
                                        </p:attrNameLst>
                                      </p:cBhvr>
                                      <p:tavLst>
                                        <p:tav tm="0">
                                          <p:val>
                                            <p:fltVal val="0"/>
                                          </p:val>
                                        </p:tav>
                                        <p:tav tm="100000">
                                          <p:val>
                                            <p:strVal val="#ppt_h"/>
                                          </p:val>
                                        </p:tav>
                                      </p:tavLst>
                                    </p:anim>
                                    <p:animEffect transition="in" filter="fade">
                                      <p:cBhvr>
                                        <p:cTn id="47" dur="250"/>
                                        <p:tgtEl>
                                          <p:spTgt spid="83"/>
                                        </p:tgtEl>
                                      </p:cBhvr>
                                    </p:animEffect>
                                  </p:childTnLst>
                                </p:cTn>
                              </p:par>
                            </p:childTnLst>
                          </p:cTn>
                        </p:par>
                        <p:par>
                          <p:cTn id="54" fill="hold">
                            <p:stCondLst>
                              <p:cond delay="1250"/>
                            </p:stCondLst>
                            <p:childTnLst>
                              <p:par>
                                <p:cTn id="49" presetID="53" presetClass="entr" presetSubtype="16" fill="hold" grpId="0" nodeType="afterEffect">
                                  <p:stCondLst>
                                    <p:cond delay="0"/>
                                  </p:stCondLst>
                                  <p:childTnLst>
                                    <p:set>
                                      <p:cBhvr>
                                        <p:cTn id="50" dur="1" fill="hold">
                                          <p:stCondLst>
                                            <p:cond delay="0"/>
                                          </p:stCondLst>
                                        </p:cTn>
                                        <p:tgtEl>
                                          <p:spTgt spid="84"/>
                                        </p:tgtEl>
                                        <p:attrNameLst>
                                          <p:attrName>style.visibility</p:attrName>
                                        </p:attrNameLst>
                                      </p:cBhvr>
                                      <p:to>
                                        <p:strVal val="visible"/>
                                      </p:to>
                                    </p:set>
                                    <p:anim calcmode="lin" valueType="num">
                                      <p:cBhvr>
                                        <p:cTn id="51" dur="250" fill="hold"/>
                                        <p:tgtEl>
                                          <p:spTgt spid="84"/>
                                        </p:tgtEl>
                                        <p:attrNameLst>
                                          <p:attrName>ppt_w</p:attrName>
                                        </p:attrNameLst>
                                      </p:cBhvr>
                                      <p:tavLst>
                                        <p:tav tm="0">
                                          <p:val>
                                            <p:fltVal val="0"/>
                                          </p:val>
                                        </p:tav>
                                        <p:tav tm="100000">
                                          <p:val>
                                            <p:strVal val="#ppt_w"/>
                                          </p:val>
                                        </p:tav>
                                      </p:tavLst>
                                    </p:anim>
                                    <p:anim calcmode="lin" valueType="num">
                                      <p:cBhvr>
                                        <p:cTn id="52" dur="250" fill="hold"/>
                                        <p:tgtEl>
                                          <p:spTgt spid="84"/>
                                        </p:tgtEl>
                                        <p:attrNameLst>
                                          <p:attrName>ppt_h</p:attrName>
                                        </p:attrNameLst>
                                      </p:cBhvr>
                                      <p:tavLst>
                                        <p:tav tm="0">
                                          <p:val>
                                            <p:fltVal val="0"/>
                                          </p:val>
                                        </p:tav>
                                        <p:tav tm="100000">
                                          <p:val>
                                            <p:strVal val="#ppt_h"/>
                                          </p:val>
                                        </p:tav>
                                      </p:tavLst>
                                    </p:anim>
                                    <p:animEffect transition="in" filter="fade">
                                      <p:cBhvr>
                                        <p:cTn id="53" dur="250"/>
                                        <p:tgtEl>
                                          <p:spTgt spid="84"/>
                                        </p:tgtEl>
                                      </p:cBhvr>
                                    </p:animEffect>
                                  </p:childTnLst>
                                </p:cTn>
                              </p:par>
                            </p:childTnLst>
                          </p:cTn>
                        </p:par>
                      </p:childTnLst>
                    </p:cTn>
                  </p:par>
                  <p:par>
                    <p:cTn id="60" fill="hold">
                      <p:stCondLst>
                        <p:cond delay="indefinite"/>
                      </p:stCondLst>
                      <p:childTnLst>
                        <p:par>
                          <p:cTn id="59"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6"/>
                                        </p:tgtEl>
                                        <p:attrNameLst>
                                          <p:attrName>style.visibility</p:attrName>
                                        </p:attrNameLst>
                                      </p:cBhvr>
                                      <p:to>
                                        <p:strVal val="visible"/>
                                      </p:to>
                                    </p:set>
                                    <p:animEffect transition="in" filter="wipe(left)">
                                      <p:cBhvr>
                                        <p:cTn id="58" dur="9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3" grpId="0" animBg="1"/>
      <p:bldP spid="105" grpId="0" animBg="1"/>
      <p:bldP spid="79" grpId="0" animBg="1"/>
      <p:bldP spid="80" grpId="0" animBg="1"/>
      <p:bldP spid="81" grpId="0" animBg="1"/>
      <p:bldP spid="82" grpId="0" animBg="1"/>
      <p:bldP spid="83" grpId="0" animBg="1"/>
      <p:bldP spid="84"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8" name="!!Célula beta"/>
          <p:cNvGrpSpPr/>
          <p:nvPr/>
        </p:nvGrpSpPr>
        <p:grpSpPr>
          <a:xfrm>
            <a:off x="365760" y="2148840"/>
            <a:ext cx="7315200" cy="4297680"/>
            <a:chOff x="365760" y="2148840"/>
            <a:chExt cx="7315200" cy="4297680"/>
          </a:xfrm>
        </p:grpSpPr>
        <p:sp>
          <p:nvSpPr>
            <p:cNvPr id="9" name="Forma 8"/>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0" name="Forma 9"/>
            <p:cNvSpPr/>
            <p:nvPr/>
          </p:nvSpPr>
          <p:spPr>
            <a:xfrm>
              <a:off x="384048" y="2167128"/>
              <a:ext cx="7278624" cy="4261104"/>
            </a:xfrm>
            <a:prstGeom prst="roundRect">
              <a:avLst>
                <a:gd name="adj" fmla="val 16000"/>
              </a:avLst>
            </a:prstGeom>
            <a:noFill/>
            <a:ln w="50800" cap="rnd">
              <a:solidFill>
                <a:srgbClr val="F5CBA7"/>
              </a:solidFill>
              <a:round/>
            </a:ln>
          </p:spPr>
        </p:sp>
        <p:grpSp>
          <p:nvGrpSpPr>
            <p:cNvPr id="11" name="Núcleo"/>
            <p:cNvGrpSpPr/>
            <p:nvPr/>
          </p:nvGrpSpPr>
          <p:grpSpPr>
            <a:xfrm>
              <a:off x="950976" y="4512564"/>
              <a:ext cx="1316736" cy="1185062"/>
              <a:chOff x="950976" y="4512564"/>
              <a:chExt cx="1316736" cy="1185062"/>
            </a:xfrm>
          </p:grpSpPr>
          <p:sp>
            <p:nvSpPr>
              <p:cNvPr id="12" name="Forma 11"/>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3" name="Forma 12"/>
              <p:cNvSpPr/>
              <p:nvPr/>
            </p:nvSpPr>
            <p:spPr>
              <a:xfrm>
                <a:off x="1635679" y="4907585"/>
                <a:ext cx="289682" cy="263347"/>
              </a:xfrm>
              <a:prstGeom prst="ellipse">
                <a:avLst/>
              </a:prstGeom>
              <a:solidFill>
                <a:srgbClr val="513B6B"/>
              </a:solidFill>
              <a:ln>
                <a:noFill/>
              </a:ln>
            </p:spPr>
          </p:sp>
        </p:grpSp>
        <p:grpSp>
          <p:nvGrpSpPr>
            <p:cNvPr id="14" name="Retículo endoplasmático"/>
            <p:cNvGrpSpPr/>
            <p:nvPr/>
          </p:nvGrpSpPr>
          <p:grpSpPr>
            <a:xfrm>
              <a:off x="2560320" y="4962388"/>
              <a:ext cx="1243584" cy="830885"/>
              <a:chOff x="2560320" y="4962388"/>
              <a:chExt cx="1243584" cy="830885"/>
            </a:xfrm>
          </p:grpSpPr>
          <p:sp>
            <p:nvSpPr>
              <p:cNvPr id="15" name="Forma 14"/>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6" name="Forma 15"/>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7" name="Forma 16"/>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8" name="Forma 17"/>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9" name="Forma 18"/>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0" name="Forma 19"/>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1" name="!!GLUT"/>
          <p:cNvGrpSpPr/>
          <p:nvPr/>
        </p:nvGrpSpPr>
        <p:grpSpPr>
          <a:xfrm>
            <a:off x="594360" y="1856232"/>
            <a:ext cx="1207740" cy="822960"/>
            <a:chOff x="594360" y="1856232"/>
            <a:chExt cx="1207740" cy="822960"/>
          </a:xfrm>
        </p:grpSpPr>
        <p:sp>
          <p:nvSpPr>
            <p:cNvPr id="22" name="Forma 21"/>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3" name="Forma 22"/>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5" name="!!KATP"/>
          <p:cNvGrpSpPr/>
          <p:nvPr/>
        </p:nvGrpSpPr>
        <p:grpSpPr>
          <a:xfrm>
            <a:off x="2331720" y="1819656"/>
            <a:ext cx="1640434" cy="914400"/>
            <a:chOff x="2331720" y="1819656"/>
            <a:chExt cx="1640434" cy="914400"/>
          </a:xfrm>
        </p:grpSpPr>
        <p:sp>
          <p:nvSpPr>
            <p:cNvPr id="26" name="Forma 25"/>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7" name="Forma 26"/>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8" name="Forma 27"/>
            <p:cNvSpPr/>
            <p:nvPr/>
          </p:nvSpPr>
          <p:spPr>
            <a:xfrm>
              <a:off x="3156509"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32293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0" name="Forma 29"/>
            <p:cNvSpPr txBox="1"/>
            <p:nvPr/>
          </p:nvSpPr>
          <p:spPr>
            <a:xfrm>
              <a:off x="233172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1" name="!!CaV"/>
          <p:cNvGrpSpPr/>
          <p:nvPr/>
        </p:nvGrpSpPr>
        <p:grpSpPr>
          <a:xfrm>
            <a:off x="4434840" y="1819656"/>
            <a:ext cx="1640434" cy="914400"/>
            <a:chOff x="4434840" y="1819656"/>
            <a:chExt cx="1640434" cy="914400"/>
          </a:xfrm>
        </p:grpSpPr>
        <p:sp>
          <p:nvSpPr>
            <p:cNvPr id="32" name="Forma 31"/>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3" name="Forma 32"/>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4" name="Forma 33"/>
            <p:cNvSpPr/>
            <p:nvPr/>
          </p:nvSpPr>
          <p:spPr>
            <a:xfrm>
              <a:off x="5259629"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42605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6" name="Forma 35"/>
            <p:cNvSpPr txBox="1"/>
            <p:nvPr/>
          </p:nvSpPr>
          <p:spPr>
            <a:xfrm>
              <a:off x="443484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7" name="!!Mitocondria beta"/>
          <p:cNvGrpSpPr/>
          <p:nvPr/>
        </p:nvGrpSpPr>
        <p:grpSpPr>
          <a:xfrm>
            <a:off x="1828800" y="3657600"/>
            <a:ext cx="1554480" cy="777240"/>
            <a:chOff x="1828800" y="3657600"/>
            <a:chExt cx="1554480" cy="777240"/>
          </a:xfrm>
        </p:grpSpPr>
        <p:sp>
          <p:nvSpPr>
            <p:cNvPr id="38" name="Forma 37"/>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a:off x="1937614" y="3766414"/>
              <a:ext cx="1336853" cy="559613"/>
            </a:xfrm>
            <a:prstGeom prst="ellipse">
              <a:avLst/>
            </a:prstGeom>
            <a:solidFill>
              <a:srgbClr val="F8D8B4"/>
            </a:solidFill>
            <a:ln w="9525" cap="rnd">
              <a:solidFill>
                <a:srgbClr val="B2732B"/>
              </a:solidFill>
              <a:round/>
            </a:ln>
          </p:spPr>
        </p:sp>
        <p:sp>
          <p:nvSpPr>
            <p:cNvPr id="40" name="Forma 39"/>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Gránulo 0"/>
          <p:cNvGrpSpPr/>
          <p:nvPr/>
        </p:nvGrpSpPr>
        <p:grpSpPr>
          <a:xfrm>
            <a:off x="4754880" y="3383280"/>
            <a:ext cx="457200" cy="457200"/>
            <a:chOff x="4754880" y="3383280"/>
            <a:chExt cx="457200" cy="457200"/>
          </a:xfrm>
        </p:grpSpPr>
        <p:sp>
          <p:nvSpPr>
            <p:cNvPr id="42" name="Forma 41"/>
            <p:cNvSpPr/>
            <p:nvPr/>
          </p:nvSpPr>
          <p:spPr>
            <a:xfrm>
              <a:off x="4754880" y="33832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3" name="Forma 42"/>
            <p:cNvSpPr/>
            <p:nvPr/>
          </p:nvSpPr>
          <p:spPr>
            <a:xfrm>
              <a:off x="4892040" y="35204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4" name="!!Gránulo 1"/>
          <p:cNvGrpSpPr/>
          <p:nvPr/>
        </p:nvGrpSpPr>
        <p:grpSpPr>
          <a:xfrm>
            <a:off x="5486400" y="3154680"/>
            <a:ext cx="457200" cy="457200"/>
            <a:chOff x="5486400" y="3154680"/>
            <a:chExt cx="457200" cy="457200"/>
          </a:xfrm>
        </p:grpSpPr>
        <p:sp>
          <p:nvSpPr>
            <p:cNvPr id="45" name="Forma 44"/>
            <p:cNvSpPr/>
            <p:nvPr/>
          </p:nvSpPr>
          <p:spPr>
            <a:xfrm>
              <a:off x="5486400" y="31546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6" name="Forma 45"/>
            <p:cNvSpPr/>
            <p:nvPr/>
          </p:nvSpPr>
          <p:spPr>
            <a:xfrm>
              <a:off x="5623560" y="32918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7" name="!!Gránulo 2"/>
          <p:cNvGrpSpPr/>
          <p:nvPr/>
        </p:nvGrpSpPr>
        <p:grpSpPr>
          <a:xfrm>
            <a:off x="6217920" y="3429000"/>
            <a:ext cx="457200" cy="457200"/>
            <a:chOff x="6217920" y="3429000"/>
            <a:chExt cx="457200" cy="457200"/>
          </a:xfrm>
        </p:grpSpPr>
        <p:sp>
          <p:nvSpPr>
            <p:cNvPr id="48" name="Forma 47"/>
            <p:cNvSpPr/>
            <p:nvPr/>
          </p:nvSpPr>
          <p:spPr>
            <a:xfrm>
              <a:off x="6217920" y="34290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9" name="Forma 48"/>
            <p:cNvSpPr/>
            <p:nvPr/>
          </p:nvSpPr>
          <p:spPr>
            <a:xfrm>
              <a:off x="6355080" y="35661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0" name="!!Gránulo 3"/>
          <p:cNvGrpSpPr/>
          <p:nvPr/>
        </p:nvGrpSpPr>
        <p:grpSpPr>
          <a:xfrm>
            <a:off x="5120640" y="4069080"/>
            <a:ext cx="457200" cy="457200"/>
            <a:chOff x="5120640" y="4069080"/>
            <a:chExt cx="457200" cy="457200"/>
          </a:xfrm>
        </p:grpSpPr>
        <p:sp>
          <p:nvSpPr>
            <p:cNvPr id="51" name="Forma 50"/>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2" name="Forma 51"/>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3" name="!!Gránulo 4"/>
          <p:cNvGrpSpPr/>
          <p:nvPr/>
        </p:nvGrpSpPr>
        <p:grpSpPr>
          <a:xfrm>
            <a:off x="5897880" y="4023360"/>
            <a:ext cx="457200" cy="457200"/>
            <a:chOff x="5897880" y="4023360"/>
            <a:chExt cx="457200" cy="457200"/>
          </a:xfrm>
        </p:grpSpPr>
        <p:sp>
          <p:nvSpPr>
            <p:cNvPr id="54" name="Forma 53"/>
            <p:cNvSpPr/>
            <p:nvPr/>
          </p:nvSpPr>
          <p:spPr>
            <a:xfrm>
              <a:off x="5897880" y="40233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5" name="Forma 54"/>
            <p:cNvSpPr/>
            <p:nvPr/>
          </p:nvSpPr>
          <p:spPr>
            <a:xfrm>
              <a:off x="6035040" y="41605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6" name="!!Gránulo 5"/>
          <p:cNvGrpSpPr/>
          <p:nvPr/>
        </p:nvGrpSpPr>
        <p:grpSpPr>
          <a:xfrm>
            <a:off x="6583680" y="4206240"/>
            <a:ext cx="457200" cy="457200"/>
            <a:chOff x="6583680" y="4206240"/>
            <a:chExt cx="457200" cy="457200"/>
          </a:xfrm>
        </p:grpSpPr>
        <p:sp>
          <p:nvSpPr>
            <p:cNvPr id="57" name="Forma 56"/>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8" name="Forma 57"/>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9" name="!!Gránulo 6"/>
          <p:cNvGrpSpPr/>
          <p:nvPr/>
        </p:nvGrpSpPr>
        <p:grpSpPr>
          <a:xfrm>
            <a:off x="4846320" y="4800600"/>
            <a:ext cx="457200" cy="457200"/>
            <a:chOff x="4846320" y="4800600"/>
            <a:chExt cx="457200" cy="457200"/>
          </a:xfrm>
        </p:grpSpPr>
        <p:sp>
          <p:nvSpPr>
            <p:cNvPr id="60" name="Forma 59"/>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1" name="Forma 60"/>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2" name="!!Gránulo 7"/>
          <p:cNvGrpSpPr/>
          <p:nvPr/>
        </p:nvGrpSpPr>
        <p:grpSpPr>
          <a:xfrm>
            <a:off x="5623560" y="4754880"/>
            <a:ext cx="457200" cy="457200"/>
            <a:chOff x="5623560" y="4754880"/>
            <a:chExt cx="457200" cy="457200"/>
          </a:xfrm>
        </p:grpSpPr>
        <p:sp>
          <p:nvSpPr>
            <p:cNvPr id="63" name="Forma 62"/>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4" name="Forma 63"/>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5" name="!!Cargas de membrana"/>
          <p:cNvGrpSpPr/>
          <p:nvPr/>
        </p:nvGrpSpPr>
        <p:grpSpPr>
          <a:xfrm>
            <a:off x="685800" y="1481328"/>
            <a:ext cx="6537960" cy="1307592"/>
            <a:chOff x="685800" y="1481328"/>
            <a:chExt cx="6537960" cy="1307592"/>
          </a:xfrm>
        </p:grpSpPr>
        <p:sp>
          <p:nvSpPr>
            <p:cNvPr id="66" name="Forma 65"/>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7" name="Forma 66"/>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6" name="!!Potencial"/>
          <p:cNvSpPr/>
          <p:nvPr/>
        </p:nvSpPr>
        <p:spPr>
          <a:xfrm>
            <a:off x="502920" y="5897880"/>
            <a:ext cx="2194560" cy="384048"/>
          </a:xfrm>
          <a:prstGeom prst="rect">
            <a:avLst/>
          </a:prstGeom>
          <a:solidFill>
            <a:srgbClr val="FDE2E2"/>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despolarizada</a:t>
            </a:r>
            <a:endParaRPr lang="es-AR" sz="1250" dirty="0">
              <a:latin typeface="Fira Sans Condensed"/>
            </a:endParaRPr>
          </a:p>
        </p:txBody>
      </p:sp>
      <p:sp>
        <p:nvSpPr>
          <p:cNvPr id="77" name="!!G6P"/>
          <p:cNvSpPr/>
          <p:nvPr/>
        </p:nvSpPr>
        <p:spPr>
          <a:xfrm>
            <a:off x="914400" y="2926080"/>
            <a:ext cx="11430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G6P</a:t>
            </a:r>
            <a:endParaRPr lang="es-AR" sz="1300" dirty="0">
              <a:latin typeface="Fira Sans Condensed"/>
            </a:endParaRPr>
          </a:p>
        </p:txBody>
      </p:sp>
      <p:sp>
        <p:nvSpPr>
          <p:cNvPr id="78" name="!!Glucocinasa"/>
          <p:cNvSpPr/>
          <p:nvPr/>
        </p:nvSpPr>
        <p:spPr>
          <a:xfrm>
            <a:off x="960120" y="2606040"/>
            <a:ext cx="962817"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Glucocinasa</a:t>
            </a:r>
            <a:endParaRPr lang="es-AR" sz="1100" dirty="0">
              <a:latin typeface="Fira Sans Condensed"/>
            </a:endParaRPr>
          </a:p>
        </p:txBody>
      </p:sp>
      <p:sp>
        <p:nvSpPr>
          <p:cNvPr id="79" name="!!ATP 0"/>
          <p:cNvSpPr/>
          <p:nvPr/>
        </p:nvSpPr>
        <p:spPr>
          <a:xfrm>
            <a:off x="3520440"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0" name="!!ATP 1"/>
          <p:cNvSpPr/>
          <p:nvPr/>
        </p:nvSpPr>
        <p:spPr>
          <a:xfrm>
            <a:off x="3959352"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1" name="!!ATP 2"/>
          <p:cNvSpPr/>
          <p:nvPr/>
        </p:nvSpPr>
        <p:spPr>
          <a:xfrm>
            <a:off x="4398264"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2" name="!!ATP 3"/>
          <p:cNvSpPr/>
          <p:nvPr/>
        </p:nvSpPr>
        <p:spPr>
          <a:xfrm>
            <a:off x="3520440"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3" name="!!ATP 4"/>
          <p:cNvSpPr/>
          <p:nvPr/>
        </p:nvSpPr>
        <p:spPr>
          <a:xfrm>
            <a:off x="3959352"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4" name="!!ATP 5"/>
          <p:cNvSpPr/>
          <p:nvPr/>
        </p:nvSpPr>
        <p:spPr>
          <a:xfrm>
            <a:off x="4398264"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grpSp>
        <p:nvGrpSpPr>
          <p:cNvPr id="85" name="!!Progreso"/>
          <p:cNvGrpSpPr/>
          <p:nvPr/>
        </p:nvGrpSpPr>
        <p:grpSpPr>
          <a:xfrm>
            <a:off x="8001000" y="5596128"/>
            <a:ext cx="3840480" cy="768096"/>
            <a:chOff x="8001000" y="5596128"/>
            <a:chExt cx="3840480" cy="768096"/>
          </a:xfrm>
        </p:grpSpPr>
        <p:sp>
          <p:nvSpPr>
            <p:cNvPr id="86" name="Progreso 1"/>
            <p:cNvSpPr/>
            <p:nvPr/>
          </p:nvSpPr>
          <p:spPr>
            <a:xfrm>
              <a:off x="802843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87" name="Progreso 2"/>
            <p:cNvSpPr/>
            <p:nvPr/>
          </p:nvSpPr>
          <p:spPr>
            <a:xfrm>
              <a:off x="837590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88" name="Progreso 3"/>
            <p:cNvSpPr/>
            <p:nvPr/>
          </p:nvSpPr>
          <p:spPr>
            <a:xfrm>
              <a:off x="8723376"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89" name="Progreso 4"/>
            <p:cNvSpPr/>
            <p:nvPr/>
          </p:nvSpPr>
          <p:spPr>
            <a:xfrm>
              <a:off x="9070848"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90" name="Progreso 5"/>
            <p:cNvSpPr/>
            <p:nvPr/>
          </p:nvSpPr>
          <p:spPr>
            <a:xfrm>
              <a:off x="9418320"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91" name="Progreso 6"/>
            <p:cNvSpPr/>
            <p:nvPr/>
          </p:nvSpPr>
          <p:spPr>
            <a:xfrm>
              <a:off x="9765792"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92" name="Progreso 7"/>
            <p:cNvSpPr/>
            <p:nvPr/>
          </p:nvSpPr>
          <p:spPr>
            <a:xfrm>
              <a:off x="10113264"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93" name="Progreso 8"/>
            <p:cNvSpPr/>
            <p:nvPr/>
          </p:nvSpPr>
          <p:spPr>
            <a:xfrm>
              <a:off x="10460736"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94" name="Progreso 9"/>
            <p:cNvSpPr/>
            <p:nvPr/>
          </p:nvSpPr>
          <p:spPr>
            <a:xfrm>
              <a:off x="10808208"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95" name="Progreso 10"/>
            <p:cNvSpPr/>
            <p:nvPr/>
          </p:nvSpPr>
          <p:spPr>
            <a:xfrm>
              <a:off x="1115568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96" name="Progreso 11"/>
            <p:cNvSpPr/>
            <p:nvPr/>
          </p:nvSpPr>
          <p:spPr>
            <a:xfrm>
              <a:off x="1150315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sp>
          <p:nvSpPr>
            <p:cNvPr id="97" name="Forma 96"/>
            <p:cNvSpPr/>
            <p:nvPr/>
          </p:nvSpPr>
          <p:spPr>
            <a:xfrm>
              <a:off x="8001000" y="5596128"/>
              <a:ext cx="3840480" cy="384048"/>
            </a:xfrm>
            <a:prstGeom prst="rect">
              <a:avLst/>
            </a:prstGeom>
            <a:solidFill>
              <a:srgbClr val="FFC000"/>
            </a:solidFill>
            <a:ln w="15875" cap="rnd">
              <a:solidFill>
                <a:srgbClr val="1E1E1E"/>
              </a:solidFill>
              <a:round/>
            </a:ln>
          </p:spPr>
          <p:txBody>
            <a:bodyPr wrap="square" lIns="36576" tIns="0" rIns="36576" bIns="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Cierre K</a:t>
              </a:r>
              <a:r>
                <a:rPr lang="es-AR" sz="1250" b="1" baseline="-25000" dirty="0">
                  <a:solidFill>
                    <a:srgbClr val="C00000"/>
                  </a:solidFill>
                  <a:latin typeface="Fira Sans Condensed"/>
                  <a:ea typeface="Fira Sans Condensed"/>
                  <a:cs typeface="Fira Sans Condensed"/>
                  <a:sym typeface="Fira Sans Condensed"/>
                </a:rPr>
                <a:t>ATP</a:t>
              </a:r>
              <a:r>
                <a:rPr lang="es-AR" sz="1250" b="1" dirty="0">
                  <a:solidFill>
                    <a:srgbClr val="C00000"/>
                  </a:solidFill>
                  <a:latin typeface="Fira Sans Condensed"/>
                  <a:ea typeface="Fira Sans Condensed"/>
                  <a:cs typeface="Fira Sans Condensed"/>
                  <a:sym typeface="Fira Sans Condensed"/>
                </a:rPr>
                <a:t> → Despolarización</a:t>
              </a:r>
              <a:endParaRPr lang="es-AR" sz="1250" dirty="0">
                <a:latin typeface="Fira Sans Condensed"/>
              </a:endParaRPr>
            </a:p>
          </p:txBody>
        </p:sp>
      </p:grpSp>
      <p:grpSp>
        <p:nvGrpSpPr>
          <p:cNvPr id="98" name="!!Panel"/>
          <p:cNvGrpSpPr/>
          <p:nvPr/>
        </p:nvGrpSpPr>
        <p:grpSpPr>
          <a:xfrm>
            <a:off x="8001000" y="1051560"/>
            <a:ext cx="3840480" cy="4297680"/>
            <a:chOff x="8001000" y="1051560"/>
            <a:chExt cx="3840480" cy="4297680"/>
          </a:xfrm>
        </p:grpSpPr>
        <p:sp>
          <p:nvSpPr>
            <p:cNvPr id="99" name="Forma 98"/>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00" name="Forma 99"/>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6–7</a:t>
              </a:r>
              <a:endParaRPr lang="es-AR" sz="1500" dirty="0">
                <a:latin typeface="Fira Sans Condensed"/>
              </a:endParaRPr>
            </a:p>
          </p:txBody>
        </p:sp>
        <p:sp>
          <p:nvSpPr>
            <p:cNvPr id="101" name="Forma 100"/>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Señal eléctrica</a:t>
              </a:r>
              <a:endParaRPr lang="es-AR" sz="1650" dirty="0">
                <a:latin typeface="Fira Sans Condensed"/>
              </a:endParaRPr>
            </a:p>
          </p:txBody>
        </p:sp>
        <p:sp>
          <p:nvSpPr>
            <p:cNvPr id="102" name="Forma 101"/>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6.</a:t>
              </a:r>
              <a:r>
                <a:rPr lang="es-AR" sz="1450" dirty="0">
                  <a:solidFill>
                    <a:srgbClr val="1E1E1E"/>
                  </a:solidFill>
                  <a:latin typeface="Fira Sans Condensed"/>
                  <a:ea typeface="Fira Sans Condensed"/>
                  <a:cs typeface="Fira Sans Condensed"/>
                  <a:sym typeface="Fira Sans Condensed"/>
                </a:rPr>
                <a:t> El ATP se une a </a:t>
              </a:r>
              <a:r>
                <a:rPr lang="es-AR" sz="1450" b="1" dirty="0">
                  <a:solidFill>
                    <a:srgbClr val="1E1E1E"/>
                  </a:solidFill>
                  <a:latin typeface="Fira Sans Condensed"/>
                  <a:ea typeface="Fira Sans Condensed"/>
                  <a:cs typeface="Fira Sans Condensed"/>
                  <a:sym typeface="Fira Sans Condensed"/>
                </a:rPr>
                <a:t>Kir6.2</a:t>
              </a:r>
              <a:r>
                <a:rPr lang="es-AR" sz="1450" dirty="0">
                  <a:solidFill>
                    <a:srgbClr val="1E1E1E"/>
                  </a:solidFill>
                  <a:latin typeface="Fira Sans Condensed"/>
                  <a:ea typeface="Fira Sans Condensed"/>
                  <a:cs typeface="Fira Sans Condensed"/>
                  <a:sym typeface="Fira Sans Condensed"/>
                </a:rPr>
                <a:t> y </a:t>
              </a:r>
              <a:r>
                <a:rPr lang="es-AR" sz="1450" b="1" dirty="0">
                  <a:solidFill>
                    <a:srgbClr val="1E1E1E"/>
                  </a:solidFill>
                  <a:latin typeface="Fira Sans Condensed"/>
                  <a:ea typeface="Fira Sans Condensed"/>
                  <a:cs typeface="Fira Sans Condensed"/>
                  <a:sym typeface="Fira Sans Condensed"/>
                </a:rPr>
                <a:t>cierra</a:t>
              </a:r>
              <a:r>
                <a:rPr lang="es-AR" sz="1450" dirty="0">
                  <a:solidFill>
                    <a:srgbClr val="1E1E1E"/>
                  </a:solidFill>
                  <a:latin typeface="Fira Sans Condensed"/>
                  <a:ea typeface="Fira Sans Condensed"/>
                  <a:cs typeface="Fira Sans Condensed"/>
                  <a:sym typeface="Fira Sans Condensed"/>
                </a:rPr>
                <a:t> el canal K</a:t>
              </a:r>
              <a:r>
                <a:rPr lang="es-AR" sz="1450" baseline="-25000" dirty="0">
                  <a:solidFill>
                    <a:srgbClr val="1E1E1E"/>
                  </a:solidFill>
                  <a:latin typeface="Fira Sans Condensed"/>
                  <a:ea typeface="Fira Sans Condensed"/>
                  <a:cs typeface="Fira Sans Condensed"/>
                  <a:sym typeface="Fira Sans Condensed"/>
                </a:rPr>
                <a:t>ATP</a:t>
              </a:r>
              <a:r>
                <a:rPr lang="es-AR" sz="1450" dirty="0">
                  <a:solidFill>
                    <a:srgbClr val="1E1E1E"/>
                  </a:solidFill>
                  <a:latin typeface="Fira Sans Condensed"/>
                  <a:ea typeface="Fira Sans Condensed"/>
                  <a:cs typeface="Fira Sans Condensed"/>
                  <a:sym typeface="Fira Sans Condensed"/>
                </a:rPr>
                <a:t>: disminuye la salida de K</a:t>
              </a:r>
              <a:r>
                <a:rPr lang="es-AR" sz="1450" baseline="30000" dirty="0">
                  <a:solidFill>
                    <a:srgbClr val="1E1E1E"/>
                  </a:solidFill>
                  <a:latin typeface="Fira Sans Condensed"/>
                  <a:ea typeface="Fira Sans Condensed"/>
                  <a:cs typeface="Fira Sans Condensed"/>
                  <a:sym typeface="Fira Sans Condensed"/>
                </a:rPr>
                <a:t>+</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7.</a:t>
              </a:r>
              <a:r>
                <a:rPr lang="es-AR" sz="1450" dirty="0">
                  <a:solidFill>
                    <a:srgbClr val="1E1E1E"/>
                  </a:solidFill>
                  <a:latin typeface="Fira Sans Condensed"/>
                  <a:ea typeface="Fira Sans Condensed"/>
                  <a:cs typeface="Fira Sans Condensed"/>
                  <a:sym typeface="Fira Sans Condensed"/>
                </a:rPr>
                <a:t> Al reducirse la corriente de K</a:t>
              </a:r>
              <a:r>
                <a:rPr lang="es-AR" sz="1450" baseline="30000" dirty="0">
                  <a:solidFill>
                    <a:srgbClr val="1E1E1E"/>
                  </a:solidFill>
                  <a:latin typeface="Fira Sans Condensed"/>
                  <a:ea typeface="Fira Sans Condensed"/>
                  <a:cs typeface="Fira Sans Condensed"/>
                  <a:sym typeface="Fira Sans Condensed"/>
                </a:rPr>
                <a:t>+</a:t>
              </a:r>
              <a:r>
                <a:rPr lang="es-AR" sz="1450" dirty="0">
                  <a:solidFill>
                    <a:srgbClr val="1E1E1E"/>
                  </a:solidFill>
                  <a:latin typeface="Fira Sans Condensed"/>
                  <a:ea typeface="Fira Sans Condensed"/>
                  <a:cs typeface="Fira Sans Condensed"/>
                  <a:sym typeface="Fira Sans Condensed"/>
                </a:rPr>
                <a:t> hacia afuera, la membrana se </a:t>
              </a:r>
              <a:r>
                <a:rPr lang="es-AR" sz="1450" b="1" dirty="0">
                  <a:solidFill>
                    <a:srgbClr val="1E1E1E"/>
                  </a:solidFill>
                  <a:latin typeface="Fira Sans Condensed"/>
                  <a:ea typeface="Fira Sans Condensed"/>
                  <a:cs typeface="Fira Sans Condensed"/>
                  <a:sym typeface="Fira Sans Condensed"/>
                </a:rPr>
                <a:t>despolariza</a:t>
              </a:r>
              <a:r>
                <a:rPr lang="es-AR" sz="1450" dirty="0">
                  <a:solidFill>
                    <a:srgbClr val="1E1E1E"/>
                  </a:solidFill>
                  <a:latin typeface="Fira Sans Condensed"/>
                  <a:ea typeface="Fira Sans Condensed"/>
                  <a:cs typeface="Fira Sans Condensed"/>
                  <a:sym typeface="Fira Sans Condensed"/>
                </a:rPr>
                <a:t> (las cargas se invierten).</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Sulfonilureas</a:t>
              </a:r>
              <a:r>
                <a:rPr lang="es-AR" sz="1450" dirty="0">
                  <a:solidFill>
                    <a:srgbClr val="1E1E1E"/>
                  </a:solidFill>
                  <a:latin typeface="Fira Sans Condensed"/>
                  <a:ea typeface="Fira Sans Condensed"/>
                  <a:cs typeface="Fira Sans Condensed"/>
                  <a:sym typeface="Fira Sans Condensed"/>
                </a:rPr>
                <a:t> (glibenclamida) cierran el canal al unirse a </a:t>
              </a:r>
              <a:r>
                <a:rPr lang="es-AR" sz="1450" b="1" dirty="0">
                  <a:solidFill>
                    <a:srgbClr val="1E1E1E"/>
                  </a:solidFill>
                  <a:latin typeface="Fira Sans Condensed"/>
                  <a:ea typeface="Fira Sans Condensed"/>
                  <a:cs typeface="Fira Sans Condensed"/>
                  <a:sym typeface="Fira Sans Condensed"/>
                </a:rPr>
                <a:t>SUR1</a:t>
              </a:r>
              <a:r>
                <a:rPr lang="es-AR" sz="1450" dirty="0">
                  <a:solidFill>
                    <a:srgbClr val="1E1E1E"/>
                  </a:solidFill>
                  <a:latin typeface="Fira Sans Condensed"/>
                  <a:ea typeface="Fira Sans Condensed"/>
                  <a:cs typeface="Fira Sans Condensed"/>
                  <a:sym typeface="Fira Sans Condensed"/>
                </a:rPr>
                <a:t>, independientemente de la glucosa.</a:t>
              </a:r>
              <a:endParaRPr lang="es-AR" sz="1450" dirty="0">
                <a:latin typeface="Fira Sans Condensed"/>
              </a:endParaRPr>
            </a:p>
          </p:txBody>
        </p:sp>
      </p:grpSp>
      <p:sp>
        <p:nvSpPr>
          <p:cNvPr id="103" name="K 0"/>
          <p:cNvSpPr/>
          <p:nvPr/>
        </p:nvSpPr>
        <p:spPr>
          <a:xfrm>
            <a:off x="2971800" y="1371600"/>
            <a:ext cx="292608" cy="29260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952" b="1" dirty="0">
                <a:solidFill>
                  <a:srgbClr val="FFFFFF"/>
                </a:solidFill>
                <a:latin typeface="Fira Sans Condensed"/>
                <a:ea typeface="Fira Sans Condensed"/>
                <a:cs typeface="Fira Sans Condensed"/>
                <a:sym typeface="Fira Sans Condensed"/>
              </a:rPr>
              <a:t>K</a:t>
            </a:r>
            <a:r>
              <a:rPr lang="es-AR" sz="952" b="1" baseline="30000" dirty="0">
                <a:solidFill>
                  <a:srgbClr val="FFFFFF"/>
                </a:solidFill>
                <a:latin typeface="Fira Sans Condensed"/>
                <a:ea typeface="Fira Sans Condensed"/>
                <a:cs typeface="Fira Sans Condensed"/>
                <a:sym typeface="Fira Sans Condensed"/>
              </a:rPr>
              <a:t>+</a:t>
            </a:r>
            <a:endParaRPr lang="es-AR" sz="952" dirty="0">
              <a:latin typeface="Fira Sans Condensed"/>
            </a:endParaRPr>
          </a:p>
        </p:txBody>
      </p:sp>
      <p:sp>
        <p:nvSpPr>
          <p:cNvPr id="104" name="K 1"/>
          <p:cNvSpPr/>
          <p:nvPr/>
        </p:nvSpPr>
        <p:spPr>
          <a:xfrm>
            <a:off x="3246120" y="1261872"/>
            <a:ext cx="292608" cy="29260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952" b="1" dirty="0">
                <a:solidFill>
                  <a:srgbClr val="FFFFFF"/>
                </a:solidFill>
                <a:latin typeface="Fira Sans Condensed"/>
                <a:ea typeface="Fira Sans Condensed"/>
                <a:cs typeface="Fira Sans Condensed"/>
                <a:sym typeface="Fira Sans Condensed"/>
              </a:rPr>
              <a:t>K</a:t>
            </a:r>
            <a:r>
              <a:rPr lang="es-AR" sz="952" b="1" baseline="30000" dirty="0">
                <a:solidFill>
                  <a:srgbClr val="FFFFFF"/>
                </a:solidFill>
                <a:latin typeface="Fira Sans Condensed"/>
                <a:ea typeface="Fira Sans Condensed"/>
                <a:cs typeface="Fira Sans Condensed"/>
                <a:sym typeface="Fira Sans Condensed"/>
              </a:rPr>
              <a:t>+</a:t>
            </a:r>
            <a:endParaRPr lang="es-AR" sz="952" dirty="0">
              <a:latin typeface="Fira Sans Condensed"/>
            </a:endParaRPr>
          </a:p>
        </p:txBody>
      </p:sp>
      <p:sp>
        <p:nvSpPr>
          <p:cNvPr id="105" name="K 2"/>
          <p:cNvSpPr/>
          <p:nvPr/>
        </p:nvSpPr>
        <p:spPr>
          <a:xfrm>
            <a:off x="3520440" y="1152144"/>
            <a:ext cx="292608" cy="29260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952" b="1" dirty="0">
                <a:solidFill>
                  <a:srgbClr val="FFFFFF"/>
                </a:solidFill>
                <a:latin typeface="Fira Sans Condensed"/>
                <a:ea typeface="Fira Sans Condensed"/>
                <a:cs typeface="Fira Sans Condensed"/>
                <a:sym typeface="Fira Sans Condensed"/>
              </a:rPr>
              <a:t>K</a:t>
            </a:r>
            <a:r>
              <a:rPr lang="es-AR" sz="952" b="1" baseline="30000" dirty="0">
                <a:solidFill>
                  <a:srgbClr val="FFFFFF"/>
                </a:solidFill>
                <a:latin typeface="Fira Sans Condensed"/>
                <a:ea typeface="Fira Sans Condensed"/>
                <a:cs typeface="Fira Sans Condensed"/>
                <a:sym typeface="Fira Sans Condensed"/>
              </a:rPr>
              <a:t>+</a:t>
            </a:r>
            <a:endParaRPr lang="es-AR" sz="952" dirty="0">
              <a:latin typeface="Fira Sans Condensed"/>
            </a:endParaRPr>
          </a:p>
        </p:txBody>
      </p:sp>
      <p:grpSp>
        <p:nvGrpSpPr>
          <p:cNvPr id="106" name="Salida de K bloqueada"/>
          <p:cNvGrpSpPr/>
          <p:nvPr/>
        </p:nvGrpSpPr>
        <p:grpSpPr>
          <a:xfrm>
            <a:off x="2834640" y="1097280"/>
            <a:ext cx="822960" cy="640080"/>
            <a:chOff x="2834640" y="1097280"/>
            <a:chExt cx="822960" cy="640080"/>
          </a:xfrm>
        </p:grpSpPr>
        <p:sp>
          <p:nvSpPr>
            <p:cNvPr id="107" name="Flecha 106_2"/>
            <p:cNvSpPr/>
            <p:nvPr/>
          </p:nvSpPr>
          <p:spPr>
            <a:xfrm>
              <a:off x="2834640" y="1097280"/>
              <a:ext cx="822960" cy="640080"/>
            </a:xfrm>
            <a:custGeom>
              <a:avLst/>
              <a:gdLst/>
              <a:ahLst/>
              <a:cxnLst/>
              <a:rect l="0" t="0" r="r" b="b"/>
              <a:pathLst>
                <a:path w="899" h="700" fill="none">
                  <a:moveTo>
                    <a:pt x="0" y="0"/>
                  </a:moveTo>
                  <a:lnTo>
                    <a:pt x="899" y="700"/>
                  </a:lnTo>
                </a:path>
              </a:pathLst>
            </a:custGeom>
            <a:noFill/>
            <a:ln w="50800" cap="rnd">
              <a:solidFill>
                <a:srgbClr val="C00000"/>
              </a:solidFill>
              <a:round/>
            </a:ln>
          </p:spPr>
        </p:sp>
        <p:sp>
          <p:nvSpPr>
            <p:cNvPr id="108" name="Flecha 108_2"/>
            <p:cNvSpPr/>
            <p:nvPr/>
          </p:nvSpPr>
          <p:spPr>
            <a:xfrm>
              <a:off x="2834640" y="1097280"/>
              <a:ext cx="822960" cy="640080"/>
            </a:xfrm>
            <a:custGeom>
              <a:avLst/>
              <a:gdLst/>
              <a:ahLst/>
              <a:cxnLst/>
              <a:rect l="0" t="0" r="r" b="b"/>
              <a:pathLst>
                <a:path w="899" h="700" fill="none">
                  <a:moveTo>
                    <a:pt x="0" y="700"/>
                  </a:moveTo>
                  <a:lnTo>
                    <a:pt x="899" y="0"/>
                  </a:lnTo>
                </a:path>
              </a:pathLst>
            </a:custGeom>
            <a:noFill/>
            <a:ln w="50800" cap="rnd">
              <a:solidFill>
                <a:srgbClr val="C00000"/>
              </a:solidFill>
              <a:round/>
            </a:ln>
          </p:spPr>
        </p:sp>
      </p:gr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PASOS 6–7 · CIERRE DE K</a:t>
            </a:r>
            <a:r>
              <a:rPr lang="es-AR" sz="3300" baseline="-25000" dirty="0">
                <a:solidFill>
                  <a:srgbClr val="1E1E1E"/>
                </a:solidFill>
                <a:effectLst>
                  <a:glow rad="101600">
                    <a:srgbClr val="FFFFFF">
                      <a:alpha val="70000"/>
                    </a:srgbClr>
                  </a:glow>
                </a:effectLst>
                <a:latin typeface="Permanent Marker"/>
                <a:ea typeface="Permanent Marker"/>
                <a:cs typeface="Permanent Marker"/>
                <a:sym typeface="Permanent Marker"/>
              </a:rPr>
              <a:t>ATP</a:t>
            </a: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 Y DESPOLARIZACIÓN</a:t>
            </a:r>
            <a:endParaRPr lang="es-AR" sz="33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0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3"/>
                                        </p:tgtEl>
                                        <p:attrNameLst>
                                          <p:attrName>style.visibility</p:attrName>
                                        </p:attrNameLst>
                                      </p:cBhvr>
                                      <p:to>
                                        <p:strVal val="visible"/>
                                      </p:to>
                                    </p:set>
                                    <p:animEffect transition="in" filter="fade">
                                      <p:cBhvr>
                                        <p:cTn id="5" dur="200"/>
                                        <p:tgtEl>
                                          <p:spTgt spid="103"/>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104"/>
                                        </p:tgtEl>
                                        <p:attrNameLst>
                                          <p:attrName>style.visibility</p:attrName>
                                        </p:attrNameLst>
                                      </p:cBhvr>
                                      <p:to>
                                        <p:strVal val="visible"/>
                                      </p:to>
                                    </p:set>
                                    <p:animEffect transition="in" filter="fade">
                                      <p:cBhvr>
                                        <p:cTn id="9" dur="200"/>
                                        <p:tgtEl>
                                          <p:spTgt spid="104"/>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05"/>
                                        </p:tgtEl>
                                        <p:attrNameLst>
                                          <p:attrName>style.visibility</p:attrName>
                                        </p:attrNameLst>
                                      </p:cBhvr>
                                      <p:to>
                                        <p:strVal val="visible"/>
                                      </p:to>
                                    </p:set>
                                    <p:animEffect transition="in" filter="fade">
                                      <p:cBhvr>
                                        <p:cTn id="13" dur="200"/>
                                        <p:tgtEl>
                                          <p:spTgt spid="105"/>
                                        </p:tgtEl>
                                      </p:cBhvr>
                                    </p:animEffect>
                                  </p:childTnLst>
                                </p:cTn>
                              </p:par>
                            </p:childTnLst>
                          </p:cTn>
                        </p:par>
                        <p:par>
                          <p:cTn id="20" fill="hold">
                            <p:stCondLst>
                              <p:cond delay="600"/>
                            </p:stCondLst>
                            <p:childTnLst>
                              <p:par>
                                <p:cTn id="15" presetID="53" presetClass="entr" presetSubtype="16" fill="hold" grpId="0" nodeType="afterEffect">
                                  <p:stCondLst>
                                    <p:cond delay="0"/>
                                  </p:stCondLst>
                                  <p:childTnLst>
                                    <p:set>
                                      <p:cBhvr>
                                        <p:cTn id="16" dur="1" fill="hold">
                                          <p:stCondLst>
                                            <p:cond delay="0"/>
                                          </p:stCondLst>
                                        </p:cTn>
                                        <p:tgtEl>
                                          <p:spTgt spid="106"/>
                                        </p:tgtEl>
                                        <p:attrNameLst>
                                          <p:attrName>style.visibility</p:attrName>
                                        </p:attrNameLst>
                                      </p:cBhvr>
                                      <p:to>
                                        <p:strVal val="visible"/>
                                      </p:to>
                                    </p:set>
                                    <p:anim calcmode="lin" valueType="num">
                                      <p:cBhvr>
                                        <p:cTn id="17" dur="500" fill="hold"/>
                                        <p:tgtEl>
                                          <p:spTgt spid="106"/>
                                        </p:tgtEl>
                                        <p:attrNameLst>
                                          <p:attrName>ppt_w</p:attrName>
                                        </p:attrNameLst>
                                      </p:cBhvr>
                                      <p:tavLst>
                                        <p:tav tm="0">
                                          <p:val>
                                            <p:fltVal val="0"/>
                                          </p:val>
                                        </p:tav>
                                        <p:tav tm="100000">
                                          <p:val>
                                            <p:strVal val="#ppt_w"/>
                                          </p:val>
                                        </p:tav>
                                      </p:tavLst>
                                    </p:anim>
                                    <p:anim calcmode="lin" valueType="num">
                                      <p:cBhvr>
                                        <p:cTn id="18" dur="500" fill="hold"/>
                                        <p:tgtEl>
                                          <p:spTgt spid="106"/>
                                        </p:tgtEl>
                                        <p:attrNameLst>
                                          <p:attrName>ppt_h</p:attrName>
                                        </p:attrNameLst>
                                      </p:cBhvr>
                                      <p:tavLst>
                                        <p:tav tm="0">
                                          <p:val>
                                            <p:fltVal val="0"/>
                                          </p:val>
                                        </p:tav>
                                        <p:tav tm="100000">
                                          <p:val>
                                            <p:strVal val="#ppt_h"/>
                                          </p:val>
                                        </p:tav>
                                      </p:tavLst>
                                    </p:anim>
                                    <p:animEffect transition="in" filter="fade">
                                      <p:cBhvr>
                                        <p:cTn id="19" dur="500"/>
                                        <p:tgtEl>
                                          <p:spTgt spid="106"/>
                                        </p:tgtEl>
                                      </p:cBhvr>
                                    </p:animEffect>
                                  </p:childTnLst>
                                </p:cTn>
                              </p:par>
                            </p:childTnLst>
                          </p:cTn>
                        </p:par>
                      </p:childTnLst>
                    </p:cTn>
                  </p:par>
                  <p:par>
                    <p:cTn id="28" fill="hold">
                      <p:stCondLst>
                        <p:cond delay="indefinite"/>
                      </p:stCondLst>
                      <p:childTnLst>
                        <p:par>
                          <p:cTn id="24" fill="hold">
                            <p:stCondLst>
                              <p:cond delay="0"/>
                            </p:stCondLst>
                            <p:childTnLst>
                              <p:par>
                                <p:cTn id="22" presetID="6" presetClass="emph" presetSubtype="0" fill="hold" grpId="0" nodeType="clickEffect">
                                  <p:stCondLst>
                                    <p:cond delay="0"/>
                                  </p:stCondLst>
                                  <p:childTnLst>
                                    <p:animScale>
                                      <p:cBhvr>
                                        <p:cTn id="23" dur="300" autoRev="1" fill="hold"/>
                                        <p:tgtEl>
                                          <p:spTgt spid="65"/>
                                        </p:tgtEl>
                                      </p:cBhvr>
                                      <p:by x="112000" y="112000"/>
                                    </p:animScale>
                                  </p:childTnLst>
                                </p:cTn>
                              </p:par>
                            </p:childTnLst>
                          </p:cTn>
                        </p:par>
                        <p:par>
                          <p:cTn id="27" fill="hold">
                            <p:stCondLst>
                              <p:cond delay="300"/>
                            </p:stCondLst>
                            <p:childTnLst>
                              <p:par>
                                <p:cTn id="25" presetID="6" presetClass="emph" presetSubtype="0" fill="hold" grpId="0" nodeType="afterEffect">
                                  <p:stCondLst>
                                    <p:cond delay="0"/>
                                  </p:stCondLst>
                                  <p:childTnLst>
                                    <p:animScale>
                                      <p:cBhvr>
                                        <p:cTn id="26" dur="300" autoRev="1" fill="hold"/>
                                        <p:tgtEl>
                                          <p:spTgt spid="76"/>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0" animBg="1"/>
      <p:bldP spid="105" grpId="0" animBg="1"/>
      <p:bldP spid="76"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8" name="!!Célula beta"/>
          <p:cNvGrpSpPr/>
          <p:nvPr/>
        </p:nvGrpSpPr>
        <p:grpSpPr>
          <a:xfrm>
            <a:off x="365760" y="2148840"/>
            <a:ext cx="7315200" cy="4297680"/>
            <a:chOff x="365760" y="2148840"/>
            <a:chExt cx="7315200" cy="4297680"/>
          </a:xfrm>
        </p:grpSpPr>
        <p:sp>
          <p:nvSpPr>
            <p:cNvPr id="9" name="Forma 8"/>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0" name="Forma 9"/>
            <p:cNvSpPr/>
            <p:nvPr/>
          </p:nvSpPr>
          <p:spPr>
            <a:xfrm>
              <a:off x="384048" y="2167128"/>
              <a:ext cx="7278624" cy="4261104"/>
            </a:xfrm>
            <a:prstGeom prst="roundRect">
              <a:avLst>
                <a:gd name="adj" fmla="val 16000"/>
              </a:avLst>
            </a:prstGeom>
            <a:noFill/>
            <a:ln w="50800" cap="rnd">
              <a:solidFill>
                <a:srgbClr val="F5CBA7"/>
              </a:solidFill>
              <a:round/>
            </a:ln>
          </p:spPr>
        </p:sp>
        <p:grpSp>
          <p:nvGrpSpPr>
            <p:cNvPr id="11" name="Núcleo"/>
            <p:cNvGrpSpPr/>
            <p:nvPr/>
          </p:nvGrpSpPr>
          <p:grpSpPr>
            <a:xfrm>
              <a:off x="950976" y="4512564"/>
              <a:ext cx="1316736" cy="1185062"/>
              <a:chOff x="950976" y="4512564"/>
              <a:chExt cx="1316736" cy="1185062"/>
            </a:xfrm>
          </p:grpSpPr>
          <p:sp>
            <p:nvSpPr>
              <p:cNvPr id="12" name="Forma 11"/>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3" name="Forma 12"/>
              <p:cNvSpPr/>
              <p:nvPr/>
            </p:nvSpPr>
            <p:spPr>
              <a:xfrm>
                <a:off x="1635679" y="4907585"/>
                <a:ext cx="289682" cy="263347"/>
              </a:xfrm>
              <a:prstGeom prst="ellipse">
                <a:avLst/>
              </a:prstGeom>
              <a:solidFill>
                <a:srgbClr val="513B6B"/>
              </a:solidFill>
              <a:ln>
                <a:noFill/>
              </a:ln>
            </p:spPr>
          </p:sp>
        </p:grpSp>
        <p:grpSp>
          <p:nvGrpSpPr>
            <p:cNvPr id="14" name="Retículo endoplasmático"/>
            <p:cNvGrpSpPr/>
            <p:nvPr/>
          </p:nvGrpSpPr>
          <p:grpSpPr>
            <a:xfrm>
              <a:off x="2560320" y="4962388"/>
              <a:ext cx="1243584" cy="830885"/>
              <a:chOff x="2560320" y="4962388"/>
              <a:chExt cx="1243584" cy="830885"/>
            </a:xfrm>
          </p:grpSpPr>
          <p:sp>
            <p:nvSpPr>
              <p:cNvPr id="15" name="Forma 14"/>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6" name="Forma 15"/>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7" name="Forma 16"/>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8" name="Forma 17"/>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9" name="Forma 18"/>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0" name="Forma 19"/>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1" name="!!GLUT"/>
          <p:cNvGrpSpPr/>
          <p:nvPr/>
        </p:nvGrpSpPr>
        <p:grpSpPr>
          <a:xfrm>
            <a:off x="594360" y="1856232"/>
            <a:ext cx="1207740" cy="822960"/>
            <a:chOff x="594360" y="1856232"/>
            <a:chExt cx="1207740" cy="822960"/>
          </a:xfrm>
        </p:grpSpPr>
        <p:sp>
          <p:nvSpPr>
            <p:cNvPr id="22" name="Forma 21"/>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3" name="Forma 22"/>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5" name="!!KATP"/>
          <p:cNvGrpSpPr/>
          <p:nvPr/>
        </p:nvGrpSpPr>
        <p:grpSpPr>
          <a:xfrm>
            <a:off x="2331720" y="1819656"/>
            <a:ext cx="1640434" cy="914400"/>
            <a:chOff x="2331720" y="1819656"/>
            <a:chExt cx="1640434" cy="914400"/>
          </a:xfrm>
        </p:grpSpPr>
        <p:sp>
          <p:nvSpPr>
            <p:cNvPr id="26" name="Forma 25"/>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7" name="Forma 26"/>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8" name="Forma 27"/>
            <p:cNvSpPr/>
            <p:nvPr/>
          </p:nvSpPr>
          <p:spPr>
            <a:xfrm>
              <a:off x="3156509"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32293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0" name="Forma 29"/>
            <p:cNvSpPr txBox="1"/>
            <p:nvPr/>
          </p:nvSpPr>
          <p:spPr>
            <a:xfrm>
              <a:off x="233172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1" name="!!CaV"/>
          <p:cNvGrpSpPr/>
          <p:nvPr/>
        </p:nvGrpSpPr>
        <p:grpSpPr>
          <a:xfrm>
            <a:off x="4434840" y="1819656"/>
            <a:ext cx="1733702" cy="914400"/>
            <a:chOff x="4434840" y="1819656"/>
            <a:chExt cx="1733702" cy="914400"/>
          </a:xfrm>
        </p:grpSpPr>
        <p:sp>
          <p:nvSpPr>
            <p:cNvPr id="32" name="Forma 31"/>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3" name="Forma 32"/>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4" name="Forma 33"/>
            <p:cNvSpPr/>
            <p:nvPr/>
          </p:nvSpPr>
          <p:spPr>
            <a:xfrm>
              <a:off x="5352898"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519318"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6" name="Forma 35"/>
            <p:cNvSpPr txBox="1"/>
            <p:nvPr/>
          </p:nvSpPr>
          <p:spPr>
            <a:xfrm>
              <a:off x="4434840" y="2478024"/>
              <a:ext cx="1733702"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abierto</a:t>
              </a:r>
              <a:endParaRPr lang="es-AR" sz="1150" dirty="0">
                <a:latin typeface="Fira Sans Condensed"/>
              </a:endParaRPr>
            </a:p>
          </p:txBody>
        </p:sp>
      </p:grpSp>
      <p:grpSp>
        <p:nvGrpSpPr>
          <p:cNvPr id="37" name="!!Mitocondria beta"/>
          <p:cNvGrpSpPr/>
          <p:nvPr/>
        </p:nvGrpSpPr>
        <p:grpSpPr>
          <a:xfrm>
            <a:off x="1828800" y="3657600"/>
            <a:ext cx="1554480" cy="777240"/>
            <a:chOff x="1828800" y="3657600"/>
            <a:chExt cx="1554480" cy="777240"/>
          </a:xfrm>
        </p:grpSpPr>
        <p:sp>
          <p:nvSpPr>
            <p:cNvPr id="38" name="Forma 37"/>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a:off x="1937614" y="3766414"/>
              <a:ext cx="1336853" cy="559613"/>
            </a:xfrm>
            <a:prstGeom prst="ellipse">
              <a:avLst/>
            </a:prstGeom>
            <a:solidFill>
              <a:srgbClr val="F8D8B4"/>
            </a:solidFill>
            <a:ln w="9525" cap="rnd">
              <a:solidFill>
                <a:srgbClr val="B2732B"/>
              </a:solidFill>
              <a:round/>
            </a:ln>
          </p:spPr>
        </p:sp>
        <p:sp>
          <p:nvSpPr>
            <p:cNvPr id="40" name="Forma 39"/>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Gránulo 0"/>
          <p:cNvGrpSpPr/>
          <p:nvPr/>
        </p:nvGrpSpPr>
        <p:grpSpPr>
          <a:xfrm>
            <a:off x="4754880" y="3383280"/>
            <a:ext cx="457200" cy="457200"/>
            <a:chOff x="4754880" y="3383280"/>
            <a:chExt cx="457200" cy="457200"/>
          </a:xfrm>
        </p:grpSpPr>
        <p:sp>
          <p:nvSpPr>
            <p:cNvPr id="42" name="Forma 41"/>
            <p:cNvSpPr/>
            <p:nvPr/>
          </p:nvSpPr>
          <p:spPr>
            <a:xfrm>
              <a:off x="4754880" y="33832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3" name="Forma 42"/>
            <p:cNvSpPr/>
            <p:nvPr/>
          </p:nvSpPr>
          <p:spPr>
            <a:xfrm>
              <a:off x="4892040" y="35204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4" name="!!Gránulo 1"/>
          <p:cNvGrpSpPr/>
          <p:nvPr/>
        </p:nvGrpSpPr>
        <p:grpSpPr>
          <a:xfrm>
            <a:off x="5486400" y="3154680"/>
            <a:ext cx="457200" cy="457200"/>
            <a:chOff x="5486400" y="3154680"/>
            <a:chExt cx="457200" cy="457200"/>
          </a:xfrm>
        </p:grpSpPr>
        <p:sp>
          <p:nvSpPr>
            <p:cNvPr id="45" name="Forma 44"/>
            <p:cNvSpPr/>
            <p:nvPr/>
          </p:nvSpPr>
          <p:spPr>
            <a:xfrm>
              <a:off x="5486400" y="31546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6" name="Forma 45"/>
            <p:cNvSpPr/>
            <p:nvPr/>
          </p:nvSpPr>
          <p:spPr>
            <a:xfrm>
              <a:off x="5623560" y="32918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7" name="!!Gránulo 2"/>
          <p:cNvGrpSpPr/>
          <p:nvPr/>
        </p:nvGrpSpPr>
        <p:grpSpPr>
          <a:xfrm>
            <a:off x="6217920" y="3429000"/>
            <a:ext cx="457200" cy="457200"/>
            <a:chOff x="6217920" y="3429000"/>
            <a:chExt cx="457200" cy="457200"/>
          </a:xfrm>
        </p:grpSpPr>
        <p:sp>
          <p:nvSpPr>
            <p:cNvPr id="48" name="Forma 47"/>
            <p:cNvSpPr/>
            <p:nvPr/>
          </p:nvSpPr>
          <p:spPr>
            <a:xfrm>
              <a:off x="6217920" y="34290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9" name="Forma 48"/>
            <p:cNvSpPr/>
            <p:nvPr/>
          </p:nvSpPr>
          <p:spPr>
            <a:xfrm>
              <a:off x="6355080" y="35661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0" name="!!Gránulo 3"/>
          <p:cNvGrpSpPr/>
          <p:nvPr/>
        </p:nvGrpSpPr>
        <p:grpSpPr>
          <a:xfrm>
            <a:off x="5120640" y="4069080"/>
            <a:ext cx="457200" cy="457200"/>
            <a:chOff x="5120640" y="4069080"/>
            <a:chExt cx="457200" cy="457200"/>
          </a:xfrm>
        </p:grpSpPr>
        <p:sp>
          <p:nvSpPr>
            <p:cNvPr id="51" name="Forma 50"/>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2" name="Forma 51"/>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3" name="!!Gránulo 4"/>
          <p:cNvGrpSpPr/>
          <p:nvPr/>
        </p:nvGrpSpPr>
        <p:grpSpPr>
          <a:xfrm>
            <a:off x="5897880" y="4023360"/>
            <a:ext cx="457200" cy="457200"/>
            <a:chOff x="5897880" y="4023360"/>
            <a:chExt cx="457200" cy="457200"/>
          </a:xfrm>
        </p:grpSpPr>
        <p:sp>
          <p:nvSpPr>
            <p:cNvPr id="54" name="Forma 53"/>
            <p:cNvSpPr/>
            <p:nvPr/>
          </p:nvSpPr>
          <p:spPr>
            <a:xfrm>
              <a:off x="5897880" y="40233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5" name="Forma 54"/>
            <p:cNvSpPr/>
            <p:nvPr/>
          </p:nvSpPr>
          <p:spPr>
            <a:xfrm>
              <a:off x="6035040" y="41605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6" name="!!Gránulo 5"/>
          <p:cNvGrpSpPr/>
          <p:nvPr/>
        </p:nvGrpSpPr>
        <p:grpSpPr>
          <a:xfrm>
            <a:off x="6583680" y="4206240"/>
            <a:ext cx="457200" cy="457200"/>
            <a:chOff x="6583680" y="4206240"/>
            <a:chExt cx="457200" cy="457200"/>
          </a:xfrm>
        </p:grpSpPr>
        <p:sp>
          <p:nvSpPr>
            <p:cNvPr id="57" name="Forma 56"/>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8" name="Forma 57"/>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9" name="!!Gránulo 6"/>
          <p:cNvGrpSpPr/>
          <p:nvPr/>
        </p:nvGrpSpPr>
        <p:grpSpPr>
          <a:xfrm>
            <a:off x="4846320" y="4800600"/>
            <a:ext cx="457200" cy="457200"/>
            <a:chOff x="4846320" y="4800600"/>
            <a:chExt cx="457200" cy="457200"/>
          </a:xfrm>
        </p:grpSpPr>
        <p:sp>
          <p:nvSpPr>
            <p:cNvPr id="60" name="Forma 59"/>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1" name="Forma 60"/>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2" name="!!Gránulo 7"/>
          <p:cNvGrpSpPr/>
          <p:nvPr/>
        </p:nvGrpSpPr>
        <p:grpSpPr>
          <a:xfrm>
            <a:off x="5623560" y="4754880"/>
            <a:ext cx="457200" cy="457200"/>
            <a:chOff x="5623560" y="4754880"/>
            <a:chExt cx="457200" cy="457200"/>
          </a:xfrm>
        </p:grpSpPr>
        <p:sp>
          <p:nvSpPr>
            <p:cNvPr id="63" name="Forma 62"/>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4" name="Forma 63"/>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5" name="!!Cargas de membrana"/>
          <p:cNvGrpSpPr/>
          <p:nvPr/>
        </p:nvGrpSpPr>
        <p:grpSpPr>
          <a:xfrm>
            <a:off x="685800" y="1481328"/>
            <a:ext cx="6537960" cy="1307592"/>
            <a:chOff x="685800" y="1481328"/>
            <a:chExt cx="6537960" cy="1307592"/>
          </a:xfrm>
        </p:grpSpPr>
        <p:sp>
          <p:nvSpPr>
            <p:cNvPr id="66" name="Forma 65"/>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7" name="Forma 66"/>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6" name="!!Potencial"/>
          <p:cNvSpPr/>
          <p:nvPr/>
        </p:nvSpPr>
        <p:spPr>
          <a:xfrm>
            <a:off x="502920" y="5897880"/>
            <a:ext cx="2194560" cy="384048"/>
          </a:xfrm>
          <a:prstGeom prst="rect">
            <a:avLst/>
          </a:prstGeom>
          <a:solidFill>
            <a:srgbClr val="FDE2E2"/>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despolarizada</a:t>
            </a:r>
            <a:endParaRPr lang="es-AR" sz="1250" dirty="0">
              <a:latin typeface="Fira Sans Condensed"/>
            </a:endParaRPr>
          </a:p>
        </p:txBody>
      </p:sp>
      <p:sp>
        <p:nvSpPr>
          <p:cNvPr id="77" name="!!G6P"/>
          <p:cNvSpPr/>
          <p:nvPr/>
        </p:nvSpPr>
        <p:spPr>
          <a:xfrm>
            <a:off x="914400" y="2926080"/>
            <a:ext cx="11430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G6P</a:t>
            </a:r>
            <a:endParaRPr lang="es-AR" sz="1300" dirty="0">
              <a:latin typeface="Fira Sans Condensed"/>
            </a:endParaRPr>
          </a:p>
        </p:txBody>
      </p:sp>
      <p:sp>
        <p:nvSpPr>
          <p:cNvPr id="78" name="!!Glucocinasa"/>
          <p:cNvSpPr/>
          <p:nvPr/>
        </p:nvSpPr>
        <p:spPr>
          <a:xfrm>
            <a:off x="960120" y="2606040"/>
            <a:ext cx="962817"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Glucocinasa</a:t>
            </a:r>
            <a:endParaRPr lang="es-AR" sz="1100" dirty="0">
              <a:latin typeface="Fira Sans Condensed"/>
            </a:endParaRPr>
          </a:p>
        </p:txBody>
      </p:sp>
      <p:sp>
        <p:nvSpPr>
          <p:cNvPr id="79" name="!!ATP 0"/>
          <p:cNvSpPr/>
          <p:nvPr/>
        </p:nvSpPr>
        <p:spPr>
          <a:xfrm>
            <a:off x="3520440"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0" name="!!ATP 1"/>
          <p:cNvSpPr/>
          <p:nvPr/>
        </p:nvSpPr>
        <p:spPr>
          <a:xfrm>
            <a:off x="3959352"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1" name="!!ATP 2"/>
          <p:cNvSpPr/>
          <p:nvPr/>
        </p:nvSpPr>
        <p:spPr>
          <a:xfrm>
            <a:off x="4398264"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2" name="!!ATP 3"/>
          <p:cNvSpPr/>
          <p:nvPr/>
        </p:nvSpPr>
        <p:spPr>
          <a:xfrm>
            <a:off x="3520440"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3" name="!!ATP 4"/>
          <p:cNvSpPr/>
          <p:nvPr/>
        </p:nvSpPr>
        <p:spPr>
          <a:xfrm>
            <a:off x="3959352"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4" name="!!ATP 5"/>
          <p:cNvSpPr/>
          <p:nvPr/>
        </p:nvSpPr>
        <p:spPr>
          <a:xfrm>
            <a:off x="4398264"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5" name="!!Ca 0"/>
          <p:cNvSpPr/>
          <p:nvPr/>
        </p:nvSpPr>
        <p:spPr>
          <a:xfrm>
            <a:off x="4709160"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6" name="!!Ca 1"/>
          <p:cNvSpPr/>
          <p:nvPr/>
        </p:nvSpPr>
        <p:spPr>
          <a:xfrm>
            <a:off x="5093208"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7" name="!!Ca 2"/>
          <p:cNvSpPr/>
          <p:nvPr/>
        </p:nvSpPr>
        <p:spPr>
          <a:xfrm>
            <a:off x="5477256"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8" name="!!Ca 3"/>
          <p:cNvSpPr/>
          <p:nvPr/>
        </p:nvSpPr>
        <p:spPr>
          <a:xfrm>
            <a:off x="4709160" y="297180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9" name="!!Ca 4"/>
          <p:cNvSpPr/>
          <p:nvPr/>
        </p:nvSpPr>
        <p:spPr>
          <a:xfrm>
            <a:off x="5093208" y="297180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grpSp>
        <p:nvGrpSpPr>
          <p:cNvPr id="90" name="!!Progreso"/>
          <p:cNvGrpSpPr/>
          <p:nvPr/>
        </p:nvGrpSpPr>
        <p:grpSpPr>
          <a:xfrm>
            <a:off x="8001000" y="5596128"/>
            <a:ext cx="3840480" cy="768096"/>
            <a:chOff x="8001000" y="5596128"/>
            <a:chExt cx="3840480" cy="768096"/>
          </a:xfrm>
        </p:grpSpPr>
        <p:sp>
          <p:nvSpPr>
            <p:cNvPr id="91" name="Progreso 1"/>
            <p:cNvSpPr/>
            <p:nvPr/>
          </p:nvSpPr>
          <p:spPr>
            <a:xfrm>
              <a:off x="802843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92" name="Progreso 2"/>
            <p:cNvSpPr/>
            <p:nvPr/>
          </p:nvSpPr>
          <p:spPr>
            <a:xfrm>
              <a:off x="837590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93" name="Progreso 3"/>
            <p:cNvSpPr/>
            <p:nvPr/>
          </p:nvSpPr>
          <p:spPr>
            <a:xfrm>
              <a:off x="8723376"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94" name="Progreso 4"/>
            <p:cNvSpPr/>
            <p:nvPr/>
          </p:nvSpPr>
          <p:spPr>
            <a:xfrm>
              <a:off x="9070848"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95" name="Progreso 5"/>
            <p:cNvSpPr/>
            <p:nvPr/>
          </p:nvSpPr>
          <p:spPr>
            <a:xfrm>
              <a:off x="9418320"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96" name="Progreso 6"/>
            <p:cNvSpPr/>
            <p:nvPr/>
          </p:nvSpPr>
          <p:spPr>
            <a:xfrm>
              <a:off x="976579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97" name="Progreso 7"/>
            <p:cNvSpPr/>
            <p:nvPr/>
          </p:nvSpPr>
          <p:spPr>
            <a:xfrm>
              <a:off x="1011326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98" name="Progreso 8"/>
            <p:cNvSpPr/>
            <p:nvPr/>
          </p:nvSpPr>
          <p:spPr>
            <a:xfrm>
              <a:off x="10460736"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99" name="Progreso 9"/>
            <p:cNvSpPr/>
            <p:nvPr/>
          </p:nvSpPr>
          <p:spPr>
            <a:xfrm>
              <a:off x="10808208"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100" name="Progreso 10"/>
            <p:cNvSpPr/>
            <p:nvPr/>
          </p:nvSpPr>
          <p:spPr>
            <a:xfrm>
              <a:off x="11155680"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101" name="Progreso 11"/>
            <p:cNvSpPr/>
            <p:nvPr/>
          </p:nvSpPr>
          <p:spPr>
            <a:xfrm>
              <a:off x="11503152" y="6053328"/>
              <a:ext cx="310896" cy="310896"/>
            </a:xfrm>
            <a:prstGeom prst="ellipse">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sp>
          <p:nvSpPr>
            <p:cNvPr id="102" name="Forma 101"/>
            <p:cNvSpPr/>
            <p:nvPr/>
          </p:nvSpPr>
          <p:spPr>
            <a:xfrm>
              <a:off x="8001000" y="5596128"/>
              <a:ext cx="3840480" cy="384048"/>
            </a:xfrm>
            <a:prstGeom prst="rect">
              <a:avLst/>
            </a:prstGeom>
            <a:solidFill>
              <a:srgbClr val="FFC000"/>
            </a:solidFill>
            <a:ln w="15875" cap="rnd">
              <a:solidFill>
                <a:srgbClr val="1E1E1E"/>
              </a:solidFill>
              <a:round/>
            </a:ln>
          </p:spPr>
          <p:txBody>
            <a:bodyPr wrap="square" lIns="36576" tIns="0" rIns="36576" bIns="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Ca</a:t>
              </a:r>
              <a:r>
                <a:rPr lang="es-AR" sz="1250" b="1" baseline="-25000" dirty="0">
                  <a:solidFill>
                    <a:srgbClr val="C00000"/>
                  </a:solidFill>
                  <a:latin typeface="Fira Sans Condensed"/>
                  <a:ea typeface="Fira Sans Condensed"/>
                  <a:cs typeface="Fira Sans Condensed"/>
                  <a:sym typeface="Fira Sans Condensed"/>
                </a:rPr>
                <a:t>V</a:t>
              </a:r>
              <a:r>
                <a:rPr lang="es-AR" sz="1250" b="1" dirty="0">
                  <a:solidFill>
                    <a:srgbClr val="C00000"/>
                  </a:solidFill>
                  <a:latin typeface="Fira Sans Condensed"/>
                  <a:ea typeface="Fira Sans Condensed"/>
                  <a:cs typeface="Fira Sans Condensed"/>
                  <a:sym typeface="Fira Sans Condensed"/>
                </a:rPr>
                <a:t> abre → Entrada Ca</a:t>
              </a:r>
              <a:r>
                <a:rPr lang="es-AR" sz="1250" b="1" baseline="30000" dirty="0">
                  <a:solidFill>
                    <a:srgbClr val="C00000"/>
                  </a:solidFill>
                  <a:latin typeface="Fira Sans Condensed"/>
                  <a:ea typeface="Fira Sans Condensed"/>
                  <a:cs typeface="Fira Sans Condensed"/>
                  <a:sym typeface="Fira Sans Condensed"/>
                </a:rPr>
                <a:t>2+</a:t>
              </a:r>
              <a:endParaRPr lang="es-AR" sz="1250" dirty="0">
                <a:latin typeface="Fira Sans Condensed"/>
              </a:endParaRPr>
            </a:p>
          </p:txBody>
        </p:sp>
      </p:grpSp>
      <p:grpSp>
        <p:nvGrpSpPr>
          <p:cNvPr id="103" name="!!Panel"/>
          <p:cNvGrpSpPr/>
          <p:nvPr/>
        </p:nvGrpSpPr>
        <p:grpSpPr>
          <a:xfrm>
            <a:off x="8001000" y="1051560"/>
            <a:ext cx="3840480" cy="4297680"/>
            <a:chOff x="8001000" y="1051560"/>
            <a:chExt cx="3840480" cy="4297680"/>
          </a:xfrm>
        </p:grpSpPr>
        <p:sp>
          <p:nvSpPr>
            <p:cNvPr id="104" name="Forma 103"/>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05" name="Forma 104"/>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8–9</a:t>
              </a:r>
              <a:endParaRPr lang="es-AR" sz="1500" dirty="0">
                <a:latin typeface="Fira Sans Condensed"/>
              </a:endParaRPr>
            </a:p>
          </p:txBody>
        </p:sp>
        <p:sp>
          <p:nvSpPr>
            <p:cNvPr id="106" name="Forma 105"/>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Calcio como disparador</a:t>
              </a:r>
              <a:endParaRPr lang="es-AR" sz="1650" dirty="0">
                <a:latin typeface="Fira Sans Condensed"/>
              </a:endParaRPr>
            </a:p>
          </p:txBody>
        </p:sp>
        <p:sp>
          <p:nvSpPr>
            <p:cNvPr id="107" name="Forma 106"/>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8.</a:t>
              </a:r>
              <a:r>
                <a:rPr lang="es-AR" sz="1450" dirty="0">
                  <a:solidFill>
                    <a:srgbClr val="1E1E1E"/>
                  </a:solidFill>
                  <a:latin typeface="Fira Sans Condensed"/>
                  <a:ea typeface="Fira Sans Condensed"/>
                  <a:cs typeface="Fira Sans Condensed"/>
                  <a:sym typeface="Fira Sans Condensed"/>
                </a:rPr>
                <a:t> La despolarización abre canales de </a:t>
              </a:r>
              <a:r>
                <a:rPr lang="es-AR" sz="1450" b="1" dirty="0">
                  <a:solidFill>
                    <a:srgbClr val="1E1E1E"/>
                  </a:solidFill>
                  <a:latin typeface="Fira Sans Condensed"/>
                  <a:ea typeface="Fira Sans Condensed"/>
                  <a:cs typeface="Fira Sans Condensed"/>
                  <a:sym typeface="Fira Sans Condensed"/>
                </a:rPr>
                <a:t>Ca</a:t>
              </a:r>
              <a:r>
                <a:rPr lang="es-AR" sz="1450" b="1" baseline="30000" dirty="0">
                  <a:solidFill>
                    <a:srgbClr val="1E1E1E"/>
                  </a:solidFill>
                  <a:latin typeface="Fira Sans Condensed"/>
                  <a:ea typeface="Fira Sans Condensed"/>
                  <a:cs typeface="Fira Sans Condensed"/>
                  <a:sym typeface="Fira Sans Condensed"/>
                </a:rPr>
                <a:t>2+</a:t>
              </a:r>
              <a:r>
                <a:rPr lang="es-AR" sz="1450" b="1" dirty="0">
                  <a:solidFill>
                    <a:srgbClr val="1E1E1E"/>
                  </a:solidFill>
                  <a:latin typeface="Fira Sans Condensed"/>
                  <a:ea typeface="Fira Sans Condensed"/>
                  <a:cs typeface="Fira Sans Condensed"/>
                  <a:sym typeface="Fira Sans Condensed"/>
                </a:rPr>
                <a:t> dependientes de voltaje</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9.</a:t>
              </a:r>
              <a:r>
                <a:rPr lang="es-AR" sz="1450" dirty="0">
                  <a:solidFill>
                    <a:srgbClr val="1E1E1E"/>
                  </a:solidFill>
                  <a:latin typeface="Fira Sans Condensed"/>
                  <a:ea typeface="Fira Sans Condensed"/>
                  <a:cs typeface="Fira Sans Condensed"/>
                  <a:sym typeface="Fira Sans Condensed"/>
                </a:rPr>
                <a:t> El Ca</a:t>
              </a:r>
              <a:r>
                <a:rPr lang="es-AR" sz="1450" baseline="30000" dirty="0">
                  <a:solidFill>
                    <a:srgbClr val="1E1E1E"/>
                  </a:solidFill>
                  <a:latin typeface="Fira Sans Condensed"/>
                  <a:ea typeface="Fira Sans Condensed"/>
                  <a:cs typeface="Fira Sans Condensed"/>
                  <a:sym typeface="Fira Sans Condensed"/>
                </a:rPr>
                <a:t>2+</a:t>
              </a:r>
              <a:r>
                <a:rPr lang="es-AR" sz="1450" dirty="0">
                  <a:solidFill>
                    <a:srgbClr val="1E1E1E"/>
                  </a:solidFill>
                  <a:latin typeface="Fira Sans Condensed"/>
                  <a:ea typeface="Fira Sans Condensed"/>
                  <a:cs typeface="Fira Sans Condensed"/>
                  <a:sym typeface="Fira Sans Condensed"/>
                </a:rPr>
                <a:t> ingresa a favor de un gradiente de ~10 000 veces y aumenta su concentración submembrana.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El Ca</a:t>
              </a:r>
              <a:r>
                <a:rPr lang="es-AR" sz="1450" baseline="30000" dirty="0">
                  <a:solidFill>
                    <a:srgbClr val="1E1E1E"/>
                  </a:solidFill>
                  <a:latin typeface="Fira Sans Condensed"/>
                  <a:ea typeface="Fira Sans Condensed"/>
                  <a:cs typeface="Fira Sans Condensed"/>
                  <a:sym typeface="Fira Sans Condensed"/>
                </a:rPr>
                <a:t>2+</a:t>
              </a:r>
              <a:r>
                <a:rPr lang="es-AR" sz="1450" dirty="0">
                  <a:solidFill>
                    <a:srgbClr val="1E1E1E"/>
                  </a:solidFill>
                  <a:latin typeface="Fira Sans Condensed"/>
                  <a:ea typeface="Fira Sans Condensed"/>
                  <a:cs typeface="Fira Sans Condensed"/>
                  <a:sym typeface="Fira Sans Condensed"/>
                </a:rPr>
                <a:t> es la señal que activa la maquinaria de fusión de los gránulos.</a:t>
              </a:r>
              <a:endParaRPr lang="es-AR" sz="1450" dirty="0">
                <a:latin typeface="Fira Sans Condensed"/>
              </a:endParaRPr>
            </a:p>
          </p:txBody>
        </p:sp>
      </p:grpSp>
      <p:sp>
        <p:nvSpPr>
          <p:cNvPr id="108" name="Ca ext 0"/>
          <p:cNvSpPr/>
          <p:nvPr/>
        </p:nvSpPr>
        <p:spPr>
          <a:xfrm>
            <a:off x="4754880" y="86868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109" name="Ca ext 1"/>
          <p:cNvSpPr/>
          <p:nvPr/>
        </p:nvSpPr>
        <p:spPr>
          <a:xfrm>
            <a:off x="5138928" y="86868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110" name="Ca ext 2"/>
          <p:cNvSpPr/>
          <p:nvPr/>
        </p:nvSpPr>
        <p:spPr>
          <a:xfrm>
            <a:off x="5522976" y="86868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111" name="Ca ext 3"/>
          <p:cNvSpPr/>
          <p:nvPr/>
        </p:nvSpPr>
        <p:spPr>
          <a:xfrm>
            <a:off x="4754880" y="1216152"/>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112" name="Ca ext 4"/>
          <p:cNvSpPr/>
          <p:nvPr/>
        </p:nvSpPr>
        <p:spPr>
          <a:xfrm>
            <a:off x="5138928" y="1216152"/>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PASOS 8–9 · APERTURA DE CA</a:t>
            </a:r>
            <a:r>
              <a:rPr lang="es-AR" sz="3200" baseline="-25000" dirty="0">
                <a:solidFill>
                  <a:srgbClr val="1E1E1E"/>
                </a:solidFill>
                <a:effectLst>
                  <a:glow rad="101600">
                    <a:srgbClr val="FFFFFF">
                      <a:alpha val="70000"/>
                    </a:srgbClr>
                  </a:glow>
                </a:effectLst>
                <a:latin typeface="Permanent Marker"/>
                <a:ea typeface="Permanent Marker"/>
                <a:cs typeface="Permanent Marker"/>
                <a:sym typeface="Permanent Marker"/>
              </a:rPr>
              <a:t>V</a:t>
            </a: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 Y ENTRADA DE CA</a:t>
            </a:r>
            <a:r>
              <a:rPr lang="es-AR" sz="3200" baseline="30000" dirty="0">
                <a:solidFill>
                  <a:srgbClr val="1E1E1E"/>
                </a:solidFill>
                <a:effectLst>
                  <a:glow rad="101600">
                    <a:srgbClr val="FFFFFF">
                      <a:alpha val="70000"/>
                    </a:srgbClr>
                  </a:glow>
                </a:effectLst>
                <a:latin typeface="Permanent Marker"/>
                <a:ea typeface="Permanent Marker"/>
                <a:cs typeface="Permanent Marker"/>
                <a:sym typeface="Permanent Marker"/>
              </a:rPr>
              <a:t>2+</a:t>
            </a:r>
            <a:endParaRPr lang="es-AR" sz="32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1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31"/>
                                        </p:tgtEl>
                                      </p:cBhvr>
                                      <p:by x="112000" y="112000"/>
                                    </p:animScale>
                                  </p:childTnLst>
                                </p:cTn>
                              </p:par>
                            </p:childTnLst>
                          </p:cTn>
                        </p:par>
                      </p:childTnLst>
                    </p:cTn>
                  </p:par>
                  <p:par>
                    <p:cTn id="27" fill="hold">
                      <p:stCondLst>
                        <p:cond delay="indefinite"/>
                      </p:stCondLst>
                      <p:childTnLst>
                        <p:par>
                          <p:cTn id="10"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108"/>
                                        </p:tgtEl>
                                        <p:attrNameLst>
                                          <p:attrName>style.visibility</p:attrName>
                                        </p:attrNameLst>
                                      </p:cBhvr>
                                      <p:to>
                                        <p:strVal val="visible"/>
                                      </p:to>
                                    </p:set>
                                    <p:animEffect transition="in" filter="fade">
                                      <p:cBhvr>
                                        <p:cTn id="9" dur="150"/>
                                        <p:tgtEl>
                                          <p:spTgt spid="108"/>
                                        </p:tgtEl>
                                      </p:cBhvr>
                                    </p:animEffect>
                                  </p:childTnLst>
                                </p:cTn>
                              </p:par>
                            </p:childTnLst>
                          </p:cTn>
                        </p:par>
                        <p:par>
                          <p:cTn id="14" fill="hold">
                            <p:stCondLst>
                              <p:cond delay="150"/>
                            </p:stCondLst>
                            <p:childTnLst>
                              <p:par>
                                <p:cTn id="11" presetID="10" presetClass="entr" presetSubtype="0" fill="hold" grpId="0" nodeType="afterEffect">
                                  <p:stCondLst>
                                    <p:cond delay="0"/>
                                  </p:stCondLst>
                                  <p:childTnLst>
                                    <p:set>
                                      <p:cBhvr>
                                        <p:cTn id="12" dur="1" fill="hold">
                                          <p:stCondLst>
                                            <p:cond delay="0"/>
                                          </p:stCondLst>
                                        </p:cTn>
                                        <p:tgtEl>
                                          <p:spTgt spid="109"/>
                                        </p:tgtEl>
                                        <p:attrNameLst>
                                          <p:attrName>style.visibility</p:attrName>
                                        </p:attrNameLst>
                                      </p:cBhvr>
                                      <p:to>
                                        <p:strVal val="visible"/>
                                      </p:to>
                                    </p:set>
                                    <p:animEffect transition="in" filter="fade">
                                      <p:cBhvr>
                                        <p:cTn id="13" dur="150"/>
                                        <p:tgtEl>
                                          <p:spTgt spid="109"/>
                                        </p:tgtEl>
                                      </p:cBhvr>
                                    </p:animEffect>
                                  </p:childTnLst>
                                </p:cTn>
                              </p:par>
                            </p:childTnLst>
                          </p:cTn>
                        </p:par>
                        <p:par>
                          <p:cTn id="18" fill="hold">
                            <p:stCondLst>
                              <p:cond delay="300"/>
                            </p:stCondLst>
                            <p:childTnLst>
                              <p:par>
                                <p:cTn id="15" presetID="10" presetClass="entr" presetSubtype="0" fill="hold" grpId="0" nodeType="after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150"/>
                                        <p:tgtEl>
                                          <p:spTgt spid="110"/>
                                        </p:tgtEl>
                                      </p:cBhvr>
                                    </p:animEffect>
                                  </p:childTnLst>
                                </p:cTn>
                              </p:par>
                            </p:childTnLst>
                          </p:cTn>
                        </p:par>
                        <p:par>
                          <p:cTn id="22" fill="hold">
                            <p:stCondLst>
                              <p:cond delay="450"/>
                            </p:stCondLst>
                            <p:childTnLst>
                              <p:par>
                                <p:cTn id="19" presetID="10" presetClass="entr" presetSubtype="0" fill="hold" grpId="0" nodeType="afterEffect">
                                  <p:stCondLst>
                                    <p:cond delay="0"/>
                                  </p:stCondLst>
                                  <p:childTnLst>
                                    <p:set>
                                      <p:cBhvr>
                                        <p:cTn id="20" dur="1" fill="hold">
                                          <p:stCondLst>
                                            <p:cond delay="0"/>
                                          </p:stCondLst>
                                        </p:cTn>
                                        <p:tgtEl>
                                          <p:spTgt spid="111"/>
                                        </p:tgtEl>
                                        <p:attrNameLst>
                                          <p:attrName>style.visibility</p:attrName>
                                        </p:attrNameLst>
                                      </p:cBhvr>
                                      <p:to>
                                        <p:strVal val="visible"/>
                                      </p:to>
                                    </p:set>
                                    <p:animEffect transition="in" filter="fade">
                                      <p:cBhvr>
                                        <p:cTn id="21" dur="150"/>
                                        <p:tgtEl>
                                          <p:spTgt spid="111"/>
                                        </p:tgtEl>
                                      </p:cBhvr>
                                    </p:animEffect>
                                  </p:childTnLst>
                                </p:cTn>
                              </p:par>
                            </p:childTnLst>
                          </p:cTn>
                        </p:par>
                        <p:par>
                          <p:cTn id="26" fill="hold">
                            <p:stCondLst>
                              <p:cond delay="600"/>
                            </p:stCondLst>
                            <p:childTnLst>
                              <p:par>
                                <p:cTn id="23" presetID="10" presetClass="entr" presetSubtype="0" fill="hold" grpId="0" nodeType="afterEffect">
                                  <p:stCondLst>
                                    <p:cond delay="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150"/>
                                        <p:tgtEl>
                                          <p:spTgt spid="112"/>
                                        </p:tgtEl>
                                      </p:cBhvr>
                                    </p:animEffect>
                                  </p:childTnLst>
                                </p:cTn>
                              </p:par>
                            </p:childTnLst>
                          </p:cTn>
                        </p:par>
                      </p:childTnLst>
                    </p:cTn>
                  </p:par>
                  <p:par>
                    <p:cTn id="43" fill="hold">
                      <p:stCondLst>
                        <p:cond delay="indefinite"/>
                      </p:stCondLst>
                      <p:childTnLst>
                        <p:par>
                          <p:cTn id="30" fill="hold">
                            <p:stCondLst>
                              <p:cond delay="0"/>
                            </p:stCondLst>
                            <p:childTnLst>
                              <p:par>
                                <p:cTn id="28" presetID="0" presetClass="path" presetSubtype="0" accel="20000" decel="20000" fill="hold" grpId="0" nodeType="clickEffect">
                                  <p:stCondLst>
                                    <p:cond delay="0"/>
                                  </p:stCondLst>
                                  <p:childTnLst>
                                    <p:animMotion origin="layout" path="M 0 0 L 0.0263 0.0533 L 0.0263 0.3067 E" pathEditMode="relative" ptsTypes="">
                                      <p:cBhvr>
                                        <p:cTn id="29" dur="1300" fill="hold"/>
                                        <p:tgtEl>
                                          <p:spTgt spid="108"/>
                                        </p:tgtEl>
                                        <p:attrNameLst>
                                          <p:attrName>ppt_x</p:attrName>
                                          <p:attrName>ppt_y</p:attrName>
                                        </p:attrNameLst>
                                      </p:cBhvr>
                                      <p:rCtr x="1312" y="15333"/>
                                    </p:animMotion>
                                  </p:childTnLst>
                                </p:cTn>
                              </p:par>
                            </p:childTnLst>
                          </p:cTn>
                        </p:par>
                        <p:par>
                          <p:cTn id="33" fill="hold">
                            <p:stCondLst>
                              <p:cond delay="250"/>
                            </p:stCondLst>
                            <p:childTnLst>
                              <p:par>
                                <p:cTn id="31" presetID="0" presetClass="path" presetSubtype="0" accel="20000" decel="20000" fill="hold" grpId="0" nodeType="afterEffect">
                                  <p:stCondLst>
                                    <p:cond delay="0"/>
                                  </p:stCondLst>
                                  <p:childTnLst>
                                    <p:animMotion origin="layout" path="M 0 0 L -0.0053 0.0533 L -0.0053 0.3067 E" pathEditMode="relative" ptsTypes="">
                                      <p:cBhvr>
                                        <p:cTn id="32" dur="1300" fill="hold"/>
                                        <p:tgtEl>
                                          <p:spTgt spid="109"/>
                                        </p:tgtEl>
                                        <p:attrNameLst>
                                          <p:attrName>ppt_x</p:attrName>
                                          <p:attrName>ppt_y</p:attrName>
                                        </p:attrNameLst>
                                      </p:cBhvr>
                                      <p:rCtr x="-262" y="15333"/>
                                    </p:animMotion>
                                  </p:childTnLst>
                                </p:cTn>
                              </p:par>
                            </p:childTnLst>
                          </p:cTn>
                        </p:par>
                        <p:par>
                          <p:cTn id="36" fill="hold">
                            <p:stCondLst>
                              <p:cond delay="750"/>
                            </p:stCondLst>
                            <p:childTnLst>
                              <p:par>
                                <p:cTn id="34" presetID="0" presetClass="path" presetSubtype="0" accel="20000" decel="20000" fill="hold" grpId="0" nodeType="afterEffect">
                                  <p:stCondLst>
                                    <p:cond delay="0"/>
                                  </p:stCondLst>
                                  <p:childTnLst>
                                    <p:animMotion origin="layout" path="M 0 0 L -0.0368 0.0533 L -0.0368 0.3067 E" pathEditMode="relative" ptsTypes="">
                                      <p:cBhvr>
                                        <p:cTn id="35" dur="1300" fill="hold"/>
                                        <p:tgtEl>
                                          <p:spTgt spid="110"/>
                                        </p:tgtEl>
                                        <p:attrNameLst>
                                          <p:attrName>ppt_x</p:attrName>
                                          <p:attrName>ppt_y</p:attrName>
                                        </p:attrNameLst>
                                      </p:cBhvr>
                                      <p:rCtr x="-1837" y="15333"/>
                                    </p:animMotion>
                                  </p:childTnLst>
                                </p:cTn>
                              </p:par>
                            </p:childTnLst>
                          </p:cTn>
                        </p:par>
                        <p:par>
                          <p:cTn id="39" fill="hold">
                            <p:stCondLst>
                              <p:cond delay="1500"/>
                            </p:stCondLst>
                            <p:childTnLst>
                              <p:par>
                                <p:cTn id="37" presetID="0" presetClass="path" presetSubtype="0" accel="20000" decel="20000" fill="hold" grpId="0" nodeType="afterEffect">
                                  <p:stCondLst>
                                    <p:cond delay="0"/>
                                  </p:stCondLst>
                                  <p:childTnLst>
                                    <p:animMotion origin="layout" path="M 0 0 L 0.0263 0.0027 L 0.0263 0.2560 E" pathEditMode="relative" ptsTypes="">
                                      <p:cBhvr>
                                        <p:cTn id="38" dur="1300" fill="hold"/>
                                        <p:tgtEl>
                                          <p:spTgt spid="111"/>
                                        </p:tgtEl>
                                        <p:attrNameLst>
                                          <p:attrName>ppt_x</p:attrName>
                                          <p:attrName>ppt_y</p:attrName>
                                        </p:attrNameLst>
                                      </p:cBhvr>
                                      <p:rCtr x="1312" y="12800"/>
                                    </p:animMotion>
                                  </p:childTnLst>
                                </p:cTn>
                              </p:par>
                            </p:childTnLst>
                          </p:cTn>
                        </p:par>
                        <p:par>
                          <p:cTn id="42" fill="hold">
                            <p:stCondLst>
                              <p:cond delay="2500"/>
                            </p:stCondLst>
                            <p:childTnLst>
                              <p:par>
                                <p:cTn id="40" presetID="0" presetClass="path" presetSubtype="0" accel="20000" decel="20000" fill="hold" grpId="0" nodeType="afterEffect">
                                  <p:stCondLst>
                                    <p:cond delay="0"/>
                                  </p:stCondLst>
                                  <p:childTnLst>
                                    <p:animMotion origin="layout" path="M 0 0 L -0.0053 0.0027 L -0.0053 0.2560 E" pathEditMode="relative" ptsTypes="">
                                      <p:cBhvr>
                                        <p:cTn id="41" dur="1300" fill="hold"/>
                                        <p:tgtEl>
                                          <p:spTgt spid="112"/>
                                        </p:tgtEl>
                                        <p:attrNameLst>
                                          <p:attrName>ppt_x</p:attrName>
                                          <p:attrName>ppt_y</p:attrName>
                                        </p:attrNameLst>
                                      </p:cBhvr>
                                      <p:rCtr x="-262" y="12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P spid="110" grpId="0" animBg="1"/>
      <p:bldP spid="111" grpId="0" animBg="1"/>
      <p:bldP spid="112"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ótulo extracelular"/>
          <p:cNvSpPr txBox="1"/>
          <p:nvPr/>
        </p:nvSpPr>
        <p:spPr>
          <a:xfrm>
            <a:off x="5486400" y="914400"/>
            <a:ext cx="2194560" cy="347472"/>
          </a:xfrm>
          <a:prstGeom prst="rect">
            <a:avLst/>
          </a:prstGeom>
          <a:noFill/>
          <a:ln>
            <a:noFill/>
          </a:ln>
        </p:spPr>
        <p:txBody>
          <a:bodyPr wrap="square" lIns="0" tIns="0" rIns="0" bIns="0" anchor="ctr" rtlCol="0">
            <a:noAutofit/>
          </a:bodyPr>
          <a:lstStyle/>
          <a:p>
            <a:pPr algn="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300" dirty="0">
              <a:latin typeface="Fira Sans Condensed"/>
            </a:endParaRPr>
          </a:p>
        </p:txBody>
      </p:sp>
      <p:grpSp>
        <p:nvGrpSpPr>
          <p:cNvPr id="8" name="!!Célula beta"/>
          <p:cNvGrpSpPr/>
          <p:nvPr/>
        </p:nvGrpSpPr>
        <p:grpSpPr>
          <a:xfrm>
            <a:off x="365760" y="2148840"/>
            <a:ext cx="7315200" cy="4297680"/>
            <a:chOff x="365760" y="2148840"/>
            <a:chExt cx="7315200" cy="4297680"/>
          </a:xfrm>
        </p:grpSpPr>
        <p:sp>
          <p:nvSpPr>
            <p:cNvPr id="9" name="Forma 8"/>
            <p:cNvSpPr/>
            <p:nvPr/>
          </p:nvSpPr>
          <p:spPr>
            <a:xfrm>
              <a:off x="365760" y="2148840"/>
              <a:ext cx="7315200" cy="4297680"/>
            </a:xfrm>
            <a:prstGeom prst="roundRect">
              <a:avLst>
                <a:gd name="adj" fmla="val 16000"/>
              </a:avLst>
            </a:prstGeom>
            <a:gradFill rotWithShape="1">
              <a:gsLst>
                <a:gs pos="0">
                  <a:srgbClr val="FFF1E8"/>
                </a:gs>
                <a:gs pos="100000">
                  <a:srgbClr val="F9CDB8"/>
                </a:gs>
              </a:gsLst>
              <a:path path="circle">
                <a:fillToRect l="50000" t="50000" r="50000" b="50000"/>
              </a:path>
            </a:gradFill>
            <a:ln w="114300" cap="rnd">
              <a:solidFill>
                <a:srgbClr val="B94A48"/>
              </a:solidFill>
              <a:round/>
            </a:ln>
            <a:effectLst>
              <a:outerShdw blurRad="101600" dist="50800" dir="2700000" algn="tl" rotWithShape="0">
                <a:srgbClr val="000000">
                  <a:alpha val="30000"/>
                </a:srgbClr>
              </a:outerShdw>
            </a:effectLst>
          </p:spPr>
        </p:sp>
        <p:sp>
          <p:nvSpPr>
            <p:cNvPr id="10" name="Forma 9"/>
            <p:cNvSpPr/>
            <p:nvPr/>
          </p:nvSpPr>
          <p:spPr>
            <a:xfrm>
              <a:off x="384048" y="2167128"/>
              <a:ext cx="7278624" cy="4261104"/>
            </a:xfrm>
            <a:prstGeom prst="roundRect">
              <a:avLst>
                <a:gd name="adj" fmla="val 16000"/>
              </a:avLst>
            </a:prstGeom>
            <a:noFill/>
            <a:ln w="50800" cap="rnd">
              <a:solidFill>
                <a:srgbClr val="F5CBA7"/>
              </a:solidFill>
              <a:round/>
            </a:ln>
          </p:spPr>
        </p:sp>
        <p:grpSp>
          <p:nvGrpSpPr>
            <p:cNvPr id="11" name="Núcleo"/>
            <p:cNvGrpSpPr/>
            <p:nvPr/>
          </p:nvGrpSpPr>
          <p:grpSpPr>
            <a:xfrm>
              <a:off x="950976" y="4512564"/>
              <a:ext cx="1316736" cy="1185062"/>
              <a:chOff x="950976" y="4512564"/>
              <a:chExt cx="1316736" cy="1185062"/>
            </a:xfrm>
          </p:grpSpPr>
          <p:sp>
            <p:nvSpPr>
              <p:cNvPr id="12" name="Forma 11"/>
              <p:cNvSpPr/>
              <p:nvPr/>
            </p:nvSpPr>
            <p:spPr>
              <a:xfrm>
                <a:off x="950976" y="4512564"/>
                <a:ext cx="1316736" cy="1185062"/>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3" name="Forma 12"/>
              <p:cNvSpPr/>
              <p:nvPr/>
            </p:nvSpPr>
            <p:spPr>
              <a:xfrm>
                <a:off x="1635679" y="4907585"/>
                <a:ext cx="289682" cy="263347"/>
              </a:xfrm>
              <a:prstGeom prst="ellipse">
                <a:avLst/>
              </a:prstGeom>
              <a:solidFill>
                <a:srgbClr val="513B6B"/>
              </a:solidFill>
              <a:ln>
                <a:noFill/>
              </a:ln>
            </p:spPr>
          </p:sp>
        </p:grpSp>
        <p:grpSp>
          <p:nvGrpSpPr>
            <p:cNvPr id="14" name="Retículo endoplasmático"/>
            <p:cNvGrpSpPr/>
            <p:nvPr/>
          </p:nvGrpSpPr>
          <p:grpSpPr>
            <a:xfrm>
              <a:off x="2560320" y="4962388"/>
              <a:ext cx="1243584" cy="830885"/>
              <a:chOff x="2560320" y="4962388"/>
              <a:chExt cx="1243584" cy="830885"/>
            </a:xfrm>
          </p:grpSpPr>
          <p:sp>
            <p:nvSpPr>
              <p:cNvPr id="15" name="Forma 14"/>
              <p:cNvSpPr/>
              <p:nvPr/>
            </p:nvSpPr>
            <p:spPr>
              <a:xfrm>
                <a:off x="2560320" y="4985309"/>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6" name="Forma 15"/>
              <p:cNvSpPr/>
              <p:nvPr/>
            </p:nvSpPr>
            <p:spPr>
              <a:xfrm>
                <a:off x="2560320" y="4962388"/>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7" name="Forma 16"/>
              <p:cNvSpPr/>
              <p:nvPr/>
            </p:nvSpPr>
            <p:spPr>
              <a:xfrm>
                <a:off x="2560320" y="5271821"/>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8" name="Forma 17"/>
              <p:cNvSpPr/>
              <p:nvPr/>
            </p:nvSpPr>
            <p:spPr>
              <a:xfrm>
                <a:off x="2560320" y="5248900"/>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9" name="Forma 18"/>
              <p:cNvSpPr/>
              <p:nvPr/>
            </p:nvSpPr>
            <p:spPr>
              <a:xfrm>
                <a:off x="2560320" y="5558333"/>
                <a:ext cx="1243584" cy="21488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20" name="Forma 19"/>
              <p:cNvSpPr/>
              <p:nvPr/>
            </p:nvSpPr>
            <p:spPr>
              <a:xfrm>
                <a:off x="2560320" y="5535412"/>
                <a:ext cx="1243584" cy="257861"/>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grpSp>
        <p:nvGrpSpPr>
          <p:cNvPr id="21" name="!!GLUT"/>
          <p:cNvGrpSpPr/>
          <p:nvPr/>
        </p:nvGrpSpPr>
        <p:grpSpPr>
          <a:xfrm>
            <a:off x="594360" y="1856232"/>
            <a:ext cx="1207740" cy="822960"/>
            <a:chOff x="594360" y="1856232"/>
            <a:chExt cx="1207740" cy="822960"/>
          </a:xfrm>
        </p:grpSpPr>
        <p:sp>
          <p:nvSpPr>
            <p:cNvPr id="22" name="Forma 21"/>
            <p:cNvSpPr/>
            <p:nvPr/>
          </p:nvSpPr>
          <p:spPr>
            <a:xfrm>
              <a:off x="960120"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3" name="Forma 22"/>
            <p:cNvSpPr/>
            <p:nvPr/>
          </p:nvSpPr>
          <p:spPr>
            <a:xfrm>
              <a:off x="1232245" y="1856232"/>
              <a:ext cx="204094" cy="566928"/>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24" name="Forma 23"/>
            <p:cNvSpPr txBox="1"/>
            <p:nvPr/>
          </p:nvSpPr>
          <p:spPr>
            <a:xfrm>
              <a:off x="594360" y="2441448"/>
              <a:ext cx="1207740"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294D65"/>
                  </a:solidFill>
                  <a:latin typeface="Fira Sans Condensed"/>
                  <a:ea typeface="Fira Sans Condensed"/>
                  <a:cs typeface="Fira Sans Condensed"/>
                  <a:sym typeface="Fira Sans Condensed"/>
                </a:rPr>
                <a:t>GLUT1/3 (GLUT2)</a:t>
              </a:r>
              <a:endParaRPr lang="es-AR" sz="1150" dirty="0">
                <a:latin typeface="Fira Sans Condensed"/>
              </a:endParaRPr>
            </a:p>
          </p:txBody>
        </p:sp>
      </p:grpSp>
      <p:grpSp>
        <p:nvGrpSpPr>
          <p:cNvPr id="25" name="!!KATP"/>
          <p:cNvGrpSpPr/>
          <p:nvPr/>
        </p:nvGrpSpPr>
        <p:grpSpPr>
          <a:xfrm>
            <a:off x="2331720" y="1819656"/>
            <a:ext cx="1640434" cy="914400"/>
            <a:chOff x="2331720" y="1819656"/>
            <a:chExt cx="1640434" cy="914400"/>
          </a:xfrm>
        </p:grpSpPr>
        <p:sp>
          <p:nvSpPr>
            <p:cNvPr id="26" name="Forma 25"/>
            <p:cNvSpPr/>
            <p:nvPr/>
          </p:nvSpPr>
          <p:spPr>
            <a:xfrm>
              <a:off x="278892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27" name="Forma 26"/>
            <p:cNvSpPr/>
            <p:nvPr/>
          </p:nvSpPr>
          <p:spPr>
            <a:xfrm>
              <a:off x="2980944"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8" name="Forma 27"/>
            <p:cNvSpPr/>
            <p:nvPr/>
          </p:nvSpPr>
          <p:spPr>
            <a:xfrm>
              <a:off x="3156509" y="1819656"/>
              <a:ext cx="166421" cy="640080"/>
            </a:xfrm>
            <a:prstGeom prst="roundRect">
              <a:avLst>
                <a:gd name="adj" fmla="val 40000"/>
              </a:avLst>
            </a:prstGeom>
            <a:gradFill rotWithShape="1">
              <a:gsLst>
                <a:gs pos="0">
                  <a:srgbClr val="632F79"/>
                </a:gs>
                <a:gs pos="30000">
                  <a:srgbClr val="B585C9"/>
                </a:gs>
                <a:gs pos="55000">
                  <a:srgbClr val="8E44AD"/>
                </a:gs>
                <a:gs pos="100000">
                  <a:srgbClr val="632F79"/>
                </a:gs>
              </a:gsLst>
              <a:lin ang="5400000" scaled="0"/>
            </a:gradFill>
            <a:ln w="15875" cap="rnd">
              <a:solidFill>
                <a:srgbClr val="472256"/>
              </a:solidFill>
              <a:round/>
            </a:ln>
          </p:spPr>
        </p:sp>
        <p:sp>
          <p:nvSpPr>
            <p:cNvPr id="29" name="Forma 28"/>
            <p:cNvSpPr/>
            <p:nvPr/>
          </p:nvSpPr>
          <p:spPr>
            <a:xfrm>
              <a:off x="3322930" y="1870862"/>
              <a:ext cx="192024" cy="537667"/>
            </a:xfrm>
            <a:prstGeom prst="roundRect">
              <a:avLst>
                <a:gd name="adj" fmla="val 40000"/>
              </a:avLst>
            </a:prstGeom>
            <a:gradFill rotWithShape="1">
              <a:gsLst>
                <a:gs pos="0">
                  <a:srgbClr val="92749E"/>
                </a:gs>
                <a:gs pos="30000">
                  <a:srgbClr val="D5B9E0"/>
                </a:gs>
                <a:gs pos="55000">
                  <a:srgbClr val="C39BD3"/>
                </a:gs>
                <a:gs pos="100000">
                  <a:srgbClr val="92749E"/>
                </a:gs>
              </a:gsLst>
              <a:lin ang="5400000" scaled="0"/>
            </a:gradFill>
            <a:ln w="12700" cap="rnd">
              <a:solidFill>
                <a:srgbClr val="614D69"/>
              </a:solidFill>
              <a:round/>
            </a:ln>
          </p:spPr>
        </p:sp>
        <p:sp>
          <p:nvSpPr>
            <p:cNvPr id="30" name="Forma 29"/>
            <p:cNvSpPr txBox="1"/>
            <p:nvPr/>
          </p:nvSpPr>
          <p:spPr>
            <a:xfrm>
              <a:off x="2331720" y="2478024"/>
              <a:ext cx="1640434"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472256"/>
                  </a:solidFill>
                  <a:latin typeface="Fira Sans Condensed"/>
                  <a:ea typeface="Fira Sans Condensed"/>
                  <a:cs typeface="Fira Sans Condensed"/>
                  <a:sym typeface="Fira Sans Condensed"/>
                </a:rPr>
                <a:t>K</a:t>
              </a:r>
              <a:r>
                <a:rPr lang="es-AR" sz="1150" b="1" baseline="-25000" dirty="0">
                  <a:solidFill>
                    <a:srgbClr val="472256"/>
                  </a:solidFill>
                  <a:latin typeface="Fira Sans Condensed"/>
                  <a:ea typeface="Fira Sans Condensed"/>
                  <a:cs typeface="Fira Sans Condensed"/>
                  <a:sym typeface="Fira Sans Condensed"/>
                </a:rPr>
                <a:t>ATP</a:t>
              </a:r>
              <a:r>
                <a:rPr lang="es-AR" sz="1150" b="1" dirty="0">
                  <a:solidFill>
                    <a:srgbClr val="472256"/>
                  </a:solidFill>
                  <a:latin typeface="Fira Sans Condensed"/>
                  <a:ea typeface="Fira Sans Condensed"/>
                  <a:cs typeface="Fira Sans Condensed"/>
                  <a:sym typeface="Fira Sans Condensed"/>
                </a:rPr>
                <a:t> cerrado</a:t>
              </a:r>
              <a:endParaRPr lang="es-AR" sz="1150" dirty="0">
                <a:latin typeface="Fira Sans Condensed"/>
              </a:endParaRPr>
            </a:p>
          </p:txBody>
        </p:sp>
      </p:grpSp>
      <p:grpSp>
        <p:nvGrpSpPr>
          <p:cNvPr id="31" name="!!CaV"/>
          <p:cNvGrpSpPr/>
          <p:nvPr/>
        </p:nvGrpSpPr>
        <p:grpSpPr>
          <a:xfrm>
            <a:off x="4434840" y="1819656"/>
            <a:ext cx="1733702" cy="914400"/>
            <a:chOff x="4434840" y="1819656"/>
            <a:chExt cx="1733702" cy="914400"/>
          </a:xfrm>
        </p:grpSpPr>
        <p:sp>
          <p:nvSpPr>
            <p:cNvPr id="32" name="Forma 31"/>
            <p:cNvSpPr/>
            <p:nvPr/>
          </p:nvSpPr>
          <p:spPr>
            <a:xfrm>
              <a:off x="4892040"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3" name="Forma 32"/>
            <p:cNvSpPr/>
            <p:nvPr/>
          </p:nvSpPr>
          <p:spPr>
            <a:xfrm>
              <a:off x="5084064"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4" name="Forma 33"/>
            <p:cNvSpPr/>
            <p:nvPr/>
          </p:nvSpPr>
          <p:spPr>
            <a:xfrm>
              <a:off x="5352898" y="1819656"/>
              <a:ext cx="166421" cy="640080"/>
            </a:xfrm>
            <a:prstGeom prst="roundRect">
              <a:avLst>
                <a:gd name="adj" fmla="val 40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35" name="Forma 34"/>
            <p:cNvSpPr/>
            <p:nvPr/>
          </p:nvSpPr>
          <p:spPr>
            <a:xfrm>
              <a:off x="5519318" y="1870862"/>
              <a:ext cx="192024" cy="537667"/>
            </a:xfrm>
            <a:prstGeom prst="roundRect">
              <a:avLst>
                <a:gd name="adj" fmla="val 40000"/>
              </a:avLst>
            </a:prstGeom>
            <a:gradFill rotWithShape="1">
              <a:gsLst>
                <a:gs pos="0">
                  <a:srgbClr val="B7987D"/>
                </a:gs>
                <a:gs pos="30000">
                  <a:srgbClr val="F8DAC1"/>
                </a:gs>
                <a:gs pos="55000">
                  <a:srgbClr val="F5CBA7"/>
                </a:gs>
                <a:gs pos="100000">
                  <a:srgbClr val="B7987D"/>
                </a:gs>
              </a:gsLst>
              <a:lin ang="5400000" scaled="0"/>
            </a:gradFill>
            <a:ln w="12700" cap="rnd">
              <a:solidFill>
                <a:srgbClr val="7A6553"/>
              </a:solidFill>
              <a:round/>
            </a:ln>
          </p:spPr>
        </p:sp>
        <p:sp>
          <p:nvSpPr>
            <p:cNvPr id="36" name="Forma 35"/>
            <p:cNvSpPr txBox="1"/>
            <p:nvPr/>
          </p:nvSpPr>
          <p:spPr>
            <a:xfrm>
              <a:off x="4434840" y="2478024"/>
              <a:ext cx="1733702" cy="256032"/>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92A00"/>
                  </a:solidFill>
                  <a:latin typeface="Fira Sans Condensed"/>
                  <a:ea typeface="Fira Sans Condensed"/>
                  <a:cs typeface="Fira Sans Condensed"/>
                  <a:sym typeface="Fira Sans Condensed"/>
                </a:rPr>
                <a:t>Ca</a:t>
              </a:r>
              <a:r>
                <a:rPr lang="es-AR" sz="1150" b="1" baseline="-25000" dirty="0">
                  <a:solidFill>
                    <a:srgbClr val="692A00"/>
                  </a:solidFill>
                  <a:latin typeface="Fira Sans Condensed"/>
                  <a:ea typeface="Fira Sans Condensed"/>
                  <a:cs typeface="Fira Sans Condensed"/>
                  <a:sym typeface="Fira Sans Condensed"/>
                </a:rPr>
                <a:t>V</a:t>
              </a:r>
              <a:r>
                <a:rPr lang="es-AR" sz="1150" b="1" dirty="0">
                  <a:solidFill>
                    <a:srgbClr val="692A00"/>
                  </a:solidFill>
                  <a:latin typeface="Fira Sans Condensed"/>
                  <a:ea typeface="Fira Sans Condensed"/>
                  <a:cs typeface="Fira Sans Condensed"/>
                  <a:sym typeface="Fira Sans Condensed"/>
                </a:rPr>
                <a:t> abierto</a:t>
              </a:r>
              <a:endParaRPr lang="es-AR" sz="1150" dirty="0">
                <a:latin typeface="Fira Sans Condensed"/>
              </a:endParaRPr>
            </a:p>
          </p:txBody>
        </p:sp>
      </p:grpSp>
      <p:grpSp>
        <p:nvGrpSpPr>
          <p:cNvPr id="37" name="!!Mitocondria beta"/>
          <p:cNvGrpSpPr/>
          <p:nvPr/>
        </p:nvGrpSpPr>
        <p:grpSpPr>
          <a:xfrm>
            <a:off x="1828800" y="3657600"/>
            <a:ext cx="1554480" cy="777240"/>
            <a:chOff x="1828800" y="3657600"/>
            <a:chExt cx="1554480" cy="777240"/>
          </a:xfrm>
        </p:grpSpPr>
        <p:sp>
          <p:nvSpPr>
            <p:cNvPr id="38" name="Forma 37"/>
            <p:cNvSpPr/>
            <p:nvPr/>
          </p:nvSpPr>
          <p:spPr>
            <a:xfrm>
              <a:off x="1828800" y="3657600"/>
              <a:ext cx="1554480" cy="777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a:off x="1937614" y="3766414"/>
              <a:ext cx="1336853" cy="559613"/>
            </a:xfrm>
            <a:prstGeom prst="ellipse">
              <a:avLst/>
            </a:prstGeom>
            <a:solidFill>
              <a:srgbClr val="F8D8B4"/>
            </a:solidFill>
            <a:ln w="9525" cap="rnd">
              <a:solidFill>
                <a:srgbClr val="B2732B"/>
              </a:solidFill>
              <a:round/>
            </a:ln>
          </p:spPr>
        </p:sp>
        <p:sp>
          <p:nvSpPr>
            <p:cNvPr id="40" name="Forma 39"/>
            <p:cNvSpPr/>
            <p:nvPr/>
          </p:nvSpPr>
          <p:spPr>
            <a:xfrm>
              <a:off x="1937614" y="3766414"/>
              <a:ext cx="1336853" cy="55961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Gránulo 0"/>
          <p:cNvGrpSpPr/>
          <p:nvPr/>
        </p:nvGrpSpPr>
        <p:grpSpPr>
          <a:xfrm>
            <a:off x="5897880" y="2395728"/>
            <a:ext cx="457200" cy="457200"/>
            <a:chOff x="5897880" y="2395728"/>
            <a:chExt cx="457200" cy="457200"/>
          </a:xfrm>
        </p:grpSpPr>
        <p:sp>
          <p:nvSpPr>
            <p:cNvPr id="42" name="Forma 41"/>
            <p:cNvSpPr/>
            <p:nvPr/>
          </p:nvSpPr>
          <p:spPr>
            <a:xfrm>
              <a:off x="5897880" y="2395728"/>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3" name="Forma 42"/>
            <p:cNvSpPr/>
            <p:nvPr/>
          </p:nvSpPr>
          <p:spPr>
            <a:xfrm>
              <a:off x="6035040" y="2532888"/>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4" name="!!Gránulo 1"/>
          <p:cNvGrpSpPr/>
          <p:nvPr/>
        </p:nvGrpSpPr>
        <p:grpSpPr>
          <a:xfrm>
            <a:off x="6492240" y="2395728"/>
            <a:ext cx="457200" cy="457200"/>
            <a:chOff x="6492240" y="2395728"/>
            <a:chExt cx="457200" cy="457200"/>
          </a:xfrm>
        </p:grpSpPr>
        <p:sp>
          <p:nvSpPr>
            <p:cNvPr id="45" name="Forma 44"/>
            <p:cNvSpPr/>
            <p:nvPr/>
          </p:nvSpPr>
          <p:spPr>
            <a:xfrm>
              <a:off x="6492240" y="2395728"/>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6" name="Forma 45"/>
            <p:cNvSpPr/>
            <p:nvPr/>
          </p:nvSpPr>
          <p:spPr>
            <a:xfrm>
              <a:off x="6629400" y="2532888"/>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47" name="!!Gránulo 2"/>
          <p:cNvGrpSpPr/>
          <p:nvPr/>
        </p:nvGrpSpPr>
        <p:grpSpPr>
          <a:xfrm>
            <a:off x="6217920" y="3108960"/>
            <a:ext cx="457200" cy="457200"/>
            <a:chOff x="6217920" y="3108960"/>
            <a:chExt cx="457200" cy="457200"/>
          </a:xfrm>
        </p:grpSpPr>
        <p:sp>
          <p:nvSpPr>
            <p:cNvPr id="48" name="Forma 47"/>
            <p:cNvSpPr/>
            <p:nvPr/>
          </p:nvSpPr>
          <p:spPr>
            <a:xfrm>
              <a:off x="6217920" y="310896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49" name="Forma 48"/>
            <p:cNvSpPr/>
            <p:nvPr/>
          </p:nvSpPr>
          <p:spPr>
            <a:xfrm>
              <a:off x="6355080" y="324612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0" name="!!Gránulo 3"/>
          <p:cNvGrpSpPr/>
          <p:nvPr/>
        </p:nvGrpSpPr>
        <p:grpSpPr>
          <a:xfrm>
            <a:off x="5120640" y="4069080"/>
            <a:ext cx="457200" cy="457200"/>
            <a:chOff x="5120640" y="4069080"/>
            <a:chExt cx="457200" cy="457200"/>
          </a:xfrm>
        </p:grpSpPr>
        <p:sp>
          <p:nvSpPr>
            <p:cNvPr id="51" name="Forma 50"/>
            <p:cNvSpPr/>
            <p:nvPr/>
          </p:nvSpPr>
          <p:spPr>
            <a:xfrm>
              <a:off x="5120640" y="40690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2" name="Forma 51"/>
            <p:cNvSpPr/>
            <p:nvPr/>
          </p:nvSpPr>
          <p:spPr>
            <a:xfrm>
              <a:off x="5257800" y="42062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3" name="!!Gránulo 4"/>
          <p:cNvGrpSpPr/>
          <p:nvPr/>
        </p:nvGrpSpPr>
        <p:grpSpPr>
          <a:xfrm>
            <a:off x="5897880" y="3840480"/>
            <a:ext cx="457200" cy="457200"/>
            <a:chOff x="5897880" y="3840480"/>
            <a:chExt cx="457200" cy="457200"/>
          </a:xfrm>
        </p:grpSpPr>
        <p:sp>
          <p:nvSpPr>
            <p:cNvPr id="54" name="Forma 53"/>
            <p:cNvSpPr/>
            <p:nvPr/>
          </p:nvSpPr>
          <p:spPr>
            <a:xfrm>
              <a:off x="5897880" y="38404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5" name="Forma 54"/>
            <p:cNvSpPr/>
            <p:nvPr/>
          </p:nvSpPr>
          <p:spPr>
            <a:xfrm>
              <a:off x="6035040" y="39776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6" name="!!Gránulo 5"/>
          <p:cNvGrpSpPr/>
          <p:nvPr/>
        </p:nvGrpSpPr>
        <p:grpSpPr>
          <a:xfrm>
            <a:off x="6583680" y="4206240"/>
            <a:ext cx="457200" cy="457200"/>
            <a:chOff x="6583680" y="4206240"/>
            <a:chExt cx="457200" cy="457200"/>
          </a:xfrm>
        </p:grpSpPr>
        <p:sp>
          <p:nvSpPr>
            <p:cNvPr id="57" name="Forma 56"/>
            <p:cNvSpPr/>
            <p:nvPr/>
          </p:nvSpPr>
          <p:spPr>
            <a:xfrm>
              <a:off x="6583680" y="420624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58" name="Forma 57"/>
            <p:cNvSpPr/>
            <p:nvPr/>
          </p:nvSpPr>
          <p:spPr>
            <a:xfrm>
              <a:off x="6720840" y="434340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59" name="!!Gránulo 6"/>
          <p:cNvGrpSpPr/>
          <p:nvPr/>
        </p:nvGrpSpPr>
        <p:grpSpPr>
          <a:xfrm>
            <a:off x="4846320" y="4800600"/>
            <a:ext cx="457200" cy="457200"/>
            <a:chOff x="4846320" y="4800600"/>
            <a:chExt cx="457200" cy="457200"/>
          </a:xfrm>
        </p:grpSpPr>
        <p:sp>
          <p:nvSpPr>
            <p:cNvPr id="60" name="Forma 59"/>
            <p:cNvSpPr/>
            <p:nvPr/>
          </p:nvSpPr>
          <p:spPr>
            <a:xfrm>
              <a:off x="4846320" y="480060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1" name="Forma 60"/>
            <p:cNvSpPr/>
            <p:nvPr/>
          </p:nvSpPr>
          <p:spPr>
            <a:xfrm>
              <a:off x="4983480" y="493776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2" name="!!Gránulo 7"/>
          <p:cNvGrpSpPr/>
          <p:nvPr/>
        </p:nvGrpSpPr>
        <p:grpSpPr>
          <a:xfrm>
            <a:off x="5623560" y="4754880"/>
            <a:ext cx="457200" cy="457200"/>
            <a:chOff x="5623560" y="4754880"/>
            <a:chExt cx="457200" cy="457200"/>
          </a:xfrm>
        </p:grpSpPr>
        <p:sp>
          <p:nvSpPr>
            <p:cNvPr id="63" name="Forma 62"/>
            <p:cNvSpPr/>
            <p:nvPr/>
          </p:nvSpPr>
          <p:spPr>
            <a:xfrm>
              <a:off x="5623560" y="4754880"/>
              <a:ext cx="457200" cy="45720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64" name="Forma 63"/>
            <p:cNvSpPr/>
            <p:nvPr/>
          </p:nvSpPr>
          <p:spPr>
            <a:xfrm>
              <a:off x="5760720" y="4892040"/>
              <a:ext cx="182880" cy="182880"/>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65" name="!!Cargas de membrana"/>
          <p:cNvGrpSpPr/>
          <p:nvPr/>
        </p:nvGrpSpPr>
        <p:grpSpPr>
          <a:xfrm>
            <a:off x="685800" y="1481328"/>
            <a:ext cx="6537960" cy="1307592"/>
            <a:chOff x="685800" y="1481328"/>
            <a:chExt cx="6537960" cy="1307592"/>
          </a:xfrm>
        </p:grpSpPr>
        <p:sp>
          <p:nvSpPr>
            <p:cNvPr id="66" name="Forma 65"/>
            <p:cNvSpPr txBox="1"/>
            <p:nvPr/>
          </p:nvSpPr>
          <p:spPr>
            <a:xfrm>
              <a:off x="68580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7" name="Forma 66"/>
            <p:cNvSpPr txBox="1"/>
            <p:nvPr/>
          </p:nvSpPr>
          <p:spPr>
            <a:xfrm>
              <a:off x="68580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68" name="Forma 67"/>
            <p:cNvSpPr txBox="1"/>
            <p:nvPr/>
          </p:nvSpPr>
          <p:spPr>
            <a:xfrm>
              <a:off x="20116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69" name="Forma 68"/>
            <p:cNvSpPr txBox="1"/>
            <p:nvPr/>
          </p:nvSpPr>
          <p:spPr>
            <a:xfrm>
              <a:off x="20116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0" name="Forma 69"/>
            <p:cNvSpPr txBox="1"/>
            <p:nvPr/>
          </p:nvSpPr>
          <p:spPr>
            <a:xfrm>
              <a:off x="406908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1" name="Forma 70"/>
            <p:cNvSpPr txBox="1"/>
            <p:nvPr/>
          </p:nvSpPr>
          <p:spPr>
            <a:xfrm>
              <a:off x="406908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2" name="Forma 71"/>
            <p:cNvSpPr txBox="1"/>
            <p:nvPr/>
          </p:nvSpPr>
          <p:spPr>
            <a:xfrm>
              <a:off x="60350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3" name="Forma 72"/>
            <p:cNvSpPr txBox="1"/>
            <p:nvPr/>
          </p:nvSpPr>
          <p:spPr>
            <a:xfrm>
              <a:off x="60350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sp>
          <p:nvSpPr>
            <p:cNvPr id="74" name="Forma 73"/>
            <p:cNvSpPr txBox="1"/>
            <p:nvPr/>
          </p:nvSpPr>
          <p:spPr>
            <a:xfrm>
              <a:off x="6949440" y="1481328"/>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2563B0"/>
                  </a:solidFill>
                  <a:latin typeface="Fira Sans Condensed"/>
                  <a:ea typeface="Fira Sans Condensed"/>
                  <a:cs typeface="Fira Sans Condensed"/>
                  <a:sym typeface="Fira Sans Condensed"/>
                </a:rPr>
                <a:t>−</a:t>
              </a:r>
              <a:endParaRPr lang="es-AR" sz="1800" dirty="0">
                <a:latin typeface="Fira Sans Condensed"/>
              </a:endParaRPr>
            </a:p>
          </p:txBody>
        </p:sp>
        <p:sp>
          <p:nvSpPr>
            <p:cNvPr id="75" name="Forma 74"/>
            <p:cNvSpPr txBox="1"/>
            <p:nvPr/>
          </p:nvSpPr>
          <p:spPr>
            <a:xfrm>
              <a:off x="6949440" y="2514600"/>
              <a:ext cx="274320" cy="27432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a:t>
              </a:r>
              <a:endParaRPr lang="es-AR" sz="1800" dirty="0">
                <a:latin typeface="Fira Sans Condensed"/>
              </a:endParaRPr>
            </a:p>
          </p:txBody>
        </p:sp>
      </p:grpSp>
      <p:sp>
        <p:nvSpPr>
          <p:cNvPr id="76" name="!!Potencial"/>
          <p:cNvSpPr/>
          <p:nvPr/>
        </p:nvSpPr>
        <p:spPr>
          <a:xfrm>
            <a:off x="502920" y="5897880"/>
            <a:ext cx="2194560" cy="384048"/>
          </a:xfrm>
          <a:prstGeom prst="rect">
            <a:avLst/>
          </a:prstGeom>
          <a:solidFill>
            <a:srgbClr val="FDE2E2"/>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1E1E1E"/>
                </a:solidFill>
                <a:latin typeface="Fira Sans Condensed"/>
                <a:ea typeface="Fira Sans Condensed"/>
                <a:cs typeface="Fira Sans Condensed"/>
                <a:sym typeface="Fira Sans Condensed"/>
              </a:rPr>
              <a:t>Potencial: despolarizada</a:t>
            </a:r>
            <a:endParaRPr lang="es-AR" sz="1250" dirty="0">
              <a:latin typeface="Fira Sans Condensed"/>
            </a:endParaRPr>
          </a:p>
        </p:txBody>
      </p:sp>
      <p:sp>
        <p:nvSpPr>
          <p:cNvPr id="77" name="!!G6P"/>
          <p:cNvSpPr/>
          <p:nvPr/>
        </p:nvSpPr>
        <p:spPr>
          <a:xfrm>
            <a:off x="914400" y="2926080"/>
            <a:ext cx="11430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G6P</a:t>
            </a:r>
            <a:endParaRPr lang="es-AR" sz="1300" dirty="0">
              <a:latin typeface="Fira Sans Condensed"/>
            </a:endParaRPr>
          </a:p>
        </p:txBody>
      </p:sp>
      <p:sp>
        <p:nvSpPr>
          <p:cNvPr id="78" name="!!Glucocinasa"/>
          <p:cNvSpPr/>
          <p:nvPr/>
        </p:nvSpPr>
        <p:spPr>
          <a:xfrm>
            <a:off x="960120" y="2606040"/>
            <a:ext cx="962817"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Glucocinasa</a:t>
            </a:r>
            <a:endParaRPr lang="es-AR" sz="1100" dirty="0">
              <a:latin typeface="Fira Sans Condensed"/>
            </a:endParaRPr>
          </a:p>
        </p:txBody>
      </p:sp>
      <p:sp>
        <p:nvSpPr>
          <p:cNvPr id="79" name="!!ATP 0"/>
          <p:cNvSpPr/>
          <p:nvPr/>
        </p:nvSpPr>
        <p:spPr>
          <a:xfrm>
            <a:off x="3520440"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0" name="!!ATP 1"/>
          <p:cNvSpPr/>
          <p:nvPr/>
        </p:nvSpPr>
        <p:spPr>
          <a:xfrm>
            <a:off x="3959352"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1" name="!!ATP 2"/>
          <p:cNvSpPr/>
          <p:nvPr/>
        </p:nvSpPr>
        <p:spPr>
          <a:xfrm>
            <a:off x="4398264" y="365760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2" name="!!ATP 3"/>
          <p:cNvSpPr/>
          <p:nvPr/>
        </p:nvSpPr>
        <p:spPr>
          <a:xfrm>
            <a:off x="3520440"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3" name="!!ATP 4"/>
          <p:cNvSpPr/>
          <p:nvPr/>
        </p:nvSpPr>
        <p:spPr>
          <a:xfrm>
            <a:off x="3959352"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4" name="!!ATP 5"/>
          <p:cNvSpPr/>
          <p:nvPr/>
        </p:nvSpPr>
        <p:spPr>
          <a:xfrm>
            <a:off x="4398264" y="4069080"/>
            <a:ext cx="384048" cy="384048"/>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ATP</a:t>
            </a:r>
            <a:endParaRPr lang="es-AR" sz="1092" dirty="0">
              <a:latin typeface="Fira Sans Condensed"/>
            </a:endParaRPr>
          </a:p>
        </p:txBody>
      </p:sp>
      <p:sp>
        <p:nvSpPr>
          <p:cNvPr id="85" name="!!Ca 0"/>
          <p:cNvSpPr/>
          <p:nvPr/>
        </p:nvSpPr>
        <p:spPr>
          <a:xfrm>
            <a:off x="4709160"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6" name="!!Ca 1"/>
          <p:cNvSpPr/>
          <p:nvPr/>
        </p:nvSpPr>
        <p:spPr>
          <a:xfrm>
            <a:off x="5093208"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7" name="!!Ca 2"/>
          <p:cNvSpPr/>
          <p:nvPr/>
        </p:nvSpPr>
        <p:spPr>
          <a:xfrm>
            <a:off x="5477256" y="260604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8" name="!!Ca 3"/>
          <p:cNvSpPr/>
          <p:nvPr/>
        </p:nvSpPr>
        <p:spPr>
          <a:xfrm>
            <a:off x="4709160" y="297180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sp>
        <p:nvSpPr>
          <p:cNvPr id="89" name="!!Ca 4"/>
          <p:cNvSpPr/>
          <p:nvPr/>
        </p:nvSpPr>
        <p:spPr>
          <a:xfrm>
            <a:off x="5093208" y="2971800"/>
            <a:ext cx="329184" cy="329184"/>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50" b="1" dirty="0">
                <a:solidFill>
                  <a:srgbClr val="FFFFFF"/>
                </a:solidFill>
                <a:latin typeface="Fira Sans Condensed"/>
                <a:ea typeface="Fira Sans Condensed"/>
                <a:cs typeface="Fira Sans Condensed"/>
                <a:sym typeface="Fira Sans Condensed"/>
              </a:rPr>
              <a:t>Ca</a:t>
            </a:r>
            <a:r>
              <a:rPr lang="es-AR" sz="850" b="1" baseline="30000" dirty="0">
                <a:solidFill>
                  <a:srgbClr val="FFFFFF"/>
                </a:solidFill>
                <a:latin typeface="Fira Sans Condensed"/>
                <a:ea typeface="Fira Sans Condensed"/>
                <a:cs typeface="Fira Sans Condensed"/>
                <a:sym typeface="Fira Sans Condensed"/>
              </a:rPr>
              <a:t>2+</a:t>
            </a:r>
            <a:endParaRPr lang="es-AR" sz="850" dirty="0">
              <a:latin typeface="Fira Sans Condensed"/>
            </a:endParaRPr>
          </a:p>
        </p:txBody>
      </p:sp>
      <p:grpSp>
        <p:nvGrpSpPr>
          <p:cNvPr id="90" name="!!Progreso"/>
          <p:cNvGrpSpPr/>
          <p:nvPr/>
        </p:nvGrpSpPr>
        <p:grpSpPr>
          <a:xfrm>
            <a:off x="8001000" y="5596128"/>
            <a:ext cx="3840480" cy="768096"/>
            <a:chOff x="8001000" y="5596128"/>
            <a:chExt cx="3840480" cy="768096"/>
          </a:xfrm>
        </p:grpSpPr>
        <p:sp>
          <p:nvSpPr>
            <p:cNvPr id="91" name="Progreso 1"/>
            <p:cNvSpPr/>
            <p:nvPr/>
          </p:nvSpPr>
          <p:spPr>
            <a:xfrm>
              <a:off x="802843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a:t>
              </a:r>
              <a:endParaRPr lang="es-AR" sz="1050" dirty="0">
                <a:latin typeface="Fira Sans Condensed"/>
              </a:endParaRPr>
            </a:p>
          </p:txBody>
        </p:sp>
        <p:sp>
          <p:nvSpPr>
            <p:cNvPr id="92" name="Progreso 2"/>
            <p:cNvSpPr/>
            <p:nvPr/>
          </p:nvSpPr>
          <p:spPr>
            <a:xfrm>
              <a:off x="837590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2</a:t>
              </a:r>
              <a:endParaRPr lang="es-AR" sz="1050" dirty="0">
                <a:latin typeface="Fira Sans Condensed"/>
              </a:endParaRPr>
            </a:p>
          </p:txBody>
        </p:sp>
        <p:sp>
          <p:nvSpPr>
            <p:cNvPr id="93" name="Progreso 3"/>
            <p:cNvSpPr/>
            <p:nvPr/>
          </p:nvSpPr>
          <p:spPr>
            <a:xfrm>
              <a:off x="8723376"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3</a:t>
              </a:r>
              <a:endParaRPr lang="es-AR" sz="1050" dirty="0">
                <a:latin typeface="Fira Sans Condensed"/>
              </a:endParaRPr>
            </a:p>
          </p:txBody>
        </p:sp>
        <p:sp>
          <p:nvSpPr>
            <p:cNvPr id="94" name="Progreso 4"/>
            <p:cNvSpPr/>
            <p:nvPr/>
          </p:nvSpPr>
          <p:spPr>
            <a:xfrm>
              <a:off x="9070848"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4</a:t>
              </a:r>
              <a:endParaRPr lang="es-AR" sz="1050" dirty="0">
                <a:latin typeface="Fira Sans Condensed"/>
              </a:endParaRPr>
            </a:p>
          </p:txBody>
        </p:sp>
        <p:sp>
          <p:nvSpPr>
            <p:cNvPr id="95" name="Progreso 5"/>
            <p:cNvSpPr/>
            <p:nvPr/>
          </p:nvSpPr>
          <p:spPr>
            <a:xfrm>
              <a:off x="9418320"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5</a:t>
              </a:r>
              <a:endParaRPr lang="es-AR" sz="1050" dirty="0">
                <a:latin typeface="Fira Sans Condensed"/>
              </a:endParaRPr>
            </a:p>
          </p:txBody>
        </p:sp>
        <p:sp>
          <p:nvSpPr>
            <p:cNvPr id="96" name="Progreso 6"/>
            <p:cNvSpPr/>
            <p:nvPr/>
          </p:nvSpPr>
          <p:spPr>
            <a:xfrm>
              <a:off x="9765792"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6</a:t>
              </a:r>
              <a:endParaRPr lang="es-AR" sz="1050" dirty="0">
                <a:latin typeface="Fira Sans Condensed"/>
              </a:endParaRPr>
            </a:p>
          </p:txBody>
        </p:sp>
        <p:sp>
          <p:nvSpPr>
            <p:cNvPr id="97" name="Progreso 7"/>
            <p:cNvSpPr/>
            <p:nvPr/>
          </p:nvSpPr>
          <p:spPr>
            <a:xfrm>
              <a:off x="10113264"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7</a:t>
              </a:r>
              <a:endParaRPr lang="es-AR" sz="1050" dirty="0">
                <a:latin typeface="Fira Sans Condensed"/>
              </a:endParaRPr>
            </a:p>
          </p:txBody>
        </p:sp>
        <p:sp>
          <p:nvSpPr>
            <p:cNvPr id="98" name="Progreso 8"/>
            <p:cNvSpPr/>
            <p:nvPr/>
          </p:nvSpPr>
          <p:spPr>
            <a:xfrm>
              <a:off x="10460736"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8</a:t>
              </a:r>
              <a:endParaRPr lang="es-AR" sz="1050" dirty="0">
                <a:latin typeface="Fira Sans Condensed"/>
              </a:endParaRPr>
            </a:p>
          </p:txBody>
        </p:sp>
        <p:sp>
          <p:nvSpPr>
            <p:cNvPr id="99" name="Progreso 9"/>
            <p:cNvSpPr/>
            <p:nvPr/>
          </p:nvSpPr>
          <p:spPr>
            <a:xfrm>
              <a:off x="10808208" y="6053328"/>
              <a:ext cx="310896" cy="310896"/>
            </a:xfrm>
            <a:prstGeom prst="ellipse">
              <a:avLst/>
            </a:prstGeom>
            <a:solidFill>
              <a:srgbClr val="FFE699"/>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9</a:t>
              </a:r>
              <a:endParaRPr lang="es-AR" sz="1050" dirty="0">
                <a:latin typeface="Fira Sans Condensed"/>
              </a:endParaRPr>
            </a:p>
          </p:txBody>
        </p:sp>
        <p:sp>
          <p:nvSpPr>
            <p:cNvPr id="100" name="Progreso 10"/>
            <p:cNvSpPr/>
            <p:nvPr/>
          </p:nvSpPr>
          <p:spPr>
            <a:xfrm>
              <a:off x="11155680"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10</a:t>
              </a:r>
              <a:endParaRPr lang="es-AR" sz="1050" dirty="0">
                <a:latin typeface="Fira Sans Condensed"/>
              </a:endParaRPr>
            </a:p>
          </p:txBody>
        </p:sp>
        <p:sp>
          <p:nvSpPr>
            <p:cNvPr id="101" name="Progreso 11"/>
            <p:cNvSpPr/>
            <p:nvPr/>
          </p:nvSpPr>
          <p:spPr>
            <a:xfrm>
              <a:off x="11503152" y="6053328"/>
              <a:ext cx="310896" cy="310896"/>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11</a:t>
              </a:r>
              <a:endParaRPr lang="es-AR" sz="1050" dirty="0">
                <a:latin typeface="Fira Sans Condensed"/>
              </a:endParaRPr>
            </a:p>
          </p:txBody>
        </p:sp>
        <p:sp>
          <p:nvSpPr>
            <p:cNvPr id="102" name="Forma 101"/>
            <p:cNvSpPr/>
            <p:nvPr/>
          </p:nvSpPr>
          <p:spPr>
            <a:xfrm>
              <a:off x="8001000" y="5596128"/>
              <a:ext cx="3840480" cy="384048"/>
            </a:xfrm>
            <a:prstGeom prst="rect">
              <a:avLst/>
            </a:prstGeom>
            <a:solidFill>
              <a:srgbClr val="FFC000"/>
            </a:solidFill>
            <a:ln w="15875" cap="rnd">
              <a:solidFill>
                <a:srgbClr val="1E1E1E"/>
              </a:solidFill>
              <a:round/>
            </a:ln>
          </p:spPr>
          <p:txBody>
            <a:bodyPr wrap="square" lIns="36576" tIns="0" rIns="36576" bIns="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Fusión → Insulina + péptido C</a:t>
              </a:r>
              <a:endParaRPr lang="es-AR" sz="1250" dirty="0">
                <a:latin typeface="Fira Sans Condensed"/>
              </a:endParaRPr>
            </a:p>
          </p:txBody>
        </p:sp>
      </p:grpSp>
      <p:grpSp>
        <p:nvGrpSpPr>
          <p:cNvPr id="103" name="!!Panel"/>
          <p:cNvGrpSpPr/>
          <p:nvPr/>
        </p:nvGrpSpPr>
        <p:grpSpPr>
          <a:xfrm>
            <a:off x="8001000" y="1051560"/>
            <a:ext cx="3840480" cy="4297680"/>
            <a:chOff x="8001000" y="1051560"/>
            <a:chExt cx="3840480" cy="4297680"/>
          </a:xfrm>
        </p:grpSpPr>
        <p:sp>
          <p:nvSpPr>
            <p:cNvPr id="104" name="Forma 103"/>
            <p:cNvSpPr/>
            <p:nvPr/>
          </p:nvSpPr>
          <p:spPr>
            <a:xfrm>
              <a:off x="8001000" y="1051560"/>
              <a:ext cx="3840480" cy="4297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05" name="Forma 104"/>
            <p:cNvSpPr/>
            <p:nvPr/>
          </p:nvSpPr>
          <p:spPr>
            <a:xfrm>
              <a:off x="813816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10–11</a:t>
              </a:r>
              <a:endParaRPr lang="es-AR" sz="1500" dirty="0">
                <a:latin typeface="Fira Sans Condensed"/>
              </a:endParaRPr>
            </a:p>
          </p:txBody>
        </p:sp>
        <p:sp>
          <p:nvSpPr>
            <p:cNvPr id="106" name="Forma 105"/>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Exocitosis</a:t>
              </a:r>
              <a:endParaRPr lang="es-AR" sz="1650" dirty="0">
                <a:latin typeface="Fira Sans Condensed"/>
              </a:endParaRPr>
            </a:p>
          </p:txBody>
        </p:sp>
        <p:sp>
          <p:nvSpPr>
            <p:cNvPr id="107" name="Forma 106"/>
            <p:cNvSpPr txBox="1"/>
            <p:nvPr/>
          </p:nvSpPr>
          <p:spPr>
            <a:xfrm>
              <a:off x="8183880" y="1810512"/>
              <a:ext cx="3520440" cy="342900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10.</a:t>
              </a:r>
              <a:r>
                <a:rPr lang="es-AR" sz="1450" dirty="0">
                  <a:solidFill>
                    <a:srgbClr val="1E1E1E"/>
                  </a:solidFill>
                  <a:latin typeface="Fira Sans Condensed"/>
                  <a:ea typeface="Fira Sans Condensed"/>
                  <a:cs typeface="Fira Sans Condensed"/>
                  <a:sym typeface="Fira Sans Condensed"/>
                </a:rPr>
                <a:t> El Ca</a:t>
              </a:r>
              <a:r>
                <a:rPr lang="es-AR" sz="1450" baseline="30000" dirty="0">
                  <a:solidFill>
                    <a:srgbClr val="1E1E1E"/>
                  </a:solidFill>
                  <a:latin typeface="Fira Sans Condensed"/>
                  <a:ea typeface="Fira Sans Condensed"/>
                  <a:cs typeface="Fira Sans Condensed"/>
                  <a:sym typeface="Fira Sans Condensed"/>
                </a:rPr>
                <a:t>2+</a:t>
              </a:r>
              <a:r>
                <a:rPr lang="es-AR" sz="1450" dirty="0">
                  <a:solidFill>
                    <a:srgbClr val="1E1E1E"/>
                  </a:solidFill>
                  <a:latin typeface="Fira Sans Condensed"/>
                  <a:ea typeface="Fira Sans Condensed"/>
                  <a:cs typeface="Fira Sans Condensed"/>
                  <a:sym typeface="Fira Sans Condensed"/>
                </a:rPr>
                <a:t> activa la maquinaria de fusión: los gránulos anclados se fusionan con la membrana.</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11.</a:t>
              </a:r>
              <a:r>
                <a:rPr lang="es-AR" sz="1450" dirty="0">
                  <a:solidFill>
                    <a:srgbClr val="1E1E1E"/>
                  </a:solidFill>
                  <a:latin typeface="Fira Sans Condensed"/>
                  <a:ea typeface="Fira Sans Condensed"/>
                  <a:cs typeface="Fira Sans Condensed"/>
                  <a:sym typeface="Fira Sans Condensed"/>
                </a:rPr>
                <a:t> Se liberan </a:t>
              </a:r>
              <a:r>
                <a:rPr lang="es-AR" sz="1450" b="1" dirty="0">
                  <a:solidFill>
                    <a:srgbClr val="1E1E1E"/>
                  </a:solidFill>
                  <a:latin typeface="Fira Sans Condensed"/>
                  <a:ea typeface="Fira Sans Condensed"/>
                  <a:cs typeface="Fira Sans Condensed"/>
                  <a:sym typeface="Fira Sans Condensed"/>
                </a:rPr>
                <a:t>insulina y péptido C en cantidad equimolar</a:t>
              </a:r>
              <a:r>
                <a:rPr lang="es-AR" sz="1450" dirty="0">
                  <a:solidFill>
                    <a:srgbClr val="1E1E1E"/>
                  </a:solidFill>
                  <a:latin typeface="Fira Sans Condensed"/>
                  <a:ea typeface="Fira Sans Condensed"/>
                  <a:cs typeface="Fira Sans Condensed"/>
                  <a:sym typeface="Fira Sans Condensed"/>
                </a:rPr>
                <a:t> hacia los capilares del islote → vena porta → hígado.</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a:t>
              </a:r>
              <a:r>
                <a:rPr lang="es-AR" sz="1450" b="1" dirty="0">
                  <a:solidFill>
                    <a:srgbClr val="1E1E1E"/>
                  </a:solidFill>
                  <a:latin typeface="Fira Sans Condensed"/>
                  <a:ea typeface="Fira Sans Condensed"/>
                  <a:cs typeface="Fira Sans Condensed"/>
                  <a:sym typeface="Fira Sans Condensed"/>
                </a:rPr>
                <a:t>incretinas</a:t>
              </a:r>
              <a:r>
                <a:rPr lang="es-AR" sz="1450" dirty="0">
                  <a:solidFill>
                    <a:srgbClr val="1E1E1E"/>
                  </a:solidFill>
                  <a:latin typeface="Fira Sans Condensed"/>
                  <a:ea typeface="Fira Sans Condensed"/>
                  <a:cs typeface="Fira Sans Condensed"/>
                  <a:sym typeface="Fira Sans Condensed"/>
                </a:rPr>
                <a:t> potencian este paso solo si hay glucosa elevada.</a:t>
              </a:r>
              <a:endParaRPr lang="es-AR" sz="1450" dirty="0">
                <a:latin typeface="Fira Sans Condensed"/>
              </a:endParaRPr>
            </a:p>
          </p:txBody>
        </p:sp>
      </p:grpSp>
      <p:sp>
        <p:nvSpPr>
          <p:cNvPr id="108" name="Insulina sale 0"/>
          <p:cNvSpPr/>
          <p:nvPr/>
        </p:nvSpPr>
        <p:spPr>
          <a:xfrm>
            <a:off x="6080760" y="2331720"/>
            <a:ext cx="365760" cy="36576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Ins</a:t>
            </a:r>
            <a:endParaRPr lang="es-AR" sz="1040" dirty="0">
              <a:latin typeface="Fira Sans Condensed"/>
            </a:endParaRPr>
          </a:p>
        </p:txBody>
      </p:sp>
      <p:sp>
        <p:nvSpPr>
          <p:cNvPr id="109" name="Péptido C sale 0"/>
          <p:cNvSpPr/>
          <p:nvPr/>
        </p:nvSpPr>
        <p:spPr>
          <a:xfrm>
            <a:off x="6144768" y="2395728"/>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C</a:t>
            </a:r>
            <a:endParaRPr lang="es-AR" sz="1000" dirty="0">
              <a:latin typeface="Fira Sans Condensed"/>
            </a:endParaRPr>
          </a:p>
        </p:txBody>
      </p:sp>
      <p:sp>
        <p:nvSpPr>
          <p:cNvPr id="110" name="Insulina sale 1"/>
          <p:cNvSpPr/>
          <p:nvPr/>
        </p:nvSpPr>
        <p:spPr>
          <a:xfrm>
            <a:off x="6675120" y="2331720"/>
            <a:ext cx="365760" cy="36576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Ins</a:t>
            </a:r>
            <a:endParaRPr lang="es-AR" sz="1040" dirty="0">
              <a:latin typeface="Fira Sans Condensed"/>
            </a:endParaRPr>
          </a:p>
        </p:txBody>
      </p:sp>
      <p:sp>
        <p:nvSpPr>
          <p:cNvPr id="111" name="Péptido C sale 1"/>
          <p:cNvSpPr/>
          <p:nvPr/>
        </p:nvSpPr>
        <p:spPr>
          <a:xfrm>
            <a:off x="6739128" y="2395728"/>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C</a:t>
            </a:r>
            <a:endParaRPr lang="es-AR" sz="1000"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PASOS 10–11 · FUSIÓN DE GRÁNULOS Y SECRECIÓN</a:t>
            </a:r>
            <a:endParaRPr lang="es-AR" sz="33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1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250" autoRev="1" fill="hold"/>
                                        <p:tgtEl>
                                          <p:spTgt spid="41"/>
                                        </p:tgtEl>
                                      </p:cBhvr>
                                      <p:by x="112000" y="112000"/>
                                    </p:animScale>
                                  </p:childTnLst>
                                </p:cTn>
                              </p:par>
                            </p:childTnLst>
                          </p:cTn>
                        </p:par>
                        <p:par>
                          <p:cTn id="8" fill="hold">
                            <p:stCondLst>
                              <p:cond delay="250"/>
                            </p:stCondLst>
                            <p:childTnLst>
                              <p:par>
                                <p:cTn id="6" presetID="6" presetClass="emph" presetSubtype="0" fill="hold" grpId="0" nodeType="afterEffect">
                                  <p:stCondLst>
                                    <p:cond delay="0"/>
                                  </p:stCondLst>
                                  <p:childTnLst>
                                    <p:animScale>
                                      <p:cBhvr>
                                        <p:cTn id="7" dur="250" autoRev="1" fill="hold"/>
                                        <p:tgtEl>
                                          <p:spTgt spid="44"/>
                                        </p:tgtEl>
                                      </p:cBhvr>
                                      <p:by x="112000" y="112000"/>
                                    </p:animScale>
                                  </p:childTnLst>
                                </p:cTn>
                              </p:par>
                            </p:childTnLst>
                          </p:cTn>
                        </p:par>
                      </p:childTnLst>
                    </p:cTn>
                  </p:par>
                  <p:par>
                    <p:cTn id="32" fill="hold">
                      <p:stCondLst>
                        <p:cond delay="indefinite"/>
                      </p:stCondLst>
                      <p:childTnLst>
                        <p:par>
                          <p:cTn id="20"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par>
                                <p:cTn id="13" presetID="0" presetClass="path" presetSubtype="0" accel="20000" decel="20000" fill="hold" grpId="0" nodeType="withEffect">
                                  <p:stCondLst>
                                    <p:cond delay="0"/>
                                  </p:stCondLst>
                                  <p:childTnLst>
                                    <p:animMotion origin="layout" path="M 0 0 L -0.0450 -0.1800 E" pathEditMode="relative" ptsTypes="">
                                      <p:cBhvr>
                                        <p:cTn id="14" dur="1300" fill="hold"/>
                                        <p:tgtEl>
                                          <p:spTgt spid="108"/>
                                        </p:tgtEl>
                                        <p:attrNameLst>
                                          <p:attrName>ppt_x</p:attrName>
                                          <p:attrName>ppt_y</p:attrName>
                                        </p:attrNameLst>
                                      </p:cBhvr>
                                      <p:rCtr x="-2250" y="-9000"/>
                                    </p:animMotion>
                                  </p:childTnLst>
                                </p:cTn>
                              </p:par>
                              <p:par>
                                <p:cTn id="15" presetID="10" presetClass="entr" presetSubtype="0" fill="hold" grpId="0" nodeType="with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fade">
                                      <p:cBhvr>
                                        <p:cTn id="17" dur="500"/>
                                        <p:tgtEl>
                                          <p:spTgt spid="109"/>
                                        </p:tgtEl>
                                      </p:cBhvr>
                                    </p:animEffect>
                                  </p:childTnLst>
                                </p:cTn>
                              </p:par>
                              <p:par>
                                <p:cTn id="18" presetID="0" presetClass="path" presetSubtype="0" accel="20000" decel="20000" fill="hold" grpId="0" nodeType="withEffect">
                                  <p:stCondLst>
                                    <p:cond delay="0"/>
                                  </p:stCondLst>
                                  <p:childTnLst>
                                    <p:animMotion origin="layout" path="M 0 0 L -0.0150 -0.1467 E" pathEditMode="relative" ptsTypes="">
                                      <p:cBhvr>
                                        <p:cTn id="19" dur="1300" fill="hold"/>
                                        <p:tgtEl>
                                          <p:spTgt spid="109"/>
                                        </p:tgtEl>
                                        <p:attrNameLst>
                                          <p:attrName>ppt_x</p:attrName>
                                          <p:attrName>ppt_y</p:attrName>
                                        </p:attrNameLst>
                                      </p:cBhvr>
                                      <p:rCtr x="-750" y="-7333"/>
                                    </p:animMotion>
                                  </p:childTnLst>
                                </p:cTn>
                              </p:par>
                            </p:childTnLst>
                          </p:cTn>
                        </p:par>
                        <p:par>
                          <p:cTn id="31" fill="hold">
                            <p:stCondLst>
                              <p:cond delay="1300"/>
                            </p:stCondLst>
                            <p:childTnLst>
                              <p:par>
                                <p:cTn id="21" presetID="10" presetClass="entr" presetSubtype="0" fill="hold" grpId="0" nodeType="afterEffect">
                                  <p:stCondLst>
                                    <p:cond delay="0"/>
                                  </p:stCondLst>
                                  <p:childTnLst>
                                    <p:set>
                                      <p:cBhvr>
                                        <p:cTn id="22" dur="1" fill="hold">
                                          <p:stCondLst>
                                            <p:cond delay="0"/>
                                          </p:stCondLst>
                                        </p:cTn>
                                        <p:tgtEl>
                                          <p:spTgt spid="110"/>
                                        </p:tgtEl>
                                        <p:attrNameLst>
                                          <p:attrName>style.visibility</p:attrName>
                                        </p:attrNameLst>
                                      </p:cBhvr>
                                      <p:to>
                                        <p:strVal val="visible"/>
                                      </p:to>
                                    </p:set>
                                    <p:animEffect transition="in" filter="fade">
                                      <p:cBhvr>
                                        <p:cTn id="23" dur="500"/>
                                        <p:tgtEl>
                                          <p:spTgt spid="110"/>
                                        </p:tgtEl>
                                      </p:cBhvr>
                                    </p:animEffect>
                                  </p:childTnLst>
                                </p:cTn>
                              </p:par>
                              <p:par>
                                <p:cTn id="24" presetID="0" presetClass="path" presetSubtype="0" accel="20000" decel="20000" fill="hold" grpId="0" nodeType="withEffect">
                                  <p:stCondLst>
                                    <p:cond delay="0"/>
                                  </p:stCondLst>
                                  <p:childTnLst>
                                    <p:animMotion origin="layout" path="M 0 0 L -0.0900 -0.1800 E" pathEditMode="relative" ptsTypes="">
                                      <p:cBhvr>
                                        <p:cTn id="25" dur="1300" fill="hold"/>
                                        <p:tgtEl>
                                          <p:spTgt spid="110"/>
                                        </p:tgtEl>
                                        <p:attrNameLst>
                                          <p:attrName>ppt_x</p:attrName>
                                          <p:attrName>ppt_y</p:attrName>
                                        </p:attrNameLst>
                                      </p:cBhvr>
                                      <p:rCtr x="-4500" y="-9000"/>
                                    </p:animMotion>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0" presetClass="path" presetSubtype="0" accel="20000" decel="20000" fill="hold" grpId="0" nodeType="withEffect">
                                  <p:stCondLst>
                                    <p:cond delay="0"/>
                                  </p:stCondLst>
                                  <p:childTnLst>
                                    <p:animMotion origin="layout" path="M 0 0 L -0.0600 -0.1467 E" pathEditMode="relative" ptsTypes="">
                                      <p:cBhvr>
                                        <p:cTn id="30" dur="1300" fill="hold"/>
                                        <p:tgtEl>
                                          <p:spTgt spid="111"/>
                                        </p:tgtEl>
                                        <p:attrNameLst>
                                          <p:attrName>ppt_x</p:attrName>
                                          <p:attrName>ppt_y</p:attrName>
                                        </p:attrNameLst>
                                      </p:cBhvr>
                                      <p:rCtr x="-3000" y="-73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P spid="110" grpId="0" animBg="1"/>
      <p:bldP spid="111"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Membrana"/>
          <p:cNvGrpSpPr/>
          <p:nvPr/>
        </p:nvGrpSpPr>
        <p:grpSpPr>
          <a:xfrm>
            <a:off x="457200" y="2743200"/>
            <a:ext cx="6949440" cy="548640"/>
            <a:chOff x="457200" y="2743200"/>
            <a:chExt cx="6949440" cy="548640"/>
          </a:xfrm>
        </p:grpSpPr>
        <p:sp>
          <p:nvSpPr>
            <p:cNvPr id="7" name="Forma 6"/>
            <p:cNvSpPr/>
            <p:nvPr/>
          </p:nvSpPr>
          <p:spPr>
            <a:xfrm>
              <a:off x="457200" y="2841955"/>
              <a:ext cx="6949440" cy="351130"/>
            </a:xfrm>
            <a:prstGeom prst="rect">
              <a:avLst/>
            </a:prstGeom>
            <a:solidFill>
              <a:srgbClr val="FDEBD0"/>
            </a:solidFill>
            <a:ln>
              <a:noFill/>
            </a:ln>
          </p:spPr>
        </p:sp>
        <p:sp>
          <p:nvSpPr>
            <p:cNvPr id="8" name="Forma 7"/>
            <p:cNvSpPr/>
            <p:nvPr/>
          </p:nvSpPr>
          <p:spPr>
            <a:xfrm>
              <a:off x="457200" y="2743200"/>
              <a:ext cx="6949440" cy="548640"/>
            </a:xfrm>
            <a:custGeom>
              <a:avLst/>
              <a:gdLst/>
              <a:ahLst/>
              <a:cxnLst/>
              <a:rect l="0" t="0" r="r" b="b"/>
              <a:pathLst>
                <a:path w="7600" h="60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200" y="48"/>
                  </a:moveTo>
                  <a:cubicBezTo>
                    <a:pt x="200" y="74"/>
                    <a:pt x="178" y="96"/>
                    <a:pt x="152" y="96"/>
                  </a:cubicBezTo>
                  <a:cubicBezTo>
                    <a:pt x="125" y="96"/>
                    <a:pt x="104" y="74"/>
                    <a:pt x="104" y="48"/>
                  </a:cubicBezTo>
                  <a:cubicBezTo>
                    <a:pt x="104" y="21"/>
                    <a:pt x="125" y="0"/>
                    <a:pt x="152" y="0"/>
                  </a:cubicBezTo>
                  <a:cubicBezTo>
                    <a:pt x="178" y="0"/>
                    <a:pt x="200" y="21"/>
                    <a:pt x="200"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4" y="48"/>
                  </a:moveTo>
                  <a:cubicBezTo>
                    <a:pt x="504" y="74"/>
                    <a:pt x="482" y="96"/>
                    <a:pt x="456" y="96"/>
                  </a:cubicBezTo>
                  <a:cubicBezTo>
                    <a:pt x="429" y="96"/>
                    <a:pt x="408" y="74"/>
                    <a:pt x="408" y="48"/>
                  </a:cubicBezTo>
                  <a:cubicBezTo>
                    <a:pt x="408" y="21"/>
                    <a:pt x="429" y="0"/>
                    <a:pt x="456" y="0"/>
                  </a:cubicBezTo>
                  <a:cubicBezTo>
                    <a:pt x="482" y="0"/>
                    <a:pt x="504" y="21"/>
                    <a:pt x="504" y="48"/>
                  </a:cubicBezTo>
                  <a:close/>
                  <a:moveTo>
                    <a:pt x="605" y="48"/>
                  </a:moveTo>
                  <a:cubicBezTo>
                    <a:pt x="605" y="74"/>
                    <a:pt x="583" y="96"/>
                    <a:pt x="557" y="96"/>
                  </a:cubicBezTo>
                  <a:cubicBezTo>
                    <a:pt x="530" y="96"/>
                    <a:pt x="509" y="74"/>
                    <a:pt x="509" y="48"/>
                  </a:cubicBezTo>
                  <a:cubicBezTo>
                    <a:pt x="509" y="21"/>
                    <a:pt x="530" y="0"/>
                    <a:pt x="557" y="0"/>
                  </a:cubicBezTo>
                  <a:cubicBezTo>
                    <a:pt x="583" y="0"/>
                    <a:pt x="605" y="21"/>
                    <a:pt x="605"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8" y="48"/>
                  </a:moveTo>
                  <a:cubicBezTo>
                    <a:pt x="808" y="74"/>
                    <a:pt x="786" y="96"/>
                    <a:pt x="760" y="96"/>
                  </a:cubicBezTo>
                  <a:cubicBezTo>
                    <a:pt x="733" y="96"/>
                    <a:pt x="712" y="74"/>
                    <a:pt x="712" y="48"/>
                  </a:cubicBezTo>
                  <a:cubicBezTo>
                    <a:pt x="712" y="21"/>
                    <a:pt x="733" y="0"/>
                    <a:pt x="760" y="0"/>
                  </a:cubicBezTo>
                  <a:cubicBezTo>
                    <a:pt x="786" y="0"/>
                    <a:pt x="808" y="21"/>
                    <a:pt x="808" y="48"/>
                  </a:cubicBezTo>
                  <a:close/>
                  <a:moveTo>
                    <a:pt x="909" y="48"/>
                  </a:moveTo>
                  <a:cubicBezTo>
                    <a:pt x="909" y="74"/>
                    <a:pt x="887" y="96"/>
                    <a:pt x="861" y="96"/>
                  </a:cubicBezTo>
                  <a:cubicBezTo>
                    <a:pt x="834" y="96"/>
                    <a:pt x="813" y="74"/>
                    <a:pt x="813" y="48"/>
                  </a:cubicBezTo>
                  <a:cubicBezTo>
                    <a:pt x="813" y="21"/>
                    <a:pt x="834" y="0"/>
                    <a:pt x="861" y="0"/>
                  </a:cubicBezTo>
                  <a:cubicBezTo>
                    <a:pt x="887" y="0"/>
                    <a:pt x="909" y="21"/>
                    <a:pt x="909" y="48"/>
                  </a:cubicBezTo>
                  <a:close/>
                  <a:moveTo>
                    <a:pt x="1010" y="48"/>
                  </a:moveTo>
                  <a:cubicBezTo>
                    <a:pt x="1010" y="74"/>
                    <a:pt x="988" y="96"/>
                    <a:pt x="962" y="96"/>
                  </a:cubicBezTo>
                  <a:cubicBezTo>
                    <a:pt x="935" y="96"/>
                    <a:pt x="914" y="74"/>
                    <a:pt x="914" y="48"/>
                  </a:cubicBezTo>
                  <a:cubicBezTo>
                    <a:pt x="914" y="21"/>
                    <a:pt x="935" y="0"/>
                    <a:pt x="962" y="0"/>
                  </a:cubicBezTo>
                  <a:cubicBezTo>
                    <a:pt x="988" y="0"/>
                    <a:pt x="1010" y="21"/>
                    <a:pt x="1010" y="48"/>
                  </a:cubicBezTo>
                  <a:close/>
                  <a:moveTo>
                    <a:pt x="1112" y="48"/>
                  </a:moveTo>
                  <a:cubicBezTo>
                    <a:pt x="1112" y="74"/>
                    <a:pt x="1090" y="96"/>
                    <a:pt x="1064" y="96"/>
                  </a:cubicBezTo>
                  <a:cubicBezTo>
                    <a:pt x="1037" y="96"/>
                    <a:pt x="1016" y="74"/>
                    <a:pt x="1016" y="48"/>
                  </a:cubicBezTo>
                  <a:cubicBezTo>
                    <a:pt x="1016" y="21"/>
                    <a:pt x="1037" y="0"/>
                    <a:pt x="1064" y="0"/>
                  </a:cubicBezTo>
                  <a:cubicBezTo>
                    <a:pt x="1090" y="0"/>
                    <a:pt x="1112" y="21"/>
                    <a:pt x="1112" y="48"/>
                  </a:cubicBezTo>
                  <a:close/>
                  <a:moveTo>
                    <a:pt x="1213" y="48"/>
                  </a:moveTo>
                  <a:cubicBezTo>
                    <a:pt x="1213" y="74"/>
                    <a:pt x="1191" y="96"/>
                    <a:pt x="1165" y="96"/>
                  </a:cubicBezTo>
                  <a:cubicBezTo>
                    <a:pt x="1138" y="96"/>
                    <a:pt x="1117" y="74"/>
                    <a:pt x="1117" y="48"/>
                  </a:cubicBezTo>
                  <a:cubicBezTo>
                    <a:pt x="1117" y="21"/>
                    <a:pt x="1138" y="0"/>
                    <a:pt x="1165" y="0"/>
                  </a:cubicBezTo>
                  <a:cubicBezTo>
                    <a:pt x="1191" y="0"/>
                    <a:pt x="1213" y="21"/>
                    <a:pt x="1213" y="48"/>
                  </a:cubicBezTo>
                  <a:close/>
                  <a:moveTo>
                    <a:pt x="1314" y="48"/>
                  </a:moveTo>
                  <a:cubicBezTo>
                    <a:pt x="1314" y="74"/>
                    <a:pt x="1292" y="96"/>
                    <a:pt x="1266" y="96"/>
                  </a:cubicBezTo>
                  <a:cubicBezTo>
                    <a:pt x="1239" y="96"/>
                    <a:pt x="1218" y="74"/>
                    <a:pt x="1218" y="48"/>
                  </a:cubicBezTo>
                  <a:cubicBezTo>
                    <a:pt x="1218" y="21"/>
                    <a:pt x="1239" y="0"/>
                    <a:pt x="1266" y="0"/>
                  </a:cubicBezTo>
                  <a:cubicBezTo>
                    <a:pt x="1292" y="0"/>
                    <a:pt x="1314" y="21"/>
                    <a:pt x="1314" y="48"/>
                  </a:cubicBezTo>
                  <a:close/>
                  <a:moveTo>
                    <a:pt x="1416" y="48"/>
                  </a:moveTo>
                  <a:cubicBezTo>
                    <a:pt x="1416" y="74"/>
                    <a:pt x="1394" y="96"/>
                    <a:pt x="1368" y="96"/>
                  </a:cubicBezTo>
                  <a:cubicBezTo>
                    <a:pt x="1341" y="96"/>
                    <a:pt x="1320" y="74"/>
                    <a:pt x="1320" y="48"/>
                  </a:cubicBezTo>
                  <a:cubicBezTo>
                    <a:pt x="1320" y="21"/>
                    <a:pt x="1341" y="0"/>
                    <a:pt x="1368" y="0"/>
                  </a:cubicBezTo>
                  <a:cubicBezTo>
                    <a:pt x="1394" y="0"/>
                    <a:pt x="1416" y="21"/>
                    <a:pt x="1416" y="48"/>
                  </a:cubicBezTo>
                  <a:close/>
                  <a:moveTo>
                    <a:pt x="1517" y="48"/>
                  </a:moveTo>
                  <a:cubicBezTo>
                    <a:pt x="1517" y="74"/>
                    <a:pt x="1495" y="96"/>
                    <a:pt x="1469" y="96"/>
                  </a:cubicBezTo>
                  <a:cubicBezTo>
                    <a:pt x="1442" y="96"/>
                    <a:pt x="1421" y="74"/>
                    <a:pt x="1421" y="48"/>
                  </a:cubicBezTo>
                  <a:cubicBezTo>
                    <a:pt x="1421" y="21"/>
                    <a:pt x="1442" y="0"/>
                    <a:pt x="1469" y="0"/>
                  </a:cubicBezTo>
                  <a:cubicBezTo>
                    <a:pt x="1495" y="0"/>
                    <a:pt x="1517" y="21"/>
                    <a:pt x="1517" y="48"/>
                  </a:cubicBezTo>
                  <a:close/>
                  <a:moveTo>
                    <a:pt x="1618" y="48"/>
                  </a:moveTo>
                  <a:cubicBezTo>
                    <a:pt x="1618" y="74"/>
                    <a:pt x="1596" y="96"/>
                    <a:pt x="1570" y="96"/>
                  </a:cubicBezTo>
                  <a:cubicBezTo>
                    <a:pt x="1543" y="96"/>
                    <a:pt x="1522" y="74"/>
                    <a:pt x="1522" y="48"/>
                  </a:cubicBezTo>
                  <a:cubicBezTo>
                    <a:pt x="1522" y="21"/>
                    <a:pt x="1543" y="0"/>
                    <a:pt x="1570" y="0"/>
                  </a:cubicBezTo>
                  <a:cubicBezTo>
                    <a:pt x="1596" y="0"/>
                    <a:pt x="1618" y="21"/>
                    <a:pt x="1618" y="48"/>
                  </a:cubicBezTo>
                  <a:close/>
                  <a:moveTo>
                    <a:pt x="1720" y="48"/>
                  </a:moveTo>
                  <a:cubicBezTo>
                    <a:pt x="1720" y="74"/>
                    <a:pt x="1698" y="96"/>
                    <a:pt x="1672" y="96"/>
                  </a:cubicBezTo>
                  <a:cubicBezTo>
                    <a:pt x="1645" y="96"/>
                    <a:pt x="1624" y="74"/>
                    <a:pt x="1624" y="48"/>
                  </a:cubicBezTo>
                  <a:cubicBezTo>
                    <a:pt x="1624" y="21"/>
                    <a:pt x="1645" y="0"/>
                    <a:pt x="1672" y="0"/>
                  </a:cubicBezTo>
                  <a:cubicBezTo>
                    <a:pt x="1698" y="0"/>
                    <a:pt x="1720" y="21"/>
                    <a:pt x="1720" y="48"/>
                  </a:cubicBezTo>
                  <a:close/>
                  <a:moveTo>
                    <a:pt x="1821" y="48"/>
                  </a:moveTo>
                  <a:cubicBezTo>
                    <a:pt x="1821" y="74"/>
                    <a:pt x="1799" y="96"/>
                    <a:pt x="1773" y="96"/>
                  </a:cubicBezTo>
                  <a:cubicBezTo>
                    <a:pt x="1746" y="96"/>
                    <a:pt x="1725" y="74"/>
                    <a:pt x="1725" y="48"/>
                  </a:cubicBezTo>
                  <a:cubicBezTo>
                    <a:pt x="1725" y="21"/>
                    <a:pt x="1746" y="0"/>
                    <a:pt x="1773" y="0"/>
                  </a:cubicBezTo>
                  <a:cubicBezTo>
                    <a:pt x="1799" y="0"/>
                    <a:pt x="1821" y="21"/>
                    <a:pt x="1821" y="48"/>
                  </a:cubicBezTo>
                  <a:close/>
                  <a:moveTo>
                    <a:pt x="1922" y="48"/>
                  </a:moveTo>
                  <a:cubicBezTo>
                    <a:pt x="1922" y="74"/>
                    <a:pt x="1900" y="96"/>
                    <a:pt x="1874" y="96"/>
                  </a:cubicBezTo>
                  <a:cubicBezTo>
                    <a:pt x="1847" y="96"/>
                    <a:pt x="1826" y="74"/>
                    <a:pt x="1826" y="48"/>
                  </a:cubicBezTo>
                  <a:cubicBezTo>
                    <a:pt x="1826" y="21"/>
                    <a:pt x="1847" y="0"/>
                    <a:pt x="1874" y="0"/>
                  </a:cubicBezTo>
                  <a:cubicBezTo>
                    <a:pt x="1900" y="0"/>
                    <a:pt x="1922" y="21"/>
                    <a:pt x="1922" y="48"/>
                  </a:cubicBezTo>
                  <a:close/>
                  <a:moveTo>
                    <a:pt x="2024" y="48"/>
                  </a:moveTo>
                  <a:cubicBezTo>
                    <a:pt x="2024" y="74"/>
                    <a:pt x="2002" y="96"/>
                    <a:pt x="1976" y="96"/>
                  </a:cubicBezTo>
                  <a:cubicBezTo>
                    <a:pt x="1949" y="96"/>
                    <a:pt x="1928" y="74"/>
                    <a:pt x="1928" y="48"/>
                  </a:cubicBezTo>
                  <a:cubicBezTo>
                    <a:pt x="1928" y="21"/>
                    <a:pt x="1949" y="0"/>
                    <a:pt x="1976" y="0"/>
                  </a:cubicBezTo>
                  <a:cubicBezTo>
                    <a:pt x="2002" y="0"/>
                    <a:pt x="2024" y="21"/>
                    <a:pt x="2024" y="48"/>
                  </a:cubicBezTo>
                  <a:close/>
                  <a:moveTo>
                    <a:pt x="2125" y="48"/>
                  </a:moveTo>
                  <a:cubicBezTo>
                    <a:pt x="2125" y="74"/>
                    <a:pt x="2103" y="96"/>
                    <a:pt x="2077" y="96"/>
                  </a:cubicBezTo>
                  <a:cubicBezTo>
                    <a:pt x="2050" y="96"/>
                    <a:pt x="2029" y="74"/>
                    <a:pt x="2029" y="48"/>
                  </a:cubicBezTo>
                  <a:cubicBezTo>
                    <a:pt x="2029" y="21"/>
                    <a:pt x="2050" y="0"/>
                    <a:pt x="2077" y="0"/>
                  </a:cubicBezTo>
                  <a:cubicBezTo>
                    <a:pt x="2103" y="0"/>
                    <a:pt x="2125" y="21"/>
                    <a:pt x="2125" y="48"/>
                  </a:cubicBezTo>
                  <a:close/>
                  <a:moveTo>
                    <a:pt x="2226" y="48"/>
                  </a:moveTo>
                  <a:cubicBezTo>
                    <a:pt x="2226" y="74"/>
                    <a:pt x="2204" y="96"/>
                    <a:pt x="2178" y="96"/>
                  </a:cubicBezTo>
                  <a:cubicBezTo>
                    <a:pt x="2151" y="96"/>
                    <a:pt x="2130" y="74"/>
                    <a:pt x="2130" y="48"/>
                  </a:cubicBezTo>
                  <a:cubicBezTo>
                    <a:pt x="2130" y="21"/>
                    <a:pt x="2151" y="0"/>
                    <a:pt x="2178" y="0"/>
                  </a:cubicBezTo>
                  <a:cubicBezTo>
                    <a:pt x="2204" y="0"/>
                    <a:pt x="2226" y="21"/>
                    <a:pt x="2226" y="48"/>
                  </a:cubicBezTo>
                  <a:close/>
                  <a:moveTo>
                    <a:pt x="2328" y="48"/>
                  </a:moveTo>
                  <a:cubicBezTo>
                    <a:pt x="2328" y="74"/>
                    <a:pt x="2306" y="96"/>
                    <a:pt x="2280" y="96"/>
                  </a:cubicBezTo>
                  <a:cubicBezTo>
                    <a:pt x="2253" y="96"/>
                    <a:pt x="2232" y="74"/>
                    <a:pt x="2232" y="48"/>
                  </a:cubicBezTo>
                  <a:cubicBezTo>
                    <a:pt x="2232" y="21"/>
                    <a:pt x="2253" y="0"/>
                    <a:pt x="2280" y="0"/>
                  </a:cubicBezTo>
                  <a:cubicBezTo>
                    <a:pt x="2306" y="0"/>
                    <a:pt x="2328" y="21"/>
                    <a:pt x="2328" y="48"/>
                  </a:cubicBezTo>
                  <a:close/>
                  <a:moveTo>
                    <a:pt x="2429" y="48"/>
                  </a:moveTo>
                  <a:cubicBezTo>
                    <a:pt x="2429" y="74"/>
                    <a:pt x="2407" y="96"/>
                    <a:pt x="2381" y="96"/>
                  </a:cubicBezTo>
                  <a:cubicBezTo>
                    <a:pt x="2354" y="96"/>
                    <a:pt x="2333" y="74"/>
                    <a:pt x="2333" y="48"/>
                  </a:cubicBezTo>
                  <a:cubicBezTo>
                    <a:pt x="2333" y="21"/>
                    <a:pt x="2354" y="0"/>
                    <a:pt x="2381" y="0"/>
                  </a:cubicBezTo>
                  <a:cubicBezTo>
                    <a:pt x="2407" y="0"/>
                    <a:pt x="2429" y="21"/>
                    <a:pt x="2429" y="48"/>
                  </a:cubicBezTo>
                  <a:close/>
                  <a:moveTo>
                    <a:pt x="2530" y="48"/>
                  </a:moveTo>
                  <a:cubicBezTo>
                    <a:pt x="2530" y="74"/>
                    <a:pt x="2508" y="96"/>
                    <a:pt x="2482" y="96"/>
                  </a:cubicBezTo>
                  <a:cubicBezTo>
                    <a:pt x="2455" y="96"/>
                    <a:pt x="2434" y="74"/>
                    <a:pt x="2434" y="48"/>
                  </a:cubicBezTo>
                  <a:cubicBezTo>
                    <a:pt x="2434" y="21"/>
                    <a:pt x="2455" y="0"/>
                    <a:pt x="2482" y="0"/>
                  </a:cubicBezTo>
                  <a:cubicBezTo>
                    <a:pt x="2508" y="0"/>
                    <a:pt x="2530" y="21"/>
                    <a:pt x="2530" y="48"/>
                  </a:cubicBezTo>
                  <a:close/>
                  <a:moveTo>
                    <a:pt x="2632" y="48"/>
                  </a:moveTo>
                  <a:cubicBezTo>
                    <a:pt x="2632" y="74"/>
                    <a:pt x="2610" y="96"/>
                    <a:pt x="2584" y="96"/>
                  </a:cubicBezTo>
                  <a:cubicBezTo>
                    <a:pt x="2557" y="96"/>
                    <a:pt x="2536" y="74"/>
                    <a:pt x="2536" y="48"/>
                  </a:cubicBezTo>
                  <a:cubicBezTo>
                    <a:pt x="2536" y="21"/>
                    <a:pt x="2557" y="0"/>
                    <a:pt x="2584" y="0"/>
                  </a:cubicBezTo>
                  <a:cubicBezTo>
                    <a:pt x="2610" y="0"/>
                    <a:pt x="2632" y="21"/>
                    <a:pt x="2632" y="48"/>
                  </a:cubicBezTo>
                  <a:close/>
                  <a:moveTo>
                    <a:pt x="2733" y="48"/>
                  </a:moveTo>
                  <a:cubicBezTo>
                    <a:pt x="2733" y="74"/>
                    <a:pt x="2711" y="96"/>
                    <a:pt x="2685" y="96"/>
                  </a:cubicBezTo>
                  <a:cubicBezTo>
                    <a:pt x="2658" y="96"/>
                    <a:pt x="2637" y="74"/>
                    <a:pt x="2637" y="48"/>
                  </a:cubicBezTo>
                  <a:cubicBezTo>
                    <a:pt x="2637" y="21"/>
                    <a:pt x="2658" y="0"/>
                    <a:pt x="2685" y="0"/>
                  </a:cubicBezTo>
                  <a:cubicBezTo>
                    <a:pt x="2711" y="0"/>
                    <a:pt x="2733" y="21"/>
                    <a:pt x="2733" y="48"/>
                  </a:cubicBezTo>
                  <a:close/>
                  <a:moveTo>
                    <a:pt x="2834" y="48"/>
                  </a:moveTo>
                  <a:cubicBezTo>
                    <a:pt x="2834" y="74"/>
                    <a:pt x="2812" y="96"/>
                    <a:pt x="2786" y="96"/>
                  </a:cubicBezTo>
                  <a:cubicBezTo>
                    <a:pt x="2759" y="96"/>
                    <a:pt x="2738" y="74"/>
                    <a:pt x="2738" y="48"/>
                  </a:cubicBezTo>
                  <a:cubicBezTo>
                    <a:pt x="2738" y="21"/>
                    <a:pt x="2759" y="0"/>
                    <a:pt x="2786" y="0"/>
                  </a:cubicBezTo>
                  <a:cubicBezTo>
                    <a:pt x="2812" y="0"/>
                    <a:pt x="2834" y="21"/>
                    <a:pt x="2834" y="48"/>
                  </a:cubicBezTo>
                  <a:close/>
                  <a:moveTo>
                    <a:pt x="2936" y="48"/>
                  </a:moveTo>
                  <a:cubicBezTo>
                    <a:pt x="2936" y="74"/>
                    <a:pt x="2914" y="96"/>
                    <a:pt x="2888" y="96"/>
                  </a:cubicBezTo>
                  <a:cubicBezTo>
                    <a:pt x="2861" y="96"/>
                    <a:pt x="2840" y="74"/>
                    <a:pt x="2840" y="48"/>
                  </a:cubicBezTo>
                  <a:cubicBezTo>
                    <a:pt x="2840" y="21"/>
                    <a:pt x="2861" y="0"/>
                    <a:pt x="2888" y="0"/>
                  </a:cubicBezTo>
                  <a:cubicBezTo>
                    <a:pt x="2914" y="0"/>
                    <a:pt x="2936" y="21"/>
                    <a:pt x="2936" y="48"/>
                  </a:cubicBezTo>
                  <a:close/>
                  <a:moveTo>
                    <a:pt x="3037" y="48"/>
                  </a:moveTo>
                  <a:cubicBezTo>
                    <a:pt x="3037" y="74"/>
                    <a:pt x="3015" y="96"/>
                    <a:pt x="2989" y="96"/>
                  </a:cubicBezTo>
                  <a:cubicBezTo>
                    <a:pt x="2962" y="96"/>
                    <a:pt x="2941" y="74"/>
                    <a:pt x="2941" y="48"/>
                  </a:cubicBezTo>
                  <a:cubicBezTo>
                    <a:pt x="2941" y="21"/>
                    <a:pt x="2962" y="0"/>
                    <a:pt x="2989" y="0"/>
                  </a:cubicBezTo>
                  <a:cubicBezTo>
                    <a:pt x="3015" y="0"/>
                    <a:pt x="3037" y="21"/>
                    <a:pt x="3037" y="48"/>
                  </a:cubicBezTo>
                  <a:close/>
                  <a:moveTo>
                    <a:pt x="3138" y="48"/>
                  </a:moveTo>
                  <a:cubicBezTo>
                    <a:pt x="3138" y="74"/>
                    <a:pt x="3116" y="96"/>
                    <a:pt x="3090" y="96"/>
                  </a:cubicBezTo>
                  <a:cubicBezTo>
                    <a:pt x="3063" y="96"/>
                    <a:pt x="3042" y="74"/>
                    <a:pt x="3042" y="48"/>
                  </a:cubicBezTo>
                  <a:cubicBezTo>
                    <a:pt x="3042" y="21"/>
                    <a:pt x="3063" y="0"/>
                    <a:pt x="3090" y="0"/>
                  </a:cubicBezTo>
                  <a:cubicBezTo>
                    <a:pt x="3116" y="0"/>
                    <a:pt x="3138" y="21"/>
                    <a:pt x="3138" y="48"/>
                  </a:cubicBezTo>
                  <a:close/>
                  <a:moveTo>
                    <a:pt x="3240" y="48"/>
                  </a:moveTo>
                  <a:cubicBezTo>
                    <a:pt x="3240" y="74"/>
                    <a:pt x="3218" y="96"/>
                    <a:pt x="3192" y="96"/>
                  </a:cubicBezTo>
                  <a:cubicBezTo>
                    <a:pt x="3165" y="96"/>
                    <a:pt x="3144" y="74"/>
                    <a:pt x="3144" y="48"/>
                  </a:cubicBezTo>
                  <a:cubicBezTo>
                    <a:pt x="3144" y="21"/>
                    <a:pt x="3165" y="0"/>
                    <a:pt x="3192" y="0"/>
                  </a:cubicBezTo>
                  <a:cubicBezTo>
                    <a:pt x="3218" y="0"/>
                    <a:pt x="3240" y="21"/>
                    <a:pt x="3240" y="48"/>
                  </a:cubicBezTo>
                  <a:close/>
                  <a:moveTo>
                    <a:pt x="3341" y="48"/>
                  </a:moveTo>
                  <a:cubicBezTo>
                    <a:pt x="3341" y="74"/>
                    <a:pt x="3319" y="96"/>
                    <a:pt x="3293" y="96"/>
                  </a:cubicBezTo>
                  <a:cubicBezTo>
                    <a:pt x="3266" y="96"/>
                    <a:pt x="3245" y="74"/>
                    <a:pt x="3245" y="48"/>
                  </a:cubicBezTo>
                  <a:cubicBezTo>
                    <a:pt x="3245" y="21"/>
                    <a:pt x="3266" y="0"/>
                    <a:pt x="3293" y="0"/>
                  </a:cubicBezTo>
                  <a:cubicBezTo>
                    <a:pt x="3319" y="0"/>
                    <a:pt x="3341" y="21"/>
                    <a:pt x="3341" y="48"/>
                  </a:cubicBezTo>
                  <a:close/>
                  <a:moveTo>
                    <a:pt x="3442" y="48"/>
                  </a:moveTo>
                  <a:cubicBezTo>
                    <a:pt x="3442" y="74"/>
                    <a:pt x="3420" y="96"/>
                    <a:pt x="3394" y="96"/>
                  </a:cubicBezTo>
                  <a:cubicBezTo>
                    <a:pt x="3367" y="96"/>
                    <a:pt x="3346" y="74"/>
                    <a:pt x="3346" y="48"/>
                  </a:cubicBezTo>
                  <a:cubicBezTo>
                    <a:pt x="3346" y="21"/>
                    <a:pt x="3367" y="0"/>
                    <a:pt x="3394" y="0"/>
                  </a:cubicBezTo>
                  <a:cubicBezTo>
                    <a:pt x="3420" y="0"/>
                    <a:pt x="3442" y="21"/>
                    <a:pt x="3442" y="48"/>
                  </a:cubicBezTo>
                  <a:close/>
                  <a:moveTo>
                    <a:pt x="3544" y="48"/>
                  </a:moveTo>
                  <a:cubicBezTo>
                    <a:pt x="3544" y="74"/>
                    <a:pt x="3522" y="96"/>
                    <a:pt x="3496" y="96"/>
                  </a:cubicBezTo>
                  <a:cubicBezTo>
                    <a:pt x="3469" y="96"/>
                    <a:pt x="3448" y="74"/>
                    <a:pt x="3448" y="48"/>
                  </a:cubicBezTo>
                  <a:cubicBezTo>
                    <a:pt x="3448" y="21"/>
                    <a:pt x="3469" y="0"/>
                    <a:pt x="3496" y="0"/>
                  </a:cubicBezTo>
                  <a:cubicBezTo>
                    <a:pt x="3522" y="0"/>
                    <a:pt x="3544" y="21"/>
                    <a:pt x="3544" y="48"/>
                  </a:cubicBezTo>
                  <a:close/>
                  <a:moveTo>
                    <a:pt x="3645" y="48"/>
                  </a:moveTo>
                  <a:cubicBezTo>
                    <a:pt x="3645" y="74"/>
                    <a:pt x="3623" y="96"/>
                    <a:pt x="3597" y="96"/>
                  </a:cubicBezTo>
                  <a:cubicBezTo>
                    <a:pt x="3570" y="96"/>
                    <a:pt x="3549" y="74"/>
                    <a:pt x="3549" y="48"/>
                  </a:cubicBezTo>
                  <a:cubicBezTo>
                    <a:pt x="3549" y="21"/>
                    <a:pt x="3570" y="0"/>
                    <a:pt x="3597" y="0"/>
                  </a:cubicBezTo>
                  <a:cubicBezTo>
                    <a:pt x="3623" y="0"/>
                    <a:pt x="3645" y="21"/>
                    <a:pt x="3645" y="48"/>
                  </a:cubicBezTo>
                  <a:close/>
                  <a:moveTo>
                    <a:pt x="3746" y="48"/>
                  </a:moveTo>
                  <a:cubicBezTo>
                    <a:pt x="3746" y="74"/>
                    <a:pt x="3724" y="96"/>
                    <a:pt x="3698" y="96"/>
                  </a:cubicBezTo>
                  <a:cubicBezTo>
                    <a:pt x="3671" y="96"/>
                    <a:pt x="3650" y="74"/>
                    <a:pt x="3650" y="48"/>
                  </a:cubicBezTo>
                  <a:cubicBezTo>
                    <a:pt x="3650" y="21"/>
                    <a:pt x="3671" y="0"/>
                    <a:pt x="3698" y="0"/>
                  </a:cubicBezTo>
                  <a:cubicBezTo>
                    <a:pt x="3724" y="0"/>
                    <a:pt x="3746" y="21"/>
                    <a:pt x="3746" y="48"/>
                  </a:cubicBezTo>
                  <a:close/>
                  <a:moveTo>
                    <a:pt x="3848" y="48"/>
                  </a:moveTo>
                  <a:cubicBezTo>
                    <a:pt x="3848" y="74"/>
                    <a:pt x="3826" y="96"/>
                    <a:pt x="3800" y="96"/>
                  </a:cubicBezTo>
                  <a:cubicBezTo>
                    <a:pt x="3773" y="96"/>
                    <a:pt x="3752" y="74"/>
                    <a:pt x="3752" y="48"/>
                  </a:cubicBezTo>
                  <a:cubicBezTo>
                    <a:pt x="3752" y="21"/>
                    <a:pt x="3773" y="0"/>
                    <a:pt x="3800" y="0"/>
                  </a:cubicBezTo>
                  <a:cubicBezTo>
                    <a:pt x="3826" y="0"/>
                    <a:pt x="3848" y="21"/>
                    <a:pt x="3848" y="48"/>
                  </a:cubicBezTo>
                  <a:close/>
                  <a:moveTo>
                    <a:pt x="3949" y="48"/>
                  </a:moveTo>
                  <a:cubicBezTo>
                    <a:pt x="3949" y="74"/>
                    <a:pt x="3927" y="96"/>
                    <a:pt x="3901" y="96"/>
                  </a:cubicBezTo>
                  <a:cubicBezTo>
                    <a:pt x="3874" y="96"/>
                    <a:pt x="3853" y="74"/>
                    <a:pt x="3853" y="48"/>
                  </a:cubicBezTo>
                  <a:cubicBezTo>
                    <a:pt x="3853" y="21"/>
                    <a:pt x="3874" y="0"/>
                    <a:pt x="3901" y="0"/>
                  </a:cubicBezTo>
                  <a:cubicBezTo>
                    <a:pt x="3927" y="0"/>
                    <a:pt x="3949" y="21"/>
                    <a:pt x="3949" y="48"/>
                  </a:cubicBezTo>
                  <a:close/>
                  <a:moveTo>
                    <a:pt x="4050" y="48"/>
                  </a:moveTo>
                  <a:cubicBezTo>
                    <a:pt x="4050" y="74"/>
                    <a:pt x="4028" y="96"/>
                    <a:pt x="4002" y="96"/>
                  </a:cubicBezTo>
                  <a:cubicBezTo>
                    <a:pt x="3975" y="96"/>
                    <a:pt x="3954" y="74"/>
                    <a:pt x="3954" y="48"/>
                  </a:cubicBezTo>
                  <a:cubicBezTo>
                    <a:pt x="3954" y="21"/>
                    <a:pt x="3975" y="0"/>
                    <a:pt x="4002" y="0"/>
                  </a:cubicBezTo>
                  <a:cubicBezTo>
                    <a:pt x="4028" y="0"/>
                    <a:pt x="4050" y="21"/>
                    <a:pt x="4050" y="48"/>
                  </a:cubicBezTo>
                  <a:close/>
                  <a:moveTo>
                    <a:pt x="4152" y="48"/>
                  </a:moveTo>
                  <a:cubicBezTo>
                    <a:pt x="4152" y="74"/>
                    <a:pt x="4130" y="96"/>
                    <a:pt x="4104" y="96"/>
                  </a:cubicBezTo>
                  <a:cubicBezTo>
                    <a:pt x="4077" y="96"/>
                    <a:pt x="4056" y="74"/>
                    <a:pt x="4056" y="48"/>
                  </a:cubicBezTo>
                  <a:cubicBezTo>
                    <a:pt x="4056" y="21"/>
                    <a:pt x="4077" y="0"/>
                    <a:pt x="4104" y="0"/>
                  </a:cubicBezTo>
                  <a:cubicBezTo>
                    <a:pt x="4130" y="0"/>
                    <a:pt x="4152" y="21"/>
                    <a:pt x="4152" y="48"/>
                  </a:cubicBezTo>
                  <a:close/>
                  <a:moveTo>
                    <a:pt x="4253" y="48"/>
                  </a:moveTo>
                  <a:cubicBezTo>
                    <a:pt x="4253" y="74"/>
                    <a:pt x="4231" y="96"/>
                    <a:pt x="4205" y="96"/>
                  </a:cubicBezTo>
                  <a:cubicBezTo>
                    <a:pt x="4178" y="96"/>
                    <a:pt x="4157" y="74"/>
                    <a:pt x="4157" y="48"/>
                  </a:cubicBezTo>
                  <a:cubicBezTo>
                    <a:pt x="4157" y="21"/>
                    <a:pt x="4178" y="0"/>
                    <a:pt x="4205" y="0"/>
                  </a:cubicBezTo>
                  <a:cubicBezTo>
                    <a:pt x="4231" y="0"/>
                    <a:pt x="4253" y="21"/>
                    <a:pt x="4253" y="48"/>
                  </a:cubicBezTo>
                  <a:close/>
                  <a:moveTo>
                    <a:pt x="4354" y="48"/>
                  </a:moveTo>
                  <a:cubicBezTo>
                    <a:pt x="4354" y="74"/>
                    <a:pt x="4332" y="96"/>
                    <a:pt x="4306" y="96"/>
                  </a:cubicBezTo>
                  <a:cubicBezTo>
                    <a:pt x="4279" y="96"/>
                    <a:pt x="4258" y="74"/>
                    <a:pt x="4258" y="48"/>
                  </a:cubicBezTo>
                  <a:cubicBezTo>
                    <a:pt x="4258" y="21"/>
                    <a:pt x="4279" y="0"/>
                    <a:pt x="4306" y="0"/>
                  </a:cubicBezTo>
                  <a:cubicBezTo>
                    <a:pt x="4332" y="0"/>
                    <a:pt x="4354" y="21"/>
                    <a:pt x="4354" y="48"/>
                  </a:cubicBezTo>
                  <a:close/>
                  <a:moveTo>
                    <a:pt x="4456" y="48"/>
                  </a:moveTo>
                  <a:cubicBezTo>
                    <a:pt x="4456" y="74"/>
                    <a:pt x="4434" y="96"/>
                    <a:pt x="4408" y="96"/>
                  </a:cubicBezTo>
                  <a:cubicBezTo>
                    <a:pt x="4381" y="96"/>
                    <a:pt x="4360" y="74"/>
                    <a:pt x="4360" y="48"/>
                  </a:cubicBezTo>
                  <a:cubicBezTo>
                    <a:pt x="4360" y="21"/>
                    <a:pt x="4381" y="0"/>
                    <a:pt x="4408" y="0"/>
                  </a:cubicBezTo>
                  <a:cubicBezTo>
                    <a:pt x="4434" y="0"/>
                    <a:pt x="4456" y="21"/>
                    <a:pt x="4456" y="48"/>
                  </a:cubicBezTo>
                  <a:close/>
                  <a:moveTo>
                    <a:pt x="4557" y="48"/>
                  </a:moveTo>
                  <a:cubicBezTo>
                    <a:pt x="4557" y="74"/>
                    <a:pt x="4535" y="96"/>
                    <a:pt x="4509" y="96"/>
                  </a:cubicBezTo>
                  <a:cubicBezTo>
                    <a:pt x="4482" y="96"/>
                    <a:pt x="4461" y="74"/>
                    <a:pt x="4461" y="48"/>
                  </a:cubicBezTo>
                  <a:cubicBezTo>
                    <a:pt x="4461" y="21"/>
                    <a:pt x="4482" y="0"/>
                    <a:pt x="4509" y="0"/>
                  </a:cubicBezTo>
                  <a:cubicBezTo>
                    <a:pt x="4535" y="0"/>
                    <a:pt x="4557" y="21"/>
                    <a:pt x="4557" y="48"/>
                  </a:cubicBezTo>
                  <a:close/>
                  <a:moveTo>
                    <a:pt x="4658" y="48"/>
                  </a:moveTo>
                  <a:cubicBezTo>
                    <a:pt x="4658" y="74"/>
                    <a:pt x="4636" y="96"/>
                    <a:pt x="4610" y="96"/>
                  </a:cubicBezTo>
                  <a:cubicBezTo>
                    <a:pt x="4583" y="96"/>
                    <a:pt x="4562" y="74"/>
                    <a:pt x="4562" y="48"/>
                  </a:cubicBezTo>
                  <a:cubicBezTo>
                    <a:pt x="4562" y="21"/>
                    <a:pt x="4583" y="0"/>
                    <a:pt x="4610" y="0"/>
                  </a:cubicBezTo>
                  <a:cubicBezTo>
                    <a:pt x="4636" y="0"/>
                    <a:pt x="4658" y="21"/>
                    <a:pt x="4658" y="48"/>
                  </a:cubicBezTo>
                  <a:close/>
                  <a:moveTo>
                    <a:pt x="4760" y="48"/>
                  </a:moveTo>
                  <a:cubicBezTo>
                    <a:pt x="4760" y="74"/>
                    <a:pt x="4738" y="96"/>
                    <a:pt x="4712" y="96"/>
                  </a:cubicBezTo>
                  <a:cubicBezTo>
                    <a:pt x="4685" y="96"/>
                    <a:pt x="4664" y="74"/>
                    <a:pt x="4664" y="48"/>
                  </a:cubicBezTo>
                  <a:cubicBezTo>
                    <a:pt x="4664" y="21"/>
                    <a:pt x="4685" y="0"/>
                    <a:pt x="4712" y="0"/>
                  </a:cubicBezTo>
                  <a:cubicBezTo>
                    <a:pt x="4738" y="0"/>
                    <a:pt x="4760" y="21"/>
                    <a:pt x="4760" y="48"/>
                  </a:cubicBezTo>
                  <a:close/>
                  <a:moveTo>
                    <a:pt x="4861" y="48"/>
                  </a:moveTo>
                  <a:cubicBezTo>
                    <a:pt x="4861" y="74"/>
                    <a:pt x="4839" y="96"/>
                    <a:pt x="4813" y="96"/>
                  </a:cubicBezTo>
                  <a:cubicBezTo>
                    <a:pt x="4786" y="96"/>
                    <a:pt x="4765" y="74"/>
                    <a:pt x="4765" y="48"/>
                  </a:cubicBezTo>
                  <a:cubicBezTo>
                    <a:pt x="4765" y="21"/>
                    <a:pt x="4786" y="0"/>
                    <a:pt x="4813" y="0"/>
                  </a:cubicBezTo>
                  <a:cubicBezTo>
                    <a:pt x="4839" y="0"/>
                    <a:pt x="4861" y="21"/>
                    <a:pt x="4861" y="48"/>
                  </a:cubicBezTo>
                  <a:close/>
                  <a:moveTo>
                    <a:pt x="4962" y="48"/>
                  </a:moveTo>
                  <a:cubicBezTo>
                    <a:pt x="4962" y="74"/>
                    <a:pt x="4940" y="96"/>
                    <a:pt x="4914" y="96"/>
                  </a:cubicBezTo>
                  <a:cubicBezTo>
                    <a:pt x="4887" y="96"/>
                    <a:pt x="4866" y="74"/>
                    <a:pt x="4866" y="48"/>
                  </a:cubicBezTo>
                  <a:cubicBezTo>
                    <a:pt x="4866" y="21"/>
                    <a:pt x="4887" y="0"/>
                    <a:pt x="4914" y="0"/>
                  </a:cubicBezTo>
                  <a:cubicBezTo>
                    <a:pt x="4940" y="0"/>
                    <a:pt x="4962" y="21"/>
                    <a:pt x="4962" y="48"/>
                  </a:cubicBezTo>
                  <a:close/>
                  <a:moveTo>
                    <a:pt x="5064" y="48"/>
                  </a:moveTo>
                  <a:cubicBezTo>
                    <a:pt x="5064" y="74"/>
                    <a:pt x="5042" y="96"/>
                    <a:pt x="5016" y="96"/>
                  </a:cubicBezTo>
                  <a:cubicBezTo>
                    <a:pt x="4989" y="96"/>
                    <a:pt x="4968" y="74"/>
                    <a:pt x="4968" y="48"/>
                  </a:cubicBezTo>
                  <a:cubicBezTo>
                    <a:pt x="4968" y="21"/>
                    <a:pt x="4989" y="0"/>
                    <a:pt x="5016" y="0"/>
                  </a:cubicBezTo>
                  <a:cubicBezTo>
                    <a:pt x="5042" y="0"/>
                    <a:pt x="5064" y="21"/>
                    <a:pt x="5064" y="48"/>
                  </a:cubicBezTo>
                  <a:close/>
                  <a:moveTo>
                    <a:pt x="5165" y="48"/>
                  </a:moveTo>
                  <a:cubicBezTo>
                    <a:pt x="5165" y="74"/>
                    <a:pt x="5143" y="96"/>
                    <a:pt x="5117" y="96"/>
                  </a:cubicBezTo>
                  <a:cubicBezTo>
                    <a:pt x="5090" y="96"/>
                    <a:pt x="5069" y="74"/>
                    <a:pt x="5069" y="48"/>
                  </a:cubicBezTo>
                  <a:cubicBezTo>
                    <a:pt x="5069" y="21"/>
                    <a:pt x="5090" y="0"/>
                    <a:pt x="5117" y="0"/>
                  </a:cubicBezTo>
                  <a:cubicBezTo>
                    <a:pt x="5143" y="0"/>
                    <a:pt x="5165" y="21"/>
                    <a:pt x="5165" y="48"/>
                  </a:cubicBezTo>
                  <a:close/>
                  <a:moveTo>
                    <a:pt x="5266" y="48"/>
                  </a:moveTo>
                  <a:cubicBezTo>
                    <a:pt x="5266" y="74"/>
                    <a:pt x="5244" y="96"/>
                    <a:pt x="5218" y="96"/>
                  </a:cubicBezTo>
                  <a:cubicBezTo>
                    <a:pt x="5191" y="96"/>
                    <a:pt x="5170" y="74"/>
                    <a:pt x="5170" y="48"/>
                  </a:cubicBezTo>
                  <a:cubicBezTo>
                    <a:pt x="5170" y="21"/>
                    <a:pt x="5191" y="0"/>
                    <a:pt x="5218" y="0"/>
                  </a:cubicBezTo>
                  <a:cubicBezTo>
                    <a:pt x="5244" y="0"/>
                    <a:pt x="5266" y="21"/>
                    <a:pt x="5266" y="48"/>
                  </a:cubicBezTo>
                  <a:close/>
                  <a:moveTo>
                    <a:pt x="5368" y="48"/>
                  </a:moveTo>
                  <a:cubicBezTo>
                    <a:pt x="5368" y="74"/>
                    <a:pt x="5346" y="96"/>
                    <a:pt x="5320" y="96"/>
                  </a:cubicBezTo>
                  <a:cubicBezTo>
                    <a:pt x="5293" y="96"/>
                    <a:pt x="5272" y="74"/>
                    <a:pt x="5272" y="48"/>
                  </a:cubicBezTo>
                  <a:cubicBezTo>
                    <a:pt x="5272" y="21"/>
                    <a:pt x="5293" y="0"/>
                    <a:pt x="5320" y="0"/>
                  </a:cubicBezTo>
                  <a:cubicBezTo>
                    <a:pt x="5346" y="0"/>
                    <a:pt x="5368" y="21"/>
                    <a:pt x="5368" y="48"/>
                  </a:cubicBezTo>
                  <a:close/>
                  <a:moveTo>
                    <a:pt x="5469" y="48"/>
                  </a:moveTo>
                  <a:cubicBezTo>
                    <a:pt x="5469" y="74"/>
                    <a:pt x="5447" y="96"/>
                    <a:pt x="5421" y="96"/>
                  </a:cubicBezTo>
                  <a:cubicBezTo>
                    <a:pt x="5394" y="96"/>
                    <a:pt x="5373" y="74"/>
                    <a:pt x="5373" y="48"/>
                  </a:cubicBezTo>
                  <a:cubicBezTo>
                    <a:pt x="5373" y="21"/>
                    <a:pt x="5394" y="0"/>
                    <a:pt x="5421" y="0"/>
                  </a:cubicBezTo>
                  <a:cubicBezTo>
                    <a:pt x="5447" y="0"/>
                    <a:pt x="5469" y="21"/>
                    <a:pt x="5469" y="48"/>
                  </a:cubicBezTo>
                  <a:close/>
                  <a:moveTo>
                    <a:pt x="5570" y="48"/>
                  </a:moveTo>
                  <a:cubicBezTo>
                    <a:pt x="5570" y="74"/>
                    <a:pt x="5548" y="96"/>
                    <a:pt x="5522" y="96"/>
                  </a:cubicBezTo>
                  <a:cubicBezTo>
                    <a:pt x="5495" y="96"/>
                    <a:pt x="5474" y="74"/>
                    <a:pt x="5474" y="48"/>
                  </a:cubicBezTo>
                  <a:cubicBezTo>
                    <a:pt x="5474" y="21"/>
                    <a:pt x="5495" y="0"/>
                    <a:pt x="5522" y="0"/>
                  </a:cubicBezTo>
                  <a:cubicBezTo>
                    <a:pt x="5548" y="0"/>
                    <a:pt x="5570" y="21"/>
                    <a:pt x="5570" y="48"/>
                  </a:cubicBezTo>
                  <a:close/>
                  <a:moveTo>
                    <a:pt x="5672" y="48"/>
                  </a:moveTo>
                  <a:cubicBezTo>
                    <a:pt x="5672" y="74"/>
                    <a:pt x="5650" y="96"/>
                    <a:pt x="5624" y="96"/>
                  </a:cubicBezTo>
                  <a:cubicBezTo>
                    <a:pt x="5597" y="96"/>
                    <a:pt x="5576" y="74"/>
                    <a:pt x="5576" y="48"/>
                  </a:cubicBezTo>
                  <a:cubicBezTo>
                    <a:pt x="5576" y="21"/>
                    <a:pt x="5597" y="0"/>
                    <a:pt x="5624" y="0"/>
                  </a:cubicBezTo>
                  <a:cubicBezTo>
                    <a:pt x="5650" y="0"/>
                    <a:pt x="5672" y="21"/>
                    <a:pt x="5672" y="48"/>
                  </a:cubicBezTo>
                  <a:close/>
                  <a:moveTo>
                    <a:pt x="5773" y="48"/>
                  </a:moveTo>
                  <a:cubicBezTo>
                    <a:pt x="5773" y="74"/>
                    <a:pt x="5751" y="96"/>
                    <a:pt x="5725" y="96"/>
                  </a:cubicBezTo>
                  <a:cubicBezTo>
                    <a:pt x="5698" y="96"/>
                    <a:pt x="5677" y="74"/>
                    <a:pt x="5677" y="48"/>
                  </a:cubicBezTo>
                  <a:cubicBezTo>
                    <a:pt x="5677" y="21"/>
                    <a:pt x="5698" y="0"/>
                    <a:pt x="5725" y="0"/>
                  </a:cubicBezTo>
                  <a:cubicBezTo>
                    <a:pt x="5751" y="0"/>
                    <a:pt x="5773" y="21"/>
                    <a:pt x="5773" y="48"/>
                  </a:cubicBezTo>
                  <a:close/>
                  <a:moveTo>
                    <a:pt x="5874" y="48"/>
                  </a:moveTo>
                  <a:cubicBezTo>
                    <a:pt x="5874" y="74"/>
                    <a:pt x="5852" y="96"/>
                    <a:pt x="5826" y="96"/>
                  </a:cubicBezTo>
                  <a:cubicBezTo>
                    <a:pt x="5799" y="96"/>
                    <a:pt x="5778" y="74"/>
                    <a:pt x="5778" y="48"/>
                  </a:cubicBezTo>
                  <a:cubicBezTo>
                    <a:pt x="5778" y="21"/>
                    <a:pt x="5799" y="0"/>
                    <a:pt x="5826" y="0"/>
                  </a:cubicBezTo>
                  <a:cubicBezTo>
                    <a:pt x="5852" y="0"/>
                    <a:pt x="5874" y="21"/>
                    <a:pt x="5874" y="48"/>
                  </a:cubicBezTo>
                  <a:close/>
                  <a:moveTo>
                    <a:pt x="5976" y="48"/>
                  </a:moveTo>
                  <a:cubicBezTo>
                    <a:pt x="5976" y="74"/>
                    <a:pt x="5954" y="96"/>
                    <a:pt x="5928" y="96"/>
                  </a:cubicBezTo>
                  <a:cubicBezTo>
                    <a:pt x="5901" y="96"/>
                    <a:pt x="5880" y="74"/>
                    <a:pt x="5880" y="48"/>
                  </a:cubicBezTo>
                  <a:cubicBezTo>
                    <a:pt x="5880" y="21"/>
                    <a:pt x="5901" y="0"/>
                    <a:pt x="5928" y="0"/>
                  </a:cubicBezTo>
                  <a:cubicBezTo>
                    <a:pt x="5954" y="0"/>
                    <a:pt x="5976" y="21"/>
                    <a:pt x="5976" y="48"/>
                  </a:cubicBezTo>
                  <a:close/>
                  <a:moveTo>
                    <a:pt x="6077" y="48"/>
                  </a:moveTo>
                  <a:cubicBezTo>
                    <a:pt x="6077" y="74"/>
                    <a:pt x="6055" y="96"/>
                    <a:pt x="6029" y="96"/>
                  </a:cubicBezTo>
                  <a:cubicBezTo>
                    <a:pt x="6002" y="96"/>
                    <a:pt x="5981" y="74"/>
                    <a:pt x="5981" y="48"/>
                  </a:cubicBezTo>
                  <a:cubicBezTo>
                    <a:pt x="5981" y="21"/>
                    <a:pt x="6002" y="0"/>
                    <a:pt x="6029" y="0"/>
                  </a:cubicBezTo>
                  <a:cubicBezTo>
                    <a:pt x="6055" y="0"/>
                    <a:pt x="6077" y="21"/>
                    <a:pt x="6077" y="48"/>
                  </a:cubicBezTo>
                  <a:close/>
                  <a:moveTo>
                    <a:pt x="6178" y="48"/>
                  </a:moveTo>
                  <a:cubicBezTo>
                    <a:pt x="6178" y="74"/>
                    <a:pt x="6156" y="96"/>
                    <a:pt x="6130" y="96"/>
                  </a:cubicBezTo>
                  <a:cubicBezTo>
                    <a:pt x="6103" y="96"/>
                    <a:pt x="6082" y="74"/>
                    <a:pt x="6082" y="48"/>
                  </a:cubicBezTo>
                  <a:cubicBezTo>
                    <a:pt x="6082" y="21"/>
                    <a:pt x="6103" y="0"/>
                    <a:pt x="6130" y="0"/>
                  </a:cubicBezTo>
                  <a:cubicBezTo>
                    <a:pt x="6156" y="0"/>
                    <a:pt x="6178" y="21"/>
                    <a:pt x="6178" y="48"/>
                  </a:cubicBezTo>
                  <a:close/>
                  <a:moveTo>
                    <a:pt x="6280" y="48"/>
                  </a:moveTo>
                  <a:cubicBezTo>
                    <a:pt x="6280" y="74"/>
                    <a:pt x="6258" y="96"/>
                    <a:pt x="6232" y="96"/>
                  </a:cubicBezTo>
                  <a:cubicBezTo>
                    <a:pt x="6205" y="96"/>
                    <a:pt x="6184" y="74"/>
                    <a:pt x="6184" y="48"/>
                  </a:cubicBezTo>
                  <a:cubicBezTo>
                    <a:pt x="6184" y="21"/>
                    <a:pt x="6205" y="0"/>
                    <a:pt x="6232" y="0"/>
                  </a:cubicBezTo>
                  <a:cubicBezTo>
                    <a:pt x="6258" y="0"/>
                    <a:pt x="6280" y="21"/>
                    <a:pt x="6280" y="48"/>
                  </a:cubicBezTo>
                  <a:close/>
                  <a:moveTo>
                    <a:pt x="6381" y="48"/>
                  </a:moveTo>
                  <a:cubicBezTo>
                    <a:pt x="6381" y="74"/>
                    <a:pt x="6359" y="96"/>
                    <a:pt x="6333" y="96"/>
                  </a:cubicBezTo>
                  <a:cubicBezTo>
                    <a:pt x="6306" y="96"/>
                    <a:pt x="6285" y="74"/>
                    <a:pt x="6285" y="48"/>
                  </a:cubicBezTo>
                  <a:cubicBezTo>
                    <a:pt x="6285" y="21"/>
                    <a:pt x="6306" y="0"/>
                    <a:pt x="6333" y="0"/>
                  </a:cubicBezTo>
                  <a:cubicBezTo>
                    <a:pt x="6359" y="0"/>
                    <a:pt x="6381" y="21"/>
                    <a:pt x="6381" y="48"/>
                  </a:cubicBezTo>
                  <a:close/>
                  <a:moveTo>
                    <a:pt x="6482" y="48"/>
                  </a:moveTo>
                  <a:cubicBezTo>
                    <a:pt x="6482" y="74"/>
                    <a:pt x="6460" y="96"/>
                    <a:pt x="6434" y="96"/>
                  </a:cubicBezTo>
                  <a:cubicBezTo>
                    <a:pt x="6407" y="96"/>
                    <a:pt x="6386" y="74"/>
                    <a:pt x="6386" y="48"/>
                  </a:cubicBezTo>
                  <a:cubicBezTo>
                    <a:pt x="6386" y="21"/>
                    <a:pt x="6407" y="0"/>
                    <a:pt x="6434" y="0"/>
                  </a:cubicBezTo>
                  <a:cubicBezTo>
                    <a:pt x="6460" y="0"/>
                    <a:pt x="6482" y="21"/>
                    <a:pt x="6482" y="48"/>
                  </a:cubicBezTo>
                  <a:close/>
                  <a:moveTo>
                    <a:pt x="6584" y="48"/>
                  </a:moveTo>
                  <a:cubicBezTo>
                    <a:pt x="6584" y="74"/>
                    <a:pt x="6562" y="96"/>
                    <a:pt x="6536" y="96"/>
                  </a:cubicBezTo>
                  <a:cubicBezTo>
                    <a:pt x="6509" y="96"/>
                    <a:pt x="6488" y="74"/>
                    <a:pt x="6488" y="48"/>
                  </a:cubicBezTo>
                  <a:cubicBezTo>
                    <a:pt x="6488" y="21"/>
                    <a:pt x="6509" y="0"/>
                    <a:pt x="6536" y="0"/>
                  </a:cubicBezTo>
                  <a:cubicBezTo>
                    <a:pt x="6562" y="0"/>
                    <a:pt x="6584" y="21"/>
                    <a:pt x="6584" y="48"/>
                  </a:cubicBezTo>
                  <a:close/>
                  <a:moveTo>
                    <a:pt x="6685" y="48"/>
                  </a:moveTo>
                  <a:cubicBezTo>
                    <a:pt x="6685" y="74"/>
                    <a:pt x="6663" y="96"/>
                    <a:pt x="6637" y="96"/>
                  </a:cubicBezTo>
                  <a:cubicBezTo>
                    <a:pt x="6610" y="96"/>
                    <a:pt x="6589" y="74"/>
                    <a:pt x="6589" y="48"/>
                  </a:cubicBezTo>
                  <a:cubicBezTo>
                    <a:pt x="6589" y="21"/>
                    <a:pt x="6610" y="0"/>
                    <a:pt x="6637" y="0"/>
                  </a:cubicBezTo>
                  <a:cubicBezTo>
                    <a:pt x="6663" y="0"/>
                    <a:pt x="6685" y="21"/>
                    <a:pt x="6685" y="48"/>
                  </a:cubicBezTo>
                  <a:close/>
                  <a:moveTo>
                    <a:pt x="6786" y="48"/>
                  </a:moveTo>
                  <a:cubicBezTo>
                    <a:pt x="6786" y="74"/>
                    <a:pt x="6764" y="96"/>
                    <a:pt x="6738" y="96"/>
                  </a:cubicBezTo>
                  <a:cubicBezTo>
                    <a:pt x="6711" y="96"/>
                    <a:pt x="6690" y="74"/>
                    <a:pt x="6690" y="48"/>
                  </a:cubicBezTo>
                  <a:cubicBezTo>
                    <a:pt x="6690" y="21"/>
                    <a:pt x="6711" y="0"/>
                    <a:pt x="6738" y="0"/>
                  </a:cubicBezTo>
                  <a:cubicBezTo>
                    <a:pt x="6764" y="0"/>
                    <a:pt x="6786" y="21"/>
                    <a:pt x="6786" y="48"/>
                  </a:cubicBezTo>
                  <a:close/>
                  <a:moveTo>
                    <a:pt x="6888" y="48"/>
                  </a:moveTo>
                  <a:cubicBezTo>
                    <a:pt x="6888" y="74"/>
                    <a:pt x="6866" y="96"/>
                    <a:pt x="6840" y="96"/>
                  </a:cubicBezTo>
                  <a:cubicBezTo>
                    <a:pt x="6813" y="96"/>
                    <a:pt x="6792" y="74"/>
                    <a:pt x="6792" y="48"/>
                  </a:cubicBezTo>
                  <a:cubicBezTo>
                    <a:pt x="6792" y="21"/>
                    <a:pt x="6813" y="0"/>
                    <a:pt x="6840" y="0"/>
                  </a:cubicBezTo>
                  <a:cubicBezTo>
                    <a:pt x="6866" y="0"/>
                    <a:pt x="6888" y="21"/>
                    <a:pt x="6888" y="48"/>
                  </a:cubicBezTo>
                  <a:close/>
                  <a:moveTo>
                    <a:pt x="6989" y="48"/>
                  </a:moveTo>
                  <a:cubicBezTo>
                    <a:pt x="6989" y="74"/>
                    <a:pt x="6967" y="96"/>
                    <a:pt x="6941" y="96"/>
                  </a:cubicBezTo>
                  <a:cubicBezTo>
                    <a:pt x="6914" y="96"/>
                    <a:pt x="6893" y="74"/>
                    <a:pt x="6893" y="48"/>
                  </a:cubicBezTo>
                  <a:cubicBezTo>
                    <a:pt x="6893" y="21"/>
                    <a:pt x="6914" y="0"/>
                    <a:pt x="6941" y="0"/>
                  </a:cubicBezTo>
                  <a:cubicBezTo>
                    <a:pt x="6967" y="0"/>
                    <a:pt x="6989" y="21"/>
                    <a:pt x="6989" y="48"/>
                  </a:cubicBezTo>
                  <a:close/>
                  <a:moveTo>
                    <a:pt x="7090" y="48"/>
                  </a:moveTo>
                  <a:cubicBezTo>
                    <a:pt x="7090" y="74"/>
                    <a:pt x="7068" y="96"/>
                    <a:pt x="7042" y="96"/>
                  </a:cubicBezTo>
                  <a:cubicBezTo>
                    <a:pt x="7015" y="96"/>
                    <a:pt x="6994" y="74"/>
                    <a:pt x="6994" y="48"/>
                  </a:cubicBezTo>
                  <a:cubicBezTo>
                    <a:pt x="6994" y="21"/>
                    <a:pt x="7015" y="0"/>
                    <a:pt x="7042" y="0"/>
                  </a:cubicBezTo>
                  <a:cubicBezTo>
                    <a:pt x="7068" y="0"/>
                    <a:pt x="7090" y="21"/>
                    <a:pt x="7090" y="48"/>
                  </a:cubicBezTo>
                  <a:close/>
                  <a:moveTo>
                    <a:pt x="7192" y="48"/>
                  </a:moveTo>
                  <a:cubicBezTo>
                    <a:pt x="7192" y="74"/>
                    <a:pt x="7170" y="96"/>
                    <a:pt x="7144" y="96"/>
                  </a:cubicBezTo>
                  <a:cubicBezTo>
                    <a:pt x="7117" y="96"/>
                    <a:pt x="7096" y="74"/>
                    <a:pt x="7096" y="48"/>
                  </a:cubicBezTo>
                  <a:cubicBezTo>
                    <a:pt x="7096" y="21"/>
                    <a:pt x="7117" y="0"/>
                    <a:pt x="7144" y="0"/>
                  </a:cubicBezTo>
                  <a:cubicBezTo>
                    <a:pt x="7170" y="0"/>
                    <a:pt x="7192" y="21"/>
                    <a:pt x="7192" y="48"/>
                  </a:cubicBezTo>
                  <a:close/>
                  <a:moveTo>
                    <a:pt x="7293" y="48"/>
                  </a:moveTo>
                  <a:cubicBezTo>
                    <a:pt x="7293" y="74"/>
                    <a:pt x="7271" y="96"/>
                    <a:pt x="7245" y="96"/>
                  </a:cubicBezTo>
                  <a:cubicBezTo>
                    <a:pt x="7218" y="96"/>
                    <a:pt x="7197" y="74"/>
                    <a:pt x="7197" y="48"/>
                  </a:cubicBezTo>
                  <a:cubicBezTo>
                    <a:pt x="7197" y="21"/>
                    <a:pt x="7218" y="0"/>
                    <a:pt x="7245" y="0"/>
                  </a:cubicBezTo>
                  <a:cubicBezTo>
                    <a:pt x="7271" y="0"/>
                    <a:pt x="7293" y="21"/>
                    <a:pt x="7293" y="48"/>
                  </a:cubicBezTo>
                  <a:close/>
                  <a:moveTo>
                    <a:pt x="7394" y="48"/>
                  </a:moveTo>
                  <a:cubicBezTo>
                    <a:pt x="7394" y="74"/>
                    <a:pt x="7372" y="96"/>
                    <a:pt x="7346" y="96"/>
                  </a:cubicBezTo>
                  <a:cubicBezTo>
                    <a:pt x="7319" y="96"/>
                    <a:pt x="7298" y="74"/>
                    <a:pt x="7298" y="48"/>
                  </a:cubicBezTo>
                  <a:cubicBezTo>
                    <a:pt x="7298" y="21"/>
                    <a:pt x="7319" y="0"/>
                    <a:pt x="7346" y="0"/>
                  </a:cubicBezTo>
                  <a:cubicBezTo>
                    <a:pt x="7372" y="0"/>
                    <a:pt x="7394" y="21"/>
                    <a:pt x="7394" y="48"/>
                  </a:cubicBezTo>
                  <a:close/>
                  <a:moveTo>
                    <a:pt x="7496" y="48"/>
                  </a:moveTo>
                  <a:cubicBezTo>
                    <a:pt x="7496" y="74"/>
                    <a:pt x="7474" y="96"/>
                    <a:pt x="7448" y="96"/>
                  </a:cubicBezTo>
                  <a:cubicBezTo>
                    <a:pt x="7421" y="96"/>
                    <a:pt x="7400" y="74"/>
                    <a:pt x="7400" y="48"/>
                  </a:cubicBezTo>
                  <a:cubicBezTo>
                    <a:pt x="7400" y="21"/>
                    <a:pt x="7421" y="0"/>
                    <a:pt x="7448" y="0"/>
                  </a:cubicBezTo>
                  <a:cubicBezTo>
                    <a:pt x="7474" y="0"/>
                    <a:pt x="7496" y="21"/>
                    <a:pt x="7496" y="48"/>
                  </a:cubicBezTo>
                  <a:close/>
                  <a:moveTo>
                    <a:pt x="7597" y="48"/>
                  </a:moveTo>
                  <a:cubicBezTo>
                    <a:pt x="7597" y="74"/>
                    <a:pt x="7575" y="96"/>
                    <a:pt x="7549" y="96"/>
                  </a:cubicBezTo>
                  <a:cubicBezTo>
                    <a:pt x="7522" y="96"/>
                    <a:pt x="7501" y="74"/>
                    <a:pt x="7501" y="48"/>
                  </a:cubicBezTo>
                  <a:cubicBezTo>
                    <a:pt x="7501" y="21"/>
                    <a:pt x="7522" y="0"/>
                    <a:pt x="7549" y="0"/>
                  </a:cubicBezTo>
                  <a:cubicBezTo>
                    <a:pt x="7575" y="0"/>
                    <a:pt x="7597" y="21"/>
                    <a:pt x="7597" y="48"/>
                  </a:cubicBezTo>
                  <a:close/>
                  <a:moveTo>
                    <a:pt x="98" y="552"/>
                  </a:moveTo>
                  <a:cubicBezTo>
                    <a:pt x="98" y="578"/>
                    <a:pt x="76" y="600"/>
                    <a:pt x="50" y="600"/>
                  </a:cubicBezTo>
                  <a:cubicBezTo>
                    <a:pt x="23" y="600"/>
                    <a:pt x="2" y="578"/>
                    <a:pt x="2" y="552"/>
                  </a:cubicBezTo>
                  <a:cubicBezTo>
                    <a:pt x="2" y="525"/>
                    <a:pt x="23" y="504"/>
                    <a:pt x="50" y="504"/>
                  </a:cubicBezTo>
                  <a:cubicBezTo>
                    <a:pt x="76" y="504"/>
                    <a:pt x="98" y="525"/>
                    <a:pt x="98" y="552"/>
                  </a:cubicBezTo>
                  <a:close/>
                  <a:moveTo>
                    <a:pt x="200" y="552"/>
                  </a:moveTo>
                  <a:cubicBezTo>
                    <a:pt x="200" y="578"/>
                    <a:pt x="178" y="600"/>
                    <a:pt x="152" y="600"/>
                  </a:cubicBezTo>
                  <a:cubicBezTo>
                    <a:pt x="125" y="600"/>
                    <a:pt x="104" y="578"/>
                    <a:pt x="104" y="552"/>
                  </a:cubicBezTo>
                  <a:cubicBezTo>
                    <a:pt x="104" y="525"/>
                    <a:pt x="125" y="504"/>
                    <a:pt x="152" y="504"/>
                  </a:cubicBezTo>
                  <a:cubicBezTo>
                    <a:pt x="178" y="504"/>
                    <a:pt x="200" y="525"/>
                    <a:pt x="200" y="552"/>
                  </a:cubicBezTo>
                  <a:close/>
                  <a:moveTo>
                    <a:pt x="301" y="552"/>
                  </a:moveTo>
                  <a:cubicBezTo>
                    <a:pt x="301" y="578"/>
                    <a:pt x="279" y="600"/>
                    <a:pt x="253" y="600"/>
                  </a:cubicBezTo>
                  <a:cubicBezTo>
                    <a:pt x="226" y="600"/>
                    <a:pt x="205" y="578"/>
                    <a:pt x="205" y="552"/>
                  </a:cubicBezTo>
                  <a:cubicBezTo>
                    <a:pt x="205" y="525"/>
                    <a:pt x="226" y="504"/>
                    <a:pt x="253" y="504"/>
                  </a:cubicBezTo>
                  <a:cubicBezTo>
                    <a:pt x="279" y="504"/>
                    <a:pt x="301" y="525"/>
                    <a:pt x="301" y="552"/>
                  </a:cubicBezTo>
                  <a:close/>
                  <a:moveTo>
                    <a:pt x="402" y="552"/>
                  </a:moveTo>
                  <a:cubicBezTo>
                    <a:pt x="402" y="578"/>
                    <a:pt x="380" y="600"/>
                    <a:pt x="354" y="600"/>
                  </a:cubicBezTo>
                  <a:cubicBezTo>
                    <a:pt x="327" y="600"/>
                    <a:pt x="306" y="578"/>
                    <a:pt x="306" y="552"/>
                  </a:cubicBezTo>
                  <a:cubicBezTo>
                    <a:pt x="306" y="525"/>
                    <a:pt x="327" y="504"/>
                    <a:pt x="354" y="504"/>
                  </a:cubicBezTo>
                  <a:cubicBezTo>
                    <a:pt x="380" y="504"/>
                    <a:pt x="402" y="525"/>
                    <a:pt x="402" y="552"/>
                  </a:cubicBezTo>
                  <a:close/>
                  <a:moveTo>
                    <a:pt x="504" y="552"/>
                  </a:moveTo>
                  <a:cubicBezTo>
                    <a:pt x="504" y="578"/>
                    <a:pt x="482" y="600"/>
                    <a:pt x="456" y="600"/>
                  </a:cubicBezTo>
                  <a:cubicBezTo>
                    <a:pt x="429" y="600"/>
                    <a:pt x="408" y="578"/>
                    <a:pt x="408" y="552"/>
                  </a:cubicBezTo>
                  <a:cubicBezTo>
                    <a:pt x="408" y="525"/>
                    <a:pt x="429" y="504"/>
                    <a:pt x="456" y="504"/>
                  </a:cubicBezTo>
                  <a:cubicBezTo>
                    <a:pt x="482" y="504"/>
                    <a:pt x="504" y="525"/>
                    <a:pt x="504" y="552"/>
                  </a:cubicBezTo>
                  <a:close/>
                  <a:moveTo>
                    <a:pt x="605" y="552"/>
                  </a:moveTo>
                  <a:cubicBezTo>
                    <a:pt x="605" y="578"/>
                    <a:pt x="583" y="600"/>
                    <a:pt x="557" y="600"/>
                  </a:cubicBezTo>
                  <a:cubicBezTo>
                    <a:pt x="530" y="600"/>
                    <a:pt x="509" y="578"/>
                    <a:pt x="509" y="552"/>
                  </a:cubicBezTo>
                  <a:cubicBezTo>
                    <a:pt x="509" y="525"/>
                    <a:pt x="530" y="504"/>
                    <a:pt x="557" y="504"/>
                  </a:cubicBezTo>
                  <a:cubicBezTo>
                    <a:pt x="583" y="504"/>
                    <a:pt x="605" y="525"/>
                    <a:pt x="605" y="552"/>
                  </a:cubicBezTo>
                  <a:close/>
                  <a:moveTo>
                    <a:pt x="706" y="552"/>
                  </a:moveTo>
                  <a:cubicBezTo>
                    <a:pt x="706" y="578"/>
                    <a:pt x="684" y="600"/>
                    <a:pt x="658" y="600"/>
                  </a:cubicBezTo>
                  <a:cubicBezTo>
                    <a:pt x="631" y="600"/>
                    <a:pt x="610" y="578"/>
                    <a:pt x="610" y="552"/>
                  </a:cubicBezTo>
                  <a:cubicBezTo>
                    <a:pt x="610" y="525"/>
                    <a:pt x="631" y="504"/>
                    <a:pt x="658" y="504"/>
                  </a:cubicBezTo>
                  <a:cubicBezTo>
                    <a:pt x="684" y="504"/>
                    <a:pt x="706" y="525"/>
                    <a:pt x="706" y="552"/>
                  </a:cubicBezTo>
                  <a:close/>
                  <a:moveTo>
                    <a:pt x="808" y="552"/>
                  </a:moveTo>
                  <a:cubicBezTo>
                    <a:pt x="808" y="578"/>
                    <a:pt x="786" y="600"/>
                    <a:pt x="760" y="600"/>
                  </a:cubicBezTo>
                  <a:cubicBezTo>
                    <a:pt x="733" y="600"/>
                    <a:pt x="712" y="578"/>
                    <a:pt x="712" y="552"/>
                  </a:cubicBezTo>
                  <a:cubicBezTo>
                    <a:pt x="712" y="525"/>
                    <a:pt x="733" y="504"/>
                    <a:pt x="760" y="504"/>
                  </a:cubicBezTo>
                  <a:cubicBezTo>
                    <a:pt x="786" y="504"/>
                    <a:pt x="808" y="525"/>
                    <a:pt x="808" y="552"/>
                  </a:cubicBezTo>
                  <a:close/>
                  <a:moveTo>
                    <a:pt x="909" y="552"/>
                  </a:moveTo>
                  <a:cubicBezTo>
                    <a:pt x="909" y="578"/>
                    <a:pt x="887" y="600"/>
                    <a:pt x="861" y="600"/>
                  </a:cubicBezTo>
                  <a:cubicBezTo>
                    <a:pt x="834" y="600"/>
                    <a:pt x="813" y="578"/>
                    <a:pt x="813" y="552"/>
                  </a:cubicBezTo>
                  <a:cubicBezTo>
                    <a:pt x="813" y="525"/>
                    <a:pt x="834" y="504"/>
                    <a:pt x="861" y="504"/>
                  </a:cubicBezTo>
                  <a:cubicBezTo>
                    <a:pt x="887" y="504"/>
                    <a:pt x="909" y="525"/>
                    <a:pt x="909" y="552"/>
                  </a:cubicBezTo>
                  <a:close/>
                  <a:moveTo>
                    <a:pt x="1010" y="552"/>
                  </a:moveTo>
                  <a:cubicBezTo>
                    <a:pt x="1010" y="578"/>
                    <a:pt x="988" y="600"/>
                    <a:pt x="962" y="600"/>
                  </a:cubicBezTo>
                  <a:cubicBezTo>
                    <a:pt x="935" y="600"/>
                    <a:pt x="914" y="578"/>
                    <a:pt x="914" y="552"/>
                  </a:cubicBezTo>
                  <a:cubicBezTo>
                    <a:pt x="914" y="525"/>
                    <a:pt x="935" y="504"/>
                    <a:pt x="962" y="504"/>
                  </a:cubicBezTo>
                  <a:cubicBezTo>
                    <a:pt x="988" y="504"/>
                    <a:pt x="1010" y="525"/>
                    <a:pt x="1010" y="552"/>
                  </a:cubicBezTo>
                  <a:close/>
                  <a:moveTo>
                    <a:pt x="1112" y="552"/>
                  </a:moveTo>
                  <a:cubicBezTo>
                    <a:pt x="1112" y="578"/>
                    <a:pt x="1090" y="600"/>
                    <a:pt x="1064" y="600"/>
                  </a:cubicBezTo>
                  <a:cubicBezTo>
                    <a:pt x="1037" y="600"/>
                    <a:pt x="1016" y="578"/>
                    <a:pt x="1016" y="552"/>
                  </a:cubicBezTo>
                  <a:cubicBezTo>
                    <a:pt x="1016" y="525"/>
                    <a:pt x="1037" y="504"/>
                    <a:pt x="1064" y="504"/>
                  </a:cubicBezTo>
                  <a:cubicBezTo>
                    <a:pt x="1090" y="504"/>
                    <a:pt x="1112" y="525"/>
                    <a:pt x="1112" y="552"/>
                  </a:cubicBezTo>
                  <a:close/>
                  <a:moveTo>
                    <a:pt x="1213" y="552"/>
                  </a:moveTo>
                  <a:cubicBezTo>
                    <a:pt x="1213" y="578"/>
                    <a:pt x="1191" y="600"/>
                    <a:pt x="1165" y="600"/>
                  </a:cubicBezTo>
                  <a:cubicBezTo>
                    <a:pt x="1138" y="600"/>
                    <a:pt x="1117" y="578"/>
                    <a:pt x="1117" y="552"/>
                  </a:cubicBezTo>
                  <a:cubicBezTo>
                    <a:pt x="1117" y="525"/>
                    <a:pt x="1138" y="504"/>
                    <a:pt x="1165" y="504"/>
                  </a:cubicBezTo>
                  <a:cubicBezTo>
                    <a:pt x="1191" y="504"/>
                    <a:pt x="1213" y="525"/>
                    <a:pt x="1213" y="552"/>
                  </a:cubicBezTo>
                  <a:close/>
                  <a:moveTo>
                    <a:pt x="1314" y="552"/>
                  </a:moveTo>
                  <a:cubicBezTo>
                    <a:pt x="1314" y="578"/>
                    <a:pt x="1292" y="600"/>
                    <a:pt x="1266" y="600"/>
                  </a:cubicBezTo>
                  <a:cubicBezTo>
                    <a:pt x="1239" y="600"/>
                    <a:pt x="1218" y="578"/>
                    <a:pt x="1218" y="552"/>
                  </a:cubicBezTo>
                  <a:cubicBezTo>
                    <a:pt x="1218" y="525"/>
                    <a:pt x="1239" y="504"/>
                    <a:pt x="1266" y="504"/>
                  </a:cubicBezTo>
                  <a:cubicBezTo>
                    <a:pt x="1292" y="504"/>
                    <a:pt x="1314" y="525"/>
                    <a:pt x="1314" y="552"/>
                  </a:cubicBezTo>
                  <a:close/>
                  <a:moveTo>
                    <a:pt x="1416" y="552"/>
                  </a:moveTo>
                  <a:cubicBezTo>
                    <a:pt x="1416" y="578"/>
                    <a:pt x="1394" y="600"/>
                    <a:pt x="1368" y="600"/>
                  </a:cubicBezTo>
                  <a:cubicBezTo>
                    <a:pt x="1341" y="600"/>
                    <a:pt x="1320" y="578"/>
                    <a:pt x="1320" y="552"/>
                  </a:cubicBezTo>
                  <a:cubicBezTo>
                    <a:pt x="1320" y="525"/>
                    <a:pt x="1341" y="504"/>
                    <a:pt x="1368" y="504"/>
                  </a:cubicBezTo>
                  <a:cubicBezTo>
                    <a:pt x="1394" y="504"/>
                    <a:pt x="1416" y="525"/>
                    <a:pt x="1416" y="552"/>
                  </a:cubicBezTo>
                  <a:close/>
                  <a:moveTo>
                    <a:pt x="1517" y="552"/>
                  </a:moveTo>
                  <a:cubicBezTo>
                    <a:pt x="1517" y="578"/>
                    <a:pt x="1495" y="600"/>
                    <a:pt x="1469" y="600"/>
                  </a:cubicBezTo>
                  <a:cubicBezTo>
                    <a:pt x="1442" y="600"/>
                    <a:pt x="1421" y="578"/>
                    <a:pt x="1421" y="552"/>
                  </a:cubicBezTo>
                  <a:cubicBezTo>
                    <a:pt x="1421" y="525"/>
                    <a:pt x="1442" y="504"/>
                    <a:pt x="1469" y="504"/>
                  </a:cubicBezTo>
                  <a:cubicBezTo>
                    <a:pt x="1495" y="504"/>
                    <a:pt x="1517" y="525"/>
                    <a:pt x="1517" y="552"/>
                  </a:cubicBezTo>
                  <a:close/>
                  <a:moveTo>
                    <a:pt x="1618" y="552"/>
                  </a:moveTo>
                  <a:cubicBezTo>
                    <a:pt x="1618" y="578"/>
                    <a:pt x="1596" y="600"/>
                    <a:pt x="1570" y="600"/>
                  </a:cubicBezTo>
                  <a:cubicBezTo>
                    <a:pt x="1543" y="600"/>
                    <a:pt x="1522" y="578"/>
                    <a:pt x="1522" y="552"/>
                  </a:cubicBezTo>
                  <a:cubicBezTo>
                    <a:pt x="1522" y="525"/>
                    <a:pt x="1543" y="504"/>
                    <a:pt x="1570" y="504"/>
                  </a:cubicBezTo>
                  <a:cubicBezTo>
                    <a:pt x="1596" y="504"/>
                    <a:pt x="1618" y="525"/>
                    <a:pt x="1618" y="552"/>
                  </a:cubicBezTo>
                  <a:close/>
                  <a:moveTo>
                    <a:pt x="1720" y="552"/>
                  </a:moveTo>
                  <a:cubicBezTo>
                    <a:pt x="1720" y="578"/>
                    <a:pt x="1698" y="600"/>
                    <a:pt x="1672" y="600"/>
                  </a:cubicBezTo>
                  <a:cubicBezTo>
                    <a:pt x="1645" y="600"/>
                    <a:pt x="1624" y="578"/>
                    <a:pt x="1624" y="552"/>
                  </a:cubicBezTo>
                  <a:cubicBezTo>
                    <a:pt x="1624" y="525"/>
                    <a:pt x="1645" y="504"/>
                    <a:pt x="1672" y="504"/>
                  </a:cubicBezTo>
                  <a:cubicBezTo>
                    <a:pt x="1698" y="504"/>
                    <a:pt x="1720" y="525"/>
                    <a:pt x="1720" y="552"/>
                  </a:cubicBezTo>
                  <a:close/>
                  <a:moveTo>
                    <a:pt x="1821" y="552"/>
                  </a:moveTo>
                  <a:cubicBezTo>
                    <a:pt x="1821" y="578"/>
                    <a:pt x="1799" y="600"/>
                    <a:pt x="1773" y="600"/>
                  </a:cubicBezTo>
                  <a:cubicBezTo>
                    <a:pt x="1746" y="600"/>
                    <a:pt x="1725" y="578"/>
                    <a:pt x="1725" y="552"/>
                  </a:cubicBezTo>
                  <a:cubicBezTo>
                    <a:pt x="1725" y="525"/>
                    <a:pt x="1746" y="504"/>
                    <a:pt x="1773" y="504"/>
                  </a:cubicBezTo>
                  <a:cubicBezTo>
                    <a:pt x="1799" y="504"/>
                    <a:pt x="1821" y="525"/>
                    <a:pt x="1821" y="552"/>
                  </a:cubicBezTo>
                  <a:close/>
                  <a:moveTo>
                    <a:pt x="1922" y="552"/>
                  </a:moveTo>
                  <a:cubicBezTo>
                    <a:pt x="1922" y="578"/>
                    <a:pt x="1900" y="600"/>
                    <a:pt x="1874" y="600"/>
                  </a:cubicBezTo>
                  <a:cubicBezTo>
                    <a:pt x="1847" y="600"/>
                    <a:pt x="1826" y="578"/>
                    <a:pt x="1826" y="552"/>
                  </a:cubicBezTo>
                  <a:cubicBezTo>
                    <a:pt x="1826" y="525"/>
                    <a:pt x="1847" y="504"/>
                    <a:pt x="1874" y="504"/>
                  </a:cubicBezTo>
                  <a:cubicBezTo>
                    <a:pt x="1900" y="504"/>
                    <a:pt x="1922" y="525"/>
                    <a:pt x="1922" y="552"/>
                  </a:cubicBezTo>
                  <a:close/>
                  <a:moveTo>
                    <a:pt x="2024" y="552"/>
                  </a:moveTo>
                  <a:cubicBezTo>
                    <a:pt x="2024" y="578"/>
                    <a:pt x="2002" y="600"/>
                    <a:pt x="1976" y="600"/>
                  </a:cubicBezTo>
                  <a:cubicBezTo>
                    <a:pt x="1949" y="600"/>
                    <a:pt x="1928" y="578"/>
                    <a:pt x="1928" y="552"/>
                  </a:cubicBezTo>
                  <a:cubicBezTo>
                    <a:pt x="1928" y="525"/>
                    <a:pt x="1949" y="504"/>
                    <a:pt x="1976" y="504"/>
                  </a:cubicBezTo>
                  <a:cubicBezTo>
                    <a:pt x="2002" y="504"/>
                    <a:pt x="2024" y="525"/>
                    <a:pt x="2024" y="552"/>
                  </a:cubicBezTo>
                  <a:close/>
                  <a:moveTo>
                    <a:pt x="2125" y="552"/>
                  </a:moveTo>
                  <a:cubicBezTo>
                    <a:pt x="2125" y="578"/>
                    <a:pt x="2103" y="600"/>
                    <a:pt x="2077" y="600"/>
                  </a:cubicBezTo>
                  <a:cubicBezTo>
                    <a:pt x="2050" y="600"/>
                    <a:pt x="2029" y="578"/>
                    <a:pt x="2029" y="552"/>
                  </a:cubicBezTo>
                  <a:cubicBezTo>
                    <a:pt x="2029" y="525"/>
                    <a:pt x="2050" y="504"/>
                    <a:pt x="2077" y="504"/>
                  </a:cubicBezTo>
                  <a:cubicBezTo>
                    <a:pt x="2103" y="504"/>
                    <a:pt x="2125" y="525"/>
                    <a:pt x="2125" y="552"/>
                  </a:cubicBezTo>
                  <a:close/>
                  <a:moveTo>
                    <a:pt x="2226" y="552"/>
                  </a:moveTo>
                  <a:cubicBezTo>
                    <a:pt x="2226" y="578"/>
                    <a:pt x="2204" y="600"/>
                    <a:pt x="2178" y="600"/>
                  </a:cubicBezTo>
                  <a:cubicBezTo>
                    <a:pt x="2151" y="600"/>
                    <a:pt x="2130" y="578"/>
                    <a:pt x="2130" y="552"/>
                  </a:cubicBezTo>
                  <a:cubicBezTo>
                    <a:pt x="2130" y="525"/>
                    <a:pt x="2151" y="504"/>
                    <a:pt x="2178" y="504"/>
                  </a:cubicBezTo>
                  <a:cubicBezTo>
                    <a:pt x="2204" y="504"/>
                    <a:pt x="2226" y="525"/>
                    <a:pt x="2226" y="552"/>
                  </a:cubicBezTo>
                  <a:close/>
                  <a:moveTo>
                    <a:pt x="2328" y="552"/>
                  </a:moveTo>
                  <a:cubicBezTo>
                    <a:pt x="2328" y="578"/>
                    <a:pt x="2306" y="600"/>
                    <a:pt x="2280" y="600"/>
                  </a:cubicBezTo>
                  <a:cubicBezTo>
                    <a:pt x="2253" y="600"/>
                    <a:pt x="2232" y="578"/>
                    <a:pt x="2232" y="552"/>
                  </a:cubicBezTo>
                  <a:cubicBezTo>
                    <a:pt x="2232" y="525"/>
                    <a:pt x="2253" y="504"/>
                    <a:pt x="2280" y="504"/>
                  </a:cubicBezTo>
                  <a:cubicBezTo>
                    <a:pt x="2306" y="504"/>
                    <a:pt x="2328" y="525"/>
                    <a:pt x="2328" y="552"/>
                  </a:cubicBezTo>
                  <a:close/>
                  <a:moveTo>
                    <a:pt x="2429" y="552"/>
                  </a:moveTo>
                  <a:cubicBezTo>
                    <a:pt x="2429" y="578"/>
                    <a:pt x="2407" y="600"/>
                    <a:pt x="2381" y="600"/>
                  </a:cubicBezTo>
                  <a:cubicBezTo>
                    <a:pt x="2354" y="600"/>
                    <a:pt x="2333" y="578"/>
                    <a:pt x="2333" y="552"/>
                  </a:cubicBezTo>
                  <a:cubicBezTo>
                    <a:pt x="2333" y="525"/>
                    <a:pt x="2354" y="504"/>
                    <a:pt x="2381" y="504"/>
                  </a:cubicBezTo>
                  <a:cubicBezTo>
                    <a:pt x="2407" y="504"/>
                    <a:pt x="2429" y="525"/>
                    <a:pt x="2429" y="552"/>
                  </a:cubicBezTo>
                  <a:close/>
                  <a:moveTo>
                    <a:pt x="2530" y="552"/>
                  </a:moveTo>
                  <a:cubicBezTo>
                    <a:pt x="2530" y="578"/>
                    <a:pt x="2508" y="600"/>
                    <a:pt x="2482" y="600"/>
                  </a:cubicBezTo>
                  <a:cubicBezTo>
                    <a:pt x="2455" y="600"/>
                    <a:pt x="2434" y="578"/>
                    <a:pt x="2434" y="552"/>
                  </a:cubicBezTo>
                  <a:cubicBezTo>
                    <a:pt x="2434" y="525"/>
                    <a:pt x="2455" y="504"/>
                    <a:pt x="2482" y="504"/>
                  </a:cubicBezTo>
                  <a:cubicBezTo>
                    <a:pt x="2508" y="504"/>
                    <a:pt x="2530" y="525"/>
                    <a:pt x="2530" y="552"/>
                  </a:cubicBezTo>
                  <a:close/>
                  <a:moveTo>
                    <a:pt x="2632" y="552"/>
                  </a:moveTo>
                  <a:cubicBezTo>
                    <a:pt x="2632" y="578"/>
                    <a:pt x="2610" y="600"/>
                    <a:pt x="2584" y="600"/>
                  </a:cubicBezTo>
                  <a:cubicBezTo>
                    <a:pt x="2557" y="600"/>
                    <a:pt x="2536" y="578"/>
                    <a:pt x="2536" y="552"/>
                  </a:cubicBezTo>
                  <a:cubicBezTo>
                    <a:pt x="2536" y="525"/>
                    <a:pt x="2557" y="504"/>
                    <a:pt x="2584" y="504"/>
                  </a:cubicBezTo>
                  <a:cubicBezTo>
                    <a:pt x="2610" y="504"/>
                    <a:pt x="2632" y="525"/>
                    <a:pt x="2632" y="552"/>
                  </a:cubicBezTo>
                  <a:close/>
                  <a:moveTo>
                    <a:pt x="2733" y="552"/>
                  </a:moveTo>
                  <a:cubicBezTo>
                    <a:pt x="2733" y="578"/>
                    <a:pt x="2711" y="600"/>
                    <a:pt x="2685" y="600"/>
                  </a:cubicBezTo>
                  <a:cubicBezTo>
                    <a:pt x="2658" y="600"/>
                    <a:pt x="2637" y="578"/>
                    <a:pt x="2637" y="552"/>
                  </a:cubicBezTo>
                  <a:cubicBezTo>
                    <a:pt x="2637" y="525"/>
                    <a:pt x="2658" y="504"/>
                    <a:pt x="2685" y="504"/>
                  </a:cubicBezTo>
                  <a:cubicBezTo>
                    <a:pt x="2711" y="504"/>
                    <a:pt x="2733" y="525"/>
                    <a:pt x="2733" y="552"/>
                  </a:cubicBezTo>
                  <a:close/>
                  <a:moveTo>
                    <a:pt x="2834" y="552"/>
                  </a:moveTo>
                  <a:cubicBezTo>
                    <a:pt x="2834" y="578"/>
                    <a:pt x="2812" y="600"/>
                    <a:pt x="2786" y="600"/>
                  </a:cubicBezTo>
                  <a:cubicBezTo>
                    <a:pt x="2759" y="600"/>
                    <a:pt x="2738" y="578"/>
                    <a:pt x="2738" y="552"/>
                  </a:cubicBezTo>
                  <a:cubicBezTo>
                    <a:pt x="2738" y="525"/>
                    <a:pt x="2759" y="504"/>
                    <a:pt x="2786" y="504"/>
                  </a:cubicBezTo>
                  <a:cubicBezTo>
                    <a:pt x="2812" y="504"/>
                    <a:pt x="2834" y="525"/>
                    <a:pt x="2834" y="552"/>
                  </a:cubicBezTo>
                  <a:close/>
                  <a:moveTo>
                    <a:pt x="2936" y="552"/>
                  </a:moveTo>
                  <a:cubicBezTo>
                    <a:pt x="2936" y="578"/>
                    <a:pt x="2914" y="600"/>
                    <a:pt x="2888" y="600"/>
                  </a:cubicBezTo>
                  <a:cubicBezTo>
                    <a:pt x="2861" y="600"/>
                    <a:pt x="2840" y="578"/>
                    <a:pt x="2840" y="552"/>
                  </a:cubicBezTo>
                  <a:cubicBezTo>
                    <a:pt x="2840" y="525"/>
                    <a:pt x="2861" y="504"/>
                    <a:pt x="2888" y="504"/>
                  </a:cubicBezTo>
                  <a:cubicBezTo>
                    <a:pt x="2914" y="504"/>
                    <a:pt x="2936" y="525"/>
                    <a:pt x="2936" y="552"/>
                  </a:cubicBezTo>
                  <a:close/>
                  <a:moveTo>
                    <a:pt x="3037" y="552"/>
                  </a:moveTo>
                  <a:cubicBezTo>
                    <a:pt x="3037" y="578"/>
                    <a:pt x="3015" y="600"/>
                    <a:pt x="2989" y="600"/>
                  </a:cubicBezTo>
                  <a:cubicBezTo>
                    <a:pt x="2962" y="600"/>
                    <a:pt x="2941" y="578"/>
                    <a:pt x="2941" y="552"/>
                  </a:cubicBezTo>
                  <a:cubicBezTo>
                    <a:pt x="2941" y="525"/>
                    <a:pt x="2962" y="504"/>
                    <a:pt x="2989" y="504"/>
                  </a:cubicBezTo>
                  <a:cubicBezTo>
                    <a:pt x="3015" y="504"/>
                    <a:pt x="3037" y="525"/>
                    <a:pt x="3037" y="552"/>
                  </a:cubicBezTo>
                  <a:close/>
                  <a:moveTo>
                    <a:pt x="3138" y="552"/>
                  </a:moveTo>
                  <a:cubicBezTo>
                    <a:pt x="3138" y="578"/>
                    <a:pt x="3116" y="600"/>
                    <a:pt x="3090" y="600"/>
                  </a:cubicBezTo>
                  <a:cubicBezTo>
                    <a:pt x="3063" y="600"/>
                    <a:pt x="3042" y="578"/>
                    <a:pt x="3042" y="552"/>
                  </a:cubicBezTo>
                  <a:cubicBezTo>
                    <a:pt x="3042" y="525"/>
                    <a:pt x="3063" y="504"/>
                    <a:pt x="3090" y="504"/>
                  </a:cubicBezTo>
                  <a:cubicBezTo>
                    <a:pt x="3116" y="504"/>
                    <a:pt x="3138" y="525"/>
                    <a:pt x="3138" y="552"/>
                  </a:cubicBezTo>
                  <a:close/>
                  <a:moveTo>
                    <a:pt x="3240" y="552"/>
                  </a:moveTo>
                  <a:cubicBezTo>
                    <a:pt x="3240" y="578"/>
                    <a:pt x="3218" y="600"/>
                    <a:pt x="3192" y="600"/>
                  </a:cubicBezTo>
                  <a:cubicBezTo>
                    <a:pt x="3165" y="600"/>
                    <a:pt x="3144" y="578"/>
                    <a:pt x="3144" y="552"/>
                  </a:cubicBezTo>
                  <a:cubicBezTo>
                    <a:pt x="3144" y="525"/>
                    <a:pt x="3165" y="504"/>
                    <a:pt x="3192" y="504"/>
                  </a:cubicBezTo>
                  <a:cubicBezTo>
                    <a:pt x="3218" y="504"/>
                    <a:pt x="3240" y="525"/>
                    <a:pt x="3240" y="552"/>
                  </a:cubicBezTo>
                  <a:close/>
                  <a:moveTo>
                    <a:pt x="3341" y="552"/>
                  </a:moveTo>
                  <a:cubicBezTo>
                    <a:pt x="3341" y="578"/>
                    <a:pt x="3319" y="600"/>
                    <a:pt x="3293" y="600"/>
                  </a:cubicBezTo>
                  <a:cubicBezTo>
                    <a:pt x="3266" y="600"/>
                    <a:pt x="3245" y="578"/>
                    <a:pt x="3245" y="552"/>
                  </a:cubicBezTo>
                  <a:cubicBezTo>
                    <a:pt x="3245" y="525"/>
                    <a:pt x="3266" y="504"/>
                    <a:pt x="3293" y="504"/>
                  </a:cubicBezTo>
                  <a:cubicBezTo>
                    <a:pt x="3319" y="504"/>
                    <a:pt x="3341" y="525"/>
                    <a:pt x="3341" y="552"/>
                  </a:cubicBezTo>
                  <a:close/>
                  <a:moveTo>
                    <a:pt x="3442" y="552"/>
                  </a:moveTo>
                  <a:cubicBezTo>
                    <a:pt x="3442" y="578"/>
                    <a:pt x="3420" y="600"/>
                    <a:pt x="3394" y="600"/>
                  </a:cubicBezTo>
                  <a:cubicBezTo>
                    <a:pt x="3367" y="600"/>
                    <a:pt x="3346" y="578"/>
                    <a:pt x="3346" y="552"/>
                  </a:cubicBezTo>
                  <a:cubicBezTo>
                    <a:pt x="3346" y="525"/>
                    <a:pt x="3367" y="504"/>
                    <a:pt x="3394" y="504"/>
                  </a:cubicBezTo>
                  <a:cubicBezTo>
                    <a:pt x="3420" y="504"/>
                    <a:pt x="3442" y="525"/>
                    <a:pt x="3442" y="552"/>
                  </a:cubicBezTo>
                  <a:close/>
                  <a:moveTo>
                    <a:pt x="3544" y="552"/>
                  </a:moveTo>
                  <a:cubicBezTo>
                    <a:pt x="3544" y="578"/>
                    <a:pt x="3522" y="600"/>
                    <a:pt x="3496" y="600"/>
                  </a:cubicBezTo>
                  <a:cubicBezTo>
                    <a:pt x="3469" y="600"/>
                    <a:pt x="3448" y="578"/>
                    <a:pt x="3448" y="552"/>
                  </a:cubicBezTo>
                  <a:cubicBezTo>
                    <a:pt x="3448" y="525"/>
                    <a:pt x="3469" y="504"/>
                    <a:pt x="3496" y="504"/>
                  </a:cubicBezTo>
                  <a:cubicBezTo>
                    <a:pt x="3522" y="504"/>
                    <a:pt x="3544" y="525"/>
                    <a:pt x="3544" y="552"/>
                  </a:cubicBezTo>
                  <a:close/>
                  <a:moveTo>
                    <a:pt x="3645" y="552"/>
                  </a:moveTo>
                  <a:cubicBezTo>
                    <a:pt x="3645" y="578"/>
                    <a:pt x="3623" y="600"/>
                    <a:pt x="3597" y="600"/>
                  </a:cubicBezTo>
                  <a:cubicBezTo>
                    <a:pt x="3570" y="600"/>
                    <a:pt x="3549" y="578"/>
                    <a:pt x="3549" y="552"/>
                  </a:cubicBezTo>
                  <a:cubicBezTo>
                    <a:pt x="3549" y="525"/>
                    <a:pt x="3570" y="504"/>
                    <a:pt x="3597" y="504"/>
                  </a:cubicBezTo>
                  <a:cubicBezTo>
                    <a:pt x="3623" y="504"/>
                    <a:pt x="3645" y="525"/>
                    <a:pt x="3645" y="552"/>
                  </a:cubicBezTo>
                  <a:close/>
                  <a:moveTo>
                    <a:pt x="3746" y="552"/>
                  </a:moveTo>
                  <a:cubicBezTo>
                    <a:pt x="3746" y="578"/>
                    <a:pt x="3724" y="600"/>
                    <a:pt x="3698" y="600"/>
                  </a:cubicBezTo>
                  <a:cubicBezTo>
                    <a:pt x="3671" y="600"/>
                    <a:pt x="3650" y="578"/>
                    <a:pt x="3650" y="552"/>
                  </a:cubicBezTo>
                  <a:cubicBezTo>
                    <a:pt x="3650" y="525"/>
                    <a:pt x="3671" y="504"/>
                    <a:pt x="3698" y="504"/>
                  </a:cubicBezTo>
                  <a:cubicBezTo>
                    <a:pt x="3724" y="504"/>
                    <a:pt x="3746" y="525"/>
                    <a:pt x="3746" y="552"/>
                  </a:cubicBezTo>
                  <a:close/>
                  <a:moveTo>
                    <a:pt x="3848" y="552"/>
                  </a:moveTo>
                  <a:cubicBezTo>
                    <a:pt x="3848" y="578"/>
                    <a:pt x="3826" y="600"/>
                    <a:pt x="3800" y="600"/>
                  </a:cubicBezTo>
                  <a:cubicBezTo>
                    <a:pt x="3773" y="600"/>
                    <a:pt x="3752" y="578"/>
                    <a:pt x="3752" y="552"/>
                  </a:cubicBezTo>
                  <a:cubicBezTo>
                    <a:pt x="3752" y="525"/>
                    <a:pt x="3773" y="504"/>
                    <a:pt x="3800" y="504"/>
                  </a:cubicBezTo>
                  <a:cubicBezTo>
                    <a:pt x="3826" y="504"/>
                    <a:pt x="3848" y="525"/>
                    <a:pt x="3848" y="552"/>
                  </a:cubicBezTo>
                  <a:close/>
                  <a:moveTo>
                    <a:pt x="3949" y="552"/>
                  </a:moveTo>
                  <a:cubicBezTo>
                    <a:pt x="3949" y="578"/>
                    <a:pt x="3927" y="600"/>
                    <a:pt x="3901" y="600"/>
                  </a:cubicBezTo>
                  <a:cubicBezTo>
                    <a:pt x="3874" y="600"/>
                    <a:pt x="3853" y="578"/>
                    <a:pt x="3853" y="552"/>
                  </a:cubicBezTo>
                  <a:cubicBezTo>
                    <a:pt x="3853" y="525"/>
                    <a:pt x="3874" y="504"/>
                    <a:pt x="3901" y="504"/>
                  </a:cubicBezTo>
                  <a:cubicBezTo>
                    <a:pt x="3927" y="504"/>
                    <a:pt x="3949" y="525"/>
                    <a:pt x="3949" y="552"/>
                  </a:cubicBezTo>
                  <a:close/>
                  <a:moveTo>
                    <a:pt x="4050" y="552"/>
                  </a:moveTo>
                  <a:cubicBezTo>
                    <a:pt x="4050" y="578"/>
                    <a:pt x="4028" y="600"/>
                    <a:pt x="4002" y="600"/>
                  </a:cubicBezTo>
                  <a:cubicBezTo>
                    <a:pt x="3975" y="600"/>
                    <a:pt x="3954" y="578"/>
                    <a:pt x="3954" y="552"/>
                  </a:cubicBezTo>
                  <a:cubicBezTo>
                    <a:pt x="3954" y="525"/>
                    <a:pt x="3975" y="504"/>
                    <a:pt x="4002" y="504"/>
                  </a:cubicBezTo>
                  <a:cubicBezTo>
                    <a:pt x="4028" y="504"/>
                    <a:pt x="4050" y="525"/>
                    <a:pt x="4050" y="552"/>
                  </a:cubicBezTo>
                  <a:close/>
                  <a:moveTo>
                    <a:pt x="4152" y="552"/>
                  </a:moveTo>
                  <a:cubicBezTo>
                    <a:pt x="4152" y="578"/>
                    <a:pt x="4130" y="600"/>
                    <a:pt x="4104" y="600"/>
                  </a:cubicBezTo>
                  <a:cubicBezTo>
                    <a:pt x="4077" y="600"/>
                    <a:pt x="4056" y="578"/>
                    <a:pt x="4056" y="552"/>
                  </a:cubicBezTo>
                  <a:cubicBezTo>
                    <a:pt x="4056" y="525"/>
                    <a:pt x="4077" y="504"/>
                    <a:pt x="4104" y="504"/>
                  </a:cubicBezTo>
                  <a:cubicBezTo>
                    <a:pt x="4130" y="504"/>
                    <a:pt x="4152" y="525"/>
                    <a:pt x="4152" y="552"/>
                  </a:cubicBezTo>
                  <a:close/>
                  <a:moveTo>
                    <a:pt x="4253" y="552"/>
                  </a:moveTo>
                  <a:cubicBezTo>
                    <a:pt x="4253" y="578"/>
                    <a:pt x="4231" y="600"/>
                    <a:pt x="4205" y="600"/>
                  </a:cubicBezTo>
                  <a:cubicBezTo>
                    <a:pt x="4178" y="600"/>
                    <a:pt x="4157" y="578"/>
                    <a:pt x="4157" y="552"/>
                  </a:cubicBezTo>
                  <a:cubicBezTo>
                    <a:pt x="4157" y="525"/>
                    <a:pt x="4178" y="504"/>
                    <a:pt x="4205" y="504"/>
                  </a:cubicBezTo>
                  <a:cubicBezTo>
                    <a:pt x="4231" y="504"/>
                    <a:pt x="4253" y="525"/>
                    <a:pt x="4253" y="552"/>
                  </a:cubicBezTo>
                  <a:close/>
                  <a:moveTo>
                    <a:pt x="4354" y="552"/>
                  </a:moveTo>
                  <a:cubicBezTo>
                    <a:pt x="4354" y="578"/>
                    <a:pt x="4332" y="600"/>
                    <a:pt x="4306" y="600"/>
                  </a:cubicBezTo>
                  <a:cubicBezTo>
                    <a:pt x="4279" y="600"/>
                    <a:pt x="4258" y="578"/>
                    <a:pt x="4258" y="552"/>
                  </a:cubicBezTo>
                  <a:cubicBezTo>
                    <a:pt x="4258" y="525"/>
                    <a:pt x="4279" y="504"/>
                    <a:pt x="4306" y="504"/>
                  </a:cubicBezTo>
                  <a:cubicBezTo>
                    <a:pt x="4332" y="504"/>
                    <a:pt x="4354" y="525"/>
                    <a:pt x="4354" y="552"/>
                  </a:cubicBezTo>
                  <a:close/>
                  <a:moveTo>
                    <a:pt x="4456" y="552"/>
                  </a:moveTo>
                  <a:cubicBezTo>
                    <a:pt x="4456" y="578"/>
                    <a:pt x="4434" y="600"/>
                    <a:pt x="4408" y="600"/>
                  </a:cubicBezTo>
                  <a:cubicBezTo>
                    <a:pt x="4381" y="600"/>
                    <a:pt x="4360" y="578"/>
                    <a:pt x="4360" y="552"/>
                  </a:cubicBezTo>
                  <a:cubicBezTo>
                    <a:pt x="4360" y="525"/>
                    <a:pt x="4381" y="504"/>
                    <a:pt x="4408" y="504"/>
                  </a:cubicBezTo>
                  <a:cubicBezTo>
                    <a:pt x="4434" y="504"/>
                    <a:pt x="4456" y="525"/>
                    <a:pt x="4456" y="552"/>
                  </a:cubicBezTo>
                  <a:close/>
                  <a:moveTo>
                    <a:pt x="4557" y="552"/>
                  </a:moveTo>
                  <a:cubicBezTo>
                    <a:pt x="4557" y="578"/>
                    <a:pt x="4535" y="600"/>
                    <a:pt x="4509" y="600"/>
                  </a:cubicBezTo>
                  <a:cubicBezTo>
                    <a:pt x="4482" y="600"/>
                    <a:pt x="4461" y="578"/>
                    <a:pt x="4461" y="552"/>
                  </a:cubicBezTo>
                  <a:cubicBezTo>
                    <a:pt x="4461" y="525"/>
                    <a:pt x="4482" y="504"/>
                    <a:pt x="4509" y="504"/>
                  </a:cubicBezTo>
                  <a:cubicBezTo>
                    <a:pt x="4535" y="504"/>
                    <a:pt x="4557" y="525"/>
                    <a:pt x="4557" y="552"/>
                  </a:cubicBezTo>
                  <a:close/>
                  <a:moveTo>
                    <a:pt x="4658" y="552"/>
                  </a:moveTo>
                  <a:cubicBezTo>
                    <a:pt x="4658" y="578"/>
                    <a:pt x="4636" y="600"/>
                    <a:pt x="4610" y="600"/>
                  </a:cubicBezTo>
                  <a:cubicBezTo>
                    <a:pt x="4583" y="600"/>
                    <a:pt x="4562" y="578"/>
                    <a:pt x="4562" y="552"/>
                  </a:cubicBezTo>
                  <a:cubicBezTo>
                    <a:pt x="4562" y="525"/>
                    <a:pt x="4583" y="504"/>
                    <a:pt x="4610" y="504"/>
                  </a:cubicBezTo>
                  <a:cubicBezTo>
                    <a:pt x="4636" y="504"/>
                    <a:pt x="4658" y="525"/>
                    <a:pt x="4658" y="552"/>
                  </a:cubicBezTo>
                  <a:close/>
                  <a:moveTo>
                    <a:pt x="4760" y="552"/>
                  </a:moveTo>
                  <a:cubicBezTo>
                    <a:pt x="4760" y="578"/>
                    <a:pt x="4738" y="600"/>
                    <a:pt x="4712" y="600"/>
                  </a:cubicBezTo>
                  <a:cubicBezTo>
                    <a:pt x="4685" y="600"/>
                    <a:pt x="4664" y="578"/>
                    <a:pt x="4664" y="552"/>
                  </a:cubicBezTo>
                  <a:cubicBezTo>
                    <a:pt x="4664" y="525"/>
                    <a:pt x="4685" y="504"/>
                    <a:pt x="4712" y="504"/>
                  </a:cubicBezTo>
                  <a:cubicBezTo>
                    <a:pt x="4738" y="504"/>
                    <a:pt x="4760" y="525"/>
                    <a:pt x="4760" y="552"/>
                  </a:cubicBezTo>
                  <a:close/>
                  <a:moveTo>
                    <a:pt x="4861" y="552"/>
                  </a:moveTo>
                  <a:cubicBezTo>
                    <a:pt x="4861" y="578"/>
                    <a:pt x="4839" y="600"/>
                    <a:pt x="4813" y="600"/>
                  </a:cubicBezTo>
                  <a:cubicBezTo>
                    <a:pt x="4786" y="600"/>
                    <a:pt x="4765" y="578"/>
                    <a:pt x="4765" y="552"/>
                  </a:cubicBezTo>
                  <a:cubicBezTo>
                    <a:pt x="4765" y="525"/>
                    <a:pt x="4786" y="504"/>
                    <a:pt x="4813" y="504"/>
                  </a:cubicBezTo>
                  <a:cubicBezTo>
                    <a:pt x="4839" y="504"/>
                    <a:pt x="4861" y="525"/>
                    <a:pt x="4861" y="552"/>
                  </a:cubicBezTo>
                  <a:close/>
                  <a:moveTo>
                    <a:pt x="4962" y="552"/>
                  </a:moveTo>
                  <a:cubicBezTo>
                    <a:pt x="4962" y="578"/>
                    <a:pt x="4940" y="600"/>
                    <a:pt x="4914" y="600"/>
                  </a:cubicBezTo>
                  <a:cubicBezTo>
                    <a:pt x="4887" y="600"/>
                    <a:pt x="4866" y="578"/>
                    <a:pt x="4866" y="552"/>
                  </a:cubicBezTo>
                  <a:cubicBezTo>
                    <a:pt x="4866" y="525"/>
                    <a:pt x="4887" y="504"/>
                    <a:pt x="4914" y="504"/>
                  </a:cubicBezTo>
                  <a:cubicBezTo>
                    <a:pt x="4940" y="504"/>
                    <a:pt x="4962" y="525"/>
                    <a:pt x="4962" y="552"/>
                  </a:cubicBezTo>
                  <a:close/>
                  <a:moveTo>
                    <a:pt x="5064" y="552"/>
                  </a:moveTo>
                  <a:cubicBezTo>
                    <a:pt x="5064" y="578"/>
                    <a:pt x="5042" y="600"/>
                    <a:pt x="5016" y="600"/>
                  </a:cubicBezTo>
                  <a:cubicBezTo>
                    <a:pt x="4989" y="600"/>
                    <a:pt x="4968" y="578"/>
                    <a:pt x="4968" y="552"/>
                  </a:cubicBezTo>
                  <a:cubicBezTo>
                    <a:pt x="4968" y="525"/>
                    <a:pt x="4989" y="504"/>
                    <a:pt x="5016" y="504"/>
                  </a:cubicBezTo>
                  <a:cubicBezTo>
                    <a:pt x="5042" y="504"/>
                    <a:pt x="5064" y="525"/>
                    <a:pt x="5064" y="552"/>
                  </a:cubicBezTo>
                  <a:close/>
                  <a:moveTo>
                    <a:pt x="5165" y="552"/>
                  </a:moveTo>
                  <a:cubicBezTo>
                    <a:pt x="5165" y="578"/>
                    <a:pt x="5143" y="600"/>
                    <a:pt x="5117" y="600"/>
                  </a:cubicBezTo>
                  <a:cubicBezTo>
                    <a:pt x="5090" y="600"/>
                    <a:pt x="5069" y="578"/>
                    <a:pt x="5069" y="552"/>
                  </a:cubicBezTo>
                  <a:cubicBezTo>
                    <a:pt x="5069" y="525"/>
                    <a:pt x="5090" y="504"/>
                    <a:pt x="5117" y="504"/>
                  </a:cubicBezTo>
                  <a:cubicBezTo>
                    <a:pt x="5143" y="504"/>
                    <a:pt x="5165" y="525"/>
                    <a:pt x="5165" y="552"/>
                  </a:cubicBezTo>
                  <a:close/>
                  <a:moveTo>
                    <a:pt x="5266" y="552"/>
                  </a:moveTo>
                  <a:cubicBezTo>
                    <a:pt x="5266" y="578"/>
                    <a:pt x="5244" y="600"/>
                    <a:pt x="5218" y="600"/>
                  </a:cubicBezTo>
                  <a:cubicBezTo>
                    <a:pt x="5191" y="600"/>
                    <a:pt x="5170" y="578"/>
                    <a:pt x="5170" y="552"/>
                  </a:cubicBezTo>
                  <a:cubicBezTo>
                    <a:pt x="5170" y="525"/>
                    <a:pt x="5191" y="504"/>
                    <a:pt x="5218" y="504"/>
                  </a:cubicBezTo>
                  <a:cubicBezTo>
                    <a:pt x="5244" y="504"/>
                    <a:pt x="5266" y="525"/>
                    <a:pt x="5266" y="552"/>
                  </a:cubicBezTo>
                  <a:close/>
                  <a:moveTo>
                    <a:pt x="5368" y="552"/>
                  </a:moveTo>
                  <a:cubicBezTo>
                    <a:pt x="5368" y="578"/>
                    <a:pt x="5346" y="600"/>
                    <a:pt x="5320" y="600"/>
                  </a:cubicBezTo>
                  <a:cubicBezTo>
                    <a:pt x="5293" y="600"/>
                    <a:pt x="5272" y="578"/>
                    <a:pt x="5272" y="552"/>
                  </a:cubicBezTo>
                  <a:cubicBezTo>
                    <a:pt x="5272" y="525"/>
                    <a:pt x="5293" y="504"/>
                    <a:pt x="5320" y="504"/>
                  </a:cubicBezTo>
                  <a:cubicBezTo>
                    <a:pt x="5346" y="504"/>
                    <a:pt x="5368" y="525"/>
                    <a:pt x="5368" y="552"/>
                  </a:cubicBezTo>
                  <a:close/>
                  <a:moveTo>
                    <a:pt x="5469" y="552"/>
                  </a:moveTo>
                  <a:cubicBezTo>
                    <a:pt x="5469" y="578"/>
                    <a:pt x="5447" y="600"/>
                    <a:pt x="5421" y="600"/>
                  </a:cubicBezTo>
                  <a:cubicBezTo>
                    <a:pt x="5394" y="600"/>
                    <a:pt x="5373" y="578"/>
                    <a:pt x="5373" y="552"/>
                  </a:cubicBezTo>
                  <a:cubicBezTo>
                    <a:pt x="5373" y="525"/>
                    <a:pt x="5394" y="504"/>
                    <a:pt x="5421" y="504"/>
                  </a:cubicBezTo>
                  <a:cubicBezTo>
                    <a:pt x="5447" y="504"/>
                    <a:pt x="5469" y="525"/>
                    <a:pt x="5469" y="552"/>
                  </a:cubicBezTo>
                  <a:close/>
                  <a:moveTo>
                    <a:pt x="5570" y="552"/>
                  </a:moveTo>
                  <a:cubicBezTo>
                    <a:pt x="5570" y="578"/>
                    <a:pt x="5548" y="600"/>
                    <a:pt x="5522" y="600"/>
                  </a:cubicBezTo>
                  <a:cubicBezTo>
                    <a:pt x="5495" y="600"/>
                    <a:pt x="5474" y="578"/>
                    <a:pt x="5474" y="552"/>
                  </a:cubicBezTo>
                  <a:cubicBezTo>
                    <a:pt x="5474" y="525"/>
                    <a:pt x="5495" y="504"/>
                    <a:pt x="5522" y="504"/>
                  </a:cubicBezTo>
                  <a:cubicBezTo>
                    <a:pt x="5548" y="504"/>
                    <a:pt x="5570" y="525"/>
                    <a:pt x="5570" y="552"/>
                  </a:cubicBezTo>
                  <a:close/>
                  <a:moveTo>
                    <a:pt x="5672" y="552"/>
                  </a:moveTo>
                  <a:cubicBezTo>
                    <a:pt x="5672" y="578"/>
                    <a:pt x="5650" y="600"/>
                    <a:pt x="5624" y="600"/>
                  </a:cubicBezTo>
                  <a:cubicBezTo>
                    <a:pt x="5597" y="600"/>
                    <a:pt x="5576" y="578"/>
                    <a:pt x="5576" y="552"/>
                  </a:cubicBezTo>
                  <a:cubicBezTo>
                    <a:pt x="5576" y="525"/>
                    <a:pt x="5597" y="504"/>
                    <a:pt x="5624" y="504"/>
                  </a:cubicBezTo>
                  <a:cubicBezTo>
                    <a:pt x="5650" y="504"/>
                    <a:pt x="5672" y="525"/>
                    <a:pt x="5672" y="552"/>
                  </a:cubicBezTo>
                  <a:close/>
                  <a:moveTo>
                    <a:pt x="5773" y="552"/>
                  </a:moveTo>
                  <a:cubicBezTo>
                    <a:pt x="5773" y="578"/>
                    <a:pt x="5751" y="600"/>
                    <a:pt x="5725" y="600"/>
                  </a:cubicBezTo>
                  <a:cubicBezTo>
                    <a:pt x="5698" y="600"/>
                    <a:pt x="5677" y="578"/>
                    <a:pt x="5677" y="552"/>
                  </a:cubicBezTo>
                  <a:cubicBezTo>
                    <a:pt x="5677" y="525"/>
                    <a:pt x="5698" y="504"/>
                    <a:pt x="5725" y="504"/>
                  </a:cubicBezTo>
                  <a:cubicBezTo>
                    <a:pt x="5751" y="504"/>
                    <a:pt x="5773" y="525"/>
                    <a:pt x="5773" y="552"/>
                  </a:cubicBezTo>
                  <a:close/>
                  <a:moveTo>
                    <a:pt x="5874" y="552"/>
                  </a:moveTo>
                  <a:cubicBezTo>
                    <a:pt x="5874" y="578"/>
                    <a:pt x="5852" y="600"/>
                    <a:pt x="5826" y="600"/>
                  </a:cubicBezTo>
                  <a:cubicBezTo>
                    <a:pt x="5799" y="600"/>
                    <a:pt x="5778" y="578"/>
                    <a:pt x="5778" y="552"/>
                  </a:cubicBezTo>
                  <a:cubicBezTo>
                    <a:pt x="5778" y="525"/>
                    <a:pt x="5799" y="504"/>
                    <a:pt x="5826" y="504"/>
                  </a:cubicBezTo>
                  <a:cubicBezTo>
                    <a:pt x="5852" y="504"/>
                    <a:pt x="5874" y="525"/>
                    <a:pt x="5874" y="552"/>
                  </a:cubicBezTo>
                  <a:close/>
                  <a:moveTo>
                    <a:pt x="5976" y="552"/>
                  </a:moveTo>
                  <a:cubicBezTo>
                    <a:pt x="5976" y="578"/>
                    <a:pt x="5954" y="600"/>
                    <a:pt x="5928" y="600"/>
                  </a:cubicBezTo>
                  <a:cubicBezTo>
                    <a:pt x="5901" y="600"/>
                    <a:pt x="5880" y="578"/>
                    <a:pt x="5880" y="552"/>
                  </a:cubicBezTo>
                  <a:cubicBezTo>
                    <a:pt x="5880" y="525"/>
                    <a:pt x="5901" y="504"/>
                    <a:pt x="5928" y="504"/>
                  </a:cubicBezTo>
                  <a:cubicBezTo>
                    <a:pt x="5954" y="504"/>
                    <a:pt x="5976" y="525"/>
                    <a:pt x="5976" y="552"/>
                  </a:cubicBezTo>
                  <a:close/>
                  <a:moveTo>
                    <a:pt x="6077" y="552"/>
                  </a:moveTo>
                  <a:cubicBezTo>
                    <a:pt x="6077" y="578"/>
                    <a:pt x="6055" y="600"/>
                    <a:pt x="6029" y="600"/>
                  </a:cubicBezTo>
                  <a:cubicBezTo>
                    <a:pt x="6002" y="600"/>
                    <a:pt x="5981" y="578"/>
                    <a:pt x="5981" y="552"/>
                  </a:cubicBezTo>
                  <a:cubicBezTo>
                    <a:pt x="5981" y="525"/>
                    <a:pt x="6002" y="504"/>
                    <a:pt x="6029" y="504"/>
                  </a:cubicBezTo>
                  <a:cubicBezTo>
                    <a:pt x="6055" y="504"/>
                    <a:pt x="6077" y="525"/>
                    <a:pt x="6077" y="552"/>
                  </a:cubicBezTo>
                  <a:close/>
                  <a:moveTo>
                    <a:pt x="6178" y="552"/>
                  </a:moveTo>
                  <a:cubicBezTo>
                    <a:pt x="6178" y="578"/>
                    <a:pt x="6156" y="600"/>
                    <a:pt x="6130" y="600"/>
                  </a:cubicBezTo>
                  <a:cubicBezTo>
                    <a:pt x="6103" y="600"/>
                    <a:pt x="6082" y="578"/>
                    <a:pt x="6082" y="552"/>
                  </a:cubicBezTo>
                  <a:cubicBezTo>
                    <a:pt x="6082" y="525"/>
                    <a:pt x="6103" y="504"/>
                    <a:pt x="6130" y="504"/>
                  </a:cubicBezTo>
                  <a:cubicBezTo>
                    <a:pt x="6156" y="504"/>
                    <a:pt x="6178" y="525"/>
                    <a:pt x="6178" y="552"/>
                  </a:cubicBezTo>
                  <a:close/>
                  <a:moveTo>
                    <a:pt x="6280" y="552"/>
                  </a:moveTo>
                  <a:cubicBezTo>
                    <a:pt x="6280" y="578"/>
                    <a:pt x="6258" y="600"/>
                    <a:pt x="6232" y="600"/>
                  </a:cubicBezTo>
                  <a:cubicBezTo>
                    <a:pt x="6205" y="600"/>
                    <a:pt x="6184" y="578"/>
                    <a:pt x="6184" y="552"/>
                  </a:cubicBezTo>
                  <a:cubicBezTo>
                    <a:pt x="6184" y="525"/>
                    <a:pt x="6205" y="504"/>
                    <a:pt x="6232" y="504"/>
                  </a:cubicBezTo>
                  <a:cubicBezTo>
                    <a:pt x="6258" y="504"/>
                    <a:pt x="6280" y="525"/>
                    <a:pt x="6280" y="552"/>
                  </a:cubicBezTo>
                  <a:close/>
                  <a:moveTo>
                    <a:pt x="6381" y="552"/>
                  </a:moveTo>
                  <a:cubicBezTo>
                    <a:pt x="6381" y="578"/>
                    <a:pt x="6359" y="600"/>
                    <a:pt x="6333" y="600"/>
                  </a:cubicBezTo>
                  <a:cubicBezTo>
                    <a:pt x="6306" y="600"/>
                    <a:pt x="6285" y="578"/>
                    <a:pt x="6285" y="552"/>
                  </a:cubicBezTo>
                  <a:cubicBezTo>
                    <a:pt x="6285" y="525"/>
                    <a:pt x="6306" y="504"/>
                    <a:pt x="6333" y="504"/>
                  </a:cubicBezTo>
                  <a:cubicBezTo>
                    <a:pt x="6359" y="504"/>
                    <a:pt x="6381" y="525"/>
                    <a:pt x="6381" y="552"/>
                  </a:cubicBezTo>
                  <a:close/>
                  <a:moveTo>
                    <a:pt x="6482" y="552"/>
                  </a:moveTo>
                  <a:cubicBezTo>
                    <a:pt x="6482" y="578"/>
                    <a:pt x="6460" y="600"/>
                    <a:pt x="6434" y="600"/>
                  </a:cubicBezTo>
                  <a:cubicBezTo>
                    <a:pt x="6407" y="600"/>
                    <a:pt x="6386" y="578"/>
                    <a:pt x="6386" y="552"/>
                  </a:cubicBezTo>
                  <a:cubicBezTo>
                    <a:pt x="6386" y="525"/>
                    <a:pt x="6407" y="504"/>
                    <a:pt x="6434" y="504"/>
                  </a:cubicBezTo>
                  <a:cubicBezTo>
                    <a:pt x="6460" y="504"/>
                    <a:pt x="6482" y="525"/>
                    <a:pt x="6482" y="552"/>
                  </a:cubicBezTo>
                  <a:close/>
                  <a:moveTo>
                    <a:pt x="6584" y="552"/>
                  </a:moveTo>
                  <a:cubicBezTo>
                    <a:pt x="6584" y="578"/>
                    <a:pt x="6562" y="600"/>
                    <a:pt x="6536" y="600"/>
                  </a:cubicBezTo>
                  <a:cubicBezTo>
                    <a:pt x="6509" y="600"/>
                    <a:pt x="6488" y="578"/>
                    <a:pt x="6488" y="552"/>
                  </a:cubicBezTo>
                  <a:cubicBezTo>
                    <a:pt x="6488" y="525"/>
                    <a:pt x="6509" y="504"/>
                    <a:pt x="6536" y="504"/>
                  </a:cubicBezTo>
                  <a:cubicBezTo>
                    <a:pt x="6562" y="504"/>
                    <a:pt x="6584" y="525"/>
                    <a:pt x="6584" y="552"/>
                  </a:cubicBezTo>
                  <a:close/>
                  <a:moveTo>
                    <a:pt x="6685" y="552"/>
                  </a:moveTo>
                  <a:cubicBezTo>
                    <a:pt x="6685" y="578"/>
                    <a:pt x="6663" y="600"/>
                    <a:pt x="6637" y="600"/>
                  </a:cubicBezTo>
                  <a:cubicBezTo>
                    <a:pt x="6610" y="600"/>
                    <a:pt x="6589" y="578"/>
                    <a:pt x="6589" y="552"/>
                  </a:cubicBezTo>
                  <a:cubicBezTo>
                    <a:pt x="6589" y="525"/>
                    <a:pt x="6610" y="504"/>
                    <a:pt x="6637" y="504"/>
                  </a:cubicBezTo>
                  <a:cubicBezTo>
                    <a:pt x="6663" y="504"/>
                    <a:pt x="6685" y="525"/>
                    <a:pt x="6685" y="552"/>
                  </a:cubicBezTo>
                  <a:close/>
                  <a:moveTo>
                    <a:pt x="6786" y="552"/>
                  </a:moveTo>
                  <a:cubicBezTo>
                    <a:pt x="6786" y="578"/>
                    <a:pt x="6764" y="600"/>
                    <a:pt x="6738" y="600"/>
                  </a:cubicBezTo>
                  <a:cubicBezTo>
                    <a:pt x="6711" y="600"/>
                    <a:pt x="6690" y="578"/>
                    <a:pt x="6690" y="552"/>
                  </a:cubicBezTo>
                  <a:cubicBezTo>
                    <a:pt x="6690" y="525"/>
                    <a:pt x="6711" y="504"/>
                    <a:pt x="6738" y="504"/>
                  </a:cubicBezTo>
                  <a:cubicBezTo>
                    <a:pt x="6764" y="504"/>
                    <a:pt x="6786" y="525"/>
                    <a:pt x="6786" y="552"/>
                  </a:cubicBezTo>
                  <a:close/>
                  <a:moveTo>
                    <a:pt x="6888" y="552"/>
                  </a:moveTo>
                  <a:cubicBezTo>
                    <a:pt x="6888" y="578"/>
                    <a:pt x="6866" y="600"/>
                    <a:pt x="6840" y="600"/>
                  </a:cubicBezTo>
                  <a:cubicBezTo>
                    <a:pt x="6813" y="600"/>
                    <a:pt x="6792" y="578"/>
                    <a:pt x="6792" y="552"/>
                  </a:cubicBezTo>
                  <a:cubicBezTo>
                    <a:pt x="6792" y="525"/>
                    <a:pt x="6813" y="504"/>
                    <a:pt x="6840" y="504"/>
                  </a:cubicBezTo>
                  <a:cubicBezTo>
                    <a:pt x="6866" y="504"/>
                    <a:pt x="6888" y="525"/>
                    <a:pt x="6888" y="552"/>
                  </a:cubicBezTo>
                  <a:close/>
                  <a:moveTo>
                    <a:pt x="6989" y="552"/>
                  </a:moveTo>
                  <a:cubicBezTo>
                    <a:pt x="6989" y="578"/>
                    <a:pt x="6967" y="600"/>
                    <a:pt x="6941" y="600"/>
                  </a:cubicBezTo>
                  <a:cubicBezTo>
                    <a:pt x="6914" y="600"/>
                    <a:pt x="6893" y="578"/>
                    <a:pt x="6893" y="552"/>
                  </a:cubicBezTo>
                  <a:cubicBezTo>
                    <a:pt x="6893" y="525"/>
                    <a:pt x="6914" y="504"/>
                    <a:pt x="6941" y="504"/>
                  </a:cubicBezTo>
                  <a:cubicBezTo>
                    <a:pt x="6967" y="504"/>
                    <a:pt x="6989" y="525"/>
                    <a:pt x="6989" y="552"/>
                  </a:cubicBezTo>
                  <a:close/>
                  <a:moveTo>
                    <a:pt x="7090" y="552"/>
                  </a:moveTo>
                  <a:cubicBezTo>
                    <a:pt x="7090" y="578"/>
                    <a:pt x="7068" y="600"/>
                    <a:pt x="7042" y="600"/>
                  </a:cubicBezTo>
                  <a:cubicBezTo>
                    <a:pt x="7015" y="600"/>
                    <a:pt x="6994" y="578"/>
                    <a:pt x="6994" y="552"/>
                  </a:cubicBezTo>
                  <a:cubicBezTo>
                    <a:pt x="6994" y="525"/>
                    <a:pt x="7015" y="504"/>
                    <a:pt x="7042" y="504"/>
                  </a:cubicBezTo>
                  <a:cubicBezTo>
                    <a:pt x="7068" y="504"/>
                    <a:pt x="7090" y="525"/>
                    <a:pt x="7090" y="552"/>
                  </a:cubicBezTo>
                  <a:close/>
                  <a:moveTo>
                    <a:pt x="7192" y="552"/>
                  </a:moveTo>
                  <a:cubicBezTo>
                    <a:pt x="7192" y="578"/>
                    <a:pt x="7170" y="600"/>
                    <a:pt x="7144" y="600"/>
                  </a:cubicBezTo>
                  <a:cubicBezTo>
                    <a:pt x="7117" y="600"/>
                    <a:pt x="7096" y="578"/>
                    <a:pt x="7096" y="552"/>
                  </a:cubicBezTo>
                  <a:cubicBezTo>
                    <a:pt x="7096" y="525"/>
                    <a:pt x="7117" y="504"/>
                    <a:pt x="7144" y="504"/>
                  </a:cubicBezTo>
                  <a:cubicBezTo>
                    <a:pt x="7170" y="504"/>
                    <a:pt x="7192" y="525"/>
                    <a:pt x="7192" y="552"/>
                  </a:cubicBezTo>
                  <a:close/>
                  <a:moveTo>
                    <a:pt x="7293" y="552"/>
                  </a:moveTo>
                  <a:cubicBezTo>
                    <a:pt x="7293" y="578"/>
                    <a:pt x="7271" y="600"/>
                    <a:pt x="7245" y="600"/>
                  </a:cubicBezTo>
                  <a:cubicBezTo>
                    <a:pt x="7218" y="600"/>
                    <a:pt x="7197" y="578"/>
                    <a:pt x="7197" y="552"/>
                  </a:cubicBezTo>
                  <a:cubicBezTo>
                    <a:pt x="7197" y="525"/>
                    <a:pt x="7218" y="504"/>
                    <a:pt x="7245" y="504"/>
                  </a:cubicBezTo>
                  <a:cubicBezTo>
                    <a:pt x="7271" y="504"/>
                    <a:pt x="7293" y="525"/>
                    <a:pt x="7293" y="552"/>
                  </a:cubicBezTo>
                  <a:close/>
                  <a:moveTo>
                    <a:pt x="7394" y="552"/>
                  </a:moveTo>
                  <a:cubicBezTo>
                    <a:pt x="7394" y="578"/>
                    <a:pt x="7372" y="600"/>
                    <a:pt x="7346" y="600"/>
                  </a:cubicBezTo>
                  <a:cubicBezTo>
                    <a:pt x="7319" y="600"/>
                    <a:pt x="7298" y="578"/>
                    <a:pt x="7298" y="552"/>
                  </a:cubicBezTo>
                  <a:cubicBezTo>
                    <a:pt x="7298" y="525"/>
                    <a:pt x="7319" y="504"/>
                    <a:pt x="7346" y="504"/>
                  </a:cubicBezTo>
                  <a:cubicBezTo>
                    <a:pt x="7372" y="504"/>
                    <a:pt x="7394" y="525"/>
                    <a:pt x="7394" y="552"/>
                  </a:cubicBezTo>
                  <a:close/>
                  <a:moveTo>
                    <a:pt x="7496" y="552"/>
                  </a:moveTo>
                  <a:cubicBezTo>
                    <a:pt x="7496" y="578"/>
                    <a:pt x="7474" y="600"/>
                    <a:pt x="7448" y="600"/>
                  </a:cubicBezTo>
                  <a:cubicBezTo>
                    <a:pt x="7421" y="600"/>
                    <a:pt x="7400" y="578"/>
                    <a:pt x="7400" y="552"/>
                  </a:cubicBezTo>
                  <a:cubicBezTo>
                    <a:pt x="7400" y="525"/>
                    <a:pt x="7421" y="504"/>
                    <a:pt x="7448" y="504"/>
                  </a:cubicBezTo>
                  <a:cubicBezTo>
                    <a:pt x="7474" y="504"/>
                    <a:pt x="7496" y="525"/>
                    <a:pt x="7496" y="552"/>
                  </a:cubicBezTo>
                  <a:close/>
                  <a:moveTo>
                    <a:pt x="7597" y="552"/>
                  </a:moveTo>
                  <a:cubicBezTo>
                    <a:pt x="7597" y="578"/>
                    <a:pt x="7575" y="600"/>
                    <a:pt x="7549" y="600"/>
                  </a:cubicBezTo>
                  <a:cubicBezTo>
                    <a:pt x="7522" y="600"/>
                    <a:pt x="7501" y="578"/>
                    <a:pt x="7501" y="552"/>
                  </a:cubicBezTo>
                  <a:cubicBezTo>
                    <a:pt x="7501" y="525"/>
                    <a:pt x="7522" y="504"/>
                    <a:pt x="7549" y="504"/>
                  </a:cubicBezTo>
                  <a:cubicBezTo>
                    <a:pt x="7575" y="504"/>
                    <a:pt x="7597" y="525"/>
                    <a:pt x="7597" y="55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9" name="Forma 8"/>
            <p:cNvSpPr/>
            <p:nvPr/>
          </p:nvSpPr>
          <p:spPr>
            <a:xfrm>
              <a:off x="457200" y="2743200"/>
              <a:ext cx="6949440" cy="548640"/>
            </a:xfrm>
            <a:custGeom>
              <a:avLst/>
              <a:gdLst/>
              <a:ahLst/>
              <a:cxnLst/>
              <a:rect l="0" t="0" r="r" b="b"/>
              <a:pathLst>
                <a:path w="7600" h="600" fill="none">
                  <a:moveTo>
                    <a:pt x="34" y="96"/>
                  </a:moveTo>
                  <a:lnTo>
                    <a:pt x="34" y="290"/>
                  </a:lnTo>
                </a:path>
                <a:path w="7600" h="600" fill="none">
                  <a:moveTo>
                    <a:pt x="66" y="96"/>
                  </a:moveTo>
                  <a:lnTo>
                    <a:pt x="66" y="290"/>
                  </a:lnTo>
                </a:path>
                <a:path w="7600" h="600" fill="none">
                  <a:moveTo>
                    <a:pt x="34" y="504"/>
                  </a:moveTo>
                  <a:lnTo>
                    <a:pt x="34" y="310"/>
                  </a:lnTo>
                </a:path>
                <a:path w="7600" h="600" fill="none">
                  <a:moveTo>
                    <a:pt x="66" y="504"/>
                  </a:moveTo>
                  <a:lnTo>
                    <a:pt x="66" y="310"/>
                  </a:lnTo>
                </a:path>
                <a:path w="7600" h="600" fill="none">
                  <a:moveTo>
                    <a:pt x="136" y="96"/>
                  </a:moveTo>
                  <a:lnTo>
                    <a:pt x="136" y="290"/>
                  </a:lnTo>
                </a:path>
                <a:path w="7600" h="600" fill="none">
                  <a:moveTo>
                    <a:pt x="168" y="96"/>
                  </a:moveTo>
                  <a:lnTo>
                    <a:pt x="168" y="290"/>
                  </a:lnTo>
                </a:path>
                <a:path w="7600" h="600" fill="none">
                  <a:moveTo>
                    <a:pt x="136" y="504"/>
                  </a:moveTo>
                  <a:lnTo>
                    <a:pt x="136" y="310"/>
                  </a:lnTo>
                </a:path>
                <a:path w="7600" h="600" fill="none">
                  <a:moveTo>
                    <a:pt x="168" y="504"/>
                  </a:moveTo>
                  <a:lnTo>
                    <a:pt x="168" y="310"/>
                  </a:lnTo>
                </a:path>
                <a:path w="7600" h="600" fill="none">
                  <a:moveTo>
                    <a:pt x="237" y="96"/>
                  </a:moveTo>
                  <a:lnTo>
                    <a:pt x="237" y="290"/>
                  </a:lnTo>
                </a:path>
                <a:path w="7600" h="600" fill="none">
                  <a:moveTo>
                    <a:pt x="269" y="96"/>
                  </a:moveTo>
                  <a:lnTo>
                    <a:pt x="269" y="290"/>
                  </a:lnTo>
                </a:path>
                <a:path w="7600" h="600" fill="none">
                  <a:moveTo>
                    <a:pt x="237" y="504"/>
                  </a:moveTo>
                  <a:lnTo>
                    <a:pt x="237" y="310"/>
                  </a:lnTo>
                </a:path>
                <a:path w="7600" h="600" fill="none">
                  <a:moveTo>
                    <a:pt x="269" y="504"/>
                  </a:moveTo>
                  <a:lnTo>
                    <a:pt x="269" y="310"/>
                  </a:lnTo>
                </a:path>
                <a:path w="7600" h="600" fill="none">
                  <a:moveTo>
                    <a:pt x="338" y="96"/>
                  </a:moveTo>
                  <a:lnTo>
                    <a:pt x="338" y="290"/>
                  </a:lnTo>
                </a:path>
                <a:path w="7600" h="600" fill="none">
                  <a:moveTo>
                    <a:pt x="370" y="96"/>
                  </a:moveTo>
                  <a:lnTo>
                    <a:pt x="370" y="290"/>
                  </a:lnTo>
                </a:path>
                <a:path w="7600" h="600" fill="none">
                  <a:moveTo>
                    <a:pt x="338" y="504"/>
                  </a:moveTo>
                  <a:lnTo>
                    <a:pt x="338" y="310"/>
                  </a:lnTo>
                </a:path>
                <a:path w="7600" h="600" fill="none">
                  <a:moveTo>
                    <a:pt x="370" y="504"/>
                  </a:moveTo>
                  <a:lnTo>
                    <a:pt x="370" y="310"/>
                  </a:lnTo>
                </a:path>
                <a:path w="7600" h="600" fill="none">
                  <a:moveTo>
                    <a:pt x="440" y="96"/>
                  </a:moveTo>
                  <a:lnTo>
                    <a:pt x="440" y="290"/>
                  </a:lnTo>
                </a:path>
                <a:path w="7600" h="600" fill="none">
                  <a:moveTo>
                    <a:pt x="472" y="96"/>
                  </a:moveTo>
                  <a:lnTo>
                    <a:pt x="472" y="290"/>
                  </a:lnTo>
                </a:path>
                <a:path w="7600" h="600" fill="none">
                  <a:moveTo>
                    <a:pt x="440" y="504"/>
                  </a:moveTo>
                  <a:lnTo>
                    <a:pt x="440" y="310"/>
                  </a:lnTo>
                </a:path>
                <a:path w="7600" h="600" fill="none">
                  <a:moveTo>
                    <a:pt x="472" y="504"/>
                  </a:moveTo>
                  <a:lnTo>
                    <a:pt x="472" y="310"/>
                  </a:lnTo>
                </a:path>
                <a:path w="7600" h="600" fill="none">
                  <a:moveTo>
                    <a:pt x="541" y="96"/>
                  </a:moveTo>
                  <a:lnTo>
                    <a:pt x="541" y="290"/>
                  </a:lnTo>
                </a:path>
                <a:path w="7600" h="600" fill="none">
                  <a:moveTo>
                    <a:pt x="573" y="96"/>
                  </a:moveTo>
                  <a:lnTo>
                    <a:pt x="573" y="290"/>
                  </a:lnTo>
                </a:path>
                <a:path w="7600" h="600" fill="none">
                  <a:moveTo>
                    <a:pt x="541" y="504"/>
                  </a:moveTo>
                  <a:lnTo>
                    <a:pt x="541" y="310"/>
                  </a:lnTo>
                </a:path>
                <a:path w="7600" h="600" fill="none">
                  <a:moveTo>
                    <a:pt x="573" y="504"/>
                  </a:moveTo>
                  <a:lnTo>
                    <a:pt x="573" y="310"/>
                  </a:lnTo>
                </a:path>
                <a:path w="7600" h="600" fill="none">
                  <a:moveTo>
                    <a:pt x="642" y="96"/>
                  </a:moveTo>
                  <a:lnTo>
                    <a:pt x="642" y="290"/>
                  </a:lnTo>
                </a:path>
                <a:path w="7600" h="600" fill="none">
                  <a:moveTo>
                    <a:pt x="674" y="96"/>
                  </a:moveTo>
                  <a:lnTo>
                    <a:pt x="674" y="290"/>
                  </a:lnTo>
                </a:path>
                <a:path w="7600" h="600" fill="none">
                  <a:moveTo>
                    <a:pt x="642" y="504"/>
                  </a:moveTo>
                  <a:lnTo>
                    <a:pt x="642" y="310"/>
                  </a:lnTo>
                </a:path>
                <a:path w="7600" h="600" fill="none">
                  <a:moveTo>
                    <a:pt x="674" y="504"/>
                  </a:moveTo>
                  <a:lnTo>
                    <a:pt x="674" y="310"/>
                  </a:lnTo>
                </a:path>
                <a:path w="7600" h="600" fill="none">
                  <a:moveTo>
                    <a:pt x="744" y="96"/>
                  </a:moveTo>
                  <a:lnTo>
                    <a:pt x="744" y="290"/>
                  </a:lnTo>
                </a:path>
                <a:path w="7600" h="600" fill="none">
                  <a:moveTo>
                    <a:pt x="776" y="96"/>
                  </a:moveTo>
                  <a:lnTo>
                    <a:pt x="776" y="290"/>
                  </a:lnTo>
                </a:path>
                <a:path w="7600" h="600" fill="none">
                  <a:moveTo>
                    <a:pt x="744" y="504"/>
                  </a:moveTo>
                  <a:lnTo>
                    <a:pt x="744" y="310"/>
                  </a:lnTo>
                </a:path>
                <a:path w="7600" h="600" fill="none">
                  <a:moveTo>
                    <a:pt x="776" y="504"/>
                  </a:moveTo>
                  <a:lnTo>
                    <a:pt x="776" y="310"/>
                  </a:lnTo>
                </a:path>
                <a:path w="7600" h="600" fill="none">
                  <a:moveTo>
                    <a:pt x="845" y="96"/>
                  </a:moveTo>
                  <a:lnTo>
                    <a:pt x="845" y="290"/>
                  </a:lnTo>
                </a:path>
                <a:path w="7600" h="600" fill="none">
                  <a:moveTo>
                    <a:pt x="877" y="96"/>
                  </a:moveTo>
                  <a:lnTo>
                    <a:pt x="877" y="290"/>
                  </a:lnTo>
                </a:path>
                <a:path w="7600" h="600" fill="none">
                  <a:moveTo>
                    <a:pt x="845" y="504"/>
                  </a:moveTo>
                  <a:lnTo>
                    <a:pt x="845" y="310"/>
                  </a:lnTo>
                </a:path>
                <a:path w="7600" h="600" fill="none">
                  <a:moveTo>
                    <a:pt x="877" y="504"/>
                  </a:moveTo>
                  <a:lnTo>
                    <a:pt x="877" y="310"/>
                  </a:lnTo>
                </a:path>
                <a:path w="7600" h="600" fill="none">
                  <a:moveTo>
                    <a:pt x="946" y="96"/>
                  </a:moveTo>
                  <a:lnTo>
                    <a:pt x="946" y="290"/>
                  </a:lnTo>
                </a:path>
                <a:path w="7600" h="600" fill="none">
                  <a:moveTo>
                    <a:pt x="978" y="96"/>
                  </a:moveTo>
                  <a:lnTo>
                    <a:pt x="978" y="290"/>
                  </a:lnTo>
                </a:path>
                <a:path w="7600" h="600" fill="none">
                  <a:moveTo>
                    <a:pt x="946" y="504"/>
                  </a:moveTo>
                  <a:lnTo>
                    <a:pt x="946" y="310"/>
                  </a:lnTo>
                </a:path>
                <a:path w="7600" h="600" fill="none">
                  <a:moveTo>
                    <a:pt x="978" y="504"/>
                  </a:moveTo>
                  <a:lnTo>
                    <a:pt x="978" y="310"/>
                  </a:lnTo>
                </a:path>
                <a:path w="7600" h="600" fill="none">
                  <a:moveTo>
                    <a:pt x="1048" y="96"/>
                  </a:moveTo>
                  <a:lnTo>
                    <a:pt x="1048" y="290"/>
                  </a:lnTo>
                </a:path>
                <a:path w="7600" h="600" fill="none">
                  <a:moveTo>
                    <a:pt x="1080" y="96"/>
                  </a:moveTo>
                  <a:lnTo>
                    <a:pt x="1080" y="290"/>
                  </a:lnTo>
                </a:path>
                <a:path w="7600" h="600" fill="none">
                  <a:moveTo>
                    <a:pt x="1048" y="504"/>
                  </a:moveTo>
                  <a:lnTo>
                    <a:pt x="1048" y="310"/>
                  </a:lnTo>
                </a:path>
                <a:path w="7600" h="600" fill="none">
                  <a:moveTo>
                    <a:pt x="1080" y="504"/>
                  </a:moveTo>
                  <a:lnTo>
                    <a:pt x="1080" y="310"/>
                  </a:lnTo>
                </a:path>
                <a:path w="7600" h="600" fill="none">
                  <a:moveTo>
                    <a:pt x="1149" y="96"/>
                  </a:moveTo>
                  <a:lnTo>
                    <a:pt x="1149" y="290"/>
                  </a:lnTo>
                </a:path>
                <a:path w="7600" h="600" fill="none">
                  <a:moveTo>
                    <a:pt x="1181" y="96"/>
                  </a:moveTo>
                  <a:lnTo>
                    <a:pt x="1181" y="290"/>
                  </a:lnTo>
                </a:path>
                <a:path w="7600" h="600" fill="none">
                  <a:moveTo>
                    <a:pt x="1149" y="504"/>
                  </a:moveTo>
                  <a:lnTo>
                    <a:pt x="1149" y="310"/>
                  </a:lnTo>
                </a:path>
                <a:path w="7600" h="600" fill="none">
                  <a:moveTo>
                    <a:pt x="1181" y="504"/>
                  </a:moveTo>
                  <a:lnTo>
                    <a:pt x="1181" y="310"/>
                  </a:lnTo>
                </a:path>
                <a:path w="7600" h="600" fill="none">
                  <a:moveTo>
                    <a:pt x="1250" y="96"/>
                  </a:moveTo>
                  <a:lnTo>
                    <a:pt x="1250" y="290"/>
                  </a:lnTo>
                </a:path>
                <a:path w="7600" h="600" fill="none">
                  <a:moveTo>
                    <a:pt x="1282" y="96"/>
                  </a:moveTo>
                  <a:lnTo>
                    <a:pt x="1282" y="290"/>
                  </a:lnTo>
                </a:path>
                <a:path w="7600" h="600" fill="none">
                  <a:moveTo>
                    <a:pt x="1250" y="504"/>
                  </a:moveTo>
                  <a:lnTo>
                    <a:pt x="1250" y="310"/>
                  </a:lnTo>
                </a:path>
                <a:path w="7600" h="600" fill="none">
                  <a:moveTo>
                    <a:pt x="1282" y="504"/>
                  </a:moveTo>
                  <a:lnTo>
                    <a:pt x="1282" y="310"/>
                  </a:lnTo>
                </a:path>
                <a:path w="7600" h="600" fill="none">
                  <a:moveTo>
                    <a:pt x="1352" y="96"/>
                  </a:moveTo>
                  <a:lnTo>
                    <a:pt x="1352" y="290"/>
                  </a:lnTo>
                </a:path>
                <a:path w="7600" h="600" fill="none">
                  <a:moveTo>
                    <a:pt x="1384" y="96"/>
                  </a:moveTo>
                  <a:lnTo>
                    <a:pt x="1384" y="290"/>
                  </a:lnTo>
                </a:path>
                <a:path w="7600" h="600" fill="none">
                  <a:moveTo>
                    <a:pt x="1352" y="504"/>
                  </a:moveTo>
                  <a:lnTo>
                    <a:pt x="1352" y="310"/>
                  </a:lnTo>
                </a:path>
                <a:path w="7600" h="600" fill="none">
                  <a:moveTo>
                    <a:pt x="1384" y="504"/>
                  </a:moveTo>
                  <a:lnTo>
                    <a:pt x="1384" y="310"/>
                  </a:lnTo>
                </a:path>
                <a:path w="7600" h="600" fill="none">
                  <a:moveTo>
                    <a:pt x="1453" y="96"/>
                  </a:moveTo>
                  <a:lnTo>
                    <a:pt x="1453" y="290"/>
                  </a:lnTo>
                </a:path>
                <a:path w="7600" h="600" fill="none">
                  <a:moveTo>
                    <a:pt x="1485" y="96"/>
                  </a:moveTo>
                  <a:lnTo>
                    <a:pt x="1485" y="290"/>
                  </a:lnTo>
                </a:path>
                <a:path w="7600" h="600" fill="none">
                  <a:moveTo>
                    <a:pt x="1453" y="504"/>
                  </a:moveTo>
                  <a:lnTo>
                    <a:pt x="1453" y="310"/>
                  </a:lnTo>
                </a:path>
                <a:path w="7600" h="600" fill="none">
                  <a:moveTo>
                    <a:pt x="1485" y="504"/>
                  </a:moveTo>
                  <a:lnTo>
                    <a:pt x="1485" y="310"/>
                  </a:lnTo>
                </a:path>
                <a:path w="7600" h="600" fill="none">
                  <a:moveTo>
                    <a:pt x="1554" y="96"/>
                  </a:moveTo>
                  <a:lnTo>
                    <a:pt x="1554" y="290"/>
                  </a:lnTo>
                </a:path>
                <a:path w="7600" h="600" fill="none">
                  <a:moveTo>
                    <a:pt x="1586" y="96"/>
                  </a:moveTo>
                  <a:lnTo>
                    <a:pt x="1586" y="290"/>
                  </a:lnTo>
                </a:path>
                <a:path w="7600" h="600" fill="none">
                  <a:moveTo>
                    <a:pt x="1554" y="504"/>
                  </a:moveTo>
                  <a:lnTo>
                    <a:pt x="1554" y="310"/>
                  </a:lnTo>
                </a:path>
                <a:path w="7600" h="600" fill="none">
                  <a:moveTo>
                    <a:pt x="1586" y="504"/>
                  </a:moveTo>
                  <a:lnTo>
                    <a:pt x="1586" y="310"/>
                  </a:lnTo>
                </a:path>
                <a:path w="7600" h="600" fill="none">
                  <a:moveTo>
                    <a:pt x="1656" y="96"/>
                  </a:moveTo>
                  <a:lnTo>
                    <a:pt x="1656" y="290"/>
                  </a:lnTo>
                </a:path>
                <a:path w="7600" h="600" fill="none">
                  <a:moveTo>
                    <a:pt x="1688" y="96"/>
                  </a:moveTo>
                  <a:lnTo>
                    <a:pt x="1688" y="290"/>
                  </a:lnTo>
                </a:path>
                <a:path w="7600" h="600" fill="none">
                  <a:moveTo>
                    <a:pt x="1656" y="504"/>
                  </a:moveTo>
                  <a:lnTo>
                    <a:pt x="1656" y="310"/>
                  </a:lnTo>
                </a:path>
                <a:path w="7600" h="600" fill="none">
                  <a:moveTo>
                    <a:pt x="1688" y="504"/>
                  </a:moveTo>
                  <a:lnTo>
                    <a:pt x="1688" y="310"/>
                  </a:lnTo>
                </a:path>
                <a:path w="7600" h="600" fill="none">
                  <a:moveTo>
                    <a:pt x="1757" y="96"/>
                  </a:moveTo>
                  <a:lnTo>
                    <a:pt x="1757" y="290"/>
                  </a:lnTo>
                </a:path>
                <a:path w="7600" h="600" fill="none">
                  <a:moveTo>
                    <a:pt x="1789" y="96"/>
                  </a:moveTo>
                  <a:lnTo>
                    <a:pt x="1789" y="290"/>
                  </a:lnTo>
                </a:path>
                <a:path w="7600" h="600" fill="none">
                  <a:moveTo>
                    <a:pt x="1757" y="504"/>
                  </a:moveTo>
                  <a:lnTo>
                    <a:pt x="1757" y="310"/>
                  </a:lnTo>
                </a:path>
                <a:path w="7600" h="600" fill="none">
                  <a:moveTo>
                    <a:pt x="1789" y="504"/>
                  </a:moveTo>
                  <a:lnTo>
                    <a:pt x="1789" y="310"/>
                  </a:lnTo>
                </a:path>
                <a:path w="7600" h="600" fill="none">
                  <a:moveTo>
                    <a:pt x="1858" y="96"/>
                  </a:moveTo>
                  <a:lnTo>
                    <a:pt x="1858" y="290"/>
                  </a:lnTo>
                </a:path>
                <a:path w="7600" h="600" fill="none">
                  <a:moveTo>
                    <a:pt x="1890" y="96"/>
                  </a:moveTo>
                  <a:lnTo>
                    <a:pt x="1890" y="290"/>
                  </a:lnTo>
                </a:path>
                <a:path w="7600" h="600" fill="none">
                  <a:moveTo>
                    <a:pt x="1858" y="504"/>
                  </a:moveTo>
                  <a:lnTo>
                    <a:pt x="1858" y="310"/>
                  </a:lnTo>
                </a:path>
                <a:path w="7600" h="600" fill="none">
                  <a:moveTo>
                    <a:pt x="1890" y="504"/>
                  </a:moveTo>
                  <a:lnTo>
                    <a:pt x="1890" y="310"/>
                  </a:lnTo>
                </a:path>
                <a:path w="7600" h="600" fill="none">
                  <a:moveTo>
                    <a:pt x="1960" y="96"/>
                  </a:moveTo>
                  <a:lnTo>
                    <a:pt x="1960" y="290"/>
                  </a:lnTo>
                </a:path>
                <a:path w="7600" h="600" fill="none">
                  <a:moveTo>
                    <a:pt x="1992" y="96"/>
                  </a:moveTo>
                  <a:lnTo>
                    <a:pt x="1992" y="290"/>
                  </a:lnTo>
                </a:path>
                <a:path w="7600" h="600" fill="none">
                  <a:moveTo>
                    <a:pt x="1960" y="504"/>
                  </a:moveTo>
                  <a:lnTo>
                    <a:pt x="1960" y="310"/>
                  </a:lnTo>
                </a:path>
                <a:path w="7600" h="600" fill="none">
                  <a:moveTo>
                    <a:pt x="1992" y="504"/>
                  </a:moveTo>
                  <a:lnTo>
                    <a:pt x="1992" y="310"/>
                  </a:lnTo>
                </a:path>
                <a:path w="7600" h="600" fill="none">
                  <a:moveTo>
                    <a:pt x="2061" y="96"/>
                  </a:moveTo>
                  <a:lnTo>
                    <a:pt x="2061" y="290"/>
                  </a:lnTo>
                </a:path>
                <a:path w="7600" h="600" fill="none">
                  <a:moveTo>
                    <a:pt x="2093" y="96"/>
                  </a:moveTo>
                  <a:lnTo>
                    <a:pt x="2093" y="290"/>
                  </a:lnTo>
                </a:path>
                <a:path w="7600" h="600" fill="none">
                  <a:moveTo>
                    <a:pt x="2061" y="504"/>
                  </a:moveTo>
                  <a:lnTo>
                    <a:pt x="2061" y="310"/>
                  </a:lnTo>
                </a:path>
                <a:path w="7600" h="600" fill="none">
                  <a:moveTo>
                    <a:pt x="2093" y="504"/>
                  </a:moveTo>
                  <a:lnTo>
                    <a:pt x="2093" y="310"/>
                  </a:lnTo>
                </a:path>
                <a:path w="7600" h="600" fill="none">
                  <a:moveTo>
                    <a:pt x="2162" y="96"/>
                  </a:moveTo>
                  <a:lnTo>
                    <a:pt x="2162" y="290"/>
                  </a:lnTo>
                </a:path>
                <a:path w="7600" h="600" fill="none">
                  <a:moveTo>
                    <a:pt x="2194" y="96"/>
                  </a:moveTo>
                  <a:lnTo>
                    <a:pt x="2194" y="290"/>
                  </a:lnTo>
                </a:path>
                <a:path w="7600" h="600" fill="none">
                  <a:moveTo>
                    <a:pt x="2162" y="504"/>
                  </a:moveTo>
                  <a:lnTo>
                    <a:pt x="2162" y="310"/>
                  </a:lnTo>
                </a:path>
                <a:path w="7600" h="600" fill="none">
                  <a:moveTo>
                    <a:pt x="2194" y="504"/>
                  </a:moveTo>
                  <a:lnTo>
                    <a:pt x="2194" y="310"/>
                  </a:lnTo>
                </a:path>
                <a:path w="7600" h="600" fill="none">
                  <a:moveTo>
                    <a:pt x="2264" y="96"/>
                  </a:moveTo>
                  <a:lnTo>
                    <a:pt x="2264" y="290"/>
                  </a:lnTo>
                </a:path>
                <a:path w="7600" h="600" fill="none">
                  <a:moveTo>
                    <a:pt x="2296" y="96"/>
                  </a:moveTo>
                  <a:lnTo>
                    <a:pt x="2296" y="290"/>
                  </a:lnTo>
                </a:path>
                <a:path w="7600" h="600" fill="none">
                  <a:moveTo>
                    <a:pt x="2264" y="504"/>
                  </a:moveTo>
                  <a:lnTo>
                    <a:pt x="2264" y="310"/>
                  </a:lnTo>
                </a:path>
                <a:path w="7600" h="600" fill="none">
                  <a:moveTo>
                    <a:pt x="2296" y="504"/>
                  </a:moveTo>
                  <a:lnTo>
                    <a:pt x="2296" y="310"/>
                  </a:lnTo>
                </a:path>
                <a:path w="7600" h="600" fill="none">
                  <a:moveTo>
                    <a:pt x="2365" y="96"/>
                  </a:moveTo>
                  <a:lnTo>
                    <a:pt x="2365" y="290"/>
                  </a:lnTo>
                </a:path>
                <a:path w="7600" h="600" fill="none">
                  <a:moveTo>
                    <a:pt x="2397" y="96"/>
                  </a:moveTo>
                  <a:lnTo>
                    <a:pt x="2397" y="290"/>
                  </a:lnTo>
                </a:path>
                <a:path w="7600" h="600" fill="none">
                  <a:moveTo>
                    <a:pt x="2365" y="504"/>
                  </a:moveTo>
                  <a:lnTo>
                    <a:pt x="2365" y="310"/>
                  </a:lnTo>
                </a:path>
                <a:path w="7600" h="600" fill="none">
                  <a:moveTo>
                    <a:pt x="2397" y="504"/>
                  </a:moveTo>
                  <a:lnTo>
                    <a:pt x="2397" y="310"/>
                  </a:lnTo>
                </a:path>
                <a:path w="7600" h="600" fill="none">
                  <a:moveTo>
                    <a:pt x="2466" y="96"/>
                  </a:moveTo>
                  <a:lnTo>
                    <a:pt x="2466" y="290"/>
                  </a:lnTo>
                </a:path>
                <a:path w="7600" h="600" fill="none">
                  <a:moveTo>
                    <a:pt x="2498" y="96"/>
                  </a:moveTo>
                  <a:lnTo>
                    <a:pt x="2498" y="290"/>
                  </a:lnTo>
                </a:path>
                <a:path w="7600" h="600" fill="none">
                  <a:moveTo>
                    <a:pt x="2466" y="504"/>
                  </a:moveTo>
                  <a:lnTo>
                    <a:pt x="2466" y="310"/>
                  </a:lnTo>
                </a:path>
                <a:path w="7600" h="600" fill="none">
                  <a:moveTo>
                    <a:pt x="2498" y="504"/>
                  </a:moveTo>
                  <a:lnTo>
                    <a:pt x="2498" y="310"/>
                  </a:lnTo>
                </a:path>
                <a:path w="7600" h="600" fill="none">
                  <a:moveTo>
                    <a:pt x="2568" y="96"/>
                  </a:moveTo>
                  <a:lnTo>
                    <a:pt x="2568" y="290"/>
                  </a:lnTo>
                </a:path>
                <a:path w="7600" h="600" fill="none">
                  <a:moveTo>
                    <a:pt x="2600" y="96"/>
                  </a:moveTo>
                  <a:lnTo>
                    <a:pt x="2600" y="290"/>
                  </a:lnTo>
                </a:path>
                <a:path w="7600" h="600" fill="none">
                  <a:moveTo>
                    <a:pt x="2568" y="504"/>
                  </a:moveTo>
                  <a:lnTo>
                    <a:pt x="2568" y="310"/>
                  </a:lnTo>
                </a:path>
                <a:path w="7600" h="600" fill="none">
                  <a:moveTo>
                    <a:pt x="2600" y="504"/>
                  </a:moveTo>
                  <a:lnTo>
                    <a:pt x="2600" y="310"/>
                  </a:lnTo>
                </a:path>
                <a:path w="7600" h="600" fill="none">
                  <a:moveTo>
                    <a:pt x="2669" y="96"/>
                  </a:moveTo>
                  <a:lnTo>
                    <a:pt x="2669" y="290"/>
                  </a:lnTo>
                </a:path>
                <a:path w="7600" h="600" fill="none">
                  <a:moveTo>
                    <a:pt x="2701" y="96"/>
                  </a:moveTo>
                  <a:lnTo>
                    <a:pt x="2701" y="290"/>
                  </a:lnTo>
                </a:path>
                <a:path w="7600" h="600" fill="none">
                  <a:moveTo>
                    <a:pt x="2669" y="504"/>
                  </a:moveTo>
                  <a:lnTo>
                    <a:pt x="2669" y="310"/>
                  </a:lnTo>
                </a:path>
                <a:path w="7600" h="600" fill="none">
                  <a:moveTo>
                    <a:pt x="2701" y="504"/>
                  </a:moveTo>
                  <a:lnTo>
                    <a:pt x="2701" y="310"/>
                  </a:lnTo>
                </a:path>
                <a:path w="7600" h="600" fill="none">
                  <a:moveTo>
                    <a:pt x="2770" y="96"/>
                  </a:moveTo>
                  <a:lnTo>
                    <a:pt x="2770" y="290"/>
                  </a:lnTo>
                </a:path>
                <a:path w="7600" h="600" fill="none">
                  <a:moveTo>
                    <a:pt x="2802" y="96"/>
                  </a:moveTo>
                  <a:lnTo>
                    <a:pt x="2802" y="290"/>
                  </a:lnTo>
                </a:path>
                <a:path w="7600" h="600" fill="none">
                  <a:moveTo>
                    <a:pt x="2770" y="504"/>
                  </a:moveTo>
                  <a:lnTo>
                    <a:pt x="2770" y="310"/>
                  </a:lnTo>
                </a:path>
                <a:path w="7600" h="600" fill="none">
                  <a:moveTo>
                    <a:pt x="2802" y="504"/>
                  </a:moveTo>
                  <a:lnTo>
                    <a:pt x="2802" y="310"/>
                  </a:lnTo>
                </a:path>
                <a:path w="7600" h="600" fill="none">
                  <a:moveTo>
                    <a:pt x="2872" y="96"/>
                  </a:moveTo>
                  <a:lnTo>
                    <a:pt x="2872" y="290"/>
                  </a:lnTo>
                </a:path>
                <a:path w="7600" h="600" fill="none">
                  <a:moveTo>
                    <a:pt x="2904" y="96"/>
                  </a:moveTo>
                  <a:lnTo>
                    <a:pt x="2904" y="290"/>
                  </a:lnTo>
                </a:path>
                <a:path w="7600" h="600" fill="none">
                  <a:moveTo>
                    <a:pt x="2872" y="504"/>
                  </a:moveTo>
                  <a:lnTo>
                    <a:pt x="2872" y="310"/>
                  </a:lnTo>
                </a:path>
                <a:path w="7600" h="600" fill="none">
                  <a:moveTo>
                    <a:pt x="2904" y="504"/>
                  </a:moveTo>
                  <a:lnTo>
                    <a:pt x="2904" y="310"/>
                  </a:lnTo>
                </a:path>
                <a:path w="7600" h="600" fill="none">
                  <a:moveTo>
                    <a:pt x="2973" y="96"/>
                  </a:moveTo>
                  <a:lnTo>
                    <a:pt x="2973" y="290"/>
                  </a:lnTo>
                </a:path>
                <a:path w="7600" h="600" fill="none">
                  <a:moveTo>
                    <a:pt x="3005" y="96"/>
                  </a:moveTo>
                  <a:lnTo>
                    <a:pt x="3005" y="290"/>
                  </a:lnTo>
                </a:path>
                <a:path w="7600" h="600" fill="none">
                  <a:moveTo>
                    <a:pt x="2973" y="504"/>
                  </a:moveTo>
                  <a:lnTo>
                    <a:pt x="2973" y="310"/>
                  </a:lnTo>
                </a:path>
                <a:path w="7600" h="600" fill="none">
                  <a:moveTo>
                    <a:pt x="3005" y="504"/>
                  </a:moveTo>
                  <a:lnTo>
                    <a:pt x="3005" y="310"/>
                  </a:lnTo>
                </a:path>
                <a:path w="7600" h="600" fill="none">
                  <a:moveTo>
                    <a:pt x="3074" y="96"/>
                  </a:moveTo>
                  <a:lnTo>
                    <a:pt x="3074" y="290"/>
                  </a:lnTo>
                </a:path>
                <a:path w="7600" h="600" fill="none">
                  <a:moveTo>
                    <a:pt x="3106" y="96"/>
                  </a:moveTo>
                  <a:lnTo>
                    <a:pt x="3106" y="290"/>
                  </a:lnTo>
                </a:path>
                <a:path w="7600" h="600" fill="none">
                  <a:moveTo>
                    <a:pt x="3074" y="504"/>
                  </a:moveTo>
                  <a:lnTo>
                    <a:pt x="3074" y="310"/>
                  </a:lnTo>
                </a:path>
                <a:path w="7600" h="600" fill="none">
                  <a:moveTo>
                    <a:pt x="3106" y="504"/>
                  </a:moveTo>
                  <a:lnTo>
                    <a:pt x="3106" y="310"/>
                  </a:lnTo>
                </a:path>
                <a:path w="7600" h="600" fill="none">
                  <a:moveTo>
                    <a:pt x="3176" y="96"/>
                  </a:moveTo>
                  <a:lnTo>
                    <a:pt x="3176" y="290"/>
                  </a:lnTo>
                </a:path>
                <a:path w="7600" h="600" fill="none">
                  <a:moveTo>
                    <a:pt x="3208" y="96"/>
                  </a:moveTo>
                  <a:lnTo>
                    <a:pt x="3208" y="290"/>
                  </a:lnTo>
                </a:path>
                <a:path w="7600" h="600" fill="none">
                  <a:moveTo>
                    <a:pt x="3176" y="504"/>
                  </a:moveTo>
                  <a:lnTo>
                    <a:pt x="3176" y="310"/>
                  </a:lnTo>
                </a:path>
                <a:path w="7600" h="600" fill="none">
                  <a:moveTo>
                    <a:pt x="3208" y="504"/>
                  </a:moveTo>
                  <a:lnTo>
                    <a:pt x="3208" y="310"/>
                  </a:lnTo>
                </a:path>
                <a:path w="7600" h="600" fill="none">
                  <a:moveTo>
                    <a:pt x="3277" y="96"/>
                  </a:moveTo>
                  <a:lnTo>
                    <a:pt x="3277" y="290"/>
                  </a:lnTo>
                </a:path>
                <a:path w="7600" h="600" fill="none">
                  <a:moveTo>
                    <a:pt x="3309" y="96"/>
                  </a:moveTo>
                  <a:lnTo>
                    <a:pt x="3309" y="290"/>
                  </a:lnTo>
                </a:path>
                <a:path w="7600" h="600" fill="none">
                  <a:moveTo>
                    <a:pt x="3277" y="504"/>
                  </a:moveTo>
                  <a:lnTo>
                    <a:pt x="3277" y="310"/>
                  </a:lnTo>
                </a:path>
                <a:path w="7600" h="600" fill="none">
                  <a:moveTo>
                    <a:pt x="3309" y="504"/>
                  </a:moveTo>
                  <a:lnTo>
                    <a:pt x="3309" y="310"/>
                  </a:lnTo>
                </a:path>
                <a:path w="7600" h="600" fill="none">
                  <a:moveTo>
                    <a:pt x="3378" y="96"/>
                  </a:moveTo>
                  <a:lnTo>
                    <a:pt x="3378" y="290"/>
                  </a:lnTo>
                </a:path>
                <a:path w="7600" h="600" fill="none">
                  <a:moveTo>
                    <a:pt x="3410" y="96"/>
                  </a:moveTo>
                  <a:lnTo>
                    <a:pt x="3410" y="290"/>
                  </a:lnTo>
                </a:path>
                <a:path w="7600" h="600" fill="none">
                  <a:moveTo>
                    <a:pt x="3378" y="504"/>
                  </a:moveTo>
                  <a:lnTo>
                    <a:pt x="3378" y="310"/>
                  </a:lnTo>
                </a:path>
                <a:path w="7600" h="600" fill="none">
                  <a:moveTo>
                    <a:pt x="3410" y="504"/>
                  </a:moveTo>
                  <a:lnTo>
                    <a:pt x="3410" y="310"/>
                  </a:lnTo>
                </a:path>
                <a:path w="7600" h="600" fill="none">
                  <a:moveTo>
                    <a:pt x="3480" y="96"/>
                  </a:moveTo>
                  <a:lnTo>
                    <a:pt x="3480" y="290"/>
                  </a:lnTo>
                </a:path>
                <a:path w="7600" h="600" fill="none">
                  <a:moveTo>
                    <a:pt x="3512" y="96"/>
                  </a:moveTo>
                  <a:lnTo>
                    <a:pt x="3512" y="290"/>
                  </a:lnTo>
                </a:path>
                <a:path w="7600" h="600" fill="none">
                  <a:moveTo>
                    <a:pt x="3480" y="504"/>
                  </a:moveTo>
                  <a:lnTo>
                    <a:pt x="3480" y="310"/>
                  </a:lnTo>
                </a:path>
                <a:path w="7600" h="600" fill="none">
                  <a:moveTo>
                    <a:pt x="3512" y="504"/>
                  </a:moveTo>
                  <a:lnTo>
                    <a:pt x="3512" y="310"/>
                  </a:lnTo>
                </a:path>
                <a:path w="7600" h="600" fill="none">
                  <a:moveTo>
                    <a:pt x="3581" y="96"/>
                  </a:moveTo>
                  <a:lnTo>
                    <a:pt x="3581" y="290"/>
                  </a:lnTo>
                </a:path>
                <a:path w="7600" h="600" fill="none">
                  <a:moveTo>
                    <a:pt x="3613" y="96"/>
                  </a:moveTo>
                  <a:lnTo>
                    <a:pt x="3613" y="290"/>
                  </a:lnTo>
                </a:path>
                <a:path w="7600" h="600" fill="none">
                  <a:moveTo>
                    <a:pt x="3581" y="504"/>
                  </a:moveTo>
                  <a:lnTo>
                    <a:pt x="3581" y="310"/>
                  </a:lnTo>
                </a:path>
                <a:path w="7600" h="600" fill="none">
                  <a:moveTo>
                    <a:pt x="3613" y="504"/>
                  </a:moveTo>
                  <a:lnTo>
                    <a:pt x="3613" y="310"/>
                  </a:lnTo>
                </a:path>
                <a:path w="7600" h="600" fill="none">
                  <a:moveTo>
                    <a:pt x="3682" y="96"/>
                  </a:moveTo>
                  <a:lnTo>
                    <a:pt x="3682" y="290"/>
                  </a:lnTo>
                </a:path>
                <a:path w="7600" h="600" fill="none">
                  <a:moveTo>
                    <a:pt x="3714" y="96"/>
                  </a:moveTo>
                  <a:lnTo>
                    <a:pt x="3714" y="290"/>
                  </a:lnTo>
                </a:path>
                <a:path w="7600" h="600" fill="none">
                  <a:moveTo>
                    <a:pt x="3682" y="504"/>
                  </a:moveTo>
                  <a:lnTo>
                    <a:pt x="3682" y="310"/>
                  </a:lnTo>
                </a:path>
                <a:path w="7600" h="600" fill="none">
                  <a:moveTo>
                    <a:pt x="3714" y="504"/>
                  </a:moveTo>
                  <a:lnTo>
                    <a:pt x="3714" y="310"/>
                  </a:lnTo>
                </a:path>
                <a:path w="7600" h="600" fill="none">
                  <a:moveTo>
                    <a:pt x="3784" y="96"/>
                  </a:moveTo>
                  <a:lnTo>
                    <a:pt x="3784" y="290"/>
                  </a:lnTo>
                </a:path>
                <a:path w="7600" h="600" fill="none">
                  <a:moveTo>
                    <a:pt x="3816" y="96"/>
                  </a:moveTo>
                  <a:lnTo>
                    <a:pt x="3816" y="290"/>
                  </a:lnTo>
                </a:path>
                <a:path w="7600" h="600" fill="none">
                  <a:moveTo>
                    <a:pt x="3784" y="504"/>
                  </a:moveTo>
                  <a:lnTo>
                    <a:pt x="3784" y="310"/>
                  </a:lnTo>
                </a:path>
                <a:path w="7600" h="600" fill="none">
                  <a:moveTo>
                    <a:pt x="3816" y="504"/>
                  </a:moveTo>
                  <a:lnTo>
                    <a:pt x="3816" y="310"/>
                  </a:lnTo>
                </a:path>
                <a:path w="7600" h="600" fill="none">
                  <a:moveTo>
                    <a:pt x="3885" y="96"/>
                  </a:moveTo>
                  <a:lnTo>
                    <a:pt x="3885" y="290"/>
                  </a:lnTo>
                </a:path>
                <a:path w="7600" h="600" fill="none">
                  <a:moveTo>
                    <a:pt x="3917" y="96"/>
                  </a:moveTo>
                  <a:lnTo>
                    <a:pt x="3917" y="290"/>
                  </a:lnTo>
                </a:path>
                <a:path w="7600" h="600" fill="none">
                  <a:moveTo>
                    <a:pt x="3885" y="504"/>
                  </a:moveTo>
                  <a:lnTo>
                    <a:pt x="3885" y="310"/>
                  </a:lnTo>
                </a:path>
                <a:path w="7600" h="600" fill="none">
                  <a:moveTo>
                    <a:pt x="3917" y="504"/>
                  </a:moveTo>
                  <a:lnTo>
                    <a:pt x="3917" y="310"/>
                  </a:lnTo>
                </a:path>
                <a:path w="7600" h="600" fill="none">
                  <a:moveTo>
                    <a:pt x="3986" y="96"/>
                  </a:moveTo>
                  <a:lnTo>
                    <a:pt x="3986" y="290"/>
                  </a:lnTo>
                </a:path>
                <a:path w="7600" h="600" fill="none">
                  <a:moveTo>
                    <a:pt x="4018" y="96"/>
                  </a:moveTo>
                  <a:lnTo>
                    <a:pt x="4018" y="290"/>
                  </a:lnTo>
                </a:path>
                <a:path w="7600" h="600" fill="none">
                  <a:moveTo>
                    <a:pt x="3986" y="504"/>
                  </a:moveTo>
                  <a:lnTo>
                    <a:pt x="3986" y="310"/>
                  </a:lnTo>
                </a:path>
                <a:path w="7600" h="600" fill="none">
                  <a:moveTo>
                    <a:pt x="4018" y="504"/>
                  </a:moveTo>
                  <a:lnTo>
                    <a:pt x="4018" y="310"/>
                  </a:lnTo>
                </a:path>
                <a:path w="7600" h="600" fill="none">
                  <a:moveTo>
                    <a:pt x="4088" y="96"/>
                  </a:moveTo>
                  <a:lnTo>
                    <a:pt x="4088" y="290"/>
                  </a:lnTo>
                </a:path>
                <a:path w="7600" h="600" fill="none">
                  <a:moveTo>
                    <a:pt x="4120" y="96"/>
                  </a:moveTo>
                  <a:lnTo>
                    <a:pt x="4120" y="290"/>
                  </a:lnTo>
                </a:path>
                <a:path w="7600" h="600" fill="none">
                  <a:moveTo>
                    <a:pt x="4088" y="504"/>
                  </a:moveTo>
                  <a:lnTo>
                    <a:pt x="4088" y="310"/>
                  </a:lnTo>
                </a:path>
                <a:path w="7600" h="600" fill="none">
                  <a:moveTo>
                    <a:pt x="4120" y="504"/>
                  </a:moveTo>
                  <a:lnTo>
                    <a:pt x="4120" y="310"/>
                  </a:lnTo>
                </a:path>
                <a:path w="7600" h="600" fill="none">
                  <a:moveTo>
                    <a:pt x="4189" y="96"/>
                  </a:moveTo>
                  <a:lnTo>
                    <a:pt x="4189" y="290"/>
                  </a:lnTo>
                </a:path>
                <a:path w="7600" h="600" fill="none">
                  <a:moveTo>
                    <a:pt x="4221" y="96"/>
                  </a:moveTo>
                  <a:lnTo>
                    <a:pt x="4221" y="290"/>
                  </a:lnTo>
                </a:path>
                <a:path w="7600" h="600" fill="none">
                  <a:moveTo>
                    <a:pt x="4189" y="504"/>
                  </a:moveTo>
                  <a:lnTo>
                    <a:pt x="4189" y="310"/>
                  </a:lnTo>
                </a:path>
                <a:path w="7600" h="600" fill="none">
                  <a:moveTo>
                    <a:pt x="4221" y="504"/>
                  </a:moveTo>
                  <a:lnTo>
                    <a:pt x="4221" y="310"/>
                  </a:lnTo>
                </a:path>
                <a:path w="7600" h="600" fill="none">
                  <a:moveTo>
                    <a:pt x="4290" y="96"/>
                  </a:moveTo>
                  <a:lnTo>
                    <a:pt x="4290" y="290"/>
                  </a:lnTo>
                </a:path>
                <a:path w="7600" h="600" fill="none">
                  <a:moveTo>
                    <a:pt x="4322" y="96"/>
                  </a:moveTo>
                  <a:lnTo>
                    <a:pt x="4322" y="290"/>
                  </a:lnTo>
                </a:path>
                <a:path w="7600" h="600" fill="none">
                  <a:moveTo>
                    <a:pt x="4290" y="504"/>
                  </a:moveTo>
                  <a:lnTo>
                    <a:pt x="4290" y="310"/>
                  </a:lnTo>
                </a:path>
                <a:path w="7600" h="600" fill="none">
                  <a:moveTo>
                    <a:pt x="4322" y="504"/>
                  </a:moveTo>
                  <a:lnTo>
                    <a:pt x="4322" y="310"/>
                  </a:lnTo>
                </a:path>
                <a:path w="7600" h="600" fill="none">
                  <a:moveTo>
                    <a:pt x="4392" y="96"/>
                  </a:moveTo>
                  <a:lnTo>
                    <a:pt x="4392" y="290"/>
                  </a:lnTo>
                </a:path>
                <a:path w="7600" h="600" fill="none">
                  <a:moveTo>
                    <a:pt x="4424" y="96"/>
                  </a:moveTo>
                  <a:lnTo>
                    <a:pt x="4424" y="290"/>
                  </a:lnTo>
                </a:path>
                <a:path w="7600" h="600" fill="none">
                  <a:moveTo>
                    <a:pt x="4392" y="504"/>
                  </a:moveTo>
                  <a:lnTo>
                    <a:pt x="4392" y="310"/>
                  </a:lnTo>
                </a:path>
                <a:path w="7600" h="600" fill="none">
                  <a:moveTo>
                    <a:pt x="4424" y="504"/>
                  </a:moveTo>
                  <a:lnTo>
                    <a:pt x="4424" y="310"/>
                  </a:lnTo>
                </a:path>
                <a:path w="7600" h="600" fill="none">
                  <a:moveTo>
                    <a:pt x="4493" y="96"/>
                  </a:moveTo>
                  <a:lnTo>
                    <a:pt x="4493" y="290"/>
                  </a:lnTo>
                </a:path>
                <a:path w="7600" h="600" fill="none">
                  <a:moveTo>
                    <a:pt x="4525" y="96"/>
                  </a:moveTo>
                  <a:lnTo>
                    <a:pt x="4525" y="290"/>
                  </a:lnTo>
                </a:path>
                <a:path w="7600" h="600" fill="none">
                  <a:moveTo>
                    <a:pt x="4493" y="504"/>
                  </a:moveTo>
                  <a:lnTo>
                    <a:pt x="4493" y="310"/>
                  </a:lnTo>
                </a:path>
                <a:path w="7600" h="600" fill="none">
                  <a:moveTo>
                    <a:pt x="4525" y="504"/>
                  </a:moveTo>
                  <a:lnTo>
                    <a:pt x="4525" y="310"/>
                  </a:lnTo>
                </a:path>
                <a:path w="7600" h="600" fill="none">
                  <a:moveTo>
                    <a:pt x="4594" y="96"/>
                  </a:moveTo>
                  <a:lnTo>
                    <a:pt x="4594" y="290"/>
                  </a:lnTo>
                </a:path>
                <a:path w="7600" h="600" fill="none">
                  <a:moveTo>
                    <a:pt x="4626" y="96"/>
                  </a:moveTo>
                  <a:lnTo>
                    <a:pt x="4626" y="290"/>
                  </a:lnTo>
                </a:path>
                <a:path w="7600" h="600" fill="none">
                  <a:moveTo>
                    <a:pt x="4594" y="504"/>
                  </a:moveTo>
                  <a:lnTo>
                    <a:pt x="4594" y="310"/>
                  </a:lnTo>
                </a:path>
                <a:path w="7600" h="600" fill="none">
                  <a:moveTo>
                    <a:pt x="4626" y="504"/>
                  </a:moveTo>
                  <a:lnTo>
                    <a:pt x="4626" y="310"/>
                  </a:lnTo>
                </a:path>
                <a:path w="7600" h="600" fill="none">
                  <a:moveTo>
                    <a:pt x="4696" y="96"/>
                  </a:moveTo>
                  <a:lnTo>
                    <a:pt x="4696" y="290"/>
                  </a:lnTo>
                </a:path>
                <a:path w="7600" h="600" fill="none">
                  <a:moveTo>
                    <a:pt x="4728" y="96"/>
                  </a:moveTo>
                  <a:lnTo>
                    <a:pt x="4728" y="290"/>
                  </a:lnTo>
                </a:path>
                <a:path w="7600" h="600" fill="none">
                  <a:moveTo>
                    <a:pt x="4696" y="504"/>
                  </a:moveTo>
                  <a:lnTo>
                    <a:pt x="4696" y="310"/>
                  </a:lnTo>
                </a:path>
                <a:path w="7600" h="600" fill="none">
                  <a:moveTo>
                    <a:pt x="4728" y="504"/>
                  </a:moveTo>
                  <a:lnTo>
                    <a:pt x="4728" y="310"/>
                  </a:lnTo>
                </a:path>
                <a:path w="7600" h="600" fill="none">
                  <a:moveTo>
                    <a:pt x="4797" y="96"/>
                  </a:moveTo>
                  <a:lnTo>
                    <a:pt x="4797" y="290"/>
                  </a:lnTo>
                </a:path>
                <a:path w="7600" h="600" fill="none">
                  <a:moveTo>
                    <a:pt x="4829" y="96"/>
                  </a:moveTo>
                  <a:lnTo>
                    <a:pt x="4829" y="290"/>
                  </a:lnTo>
                </a:path>
                <a:path w="7600" h="600" fill="none">
                  <a:moveTo>
                    <a:pt x="4797" y="504"/>
                  </a:moveTo>
                  <a:lnTo>
                    <a:pt x="4797" y="310"/>
                  </a:lnTo>
                </a:path>
                <a:path w="7600" h="600" fill="none">
                  <a:moveTo>
                    <a:pt x="4829" y="504"/>
                  </a:moveTo>
                  <a:lnTo>
                    <a:pt x="4829" y="310"/>
                  </a:lnTo>
                </a:path>
                <a:path w="7600" h="600" fill="none">
                  <a:moveTo>
                    <a:pt x="4898" y="96"/>
                  </a:moveTo>
                  <a:lnTo>
                    <a:pt x="4898" y="290"/>
                  </a:lnTo>
                </a:path>
                <a:path w="7600" h="600" fill="none">
                  <a:moveTo>
                    <a:pt x="4930" y="96"/>
                  </a:moveTo>
                  <a:lnTo>
                    <a:pt x="4930" y="290"/>
                  </a:lnTo>
                </a:path>
                <a:path w="7600" h="600" fill="none">
                  <a:moveTo>
                    <a:pt x="4898" y="504"/>
                  </a:moveTo>
                  <a:lnTo>
                    <a:pt x="4898" y="310"/>
                  </a:lnTo>
                </a:path>
                <a:path w="7600" h="600" fill="none">
                  <a:moveTo>
                    <a:pt x="4930" y="504"/>
                  </a:moveTo>
                  <a:lnTo>
                    <a:pt x="4930" y="310"/>
                  </a:lnTo>
                </a:path>
                <a:path w="7600" h="600" fill="none">
                  <a:moveTo>
                    <a:pt x="5000" y="96"/>
                  </a:moveTo>
                  <a:lnTo>
                    <a:pt x="5000" y="290"/>
                  </a:lnTo>
                </a:path>
                <a:path w="7600" h="600" fill="none">
                  <a:moveTo>
                    <a:pt x="5032" y="96"/>
                  </a:moveTo>
                  <a:lnTo>
                    <a:pt x="5032" y="290"/>
                  </a:lnTo>
                </a:path>
                <a:path w="7600" h="600" fill="none">
                  <a:moveTo>
                    <a:pt x="5000" y="504"/>
                  </a:moveTo>
                  <a:lnTo>
                    <a:pt x="5000" y="310"/>
                  </a:lnTo>
                </a:path>
                <a:path w="7600" h="600" fill="none">
                  <a:moveTo>
                    <a:pt x="5032" y="504"/>
                  </a:moveTo>
                  <a:lnTo>
                    <a:pt x="5032" y="310"/>
                  </a:lnTo>
                </a:path>
                <a:path w="7600" h="600" fill="none">
                  <a:moveTo>
                    <a:pt x="5101" y="96"/>
                  </a:moveTo>
                  <a:lnTo>
                    <a:pt x="5101" y="290"/>
                  </a:lnTo>
                </a:path>
                <a:path w="7600" h="600" fill="none">
                  <a:moveTo>
                    <a:pt x="5133" y="96"/>
                  </a:moveTo>
                  <a:lnTo>
                    <a:pt x="5133" y="290"/>
                  </a:lnTo>
                </a:path>
                <a:path w="7600" h="600" fill="none">
                  <a:moveTo>
                    <a:pt x="5101" y="504"/>
                  </a:moveTo>
                  <a:lnTo>
                    <a:pt x="5101" y="310"/>
                  </a:lnTo>
                </a:path>
                <a:path w="7600" h="600" fill="none">
                  <a:moveTo>
                    <a:pt x="5133" y="504"/>
                  </a:moveTo>
                  <a:lnTo>
                    <a:pt x="5133" y="310"/>
                  </a:lnTo>
                </a:path>
                <a:path w="7600" h="600" fill="none">
                  <a:moveTo>
                    <a:pt x="5202" y="96"/>
                  </a:moveTo>
                  <a:lnTo>
                    <a:pt x="5202" y="290"/>
                  </a:lnTo>
                </a:path>
                <a:path w="7600" h="600" fill="none">
                  <a:moveTo>
                    <a:pt x="5234" y="96"/>
                  </a:moveTo>
                  <a:lnTo>
                    <a:pt x="5234" y="290"/>
                  </a:lnTo>
                </a:path>
                <a:path w="7600" h="600" fill="none">
                  <a:moveTo>
                    <a:pt x="5202" y="504"/>
                  </a:moveTo>
                  <a:lnTo>
                    <a:pt x="5202" y="310"/>
                  </a:lnTo>
                </a:path>
                <a:path w="7600" h="600" fill="none">
                  <a:moveTo>
                    <a:pt x="5234" y="504"/>
                  </a:moveTo>
                  <a:lnTo>
                    <a:pt x="5234" y="310"/>
                  </a:lnTo>
                </a:path>
                <a:path w="7600" h="600" fill="none">
                  <a:moveTo>
                    <a:pt x="5304" y="96"/>
                  </a:moveTo>
                  <a:lnTo>
                    <a:pt x="5304" y="290"/>
                  </a:lnTo>
                </a:path>
                <a:path w="7600" h="600" fill="none">
                  <a:moveTo>
                    <a:pt x="5336" y="96"/>
                  </a:moveTo>
                  <a:lnTo>
                    <a:pt x="5336" y="290"/>
                  </a:lnTo>
                </a:path>
                <a:path w="7600" h="600" fill="none">
                  <a:moveTo>
                    <a:pt x="5304" y="504"/>
                  </a:moveTo>
                  <a:lnTo>
                    <a:pt x="5304" y="310"/>
                  </a:lnTo>
                </a:path>
                <a:path w="7600" h="600" fill="none">
                  <a:moveTo>
                    <a:pt x="5336" y="504"/>
                  </a:moveTo>
                  <a:lnTo>
                    <a:pt x="5336" y="310"/>
                  </a:lnTo>
                </a:path>
                <a:path w="7600" h="600" fill="none">
                  <a:moveTo>
                    <a:pt x="5405" y="96"/>
                  </a:moveTo>
                  <a:lnTo>
                    <a:pt x="5405" y="290"/>
                  </a:lnTo>
                </a:path>
                <a:path w="7600" h="600" fill="none">
                  <a:moveTo>
                    <a:pt x="5437" y="96"/>
                  </a:moveTo>
                  <a:lnTo>
                    <a:pt x="5437" y="290"/>
                  </a:lnTo>
                </a:path>
                <a:path w="7600" h="600" fill="none">
                  <a:moveTo>
                    <a:pt x="5405" y="504"/>
                  </a:moveTo>
                  <a:lnTo>
                    <a:pt x="5405" y="310"/>
                  </a:lnTo>
                </a:path>
                <a:path w="7600" h="600" fill="none">
                  <a:moveTo>
                    <a:pt x="5437" y="504"/>
                  </a:moveTo>
                  <a:lnTo>
                    <a:pt x="5437" y="310"/>
                  </a:lnTo>
                </a:path>
                <a:path w="7600" h="600" fill="none">
                  <a:moveTo>
                    <a:pt x="5506" y="96"/>
                  </a:moveTo>
                  <a:lnTo>
                    <a:pt x="5506" y="290"/>
                  </a:lnTo>
                </a:path>
                <a:path w="7600" h="600" fill="none">
                  <a:moveTo>
                    <a:pt x="5538" y="96"/>
                  </a:moveTo>
                  <a:lnTo>
                    <a:pt x="5538" y="290"/>
                  </a:lnTo>
                </a:path>
                <a:path w="7600" h="600" fill="none">
                  <a:moveTo>
                    <a:pt x="5506" y="504"/>
                  </a:moveTo>
                  <a:lnTo>
                    <a:pt x="5506" y="310"/>
                  </a:lnTo>
                </a:path>
                <a:path w="7600" h="600" fill="none">
                  <a:moveTo>
                    <a:pt x="5538" y="504"/>
                  </a:moveTo>
                  <a:lnTo>
                    <a:pt x="5538" y="310"/>
                  </a:lnTo>
                </a:path>
                <a:path w="7600" h="600" fill="none">
                  <a:moveTo>
                    <a:pt x="5608" y="96"/>
                  </a:moveTo>
                  <a:lnTo>
                    <a:pt x="5608" y="290"/>
                  </a:lnTo>
                </a:path>
                <a:path w="7600" h="600" fill="none">
                  <a:moveTo>
                    <a:pt x="5640" y="96"/>
                  </a:moveTo>
                  <a:lnTo>
                    <a:pt x="5640" y="290"/>
                  </a:lnTo>
                </a:path>
                <a:path w="7600" h="600" fill="none">
                  <a:moveTo>
                    <a:pt x="5608" y="504"/>
                  </a:moveTo>
                  <a:lnTo>
                    <a:pt x="5608" y="310"/>
                  </a:lnTo>
                </a:path>
                <a:path w="7600" h="600" fill="none">
                  <a:moveTo>
                    <a:pt x="5640" y="504"/>
                  </a:moveTo>
                  <a:lnTo>
                    <a:pt x="5640" y="310"/>
                  </a:lnTo>
                </a:path>
                <a:path w="7600" h="600" fill="none">
                  <a:moveTo>
                    <a:pt x="5709" y="96"/>
                  </a:moveTo>
                  <a:lnTo>
                    <a:pt x="5709" y="290"/>
                  </a:lnTo>
                </a:path>
                <a:path w="7600" h="600" fill="none">
                  <a:moveTo>
                    <a:pt x="5741" y="96"/>
                  </a:moveTo>
                  <a:lnTo>
                    <a:pt x="5741" y="290"/>
                  </a:lnTo>
                </a:path>
                <a:path w="7600" h="600" fill="none">
                  <a:moveTo>
                    <a:pt x="5709" y="504"/>
                  </a:moveTo>
                  <a:lnTo>
                    <a:pt x="5709" y="310"/>
                  </a:lnTo>
                </a:path>
                <a:path w="7600" h="600" fill="none">
                  <a:moveTo>
                    <a:pt x="5741" y="504"/>
                  </a:moveTo>
                  <a:lnTo>
                    <a:pt x="5741" y="310"/>
                  </a:lnTo>
                </a:path>
                <a:path w="7600" h="600" fill="none">
                  <a:moveTo>
                    <a:pt x="5810" y="96"/>
                  </a:moveTo>
                  <a:lnTo>
                    <a:pt x="5810" y="290"/>
                  </a:lnTo>
                </a:path>
                <a:path w="7600" h="600" fill="none">
                  <a:moveTo>
                    <a:pt x="5842" y="96"/>
                  </a:moveTo>
                  <a:lnTo>
                    <a:pt x="5842" y="290"/>
                  </a:lnTo>
                </a:path>
                <a:path w="7600" h="600" fill="none">
                  <a:moveTo>
                    <a:pt x="5810" y="504"/>
                  </a:moveTo>
                  <a:lnTo>
                    <a:pt x="5810" y="310"/>
                  </a:lnTo>
                </a:path>
                <a:path w="7600" h="600" fill="none">
                  <a:moveTo>
                    <a:pt x="5842" y="504"/>
                  </a:moveTo>
                  <a:lnTo>
                    <a:pt x="5842" y="310"/>
                  </a:lnTo>
                </a:path>
                <a:path w="7600" h="600" fill="none">
                  <a:moveTo>
                    <a:pt x="5912" y="96"/>
                  </a:moveTo>
                  <a:lnTo>
                    <a:pt x="5912" y="290"/>
                  </a:lnTo>
                </a:path>
                <a:path w="7600" h="600" fill="none">
                  <a:moveTo>
                    <a:pt x="5944" y="96"/>
                  </a:moveTo>
                  <a:lnTo>
                    <a:pt x="5944" y="290"/>
                  </a:lnTo>
                </a:path>
                <a:path w="7600" h="600" fill="none">
                  <a:moveTo>
                    <a:pt x="5912" y="504"/>
                  </a:moveTo>
                  <a:lnTo>
                    <a:pt x="5912" y="310"/>
                  </a:lnTo>
                </a:path>
                <a:path w="7600" h="600" fill="none">
                  <a:moveTo>
                    <a:pt x="5944" y="504"/>
                  </a:moveTo>
                  <a:lnTo>
                    <a:pt x="5944" y="310"/>
                  </a:lnTo>
                </a:path>
                <a:path w="7600" h="600" fill="none">
                  <a:moveTo>
                    <a:pt x="6013" y="96"/>
                  </a:moveTo>
                  <a:lnTo>
                    <a:pt x="6013" y="290"/>
                  </a:lnTo>
                </a:path>
                <a:path w="7600" h="600" fill="none">
                  <a:moveTo>
                    <a:pt x="6045" y="96"/>
                  </a:moveTo>
                  <a:lnTo>
                    <a:pt x="6045" y="290"/>
                  </a:lnTo>
                </a:path>
                <a:path w="7600" h="600" fill="none">
                  <a:moveTo>
                    <a:pt x="6013" y="504"/>
                  </a:moveTo>
                  <a:lnTo>
                    <a:pt x="6013" y="310"/>
                  </a:lnTo>
                </a:path>
                <a:path w="7600" h="600" fill="none">
                  <a:moveTo>
                    <a:pt x="6045" y="504"/>
                  </a:moveTo>
                  <a:lnTo>
                    <a:pt x="6045" y="310"/>
                  </a:lnTo>
                </a:path>
                <a:path w="7600" h="600" fill="none">
                  <a:moveTo>
                    <a:pt x="6114" y="96"/>
                  </a:moveTo>
                  <a:lnTo>
                    <a:pt x="6114" y="290"/>
                  </a:lnTo>
                </a:path>
                <a:path w="7600" h="600" fill="none">
                  <a:moveTo>
                    <a:pt x="6146" y="96"/>
                  </a:moveTo>
                  <a:lnTo>
                    <a:pt x="6146" y="290"/>
                  </a:lnTo>
                </a:path>
                <a:path w="7600" h="600" fill="none">
                  <a:moveTo>
                    <a:pt x="6114" y="504"/>
                  </a:moveTo>
                  <a:lnTo>
                    <a:pt x="6114" y="310"/>
                  </a:lnTo>
                </a:path>
                <a:path w="7600" h="600" fill="none">
                  <a:moveTo>
                    <a:pt x="6146" y="504"/>
                  </a:moveTo>
                  <a:lnTo>
                    <a:pt x="6146" y="310"/>
                  </a:lnTo>
                </a:path>
                <a:path w="7600" h="600" fill="none">
                  <a:moveTo>
                    <a:pt x="6216" y="96"/>
                  </a:moveTo>
                  <a:lnTo>
                    <a:pt x="6216" y="290"/>
                  </a:lnTo>
                </a:path>
                <a:path w="7600" h="600" fill="none">
                  <a:moveTo>
                    <a:pt x="6248" y="96"/>
                  </a:moveTo>
                  <a:lnTo>
                    <a:pt x="6248" y="290"/>
                  </a:lnTo>
                </a:path>
                <a:path w="7600" h="600" fill="none">
                  <a:moveTo>
                    <a:pt x="6216" y="504"/>
                  </a:moveTo>
                  <a:lnTo>
                    <a:pt x="6216" y="310"/>
                  </a:lnTo>
                </a:path>
                <a:path w="7600" h="600" fill="none">
                  <a:moveTo>
                    <a:pt x="6248" y="504"/>
                  </a:moveTo>
                  <a:lnTo>
                    <a:pt x="6248" y="310"/>
                  </a:lnTo>
                </a:path>
                <a:path w="7600" h="600" fill="none">
                  <a:moveTo>
                    <a:pt x="6317" y="96"/>
                  </a:moveTo>
                  <a:lnTo>
                    <a:pt x="6317" y="290"/>
                  </a:lnTo>
                </a:path>
                <a:path w="7600" h="600" fill="none">
                  <a:moveTo>
                    <a:pt x="6349" y="96"/>
                  </a:moveTo>
                  <a:lnTo>
                    <a:pt x="6349" y="290"/>
                  </a:lnTo>
                </a:path>
                <a:path w="7600" h="600" fill="none">
                  <a:moveTo>
                    <a:pt x="6317" y="504"/>
                  </a:moveTo>
                  <a:lnTo>
                    <a:pt x="6317" y="310"/>
                  </a:lnTo>
                </a:path>
                <a:path w="7600" h="600" fill="none">
                  <a:moveTo>
                    <a:pt x="6349" y="504"/>
                  </a:moveTo>
                  <a:lnTo>
                    <a:pt x="6349" y="310"/>
                  </a:lnTo>
                </a:path>
                <a:path w="7600" h="600" fill="none">
                  <a:moveTo>
                    <a:pt x="6418" y="96"/>
                  </a:moveTo>
                  <a:lnTo>
                    <a:pt x="6418" y="290"/>
                  </a:lnTo>
                </a:path>
                <a:path w="7600" h="600" fill="none">
                  <a:moveTo>
                    <a:pt x="6450" y="96"/>
                  </a:moveTo>
                  <a:lnTo>
                    <a:pt x="6450" y="290"/>
                  </a:lnTo>
                </a:path>
                <a:path w="7600" h="600" fill="none">
                  <a:moveTo>
                    <a:pt x="6418" y="504"/>
                  </a:moveTo>
                  <a:lnTo>
                    <a:pt x="6418" y="310"/>
                  </a:lnTo>
                </a:path>
                <a:path w="7600" h="600" fill="none">
                  <a:moveTo>
                    <a:pt x="6450" y="504"/>
                  </a:moveTo>
                  <a:lnTo>
                    <a:pt x="6450" y="310"/>
                  </a:lnTo>
                </a:path>
                <a:path w="7600" h="600" fill="none">
                  <a:moveTo>
                    <a:pt x="6520" y="96"/>
                  </a:moveTo>
                  <a:lnTo>
                    <a:pt x="6520" y="290"/>
                  </a:lnTo>
                </a:path>
                <a:path w="7600" h="600" fill="none">
                  <a:moveTo>
                    <a:pt x="6552" y="96"/>
                  </a:moveTo>
                  <a:lnTo>
                    <a:pt x="6552" y="290"/>
                  </a:lnTo>
                </a:path>
                <a:path w="7600" h="600" fill="none">
                  <a:moveTo>
                    <a:pt x="6520" y="504"/>
                  </a:moveTo>
                  <a:lnTo>
                    <a:pt x="6520" y="310"/>
                  </a:lnTo>
                </a:path>
                <a:path w="7600" h="600" fill="none">
                  <a:moveTo>
                    <a:pt x="6552" y="504"/>
                  </a:moveTo>
                  <a:lnTo>
                    <a:pt x="6552" y="310"/>
                  </a:lnTo>
                </a:path>
                <a:path w="7600" h="600" fill="none">
                  <a:moveTo>
                    <a:pt x="6621" y="96"/>
                  </a:moveTo>
                  <a:lnTo>
                    <a:pt x="6621" y="290"/>
                  </a:lnTo>
                </a:path>
                <a:path w="7600" h="600" fill="none">
                  <a:moveTo>
                    <a:pt x="6653" y="96"/>
                  </a:moveTo>
                  <a:lnTo>
                    <a:pt x="6653" y="290"/>
                  </a:lnTo>
                </a:path>
                <a:path w="7600" h="600" fill="none">
                  <a:moveTo>
                    <a:pt x="6621" y="504"/>
                  </a:moveTo>
                  <a:lnTo>
                    <a:pt x="6621" y="310"/>
                  </a:lnTo>
                </a:path>
                <a:path w="7600" h="600" fill="none">
                  <a:moveTo>
                    <a:pt x="6653" y="504"/>
                  </a:moveTo>
                  <a:lnTo>
                    <a:pt x="6653" y="310"/>
                  </a:lnTo>
                </a:path>
                <a:path w="7600" h="600" fill="none">
                  <a:moveTo>
                    <a:pt x="6722" y="96"/>
                  </a:moveTo>
                  <a:lnTo>
                    <a:pt x="6722" y="290"/>
                  </a:lnTo>
                </a:path>
                <a:path w="7600" h="600" fill="none">
                  <a:moveTo>
                    <a:pt x="6754" y="96"/>
                  </a:moveTo>
                  <a:lnTo>
                    <a:pt x="6754" y="290"/>
                  </a:lnTo>
                </a:path>
                <a:path w="7600" h="600" fill="none">
                  <a:moveTo>
                    <a:pt x="6722" y="504"/>
                  </a:moveTo>
                  <a:lnTo>
                    <a:pt x="6722" y="310"/>
                  </a:lnTo>
                </a:path>
                <a:path w="7600" h="600" fill="none">
                  <a:moveTo>
                    <a:pt x="6754" y="504"/>
                  </a:moveTo>
                  <a:lnTo>
                    <a:pt x="6754" y="310"/>
                  </a:lnTo>
                </a:path>
                <a:path w="7600" h="600" fill="none">
                  <a:moveTo>
                    <a:pt x="6824" y="96"/>
                  </a:moveTo>
                  <a:lnTo>
                    <a:pt x="6824" y="290"/>
                  </a:lnTo>
                </a:path>
                <a:path w="7600" h="600" fill="none">
                  <a:moveTo>
                    <a:pt x="6856" y="96"/>
                  </a:moveTo>
                  <a:lnTo>
                    <a:pt x="6856" y="290"/>
                  </a:lnTo>
                </a:path>
                <a:path w="7600" h="600" fill="none">
                  <a:moveTo>
                    <a:pt x="6824" y="504"/>
                  </a:moveTo>
                  <a:lnTo>
                    <a:pt x="6824" y="310"/>
                  </a:lnTo>
                </a:path>
                <a:path w="7600" h="600" fill="none">
                  <a:moveTo>
                    <a:pt x="6856" y="504"/>
                  </a:moveTo>
                  <a:lnTo>
                    <a:pt x="6856" y="310"/>
                  </a:lnTo>
                </a:path>
                <a:path w="7600" h="600" fill="none">
                  <a:moveTo>
                    <a:pt x="6925" y="96"/>
                  </a:moveTo>
                  <a:lnTo>
                    <a:pt x="6925" y="290"/>
                  </a:lnTo>
                </a:path>
                <a:path w="7600" h="600" fill="none">
                  <a:moveTo>
                    <a:pt x="6957" y="96"/>
                  </a:moveTo>
                  <a:lnTo>
                    <a:pt x="6957" y="290"/>
                  </a:lnTo>
                </a:path>
                <a:path w="7600" h="600" fill="none">
                  <a:moveTo>
                    <a:pt x="6925" y="504"/>
                  </a:moveTo>
                  <a:lnTo>
                    <a:pt x="6925" y="310"/>
                  </a:lnTo>
                </a:path>
                <a:path w="7600" h="600" fill="none">
                  <a:moveTo>
                    <a:pt x="6957" y="504"/>
                  </a:moveTo>
                  <a:lnTo>
                    <a:pt x="6957" y="310"/>
                  </a:lnTo>
                </a:path>
                <a:path w="7600" h="600" fill="none">
                  <a:moveTo>
                    <a:pt x="7026" y="96"/>
                  </a:moveTo>
                  <a:lnTo>
                    <a:pt x="7026" y="290"/>
                  </a:lnTo>
                </a:path>
                <a:path w="7600" h="600" fill="none">
                  <a:moveTo>
                    <a:pt x="7058" y="96"/>
                  </a:moveTo>
                  <a:lnTo>
                    <a:pt x="7058" y="290"/>
                  </a:lnTo>
                </a:path>
                <a:path w="7600" h="600" fill="none">
                  <a:moveTo>
                    <a:pt x="7026" y="504"/>
                  </a:moveTo>
                  <a:lnTo>
                    <a:pt x="7026" y="310"/>
                  </a:lnTo>
                </a:path>
                <a:path w="7600" h="600" fill="none">
                  <a:moveTo>
                    <a:pt x="7058" y="504"/>
                  </a:moveTo>
                  <a:lnTo>
                    <a:pt x="7058" y="310"/>
                  </a:lnTo>
                </a:path>
                <a:path w="7600" h="600" fill="none">
                  <a:moveTo>
                    <a:pt x="7128" y="96"/>
                  </a:moveTo>
                  <a:lnTo>
                    <a:pt x="7128" y="290"/>
                  </a:lnTo>
                </a:path>
                <a:path w="7600" h="600" fill="none">
                  <a:moveTo>
                    <a:pt x="7160" y="96"/>
                  </a:moveTo>
                  <a:lnTo>
                    <a:pt x="7160" y="290"/>
                  </a:lnTo>
                </a:path>
                <a:path w="7600" h="600" fill="none">
                  <a:moveTo>
                    <a:pt x="7128" y="504"/>
                  </a:moveTo>
                  <a:lnTo>
                    <a:pt x="7128" y="310"/>
                  </a:lnTo>
                </a:path>
                <a:path w="7600" h="600" fill="none">
                  <a:moveTo>
                    <a:pt x="7160" y="504"/>
                  </a:moveTo>
                  <a:lnTo>
                    <a:pt x="7160" y="310"/>
                  </a:lnTo>
                </a:path>
                <a:path w="7600" h="600" fill="none">
                  <a:moveTo>
                    <a:pt x="7229" y="96"/>
                  </a:moveTo>
                  <a:lnTo>
                    <a:pt x="7229" y="290"/>
                  </a:lnTo>
                </a:path>
                <a:path w="7600" h="600" fill="none">
                  <a:moveTo>
                    <a:pt x="7261" y="96"/>
                  </a:moveTo>
                  <a:lnTo>
                    <a:pt x="7261" y="290"/>
                  </a:lnTo>
                </a:path>
                <a:path w="7600" h="600" fill="none">
                  <a:moveTo>
                    <a:pt x="7229" y="504"/>
                  </a:moveTo>
                  <a:lnTo>
                    <a:pt x="7229" y="310"/>
                  </a:lnTo>
                </a:path>
                <a:path w="7600" h="600" fill="none">
                  <a:moveTo>
                    <a:pt x="7261" y="504"/>
                  </a:moveTo>
                  <a:lnTo>
                    <a:pt x="7261" y="310"/>
                  </a:lnTo>
                </a:path>
                <a:path w="7600" h="600" fill="none">
                  <a:moveTo>
                    <a:pt x="7330" y="96"/>
                  </a:moveTo>
                  <a:lnTo>
                    <a:pt x="7330" y="290"/>
                  </a:lnTo>
                </a:path>
                <a:path w="7600" h="600" fill="none">
                  <a:moveTo>
                    <a:pt x="7362" y="96"/>
                  </a:moveTo>
                  <a:lnTo>
                    <a:pt x="7362" y="290"/>
                  </a:lnTo>
                </a:path>
                <a:path w="7600" h="600" fill="none">
                  <a:moveTo>
                    <a:pt x="7330" y="504"/>
                  </a:moveTo>
                  <a:lnTo>
                    <a:pt x="7330" y="310"/>
                  </a:lnTo>
                </a:path>
                <a:path w="7600" h="600" fill="none">
                  <a:moveTo>
                    <a:pt x="7362" y="504"/>
                  </a:moveTo>
                  <a:lnTo>
                    <a:pt x="7362" y="310"/>
                  </a:lnTo>
                </a:path>
                <a:path w="7600" h="600" fill="none">
                  <a:moveTo>
                    <a:pt x="7432" y="96"/>
                  </a:moveTo>
                  <a:lnTo>
                    <a:pt x="7432" y="290"/>
                  </a:lnTo>
                </a:path>
                <a:path w="7600" h="600" fill="none">
                  <a:moveTo>
                    <a:pt x="7464" y="96"/>
                  </a:moveTo>
                  <a:lnTo>
                    <a:pt x="7464" y="290"/>
                  </a:lnTo>
                </a:path>
                <a:path w="7600" h="600" fill="none">
                  <a:moveTo>
                    <a:pt x="7432" y="504"/>
                  </a:moveTo>
                  <a:lnTo>
                    <a:pt x="7432" y="310"/>
                  </a:lnTo>
                </a:path>
                <a:path w="7600" h="600" fill="none">
                  <a:moveTo>
                    <a:pt x="7464" y="504"/>
                  </a:moveTo>
                  <a:lnTo>
                    <a:pt x="7464" y="310"/>
                  </a:lnTo>
                </a:path>
                <a:path w="7600" h="600" fill="none">
                  <a:moveTo>
                    <a:pt x="7533" y="96"/>
                  </a:moveTo>
                  <a:lnTo>
                    <a:pt x="7533" y="290"/>
                  </a:lnTo>
                </a:path>
                <a:path w="7600" h="600" fill="none">
                  <a:moveTo>
                    <a:pt x="7565" y="96"/>
                  </a:moveTo>
                  <a:lnTo>
                    <a:pt x="7565" y="290"/>
                  </a:lnTo>
                </a:path>
                <a:path w="7600" h="600" fill="none">
                  <a:moveTo>
                    <a:pt x="7533" y="504"/>
                  </a:moveTo>
                  <a:lnTo>
                    <a:pt x="7533" y="310"/>
                  </a:lnTo>
                </a:path>
                <a:path w="7600" h="600" fill="none">
                  <a:moveTo>
                    <a:pt x="7565" y="504"/>
                  </a:moveTo>
                  <a:lnTo>
                    <a:pt x="7565" y="310"/>
                  </a:lnTo>
                </a:path>
              </a:pathLst>
            </a:custGeom>
            <a:noFill/>
            <a:ln w="9525" cap="rnd">
              <a:solidFill>
                <a:srgbClr val="A49887"/>
              </a:solidFill>
              <a:round/>
            </a:ln>
          </p:spPr>
        </p:sp>
      </p:grpSp>
      <p:grpSp>
        <p:nvGrpSpPr>
          <p:cNvPr id="10" name="Canal octamérico"/>
          <p:cNvGrpSpPr/>
          <p:nvPr/>
        </p:nvGrpSpPr>
        <p:grpSpPr>
          <a:xfrm>
            <a:off x="1188720" y="2148840"/>
            <a:ext cx="5257800" cy="1737360"/>
            <a:chOff x="1188720" y="2148840"/>
            <a:chExt cx="5257800" cy="1737360"/>
          </a:xfrm>
        </p:grpSpPr>
        <p:sp>
          <p:nvSpPr>
            <p:cNvPr id="11" name="Forma 10"/>
            <p:cNvSpPr/>
            <p:nvPr/>
          </p:nvSpPr>
          <p:spPr>
            <a:xfrm>
              <a:off x="1188720" y="2148840"/>
              <a:ext cx="1188720" cy="1737360"/>
            </a:xfrm>
            <a:prstGeom prst="roundRect">
              <a:avLst>
                <a:gd name="adj" fmla="val 30000"/>
              </a:avLst>
            </a:prstGeom>
            <a:gradFill rotWithShape="1">
              <a:gsLst>
                <a:gs pos="0">
                  <a:srgbClr val="9AE6BA"/>
                </a:gs>
                <a:gs pos="55000">
                  <a:srgbClr val="58D68D"/>
                </a:gs>
                <a:gs pos="100000">
                  <a:srgbClr val="3D9562"/>
                </a:gs>
              </a:gsLst>
              <a:path path="circle">
                <a:fillToRect l="32000" t="28000" r="68000" b="72000"/>
              </a:path>
            </a:gradFill>
            <a:ln w="19050" cap="rnd">
              <a:solidFill>
                <a:srgbClr val="1D8348"/>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500" b="1" dirty="0">
                  <a:solidFill>
                    <a:srgbClr val="1E1E1E"/>
                  </a:solidFill>
                  <a:latin typeface="Fira Sans Condensed"/>
                  <a:ea typeface="Fira Sans Condensed"/>
                  <a:cs typeface="Fira Sans Condensed"/>
                  <a:sym typeface="Fira Sans Condensed"/>
                </a:rPr>
                <a:t>SUR1</a:t>
              </a:r>
              <a:endParaRPr lang="es-AR" sz="1500" dirty="0">
                <a:latin typeface="Fira Sans Condensed"/>
              </a:endParaRPr>
            </a:p>
          </p:txBody>
        </p:sp>
        <p:sp>
          <p:nvSpPr>
            <p:cNvPr id="12" name="Forma 11"/>
            <p:cNvSpPr/>
            <p:nvPr/>
          </p:nvSpPr>
          <p:spPr>
            <a:xfrm>
              <a:off x="5257800" y="2148840"/>
              <a:ext cx="1188720" cy="1737360"/>
            </a:xfrm>
            <a:prstGeom prst="roundRect">
              <a:avLst>
                <a:gd name="adj" fmla="val 30000"/>
              </a:avLst>
            </a:prstGeom>
            <a:gradFill rotWithShape="1">
              <a:gsLst>
                <a:gs pos="0">
                  <a:srgbClr val="9AE6BA"/>
                </a:gs>
                <a:gs pos="55000">
                  <a:srgbClr val="58D68D"/>
                </a:gs>
                <a:gs pos="100000">
                  <a:srgbClr val="3D9562"/>
                </a:gs>
              </a:gsLst>
              <a:path path="circle">
                <a:fillToRect l="32000" t="28000" r="68000" b="72000"/>
              </a:path>
            </a:gradFill>
            <a:ln w="19050" cap="rnd">
              <a:solidFill>
                <a:srgbClr val="1D8348"/>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500" b="1" dirty="0">
                  <a:solidFill>
                    <a:srgbClr val="1E1E1E"/>
                  </a:solidFill>
                  <a:latin typeface="Fira Sans Condensed"/>
                  <a:ea typeface="Fira Sans Condensed"/>
                  <a:cs typeface="Fira Sans Condensed"/>
                  <a:sym typeface="Fira Sans Condensed"/>
                </a:rPr>
                <a:t>SUR1</a:t>
              </a:r>
              <a:endParaRPr lang="es-AR" sz="1500" dirty="0">
                <a:latin typeface="Fira Sans Condensed"/>
              </a:endParaRPr>
            </a:p>
          </p:txBody>
        </p:sp>
        <p:sp>
          <p:nvSpPr>
            <p:cNvPr id="13" name="Forma 12"/>
            <p:cNvSpPr/>
            <p:nvPr/>
          </p:nvSpPr>
          <p:spPr>
            <a:xfrm>
              <a:off x="2560320" y="2377440"/>
              <a:ext cx="1234440" cy="1325880"/>
            </a:xfrm>
            <a:prstGeom prst="roundRect">
              <a:avLst>
                <a:gd name="adj" fmla="val 30000"/>
              </a:avLst>
            </a:prstGeom>
            <a:gradFill rotWithShape="1">
              <a:gsLst>
                <a:gs pos="0">
                  <a:srgbClr val="C9A5D7"/>
                </a:gs>
                <a:gs pos="55000">
                  <a:srgbClr val="A569BD"/>
                </a:gs>
                <a:gs pos="100000">
                  <a:srgbClr val="734984"/>
                </a:gs>
              </a:gsLst>
              <a:path path="circle">
                <a:fillToRect l="32000" t="28000" r="68000" b="72000"/>
              </a:path>
            </a:gradFill>
            <a:ln w="19050" cap="rnd">
              <a:solidFill>
                <a:srgbClr val="5B2C6F"/>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500" b="1" dirty="0">
                  <a:solidFill>
                    <a:srgbClr val="FFFFFF"/>
                  </a:solidFill>
                  <a:latin typeface="Fira Sans Condensed"/>
                  <a:ea typeface="Fira Sans Condensed"/>
                  <a:cs typeface="Fira Sans Condensed"/>
                  <a:sym typeface="Fira Sans Condensed"/>
                </a:rPr>
                <a:t>Kir6.2</a:t>
              </a:r>
              <a:endParaRPr lang="es-AR" sz="1500" dirty="0">
                <a:latin typeface="Fira Sans Condensed"/>
              </a:endParaRPr>
            </a:p>
          </p:txBody>
        </p:sp>
        <p:sp>
          <p:nvSpPr>
            <p:cNvPr id="14" name="Forma 13"/>
            <p:cNvSpPr/>
            <p:nvPr/>
          </p:nvSpPr>
          <p:spPr>
            <a:xfrm>
              <a:off x="4069080" y="2377440"/>
              <a:ext cx="1234440" cy="1325880"/>
            </a:xfrm>
            <a:prstGeom prst="roundRect">
              <a:avLst>
                <a:gd name="adj" fmla="val 30000"/>
              </a:avLst>
            </a:prstGeom>
            <a:gradFill rotWithShape="1">
              <a:gsLst>
                <a:gs pos="0">
                  <a:srgbClr val="C9A5D7"/>
                </a:gs>
                <a:gs pos="55000">
                  <a:srgbClr val="A569BD"/>
                </a:gs>
                <a:gs pos="100000">
                  <a:srgbClr val="734984"/>
                </a:gs>
              </a:gsLst>
              <a:path path="circle">
                <a:fillToRect l="32000" t="28000" r="68000" b="72000"/>
              </a:path>
            </a:gradFill>
            <a:ln w="19050" cap="rnd">
              <a:solidFill>
                <a:srgbClr val="5B2C6F"/>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500" b="1" dirty="0">
                  <a:solidFill>
                    <a:srgbClr val="FFFFFF"/>
                  </a:solidFill>
                  <a:latin typeface="Fira Sans Condensed"/>
                  <a:ea typeface="Fira Sans Condensed"/>
                  <a:cs typeface="Fira Sans Condensed"/>
                  <a:sym typeface="Fira Sans Condensed"/>
                </a:rPr>
                <a:t>Kir6.2</a:t>
              </a:r>
              <a:endParaRPr lang="es-AR" sz="1500" dirty="0">
                <a:latin typeface="Fira Sans Condensed"/>
              </a:endParaRPr>
            </a:p>
          </p:txBody>
        </p:sp>
        <p:sp>
          <p:nvSpPr>
            <p:cNvPr id="15" name="Poro"/>
            <p:cNvSpPr/>
            <p:nvPr/>
          </p:nvSpPr>
          <p:spPr>
            <a:xfrm>
              <a:off x="3767328" y="2240280"/>
              <a:ext cx="329184" cy="1600200"/>
            </a:xfrm>
            <a:prstGeom prst="rect">
              <a:avLst/>
            </a:prstGeom>
            <a:gradFill rotWithShape="1">
              <a:gsLst>
                <a:gs pos="0">
                  <a:srgbClr val="D6EAF8"/>
                </a:gs>
                <a:gs pos="100000">
                  <a:srgbClr val="AED6F1"/>
                </a:gs>
              </a:gsLst>
              <a:lin ang="0" scaled="0"/>
            </a:gradFill>
            <a:ln>
              <a:noFill/>
            </a:ln>
          </p:spPr>
        </p:sp>
      </p:grpSp>
      <p:sp>
        <p:nvSpPr>
          <p:cNvPr id="16" name="Forma 15"/>
          <p:cNvSpPr txBox="1"/>
          <p:nvPr/>
        </p:nvSpPr>
        <p:spPr>
          <a:xfrm>
            <a:off x="457200" y="1691640"/>
            <a:ext cx="6949440" cy="36576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EXTERIOR</a:t>
            </a:r>
            <a:endParaRPr lang="es-AR" sz="1300" dirty="0">
              <a:latin typeface="Fira Sans Condensed"/>
            </a:endParaRPr>
          </a:p>
        </p:txBody>
      </p:sp>
      <p:sp>
        <p:nvSpPr>
          <p:cNvPr id="17" name="Forma 16"/>
          <p:cNvSpPr txBox="1"/>
          <p:nvPr/>
        </p:nvSpPr>
        <p:spPr>
          <a:xfrm>
            <a:off x="548640" y="4114800"/>
            <a:ext cx="1828800" cy="365760"/>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a:t>
            </a:r>
            <a:endParaRPr lang="es-AR" sz="1300" dirty="0">
              <a:latin typeface="Fira Sans Condensed"/>
            </a:endParaRPr>
          </a:p>
        </p:txBody>
      </p:sp>
      <p:sp>
        <p:nvSpPr>
          <p:cNvPr id="18" name="K sale"/>
          <p:cNvSpPr/>
          <p:nvPr/>
        </p:nvSpPr>
        <p:spPr>
          <a:xfrm>
            <a:off x="3749040" y="4206240"/>
            <a:ext cx="365760" cy="365760"/>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K</a:t>
            </a:r>
            <a:r>
              <a:rPr lang="es-AR" sz="1160" b="1" baseline="30000" dirty="0">
                <a:solidFill>
                  <a:srgbClr val="FFFFFF"/>
                </a:solidFill>
                <a:latin typeface="Fira Sans Condensed"/>
                <a:ea typeface="Fira Sans Condensed"/>
                <a:cs typeface="Fira Sans Condensed"/>
                <a:sym typeface="Fira Sans Condensed"/>
              </a:rPr>
              <a:t>+</a:t>
            </a:r>
            <a:endParaRPr lang="es-AR" sz="1160" dirty="0">
              <a:latin typeface="Fira Sans Condensed"/>
            </a:endParaRPr>
          </a:p>
        </p:txBody>
      </p:sp>
      <p:sp>
        <p:nvSpPr>
          <p:cNvPr id="19" name="ATP se une"/>
          <p:cNvSpPr/>
          <p:nvPr/>
        </p:nvSpPr>
        <p:spPr>
          <a:xfrm>
            <a:off x="2743200" y="4800600"/>
            <a:ext cx="548640" cy="548640"/>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ATP</a:t>
            </a:r>
            <a:endParaRPr lang="es-AR" sz="1300" dirty="0">
              <a:latin typeface="Fira Sans Condensed"/>
            </a:endParaRPr>
          </a:p>
        </p:txBody>
      </p:sp>
      <p:sp>
        <p:nvSpPr>
          <p:cNvPr id="20" name="Sulfonilurea"/>
          <p:cNvSpPr/>
          <p:nvPr/>
        </p:nvSpPr>
        <p:spPr>
          <a:xfrm>
            <a:off x="548640" y="4846320"/>
            <a:ext cx="19202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Glibenclamida</a:t>
            </a:r>
            <a:endParaRPr lang="es-AR" sz="1400" dirty="0">
              <a:latin typeface="Fira Sans Condensed"/>
            </a:endParaRPr>
          </a:p>
        </p:txBody>
      </p:sp>
      <p:grpSp>
        <p:nvGrpSpPr>
          <p:cNvPr id="21" name="Poro cerrado"/>
          <p:cNvGrpSpPr/>
          <p:nvPr/>
        </p:nvGrpSpPr>
        <p:grpSpPr>
          <a:xfrm>
            <a:off x="3611880" y="2743200"/>
            <a:ext cx="640080" cy="548640"/>
            <a:chOff x="3611880" y="2743200"/>
            <a:chExt cx="640080" cy="548640"/>
          </a:xfrm>
        </p:grpSpPr>
        <p:sp>
          <p:nvSpPr>
            <p:cNvPr id="22" name="Forma 21"/>
            <p:cNvSpPr/>
            <p:nvPr/>
          </p:nvSpPr>
          <p:spPr>
            <a:xfrm>
              <a:off x="3611880" y="2743200"/>
              <a:ext cx="640080" cy="548640"/>
            </a:xfrm>
            <a:prstGeom prst="rect">
              <a:avLst/>
            </a:prstGeom>
            <a:solidFill>
              <a:srgbClr val="C00000"/>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2600" b="1" dirty="0">
                  <a:solidFill>
                    <a:srgbClr val="FFFFFF"/>
                  </a:solidFill>
                  <a:latin typeface="Fira Sans Condensed"/>
                  <a:ea typeface="Fira Sans Condensed"/>
                  <a:cs typeface="Fira Sans Condensed"/>
                  <a:sym typeface="Fira Sans Condensed"/>
                </a:rPr>
                <a:t>×</a:t>
              </a:r>
              <a:endParaRPr lang="es-AR" sz="2600" dirty="0">
                <a:latin typeface="Fira Sans Condensed"/>
              </a:endParaRPr>
            </a:p>
          </p:txBody>
        </p:sp>
      </p:grpSp>
      <p:grpSp>
        <p:nvGrpSpPr>
          <p:cNvPr id="23" name="Paso 1"/>
          <p:cNvGrpSpPr/>
          <p:nvPr/>
        </p:nvGrpSpPr>
        <p:grpSpPr>
          <a:xfrm>
            <a:off x="7772400" y="1097280"/>
            <a:ext cx="4114800" cy="804672"/>
            <a:chOff x="7772400" y="1097280"/>
            <a:chExt cx="4114800" cy="804672"/>
          </a:xfrm>
        </p:grpSpPr>
        <p:sp>
          <p:nvSpPr>
            <p:cNvPr id="24" name="Forma 23"/>
            <p:cNvSpPr/>
            <p:nvPr/>
          </p:nvSpPr>
          <p:spPr>
            <a:xfrm>
              <a:off x="7772400" y="1097280"/>
              <a:ext cx="4114800" cy="8046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Estructura </a:t>
              </a:r>
              <a:r>
                <a:rPr lang="es-AR" sz="1400" b="1" dirty="0">
                  <a:solidFill>
                    <a:srgbClr val="1E1E1E"/>
                  </a:solidFill>
                  <a:latin typeface="Fira Sans Condensed"/>
                  <a:ea typeface="Fira Sans Condensed"/>
                  <a:cs typeface="Fira Sans Condensed"/>
                  <a:sym typeface="Fira Sans Condensed"/>
                </a:rPr>
                <a:t>octamérica</a:t>
              </a:r>
              <a:r>
                <a:rPr lang="es-AR" sz="1400" dirty="0">
                  <a:solidFill>
                    <a:srgbClr val="1E1E1E"/>
                  </a:solidFill>
                  <a:latin typeface="Fira Sans Condensed"/>
                  <a:ea typeface="Fira Sans Condensed"/>
                  <a:cs typeface="Fira Sans Condensed"/>
                  <a:sym typeface="Fira Sans Condensed"/>
                </a:rPr>
                <a:t>: 4 Kir6.2 forman el poro; 4 SUR1 (receptor de sulfonilureas) lo regulan.</a:t>
              </a:r>
              <a:endParaRPr lang="es-AR" sz="1400" dirty="0">
                <a:latin typeface="Fira Sans Condensed"/>
              </a:endParaRPr>
            </a:p>
          </p:txBody>
        </p:sp>
        <p:sp>
          <p:nvSpPr>
            <p:cNvPr id="25" name="Forma 24"/>
            <p:cNvSpPr/>
            <p:nvPr/>
          </p:nvSpPr>
          <p:spPr>
            <a:xfrm>
              <a:off x="7863840" y="132588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26" name="Paso 2"/>
          <p:cNvGrpSpPr/>
          <p:nvPr/>
        </p:nvGrpSpPr>
        <p:grpSpPr>
          <a:xfrm>
            <a:off x="7772400" y="1993392"/>
            <a:ext cx="4114800" cy="591312"/>
            <a:chOff x="7772400" y="1993392"/>
            <a:chExt cx="4114800" cy="591312"/>
          </a:xfrm>
        </p:grpSpPr>
        <p:sp>
          <p:nvSpPr>
            <p:cNvPr id="27" name="Forma 26"/>
            <p:cNvSpPr/>
            <p:nvPr/>
          </p:nvSpPr>
          <p:spPr>
            <a:xfrm>
              <a:off x="7772400" y="1993392"/>
              <a:ext cx="4114800" cy="5913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Con ATP/ADP bajo el canal está </a:t>
              </a:r>
              <a:r>
                <a:rPr lang="es-AR" sz="1400" b="1" dirty="0">
                  <a:solidFill>
                    <a:srgbClr val="1E1E1E"/>
                  </a:solidFill>
                  <a:latin typeface="Fira Sans Condensed"/>
                  <a:ea typeface="Fira Sans Condensed"/>
                  <a:cs typeface="Fira Sans Condensed"/>
                  <a:sym typeface="Fira Sans Condensed"/>
                </a:rPr>
                <a:t>abierto</a:t>
              </a:r>
              <a:r>
                <a:rPr lang="es-AR" sz="1400" dirty="0">
                  <a:solidFill>
                    <a:srgbClr val="1E1E1E"/>
                  </a:solidFill>
                  <a:latin typeface="Fira Sans Condensed"/>
                  <a:ea typeface="Fira Sans Condensed"/>
                  <a:cs typeface="Fira Sans Condensed"/>
                  <a:sym typeface="Fira Sans Condensed"/>
                </a:rPr>
                <a:t>: sale K</a:t>
              </a:r>
              <a:r>
                <a:rPr lang="es-AR" sz="1400" baseline="30000" dirty="0">
                  <a:solidFill>
                    <a:srgbClr val="1E1E1E"/>
                  </a:solidFill>
                  <a:latin typeface="Fira Sans Condensed"/>
                  <a:ea typeface="Fira Sans Condensed"/>
                  <a:cs typeface="Fira Sans Condensed"/>
                  <a:sym typeface="Fira Sans Condensed"/>
                </a:rPr>
                <a:t>+</a:t>
              </a:r>
              <a:r>
                <a:rPr lang="es-AR" sz="1400" dirty="0">
                  <a:solidFill>
                    <a:srgbClr val="1E1E1E"/>
                  </a:solidFill>
                  <a:latin typeface="Fira Sans Condensed"/>
                  <a:ea typeface="Fira Sans Condensed"/>
                  <a:cs typeface="Fira Sans Condensed"/>
                  <a:sym typeface="Fira Sans Condensed"/>
                </a:rPr>
                <a:t> y la célula queda polarizada.</a:t>
              </a:r>
              <a:endParaRPr lang="es-AR" sz="1400" dirty="0">
                <a:latin typeface="Fira Sans Condensed"/>
              </a:endParaRPr>
            </a:p>
          </p:txBody>
        </p:sp>
        <p:sp>
          <p:nvSpPr>
            <p:cNvPr id="28" name="Forma 27"/>
            <p:cNvSpPr/>
            <p:nvPr/>
          </p:nvSpPr>
          <p:spPr>
            <a:xfrm>
              <a:off x="7863840" y="211531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29" name="Paso 3"/>
          <p:cNvGrpSpPr/>
          <p:nvPr/>
        </p:nvGrpSpPr>
        <p:grpSpPr>
          <a:xfrm>
            <a:off x="7772400" y="2676144"/>
            <a:ext cx="4114800" cy="591312"/>
            <a:chOff x="7772400" y="2676144"/>
            <a:chExt cx="4114800" cy="591312"/>
          </a:xfrm>
        </p:grpSpPr>
        <p:sp>
          <p:nvSpPr>
            <p:cNvPr id="30" name="Forma 29"/>
            <p:cNvSpPr/>
            <p:nvPr/>
          </p:nvSpPr>
          <p:spPr>
            <a:xfrm>
              <a:off x="7772400" y="2676144"/>
              <a:ext cx="4114800" cy="5913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El </a:t>
              </a:r>
              <a:r>
                <a:rPr lang="es-AR" sz="1400" b="1" dirty="0">
                  <a:solidFill>
                    <a:srgbClr val="1E1E1E"/>
                  </a:solidFill>
                  <a:latin typeface="Fira Sans Condensed"/>
                  <a:ea typeface="Fira Sans Condensed"/>
                  <a:cs typeface="Fira Sans Condensed"/>
                  <a:sym typeface="Fira Sans Condensed"/>
                </a:rPr>
                <a:t>ATP</a:t>
              </a:r>
              <a:r>
                <a:rPr lang="es-AR" sz="1400" dirty="0">
                  <a:solidFill>
                    <a:srgbClr val="1E1E1E"/>
                  </a:solidFill>
                  <a:latin typeface="Fira Sans Condensed"/>
                  <a:ea typeface="Fira Sans Condensed"/>
                  <a:cs typeface="Fira Sans Condensed"/>
                  <a:sym typeface="Fira Sans Condensed"/>
                </a:rPr>
                <a:t> se une a Kir6.2 → </a:t>
              </a:r>
              <a:r>
                <a:rPr lang="es-AR" sz="1400" b="1" dirty="0">
                  <a:solidFill>
                    <a:srgbClr val="1E1E1E"/>
                  </a:solidFill>
                  <a:latin typeface="Fira Sans Condensed"/>
                  <a:ea typeface="Fira Sans Condensed"/>
                  <a:cs typeface="Fira Sans Condensed"/>
                  <a:sym typeface="Fira Sans Condensed"/>
                </a:rPr>
                <a:t>cierre</a:t>
              </a:r>
              <a:r>
                <a:rPr lang="es-AR" sz="1400" dirty="0">
                  <a:solidFill>
                    <a:srgbClr val="1E1E1E"/>
                  </a:solidFill>
                  <a:latin typeface="Fira Sans Condensed"/>
                  <a:ea typeface="Fira Sans Condensed"/>
                  <a:cs typeface="Fira Sans Condensed"/>
                  <a:sym typeface="Fira Sans Condensed"/>
                </a:rPr>
                <a:t> → despolarización.</a:t>
              </a:r>
              <a:endParaRPr lang="es-AR" sz="1400" dirty="0">
                <a:latin typeface="Fira Sans Condensed"/>
              </a:endParaRPr>
            </a:p>
          </p:txBody>
        </p:sp>
        <p:sp>
          <p:nvSpPr>
            <p:cNvPr id="31" name="Forma 30"/>
            <p:cNvSpPr/>
            <p:nvPr/>
          </p:nvSpPr>
          <p:spPr>
            <a:xfrm>
              <a:off x="7863840" y="279806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32" name="Paso 4"/>
          <p:cNvGrpSpPr/>
          <p:nvPr/>
        </p:nvGrpSpPr>
        <p:grpSpPr>
          <a:xfrm>
            <a:off x="7772400" y="3358896"/>
            <a:ext cx="4114800" cy="804672"/>
            <a:chOff x="7772400" y="3358896"/>
            <a:chExt cx="4114800" cy="804672"/>
          </a:xfrm>
        </p:grpSpPr>
        <p:sp>
          <p:nvSpPr>
            <p:cNvPr id="33" name="Forma 32"/>
            <p:cNvSpPr/>
            <p:nvPr/>
          </p:nvSpPr>
          <p:spPr>
            <a:xfrm>
              <a:off x="7772400" y="3358896"/>
              <a:ext cx="4114800" cy="8046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La </a:t>
              </a:r>
              <a:r>
                <a:rPr lang="es-AR" sz="1400" b="1" dirty="0">
                  <a:solidFill>
                    <a:srgbClr val="1E1E1E"/>
                  </a:solidFill>
                  <a:latin typeface="Fira Sans Condensed"/>
                  <a:ea typeface="Fira Sans Condensed"/>
                  <a:cs typeface="Fira Sans Condensed"/>
                  <a:sym typeface="Fira Sans Condensed"/>
                </a:rPr>
                <a:t>glibenclamida</a:t>
              </a:r>
              <a:r>
                <a:rPr lang="es-AR" sz="1400" dirty="0">
                  <a:solidFill>
                    <a:srgbClr val="1E1E1E"/>
                  </a:solidFill>
                  <a:latin typeface="Fira Sans Condensed"/>
                  <a:ea typeface="Fira Sans Condensed"/>
                  <a:cs typeface="Fira Sans Condensed"/>
                  <a:sym typeface="Fira Sans Condensed"/>
                </a:rPr>
                <a:t> se une a SUR1 → cierre </a:t>
              </a:r>
              <a:r>
                <a:rPr lang="es-AR" sz="1400" b="1" dirty="0">
                  <a:solidFill>
                    <a:srgbClr val="1E1E1E"/>
                  </a:solidFill>
                  <a:latin typeface="Fira Sans Condensed"/>
                  <a:ea typeface="Fira Sans Condensed"/>
                  <a:cs typeface="Fira Sans Condensed"/>
                  <a:sym typeface="Fira Sans Condensed"/>
                </a:rPr>
                <a:t>independiente de glucosa</a:t>
              </a:r>
              <a:r>
                <a:rPr lang="es-AR" sz="1400" dirty="0">
                  <a:solidFill>
                    <a:srgbClr val="1E1E1E"/>
                  </a:solidFill>
                  <a:latin typeface="Fira Sans Condensed"/>
                  <a:ea typeface="Fira Sans Condensed"/>
                  <a:cs typeface="Fira Sans Condensed"/>
                  <a:sym typeface="Fira Sans Condensed"/>
                </a:rPr>
                <a:t> → riesgo de hipoglucemia.</a:t>
              </a:r>
              <a:endParaRPr lang="es-AR" sz="1400" dirty="0">
                <a:latin typeface="Fira Sans Condensed"/>
              </a:endParaRPr>
            </a:p>
          </p:txBody>
        </p:sp>
        <p:sp>
          <p:nvSpPr>
            <p:cNvPr id="34" name="Forma 33"/>
            <p:cNvSpPr/>
            <p:nvPr/>
          </p:nvSpPr>
          <p:spPr>
            <a:xfrm>
              <a:off x="7863840" y="358749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EL CANAL K</a:t>
            </a:r>
            <a:r>
              <a:rPr lang="es-AR" sz="3400" baseline="-25000" dirty="0">
                <a:solidFill>
                  <a:srgbClr val="1E1E1E"/>
                </a:solidFill>
                <a:effectLst>
                  <a:glow rad="101600">
                    <a:srgbClr val="FFFFFF">
                      <a:alpha val="70000"/>
                    </a:srgbClr>
                  </a:glow>
                </a:effectLst>
                <a:latin typeface="Permanent Marker"/>
                <a:ea typeface="Permanent Marker"/>
                <a:cs typeface="Permanent Marker"/>
                <a:sym typeface="Permanent Marker"/>
              </a:rPr>
              <a:t>ATP</a:t>
            </a: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 DE CERCA: KIR6.2 + SUR1</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500"/>
                                        <p:tgtEl>
                                          <p:spTgt spid="23"/>
                                        </p:tgtEl>
                                      </p:cBhvr>
                                    </p:animEffect>
                                  </p:childTnLst>
                                </p:cTn>
                              </p:par>
                            </p:childTnLst>
                          </p:cTn>
                        </p:par>
                      </p:childTnLst>
                    </p:cTn>
                  </p:par>
                  <p:par>
                    <p:cTn id="18"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7"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0" presetClass="path" presetSubtype="0" accel="20000" decel="20000" fill="hold" grpId="0" nodeType="withEffect">
                                  <p:stCondLst>
                                    <p:cond delay="0"/>
                                  </p:stCondLst>
                                  <p:childTnLst>
                                    <p:animMotion origin="layout" path="M 0 0 L 0.0000 -0.4000 E" pathEditMode="relative" ptsTypes="">
                                      <p:cBhvr>
                                        <p:cTn id="16" dur="1400" fill="hold"/>
                                        <p:tgtEl>
                                          <p:spTgt spid="18"/>
                                        </p:tgtEl>
                                        <p:attrNameLst>
                                          <p:attrName>ppt_x</p:attrName>
                                          <p:attrName>ppt_y</p:attrName>
                                        </p:attrNameLst>
                                      </p:cBhvr>
                                      <p:rCtr x="0" y="-20000"/>
                                    </p:animMotion>
                                  </p:childTnLst>
                                </p:cTn>
                              </p:par>
                            </p:childTnLst>
                          </p:cTn>
                        </p:par>
                      </p:childTnLst>
                    </p:cTn>
                  </p:par>
                  <p:par>
                    <p:cTn id="35" fill="hold">
                      <p:stCondLst>
                        <p:cond delay="indefinite"/>
                      </p:stCondLst>
                      <p:childTnLst>
                        <p:par>
                          <p:cTn id="22"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par>
                          <p:cTn id="28"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0" presetClass="path" presetSubtype="0" accel="20000" decel="20000" fill="hold" grpId="0" nodeType="withEffect">
                                  <p:stCondLst>
                                    <p:cond delay="0"/>
                                  </p:stCondLst>
                                  <p:childTnLst>
                                    <p:animMotion origin="layout" path="M 0 0 L 0.0750 -0.1467 E" pathEditMode="relative" ptsTypes="">
                                      <p:cBhvr>
                                        <p:cTn id="27" dur="1100" fill="hold"/>
                                        <p:tgtEl>
                                          <p:spTgt spid="19"/>
                                        </p:tgtEl>
                                        <p:attrNameLst>
                                          <p:attrName>ppt_x</p:attrName>
                                          <p:attrName>ppt_y</p:attrName>
                                        </p:attrNameLst>
                                      </p:cBhvr>
                                      <p:rCtr x="3750" y="-7333"/>
                                    </p:animMotion>
                                  </p:childTnLst>
                                </p:cTn>
                              </p:par>
                            </p:childTnLst>
                          </p:cTn>
                        </p:par>
                        <p:par>
                          <p:cTn id="34" fill="hold">
                            <p:stCondLst>
                              <p:cond delay="1600"/>
                            </p:stCondLst>
                            <p:childTnLst>
                              <p:par>
                                <p:cTn id="29" presetID="53" presetClass="entr" presetSubtype="16"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animEffect transition="in" filter="fade">
                                      <p:cBhvr>
                                        <p:cTn id="33" dur="500"/>
                                        <p:tgtEl>
                                          <p:spTgt spid="21"/>
                                        </p:tgtEl>
                                      </p:cBhvr>
                                    </p:animEffect>
                                  </p:childTnLst>
                                </p:cTn>
                              </p:par>
                            </p:childTnLst>
                          </p:cTn>
                        </p:par>
                      </p:childTnLst>
                    </p:cTn>
                  </p:par>
                  <p:par>
                    <p:cTn id="46" fill="hold">
                      <p:stCondLst>
                        <p:cond delay="indefinite"/>
                      </p:stCondLst>
                      <p:childTnLst>
                        <p:par>
                          <p:cTn id="39"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childTnLst>
                          </p:cTn>
                        </p:par>
                        <p:par>
                          <p:cTn id="45"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0" presetClass="path" presetSubtype="0" accel="20000" decel="20000" fill="hold" grpId="0" nodeType="withEffect">
                                  <p:stCondLst>
                                    <p:cond delay="0"/>
                                  </p:stCondLst>
                                  <p:childTnLst>
                                    <p:animMotion origin="layout" path="M 0 0 L 0.0600 -0.2000 E" pathEditMode="relative" ptsTypes="">
                                      <p:cBhvr>
                                        <p:cTn id="44" dur="1100" fill="hold"/>
                                        <p:tgtEl>
                                          <p:spTgt spid="20"/>
                                        </p:tgtEl>
                                        <p:attrNameLst>
                                          <p:attrName>ppt_x</p:attrName>
                                          <p:attrName>ppt_y</p:attrName>
                                        </p:attrNameLst>
                                      </p:cBhvr>
                                      <p:rCtr x="3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Membrana exo"/>
          <p:cNvGrpSpPr/>
          <p:nvPr/>
        </p:nvGrpSpPr>
        <p:grpSpPr>
          <a:xfrm>
            <a:off x="457200" y="1463040"/>
            <a:ext cx="5852160" cy="457200"/>
            <a:chOff x="457200" y="1463040"/>
            <a:chExt cx="5852160" cy="457200"/>
          </a:xfrm>
        </p:grpSpPr>
        <p:sp>
          <p:nvSpPr>
            <p:cNvPr id="8" name="Forma 7"/>
            <p:cNvSpPr/>
            <p:nvPr/>
          </p:nvSpPr>
          <p:spPr>
            <a:xfrm>
              <a:off x="457200" y="1545336"/>
              <a:ext cx="5852160" cy="292608"/>
            </a:xfrm>
            <a:prstGeom prst="rect">
              <a:avLst/>
            </a:prstGeom>
            <a:solidFill>
              <a:srgbClr val="FDEBD0"/>
            </a:solidFill>
            <a:ln>
              <a:noFill/>
            </a:ln>
          </p:spPr>
        </p:sp>
        <p:sp>
          <p:nvSpPr>
            <p:cNvPr id="9" name="Forma 8"/>
            <p:cNvSpPr/>
            <p:nvPr/>
          </p:nvSpPr>
          <p:spPr>
            <a:xfrm>
              <a:off x="457200" y="1463040"/>
              <a:ext cx="5852160" cy="457200"/>
            </a:xfrm>
            <a:custGeom>
              <a:avLst/>
              <a:gdLst/>
              <a:ahLst/>
              <a:cxnLst/>
              <a:rect l="0" t="0" r="r" b="b"/>
              <a:pathLst>
                <a:path w="6400" h="500">
                  <a:moveTo>
                    <a:pt x="97" y="47"/>
                  </a:moveTo>
                  <a:cubicBezTo>
                    <a:pt x="97" y="72"/>
                    <a:pt x="75" y="94"/>
                    <a:pt x="50" y="94"/>
                  </a:cubicBezTo>
                  <a:cubicBezTo>
                    <a:pt x="24" y="94"/>
                    <a:pt x="3" y="72"/>
                    <a:pt x="3" y="47"/>
                  </a:cubicBezTo>
                  <a:cubicBezTo>
                    <a:pt x="3" y="21"/>
                    <a:pt x="24" y="0"/>
                    <a:pt x="50" y="0"/>
                  </a:cubicBezTo>
                  <a:cubicBezTo>
                    <a:pt x="75" y="0"/>
                    <a:pt x="97" y="21"/>
                    <a:pt x="97" y="47"/>
                  </a:cubicBezTo>
                  <a:close/>
                  <a:moveTo>
                    <a:pt x="197" y="47"/>
                  </a:moveTo>
                  <a:cubicBezTo>
                    <a:pt x="197" y="72"/>
                    <a:pt x="175" y="94"/>
                    <a:pt x="150" y="94"/>
                  </a:cubicBezTo>
                  <a:cubicBezTo>
                    <a:pt x="124" y="94"/>
                    <a:pt x="103" y="72"/>
                    <a:pt x="103" y="47"/>
                  </a:cubicBezTo>
                  <a:cubicBezTo>
                    <a:pt x="103" y="21"/>
                    <a:pt x="124" y="0"/>
                    <a:pt x="150" y="0"/>
                  </a:cubicBezTo>
                  <a:cubicBezTo>
                    <a:pt x="175" y="0"/>
                    <a:pt x="197" y="21"/>
                    <a:pt x="197" y="47"/>
                  </a:cubicBezTo>
                  <a:close/>
                  <a:moveTo>
                    <a:pt x="297" y="47"/>
                  </a:moveTo>
                  <a:cubicBezTo>
                    <a:pt x="297" y="72"/>
                    <a:pt x="275" y="94"/>
                    <a:pt x="250" y="94"/>
                  </a:cubicBezTo>
                  <a:cubicBezTo>
                    <a:pt x="224" y="94"/>
                    <a:pt x="203" y="72"/>
                    <a:pt x="203" y="47"/>
                  </a:cubicBezTo>
                  <a:cubicBezTo>
                    <a:pt x="203" y="21"/>
                    <a:pt x="224" y="0"/>
                    <a:pt x="250" y="0"/>
                  </a:cubicBezTo>
                  <a:cubicBezTo>
                    <a:pt x="275" y="0"/>
                    <a:pt x="297" y="21"/>
                    <a:pt x="297" y="47"/>
                  </a:cubicBezTo>
                  <a:close/>
                  <a:moveTo>
                    <a:pt x="397" y="47"/>
                  </a:moveTo>
                  <a:cubicBezTo>
                    <a:pt x="397" y="72"/>
                    <a:pt x="375" y="94"/>
                    <a:pt x="350" y="94"/>
                  </a:cubicBezTo>
                  <a:cubicBezTo>
                    <a:pt x="324" y="94"/>
                    <a:pt x="303" y="72"/>
                    <a:pt x="303" y="47"/>
                  </a:cubicBezTo>
                  <a:cubicBezTo>
                    <a:pt x="303" y="21"/>
                    <a:pt x="324" y="0"/>
                    <a:pt x="350" y="0"/>
                  </a:cubicBezTo>
                  <a:cubicBezTo>
                    <a:pt x="375" y="0"/>
                    <a:pt x="397" y="21"/>
                    <a:pt x="397" y="47"/>
                  </a:cubicBezTo>
                  <a:close/>
                  <a:moveTo>
                    <a:pt x="497" y="47"/>
                  </a:moveTo>
                  <a:cubicBezTo>
                    <a:pt x="497" y="72"/>
                    <a:pt x="475" y="94"/>
                    <a:pt x="450" y="94"/>
                  </a:cubicBezTo>
                  <a:cubicBezTo>
                    <a:pt x="424" y="94"/>
                    <a:pt x="403" y="72"/>
                    <a:pt x="403" y="47"/>
                  </a:cubicBezTo>
                  <a:cubicBezTo>
                    <a:pt x="403" y="21"/>
                    <a:pt x="424" y="0"/>
                    <a:pt x="450" y="0"/>
                  </a:cubicBezTo>
                  <a:cubicBezTo>
                    <a:pt x="475" y="0"/>
                    <a:pt x="497" y="21"/>
                    <a:pt x="497" y="47"/>
                  </a:cubicBezTo>
                  <a:close/>
                  <a:moveTo>
                    <a:pt x="597" y="47"/>
                  </a:moveTo>
                  <a:cubicBezTo>
                    <a:pt x="597" y="72"/>
                    <a:pt x="575" y="94"/>
                    <a:pt x="550" y="94"/>
                  </a:cubicBezTo>
                  <a:cubicBezTo>
                    <a:pt x="524" y="94"/>
                    <a:pt x="503" y="72"/>
                    <a:pt x="503" y="47"/>
                  </a:cubicBezTo>
                  <a:cubicBezTo>
                    <a:pt x="503" y="21"/>
                    <a:pt x="524" y="0"/>
                    <a:pt x="550" y="0"/>
                  </a:cubicBezTo>
                  <a:cubicBezTo>
                    <a:pt x="575" y="0"/>
                    <a:pt x="597" y="21"/>
                    <a:pt x="597" y="47"/>
                  </a:cubicBezTo>
                  <a:close/>
                  <a:moveTo>
                    <a:pt x="697" y="47"/>
                  </a:moveTo>
                  <a:cubicBezTo>
                    <a:pt x="697" y="72"/>
                    <a:pt x="675" y="94"/>
                    <a:pt x="650" y="94"/>
                  </a:cubicBezTo>
                  <a:cubicBezTo>
                    <a:pt x="624" y="94"/>
                    <a:pt x="603" y="72"/>
                    <a:pt x="603" y="47"/>
                  </a:cubicBezTo>
                  <a:cubicBezTo>
                    <a:pt x="603" y="21"/>
                    <a:pt x="624" y="0"/>
                    <a:pt x="650" y="0"/>
                  </a:cubicBezTo>
                  <a:cubicBezTo>
                    <a:pt x="675" y="0"/>
                    <a:pt x="697" y="21"/>
                    <a:pt x="697" y="47"/>
                  </a:cubicBezTo>
                  <a:close/>
                  <a:moveTo>
                    <a:pt x="797" y="47"/>
                  </a:moveTo>
                  <a:cubicBezTo>
                    <a:pt x="797" y="72"/>
                    <a:pt x="775" y="94"/>
                    <a:pt x="750" y="94"/>
                  </a:cubicBezTo>
                  <a:cubicBezTo>
                    <a:pt x="724" y="94"/>
                    <a:pt x="703" y="72"/>
                    <a:pt x="703" y="47"/>
                  </a:cubicBezTo>
                  <a:cubicBezTo>
                    <a:pt x="703" y="21"/>
                    <a:pt x="724" y="0"/>
                    <a:pt x="750" y="0"/>
                  </a:cubicBezTo>
                  <a:cubicBezTo>
                    <a:pt x="775" y="0"/>
                    <a:pt x="797" y="21"/>
                    <a:pt x="797" y="47"/>
                  </a:cubicBezTo>
                  <a:close/>
                  <a:moveTo>
                    <a:pt x="897" y="47"/>
                  </a:moveTo>
                  <a:cubicBezTo>
                    <a:pt x="897" y="72"/>
                    <a:pt x="875" y="94"/>
                    <a:pt x="850" y="94"/>
                  </a:cubicBezTo>
                  <a:cubicBezTo>
                    <a:pt x="824" y="94"/>
                    <a:pt x="803" y="72"/>
                    <a:pt x="803" y="47"/>
                  </a:cubicBezTo>
                  <a:cubicBezTo>
                    <a:pt x="803" y="21"/>
                    <a:pt x="824" y="0"/>
                    <a:pt x="850" y="0"/>
                  </a:cubicBezTo>
                  <a:cubicBezTo>
                    <a:pt x="875" y="0"/>
                    <a:pt x="897" y="21"/>
                    <a:pt x="897" y="47"/>
                  </a:cubicBezTo>
                  <a:close/>
                  <a:moveTo>
                    <a:pt x="997" y="47"/>
                  </a:moveTo>
                  <a:cubicBezTo>
                    <a:pt x="997" y="72"/>
                    <a:pt x="975" y="94"/>
                    <a:pt x="950" y="94"/>
                  </a:cubicBezTo>
                  <a:cubicBezTo>
                    <a:pt x="924" y="94"/>
                    <a:pt x="903" y="72"/>
                    <a:pt x="903" y="47"/>
                  </a:cubicBezTo>
                  <a:cubicBezTo>
                    <a:pt x="903" y="21"/>
                    <a:pt x="924" y="0"/>
                    <a:pt x="950" y="0"/>
                  </a:cubicBezTo>
                  <a:cubicBezTo>
                    <a:pt x="975" y="0"/>
                    <a:pt x="997" y="21"/>
                    <a:pt x="997" y="47"/>
                  </a:cubicBezTo>
                  <a:close/>
                  <a:moveTo>
                    <a:pt x="1097" y="47"/>
                  </a:moveTo>
                  <a:cubicBezTo>
                    <a:pt x="1097" y="72"/>
                    <a:pt x="1075" y="94"/>
                    <a:pt x="1050" y="94"/>
                  </a:cubicBezTo>
                  <a:cubicBezTo>
                    <a:pt x="1024" y="94"/>
                    <a:pt x="1003" y="72"/>
                    <a:pt x="1003" y="47"/>
                  </a:cubicBezTo>
                  <a:cubicBezTo>
                    <a:pt x="1003" y="21"/>
                    <a:pt x="1024" y="0"/>
                    <a:pt x="1050" y="0"/>
                  </a:cubicBezTo>
                  <a:cubicBezTo>
                    <a:pt x="1075" y="0"/>
                    <a:pt x="1097" y="21"/>
                    <a:pt x="1097" y="47"/>
                  </a:cubicBezTo>
                  <a:close/>
                  <a:moveTo>
                    <a:pt x="1197" y="47"/>
                  </a:moveTo>
                  <a:cubicBezTo>
                    <a:pt x="1197" y="72"/>
                    <a:pt x="1175" y="94"/>
                    <a:pt x="1150" y="94"/>
                  </a:cubicBezTo>
                  <a:cubicBezTo>
                    <a:pt x="1124" y="94"/>
                    <a:pt x="1103" y="72"/>
                    <a:pt x="1103" y="47"/>
                  </a:cubicBezTo>
                  <a:cubicBezTo>
                    <a:pt x="1103" y="21"/>
                    <a:pt x="1124" y="0"/>
                    <a:pt x="1150" y="0"/>
                  </a:cubicBezTo>
                  <a:cubicBezTo>
                    <a:pt x="1175" y="0"/>
                    <a:pt x="1197" y="21"/>
                    <a:pt x="1197" y="47"/>
                  </a:cubicBezTo>
                  <a:close/>
                  <a:moveTo>
                    <a:pt x="1297" y="47"/>
                  </a:moveTo>
                  <a:cubicBezTo>
                    <a:pt x="1297" y="72"/>
                    <a:pt x="1275" y="94"/>
                    <a:pt x="1250" y="94"/>
                  </a:cubicBezTo>
                  <a:cubicBezTo>
                    <a:pt x="1224" y="94"/>
                    <a:pt x="1203" y="72"/>
                    <a:pt x="1203" y="47"/>
                  </a:cubicBezTo>
                  <a:cubicBezTo>
                    <a:pt x="1203" y="21"/>
                    <a:pt x="1224" y="0"/>
                    <a:pt x="1250" y="0"/>
                  </a:cubicBezTo>
                  <a:cubicBezTo>
                    <a:pt x="1275" y="0"/>
                    <a:pt x="1297" y="21"/>
                    <a:pt x="1297" y="47"/>
                  </a:cubicBezTo>
                  <a:close/>
                  <a:moveTo>
                    <a:pt x="1397" y="47"/>
                  </a:moveTo>
                  <a:cubicBezTo>
                    <a:pt x="1397" y="72"/>
                    <a:pt x="1375" y="94"/>
                    <a:pt x="1350" y="94"/>
                  </a:cubicBezTo>
                  <a:cubicBezTo>
                    <a:pt x="1324" y="94"/>
                    <a:pt x="1303" y="72"/>
                    <a:pt x="1303" y="47"/>
                  </a:cubicBezTo>
                  <a:cubicBezTo>
                    <a:pt x="1303" y="21"/>
                    <a:pt x="1324" y="0"/>
                    <a:pt x="1350" y="0"/>
                  </a:cubicBezTo>
                  <a:cubicBezTo>
                    <a:pt x="1375" y="0"/>
                    <a:pt x="1397" y="21"/>
                    <a:pt x="1397" y="47"/>
                  </a:cubicBezTo>
                  <a:close/>
                  <a:moveTo>
                    <a:pt x="1497" y="47"/>
                  </a:moveTo>
                  <a:cubicBezTo>
                    <a:pt x="1497" y="72"/>
                    <a:pt x="1475" y="94"/>
                    <a:pt x="1450" y="94"/>
                  </a:cubicBezTo>
                  <a:cubicBezTo>
                    <a:pt x="1424" y="94"/>
                    <a:pt x="1403" y="72"/>
                    <a:pt x="1403" y="47"/>
                  </a:cubicBezTo>
                  <a:cubicBezTo>
                    <a:pt x="1403" y="21"/>
                    <a:pt x="1424" y="0"/>
                    <a:pt x="1450" y="0"/>
                  </a:cubicBezTo>
                  <a:cubicBezTo>
                    <a:pt x="1475" y="0"/>
                    <a:pt x="1497" y="21"/>
                    <a:pt x="1497" y="47"/>
                  </a:cubicBezTo>
                  <a:close/>
                  <a:moveTo>
                    <a:pt x="1597" y="47"/>
                  </a:moveTo>
                  <a:cubicBezTo>
                    <a:pt x="1597" y="72"/>
                    <a:pt x="1575" y="94"/>
                    <a:pt x="1550" y="94"/>
                  </a:cubicBezTo>
                  <a:cubicBezTo>
                    <a:pt x="1524" y="94"/>
                    <a:pt x="1503" y="72"/>
                    <a:pt x="1503" y="47"/>
                  </a:cubicBezTo>
                  <a:cubicBezTo>
                    <a:pt x="1503" y="21"/>
                    <a:pt x="1524" y="0"/>
                    <a:pt x="1550" y="0"/>
                  </a:cubicBezTo>
                  <a:cubicBezTo>
                    <a:pt x="1575" y="0"/>
                    <a:pt x="1597" y="21"/>
                    <a:pt x="1597" y="47"/>
                  </a:cubicBezTo>
                  <a:close/>
                  <a:moveTo>
                    <a:pt x="1697" y="47"/>
                  </a:moveTo>
                  <a:cubicBezTo>
                    <a:pt x="1697" y="72"/>
                    <a:pt x="1675" y="94"/>
                    <a:pt x="1650" y="94"/>
                  </a:cubicBezTo>
                  <a:cubicBezTo>
                    <a:pt x="1624" y="94"/>
                    <a:pt x="1603" y="72"/>
                    <a:pt x="1603" y="47"/>
                  </a:cubicBezTo>
                  <a:cubicBezTo>
                    <a:pt x="1603" y="21"/>
                    <a:pt x="1624" y="0"/>
                    <a:pt x="1650" y="0"/>
                  </a:cubicBezTo>
                  <a:cubicBezTo>
                    <a:pt x="1675" y="0"/>
                    <a:pt x="1697" y="21"/>
                    <a:pt x="1697" y="47"/>
                  </a:cubicBezTo>
                  <a:close/>
                  <a:moveTo>
                    <a:pt x="1797" y="47"/>
                  </a:moveTo>
                  <a:cubicBezTo>
                    <a:pt x="1797" y="72"/>
                    <a:pt x="1775" y="94"/>
                    <a:pt x="1750" y="94"/>
                  </a:cubicBezTo>
                  <a:cubicBezTo>
                    <a:pt x="1724" y="94"/>
                    <a:pt x="1703" y="72"/>
                    <a:pt x="1703" y="47"/>
                  </a:cubicBezTo>
                  <a:cubicBezTo>
                    <a:pt x="1703" y="21"/>
                    <a:pt x="1724" y="0"/>
                    <a:pt x="1750" y="0"/>
                  </a:cubicBezTo>
                  <a:cubicBezTo>
                    <a:pt x="1775" y="0"/>
                    <a:pt x="1797" y="21"/>
                    <a:pt x="1797" y="47"/>
                  </a:cubicBezTo>
                  <a:close/>
                  <a:moveTo>
                    <a:pt x="1897" y="47"/>
                  </a:moveTo>
                  <a:cubicBezTo>
                    <a:pt x="1897" y="72"/>
                    <a:pt x="1875" y="94"/>
                    <a:pt x="1850" y="94"/>
                  </a:cubicBezTo>
                  <a:cubicBezTo>
                    <a:pt x="1824" y="94"/>
                    <a:pt x="1803" y="72"/>
                    <a:pt x="1803" y="47"/>
                  </a:cubicBezTo>
                  <a:cubicBezTo>
                    <a:pt x="1803" y="21"/>
                    <a:pt x="1824" y="0"/>
                    <a:pt x="1850" y="0"/>
                  </a:cubicBezTo>
                  <a:cubicBezTo>
                    <a:pt x="1875" y="0"/>
                    <a:pt x="1897" y="21"/>
                    <a:pt x="1897" y="47"/>
                  </a:cubicBezTo>
                  <a:close/>
                  <a:moveTo>
                    <a:pt x="1997" y="47"/>
                  </a:moveTo>
                  <a:cubicBezTo>
                    <a:pt x="1997" y="72"/>
                    <a:pt x="1975" y="94"/>
                    <a:pt x="1950" y="94"/>
                  </a:cubicBezTo>
                  <a:cubicBezTo>
                    <a:pt x="1924" y="94"/>
                    <a:pt x="1903" y="72"/>
                    <a:pt x="1903" y="47"/>
                  </a:cubicBezTo>
                  <a:cubicBezTo>
                    <a:pt x="1903" y="21"/>
                    <a:pt x="1924" y="0"/>
                    <a:pt x="1950" y="0"/>
                  </a:cubicBezTo>
                  <a:cubicBezTo>
                    <a:pt x="1975" y="0"/>
                    <a:pt x="1997" y="21"/>
                    <a:pt x="1997" y="47"/>
                  </a:cubicBezTo>
                  <a:close/>
                  <a:moveTo>
                    <a:pt x="2097" y="47"/>
                  </a:moveTo>
                  <a:cubicBezTo>
                    <a:pt x="2097" y="72"/>
                    <a:pt x="2075" y="94"/>
                    <a:pt x="2050" y="94"/>
                  </a:cubicBezTo>
                  <a:cubicBezTo>
                    <a:pt x="2024" y="94"/>
                    <a:pt x="2003" y="72"/>
                    <a:pt x="2003" y="47"/>
                  </a:cubicBezTo>
                  <a:cubicBezTo>
                    <a:pt x="2003" y="21"/>
                    <a:pt x="2024" y="0"/>
                    <a:pt x="2050" y="0"/>
                  </a:cubicBezTo>
                  <a:cubicBezTo>
                    <a:pt x="2075" y="0"/>
                    <a:pt x="2097" y="21"/>
                    <a:pt x="2097" y="47"/>
                  </a:cubicBezTo>
                  <a:close/>
                  <a:moveTo>
                    <a:pt x="2197" y="47"/>
                  </a:moveTo>
                  <a:cubicBezTo>
                    <a:pt x="2197" y="72"/>
                    <a:pt x="2175" y="94"/>
                    <a:pt x="2150" y="94"/>
                  </a:cubicBezTo>
                  <a:cubicBezTo>
                    <a:pt x="2124" y="94"/>
                    <a:pt x="2103" y="72"/>
                    <a:pt x="2103" y="47"/>
                  </a:cubicBezTo>
                  <a:cubicBezTo>
                    <a:pt x="2103" y="21"/>
                    <a:pt x="2124" y="0"/>
                    <a:pt x="2150" y="0"/>
                  </a:cubicBezTo>
                  <a:cubicBezTo>
                    <a:pt x="2175" y="0"/>
                    <a:pt x="2197" y="21"/>
                    <a:pt x="2197" y="47"/>
                  </a:cubicBezTo>
                  <a:close/>
                  <a:moveTo>
                    <a:pt x="2297" y="47"/>
                  </a:moveTo>
                  <a:cubicBezTo>
                    <a:pt x="2297" y="72"/>
                    <a:pt x="2275" y="94"/>
                    <a:pt x="2250" y="94"/>
                  </a:cubicBezTo>
                  <a:cubicBezTo>
                    <a:pt x="2224" y="94"/>
                    <a:pt x="2203" y="72"/>
                    <a:pt x="2203" y="47"/>
                  </a:cubicBezTo>
                  <a:cubicBezTo>
                    <a:pt x="2203" y="21"/>
                    <a:pt x="2224" y="0"/>
                    <a:pt x="2250" y="0"/>
                  </a:cubicBezTo>
                  <a:cubicBezTo>
                    <a:pt x="2275" y="0"/>
                    <a:pt x="2297" y="21"/>
                    <a:pt x="2297" y="47"/>
                  </a:cubicBezTo>
                  <a:close/>
                  <a:moveTo>
                    <a:pt x="2397" y="47"/>
                  </a:moveTo>
                  <a:cubicBezTo>
                    <a:pt x="2397" y="72"/>
                    <a:pt x="2375" y="94"/>
                    <a:pt x="2350" y="94"/>
                  </a:cubicBezTo>
                  <a:cubicBezTo>
                    <a:pt x="2324" y="94"/>
                    <a:pt x="2303" y="72"/>
                    <a:pt x="2303" y="47"/>
                  </a:cubicBezTo>
                  <a:cubicBezTo>
                    <a:pt x="2303" y="21"/>
                    <a:pt x="2324" y="0"/>
                    <a:pt x="2350" y="0"/>
                  </a:cubicBezTo>
                  <a:cubicBezTo>
                    <a:pt x="2375" y="0"/>
                    <a:pt x="2397" y="21"/>
                    <a:pt x="2397" y="47"/>
                  </a:cubicBezTo>
                  <a:close/>
                  <a:moveTo>
                    <a:pt x="2497" y="47"/>
                  </a:moveTo>
                  <a:cubicBezTo>
                    <a:pt x="2497" y="72"/>
                    <a:pt x="2475" y="94"/>
                    <a:pt x="2450" y="94"/>
                  </a:cubicBezTo>
                  <a:cubicBezTo>
                    <a:pt x="2424" y="94"/>
                    <a:pt x="2403" y="72"/>
                    <a:pt x="2403" y="47"/>
                  </a:cubicBezTo>
                  <a:cubicBezTo>
                    <a:pt x="2403" y="21"/>
                    <a:pt x="2424" y="0"/>
                    <a:pt x="2450" y="0"/>
                  </a:cubicBezTo>
                  <a:cubicBezTo>
                    <a:pt x="2475" y="0"/>
                    <a:pt x="2497" y="21"/>
                    <a:pt x="2497" y="47"/>
                  </a:cubicBezTo>
                  <a:close/>
                  <a:moveTo>
                    <a:pt x="2597" y="47"/>
                  </a:moveTo>
                  <a:cubicBezTo>
                    <a:pt x="2597" y="72"/>
                    <a:pt x="2575" y="94"/>
                    <a:pt x="2550" y="94"/>
                  </a:cubicBezTo>
                  <a:cubicBezTo>
                    <a:pt x="2524" y="94"/>
                    <a:pt x="2503" y="72"/>
                    <a:pt x="2503" y="47"/>
                  </a:cubicBezTo>
                  <a:cubicBezTo>
                    <a:pt x="2503" y="21"/>
                    <a:pt x="2524" y="0"/>
                    <a:pt x="2550" y="0"/>
                  </a:cubicBezTo>
                  <a:cubicBezTo>
                    <a:pt x="2575" y="0"/>
                    <a:pt x="2597" y="21"/>
                    <a:pt x="2597" y="47"/>
                  </a:cubicBezTo>
                  <a:close/>
                  <a:moveTo>
                    <a:pt x="2697" y="47"/>
                  </a:moveTo>
                  <a:cubicBezTo>
                    <a:pt x="2697" y="72"/>
                    <a:pt x="2675" y="94"/>
                    <a:pt x="2650" y="94"/>
                  </a:cubicBezTo>
                  <a:cubicBezTo>
                    <a:pt x="2624" y="94"/>
                    <a:pt x="2603" y="72"/>
                    <a:pt x="2603" y="47"/>
                  </a:cubicBezTo>
                  <a:cubicBezTo>
                    <a:pt x="2603" y="21"/>
                    <a:pt x="2624" y="0"/>
                    <a:pt x="2650" y="0"/>
                  </a:cubicBezTo>
                  <a:cubicBezTo>
                    <a:pt x="2675" y="0"/>
                    <a:pt x="2697" y="21"/>
                    <a:pt x="2697" y="47"/>
                  </a:cubicBezTo>
                  <a:close/>
                  <a:moveTo>
                    <a:pt x="2797" y="47"/>
                  </a:moveTo>
                  <a:cubicBezTo>
                    <a:pt x="2797" y="72"/>
                    <a:pt x="2775" y="94"/>
                    <a:pt x="2750" y="94"/>
                  </a:cubicBezTo>
                  <a:cubicBezTo>
                    <a:pt x="2724" y="94"/>
                    <a:pt x="2703" y="72"/>
                    <a:pt x="2703" y="47"/>
                  </a:cubicBezTo>
                  <a:cubicBezTo>
                    <a:pt x="2703" y="21"/>
                    <a:pt x="2724" y="0"/>
                    <a:pt x="2750" y="0"/>
                  </a:cubicBezTo>
                  <a:cubicBezTo>
                    <a:pt x="2775" y="0"/>
                    <a:pt x="2797" y="21"/>
                    <a:pt x="2797" y="47"/>
                  </a:cubicBezTo>
                  <a:close/>
                  <a:moveTo>
                    <a:pt x="2897" y="47"/>
                  </a:moveTo>
                  <a:cubicBezTo>
                    <a:pt x="2897" y="72"/>
                    <a:pt x="2875" y="94"/>
                    <a:pt x="2850" y="94"/>
                  </a:cubicBezTo>
                  <a:cubicBezTo>
                    <a:pt x="2824" y="94"/>
                    <a:pt x="2803" y="72"/>
                    <a:pt x="2803" y="47"/>
                  </a:cubicBezTo>
                  <a:cubicBezTo>
                    <a:pt x="2803" y="21"/>
                    <a:pt x="2824" y="0"/>
                    <a:pt x="2850" y="0"/>
                  </a:cubicBezTo>
                  <a:cubicBezTo>
                    <a:pt x="2875" y="0"/>
                    <a:pt x="2897" y="21"/>
                    <a:pt x="2897" y="47"/>
                  </a:cubicBezTo>
                  <a:close/>
                  <a:moveTo>
                    <a:pt x="2997" y="47"/>
                  </a:moveTo>
                  <a:cubicBezTo>
                    <a:pt x="2997" y="72"/>
                    <a:pt x="2975" y="94"/>
                    <a:pt x="2950" y="94"/>
                  </a:cubicBezTo>
                  <a:cubicBezTo>
                    <a:pt x="2924" y="94"/>
                    <a:pt x="2903" y="72"/>
                    <a:pt x="2903" y="47"/>
                  </a:cubicBezTo>
                  <a:cubicBezTo>
                    <a:pt x="2903" y="21"/>
                    <a:pt x="2924" y="0"/>
                    <a:pt x="2950" y="0"/>
                  </a:cubicBezTo>
                  <a:cubicBezTo>
                    <a:pt x="2975" y="0"/>
                    <a:pt x="2997" y="21"/>
                    <a:pt x="2997" y="47"/>
                  </a:cubicBezTo>
                  <a:close/>
                  <a:moveTo>
                    <a:pt x="3097" y="47"/>
                  </a:moveTo>
                  <a:cubicBezTo>
                    <a:pt x="3097" y="72"/>
                    <a:pt x="3075" y="94"/>
                    <a:pt x="3050" y="94"/>
                  </a:cubicBezTo>
                  <a:cubicBezTo>
                    <a:pt x="3024" y="94"/>
                    <a:pt x="3003" y="72"/>
                    <a:pt x="3003" y="47"/>
                  </a:cubicBezTo>
                  <a:cubicBezTo>
                    <a:pt x="3003" y="21"/>
                    <a:pt x="3024" y="0"/>
                    <a:pt x="3050" y="0"/>
                  </a:cubicBezTo>
                  <a:cubicBezTo>
                    <a:pt x="3075" y="0"/>
                    <a:pt x="3097" y="21"/>
                    <a:pt x="3097" y="47"/>
                  </a:cubicBezTo>
                  <a:close/>
                  <a:moveTo>
                    <a:pt x="3197" y="47"/>
                  </a:moveTo>
                  <a:cubicBezTo>
                    <a:pt x="3197" y="72"/>
                    <a:pt x="3175" y="94"/>
                    <a:pt x="3150" y="94"/>
                  </a:cubicBezTo>
                  <a:cubicBezTo>
                    <a:pt x="3124" y="94"/>
                    <a:pt x="3103" y="72"/>
                    <a:pt x="3103" y="47"/>
                  </a:cubicBezTo>
                  <a:cubicBezTo>
                    <a:pt x="3103" y="21"/>
                    <a:pt x="3124" y="0"/>
                    <a:pt x="3150" y="0"/>
                  </a:cubicBezTo>
                  <a:cubicBezTo>
                    <a:pt x="3175" y="0"/>
                    <a:pt x="3197" y="21"/>
                    <a:pt x="3197" y="47"/>
                  </a:cubicBezTo>
                  <a:close/>
                  <a:moveTo>
                    <a:pt x="3297" y="47"/>
                  </a:moveTo>
                  <a:cubicBezTo>
                    <a:pt x="3297" y="72"/>
                    <a:pt x="3275" y="94"/>
                    <a:pt x="3250" y="94"/>
                  </a:cubicBezTo>
                  <a:cubicBezTo>
                    <a:pt x="3224" y="94"/>
                    <a:pt x="3203" y="72"/>
                    <a:pt x="3203" y="47"/>
                  </a:cubicBezTo>
                  <a:cubicBezTo>
                    <a:pt x="3203" y="21"/>
                    <a:pt x="3224" y="0"/>
                    <a:pt x="3250" y="0"/>
                  </a:cubicBezTo>
                  <a:cubicBezTo>
                    <a:pt x="3275" y="0"/>
                    <a:pt x="3297" y="21"/>
                    <a:pt x="3297" y="47"/>
                  </a:cubicBezTo>
                  <a:close/>
                  <a:moveTo>
                    <a:pt x="3397" y="47"/>
                  </a:moveTo>
                  <a:cubicBezTo>
                    <a:pt x="3397" y="72"/>
                    <a:pt x="3375" y="94"/>
                    <a:pt x="3350" y="94"/>
                  </a:cubicBezTo>
                  <a:cubicBezTo>
                    <a:pt x="3324" y="94"/>
                    <a:pt x="3303" y="72"/>
                    <a:pt x="3303" y="47"/>
                  </a:cubicBezTo>
                  <a:cubicBezTo>
                    <a:pt x="3303" y="21"/>
                    <a:pt x="3324" y="0"/>
                    <a:pt x="3350" y="0"/>
                  </a:cubicBezTo>
                  <a:cubicBezTo>
                    <a:pt x="3375" y="0"/>
                    <a:pt x="3397" y="21"/>
                    <a:pt x="3397" y="47"/>
                  </a:cubicBezTo>
                  <a:close/>
                  <a:moveTo>
                    <a:pt x="3497" y="47"/>
                  </a:moveTo>
                  <a:cubicBezTo>
                    <a:pt x="3497" y="72"/>
                    <a:pt x="3475" y="94"/>
                    <a:pt x="3450" y="94"/>
                  </a:cubicBezTo>
                  <a:cubicBezTo>
                    <a:pt x="3424" y="94"/>
                    <a:pt x="3403" y="72"/>
                    <a:pt x="3403" y="47"/>
                  </a:cubicBezTo>
                  <a:cubicBezTo>
                    <a:pt x="3403" y="21"/>
                    <a:pt x="3424" y="0"/>
                    <a:pt x="3450" y="0"/>
                  </a:cubicBezTo>
                  <a:cubicBezTo>
                    <a:pt x="3475" y="0"/>
                    <a:pt x="3497" y="21"/>
                    <a:pt x="3497" y="47"/>
                  </a:cubicBezTo>
                  <a:close/>
                  <a:moveTo>
                    <a:pt x="3597" y="47"/>
                  </a:moveTo>
                  <a:cubicBezTo>
                    <a:pt x="3597" y="72"/>
                    <a:pt x="3575" y="94"/>
                    <a:pt x="3550" y="94"/>
                  </a:cubicBezTo>
                  <a:cubicBezTo>
                    <a:pt x="3524" y="94"/>
                    <a:pt x="3503" y="72"/>
                    <a:pt x="3503" y="47"/>
                  </a:cubicBezTo>
                  <a:cubicBezTo>
                    <a:pt x="3503" y="21"/>
                    <a:pt x="3524" y="0"/>
                    <a:pt x="3550" y="0"/>
                  </a:cubicBezTo>
                  <a:cubicBezTo>
                    <a:pt x="3575" y="0"/>
                    <a:pt x="3597" y="21"/>
                    <a:pt x="3597" y="47"/>
                  </a:cubicBezTo>
                  <a:close/>
                  <a:moveTo>
                    <a:pt x="3697" y="47"/>
                  </a:moveTo>
                  <a:cubicBezTo>
                    <a:pt x="3697" y="72"/>
                    <a:pt x="3675" y="94"/>
                    <a:pt x="3650" y="94"/>
                  </a:cubicBezTo>
                  <a:cubicBezTo>
                    <a:pt x="3624" y="94"/>
                    <a:pt x="3603" y="72"/>
                    <a:pt x="3603" y="47"/>
                  </a:cubicBezTo>
                  <a:cubicBezTo>
                    <a:pt x="3603" y="21"/>
                    <a:pt x="3624" y="0"/>
                    <a:pt x="3650" y="0"/>
                  </a:cubicBezTo>
                  <a:cubicBezTo>
                    <a:pt x="3675" y="0"/>
                    <a:pt x="3697" y="21"/>
                    <a:pt x="3697" y="47"/>
                  </a:cubicBezTo>
                  <a:close/>
                  <a:moveTo>
                    <a:pt x="3797" y="47"/>
                  </a:moveTo>
                  <a:cubicBezTo>
                    <a:pt x="3797" y="72"/>
                    <a:pt x="3775" y="94"/>
                    <a:pt x="3750" y="94"/>
                  </a:cubicBezTo>
                  <a:cubicBezTo>
                    <a:pt x="3724" y="94"/>
                    <a:pt x="3703" y="72"/>
                    <a:pt x="3703" y="47"/>
                  </a:cubicBezTo>
                  <a:cubicBezTo>
                    <a:pt x="3703" y="21"/>
                    <a:pt x="3724" y="0"/>
                    <a:pt x="3750" y="0"/>
                  </a:cubicBezTo>
                  <a:cubicBezTo>
                    <a:pt x="3775" y="0"/>
                    <a:pt x="3797" y="21"/>
                    <a:pt x="3797" y="47"/>
                  </a:cubicBezTo>
                  <a:close/>
                  <a:moveTo>
                    <a:pt x="3897" y="47"/>
                  </a:moveTo>
                  <a:cubicBezTo>
                    <a:pt x="3897" y="72"/>
                    <a:pt x="3875" y="94"/>
                    <a:pt x="3850" y="94"/>
                  </a:cubicBezTo>
                  <a:cubicBezTo>
                    <a:pt x="3824" y="94"/>
                    <a:pt x="3803" y="72"/>
                    <a:pt x="3803" y="47"/>
                  </a:cubicBezTo>
                  <a:cubicBezTo>
                    <a:pt x="3803" y="21"/>
                    <a:pt x="3824" y="0"/>
                    <a:pt x="3850" y="0"/>
                  </a:cubicBezTo>
                  <a:cubicBezTo>
                    <a:pt x="3875" y="0"/>
                    <a:pt x="3897" y="21"/>
                    <a:pt x="3897" y="47"/>
                  </a:cubicBezTo>
                  <a:close/>
                  <a:moveTo>
                    <a:pt x="3997" y="47"/>
                  </a:moveTo>
                  <a:cubicBezTo>
                    <a:pt x="3997" y="72"/>
                    <a:pt x="3975" y="94"/>
                    <a:pt x="3950" y="94"/>
                  </a:cubicBezTo>
                  <a:cubicBezTo>
                    <a:pt x="3924" y="94"/>
                    <a:pt x="3903" y="72"/>
                    <a:pt x="3903" y="47"/>
                  </a:cubicBezTo>
                  <a:cubicBezTo>
                    <a:pt x="3903" y="21"/>
                    <a:pt x="3924" y="0"/>
                    <a:pt x="3950" y="0"/>
                  </a:cubicBezTo>
                  <a:cubicBezTo>
                    <a:pt x="3975" y="0"/>
                    <a:pt x="3997" y="21"/>
                    <a:pt x="3997" y="47"/>
                  </a:cubicBezTo>
                  <a:close/>
                  <a:moveTo>
                    <a:pt x="4097" y="47"/>
                  </a:moveTo>
                  <a:cubicBezTo>
                    <a:pt x="4097" y="72"/>
                    <a:pt x="4075" y="94"/>
                    <a:pt x="4050" y="94"/>
                  </a:cubicBezTo>
                  <a:cubicBezTo>
                    <a:pt x="4024" y="94"/>
                    <a:pt x="4003" y="72"/>
                    <a:pt x="4003" y="47"/>
                  </a:cubicBezTo>
                  <a:cubicBezTo>
                    <a:pt x="4003" y="21"/>
                    <a:pt x="4024" y="0"/>
                    <a:pt x="4050" y="0"/>
                  </a:cubicBezTo>
                  <a:cubicBezTo>
                    <a:pt x="4075" y="0"/>
                    <a:pt x="4097" y="21"/>
                    <a:pt x="4097" y="47"/>
                  </a:cubicBezTo>
                  <a:close/>
                  <a:moveTo>
                    <a:pt x="4197" y="47"/>
                  </a:moveTo>
                  <a:cubicBezTo>
                    <a:pt x="4197" y="72"/>
                    <a:pt x="4175" y="94"/>
                    <a:pt x="4150" y="94"/>
                  </a:cubicBezTo>
                  <a:cubicBezTo>
                    <a:pt x="4124" y="94"/>
                    <a:pt x="4103" y="72"/>
                    <a:pt x="4103" y="47"/>
                  </a:cubicBezTo>
                  <a:cubicBezTo>
                    <a:pt x="4103" y="21"/>
                    <a:pt x="4124" y="0"/>
                    <a:pt x="4150" y="0"/>
                  </a:cubicBezTo>
                  <a:cubicBezTo>
                    <a:pt x="4175" y="0"/>
                    <a:pt x="4197" y="21"/>
                    <a:pt x="4197" y="47"/>
                  </a:cubicBezTo>
                  <a:close/>
                  <a:moveTo>
                    <a:pt x="4297" y="47"/>
                  </a:moveTo>
                  <a:cubicBezTo>
                    <a:pt x="4297" y="72"/>
                    <a:pt x="4275" y="94"/>
                    <a:pt x="4250" y="94"/>
                  </a:cubicBezTo>
                  <a:cubicBezTo>
                    <a:pt x="4224" y="94"/>
                    <a:pt x="4203" y="72"/>
                    <a:pt x="4203" y="47"/>
                  </a:cubicBezTo>
                  <a:cubicBezTo>
                    <a:pt x="4203" y="21"/>
                    <a:pt x="4224" y="0"/>
                    <a:pt x="4250" y="0"/>
                  </a:cubicBezTo>
                  <a:cubicBezTo>
                    <a:pt x="4275" y="0"/>
                    <a:pt x="4297" y="21"/>
                    <a:pt x="4297" y="47"/>
                  </a:cubicBezTo>
                  <a:close/>
                  <a:moveTo>
                    <a:pt x="4397" y="47"/>
                  </a:moveTo>
                  <a:cubicBezTo>
                    <a:pt x="4397" y="72"/>
                    <a:pt x="4375" y="94"/>
                    <a:pt x="4350" y="94"/>
                  </a:cubicBezTo>
                  <a:cubicBezTo>
                    <a:pt x="4324" y="94"/>
                    <a:pt x="4303" y="72"/>
                    <a:pt x="4303" y="47"/>
                  </a:cubicBezTo>
                  <a:cubicBezTo>
                    <a:pt x="4303" y="21"/>
                    <a:pt x="4324" y="0"/>
                    <a:pt x="4350" y="0"/>
                  </a:cubicBezTo>
                  <a:cubicBezTo>
                    <a:pt x="4375" y="0"/>
                    <a:pt x="4397" y="21"/>
                    <a:pt x="4397" y="47"/>
                  </a:cubicBezTo>
                  <a:close/>
                  <a:moveTo>
                    <a:pt x="4497" y="47"/>
                  </a:moveTo>
                  <a:cubicBezTo>
                    <a:pt x="4497" y="72"/>
                    <a:pt x="4475" y="94"/>
                    <a:pt x="4450" y="94"/>
                  </a:cubicBezTo>
                  <a:cubicBezTo>
                    <a:pt x="4424" y="94"/>
                    <a:pt x="4403" y="72"/>
                    <a:pt x="4403" y="47"/>
                  </a:cubicBezTo>
                  <a:cubicBezTo>
                    <a:pt x="4403" y="21"/>
                    <a:pt x="4424" y="0"/>
                    <a:pt x="4450" y="0"/>
                  </a:cubicBezTo>
                  <a:cubicBezTo>
                    <a:pt x="4475" y="0"/>
                    <a:pt x="4497" y="21"/>
                    <a:pt x="4497" y="47"/>
                  </a:cubicBezTo>
                  <a:close/>
                  <a:moveTo>
                    <a:pt x="4597" y="47"/>
                  </a:moveTo>
                  <a:cubicBezTo>
                    <a:pt x="4597" y="72"/>
                    <a:pt x="4575" y="94"/>
                    <a:pt x="4550" y="94"/>
                  </a:cubicBezTo>
                  <a:cubicBezTo>
                    <a:pt x="4524" y="94"/>
                    <a:pt x="4503" y="72"/>
                    <a:pt x="4503" y="47"/>
                  </a:cubicBezTo>
                  <a:cubicBezTo>
                    <a:pt x="4503" y="21"/>
                    <a:pt x="4524" y="0"/>
                    <a:pt x="4550" y="0"/>
                  </a:cubicBezTo>
                  <a:cubicBezTo>
                    <a:pt x="4575" y="0"/>
                    <a:pt x="4597" y="21"/>
                    <a:pt x="4597" y="47"/>
                  </a:cubicBezTo>
                  <a:close/>
                  <a:moveTo>
                    <a:pt x="4697" y="47"/>
                  </a:moveTo>
                  <a:cubicBezTo>
                    <a:pt x="4697" y="72"/>
                    <a:pt x="4675" y="94"/>
                    <a:pt x="4650" y="94"/>
                  </a:cubicBezTo>
                  <a:cubicBezTo>
                    <a:pt x="4624" y="94"/>
                    <a:pt x="4603" y="72"/>
                    <a:pt x="4603" y="47"/>
                  </a:cubicBezTo>
                  <a:cubicBezTo>
                    <a:pt x="4603" y="21"/>
                    <a:pt x="4624" y="0"/>
                    <a:pt x="4650" y="0"/>
                  </a:cubicBezTo>
                  <a:cubicBezTo>
                    <a:pt x="4675" y="0"/>
                    <a:pt x="4697" y="21"/>
                    <a:pt x="4697" y="47"/>
                  </a:cubicBezTo>
                  <a:close/>
                  <a:moveTo>
                    <a:pt x="4797" y="47"/>
                  </a:moveTo>
                  <a:cubicBezTo>
                    <a:pt x="4797" y="72"/>
                    <a:pt x="4775" y="94"/>
                    <a:pt x="4750" y="94"/>
                  </a:cubicBezTo>
                  <a:cubicBezTo>
                    <a:pt x="4724" y="94"/>
                    <a:pt x="4703" y="72"/>
                    <a:pt x="4703" y="47"/>
                  </a:cubicBezTo>
                  <a:cubicBezTo>
                    <a:pt x="4703" y="21"/>
                    <a:pt x="4724" y="0"/>
                    <a:pt x="4750" y="0"/>
                  </a:cubicBezTo>
                  <a:cubicBezTo>
                    <a:pt x="4775" y="0"/>
                    <a:pt x="4797" y="21"/>
                    <a:pt x="4797" y="47"/>
                  </a:cubicBezTo>
                  <a:close/>
                  <a:moveTo>
                    <a:pt x="4897" y="47"/>
                  </a:moveTo>
                  <a:cubicBezTo>
                    <a:pt x="4897" y="72"/>
                    <a:pt x="4875" y="94"/>
                    <a:pt x="4850" y="94"/>
                  </a:cubicBezTo>
                  <a:cubicBezTo>
                    <a:pt x="4824" y="94"/>
                    <a:pt x="4803" y="72"/>
                    <a:pt x="4803" y="47"/>
                  </a:cubicBezTo>
                  <a:cubicBezTo>
                    <a:pt x="4803" y="21"/>
                    <a:pt x="4824" y="0"/>
                    <a:pt x="4850" y="0"/>
                  </a:cubicBezTo>
                  <a:cubicBezTo>
                    <a:pt x="4875" y="0"/>
                    <a:pt x="4897" y="21"/>
                    <a:pt x="4897" y="47"/>
                  </a:cubicBezTo>
                  <a:close/>
                  <a:moveTo>
                    <a:pt x="4997" y="47"/>
                  </a:moveTo>
                  <a:cubicBezTo>
                    <a:pt x="4997" y="72"/>
                    <a:pt x="4975" y="94"/>
                    <a:pt x="4950" y="94"/>
                  </a:cubicBezTo>
                  <a:cubicBezTo>
                    <a:pt x="4924" y="94"/>
                    <a:pt x="4903" y="72"/>
                    <a:pt x="4903" y="47"/>
                  </a:cubicBezTo>
                  <a:cubicBezTo>
                    <a:pt x="4903" y="21"/>
                    <a:pt x="4924" y="0"/>
                    <a:pt x="4950" y="0"/>
                  </a:cubicBezTo>
                  <a:cubicBezTo>
                    <a:pt x="4975" y="0"/>
                    <a:pt x="4997" y="21"/>
                    <a:pt x="4997" y="47"/>
                  </a:cubicBezTo>
                  <a:close/>
                  <a:moveTo>
                    <a:pt x="5097" y="47"/>
                  </a:moveTo>
                  <a:cubicBezTo>
                    <a:pt x="5097" y="72"/>
                    <a:pt x="5075" y="94"/>
                    <a:pt x="5050" y="94"/>
                  </a:cubicBezTo>
                  <a:cubicBezTo>
                    <a:pt x="5024" y="94"/>
                    <a:pt x="5003" y="72"/>
                    <a:pt x="5003" y="47"/>
                  </a:cubicBezTo>
                  <a:cubicBezTo>
                    <a:pt x="5003" y="21"/>
                    <a:pt x="5024" y="0"/>
                    <a:pt x="5050" y="0"/>
                  </a:cubicBezTo>
                  <a:cubicBezTo>
                    <a:pt x="5075" y="0"/>
                    <a:pt x="5097" y="21"/>
                    <a:pt x="5097" y="47"/>
                  </a:cubicBezTo>
                  <a:close/>
                  <a:moveTo>
                    <a:pt x="5197" y="47"/>
                  </a:moveTo>
                  <a:cubicBezTo>
                    <a:pt x="5197" y="72"/>
                    <a:pt x="5175" y="94"/>
                    <a:pt x="5150" y="94"/>
                  </a:cubicBezTo>
                  <a:cubicBezTo>
                    <a:pt x="5124" y="94"/>
                    <a:pt x="5103" y="72"/>
                    <a:pt x="5103" y="47"/>
                  </a:cubicBezTo>
                  <a:cubicBezTo>
                    <a:pt x="5103" y="21"/>
                    <a:pt x="5124" y="0"/>
                    <a:pt x="5150" y="0"/>
                  </a:cubicBezTo>
                  <a:cubicBezTo>
                    <a:pt x="5175" y="0"/>
                    <a:pt x="5197" y="21"/>
                    <a:pt x="5197" y="47"/>
                  </a:cubicBezTo>
                  <a:close/>
                  <a:moveTo>
                    <a:pt x="5297" y="47"/>
                  </a:moveTo>
                  <a:cubicBezTo>
                    <a:pt x="5297" y="72"/>
                    <a:pt x="5275" y="94"/>
                    <a:pt x="5250" y="94"/>
                  </a:cubicBezTo>
                  <a:cubicBezTo>
                    <a:pt x="5224" y="94"/>
                    <a:pt x="5203" y="72"/>
                    <a:pt x="5203" y="47"/>
                  </a:cubicBezTo>
                  <a:cubicBezTo>
                    <a:pt x="5203" y="21"/>
                    <a:pt x="5224" y="0"/>
                    <a:pt x="5250" y="0"/>
                  </a:cubicBezTo>
                  <a:cubicBezTo>
                    <a:pt x="5275" y="0"/>
                    <a:pt x="5297" y="21"/>
                    <a:pt x="5297" y="47"/>
                  </a:cubicBezTo>
                  <a:close/>
                  <a:moveTo>
                    <a:pt x="5397" y="47"/>
                  </a:moveTo>
                  <a:cubicBezTo>
                    <a:pt x="5397" y="72"/>
                    <a:pt x="5375" y="94"/>
                    <a:pt x="5350" y="94"/>
                  </a:cubicBezTo>
                  <a:cubicBezTo>
                    <a:pt x="5324" y="94"/>
                    <a:pt x="5303" y="72"/>
                    <a:pt x="5303" y="47"/>
                  </a:cubicBezTo>
                  <a:cubicBezTo>
                    <a:pt x="5303" y="21"/>
                    <a:pt x="5324" y="0"/>
                    <a:pt x="5350" y="0"/>
                  </a:cubicBezTo>
                  <a:cubicBezTo>
                    <a:pt x="5375" y="0"/>
                    <a:pt x="5397" y="21"/>
                    <a:pt x="5397" y="47"/>
                  </a:cubicBezTo>
                  <a:close/>
                  <a:moveTo>
                    <a:pt x="5497" y="47"/>
                  </a:moveTo>
                  <a:cubicBezTo>
                    <a:pt x="5497" y="72"/>
                    <a:pt x="5475" y="94"/>
                    <a:pt x="5450" y="94"/>
                  </a:cubicBezTo>
                  <a:cubicBezTo>
                    <a:pt x="5424" y="94"/>
                    <a:pt x="5403" y="72"/>
                    <a:pt x="5403" y="47"/>
                  </a:cubicBezTo>
                  <a:cubicBezTo>
                    <a:pt x="5403" y="21"/>
                    <a:pt x="5424" y="0"/>
                    <a:pt x="5450" y="0"/>
                  </a:cubicBezTo>
                  <a:cubicBezTo>
                    <a:pt x="5475" y="0"/>
                    <a:pt x="5497" y="21"/>
                    <a:pt x="5497" y="47"/>
                  </a:cubicBezTo>
                  <a:close/>
                  <a:moveTo>
                    <a:pt x="5597" y="47"/>
                  </a:moveTo>
                  <a:cubicBezTo>
                    <a:pt x="5597" y="72"/>
                    <a:pt x="5575" y="94"/>
                    <a:pt x="5550" y="94"/>
                  </a:cubicBezTo>
                  <a:cubicBezTo>
                    <a:pt x="5524" y="94"/>
                    <a:pt x="5503" y="72"/>
                    <a:pt x="5503" y="47"/>
                  </a:cubicBezTo>
                  <a:cubicBezTo>
                    <a:pt x="5503" y="21"/>
                    <a:pt x="5524" y="0"/>
                    <a:pt x="5550" y="0"/>
                  </a:cubicBezTo>
                  <a:cubicBezTo>
                    <a:pt x="5575" y="0"/>
                    <a:pt x="5597" y="21"/>
                    <a:pt x="5597" y="47"/>
                  </a:cubicBezTo>
                  <a:close/>
                  <a:moveTo>
                    <a:pt x="5697" y="47"/>
                  </a:moveTo>
                  <a:cubicBezTo>
                    <a:pt x="5697" y="72"/>
                    <a:pt x="5675" y="94"/>
                    <a:pt x="5650" y="94"/>
                  </a:cubicBezTo>
                  <a:cubicBezTo>
                    <a:pt x="5624" y="94"/>
                    <a:pt x="5603" y="72"/>
                    <a:pt x="5603" y="47"/>
                  </a:cubicBezTo>
                  <a:cubicBezTo>
                    <a:pt x="5603" y="21"/>
                    <a:pt x="5624" y="0"/>
                    <a:pt x="5650" y="0"/>
                  </a:cubicBezTo>
                  <a:cubicBezTo>
                    <a:pt x="5675" y="0"/>
                    <a:pt x="5697" y="21"/>
                    <a:pt x="5697" y="47"/>
                  </a:cubicBezTo>
                  <a:close/>
                  <a:moveTo>
                    <a:pt x="5797" y="47"/>
                  </a:moveTo>
                  <a:cubicBezTo>
                    <a:pt x="5797" y="72"/>
                    <a:pt x="5775" y="94"/>
                    <a:pt x="5750" y="94"/>
                  </a:cubicBezTo>
                  <a:cubicBezTo>
                    <a:pt x="5724" y="94"/>
                    <a:pt x="5703" y="72"/>
                    <a:pt x="5703" y="47"/>
                  </a:cubicBezTo>
                  <a:cubicBezTo>
                    <a:pt x="5703" y="21"/>
                    <a:pt x="5724" y="0"/>
                    <a:pt x="5750" y="0"/>
                  </a:cubicBezTo>
                  <a:cubicBezTo>
                    <a:pt x="5775" y="0"/>
                    <a:pt x="5797" y="21"/>
                    <a:pt x="5797" y="47"/>
                  </a:cubicBezTo>
                  <a:close/>
                  <a:moveTo>
                    <a:pt x="5897" y="47"/>
                  </a:moveTo>
                  <a:cubicBezTo>
                    <a:pt x="5897" y="72"/>
                    <a:pt x="5875" y="94"/>
                    <a:pt x="5850" y="94"/>
                  </a:cubicBezTo>
                  <a:cubicBezTo>
                    <a:pt x="5824" y="94"/>
                    <a:pt x="5803" y="72"/>
                    <a:pt x="5803" y="47"/>
                  </a:cubicBezTo>
                  <a:cubicBezTo>
                    <a:pt x="5803" y="21"/>
                    <a:pt x="5824" y="0"/>
                    <a:pt x="5850" y="0"/>
                  </a:cubicBezTo>
                  <a:cubicBezTo>
                    <a:pt x="5875" y="0"/>
                    <a:pt x="5897" y="21"/>
                    <a:pt x="5897" y="47"/>
                  </a:cubicBezTo>
                  <a:close/>
                  <a:moveTo>
                    <a:pt x="5997" y="47"/>
                  </a:moveTo>
                  <a:cubicBezTo>
                    <a:pt x="5997" y="72"/>
                    <a:pt x="5975" y="94"/>
                    <a:pt x="5950" y="94"/>
                  </a:cubicBezTo>
                  <a:cubicBezTo>
                    <a:pt x="5924" y="94"/>
                    <a:pt x="5903" y="72"/>
                    <a:pt x="5903" y="47"/>
                  </a:cubicBezTo>
                  <a:cubicBezTo>
                    <a:pt x="5903" y="21"/>
                    <a:pt x="5924" y="0"/>
                    <a:pt x="5950" y="0"/>
                  </a:cubicBezTo>
                  <a:cubicBezTo>
                    <a:pt x="5975" y="0"/>
                    <a:pt x="5997" y="21"/>
                    <a:pt x="5997" y="47"/>
                  </a:cubicBezTo>
                  <a:close/>
                  <a:moveTo>
                    <a:pt x="6097" y="47"/>
                  </a:moveTo>
                  <a:cubicBezTo>
                    <a:pt x="6097" y="72"/>
                    <a:pt x="6075" y="94"/>
                    <a:pt x="6050" y="94"/>
                  </a:cubicBezTo>
                  <a:cubicBezTo>
                    <a:pt x="6024" y="94"/>
                    <a:pt x="6003" y="72"/>
                    <a:pt x="6003" y="47"/>
                  </a:cubicBezTo>
                  <a:cubicBezTo>
                    <a:pt x="6003" y="21"/>
                    <a:pt x="6024" y="0"/>
                    <a:pt x="6050" y="0"/>
                  </a:cubicBezTo>
                  <a:cubicBezTo>
                    <a:pt x="6075" y="0"/>
                    <a:pt x="6097" y="21"/>
                    <a:pt x="6097" y="47"/>
                  </a:cubicBezTo>
                  <a:close/>
                  <a:moveTo>
                    <a:pt x="6197" y="47"/>
                  </a:moveTo>
                  <a:cubicBezTo>
                    <a:pt x="6197" y="72"/>
                    <a:pt x="6175" y="94"/>
                    <a:pt x="6150" y="94"/>
                  </a:cubicBezTo>
                  <a:cubicBezTo>
                    <a:pt x="6124" y="94"/>
                    <a:pt x="6103" y="72"/>
                    <a:pt x="6103" y="47"/>
                  </a:cubicBezTo>
                  <a:cubicBezTo>
                    <a:pt x="6103" y="21"/>
                    <a:pt x="6124" y="0"/>
                    <a:pt x="6150" y="0"/>
                  </a:cubicBezTo>
                  <a:cubicBezTo>
                    <a:pt x="6175" y="0"/>
                    <a:pt x="6197" y="21"/>
                    <a:pt x="6197" y="47"/>
                  </a:cubicBezTo>
                  <a:close/>
                  <a:moveTo>
                    <a:pt x="6297" y="47"/>
                  </a:moveTo>
                  <a:cubicBezTo>
                    <a:pt x="6297" y="72"/>
                    <a:pt x="6275" y="94"/>
                    <a:pt x="6250" y="94"/>
                  </a:cubicBezTo>
                  <a:cubicBezTo>
                    <a:pt x="6224" y="94"/>
                    <a:pt x="6203" y="72"/>
                    <a:pt x="6203" y="47"/>
                  </a:cubicBezTo>
                  <a:cubicBezTo>
                    <a:pt x="6203" y="21"/>
                    <a:pt x="6224" y="0"/>
                    <a:pt x="6250" y="0"/>
                  </a:cubicBezTo>
                  <a:cubicBezTo>
                    <a:pt x="6275" y="0"/>
                    <a:pt x="6297" y="21"/>
                    <a:pt x="6297" y="47"/>
                  </a:cubicBezTo>
                  <a:close/>
                  <a:moveTo>
                    <a:pt x="6397" y="47"/>
                  </a:moveTo>
                  <a:cubicBezTo>
                    <a:pt x="6397" y="72"/>
                    <a:pt x="6375" y="94"/>
                    <a:pt x="6350" y="94"/>
                  </a:cubicBezTo>
                  <a:cubicBezTo>
                    <a:pt x="6324" y="94"/>
                    <a:pt x="6303" y="72"/>
                    <a:pt x="6303" y="47"/>
                  </a:cubicBezTo>
                  <a:cubicBezTo>
                    <a:pt x="6303" y="21"/>
                    <a:pt x="6324" y="0"/>
                    <a:pt x="6350" y="0"/>
                  </a:cubicBezTo>
                  <a:cubicBezTo>
                    <a:pt x="6375" y="0"/>
                    <a:pt x="6397" y="21"/>
                    <a:pt x="6397" y="47"/>
                  </a:cubicBezTo>
                  <a:close/>
                  <a:moveTo>
                    <a:pt x="97" y="453"/>
                  </a:moveTo>
                  <a:cubicBezTo>
                    <a:pt x="97" y="478"/>
                    <a:pt x="75" y="500"/>
                    <a:pt x="50" y="500"/>
                  </a:cubicBezTo>
                  <a:cubicBezTo>
                    <a:pt x="24" y="500"/>
                    <a:pt x="3" y="478"/>
                    <a:pt x="3" y="453"/>
                  </a:cubicBezTo>
                  <a:cubicBezTo>
                    <a:pt x="3" y="427"/>
                    <a:pt x="24" y="406"/>
                    <a:pt x="50" y="406"/>
                  </a:cubicBezTo>
                  <a:cubicBezTo>
                    <a:pt x="75" y="406"/>
                    <a:pt x="97" y="427"/>
                    <a:pt x="97" y="453"/>
                  </a:cubicBezTo>
                  <a:close/>
                  <a:moveTo>
                    <a:pt x="197" y="453"/>
                  </a:moveTo>
                  <a:cubicBezTo>
                    <a:pt x="197" y="478"/>
                    <a:pt x="175" y="500"/>
                    <a:pt x="150" y="500"/>
                  </a:cubicBezTo>
                  <a:cubicBezTo>
                    <a:pt x="124" y="500"/>
                    <a:pt x="103" y="478"/>
                    <a:pt x="103" y="453"/>
                  </a:cubicBezTo>
                  <a:cubicBezTo>
                    <a:pt x="103" y="427"/>
                    <a:pt x="124" y="406"/>
                    <a:pt x="150" y="406"/>
                  </a:cubicBezTo>
                  <a:cubicBezTo>
                    <a:pt x="175" y="406"/>
                    <a:pt x="197" y="427"/>
                    <a:pt x="197" y="453"/>
                  </a:cubicBezTo>
                  <a:close/>
                  <a:moveTo>
                    <a:pt x="297" y="453"/>
                  </a:moveTo>
                  <a:cubicBezTo>
                    <a:pt x="297" y="478"/>
                    <a:pt x="275" y="500"/>
                    <a:pt x="250" y="500"/>
                  </a:cubicBezTo>
                  <a:cubicBezTo>
                    <a:pt x="224" y="500"/>
                    <a:pt x="203" y="478"/>
                    <a:pt x="203" y="453"/>
                  </a:cubicBezTo>
                  <a:cubicBezTo>
                    <a:pt x="203" y="427"/>
                    <a:pt x="224" y="406"/>
                    <a:pt x="250" y="406"/>
                  </a:cubicBezTo>
                  <a:cubicBezTo>
                    <a:pt x="275" y="406"/>
                    <a:pt x="297" y="427"/>
                    <a:pt x="297" y="453"/>
                  </a:cubicBezTo>
                  <a:close/>
                  <a:moveTo>
                    <a:pt x="397" y="453"/>
                  </a:moveTo>
                  <a:cubicBezTo>
                    <a:pt x="397" y="478"/>
                    <a:pt x="375" y="500"/>
                    <a:pt x="350" y="500"/>
                  </a:cubicBezTo>
                  <a:cubicBezTo>
                    <a:pt x="324" y="500"/>
                    <a:pt x="303" y="478"/>
                    <a:pt x="303" y="453"/>
                  </a:cubicBezTo>
                  <a:cubicBezTo>
                    <a:pt x="303" y="427"/>
                    <a:pt x="324" y="406"/>
                    <a:pt x="350" y="406"/>
                  </a:cubicBezTo>
                  <a:cubicBezTo>
                    <a:pt x="375" y="406"/>
                    <a:pt x="397" y="427"/>
                    <a:pt x="397" y="453"/>
                  </a:cubicBezTo>
                  <a:close/>
                  <a:moveTo>
                    <a:pt x="497" y="453"/>
                  </a:moveTo>
                  <a:cubicBezTo>
                    <a:pt x="497" y="478"/>
                    <a:pt x="475" y="500"/>
                    <a:pt x="450" y="500"/>
                  </a:cubicBezTo>
                  <a:cubicBezTo>
                    <a:pt x="424" y="500"/>
                    <a:pt x="403" y="478"/>
                    <a:pt x="403" y="453"/>
                  </a:cubicBezTo>
                  <a:cubicBezTo>
                    <a:pt x="403" y="427"/>
                    <a:pt x="424" y="406"/>
                    <a:pt x="450" y="406"/>
                  </a:cubicBezTo>
                  <a:cubicBezTo>
                    <a:pt x="475" y="406"/>
                    <a:pt x="497" y="427"/>
                    <a:pt x="497" y="453"/>
                  </a:cubicBezTo>
                  <a:close/>
                  <a:moveTo>
                    <a:pt x="597" y="453"/>
                  </a:moveTo>
                  <a:cubicBezTo>
                    <a:pt x="597" y="478"/>
                    <a:pt x="575" y="500"/>
                    <a:pt x="550" y="500"/>
                  </a:cubicBezTo>
                  <a:cubicBezTo>
                    <a:pt x="524" y="500"/>
                    <a:pt x="503" y="478"/>
                    <a:pt x="503" y="453"/>
                  </a:cubicBezTo>
                  <a:cubicBezTo>
                    <a:pt x="503" y="427"/>
                    <a:pt x="524" y="406"/>
                    <a:pt x="550" y="406"/>
                  </a:cubicBezTo>
                  <a:cubicBezTo>
                    <a:pt x="575" y="406"/>
                    <a:pt x="597" y="427"/>
                    <a:pt x="597" y="453"/>
                  </a:cubicBezTo>
                  <a:close/>
                  <a:moveTo>
                    <a:pt x="697" y="453"/>
                  </a:moveTo>
                  <a:cubicBezTo>
                    <a:pt x="697" y="478"/>
                    <a:pt x="675" y="500"/>
                    <a:pt x="650" y="500"/>
                  </a:cubicBezTo>
                  <a:cubicBezTo>
                    <a:pt x="624" y="500"/>
                    <a:pt x="603" y="478"/>
                    <a:pt x="603" y="453"/>
                  </a:cubicBezTo>
                  <a:cubicBezTo>
                    <a:pt x="603" y="427"/>
                    <a:pt x="624" y="406"/>
                    <a:pt x="650" y="406"/>
                  </a:cubicBezTo>
                  <a:cubicBezTo>
                    <a:pt x="675" y="406"/>
                    <a:pt x="697" y="427"/>
                    <a:pt x="697" y="453"/>
                  </a:cubicBezTo>
                  <a:close/>
                  <a:moveTo>
                    <a:pt x="797" y="453"/>
                  </a:moveTo>
                  <a:cubicBezTo>
                    <a:pt x="797" y="478"/>
                    <a:pt x="775" y="500"/>
                    <a:pt x="750" y="500"/>
                  </a:cubicBezTo>
                  <a:cubicBezTo>
                    <a:pt x="724" y="500"/>
                    <a:pt x="703" y="478"/>
                    <a:pt x="703" y="453"/>
                  </a:cubicBezTo>
                  <a:cubicBezTo>
                    <a:pt x="703" y="427"/>
                    <a:pt x="724" y="406"/>
                    <a:pt x="750" y="406"/>
                  </a:cubicBezTo>
                  <a:cubicBezTo>
                    <a:pt x="775" y="406"/>
                    <a:pt x="797" y="427"/>
                    <a:pt x="797" y="453"/>
                  </a:cubicBezTo>
                  <a:close/>
                  <a:moveTo>
                    <a:pt x="897" y="453"/>
                  </a:moveTo>
                  <a:cubicBezTo>
                    <a:pt x="897" y="478"/>
                    <a:pt x="875" y="500"/>
                    <a:pt x="850" y="500"/>
                  </a:cubicBezTo>
                  <a:cubicBezTo>
                    <a:pt x="824" y="500"/>
                    <a:pt x="803" y="478"/>
                    <a:pt x="803" y="453"/>
                  </a:cubicBezTo>
                  <a:cubicBezTo>
                    <a:pt x="803" y="427"/>
                    <a:pt x="824" y="406"/>
                    <a:pt x="850" y="406"/>
                  </a:cubicBezTo>
                  <a:cubicBezTo>
                    <a:pt x="875" y="406"/>
                    <a:pt x="897" y="427"/>
                    <a:pt x="897" y="453"/>
                  </a:cubicBezTo>
                  <a:close/>
                  <a:moveTo>
                    <a:pt x="997" y="453"/>
                  </a:moveTo>
                  <a:cubicBezTo>
                    <a:pt x="997" y="478"/>
                    <a:pt x="975" y="500"/>
                    <a:pt x="950" y="500"/>
                  </a:cubicBezTo>
                  <a:cubicBezTo>
                    <a:pt x="924" y="500"/>
                    <a:pt x="903" y="478"/>
                    <a:pt x="903" y="453"/>
                  </a:cubicBezTo>
                  <a:cubicBezTo>
                    <a:pt x="903" y="427"/>
                    <a:pt x="924" y="406"/>
                    <a:pt x="950" y="406"/>
                  </a:cubicBezTo>
                  <a:cubicBezTo>
                    <a:pt x="975" y="406"/>
                    <a:pt x="997" y="427"/>
                    <a:pt x="997" y="453"/>
                  </a:cubicBezTo>
                  <a:close/>
                  <a:moveTo>
                    <a:pt x="1097" y="453"/>
                  </a:moveTo>
                  <a:cubicBezTo>
                    <a:pt x="1097" y="478"/>
                    <a:pt x="1075" y="500"/>
                    <a:pt x="1050" y="500"/>
                  </a:cubicBezTo>
                  <a:cubicBezTo>
                    <a:pt x="1024" y="500"/>
                    <a:pt x="1003" y="478"/>
                    <a:pt x="1003" y="453"/>
                  </a:cubicBezTo>
                  <a:cubicBezTo>
                    <a:pt x="1003" y="427"/>
                    <a:pt x="1024" y="406"/>
                    <a:pt x="1050" y="406"/>
                  </a:cubicBezTo>
                  <a:cubicBezTo>
                    <a:pt x="1075" y="406"/>
                    <a:pt x="1097" y="427"/>
                    <a:pt x="1097" y="453"/>
                  </a:cubicBezTo>
                  <a:close/>
                  <a:moveTo>
                    <a:pt x="1197" y="453"/>
                  </a:moveTo>
                  <a:cubicBezTo>
                    <a:pt x="1197" y="478"/>
                    <a:pt x="1175" y="500"/>
                    <a:pt x="1150" y="500"/>
                  </a:cubicBezTo>
                  <a:cubicBezTo>
                    <a:pt x="1124" y="500"/>
                    <a:pt x="1103" y="478"/>
                    <a:pt x="1103" y="453"/>
                  </a:cubicBezTo>
                  <a:cubicBezTo>
                    <a:pt x="1103" y="427"/>
                    <a:pt x="1124" y="406"/>
                    <a:pt x="1150" y="406"/>
                  </a:cubicBezTo>
                  <a:cubicBezTo>
                    <a:pt x="1175" y="406"/>
                    <a:pt x="1197" y="427"/>
                    <a:pt x="1197" y="453"/>
                  </a:cubicBezTo>
                  <a:close/>
                  <a:moveTo>
                    <a:pt x="1297" y="453"/>
                  </a:moveTo>
                  <a:cubicBezTo>
                    <a:pt x="1297" y="478"/>
                    <a:pt x="1275" y="500"/>
                    <a:pt x="1250" y="500"/>
                  </a:cubicBezTo>
                  <a:cubicBezTo>
                    <a:pt x="1224" y="500"/>
                    <a:pt x="1203" y="478"/>
                    <a:pt x="1203" y="453"/>
                  </a:cubicBezTo>
                  <a:cubicBezTo>
                    <a:pt x="1203" y="427"/>
                    <a:pt x="1224" y="406"/>
                    <a:pt x="1250" y="406"/>
                  </a:cubicBezTo>
                  <a:cubicBezTo>
                    <a:pt x="1275" y="406"/>
                    <a:pt x="1297" y="427"/>
                    <a:pt x="1297" y="453"/>
                  </a:cubicBezTo>
                  <a:close/>
                  <a:moveTo>
                    <a:pt x="1397" y="453"/>
                  </a:moveTo>
                  <a:cubicBezTo>
                    <a:pt x="1397" y="478"/>
                    <a:pt x="1375" y="500"/>
                    <a:pt x="1350" y="500"/>
                  </a:cubicBezTo>
                  <a:cubicBezTo>
                    <a:pt x="1324" y="500"/>
                    <a:pt x="1303" y="478"/>
                    <a:pt x="1303" y="453"/>
                  </a:cubicBezTo>
                  <a:cubicBezTo>
                    <a:pt x="1303" y="427"/>
                    <a:pt x="1324" y="406"/>
                    <a:pt x="1350" y="406"/>
                  </a:cubicBezTo>
                  <a:cubicBezTo>
                    <a:pt x="1375" y="406"/>
                    <a:pt x="1397" y="427"/>
                    <a:pt x="1397" y="453"/>
                  </a:cubicBezTo>
                  <a:close/>
                  <a:moveTo>
                    <a:pt x="1497" y="453"/>
                  </a:moveTo>
                  <a:cubicBezTo>
                    <a:pt x="1497" y="478"/>
                    <a:pt x="1475" y="500"/>
                    <a:pt x="1450" y="500"/>
                  </a:cubicBezTo>
                  <a:cubicBezTo>
                    <a:pt x="1424" y="500"/>
                    <a:pt x="1403" y="478"/>
                    <a:pt x="1403" y="453"/>
                  </a:cubicBezTo>
                  <a:cubicBezTo>
                    <a:pt x="1403" y="427"/>
                    <a:pt x="1424" y="406"/>
                    <a:pt x="1450" y="406"/>
                  </a:cubicBezTo>
                  <a:cubicBezTo>
                    <a:pt x="1475" y="406"/>
                    <a:pt x="1497" y="427"/>
                    <a:pt x="1497" y="453"/>
                  </a:cubicBezTo>
                  <a:close/>
                  <a:moveTo>
                    <a:pt x="1597" y="453"/>
                  </a:moveTo>
                  <a:cubicBezTo>
                    <a:pt x="1597" y="478"/>
                    <a:pt x="1575" y="500"/>
                    <a:pt x="1550" y="500"/>
                  </a:cubicBezTo>
                  <a:cubicBezTo>
                    <a:pt x="1524" y="500"/>
                    <a:pt x="1503" y="478"/>
                    <a:pt x="1503" y="453"/>
                  </a:cubicBezTo>
                  <a:cubicBezTo>
                    <a:pt x="1503" y="427"/>
                    <a:pt x="1524" y="406"/>
                    <a:pt x="1550" y="406"/>
                  </a:cubicBezTo>
                  <a:cubicBezTo>
                    <a:pt x="1575" y="406"/>
                    <a:pt x="1597" y="427"/>
                    <a:pt x="1597" y="453"/>
                  </a:cubicBezTo>
                  <a:close/>
                  <a:moveTo>
                    <a:pt x="1697" y="453"/>
                  </a:moveTo>
                  <a:cubicBezTo>
                    <a:pt x="1697" y="478"/>
                    <a:pt x="1675" y="500"/>
                    <a:pt x="1650" y="500"/>
                  </a:cubicBezTo>
                  <a:cubicBezTo>
                    <a:pt x="1624" y="500"/>
                    <a:pt x="1603" y="478"/>
                    <a:pt x="1603" y="453"/>
                  </a:cubicBezTo>
                  <a:cubicBezTo>
                    <a:pt x="1603" y="427"/>
                    <a:pt x="1624" y="406"/>
                    <a:pt x="1650" y="406"/>
                  </a:cubicBezTo>
                  <a:cubicBezTo>
                    <a:pt x="1675" y="406"/>
                    <a:pt x="1697" y="427"/>
                    <a:pt x="1697" y="453"/>
                  </a:cubicBezTo>
                  <a:close/>
                  <a:moveTo>
                    <a:pt x="1797" y="453"/>
                  </a:moveTo>
                  <a:cubicBezTo>
                    <a:pt x="1797" y="478"/>
                    <a:pt x="1775" y="500"/>
                    <a:pt x="1750" y="500"/>
                  </a:cubicBezTo>
                  <a:cubicBezTo>
                    <a:pt x="1724" y="500"/>
                    <a:pt x="1703" y="478"/>
                    <a:pt x="1703" y="453"/>
                  </a:cubicBezTo>
                  <a:cubicBezTo>
                    <a:pt x="1703" y="427"/>
                    <a:pt x="1724" y="406"/>
                    <a:pt x="1750" y="406"/>
                  </a:cubicBezTo>
                  <a:cubicBezTo>
                    <a:pt x="1775" y="406"/>
                    <a:pt x="1797" y="427"/>
                    <a:pt x="1797" y="453"/>
                  </a:cubicBezTo>
                  <a:close/>
                  <a:moveTo>
                    <a:pt x="1897" y="453"/>
                  </a:moveTo>
                  <a:cubicBezTo>
                    <a:pt x="1897" y="478"/>
                    <a:pt x="1875" y="500"/>
                    <a:pt x="1850" y="500"/>
                  </a:cubicBezTo>
                  <a:cubicBezTo>
                    <a:pt x="1824" y="500"/>
                    <a:pt x="1803" y="478"/>
                    <a:pt x="1803" y="453"/>
                  </a:cubicBezTo>
                  <a:cubicBezTo>
                    <a:pt x="1803" y="427"/>
                    <a:pt x="1824" y="406"/>
                    <a:pt x="1850" y="406"/>
                  </a:cubicBezTo>
                  <a:cubicBezTo>
                    <a:pt x="1875" y="406"/>
                    <a:pt x="1897" y="427"/>
                    <a:pt x="1897" y="453"/>
                  </a:cubicBezTo>
                  <a:close/>
                  <a:moveTo>
                    <a:pt x="1997" y="453"/>
                  </a:moveTo>
                  <a:cubicBezTo>
                    <a:pt x="1997" y="478"/>
                    <a:pt x="1975" y="500"/>
                    <a:pt x="1950" y="500"/>
                  </a:cubicBezTo>
                  <a:cubicBezTo>
                    <a:pt x="1924" y="500"/>
                    <a:pt x="1903" y="478"/>
                    <a:pt x="1903" y="453"/>
                  </a:cubicBezTo>
                  <a:cubicBezTo>
                    <a:pt x="1903" y="427"/>
                    <a:pt x="1924" y="406"/>
                    <a:pt x="1950" y="406"/>
                  </a:cubicBezTo>
                  <a:cubicBezTo>
                    <a:pt x="1975" y="406"/>
                    <a:pt x="1997" y="427"/>
                    <a:pt x="1997" y="453"/>
                  </a:cubicBezTo>
                  <a:close/>
                  <a:moveTo>
                    <a:pt x="2097" y="453"/>
                  </a:moveTo>
                  <a:cubicBezTo>
                    <a:pt x="2097" y="478"/>
                    <a:pt x="2075" y="500"/>
                    <a:pt x="2050" y="500"/>
                  </a:cubicBezTo>
                  <a:cubicBezTo>
                    <a:pt x="2024" y="500"/>
                    <a:pt x="2003" y="478"/>
                    <a:pt x="2003" y="453"/>
                  </a:cubicBezTo>
                  <a:cubicBezTo>
                    <a:pt x="2003" y="427"/>
                    <a:pt x="2024" y="406"/>
                    <a:pt x="2050" y="406"/>
                  </a:cubicBezTo>
                  <a:cubicBezTo>
                    <a:pt x="2075" y="406"/>
                    <a:pt x="2097" y="427"/>
                    <a:pt x="2097" y="453"/>
                  </a:cubicBezTo>
                  <a:close/>
                  <a:moveTo>
                    <a:pt x="2197" y="453"/>
                  </a:moveTo>
                  <a:cubicBezTo>
                    <a:pt x="2197" y="478"/>
                    <a:pt x="2175" y="500"/>
                    <a:pt x="2150" y="500"/>
                  </a:cubicBezTo>
                  <a:cubicBezTo>
                    <a:pt x="2124" y="500"/>
                    <a:pt x="2103" y="478"/>
                    <a:pt x="2103" y="453"/>
                  </a:cubicBezTo>
                  <a:cubicBezTo>
                    <a:pt x="2103" y="427"/>
                    <a:pt x="2124" y="406"/>
                    <a:pt x="2150" y="406"/>
                  </a:cubicBezTo>
                  <a:cubicBezTo>
                    <a:pt x="2175" y="406"/>
                    <a:pt x="2197" y="427"/>
                    <a:pt x="2197" y="453"/>
                  </a:cubicBezTo>
                  <a:close/>
                  <a:moveTo>
                    <a:pt x="2297" y="453"/>
                  </a:moveTo>
                  <a:cubicBezTo>
                    <a:pt x="2297" y="478"/>
                    <a:pt x="2275" y="500"/>
                    <a:pt x="2250" y="500"/>
                  </a:cubicBezTo>
                  <a:cubicBezTo>
                    <a:pt x="2224" y="500"/>
                    <a:pt x="2203" y="478"/>
                    <a:pt x="2203" y="453"/>
                  </a:cubicBezTo>
                  <a:cubicBezTo>
                    <a:pt x="2203" y="427"/>
                    <a:pt x="2224" y="406"/>
                    <a:pt x="2250" y="406"/>
                  </a:cubicBezTo>
                  <a:cubicBezTo>
                    <a:pt x="2275" y="406"/>
                    <a:pt x="2297" y="427"/>
                    <a:pt x="2297" y="453"/>
                  </a:cubicBezTo>
                  <a:close/>
                  <a:moveTo>
                    <a:pt x="2397" y="453"/>
                  </a:moveTo>
                  <a:cubicBezTo>
                    <a:pt x="2397" y="478"/>
                    <a:pt x="2375" y="500"/>
                    <a:pt x="2350" y="500"/>
                  </a:cubicBezTo>
                  <a:cubicBezTo>
                    <a:pt x="2324" y="500"/>
                    <a:pt x="2303" y="478"/>
                    <a:pt x="2303" y="453"/>
                  </a:cubicBezTo>
                  <a:cubicBezTo>
                    <a:pt x="2303" y="427"/>
                    <a:pt x="2324" y="406"/>
                    <a:pt x="2350" y="406"/>
                  </a:cubicBezTo>
                  <a:cubicBezTo>
                    <a:pt x="2375" y="406"/>
                    <a:pt x="2397" y="427"/>
                    <a:pt x="2397" y="453"/>
                  </a:cubicBezTo>
                  <a:close/>
                  <a:moveTo>
                    <a:pt x="2497" y="453"/>
                  </a:moveTo>
                  <a:cubicBezTo>
                    <a:pt x="2497" y="478"/>
                    <a:pt x="2475" y="500"/>
                    <a:pt x="2450" y="500"/>
                  </a:cubicBezTo>
                  <a:cubicBezTo>
                    <a:pt x="2424" y="500"/>
                    <a:pt x="2403" y="478"/>
                    <a:pt x="2403" y="453"/>
                  </a:cubicBezTo>
                  <a:cubicBezTo>
                    <a:pt x="2403" y="427"/>
                    <a:pt x="2424" y="406"/>
                    <a:pt x="2450" y="406"/>
                  </a:cubicBezTo>
                  <a:cubicBezTo>
                    <a:pt x="2475" y="406"/>
                    <a:pt x="2497" y="427"/>
                    <a:pt x="2497" y="453"/>
                  </a:cubicBezTo>
                  <a:close/>
                  <a:moveTo>
                    <a:pt x="2597" y="453"/>
                  </a:moveTo>
                  <a:cubicBezTo>
                    <a:pt x="2597" y="478"/>
                    <a:pt x="2575" y="500"/>
                    <a:pt x="2550" y="500"/>
                  </a:cubicBezTo>
                  <a:cubicBezTo>
                    <a:pt x="2524" y="500"/>
                    <a:pt x="2503" y="478"/>
                    <a:pt x="2503" y="453"/>
                  </a:cubicBezTo>
                  <a:cubicBezTo>
                    <a:pt x="2503" y="427"/>
                    <a:pt x="2524" y="406"/>
                    <a:pt x="2550" y="406"/>
                  </a:cubicBezTo>
                  <a:cubicBezTo>
                    <a:pt x="2575" y="406"/>
                    <a:pt x="2597" y="427"/>
                    <a:pt x="2597" y="453"/>
                  </a:cubicBezTo>
                  <a:close/>
                  <a:moveTo>
                    <a:pt x="2697" y="453"/>
                  </a:moveTo>
                  <a:cubicBezTo>
                    <a:pt x="2697" y="478"/>
                    <a:pt x="2675" y="500"/>
                    <a:pt x="2650" y="500"/>
                  </a:cubicBezTo>
                  <a:cubicBezTo>
                    <a:pt x="2624" y="500"/>
                    <a:pt x="2603" y="478"/>
                    <a:pt x="2603" y="453"/>
                  </a:cubicBezTo>
                  <a:cubicBezTo>
                    <a:pt x="2603" y="427"/>
                    <a:pt x="2624" y="406"/>
                    <a:pt x="2650" y="406"/>
                  </a:cubicBezTo>
                  <a:cubicBezTo>
                    <a:pt x="2675" y="406"/>
                    <a:pt x="2697" y="427"/>
                    <a:pt x="2697" y="453"/>
                  </a:cubicBezTo>
                  <a:close/>
                  <a:moveTo>
                    <a:pt x="2797" y="453"/>
                  </a:moveTo>
                  <a:cubicBezTo>
                    <a:pt x="2797" y="478"/>
                    <a:pt x="2775" y="500"/>
                    <a:pt x="2750" y="500"/>
                  </a:cubicBezTo>
                  <a:cubicBezTo>
                    <a:pt x="2724" y="500"/>
                    <a:pt x="2703" y="478"/>
                    <a:pt x="2703" y="453"/>
                  </a:cubicBezTo>
                  <a:cubicBezTo>
                    <a:pt x="2703" y="427"/>
                    <a:pt x="2724" y="406"/>
                    <a:pt x="2750" y="406"/>
                  </a:cubicBezTo>
                  <a:cubicBezTo>
                    <a:pt x="2775" y="406"/>
                    <a:pt x="2797" y="427"/>
                    <a:pt x="2797" y="453"/>
                  </a:cubicBezTo>
                  <a:close/>
                  <a:moveTo>
                    <a:pt x="2897" y="453"/>
                  </a:moveTo>
                  <a:cubicBezTo>
                    <a:pt x="2897" y="478"/>
                    <a:pt x="2875" y="500"/>
                    <a:pt x="2850" y="500"/>
                  </a:cubicBezTo>
                  <a:cubicBezTo>
                    <a:pt x="2824" y="500"/>
                    <a:pt x="2803" y="478"/>
                    <a:pt x="2803" y="453"/>
                  </a:cubicBezTo>
                  <a:cubicBezTo>
                    <a:pt x="2803" y="427"/>
                    <a:pt x="2824" y="406"/>
                    <a:pt x="2850" y="406"/>
                  </a:cubicBezTo>
                  <a:cubicBezTo>
                    <a:pt x="2875" y="406"/>
                    <a:pt x="2897" y="427"/>
                    <a:pt x="2897" y="453"/>
                  </a:cubicBezTo>
                  <a:close/>
                  <a:moveTo>
                    <a:pt x="2997" y="453"/>
                  </a:moveTo>
                  <a:cubicBezTo>
                    <a:pt x="2997" y="478"/>
                    <a:pt x="2975" y="500"/>
                    <a:pt x="2950" y="500"/>
                  </a:cubicBezTo>
                  <a:cubicBezTo>
                    <a:pt x="2924" y="500"/>
                    <a:pt x="2903" y="478"/>
                    <a:pt x="2903" y="453"/>
                  </a:cubicBezTo>
                  <a:cubicBezTo>
                    <a:pt x="2903" y="427"/>
                    <a:pt x="2924" y="406"/>
                    <a:pt x="2950" y="406"/>
                  </a:cubicBezTo>
                  <a:cubicBezTo>
                    <a:pt x="2975" y="406"/>
                    <a:pt x="2997" y="427"/>
                    <a:pt x="2997" y="453"/>
                  </a:cubicBezTo>
                  <a:close/>
                  <a:moveTo>
                    <a:pt x="3097" y="453"/>
                  </a:moveTo>
                  <a:cubicBezTo>
                    <a:pt x="3097" y="478"/>
                    <a:pt x="3075" y="500"/>
                    <a:pt x="3050" y="500"/>
                  </a:cubicBezTo>
                  <a:cubicBezTo>
                    <a:pt x="3024" y="500"/>
                    <a:pt x="3003" y="478"/>
                    <a:pt x="3003" y="453"/>
                  </a:cubicBezTo>
                  <a:cubicBezTo>
                    <a:pt x="3003" y="427"/>
                    <a:pt x="3024" y="406"/>
                    <a:pt x="3050" y="406"/>
                  </a:cubicBezTo>
                  <a:cubicBezTo>
                    <a:pt x="3075" y="406"/>
                    <a:pt x="3097" y="427"/>
                    <a:pt x="3097" y="453"/>
                  </a:cubicBezTo>
                  <a:close/>
                  <a:moveTo>
                    <a:pt x="3197" y="453"/>
                  </a:moveTo>
                  <a:cubicBezTo>
                    <a:pt x="3197" y="478"/>
                    <a:pt x="3175" y="500"/>
                    <a:pt x="3150" y="500"/>
                  </a:cubicBezTo>
                  <a:cubicBezTo>
                    <a:pt x="3124" y="500"/>
                    <a:pt x="3103" y="478"/>
                    <a:pt x="3103" y="453"/>
                  </a:cubicBezTo>
                  <a:cubicBezTo>
                    <a:pt x="3103" y="427"/>
                    <a:pt x="3124" y="406"/>
                    <a:pt x="3150" y="406"/>
                  </a:cubicBezTo>
                  <a:cubicBezTo>
                    <a:pt x="3175" y="406"/>
                    <a:pt x="3197" y="427"/>
                    <a:pt x="3197" y="453"/>
                  </a:cubicBezTo>
                  <a:close/>
                  <a:moveTo>
                    <a:pt x="3297" y="453"/>
                  </a:moveTo>
                  <a:cubicBezTo>
                    <a:pt x="3297" y="478"/>
                    <a:pt x="3275" y="500"/>
                    <a:pt x="3250" y="500"/>
                  </a:cubicBezTo>
                  <a:cubicBezTo>
                    <a:pt x="3224" y="500"/>
                    <a:pt x="3203" y="478"/>
                    <a:pt x="3203" y="453"/>
                  </a:cubicBezTo>
                  <a:cubicBezTo>
                    <a:pt x="3203" y="427"/>
                    <a:pt x="3224" y="406"/>
                    <a:pt x="3250" y="406"/>
                  </a:cubicBezTo>
                  <a:cubicBezTo>
                    <a:pt x="3275" y="406"/>
                    <a:pt x="3297" y="427"/>
                    <a:pt x="3297" y="453"/>
                  </a:cubicBezTo>
                  <a:close/>
                  <a:moveTo>
                    <a:pt x="3397" y="453"/>
                  </a:moveTo>
                  <a:cubicBezTo>
                    <a:pt x="3397" y="478"/>
                    <a:pt x="3375" y="500"/>
                    <a:pt x="3350" y="500"/>
                  </a:cubicBezTo>
                  <a:cubicBezTo>
                    <a:pt x="3324" y="500"/>
                    <a:pt x="3303" y="478"/>
                    <a:pt x="3303" y="453"/>
                  </a:cubicBezTo>
                  <a:cubicBezTo>
                    <a:pt x="3303" y="427"/>
                    <a:pt x="3324" y="406"/>
                    <a:pt x="3350" y="406"/>
                  </a:cubicBezTo>
                  <a:cubicBezTo>
                    <a:pt x="3375" y="406"/>
                    <a:pt x="3397" y="427"/>
                    <a:pt x="3397" y="453"/>
                  </a:cubicBezTo>
                  <a:close/>
                  <a:moveTo>
                    <a:pt x="3497" y="453"/>
                  </a:moveTo>
                  <a:cubicBezTo>
                    <a:pt x="3497" y="478"/>
                    <a:pt x="3475" y="500"/>
                    <a:pt x="3450" y="500"/>
                  </a:cubicBezTo>
                  <a:cubicBezTo>
                    <a:pt x="3424" y="500"/>
                    <a:pt x="3403" y="478"/>
                    <a:pt x="3403" y="453"/>
                  </a:cubicBezTo>
                  <a:cubicBezTo>
                    <a:pt x="3403" y="427"/>
                    <a:pt x="3424" y="406"/>
                    <a:pt x="3450" y="406"/>
                  </a:cubicBezTo>
                  <a:cubicBezTo>
                    <a:pt x="3475" y="406"/>
                    <a:pt x="3497" y="427"/>
                    <a:pt x="3497" y="453"/>
                  </a:cubicBezTo>
                  <a:close/>
                  <a:moveTo>
                    <a:pt x="3597" y="453"/>
                  </a:moveTo>
                  <a:cubicBezTo>
                    <a:pt x="3597" y="478"/>
                    <a:pt x="3575" y="500"/>
                    <a:pt x="3550" y="500"/>
                  </a:cubicBezTo>
                  <a:cubicBezTo>
                    <a:pt x="3524" y="500"/>
                    <a:pt x="3503" y="478"/>
                    <a:pt x="3503" y="453"/>
                  </a:cubicBezTo>
                  <a:cubicBezTo>
                    <a:pt x="3503" y="427"/>
                    <a:pt x="3524" y="406"/>
                    <a:pt x="3550" y="406"/>
                  </a:cubicBezTo>
                  <a:cubicBezTo>
                    <a:pt x="3575" y="406"/>
                    <a:pt x="3597" y="427"/>
                    <a:pt x="3597" y="453"/>
                  </a:cubicBezTo>
                  <a:close/>
                  <a:moveTo>
                    <a:pt x="3697" y="453"/>
                  </a:moveTo>
                  <a:cubicBezTo>
                    <a:pt x="3697" y="478"/>
                    <a:pt x="3675" y="500"/>
                    <a:pt x="3650" y="500"/>
                  </a:cubicBezTo>
                  <a:cubicBezTo>
                    <a:pt x="3624" y="500"/>
                    <a:pt x="3603" y="478"/>
                    <a:pt x="3603" y="453"/>
                  </a:cubicBezTo>
                  <a:cubicBezTo>
                    <a:pt x="3603" y="427"/>
                    <a:pt x="3624" y="406"/>
                    <a:pt x="3650" y="406"/>
                  </a:cubicBezTo>
                  <a:cubicBezTo>
                    <a:pt x="3675" y="406"/>
                    <a:pt x="3697" y="427"/>
                    <a:pt x="3697" y="453"/>
                  </a:cubicBezTo>
                  <a:close/>
                  <a:moveTo>
                    <a:pt x="3797" y="453"/>
                  </a:moveTo>
                  <a:cubicBezTo>
                    <a:pt x="3797" y="478"/>
                    <a:pt x="3775" y="500"/>
                    <a:pt x="3750" y="500"/>
                  </a:cubicBezTo>
                  <a:cubicBezTo>
                    <a:pt x="3724" y="500"/>
                    <a:pt x="3703" y="478"/>
                    <a:pt x="3703" y="453"/>
                  </a:cubicBezTo>
                  <a:cubicBezTo>
                    <a:pt x="3703" y="427"/>
                    <a:pt x="3724" y="406"/>
                    <a:pt x="3750" y="406"/>
                  </a:cubicBezTo>
                  <a:cubicBezTo>
                    <a:pt x="3775" y="406"/>
                    <a:pt x="3797" y="427"/>
                    <a:pt x="3797" y="453"/>
                  </a:cubicBezTo>
                  <a:close/>
                  <a:moveTo>
                    <a:pt x="3897" y="453"/>
                  </a:moveTo>
                  <a:cubicBezTo>
                    <a:pt x="3897" y="478"/>
                    <a:pt x="3875" y="500"/>
                    <a:pt x="3850" y="500"/>
                  </a:cubicBezTo>
                  <a:cubicBezTo>
                    <a:pt x="3824" y="500"/>
                    <a:pt x="3803" y="478"/>
                    <a:pt x="3803" y="453"/>
                  </a:cubicBezTo>
                  <a:cubicBezTo>
                    <a:pt x="3803" y="427"/>
                    <a:pt x="3824" y="406"/>
                    <a:pt x="3850" y="406"/>
                  </a:cubicBezTo>
                  <a:cubicBezTo>
                    <a:pt x="3875" y="406"/>
                    <a:pt x="3897" y="427"/>
                    <a:pt x="3897" y="453"/>
                  </a:cubicBezTo>
                  <a:close/>
                  <a:moveTo>
                    <a:pt x="3997" y="453"/>
                  </a:moveTo>
                  <a:cubicBezTo>
                    <a:pt x="3997" y="478"/>
                    <a:pt x="3975" y="500"/>
                    <a:pt x="3950" y="500"/>
                  </a:cubicBezTo>
                  <a:cubicBezTo>
                    <a:pt x="3924" y="500"/>
                    <a:pt x="3903" y="478"/>
                    <a:pt x="3903" y="453"/>
                  </a:cubicBezTo>
                  <a:cubicBezTo>
                    <a:pt x="3903" y="427"/>
                    <a:pt x="3924" y="406"/>
                    <a:pt x="3950" y="406"/>
                  </a:cubicBezTo>
                  <a:cubicBezTo>
                    <a:pt x="3975" y="406"/>
                    <a:pt x="3997" y="427"/>
                    <a:pt x="3997" y="453"/>
                  </a:cubicBezTo>
                  <a:close/>
                  <a:moveTo>
                    <a:pt x="4097" y="453"/>
                  </a:moveTo>
                  <a:cubicBezTo>
                    <a:pt x="4097" y="478"/>
                    <a:pt x="4075" y="500"/>
                    <a:pt x="4050" y="500"/>
                  </a:cubicBezTo>
                  <a:cubicBezTo>
                    <a:pt x="4024" y="500"/>
                    <a:pt x="4003" y="478"/>
                    <a:pt x="4003" y="453"/>
                  </a:cubicBezTo>
                  <a:cubicBezTo>
                    <a:pt x="4003" y="427"/>
                    <a:pt x="4024" y="406"/>
                    <a:pt x="4050" y="406"/>
                  </a:cubicBezTo>
                  <a:cubicBezTo>
                    <a:pt x="4075" y="406"/>
                    <a:pt x="4097" y="427"/>
                    <a:pt x="4097" y="453"/>
                  </a:cubicBezTo>
                  <a:close/>
                  <a:moveTo>
                    <a:pt x="4197" y="453"/>
                  </a:moveTo>
                  <a:cubicBezTo>
                    <a:pt x="4197" y="478"/>
                    <a:pt x="4175" y="500"/>
                    <a:pt x="4150" y="500"/>
                  </a:cubicBezTo>
                  <a:cubicBezTo>
                    <a:pt x="4124" y="500"/>
                    <a:pt x="4103" y="478"/>
                    <a:pt x="4103" y="453"/>
                  </a:cubicBezTo>
                  <a:cubicBezTo>
                    <a:pt x="4103" y="427"/>
                    <a:pt x="4124" y="406"/>
                    <a:pt x="4150" y="406"/>
                  </a:cubicBezTo>
                  <a:cubicBezTo>
                    <a:pt x="4175" y="406"/>
                    <a:pt x="4197" y="427"/>
                    <a:pt x="4197" y="453"/>
                  </a:cubicBezTo>
                  <a:close/>
                  <a:moveTo>
                    <a:pt x="4297" y="453"/>
                  </a:moveTo>
                  <a:cubicBezTo>
                    <a:pt x="4297" y="478"/>
                    <a:pt x="4275" y="500"/>
                    <a:pt x="4250" y="500"/>
                  </a:cubicBezTo>
                  <a:cubicBezTo>
                    <a:pt x="4224" y="500"/>
                    <a:pt x="4203" y="478"/>
                    <a:pt x="4203" y="453"/>
                  </a:cubicBezTo>
                  <a:cubicBezTo>
                    <a:pt x="4203" y="427"/>
                    <a:pt x="4224" y="406"/>
                    <a:pt x="4250" y="406"/>
                  </a:cubicBezTo>
                  <a:cubicBezTo>
                    <a:pt x="4275" y="406"/>
                    <a:pt x="4297" y="427"/>
                    <a:pt x="4297" y="453"/>
                  </a:cubicBezTo>
                  <a:close/>
                  <a:moveTo>
                    <a:pt x="4397" y="453"/>
                  </a:moveTo>
                  <a:cubicBezTo>
                    <a:pt x="4397" y="478"/>
                    <a:pt x="4375" y="500"/>
                    <a:pt x="4350" y="500"/>
                  </a:cubicBezTo>
                  <a:cubicBezTo>
                    <a:pt x="4324" y="500"/>
                    <a:pt x="4303" y="478"/>
                    <a:pt x="4303" y="453"/>
                  </a:cubicBezTo>
                  <a:cubicBezTo>
                    <a:pt x="4303" y="427"/>
                    <a:pt x="4324" y="406"/>
                    <a:pt x="4350" y="406"/>
                  </a:cubicBezTo>
                  <a:cubicBezTo>
                    <a:pt x="4375" y="406"/>
                    <a:pt x="4397" y="427"/>
                    <a:pt x="4397" y="453"/>
                  </a:cubicBezTo>
                  <a:close/>
                  <a:moveTo>
                    <a:pt x="4497" y="453"/>
                  </a:moveTo>
                  <a:cubicBezTo>
                    <a:pt x="4497" y="478"/>
                    <a:pt x="4475" y="500"/>
                    <a:pt x="4450" y="500"/>
                  </a:cubicBezTo>
                  <a:cubicBezTo>
                    <a:pt x="4424" y="500"/>
                    <a:pt x="4403" y="478"/>
                    <a:pt x="4403" y="453"/>
                  </a:cubicBezTo>
                  <a:cubicBezTo>
                    <a:pt x="4403" y="427"/>
                    <a:pt x="4424" y="406"/>
                    <a:pt x="4450" y="406"/>
                  </a:cubicBezTo>
                  <a:cubicBezTo>
                    <a:pt x="4475" y="406"/>
                    <a:pt x="4497" y="427"/>
                    <a:pt x="4497" y="453"/>
                  </a:cubicBezTo>
                  <a:close/>
                  <a:moveTo>
                    <a:pt x="4597" y="453"/>
                  </a:moveTo>
                  <a:cubicBezTo>
                    <a:pt x="4597" y="478"/>
                    <a:pt x="4575" y="500"/>
                    <a:pt x="4550" y="500"/>
                  </a:cubicBezTo>
                  <a:cubicBezTo>
                    <a:pt x="4524" y="500"/>
                    <a:pt x="4503" y="478"/>
                    <a:pt x="4503" y="453"/>
                  </a:cubicBezTo>
                  <a:cubicBezTo>
                    <a:pt x="4503" y="427"/>
                    <a:pt x="4524" y="406"/>
                    <a:pt x="4550" y="406"/>
                  </a:cubicBezTo>
                  <a:cubicBezTo>
                    <a:pt x="4575" y="406"/>
                    <a:pt x="4597" y="427"/>
                    <a:pt x="4597" y="453"/>
                  </a:cubicBezTo>
                  <a:close/>
                  <a:moveTo>
                    <a:pt x="4697" y="453"/>
                  </a:moveTo>
                  <a:cubicBezTo>
                    <a:pt x="4697" y="478"/>
                    <a:pt x="4675" y="500"/>
                    <a:pt x="4650" y="500"/>
                  </a:cubicBezTo>
                  <a:cubicBezTo>
                    <a:pt x="4624" y="500"/>
                    <a:pt x="4603" y="478"/>
                    <a:pt x="4603" y="453"/>
                  </a:cubicBezTo>
                  <a:cubicBezTo>
                    <a:pt x="4603" y="427"/>
                    <a:pt x="4624" y="406"/>
                    <a:pt x="4650" y="406"/>
                  </a:cubicBezTo>
                  <a:cubicBezTo>
                    <a:pt x="4675" y="406"/>
                    <a:pt x="4697" y="427"/>
                    <a:pt x="4697" y="453"/>
                  </a:cubicBezTo>
                  <a:close/>
                  <a:moveTo>
                    <a:pt x="4797" y="453"/>
                  </a:moveTo>
                  <a:cubicBezTo>
                    <a:pt x="4797" y="478"/>
                    <a:pt x="4775" y="500"/>
                    <a:pt x="4750" y="500"/>
                  </a:cubicBezTo>
                  <a:cubicBezTo>
                    <a:pt x="4724" y="500"/>
                    <a:pt x="4703" y="478"/>
                    <a:pt x="4703" y="453"/>
                  </a:cubicBezTo>
                  <a:cubicBezTo>
                    <a:pt x="4703" y="427"/>
                    <a:pt x="4724" y="406"/>
                    <a:pt x="4750" y="406"/>
                  </a:cubicBezTo>
                  <a:cubicBezTo>
                    <a:pt x="4775" y="406"/>
                    <a:pt x="4797" y="427"/>
                    <a:pt x="4797" y="453"/>
                  </a:cubicBezTo>
                  <a:close/>
                  <a:moveTo>
                    <a:pt x="4897" y="453"/>
                  </a:moveTo>
                  <a:cubicBezTo>
                    <a:pt x="4897" y="478"/>
                    <a:pt x="4875" y="500"/>
                    <a:pt x="4850" y="500"/>
                  </a:cubicBezTo>
                  <a:cubicBezTo>
                    <a:pt x="4824" y="500"/>
                    <a:pt x="4803" y="478"/>
                    <a:pt x="4803" y="453"/>
                  </a:cubicBezTo>
                  <a:cubicBezTo>
                    <a:pt x="4803" y="427"/>
                    <a:pt x="4824" y="406"/>
                    <a:pt x="4850" y="406"/>
                  </a:cubicBezTo>
                  <a:cubicBezTo>
                    <a:pt x="4875" y="406"/>
                    <a:pt x="4897" y="427"/>
                    <a:pt x="4897" y="453"/>
                  </a:cubicBezTo>
                  <a:close/>
                  <a:moveTo>
                    <a:pt x="4997" y="453"/>
                  </a:moveTo>
                  <a:cubicBezTo>
                    <a:pt x="4997" y="478"/>
                    <a:pt x="4975" y="500"/>
                    <a:pt x="4950" y="500"/>
                  </a:cubicBezTo>
                  <a:cubicBezTo>
                    <a:pt x="4924" y="500"/>
                    <a:pt x="4903" y="478"/>
                    <a:pt x="4903" y="453"/>
                  </a:cubicBezTo>
                  <a:cubicBezTo>
                    <a:pt x="4903" y="427"/>
                    <a:pt x="4924" y="406"/>
                    <a:pt x="4950" y="406"/>
                  </a:cubicBezTo>
                  <a:cubicBezTo>
                    <a:pt x="4975" y="406"/>
                    <a:pt x="4997" y="427"/>
                    <a:pt x="4997" y="453"/>
                  </a:cubicBezTo>
                  <a:close/>
                  <a:moveTo>
                    <a:pt x="5097" y="453"/>
                  </a:moveTo>
                  <a:cubicBezTo>
                    <a:pt x="5097" y="478"/>
                    <a:pt x="5075" y="500"/>
                    <a:pt x="5050" y="500"/>
                  </a:cubicBezTo>
                  <a:cubicBezTo>
                    <a:pt x="5024" y="500"/>
                    <a:pt x="5003" y="478"/>
                    <a:pt x="5003" y="453"/>
                  </a:cubicBezTo>
                  <a:cubicBezTo>
                    <a:pt x="5003" y="427"/>
                    <a:pt x="5024" y="406"/>
                    <a:pt x="5050" y="406"/>
                  </a:cubicBezTo>
                  <a:cubicBezTo>
                    <a:pt x="5075" y="406"/>
                    <a:pt x="5097" y="427"/>
                    <a:pt x="5097" y="453"/>
                  </a:cubicBezTo>
                  <a:close/>
                  <a:moveTo>
                    <a:pt x="5197" y="453"/>
                  </a:moveTo>
                  <a:cubicBezTo>
                    <a:pt x="5197" y="478"/>
                    <a:pt x="5175" y="500"/>
                    <a:pt x="5150" y="500"/>
                  </a:cubicBezTo>
                  <a:cubicBezTo>
                    <a:pt x="5124" y="500"/>
                    <a:pt x="5103" y="478"/>
                    <a:pt x="5103" y="453"/>
                  </a:cubicBezTo>
                  <a:cubicBezTo>
                    <a:pt x="5103" y="427"/>
                    <a:pt x="5124" y="406"/>
                    <a:pt x="5150" y="406"/>
                  </a:cubicBezTo>
                  <a:cubicBezTo>
                    <a:pt x="5175" y="406"/>
                    <a:pt x="5197" y="427"/>
                    <a:pt x="5197" y="453"/>
                  </a:cubicBezTo>
                  <a:close/>
                  <a:moveTo>
                    <a:pt x="5297" y="453"/>
                  </a:moveTo>
                  <a:cubicBezTo>
                    <a:pt x="5297" y="478"/>
                    <a:pt x="5275" y="500"/>
                    <a:pt x="5250" y="500"/>
                  </a:cubicBezTo>
                  <a:cubicBezTo>
                    <a:pt x="5224" y="500"/>
                    <a:pt x="5203" y="478"/>
                    <a:pt x="5203" y="453"/>
                  </a:cubicBezTo>
                  <a:cubicBezTo>
                    <a:pt x="5203" y="427"/>
                    <a:pt x="5224" y="406"/>
                    <a:pt x="5250" y="406"/>
                  </a:cubicBezTo>
                  <a:cubicBezTo>
                    <a:pt x="5275" y="406"/>
                    <a:pt x="5297" y="427"/>
                    <a:pt x="5297" y="453"/>
                  </a:cubicBezTo>
                  <a:close/>
                  <a:moveTo>
                    <a:pt x="5397" y="453"/>
                  </a:moveTo>
                  <a:cubicBezTo>
                    <a:pt x="5397" y="478"/>
                    <a:pt x="5375" y="500"/>
                    <a:pt x="5350" y="500"/>
                  </a:cubicBezTo>
                  <a:cubicBezTo>
                    <a:pt x="5324" y="500"/>
                    <a:pt x="5303" y="478"/>
                    <a:pt x="5303" y="453"/>
                  </a:cubicBezTo>
                  <a:cubicBezTo>
                    <a:pt x="5303" y="427"/>
                    <a:pt x="5324" y="406"/>
                    <a:pt x="5350" y="406"/>
                  </a:cubicBezTo>
                  <a:cubicBezTo>
                    <a:pt x="5375" y="406"/>
                    <a:pt x="5397" y="427"/>
                    <a:pt x="5397" y="453"/>
                  </a:cubicBezTo>
                  <a:close/>
                  <a:moveTo>
                    <a:pt x="5497" y="453"/>
                  </a:moveTo>
                  <a:cubicBezTo>
                    <a:pt x="5497" y="478"/>
                    <a:pt x="5475" y="500"/>
                    <a:pt x="5450" y="500"/>
                  </a:cubicBezTo>
                  <a:cubicBezTo>
                    <a:pt x="5424" y="500"/>
                    <a:pt x="5403" y="478"/>
                    <a:pt x="5403" y="453"/>
                  </a:cubicBezTo>
                  <a:cubicBezTo>
                    <a:pt x="5403" y="427"/>
                    <a:pt x="5424" y="406"/>
                    <a:pt x="5450" y="406"/>
                  </a:cubicBezTo>
                  <a:cubicBezTo>
                    <a:pt x="5475" y="406"/>
                    <a:pt x="5497" y="427"/>
                    <a:pt x="5497" y="453"/>
                  </a:cubicBezTo>
                  <a:close/>
                  <a:moveTo>
                    <a:pt x="5597" y="453"/>
                  </a:moveTo>
                  <a:cubicBezTo>
                    <a:pt x="5597" y="478"/>
                    <a:pt x="5575" y="500"/>
                    <a:pt x="5550" y="500"/>
                  </a:cubicBezTo>
                  <a:cubicBezTo>
                    <a:pt x="5524" y="500"/>
                    <a:pt x="5503" y="478"/>
                    <a:pt x="5503" y="453"/>
                  </a:cubicBezTo>
                  <a:cubicBezTo>
                    <a:pt x="5503" y="427"/>
                    <a:pt x="5524" y="406"/>
                    <a:pt x="5550" y="406"/>
                  </a:cubicBezTo>
                  <a:cubicBezTo>
                    <a:pt x="5575" y="406"/>
                    <a:pt x="5597" y="427"/>
                    <a:pt x="5597" y="453"/>
                  </a:cubicBezTo>
                  <a:close/>
                  <a:moveTo>
                    <a:pt x="5697" y="453"/>
                  </a:moveTo>
                  <a:cubicBezTo>
                    <a:pt x="5697" y="478"/>
                    <a:pt x="5675" y="500"/>
                    <a:pt x="5650" y="500"/>
                  </a:cubicBezTo>
                  <a:cubicBezTo>
                    <a:pt x="5624" y="500"/>
                    <a:pt x="5603" y="478"/>
                    <a:pt x="5603" y="453"/>
                  </a:cubicBezTo>
                  <a:cubicBezTo>
                    <a:pt x="5603" y="427"/>
                    <a:pt x="5624" y="406"/>
                    <a:pt x="5650" y="406"/>
                  </a:cubicBezTo>
                  <a:cubicBezTo>
                    <a:pt x="5675" y="406"/>
                    <a:pt x="5697" y="427"/>
                    <a:pt x="5697" y="453"/>
                  </a:cubicBezTo>
                  <a:close/>
                  <a:moveTo>
                    <a:pt x="5797" y="453"/>
                  </a:moveTo>
                  <a:cubicBezTo>
                    <a:pt x="5797" y="478"/>
                    <a:pt x="5775" y="500"/>
                    <a:pt x="5750" y="500"/>
                  </a:cubicBezTo>
                  <a:cubicBezTo>
                    <a:pt x="5724" y="500"/>
                    <a:pt x="5703" y="478"/>
                    <a:pt x="5703" y="453"/>
                  </a:cubicBezTo>
                  <a:cubicBezTo>
                    <a:pt x="5703" y="427"/>
                    <a:pt x="5724" y="406"/>
                    <a:pt x="5750" y="406"/>
                  </a:cubicBezTo>
                  <a:cubicBezTo>
                    <a:pt x="5775" y="406"/>
                    <a:pt x="5797" y="427"/>
                    <a:pt x="5797" y="453"/>
                  </a:cubicBezTo>
                  <a:close/>
                  <a:moveTo>
                    <a:pt x="5897" y="453"/>
                  </a:moveTo>
                  <a:cubicBezTo>
                    <a:pt x="5897" y="478"/>
                    <a:pt x="5875" y="500"/>
                    <a:pt x="5850" y="500"/>
                  </a:cubicBezTo>
                  <a:cubicBezTo>
                    <a:pt x="5824" y="500"/>
                    <a:pt x="5803" y="478"/>
                    <a:pt x="5803" y="453"/>
                  </a:cubicBezTo>
                  <a:cubicBezTo>
                    <a:pt x="5803" y="427"/>
                    <a:pt x="5824" y="406"/>
                    <a:pt x="5850" y="406"/>
                  </a:cubicBezTo>
                  <a:cubicBezTo>
                    <a:pt x="5875" y="406"/>
                    <a:pt x="5897" y="427"/>
                    <a:pt x="5897" y="453"/>
                  </a:cubicBezTo>
                  <a:close/>
                  <a:moveTo>
                    <a:pt x="5997" y="453"/>
                  </a:moveTo>
                  <a:cubicBezTo>
                    <a:pt x="5997" y="478"/>
                    <a:pt x="5975" y="500"/>
                    <a:pt x="5950" y="500"/>
                  </a:cubicBezTo>
                  <a:cubicBezTo>
                    <a:pt x="5924" y="500"/>
                    <a:pt x="5903" y="478"/>
                    <a:pt x="5903" y="453"/>
                  </a:cubicBezTo>
                  <a:cubicBezTo>
                    <a:pt x="5903" y="427"/>
                    <a:pt x="5924" y="406"/>
                    <a:pt x="5950" y="406"/>
                  </a:cubicBezTo>
                  <a:cubicBezTo>
                    <a:pt x="5975" y="406"/>
                    <a:pt x="5997" y="427"/>
                    <a:pt x="5997" y="453"/>
                  </a:cubicBezTo>
                  <a:close/>
                  <a:moveTo>
                    <a:pt x="6097" y="453"/>
                  </a:moveTo>
                  <a:cubicBezTo>
                    <a:pt x="6097" y="478"/>
                    <a:pt x="6075" y="500"/>
                    <a:pt x="6050" y="500"/>
                  </a:cubicBezTo>
                  <a:cubicBezTo>
                    <a:pt x="6024" y="500"/>
                    <a:pt x="6003" y="478"/>
                    <a:pt x="6003" y="453"/>
                  </a:cubicBezTo>
                  <a:cubicBezTo>
                    <a:pt x="6003" y="427"/>
                    <a:pt x="6024" y="406"/>
                    <a:pt x="6050" y="406"/>
                  </a:cubicBezTo>
                  <a:cubicBezTo>
                    <a:pt x="6075" y="406"/>
                    <a:pt x="6097" y="427"/>
                    <a:pt x="6097" y="453"/>
                  </a:cubicBezTo>
                  <a:close/>
                  <a:moveTo>
                    <a:pt x="6197" y="453"/>
                  </a:moveTo>
                  <a:cubicBezTo>
                    <a:pt x="6197" y="478"/>
                    <a:pt x="6175" y="500"/>
                    <a:pt x="6150" y="500"/>
                  </a:cubicBezTo>
                  <a:cubicBezTo>
                    <a:pt x="6124" y="500"/>
                    <a:pt x="6103" y="478"/>
                    <a:pt x="6103" y="453"/>
                  </a:cubicBezTo>
                  <a:cubicBezTo>
                    <a:pt x="6103" y="427"/>
                    <a:pt x="6124" y="406"/>
                    <a:pt x="6150" y="406"/>
                  </a:cubicBezTo>
                  <a:cubicBezTo>
                    <a:pt x="6175" y="406"/>
                    <a:pt x="6197" y="427"/>
                    <a:pt x="6197" y="453"/>
                  </a:cubicBezTo>
                  <a:close/>
                  <a:moveTo>
                    <a:pt x="6297" y="453"/>
                  </a:moveTo>
                  <a:cubicBezTo>
                    <a:pt x="6297" y="478"/>
                    <a:pt x="6275" y="500"/>
                    <a:pt x="6250" y="500"/>
                  </a:cubicBezTo>
                  <a:cubicBezTo>
                    <a:pt x="6224" y="500"/>
                    <a:pt x="6203" y="478"/>
                    <a:pt x="6203" y="453"/>
                  </a:cubicBezTo>
                  <a:cubicBezTo>
                    <a:pt x="6203" y="427"/>
                    <a:pt x="6224" y="406"/>
                    <a:pt x="6250" y="406"/>
                  </a:cubicBezTo>
                  <a:cubicBezTo>
                    <a:pt x="6275" y="406"/>
                    <a:pt x="6297" y="427"/>
                    <a:pt x="6297" y="453"/>
                  </a:cubicBezTo>
                  <a:close/>
                  <a:moveTo>
                    <a:pt x="6397" y="453"/>
                  </a:moveTo>
                  <a:cubicBezTo>
                    <a:pt x="6397" y="478"/>
                    <a:pt x="6375" y="500"/>
                    <a:pt x="6350" y="500"/>
                  </a:cubicBezTo>
                  <a:cubicBezTo>
                    <a:pt x="6324" y="500"/>
                    <a:pt x="6303" y="478"/>
                    <a:pt x="6303" y="453"/>
                  </a:cubicBezTo>
                  <a:cubicBezTo>
                    <a:pt x="6303" y="427"/>
                    <a:pt x="6324" y="406"/>
                    <a:pt x="6350" y="406"/>
                  </a:cubicBezTo>
                  <a:cubicBezTo>
                    <a:pt x="6375" y="406"/>
                    <a:pt x="6397" y="427"/>
                    <a:pt x="6397" y="453"/>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0" name="Forma 9"/>
            <p:cNvSpPr/>
            <p:nvPr/>
          </p:nvSpPr>
          <p:spPr>
            <a:xfrm>
              <a:off x="457200" y="1463040"/>
              <a:ext cx="5852160" cy="457200"/>
            </a:xfrm>
            <a:custGeom>
              <a:avLst/>
              <a:gdLst/>
              <a:ahLst/>
              <a:cxnLst/>
              <a:rect l="0" t="0" r="r" b="b"/>
              <a:pathLst>
                <a:path w="6400" h="500" fill="none">
                  <a:moveTo>
                    <a:pt x="35" y="94"/>
                  </a:moveTo>
                  <a:lnTo>
                    <a:pt x="35" y="240"/>
                  </a:lnTo>
                </a:path>
                <a:path w="6400" h="500" fill="none">
                  <a:moveTo>
                    <a:pt x="65" y="94"/>
                  </a:moveTo>
                  <a:lnTo>
                    <a:pt x="65" y="240"/>
                  </a:lnTo>
                </a:path>
                <a:path w="6400" h="500" fill="none">
                  <a:moveTo>
                    <a:pt x="35" y="406"/>
                  </a:moveTo>
                  <a:lnTo>
                    <a:pt x="35" y="260"/>
                  </a:lnTo>
                </a:path>
                <a:path w="6400" h="500" fill="none">
                  <a:moveTo>
                    <a:pt x="65" y="406"/>
                  </a:moveTo>
                  <a:lnTo>
                    <a:pt x="65" y="260"/>
                  </a:lnTo>
                </a:path>
                <a:path w="6400" h="500" fill="none">
                  <a:moveTo>
                    <a:pt x="135" y="94"/>
                  </a:moveTo>
                  <a:lnTo>
                    <a:pt x="135" y="240"/>
                  </a:lnTo>
                </a:path>
                <a:path w="6400" h="500" fill="none">
                  <a:moveTo>
                    <a:pt x="165" y="94"/>
                  </a:moveTo>
                  <a:lnTo>
                    <a:pt x="165" y="240"/>
                  </a:lnTo>
                </a:path>
                <a:path w="6400" h="500" fill="none">
                  <a:moveTo>
                    <a:pt x="135" y="406"/>
                  </a:moveTo>
                  <a:lnTo>
                    <a:pt x="135" y="260"/>
                  </a:lnTo>
                </a:path>
                <a:path w="6400" h="500" fill="none">
                  <a:moveTo>
                    <a:pt x="165" y="406"/>
                  </a:moveTo>
                  <a:lnTo>
                    <a:pt x="165" y="260"/>
                  </a:lnTo>
                </a:path>
                <a:path w="6400" h="500" fill="none">
                  <a:moveTo>
                    <a:pt x="235" y="94"/>
                  </a:moveTo>
                  <a:lnTo>
                    <a:pt x="235" y="240"/>
                  </a:lnTo>
                </a:path>
                <a:path w="6400" h="500" fill="none">
                  <a:moveTo>
                    <a:pt x="265" y="94"/>
                  </a:moveTo>
                  <a:lnTo>
                    <a:pt x="265" y="240"/>
                  </a:lnTo>
                </a:path>
                <a:path w="6400" h="500" fill="none">
                  <a:moveTo>
                    <a:pt x="235" y="406"/>
                  </a:moveTo>
                  <a:lnTo>
                    <a:pt x="235" y="260"/>
                  </a:lnTo>
                </a:path>
                <a:path w="6400" h="500" fill="none">
                  <a:moveTo>
                    <a:pt x="265" y="406"/>
                  </a:moveTo>
                  <a:lnTo>
                    <a:pt x="265" y="260"/>
                  </a:lnTo>
                </a:path>
                <a:path w="6400" h="500" fill="none">
                  <a:moveTo>
                    <a:pt x="335" y="94"/>
                  </a:moveTo>
                  <a:lnTo>
                    <a:pt x="335" y="240"/>
                  </a:lnTo>
                </a:path>
                <a:path w="6400" h="500" fill="none">
                  <a:moveTo>
                    <a:pt x="365" y="94"/>
                  </a:moveTo>
                  <a:lnTo>
                    <a:pt x="365" y="240"/>
                  </a:lnTo>
                </a:path>
                <a:path w="6400" h="500" fill="none">
                  <a:moveTo>
                    <a:pt x="335" y="406"/>
                  </a:moveTo>
                  <a:lnTo>
                    <a:pt x="335" y="260"/>
                  </a:lnTo>
                </a:path>
                <a:path w="6400" h="500" fill="none">
                  <a:moveTo>
                    <a:pt x="365" y="406"/>
                  </a:moveTo>
                  <a:lnTo>
                    <a:pt x="365" y="260"/>
                  </a:lnTo>
                </a:path>
                <a:path w="6400" h="500" fill="none">
                  <a:moveTo>
                    <a:pt x="435" y="94"/>
                  </a:moveTo>
                  <a:lnTo>
                    <a:pt x="435" y="240"/>
                  </a:lnTo>
                </a:path>
                <a:path w="6400" h="500" fill="none">
                  <a:moveTo>
                    <a:pt x="465" y="94"/>
                  </a:moveTo>
                  <a:lnTo>
                    <a:pt x="465" y="240"/>
                  </a:lnTo>
                </a:path>
                <a:path w="6400" h="500" fill="none">
                  <a:moveTo>
                    <a:pt x="435" y="406"/>
                  </a:moveTo>
                  <a:lnTo>
                    <a:pt x="435" y="260"/>
                  </a:lnTo>
                </a:path>
                <a:path w="6400" h="500" fill="none">
                  <a:moveTo>
                    <a:pt x="465" y="406"/>
                  </a:moveTo>
                  <a:lnTo>
                    <a:pt x="465" y="260"/>
                  </a:lnTo>
                </a:path>
                <a:path w="6400" h="500" fill="none">
                  <a:moveTo>
                    <a:pt x="535" y="94"/>
                  </a:moveTo>
                  <a:lnTo>
                    <a:pt x="535" y="240"/>
                  </a:lnTo>
                </a:path>
                <a:path w="6400" h="500" fill="none">
                  <a:moveTo>
                    <a:pt x="565" y="94"/>
                  </a:moveTo>
                  <a:lnTo>
                    <a:pt x="565" y="240"/>
                  </a:lnTo>
                </a:path>
                <a:path w="6400" h="500" fill="none">
                  <a:moveTo>
                    <a:pt x="535" y="406"/>
                  </a:moveTo>
                  <a:lnTo>
                    <a:pt x="535" y="260"/>
                  </a:lnTo>
                </a:path>
                <a:path w="6400" h="500" fill="none">
                  <a:moveTo>
                    <a:pt x="565" y="406"/>
                  </a:moveTo>
                  <a:lnTo>
                    <a:pt x="565" y="260"/>
                  </a:lnTo>
                </a:path>
                <a:path w="6400" h="500" fill="none">
                  <a:moveTo>
                    <a:pt x="635" y="94"/>
                  </a:moveTo>
                  <a:lnTo>
                    <a:pt x="635" y="240"/>
                  </a:lnTo>
                </a:path>
                <a:path w="6400" h="500" fill="none">
                  <a:moveTo>
                    <a:pt x="665" y="94"/>
                  </a:moveTo>
                  <a:lnTo>
                    <a:pt x="665" y="240"/>
                  </a:lnTo>
                </a:path>
                <a:path w="6400" h="500" fill="none">
                  <a:moveTo>
                    <a:pt x="635" y="406"/>
                  </a:moveTo>
                  <a:lnTo>
                    <a:pt x="635" y="260"/>
                  </a:lnTo>
                </a:path>
                <a:path w="6400" h="500" fill="none">
                  <a:moveTo>
                    <a:pt x="665" y="406"/>
                  </a:moveTo>
                  <a:lnTo>
                    <a:pt x="665" y="260"/>
                  </a:lnTo>
                </a:path>
                <a:path w="6400" h="500" fill="none">
                  <a:moveTo>
                    <a:pt x="735" y="94"/>
                  </a:moveTo>
                  <a:lnTo>
                    <a:pt x="735" y="240"/>
                  </a:lnTo>
                </a:path>
                <a:path w="6400" h="500" fill="none">
                  <a:moveTo>
                    <a:pt x="765" y="94"/>
                  </a:moveTo>
                  <a:lnTo>
                    <a:pt x="765" y="240"/>
                  </a:lnTo>
                </a:path>
                <a:path w="6400" h="500" fill="none">
                  <a:moveTo>
                    <a:pt x="735" y="406"/>
                  </a:moveTo>
                  <a:lnTo>
                    <a:pt x="735" y="260"/>
                  </a:lnTo>
                </a:path>
                <a:path w="6400" h="500" fill="none">
                  <a:moveTo>
                    <a:pt x="765" y="406"/>
                  </a:moveTo>
                  <a:lnTo>
                    <a:pt x="765" y="260"/>
                  </a:lnTo>
                </a:path>
                <a:path w="6400" h="500" fill="none">
                  <a:moveTo>
                    <a:pt x="835" y="94"/>
                  </a:moveTo>
                  <a:lnTo>
                    <a:pt x="835" y="240"/>
                  </a:lnTo>
                </a:path>
                <a:path w="6400" h="500" fill="none">
                  <a:moveTo>
                    <a:pt x="865" y="94"/>
                  </a:moveTo>
                  <a:lnTo>
                    <a:pt x="865" y="240"/>
                  </a:lnTo>
                </a:path>
                <a:path w="6400" h="500" fill="none">
                  <a:moveTo>
                    <a:pt x="835" y="406"/>
                  </a:moveTo>
                  <a:lnTo>
                    <a:pt x="835" y="260"/>
                  </a:lnTo>
                </a:path>
                <a:path w="6400" h="500" fill="none">
                  <a:moveTo>
                    <a:pt x="865" y="406"/>
                  </a:moveTo>
                  <a:lnTo>
                    <a:pt x="865" y="260"/>
                  </a:lnTo>
                </a:path>
                <a:path w="6400" h="500" fill="none">
                  <a:moveTo>
                    <a:pt x="935" y="94"/>
                  </a:moveTo>
                  <a:lnTo>
                    <a:pt x="935" y="240"/>
                  </a:lnTo>
                </a:path>
                <a:path w="6400" h="500" fill="none">
                  <a:moveTo>
                    <a:pt x="965" y="94"/>
                  </a:moveTo>
                  <a:lnTo>
                    <a:pt x="965" y="240"/>
                  </a:lnTo>
                </a:path>
                <a:path w="6400" h="500" fill="none">
                  <a:moveTo>
                    <a:pt x="935" y="406"/>
                  </a:moveTo>
                  <a:lnTo>
                    <a:pt x="935" y="260"/>
                  </a:lnTo>
                </a:path>
                <a:path w="6400" h="500" fill="none">
                  <a:moveTo>
                    <a:pt x="965" y="406"/>
                  </a:moveTo>
                  <a:lnTo>
                    <a:pt x="965" y="260"/>
                  </a:lnTo>
                </a:path>
                <a:path w="6400" h="500" fill="none">
                  <a:moveTo>
                    <a:pt x="1035" y="94"/>
                  </a:moveTo>
                  <a:lnTo>
                    <a:pt x="1035" y="240"/>
                  </a:lnTo>
                </a:path>
                <a:path w="6400" h="500" fill="none">
                  <a:moveTo>
                    <a:pt x="1065" y="94"/>
                  </a:moveTo>
                  <a:lnTo>
                    <a:pt x="1065" y="240"/>
                  </a:lnTo>
                </a:path>
                <a:path w="6400" h="500" fill="none">
                  <a:moveTo>
                    <a:pt x="1035" y="406"/>
                  </a:moveTo>
                  <a:lnTo>
                    <a:pt x="1035" y="260"/>
                  </a:lnTo>
                </a:path>
                <a:path w="6400" h="500" fill="none">
                  <a:moveTo>
                    <a:pt x="1065" y="406"/>
                  </a:moveTo>
                  <a:lnTo>
                    <a:pt x="1065" y="260"/>
                  </a:lnTo>
                </a:path>
                <a:path w="6400" h="500" fill="none">
                  <a:moveTo>
                    <a:pt x="1135" y="94"/>
                  </a:moveTo>
                  <a:lnTo>
                    <a:pt x="1135" y="240"/>
                  </a:lnTo>
                </a:path>
                <a:path w="6400" h="500" fill="none">
                  <a:moveTo>
                    <a:pt x="1165" y="94"/>
                  </a:moveTo>
                  <a:lnTo>
                    <a:pt x="1165" y="240"/>
                  </a:lnTo>
                </a:path>
                <a:path w="6400" h="500" fill="none">
                  <a:moveTo>
                    <a:pt x="1135" y="406"/>
                  </a:moveTo>
                  <a:lnTo>
                    <a:pt x="1135" y="260"/>
                  </a:lnTo>
                </a:path>
                <a:path w="6400" h="500" fill="none">
                  <a:moveTo>
                    <a:pt x="1165" y="406"/>
                  </a:moveTo>
                  <a:lnTo>
                    <a:pt x="1165" y="260"/>
                  </a:lnTo>
                </a:path>
                <a:path w="6400" h="500" fill="none">
                  <a:moveTo>
                    <a:pt x="1235" y="94"/>
                  </a:moveTo>
                  <a:lnTo>
                    <a:pt x="1235" y="240"/>
                  </a:lnTo>
                </a:path>
                <a:path w="6400" h="500" fill="none">
                  <a:moveTo>
                    <a:pt x="1265" y="94"/>
                  </a:moveTo>
                  <a:lnTo>
                    <a:pt x="1265" y="240"/>
                  </a:lnTo>
                </a:path>
                <a:path w="6400" h="500" fill="none">
                  <a:moveTo>
                    <a:pt x="1235" y="406"/>
                  </a:moveTo>
                  <a:lnTo>
                    <a:pt x="1235" y="260"/>
                  </a:lnTo>
                </a:path>
                <a:path w="6400" h="500" fill="none">
                  <a:moveTo>
                    <a:pt x="1265" y="406"/>
                  </a:moveTo>
                  <a:lnTo>
                    <a:pt x="1265" y="260"/>
                  </a:lnTo>
                </a:path>
                <a:path w="6400" h="500" fill="none">
                  <a:moveTo>
                    <a:pt x="1335" y="94"/>
                  </a:moveTo>
                  <a:lnTo>
                    <a:pt x="1335" y="240"/>
                  </a:lnTo>
                </a:path>
                <a:path w="6400" h="500" fill="none">
                  <a:moveTo>
                    <a:pt x="1365" y="94"/>
                  </a:moveTo>
                  <a:lnTo>
                    <a:pt x="1365" y="240"/>
                  </a:lnTo>
                </a:path>
                <a:path w="6400" h="500" fill="none">
                  <a:moveTo>
                    <a:pt x="1335" y="406"/>
                  </a:moveTo>
                  <a:lnTo>
                    <a:pt x="1335" y="260"/>
                  </a:lnTo>
                </a:path>
                <a:path w="6400" h="500" fill="none">
                  <a:moveTo>
                    <a:pt x="1365" y="406"/>
                  </a:moveTo>
                  <a:lnTo>
                    <a:pt x="1365" y="260"/>
                  </a:lnTo>
                </a:path>
                <a:path w="6400" h="500" fill="none">
                  <a:moveTo>
                    <a:pt x="1435" y="94"/>
                  </a:moveTo>
                  <a:lnTo>
                    <a:pt x="1435" y="240"/>
                  </a:lnTo>
                </a:path>
                <a:path w="6400" h="500" fill="none">
                  <a:moveTo>
                    <a:pt x="1465" y="94"/>
                  </a:moveTo>
                  <a:lnTo>
                    <a:pt x="1465" y="240"/>
                  </a:lnTo>
                </a:path>
                <a:path w="6400" h="500" fill="none">
                  <a:moveTo>
                    <a:pt x="1435" y="406"/>
                  </a:moveTo>
                  <a:lnTo>
                    <a:pt x="1435" y="260"/>
                  </a:lnTo>
                </a:path>
                <a:path w="6400" h="500" fill="none">
                  <a:moveTo>
                    <a:pt x="1465" y="406"/>
                  </a:moveTo>
                  <a:lnTo>
                    <a:pt x="1465" y="260"/>
                  </a:lnTo>
                </a:path>
                <a:path w="6400" h="500" fill="none">
                  <a:moveTo>
                    <a:pt x="1535" y="94"/>
                  </a:moveTo>
                  <a:lnTo>
                    <a:pt x="1535" y="240"/>
                  </a:lnTo>
                </a:path>
                <a:path w="6400" h="500" fill="none">
                  <a:moveTo>
                    <a:pt x="1565" y="94"/>
                  </a:moveTo>
                  <a:lnTo>
                    <a:pt x="1565" y="240"/>
                  </a:lnTo>
                </a:path>
                <a:path w="6400" h="500" fill="none">
                  <a:moveTo>
                    <a:pt x="1535" y="406"/>
                  </a:moveTo>
                  <a:lnTo>
                    <a:pt x="1535" y="260"/>
                  </a:lnTo>
                </a:path>
                <a:path w="6400" h="500" fill="none">
                  <a:moveTo>
                    <a:pt x="1565" y="406"/>
                  </a:moveTo>
                  <a:lnTo>
                    <a:pt x="1565" y="260"/>
                  </a:lnTo>
                </a:path>
                <a:path w="6400" h="500" fill="none">
                  <a:moveTo>
                    <a:pt x="1635" y="94"/>
                  </a:moveTo>
                  <a:lnTo>
                    <a:pt x="1635" y="240"/>
                  </a:lnTo>
                </a:path>
                <a:path w="6400" h="500" fill="none">
                  <a:moveTo>
                    <a:pt x="1665" y="94"/>
                  </a:moveTo>
                  <a:lnTo>
                    <a:pt x="1665" y="240"/>
                  </a:lnTo>
                </a:path>
                <a:path w="6400" h="500" fill="none">
                  <a:moveTo>
                    <a:pt x="1635" y="406"/>
                  </a:moveTo>
                  <a:lnTo>
                    <a:pt x="1635" y="260"/>
                  </a:lnTo>
                </a:path>
                <a:path w="6400" h="500" fill="none">
                  <a:moveTo>
                    <a:pt x="1665" y="406"/>
                  </a:moveTo>
                  <a:lnTo>
                    <a:pt x="1665" y="260"/>
                  </a:lnTo>
                </a:path>
                <a:path w="6400" h="500" fill="none">
                  <a:moveTo>
                    <a:pt x="1735" y="94"/>
                  </a:moveTo>
                  <a:lnTo>
                    <a:pt x="1735" y="240"/>
                  </a:lnTo>
                </a:path>
                <a:path w="6400" h="500" fill="none">
                  <a:moveTo>
                    <a:pt x="1765" y="94"/>
                  </a:moveTo>
                  <a:lnTo>
                    <a:pt x="1765" y="240"/>
                  </a:lnTo>
                </a:path>
                <a:path w="6400" h="500" fill="none">
                  <a:moveTo>
                    <a:pt x="1735" y="406"/>
                  </a:moveTo>
                  <a:lnTo>
                    <a:pt x="1735" y="260"/>
                  </a:lnTo>
                </a:path>
                <a:path w="6400" h="500" fill="none">
                  <a:moveTo>
                    <a:pt x="1765" y="406"/>
                  </a:moveTo>
                  <a:lnTo>
                    <a:pt x="1765" y="260"/>
                  </a:lnTo>
                </a:path>
                <a:path w="6400" h="500" fill="none">
                  <a:moveTo>
                    <a:pt x="1835" y="94"/>
                  </a:moveTo>
                  <a:lnTo>
                    <a:pt x="1835" y="240"/>
                  </a:lnTo>
                </a:path>
                <a:path w="6400" h="500" fill="none">
                  <a:moveTo>
                    <a:pt x="1865" y="94"/>
                  </a:moveTo>
                  <a:lnTo>
                    <a:pt x="1865" y="240"/>
                  </a:lnTo>
                </a:path>
                <a:path w="6400" h="500" fill="none">
                  <a:moveTo>
                    <a:pt x="1835" y="406"/>
                  </a:moveTo>
                  <a:lnTo>
                    <a:pt x="1835" y="260"/>
                  </a:lnTo>
                </a:path>
                <a:path w="6400" h="500" fill="none">
                  <a:moveTo>
                    <a:pt x="1865" y="406"/>
                  </a:moveTo>
                  <a:lnTo>
                    <a:pt x="1865" y="260"/>
                  </a:lnTo>
                </a:path>
                <a:path w="6400" h="500" fill="none">
                  <a:moveTo>
                    <a:pt x="1935" y="94"/>
                  </a:moveTo>
                  <a:lnTo>
                    <a:pt x="1935" y="240"/>
                  </a:lnTo>
                </a:path>
                <a:path w="6400" h="500" fill="none">
                  <a:moveTo>
                    <a:pt x="1965" y="94"/>
                  </a:moveTo>
                  <a:lnTo>
                    <a:pt x="1965" y="240"/>
                  </a:lnTo>
                </a:path>
                <a:path w="6400" h="500" fill="none">
                  <a:moveTo>
                    <a:pt x="1935" y="406"/>
                  </a:moveTo>
                  <a:lnTo>
                    <a:pt x="1935" y="260"/>
                  </a:lnTo>
                </a:path>
                <a:path w="6400" h="500" fill="none">
                  <a:moveTo>
                    <a:pt x="1965" y="406"/>
                  </a:moveTo>
                  <a:lnTo>
                    <a:pt x="1965" y="260"/>
                  </a:lnTo>
                </a:path>
                <a:path w="6400" h="500" fill="none">
                  <a:moveTo>
                    <a:pt x="2035" y="94"/>
                  </a:moveTo>
                  <a:lnTo>
                    <a:pt x="2035" y="240"/>
                  </a:lnTo>
                </a:path>
                <a:path w="6400" h="500" fill="none">
                  <a:moveTo>
                    <a:pt x="2065" y="94"/>
                  </a:moveTo>
                  <a:lnTo>
                    <a:pt x="2065" y="240"/>
                  </a:lnTo>
                </a:path>
                <a:path w="6400" h="500" fill="none">
                  <a:moveTo>
                    <a:pt x="2035" y="406"/>
                  </a:moveTo>
                  <a:lnTo>
                    <a:pt x="2035" y="260"/>
                  </a:lnTo>
                </a:path>
                <a:path w="6400" h="500" fill="none">
                  <a:moveTo>
                    <a:pt x="2065" y="406"/>
                  </a:moveTo>
                  <a:lnTo>
                    <a:pt x="2065" y="260"/>
                  </a:lnTo>
                </a:path>
                <a:path w="6400" h="500" fill="none">
                  <a:moveTo>
                    <a:pt x="2135" y="94"/>
                  </a:moveTo>
                  <a:lnTo>
                    <a:pt x="2135" y="240"/>
                  </a:lnTo>
                </a:path>
                <a:path w="6400" h="500" fill="none">
                  <a:moveTo>
                    <a:pt x="2165" y="94"/>
                  </a:moveTo>
                  <a:lnTo>
                    <a:pt x="2165" y="240"/>
                  </a:lnTo>
                </a:path>
                <a:path w="6400" h="500" fill="none">
                  <a:moveTo>
                    <a:pt x="2135" y="406"/>
                  </a:moveTo>
                  <a:lnTo>
                    <a:pt x="2135" y="260"/>
                  </a:lnTo>
                </a:path>
                <a:path w="6400" h="500" fill="none">
                  <a:moveTo>
                    <a:pt x="2165" y="406"/>
                  </a:moveTo>
                  <a:lnTo>
                    <a:pt x="2165" y="260"/>
                  </a:lnTo>
                </a:path>
                <a:path w="6400" h="500" fill="none">
                  <a:moveTo>
                    <a:pt x="2235" y="94"/>
                  </a:moveTo>
                  <a:lnTo>
                    <a:pt x="2235" y="240"/>
                  </a:lnTo>
                </a:path>
                <a:path w="6400" h="500" fill="none">
                  <a:moveTo>
                    <a:pt x="2265" y="94"/>
                  </a:moveTo>
                  <a:lnTo>
                    <a:pt x="2265" y="240"/>
                  </a:lnTo>
                </a:path>
                <a:path w="6400" h="500" fill="none">
                  <a:moveTo>
                    <a:pt x="2235" y="406"/>
                  </a:moveTo>
                  <a:lnTo>
                    <a:pt x="2235" y="260"/>
                  </a:lnTo>
                </a:path>
                <a:path w="6400" h="500" fill="none">
                  <a:moveTo>
                    <a:pt x="2265" y="406"/>
                  </a:moveTo>
                  <a:lnTo>
                    <a:pt x="2265" y="260"/>
                  </a:lnTo>
                </a:path>
                <a:path w="6400" h="500" fill="none">
                  <a:moveTo>
                    <a:pt x="2335" y="94"/>
                  </a:moveTo>
                  <a:lnTo>
                    <a:pt x="2335" y="240"/>
                  </a:lnTo>
                </a:path>
                <a:path w="6400" h="500" fill="none">
                  <a:moveTo>
                    <a:pt x="2365" y="94"/>
                  </a:moveTo>
                  <a:lnTo>
                    <a:pt x="2365" y="240"/>
                  </a:lnTo>
                </a:path>
                <a:path w="6400" h="500" fill="none">
                  <a:moveTo>
                    <a:pt x="2335" y="406"/>
                  </a:moveTo>
                  <a:lnTo>
                    <a:pt x="2335" y="260"/>
                  </a:lnTo>
                </a:path>
                <a:path w="6400" h="500" fill="none">
                  <a:moveTo>
                    <a:pt x="2365" y="406"/>
                  </a:moveTo>
                  <a:lnTo>
                    <a:pt x="2365" y="260"/>
                  </a:lnTo>
                </a:path>
                <a:path w="6400" h="500" fill="none">
                  <a:moveTo>
                    <a:pt x="2435" y="94"/>
                  </a:moveTo>
                  <a:lnTo>
                    <a:pt x="2435" y="240"/>
                  </a:lnTo>
                </a:path>
                <a:path w="6400" h="500" fill="none">
                  <a:moveTo>
                    <a:pt x="2465" y="94"/>
                  </a:moveTo>
                  <a:lnTo>
                    <a:pt x="2465" y="240"/>
                  </a:lnTo>
                </a:path>
                <a:path w="6400" h="500" fill="none">
                  <a:moveTo>
                    <a:pt x="2435" y="406"/>
                  </a:moveTo>
                  <a:lnTo>
                    <a:pt x="2435" y="260"/>
                  </a:lnTo>
                </a:path>
                <a:path w="6400" h="500" fill="none">
                  <a:moveTo>
                    <a:pt x="2465" y="406"/>
                  </a:moveTo>
                  <a:lnTo>
                    <a:pt x="2465" y="260"/>
                  </a:lnTo>
                </a:path>
                <a:path w="6400" h="500" fill="none">
                  <a:moveTo>
                    <a:pt x="2535" y="94"/>
                  </a:moveTo>
                  <a:lnTo>
                    <a:pt x="2535" y="240"/>
                  </a:lnTo>
                </a:path>
                <a:path w="6400" h="500" fill="none">
                  <a:moveTo>
                    <a:pt x="2565" y="94"/>
                  </a:moveTo>
                  <a:lnTo>
                    <a:pt x="2565" y="240"/>
                  </a:lnTo>
                </a:path>
                <a:path w="6400" h="500" fill="none">
                  <a:moveTo>
                    <a:pt x="2535" y="406"/>
                  </a:moveTo>
                  <a:lnTo>
                    <a:pt x="2535" y="260"/>
                  </a:lnTo>
                </a:path>
                <a:path w="6400" h="500" fill="none">
                  <a:moveTo>
                    <a:pt x="2565" y="406"/>
                  </a:moveTo>
                  <a:lnTo>
                    <a:pt x="2565" y="260"/>
                  </a:lnTo>
                </a:path>
                <a:path w="6400" h="500" fill="none">
                  <a:moveTo>
                    <a:pt x="2635" y="94"/>
                  </a:moveTo>
                  <a:lnTo>
                    <a:pt x="2635" y="240"/>
                  </a:lnTo>
                </a:path>
                <a:path w="6400" h="500" fill="none">
                  <a:moveTo>
                    <a:pt x="2665" y="94"/>
                  </a:moveTo>
                  <a:lnTo>
                    <a:pt x="2665" y="240"/>
                  </a:lnTo>
                </a:path>
                <a:path w="6400" h="500" fill="none">
                  <a:moveTo>
                    <a:pt x="2635" y="406"/>
                  </a:moveTo>
                  <a:lnTo>
                    <a:pt x="2635" y="260"/>
                  </a:lnTo>
                </a:path>
                <a:path w="6400" h="500" fill="none">
                  <a:moveTo>
                    <a:pt x="2665" y="406"/>
                  </a:moveTo>
                  <a:lnTo>
                    <a:pt x="2665" y="260"/>
                  </a:lnTo>
                </a:path>
                <a:path w="6400" h="500" fill="none">
                  <a:moveTo>
                    <a:pt x="2735" y="94"/>
                  </a:moveTo>
                  <a:lnTo>
                    <a:pt x="2735" y="240"/>
                  </a:lnTo>
                </a:path>
                <a:path w="6400" h="500" fill="none">
                  <a:moveTo>
                    <a:pt x="2765" y="94"/>
                  </a:moveTo>
                  <a:lnTo>
                    <a:pt x="2765" y="240"/>
                  </a:lnTo>
                </a:path>
                <a:path w="6400" h="500" fill="none">
                  <a:moveTo>
                    <a:pt x="2735" y="406"/>
                  </a:moveTo>
                  <a:lnTo>
                    <a:pt x="2735" y="260"/>
                  </a:lnTo>
                </a:path>
                <a:path w="6400" h="500" fill="none">
                  <a:moveTo>
                    <a:pt x="2765" y="406"/>
                  </a:moveTo>
                  <a:lnTo>
                    <a:pt x="2765" y="260"/>
                  </a:lnTo>
                </a:path>
                <a:path w="6400" h="500" fill="none">
                  <a:moveTo>
                    <a:pt x="2835" y="94"/>
                  </a:moveTo>
                  <a:lnTo>
                    <a:pt x="2835" y="240"/>
                  </a:lnTo>
                </a:path>
                <a:path w="6400" h="500" fill="none">
                  <a:moveTo>
                    <a:pt x="2865" y="94"/>
                  </a:moveTo>
                  <a:lnTo>
                    <a:pt x="2865" y="240"/>
                  </a:lnTo>
                </a:path>
                <a:path w="6400" h="500" fill="none">
                  <a:moveTo>
                    <a:pt x="2835" y="406"/>
                  </a:moveTo>
                  <a:lnTo>
                    <a:pt x="2835" y="260"/>
                  </a:lnTo>
                </a:path>
                <a:path w="6400" h="500" fill="none">
                  <a:moveTo>
                    <a:pt x="2865" y="406"/>
                  </a:moveTo>
                  <a:lnTo>
                    <a:pt x="2865" y="260"/>
                  </a:lnTo>
                </a:path>
                <a:path w="6400" h="500" fill="none">
                  <a:moveTo>
                    <a:pt x="2935" y="94"/>
                  </a:moveTo>
                  <a:lnTo>
                    <a:pt x="2935" y="240"/>
                  </a:lnTo>
                </a:path>
                <a:path w="6400" h="500" fill="none">
                  <a:moveTo>
                    <a:pt x="2965" y="94"/>
                  </a:moveTo>
                  <a:lnTo>
                    <a:pt x="2965" y="240"/>
                  </a:lnTo>
                </a:path>
                <a:path w="6400" h="500" fill="none">
                  <a:moveTo>
                    <a:pt x="2935" y="406"/>
                  </a:moveTo>
                  <a:lnTo>
                    <a:pt x="2935" y="260"/>
                  </a:lnTo>
                </a:path>
                <a:path w="6400" h="500" fill="none">
                  <a:moveTo>
                    <a:pt x="2965" y="406"/>
                  </a:moveTo>
                  <a:lnTo>
                    <a:pt x="2965" y="260"/>
                  </a:lnTo>
                </a:path>
                <a:path w="6400" h="500" fill="none">
                  <a:moveTo>
                    <a:pt x="3035" y="94"/>
                  </a:moveTo>
                  <a:lnTo>
                    <a:pt x="3035" y="240"/>
                  </a:lnTo>
                </a:path>
                <a:path w="6400" h="500" fill="none">
                  <a:moveTo>
                    <a:pt x="3065" y="94"/>
                  </a:moveTo>
                  <a:lnTo>
                    <a:pt x="3065" y="240"/>
                  </a:lnTo>
                </a:path>
                <a:path w="6400" h="500" fill="none">
                  <a:moveTo>
                    <a:pt x="3035" y="406"/>
                  </a:moveTo>
                  <a:lnTo>
                    <a:pt x="3035" y="260"/>
                  </a:lnTo>
                </a:path>
                <a:path w="6400" h="500" fill="none">
                  <a:moveTo>
                    <a:pt x="3065" y="406"/>
                  </a:moveTo>
                  <a:lnTo>
                    <a:pt x="3065" y="260"/>
                  </a:lnTo>
                </a:path>
                <a:path w="6400" h="500" fill="none">
                  <a:moveTo>
                    <a:pt x="3135" y="94"/>
                  </a:moveTo>
                  <a:lnTo>
                    <a:pt x="3135" y="240"/>
                  </a:lnTo>
                </a:path>
                <a:path w="6400" h="500" fill="none">
                  <a:moveTo>
                    <a:pt x="3165" y="94"/>
                  </a:moveTo>
                  <a:lnTo>
                    <a:pt x="3165" y="240"/>
                  </a:lnTo>
                </a:path>
                <a:path w="6400" h="500" fill="none">
                  <a:moveTo>
                    <a:pt x="3135" y="406"/>
                  </a:moveTo>
                  <a:lnTo>
                    <a:pt x="3135" y="260"/>
                  </a:lnTo>
                </a:path>
                <a:path w="6400" h="500" fill="none">
                  <a:moveTo>
                    <a:pt x="3165" y="406"/>
                  </a:moveTo>
                  <a:lnTo>
                    <a:pt x="3165" y="260"/>
                  </a:lnTo>
                </a:path>
                <a:path w="6400" h="500" fill="none">
                  <a:moveTo>
                    <a:pt x="3235" y="94"/>
                  </a:moveTo>
                  <a:lnTo>
                    <a:pt x="3235" y="240"/>
                  </a:lnTo>
                </a:path>
                <a:path w="6400" h="500" fill="none">
                  <a:moveTo>
                    <a:pt x="3265" y="94"/>
                  </a:moveTo>
                  <a:lnTo>
                    <a:pt x="3265" y="240"/>
                  </a:lnTo>
                </a:path>
                <a:path w="6400" h="500" fill="none">
                  <a:moveTo>
                    <a:pt x="3235" y="406"/>
                  </a:moveTo>
                  <a:lnTo>
                    <a:pt x="3235" y="260"/>
                  </a:lnTo>
                </a:path>
                <a:path w="6400" h="500" fill="none">
                  <a:moveTo>
                    <a:pt x="3265" y="406"/>
                  </a:moveTo>
                  <a:lnTo>
                    <a:pt x="3265" y="260"/>
                  </a:lnTo>
                </a:path>
                <a:path w="6400" h="500" fill="none">
                  <a:moveTo>
                    <a:pt x="3335" y="94"/>
                  </a:moveTo>
                  <a:lnTo>
                    <a:pt x="3335" y="240"/>
                  </a:lnTo>
                </a:path>
                <a:path w="6400" h="500" fill="none">
                  <a:moveTo>
                    <a:pt x="3365" y="94"/>
                  </a:moveTo>
                  <a:lnTo>
                    <a:pt x="3365" y="240"/>
                  </a:lnTo>
                </a:path>
                <a:path w="6400" h="500" fill="none">
                  <a:moveTo>
                    <a:pt x="3335" y="406"/>
                  </a:moveTo>
                  <a:lnTo>
                    <a:pt x="3335" y="260"/>
                  </a:lnTo>
                </a:path>
                <a:path w="6400" h="500" fill="none">
                  <a:moveTo>
                    <a:pt x="3365" y="406"/>
                  </a:moveTo>
                  <a:lnTo>
                    <a:pt x="3365" y="260"/>
                  </a:lnTo>
                </a:path>
                <a:path w="6400" h="500" fill="none">
                  <a:moveTo>
                    <a:pt x="3435" y="94"/>
                  </a:moveTo>
                  <a:lnTo>
                    <a:pt x="3435" y="240"/>
                  </a:lnTo>
                </a:path>
                <a:path w="6400" h="500" fill="none">
                  <a:moveTo>
                    <a:pt x="3465" y="94"/>
                  </a:moveTo>
                  <a:lnTo>
                    <a:pt x="3465" y="240"/>
                  </a:lnTo>
                </a:path>
                <a:path w="6400" h="500" fill="none">
                  <a:moveTo>
                    <a:pt x="3435" y="406"/>
                  </a:moveTo>
                  <a:lnTo>
                    <a:pt x="3435" y="260"/>
                  </a:lnTo>
                </a:path>
                <a:path w="6400" h="500" fill="none">
                  <a:moveTo>
                    <a:pt x="3465" y="406"/>
                  </a:moveTo>
                  <a:lnTo>
                    <a:pt x="3465" y="260"/>
                  </a:lnTo>
                </a:path>
                <a:path w="6400" h="500" fill="none">
                  <a:moveTo>
                    <a:pt x="3535" y="94"/>
                  </a:moveTo>
                  <a:lnTo>
                    <a:pt x="3535" y="240"/>
                  </a:lnTo>
                </a:path>
                <a:path w="6400" h="500" fill="none">
                  <a:moveTo>
                    <a:pt x="3565" y="94"/>
                  </a:moveTo>
                  <a:lnTo>
                    <a:pt x="3565" y="240"/>
                  </a:lnTo>
                </a:path>
                <a:path w="6400" h="500" fill="none">
                  <a:moveTo>
                    <a:pt x="3535" y="406"/>
                  </a:moveTo>
                  <a:lnTo>
                    <a:pt x="3535" y="260"/>
                  </a:lnTo>
                </a:path>
                <a:path w="6400" h="500" fill="none">
                  <a:moveTo>
                    <a:pt x="3565" y="406"/>
                  </a:moveTo>
                  <a:lnTo>
                    <a:pt x="3565" y="260"/>
                  </a:lnTo>
                </a:path>
                <a:path w="6400" h="500" fill="none">
                  <a:moveTo>
                    <a:pt x="3635" y="94"/>
                  </a:moveTo>
                  <a:lnTo>
                    <a:pt x="3635" y="240"/>
                  </a:lnTo>
                </a:path>
                <a:path w="6400" h="500" fill="none">
                  <a:moveTo>
                    <a:pt x="3665" y="94"/>
                  </a:moveTo>
                  <a:lnTo>
                    <a:pt x="3665" y="240"/>
                  </a:lnTo>
                </a:path>
                <a:path w="6400" h="500" fill="none">
                  <a:moveTo>
                    <a:pt x="3635" y="406"/>
                  </a:moveTo>
                  <a:lnTo>
                    <a:pt x="3635" y="260"/>
                  </a:lnTo>
                </a:path>
                <a:path w="6400" h="500" fill="none">
                  <a:moveTo>
                    <a:pt x="3665" y="406"/>
                  </a:moveTo>
                  <a:lnTo>
                    <a:pt x="3665" y="260"/>
                  </a:lnTo>
                </a:path>
                <a:path w="6400" h="500" fill="none">
                  <a:moveTo>
                    <a:pt x="3735" y="94"/>
                  </a:moveTo>
                  <a:lnTo>
                    <a:pt x="3735" y="240"/>
                  </a:lnTo>
                </a:path>
                <a:path w="6400" h="500" fill="none">
                  <a:moveTo>
                    <a:pt x="3765" y="94"/>
                  </a:moveTo>
                  <a:lnTo>
                    <a:pt x="3765" y="240"/>
                  </a:lnTo>
                </a:path>
                <a:path w="6400" h="500" fill="none">
                  <a:moveTo>
                    <a:pt x="3735" y="406"/>
                  </a:moveTo>
                  <a:lnTo>
                    <a:pt x="3735" y="260"/>
                  </a:lnTo>
                </a:path>
                <a:path w="6400" h="500" fill="none">
                  <a:moveTo>
                    <a:pt x="3765" y="406"/>
                  </a:moveTo>
                  <a:lnTo>
                    <a:pt x="3765" y="260"/>
                  </a:lnTo>
                </a:path>
                <a:path w="6400" h="500" fill="none">
                  <a:moveTo>
                    <a:pt x="3835" y="94"/>
                  </a:moveTo>
                  <a:lnTo>
                    <a:pt x="3835" y="240"/>
                  </a:lnTo>
                </a:path>
                <a:path w="6400" h="500" fill="none">
                  <a:moveTo>
                    <a:pt x="3865" y="94"/>
                  </a:moveTo>
                  <a:lnTo>
                    <a:pt x="3865" y="240"/>
                  </a:lnTo>
                </a:path>
                <a:path w="6400" h="500" fill="none">
                  <a:moveTo>
                    <a:pt x="3835" y="406"/>
                  </a:moveTo>
                  <a:lnTo>
                    <a:pt x="3835" y="260"/>
                  </a:lnTo>
                </a:path>
                <a:path w="6400" h="500" fill="none">
                  <a:moveTo>
                    <a:pt x="3865" y="406"/>
                  </a:moveTo>
                  <a:lnTo>
                    <a:pt x="3865" y="260"/>
                  </a:lnTo>
                </a:path>
                <a:path w="6400" h="500" fill="none">
                  <a:moveTo>
                    <a:pt x="3935" y="94"/>
                  </a:moveTo>
                  <a:lnTo>
                    <a:pt x="3935" y="240"/>
                  </a:lnTo>
                </a:path>
                <a:path w="6400" h="500" fill="none">
                  <a:moveTo>
                    <a:pt x="3965" y="94"/>
                  </a:moveTo>
                  <a:lnTo>
                    <a:pt x="3965" y="240"/>
                  </a:lnTo>
                </a:path>
                <a:path w="6400" h="500" fill="none">
                  <a:moveTo>
                    <a:pt x="3935" y="406"/>
                  </a:moveTo>
                  <a:lnTo>
                    <a:pt x="3935" y="260"/>
                  </a:lnTo>
                </a:path>
                <a:path w="6400" h="500" fill="none">
                  <a:moveTo>
                    <a:pt x="3965" y="406"/>
                  </a:moveTo>
                  <a:lnTo>
                    <a:pt x="3965" y="260"/>
                  </a:lnTo>
                </a:path>
                <a:path w="6400" h="500" fill="none">
                  <a:moveTo>
                    <a:pt x="4035" y="94"/>
                  </a:moveTo>
                  <a:lnTo>
                    <a:pt x="4035" y="240"/>
                  </a:lnTo>
                </a:path>
                <a:path w="6400" h="500" fill="none">
                  <a:moveTo>
                    <a:pt x="4065" y="94"/>
                  </a:moveTo>
                  <a:lnTo>
                    <a:pt x="4065" y="240"/>
                  </a:lnTo>
                </a:path>
                <a:path w="6400" h="500" fill="none">
                  <a:moveTo>
                    <a:pt x="4035" y="406"/>
                  </a:moveTo>
                  <a:lnTo>
                    <a:pt x="4035" y="260"/>
                  </a:lnTo>
                </a:path>
                <a:path w="6400" h="500" fill="none">
                  <a:moveTo>
                    <a:pt x="4065" y="406"/>
                  </a:moveTo>
                  <a:lnTo>
                    <a:pt x="4065" y="260"/>
                  </a:lnTo>
                </a:path>
                <a:path w="6400" h="500" fill="none">
                  <a:moveTo>
                    <a:pt x="4135" y="94"/>
                  </a:moveTo>
                  <a:lnTo>
                    <a:pt x="4135" y="240"/>
                  </a:lnTo>
                </a:path>
                <a:path w="6400" h="500" fill="none">
                  <a:moveTo>
                    <a:pt x="4165" y="94"/>
                  </a:moveTo>
                  <a:lnTo>
                    <a:pt x="4165" y="240"/>
                  </a:lnTo>
                </a:path>
                <a:path w="6400" h="500" fill="none">
                  <a:moveTo>
                    <a:pt x="4135" y="406"/>
                  </a:moveTo>
                  <a:lnTo>
                    <a:pt x="4135" y="260"/>
                  </a:lnTo>
                </a:path>
                <a:path w="6400" h="500" fill="none">
                  <a:moveTo>
                    <a:pt x="4165" y="406"/>
                  </a:moveTo>
                  <a:lnTo>
                    <a:pt x="4165" y="260"/>
                  </a:lnTo>
                </a:path>
                <a:path w="6400" h="500" fill="none">
                  <a:moveTo>
                    <a:pt x="4235" y="94"/>
                  </a:moveTo>
                  <a:lnTo>
                    <a:pt x="4235" y="240"/>
                  </a:lnTo>
                </a:path>
                <a:path w="6400" h="500" fill="none">
                  <a:moveTo>
                    <a:pt x="4265" y="94"/>
                  </a:moveTo>
                  <a:lnTo>
                    <a:pt x="4265" y="240"/>
                  </a:lnTo>
                </a:path>
                <a:path w="6400" h="500" fill="none">
                  <a:moveTo>
                    <a:pt x="4235" y="406"/>
                  </a:moveTo>
                  <a:lnTo>
                    <a:pt x="4235" y="260"/>
                  </a:lnTo>
                </a:path>
                <a:path w="6400" h="500" fill="none">
                  <a:moveTo>
                    <a:pt x="4265" y="406"/>
                  </a:moveTo>
                  <a:lnTo>
                    <a:pt x="4265" y="260"/>
                  </a:lnTo>
                </a:path>
                <a:path w="6400" h="500" fill="none">
                  <a:moveTo>
                    <a:pt x="4335" y="94"/>
                  </a:moveTo>
                  <a:lnTo>
                    <a:pt x="4335" y="240"/>
                  </a:lnTo>
                </a:path>
                <a:path w="6400" h="500" fill="none">
                  <a:moveTo>
                    <a:pt x="4365" y="94"/>
                  </a:moveTo>
                  <a:lnTo>
                    <a:pt x="4365" y="240"/>
                  </a:lnTo>
                </a:path>
                <a:path w="6400" h="500" fill="none">
                  <a:moveTo>
                    <a:pt x="4335" y="406"/>
                  </a:moveTo>
                  <a:lnTo>
                    <a:pt x="4335" y="260"/>
                  </a:lnTo>
                </a:path>
                <a:path w="6400" h="500" fill="none">
                  <a:moveTo>
                    <a:pt x="4365" y="406"/>
                  </a:moveTo>
                  <a:lnTo>
                    <a:pt x="4365" y="260"/>
                  </a:lnTo>
                </a:path>
                <a:path w="6400" h="500" fill="none">
                  <a:moveTo>
                    <a:pt x="4435" y="94"/>
                  </a:moveTo>
                  <a:lnTo>
                    <a:pt x="4435" y="240"/>
                  </a:lnTo>
                </a:path>
                <a:path w="6400" h="500" fill="none">
                  <a:moveTo>
                    <a:pt x="4465" y="94"/>
                  </a:moveTo>
                  <a:lnTo>
                    <a:pt x="4465" y="240"/>
                  </a:lnTo>
                </a:path>
                <a:path w="6400" h="500" fill="none">
                  <a:moveTo>
                    <a:pt x="4435" y="406"/>
                  </a:moveTo>
                  <a:lnTo>
                    <a:pt x="4435" y="260"/>
                  </a:lnTo>
                </a:path>
                <a:path w="6400" h="500" fill="none">
                  <a:moveTo>
                    <a:pt x="4465" y="406"/>
                  </a:moveTo>
                  <a:lnTo>
                    <a:pt x="4465" y="260"/>
                  </a:lnTo>
                </a:path>
                <a:path w="6400" h="500" fill="none">
                  <a:moveTo>
                    <a:pt x="4535" y="94"/>
                  </a:moveTo>
                  <a:lnTo>
                    <a:pt x="4535" y="240"/>
                  </a:lnTo>
                </a:path>
                <a:path w="6400" h="500" fill="none">
                  <a:moveTo>
                    <a:pt x="4565" y="94"/>
                  </a:moveTo>
                  <a:lnTo>
                    <a:pt x="4565" y="240"/>
                  </a:lnTo>
                </a:path>
                <a:path w="6400" h="500" fill="none">
                  <a:moveTo>
                    <a:pt x="4535" y="406"/>
                  </a:moveTo>
                  <a:lnTo>
                    <a:pt x="4535" y="260"/>
                  </a:lnTo>
                </a:path>
                <a:path w="6400" h="500" fill="none">
                  <a:moveTo>
                    <a:pt x="4565" y="406"/>
                  </a:moveTo>
                  <a:lnTo>
                    <a:pt x="4565" y="260"/>
                  </a:lnTo>
                </a:path>
                <a:path w="6400" h="500" fill="none">
                  <a:moveTo>
                    <a:pt x="4635" y="94"/>
                  </a:moveTo>
                  <a:lnTo>
                    <a:pt x="4635" y="240"/>
                  </a:lnTo>
                </a:path>
                <a:path w="6400" h="500" fill="none">
                  <a:moveTo>
                    <a:pt x="4665" y="94"/>
                  </a:moveTo>
                  <a:lnTo>
                    <a:pt x="4665" y="240"/>
                  </a:lnTo>
                </a:path>
                <a:path w="6400" h="500" fill="none">
                  <a:moveTo>
                    <a:pt x="4635" y="406"/>
                  </a:moveTo>
                  <a:lnTo>
                    <a:pt x="4635" y="260"/>
                  </a:lnTo>
                </a:path>
                <a:path w="6400" h="500" fill="none">
                  <a:moveTo>
                    <a:pt x="4665" y="406"/>
                  </a:moveTo>
                  <a:lnTo>
                    <a:pt x="4665" y="260"/>
                  </a:lnTo>
                </a:path>
                <a:path w="6400" h="500" fill="none">
                  <a:moveTo>
                    <a:pt x="4735" y="94"/>
                  </a:moveTo>
                  <a:lnTo>
                    <a:pt x="4735" y="240"/>
                  </a:lnTo>
                </a:path>
                <a:path w="6400" h="500" fill="none">
                  <a:moveTo>
                    <a:pt x="4765" y="94"/>
                  </a:moveTo>
                  <a:lnTo>
                    <a:pt x="4765" y="240"/>
                  </a:lnTo>
                </a:path>
                <a:path w="6400" h="500" fill="none">
                  <a:moveTo>
                    <a:pt x="4735" y="406"/>
                  </a:moveTo>
                  <a:lnTo>
                    <a:pt x="4735" y="260"/>
                  </a:lnTo>
                </a:path>
                <a:path w="6400" h="500" fill="none">
                  <a:moveTo>
                    <a:pt x="4765" y="406"/>
                  </a:moveTo>
                  <a:lnTo>
                    <a:pt x="4765" y="260"/>
                  </a:lnTo>
                </a:path>
                <a:path w="6400" h="500" fill="none">
                  <a:moveTo>
                    <a:pt x="4835" y="94"/>
                  </a:moveTo>
                  <a:lnTo>
                    <a:pt x="4835" y="240"/>
                  </a:lnTo>
                </a:path>
                <a:path w="6400" h="500" fill="none">
                  <a:moveTo>
                    <a:pt x="4865" y="94"/>
                  </a:moveTo>
                  <a:lnTo>
                    <a:pt x="4865" y="240"/>
                  </a:lnTo>
                </a:path>
                <a:path w="6400" h="500" fill="none">
                  <a:moveTo>
                    <a:pt x="4835" y="406"/>
                  </a:moveTo>
                  <a:lnTo>
                    <a:pt x="4835" y="260"/>
                  </a:lnTo>
                </a:path>
                <a:path w="6400" h="500" fill="none">
                  <a:moveTo>
                    <a:pt x="4865" y="406"/>
                  </a:moveTo>
                  <a:lnTo>
                    <a:pt x="4865" y="260"/>
                  </a:lnTo>
                </a:path>
                <a:path w="6400" h="500" fill="none">
                  <a:moveTo>
                    <a:pt x="4935" y="94"/>
                  </a:moveTo>
                  <a:lnTo>
                    <a:pt x="4935" y="240"/>
                  </a:lnTo>
                </a:path>
                <a:path w="6400" h="500" fill="none">
                  <a:moveTo>
                    <a:pt x="4965" y="94"/>
                  </a:moveTo>
                  <a:lnTo>
                    <a:pt x="4965" y="240"/>
                  </a:lnTo>
                </a:path>
                <a:path w="6400" h="500" fill="none">
                  <a:moveTo>
                    <a:pt x="4935" y="406"/>
                  </a:moveTo>
                  <a:lnTo>
                    <a:pt x="4935" y="260"/>
                  </a:lnTo>
                </a:path>
                <a:path w="6400" h="500" fill="none">
                  <a:moveTo>
                    <a:pt x="4965" y="406"/>
                  </a:moveTo>
                  <a:lnTo>
                    <a:pt x="4965" y="260"/>
                  </a:lnTo>
                </a:path>
                <a:path w="6400" h="500" fill="none">
                  <a:moveTo>
                    <a:pt x="5035" y="94"/>
                  </a:moveTo>
                  <a:lnTo>
                    <a:pt x="5035" y="240"/>
                  </a:lnTo>
                </a:path>
                <a:path w="6400" h="500" fill="none">
                  <a:moveTo>
                    <a:pt x="5065" y="94"/>
                  </a:moveTo>
                  <a:lnTo>
                    <a:pt x="5065" y="240"/>
                  </a:lnTo>
                </a:path>
                <a:path w="6400" h="500" fill="none">
                  <a:moveTo>
                    <a:pt x="5035" y="406"/>
                  </a:moveTo>
                  <a:lnTo>
                    <a:pt x="5035" y="260"/>
                  </a:lnTo>
                </a:path>
                <a:path w="6400" h="500" fill="none">
                  <a:moveTo>
                    <a:pt x="5065" y="406"/>
                  </a:moveTo>
                  <a:lnTo>
                    <a:pt x="5065" y="260"/>
                  </a:lnTo>
                </a:path>
                <a:path w="6400" h="500" fill="none">
                  <a:moveTo>
                    <a:pt x="5135" y="94"/>
                  </a:moveTo>
                  <a:lnTo>
                    <a:pt x="5135" y="240"/>
                  </a:lnTo>
                </a:path>
                <a:path w="6400" h="500" fill="none">
                  <a:moveTo>
                    <a:pt x="5165" y="94"/>
                  </a:moveTo>
                  <a:lnTo>
                    <a:pt x="5165" y="240"/>
                  </a:lnTo>
                </a:path>
                <a:path w="6400" h="500" fill="none">
                  <a:moveTo>
                    <a:pt x="5135" y="406"/>
                  </a:moveTo>
                  <a:lnTo>
                    <a:pt x="5135" y="260"/>
                  </a:lnTo>
                </a:path>
                <a:path w="6400" h="500" fill="none">
                  <a:moveTo>
                    <a:pt x="5165" y="406"/>
                  </a:moveTo>
                  <a:lnTo>
                    <a:pt x="5165" y="260"/>
                  </a:lnTo>
                </a:path>
                <a:path w="6400" h="500" fill="none">
                  <a:moveTo>
                    <a:pt x="5235" y="94"/>
                  </a:moveTo>
                  <a:lnTo>
                    <a:pt x="5235" y="240"/>
                  </a:lnTo>
                </a:path>
                <a:path w="6400" h="500" fill="none">
                  <a:moveTo>
                    <a:pt x="5265" y="94"/>
                  </a:moveTo>
                  <a:lnTo>
                    <a:pt x="5265" y="240"/>
                  </a:lnTo>
                </a:path>
                <a:path w="6400" h="500" fill="none">
                  <a:moveTo>
                    <a:pt x="5235" y="406"/>
                  </a:moveTo>
                  <a:lnTo>
                    <a:pt x="5235" y="260"/>
                  </a:lnTo>
                </a:path>
                <a:path w="6400" h="500" fill="none">
                  <a:moveTo>
                    <a:pt x="5265" y="406"/>
                  </a:moveTo>
                  <a:lnTo>
                    <a:pt x="5265" y="260"/>
                  </a:lnTo>
                </a:path>
                <a:path w="6400" h="500" fill="none">
                  <a:moveTo>
                    <a:pt x="5335" y="94"/>
                  </a:moveTo>
                  <a:lnTo>
                    <a:pt x="5335" y="240"/>
                  </a:lnTo>
                </a:path>
                <a:path w="6400" h="500" fill="none">
                  <a:moveTo>
                    <a:pt x="5365" y="94"/>
                  </a:moveTo>
                  <a:lnTo>
                    <a:pt x="5365" y="240"/>
                  </a:lnTo>
                </a:path>
                <a:path w="6400" h="500" fill="none">
                  <a:moveTo>
                    <a:pt x="5335" y="406"/>
                  </a:moveTo>
                  <a:lnTo>
                    <a:pt x="5335" y="260"/>
                  </a:lnTo>
                </a:path>
                <a:path w="6400" h="500" fill="none">
                  <a:moveTo>
                    <a:pt x="5365" y="406"/>
                  </a:moveTo>
                  <a:lnTo>
                    <a:pt x="5365" y="260"/>
                  </a:lnTo>
                </a:path>
                <a:path w="6400" h="500" fill="none">
                  <a:moveTo>
                    <a:pt x="5435" y="94"/>
                  </a:moveTo>
                  <a:lnTo>
                    <a:pt x="5435" y="240"/>
                  </a:lnTo>
                </a:path>
                <a:path w="6400" h="500" fill="none">
                  <a:moveTo>
                    <a:pt x="5465" y="94"/>
                  </a:moveTo>
                  <a:lnTo>
                    <a:pt x="5465" y="240"/>
                  </a:lnTo>
                </a:path>
                <a:path w="6400" h="500" fill="none">
                  <a:moveTo>
                    <a:pt x="5435" y="406"/>
                  </a:moveTo>
                  <a:lnTo>
                    <a:pt x="5435" y="260"/>
                  </a:lnTo>
                </a:path>
                <a:path w="6400" h="500" fill="none">
                  <a:moveTo>
                    <a:pt x="5465" y="406"/>
                  </a:moveTo>
                  <a:lnTo>
                    <a:pt x="5465" y="260"/>
                  </a:lnTo>
                </a:path>
                <a:path w="6400" h="500" fill="none">
                  <a:moveTo>
                    <a:pt x="5535" y="94"/>
                  </a:moveTo>
                  <a:lnTo>
                    <a:pt x="5535" y="240"/>
                  </a:lnTo>
                </a:path>
                <a:path w="6400" h="500" fill="none">
                  <a:moveTo>
                    <a:pt x="5565" y="94"/>
                  </a:moveTo>
                  <a:lnTo>
                    <a:pt x="5565" y="240"/>
                  </a:lnTo>
                </a:path>
                <a:path w="6400" h="500" fill="none">
                  <a:moveTo>
                    <a:pt x="5535" y="406"/>
                  </a:moveTo>
                  <a:lnTo>
                    <a:pt x="5535" y="260"/>
                  </a:lnTo>
                </a:path>
                <a:path w="6400" h="500" fill="none">
                  <a:moveTo>
                    <a:pt x="5565" y="406"/>
                  </a:moveTo>
                  <a:lnTo>
                    <a:pt x="5565" y="260"/>
                  </a:lnTo>
                </a:path>
                <a:path w="6400" h="500" fill="none">
                  <a:moveTo>
                    <a:pt x="5635" y="94"/>
                  </a:moveTo>
                  <a:lnTo>
                    <a:pt x="5635" y="240"/>
                  </a:lnTo>
                </a:path>
                <a:path w="6400" h="500" fill="none">
                  <a:moveTo>
                    <a:pt x="5665" y="94"/>
                  </a:moveTo>
                  <a:lnTo>
                    <a:pt x="5665" y="240"/>
                  </a:lnTo>
                </a:path>
                <a:path w="6400" h="500" fill="none">
                  <a:moveTo>
                    <a:pt x="5635" y="406"/>
                  </a:moveTo>
                  <a:lnTo>
                    <a:pt x="5635" y="260"/>
                  </a:lnTo>
                </a:path>
                <a:path w="6400" h="500" fill="none">
                  <a:moveTo>
                    <a:pt x="5665" y="406"/>
                  </a:moveTo>
                  <a:lnTo>
                    <a:pt x="5665" y="260"/>
                  </a:lnTo>
                </a:path>
                <a:path w="6400" h="500" fill="none">
                  <a:moveTo>
                    <a:pt x="5735" y="94"/>
                  </a:moveTo>
                  <a:lnTo>
                    <a:pt x="5735" y="240"/>
                  </a:lnTo>
                </a:path>
                <a:path w="6400" h="500" fill="none">
                  <a:moveTo>
                    <a:pt x="5765" y="94"/>
                  </a:moveTo>
                  <a:lnTo>
                    <a:pt x="5765" y="240"/>
                  </a:lnTo>
                </a:path>
                <a:path w="6400" h="500" fill="none">
                  <a:moveTo>
                    <a:pt x="5735" y="406"/>
                  </a:moveTo>
                  <a:lnTo>
                    <a:pt x="5735" y="260"/>
                  </a:lnTo>
                </a:path>
                <a:path w="6400" h="500" fill="none">
                  <a:moveTo>
                    <a:pt x="5765" y="406"/>
                  </a:moveTo>
                  <a:lnTo>
                    <a:pt x="5765" y="260"/>
                  </a:lnTo>
                </a:path>
                <a:path w="6400" h="500" fill="none">
                  <a:moveTo>
                    <a:pt x="5835" y="94"/>
                  </a:moveTo>
                  <a:lnTo>
                    <a:pt x="5835" y="240"/>
                  </a:lnTo>
                </a:path>
                <a:path w="6400" h="500" fill="none">
                  <a:moveTo>
                    <a:pt x="5865" y="94"/>
                  </a:moveTo>
                  <a:lnTo>
                    <a:pt x="5865" y="240"/>
                  </a:lnTo>
                </a:path>
                <a:path w="6400" h="500" fill="none">
                  <a:moveTo>
                    <a:pt x="5835" y="406"/>
                  </a:moveTo>
                  <a:lnTo>
                    <a:pt x="5835" y="260"/>
                  </a:lnTo>
                </a:path>
                <a:path w="6400" h="500" fill="none">
                  <a:moveTo>
                    <a:pt x="5865" y="406"/>
                  </a:moveTo>
                  <a:lnTo>
                    <a:pt x="5865" y="260"/>
                  </a:lnTo>
                </a:path>
                <a:path w="6400" h="500" fill="none">
                  <a:moveTo>
                    <a:pt x="5935" y="94"/>
                  </a:moveTo>
                  <a:lnTo>
                    <a:pt x="5935" y="240"/>
                  </a:lnTo>
                </a:path>
                <a:path w="6400" h="500" fill="none">
                  <a:moveTo>
                    <a:pt x="5965" y="94"/>
                  </a:moveTo>
                  <a:lnTo>
                    <a:pt x="5965" y="240"/>
                  </a:lnTo>
                </a:path>
                <a:path w="6400" h="500" fill="none">
                  <a:moveTo>
                    <a:pt x="5935" y="406"/>
                  </a:moveTo>
                  <a:lnTo>
                    <a:pt x="5935" y="260"/>
                  </a:lnTo>
                </a:path>
                <a:path w="6400" h="500" fill="none">
                  <a:moveTo>
                    <a:pt x="5965" y="406"/>
                  </a:moveTo>
                  <a:lnTo>
                    <a:pt x="5965" y="260"/>
                  </a:lnTo>
                </a:path>
                <a:path w="6400" h="500" fill="none">
                  <a:moveTo>
                    <a:pt x="6035" y="94"/>
                  </a:moveTo>
                  <a:lnTo>
                    <a:pt x="6035" y="240"/>
                  </a:lnTo>
                </a:path>
                <a:path w="6400" h="500" fill="none">
                  <a:moveTo>
                    <a:pt x="6065" y="94"/>
                  </a:moveTo>
                  <a:lnTo>
                    <a:pt x="6065" y="240"/>
                  </a:lnTo>
                </a:path>
                <a:path w="6400" h="500" fill="none">
                  <a:moveTo>
                    <a:pt x="6035" y="406"/>
                  </a:moveTo>
                  <a:lnTo>
                    <a:pt x="6035" y="260"/>
                  </a:lnTo>
                </a:path>
                <a:path w="6400" h="500" fill="none">
                  <a:moveTo>
                    <a:pt x="6065" y="406"/>
                  </a:moveTo>
                  <a:lnTo>
                    <a:pt x="6065" y="260"/>
                  </a:lnTo>
                </a:path>
                <a:path w="6400" h="500" fill="none">
                  <a:moveTo>
                    <a:pt x="6135" y="94"/>
                  </a:moveTo>
                  <a:lnTo>
                    <a:pt x="6135" y="240"/>
                  </a:lnTo>
                </a:path>
                <a:path w="6400" h="500" fill="none">
                  <a:moveTo>
                    <a:pt x="6165" y="94"/>
                  </a:moveTo>
                  <a:lnTo>
                    <a:pt x="6165" y="240"/>
                  </a:lnTo>
                </a:path>
                <a:path w="6400" h="500" fill="none">
                  <a:moveTo>
                    <a:pt x="6135" y="406"/>
                  </a:moveTo>
                  <a:lnTo>
                    <a:pt x="6135" y="260"/>
                  </a:lnTo>
                </a:path>
                <a:path w="6400" h="500" fill="none">
                  <a:moveTo>
                    <a:pt x="6165" y="406"/>
                  </a:moveTo>
                  <a:lnTo>
                    <a:pt x="6165" y="260"/>
                  </a:lnTo>
                </a:path>
                <a:path w="6400" h="500" fill="none">
                  <a:moveTo>
                    <a:pt x="6235" y="94"/>
                  </a:moveTo>
                  <a:lnTo>
                    <a:pt x="6235" y="240"/>
                  </a:lnTo>
                </a:path>
                <a:path w="6400" h="500" fill="none">
                  <a:moveTo>
                    <a:pt x="6265" y="94"/>
                  </a:moveTo>
                  <a:lnTo>
                    <a:pt x="6265" y="240"/>
                  </a:lnTo>
                </a:path>
                <a:path w="6400" h="500" fill="none">
                  <a:moveTo>
                    <a:pt x="6235" y="406"/>
                  </a:moveTo>
                  <a:lnTo>
                    <a:pt x="6235" y="260"/>
                  </a:lnTo>
                </a:path>
                <a:path w="6400" h="500" fill="none">
                  <a:moveTo>
                    <a:pt x="6265" y="406"/>
                  </a:moveTo>
                  <a:lnTo>
                    <a:pt x="6265" y="260"/>
                  </a:lnTo>
                </a:path>
                <a:path w="6400" h="500" fill="none">
                  <a:moveTo>
                    <a:pt x="6335" y="94"/>
                  </a:moveTo>
                  <a:lnTo>
                    <a:pt x="6335" y="240"/>
                  </a:lnTo>
                </a:path>
                <a:path w="6400" h="500" fill="none">
                  <a:moveTo>
                    <a:pt x="6365" y="94"/>
                  </a:moveTo>
                  <a:lnTo>
                    <a:pt x="6365" y="240"/>
                  </a:lnTo>
                </a:path>
                <a:path w="6400" h="500" fill="none">
                  <a:moveTo>
                    <a:pt x="6335" y="406"/>
                  </a:moveTo>
                  <a:lnTo>
                    <a:pt x="6335" y="260"/>
                  </a:lnTo>
                </a:path>
                <a:path w="6400" h="500" fill="none">
                  <a:moveTo>
                    <a:pt x="6365" y="406"/>
                  </a:moveTo>
                  <a:lnTo>
                    <a:pt x="6365" y="260"/>
                  </a:lnTo>
                </a:path>
              </a:pathLst>
            </a:custGeom>
            <a:noFill/>
            <a:ln w="9525" cap="rnd">
              <a:solidFill>
                <a:srgbClr val="A49887"/>
              </a:solidFill>
              <a:round/>
            </a:ln>
          </p:spPr>
        </p:sp>
      </p:grpSp>
      <p:sp>
        <p:nvSpPr>
          <p:cNvPr id="11" name="Forma 10"/>
          <p:cNvSpPr txBox="1"/>
          <p:nvPr/>
        </p:nvSpPr>
        <p:spPr>
          <a:xfrm>
            <a:off x="457200" y="1051560"/>
            <a:ext cx="5852160" cy="347472"/>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CAPILAR DEL ISLOTE → VENA PORTA</a:t>
            </a:r>
            <a:endParaRPr lang="es-AR" sz="1300" dirty="0">
              <a:latin typeface="Fira Sans Condensed"/>
            </a:endParaRPr>
          </a:p>
        </p:txBody>
      </p:sp>
      <p:grpSp>
        <p:nvGrpSpPr>
          <p:cNvPr id="12" name="Gránulo exo 0"/>
          <p:cNvGrpSpPr/>
          <p:nvPr/>
        </p:nvGrpSpPr>
        <p:grpSpPr>
          <a:xfrm>
            <a:off x="914400" y="2743200"/>
            <a:ext cx="822960" cy="822960"/>
            <a:chOff x="914400" y="2743200"/>
            <a:chExt cx="822960" cy="822960"/>
          </a:xfrm>
        </p:grpSpPr>
        <p:sp>
          <p:nvSpPr>
            <p:cNvPr id="13" name="Forma 12"/>
            <p:cNvSpPr/>
            <p:nvPr/>
          </p:nvSpPr>
          <p:spPr>
            <a:xfrm>
              <a:off x="914400" y="2743200"/>
              <a:ext cx="822960" cy="82296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14" name="Forma 13"/>
            <p:cNvSpPr/>
            <p:nvPr/>
          </p:nvSpPr>
          <p:spPr>
            <a:xfrm>
              <a:off x="1161288" y="2990088"/>
              <a:ext cx="329184" cy="329184"/>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15" name="Gránulo exo 1"/>
          <p:cNvGrpSpPr/>
          <p:nvPr/>
        </p:nvGrpSpPr>
        <p:grpSpPr>
          <a:xfrm>
            <a:off x="2286000" y="3291840"/>
            <a:ext cx="822960" cy="822960"/>
            <a:chOff x="2286000" y="3291840"/>
            <a:chExt cx="822960" cy="822960"/>
          </a:xfrm>
        </p:grpSpPr>
        <p:sp>
          <p:nvSpPr>
            <p:cNvPr id="16" name="Forma 15"/>
            <p:cNvSpPr/>
            <p:nvPr/>
          </p:nvSpPr>
          <p:spPr>
            <a:xfrm>
              <a:off x="2286000" y="3291840"/>
              <a:ext cx="822960" cy="82296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17" name="Forma 16"/>
            <p:cNvSpPr/>
            <p:nvPr/>
          </p:nvSpPr>
          <p:spPr>
            <a:xfrm>
              <a:off x="2532888" y="3538728"/>
              <a:ext cx="329184" cy="329184"/>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18" name="Gránulo exo 2"/>
          <p:cNvGrpSpPr/>
          <p:nvPr/>
        </p:nvGrpSpPr>
        <p:grpSpPr>
          <a:xfrm>
            <a:off x="3657600" y="2743200"/>
            <a:ext cx="822960" cy="822960"/>
            <a:chOff x="3657600" y="2743200"/>
            <a:chExt cx="822960" cy="822960"/>
          </a:xfrm>
        </p:grpSpPr>
        <p:sp>
          <p:nvSpPr>
            <p:cNvPr id="19" name="Forma 18"/>
            <p:cNvSpPr/>
            <p:nvPr/>
          </p:nvSpPr>
          <p:spPr>
            <a:xfrm>
              <a:off x="3657600" y="2743200"/>
              <a:ext cx="822960" cy="82296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20" name="Forma 19"/>
            <p:cNvSpPr/>
            <p:nvPr/>
          </p:nvSpPr>
          <p:spPr>
            <a:xfrm>
              <a:off x="3904488" y="2990088"/>
              <a:ext cx="329184" cy="329184"/>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grpSp>
        <p:nvGrpSpPr>
          <p:cNvPr id="21" name="Gránulo exo 3"/>
          <p:cNvGrpSpPr/>
          <p:nvPr/>
        </p:nvGrpSpPr>
        <p:grpSpPr>
          <a:xfrm>
            <a:off x="5029200" y="3291840"/>
            <a:ext cx="822960" cy="822960"/>
            <a:chOff x="5029200" y="3291840"/>
            <a:chExt cx="822960" cy="822960"/>
          </a:xfrm>
        </p:grpSpPr>
        <p:sp>
          <p:nvSpPr>
            <p:cNvPr id="22" name="Forma 21"/>
            <p:cNvSpPr/>
            <p:nvPr/>
          </p:nvSpPr>
          <p:spPr>
            <a:xfrm>
              <a:off x="5029200" y="3291840"/>
              <a:ext cx="822960" cy="822960"/>
            </a:xfrm>
            <a:prstGeom prst="ellipse">
              <a:avLst/>
            </a:prstGeom>
            <a:gradFill rotWithShape="1">
              <a:gsLst>
                <a:gs pos="0">
                  <a:srgbClr val="FFFFFF"/>
                </a:gs>
                <a:gs pos="100000">
                  <a:srgbClr val="D6E4F5"/>
                </a:gs>
              </a:gsLst>
              <a:path path="circle">
                <a:fillToRect l="40000" t="40000" r="60000" b="60000"/>
              </a:path>
            </a:gradFill>
            <a:ln w="12700" cap="rnd">
              <a:solidFill>
                <a:srgbClr val="5B7DB1"/>
              </a:solidFill>
              <a:round/>
            </a:ln>
          </p:spPr>
        </p:sp>
        <p:sp>
          <p:nvSpPr>
            <p:cNvPr id="23" name="Forma 22"/>
            <p:cNvSpPr/>
            <p:nvPr/>
          </p:nvSpPr>
          <p:spPr>
            <a:xfrm>
              <a:off x="5276088" y="3538728"/>
              <a:ext cx="329184" cy="329184"/>
            </a:xfrm>
            <a:prstGeom prst="ellipse">
              <a:avLst/>
            </a:prstGeom>
            <a:gradFill rotWithShape="1">
              <a:gsLst>
                <a:gs pos="0">
                  <a:srgbClr val="6283B8"/>
                </a:gs>
                <a:gs pos="55000">
                  <a:srgbClr val="1F4E9A"/>
                </a:gs>
                <a:gs pos="100000">
                  <a:srgbClr val="183E7B"/>
                </a:gs>
              </a:gsLst>
              <a:path path="circle">
                <a:fillToRect l="32000" t="28000" r="68000" b="72000"/>
              </a:path>
            </a:gradFill>
            <a:ln>
              <a:noFill/>
            </a:ln>
          </p:spPr>
        </p:sp>
      </p:grpSp>
      <p:sp>
        <p:nvSpPr>
          <p:cNvPr id="24" name="Ca exo 0"/>
          <p:cNvSpPr/>
          <p:nvPr/>
        </p:nvSpPr>
        <p:spPr>
          <a:xfrm>
            <a:off x="1280160" y="2057400"/>
            <a:ext cx="347472" cy="347472"/>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68" b="1" dirty="0">
                <a:solidFill>
                  <a:srgbClr val="FFFFFF"/>
                </a:solidFill>
                <a:latin typeface="Fira Sans Condensed"/>
                <a:ea typeface="Fira Sans Condensed"/>
                <a:cs typeface="Fira Sans Condensed"/>
                <a:sym typeface="Fira Sans Condensed"/>
              </a:rPr>
              <a:t>Ca</a:t>
            </a:r>
            <a:r>
              <a:rPr lang="es-AR" sz="868" b="1" baseline="30000" dirty="0">
                <a:solidFill>
                  <a:srgbClr val="FFFFFF"/>
                </a:solidFill>
                <a:latin typeface="Fira Sans Condensed"/>
                <a:ea typeface="Fira Sans Condensed"/>
                <a:cs typeface="Fira Sans Condensed"/>
                <a:sym typeface="Fira Sans Condensed"/>
              </a:rPr>
              <a:t>2+</a:t>
            </a:r>
            <a:endParaRPr lang="es-AR" sz="868" dirty="0">
              <a:latin typeface="Fira Sans Condensed"/>
            </a:endParaRPr>
          </a:p>
        </p:txBody>
      </p:sp>
      <p:sp>
        <p:nvSpPr>
          <p:cNvPr id="25" name="Ca exo 1"/>
          <p:cNvSpPr/>
          <p:nvPr/>
        </p:nvSpPr>
        <p:spPr>
          <a:xfrm>
            <a:off x="2651760" y="2057400"/>
            <a:ext cx="347472" cy="347472"/>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68" b="1" dirty="0">
                <a:solidFill>
                  <a:srgbClr val="FFFFFF"/>
                </a:solidFill>
                <a:latin typeface="Fira Sans Condensed"/>
                <a:ea typeface="Fira Sans Condensed"/>
                <a:cs typeface="Fira Sans Condensed"/>
                <a:sym typeface="Fira Sans Condensed"/>
              </a:rPr>
              <a:t>Ca</a:t>
            </a:r>
            <a:r>
              <a:rPr lang="es-AR" sz="868" b="1" baseline="30000" dirty="0">
                <a:solidFill>
                  <a:srgbClr val="FFFFFF"/>
                </a:solidFill>
                <a:latin typeface="Fira Sans Condensed"/>
                <a:ea typeface="Fira Sans Condensed"/>
                <a:cs typeface="Fira Sans Condensed"/>
                <a:sym typeface="Fira Sans Condensed"/>
              </a:rPr>
              <a:t>2+</a:t>
            </a:r>
            <a:endParaRPr lang="es-AR" sz="868" dirty="0">
              <a:latin typeface="Fira Sans Condensed"/>
            </a:endParaRPr>
          </a:p>
        </p:txBody>
      </p:sp>
      <p:sp>
        <p:nvSpPr>
          <p:cNvPr id="26" name="Ca exo 2"/>
          <p:cNvSpPr/>
          <p:nvPr/>
        </p:nvSpPr>
        <p:spPr>
          <a:xfrm>
            <a:off x="4023360" y="2057400"/>
            <a:ext cx="347472" cy="347472"/>
          </a:xfrm>
          <a:prstGeom prst="ellipse">
            <a:avLst/>
          </a:prstGeom>
          <a:gradFill rotWithShape="1">
            <a:gsLst>
              <a:gs pos="0">
                <a:srgbClr val="EF8A80"/>
              </a:gs>
              <a:gs pos="55000">
                <a:srgbClr val="E74C3C"/>
              </a:gs>
              <a:gs pos="100000">
                <a:srgbClr val="B83C30"/>
              </a:gs>
            </a:gsLst>
            <a:path path="circle">
              <a:fillToRect l="32000" t="28000" r="68000" b="72000"/>
            </a:path>
          </a:gradFill>
          <a:ln w="12700" cap="rnd">
            <a:solidFill>
              <a:srgbClr val="7F2921"/>
            </a:solidFill>
            <a:round/>
          </a:ln>
        </p:spPr>
        <p:txBody>
          <a:bodyPr wrap="square" lIns="0" tIns="0" rIns="0" bIns="0" anchor="ctr" rtlCol="0">
            <a:noAutofit/>
          </a:bodyPr>
          <a:lstStyle/>
          <a:p>
            <a:pPr algn="ctr">
              <a:spcAft>
                <a:spcPts val="300"/>
              </a:spcAft>
              <a:buNone/>
            </a:pPr>
            <a:r>
              <a:rPr lang="es-AR" sz="868" b="1" dirty="0">
                <a:solidFill>
                  <a:srgbClr val="FFFFFF"/>
                </a:solidFill>
                <a:latin typeface="Fira Sans Condensed"/>
                <a:ea typeface="Fira Sans Condensed"/>
                <a:cs typeface="Fira Sans Condensed"/>
                <a:sym typeface="Fira Sans Condensed"/>
              </a:rPr>
              <a:t>Ca</a:t>
            </a:r>
            <a:r>
              <a:rPr lang="es-AR" sz="868" b="1" baseline="30000" dirty="0">
                <a:solidFill>
                  <a:srgbClr val="FFFFFF"/>
                </a:solidFill>
                <a:latin typeface="Fira Sans Condensed"/>
                <a:ea typeface="Fira Sans Condensed"/>
                <a:cs typeface="Fira Sans Condensed"/>
                <a:sym typeface="Fira Sans Condensed"/>
              </a:rPr>
              <a:t>2+</a:t>
            </a:r>
            <a:endParaRPr lang="es-AR" sz="868" dirty="0">
              <a:latin typeface="Fira Sans Condensed"/>
            </a:endParaRPr>
          </a:p>
        </p:txBody>
      </p:sp>
      <p:sp>
        <p:nvSpPr>
          <p:cNvPr id="27" name="Ins libre 0"/>
          <p:cNvSpPr/>
          <p:nvPr/>
        </p:nvSpPr>
        <p:spPr>
          <a:xfrm>
            <a:off x="1097280" y="1554480"/>
            <a:ext cx="365760" cy="36576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Ins</a:t>
            </a:r>
            <a:endParaRPr lang="es-AR" sz="1040" dirty="0">
              <a:latin typeface="Fira Sans Condensed"/>
            </a:endParaRPr>
          </a:p>
        </p:txBody>
      </p:sp>
      <p:sp>
        <p:nvSpPr>
          <p:cNvPr id="28" name="Ins libre 1"/>
          <p:cNvSpPr/>
          <p:nvPr/>
        </p:nvSpPr>
        <p:spPr>
          <a:xfrm>
            <a:off x="2468880" y="1554480"/>
            <a:ext cx="365760" cy="36576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Ins</a:t>
            </a:r>
            <a:endParaRPr lang="es-AR" sz="1040" dirty="0">
              <a:latin typeface="Fira Sans Condensed"/>
            </a:endParaRPr>
          </a:p>
        </p:txBody>
      </p:sp>
      <p:sp>
        <p:nvSpPr>
          <p:cNvPr id="29" name="Ins libre 2"/>
          <p:cNvSpPr/>
          <p:nvPr/>
        </p:nvSpPr>
        <p:spPr>
          <a:xfrm>
            <a:off x="3840480" y="1554480"/>
            <a:ext cx="365760" cy="36576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Ins</a:t>
            </a:r>
            <a:endParaRPr lang="es-AR" sz="1040" dirty="0">
              <a:latin typeface="Fira Sans Condensed"/>
            </a:endParaRPr>
          </a:p>
        </p:txBody>
      </p:sp>
      <p:graphicFrame>
        <p:nvGraphicFramePr>
          <p:cNvPr id="30" name="Bifásica"/>
          <p:cNvGraphicFramePr>
            <a:graphicFrameLocks noGrp="1"/>
          </p:cNvGraphicFramePr>
          <p:nvPr/>
        </p:nvGraphicFramePr>
        <p:xfrm>
          <a:off x="6583680" y="1051560"/>
          <a:ext cx="5303520" cy="3108960"/>
        </p:xfrm>
        <a:graphic>
          <a:graphicData uri="http://schemas.openxmlformats.org/drawingml/2006/chart">
            <c:chart xmlns:c="http://schemas.openxmlformats.org/drawingml/2006/chart" r:id="rId2"/>
          </a:graphicData>
        </a:graphic>
      </p:graphicFrame>
      <p:grpSp>
        <p:nvGrpSpPr>
          <p:cNvPr id="31" name="Cuadro Dos fases"/>
          <p:cNvGrpSpPr/>
          <p:nvPr/>
        </p:nvGrpSpPr>
        <p:grpSpPr>
          <a:xfrm>
            <a:off x="457200" y="4343400"/>
            <a:ext cx="11430000" cy="1874520"/>
            <a:chOff x="457200" y="4343400"/>
            <a:chExt cx="11430000" cy="1874520"/>
          </a:xfrm>
        </p:grpSpPr>
        <p:sp>
          <p:nvSpPr>
            <p:cNvPr id="32" name="Forma 30"/>
            <p:cNvSpPr/>
            <p:nvPr/>
          </p:nvSpPr>
          <p:spPr>
            <a:xfrm>
              <a:off x="457200" y="4544568"/>
              <a:ext cx="11430000" cy="16733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Primera fase</a:t>
              </a:r>
              <a:r>
                <a:rPr lang="es-AR" sz="1500" dirty="0">
                  <a:solidFill>
                    <a:srgbClr val="1E1E1E"/>
                  </a:solidFill>
                  <a:latin typeface="Fira Sans Condensed"/>
                  <a:ea typeface="Fira Sans Condensed"/>
                  <a:cs typeface="Fira Sans Condensed"/>
                  <a:sym typeface="Fira Sans Condensed"/>
                </a:rPr>
                <a:t> (minutos): fusión de gránulos ya </a:t>
              </a:r>
              <a:r>
                <a:rPr lang="es-AR" sz="1500" b="1" dirty="0">
                  <a:solidFill>
                    <a:srgbClr val="1E1E1E"/>
                  </a:solidFill>
                  <a:latin typeface="Fira Sans Condensed"/>
                  <a:ea typeface="Fira Sans Condensed"/>
                  <a:cs typeface="Fira Sans Condensed"/>
                  <a:sym typeface="Fira Sans Condensed"/>
                </a:rPr>
                <a:t>anclados</a:t>
              </a:r>
              <a:r>
                <a:rPr lang="es-AR" sz="1500" dirty="0">
                  <a:solidFill>
                    <a:srgbClr val="1E1E1E"/>
                  </a:solidFill>
                  <a:latin typeface="Fira Sans Condensed"/>
                  <a:ea typeface="Fira Sans Condensed"/>
                  <a:cs typeface="Fira Sans Condensed"/>
                  <a:sym typeface="Fira Sans Condensed"/>
                </a:rPr>
                <a:t> y preparados junto a la membrana.</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Segunda fase</a:t>
              </a:r>
              <a:r>
                <a:rPr lang="es-AR" sz="1500" dirty="0">
                  <a:solidFill>
                    <a:srgbClr val="1E1E1E"/>
                  </a:solidFill>
                  <a:latin typeface="Fira Sans Condensed"/>
                  <a:ea typeface="Fira Sans Condensed"/>
                  <a:cs typeface="Fira Sans Condensed"/>
                  <a:sym typeface="Fira Sans Condensed"/>
                </a:rPr>
                <a:t> (sostenida): reclutamiento de nuevos gránulos, amplificada por señales metabólicas e </a:t>
              </a:r>
              <a:r>
                <a:rPr lang="es-AR" sz="1500" b="1" dirty="0">
                  <a:solidFill>
                    <a:srgbClr val="1E1E1E"/>
                  </a:solidFill>
                  <a:latin typeface="Fira Sans Condensed"/>
                  <a:ea typeface="Fira Sans Condensed"/>
                  <a:cs typeface="Fira Sans Condensed"/>
                  <a:sym typeface="Fira Sans Condensed"/>
                </a:rPr>
                <a:t>incretinas</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La pérdida precoz de la primera fase es característica de la disfunción β que precede a la DM2.</a:t>
              </a:r>
              <a:endParaRPr lang="es-AR" sz="1500" dirty="0">
                <a:latin typeface="Fira Sans Condensed"/>
              </a:endParaRPr>
            </a:p>
          </p:txBody>
        </p:sp>
        <p:sp>
          <p:nvSpPr>
            <p:cNvPr id="33" name="Forma 31"/>
            <p:cNvSpPr/>
            <p:nvPr/>
          </p:nvSpPr>
          <p:spPr>
            <a:xfrm>
              <a:off x="594360" y="4343400"/>
              <a:ext cx="120052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DOS FASES</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EXOCITOSIS DE CERCA Y SECRECIÓN BIFÁSICA</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200"/>
                                        <p:tgtEl>
                                          <p:spTgt spid="24"/>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200"/>
                                        <p:tgtEl>
                                          <p:spTgt spid="25"/>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200"/>
                                        <p:tgtEl>
                                          <p:spTgt spid="26"/>
                                        </p:tgtEl>
                                      </p:cBhvr>
                                    </p:animEffect>
                                  </p:childTnLst>
                                </p:cTn>
                              </p:par>
                            </p:childTnLst>
                          </p:cTn>
                        </p:par>
                      </p:childTnLst>
                    </p:cTn>
                  </p:par>
                  <p:par>
                    <p:cTn id="23" fill="hold">
                      <p:stCondLst>
                        <p:cond delay="indefinite"/>
                      </p:stCondLst>
                      <p:childTnLst>
                        <p:par>
                          <p:cTn id="22" fill="hold">
                            <p:stCondLst>
                              <p:cond delay="0"/>
                            </p:stCondLst>
                            <p:childTnLst>
                              <p:par>
                                <p:cTn id="16" presetID="0" presetClass="path" presetSubtype="0" accel="20000" decel="20000" fill="hold" grpId="0" nodeType="clickEffect">
                                  <p:stCondLst>
                                    <p:cond delay="0"/>
                                  </p:stCondLst>
                                  <p:childTnLst>
                                    <p:animMotion origin="layout" path="M 0 0 L 0.0000 -0.1333 E" pathEditMode="relative" ptsTypes="">
                                      <p:cBhvr>
                                        <p:cTn id="17" dur="1000" fill="hold"/>
                                        <p:tgtEl>
                                          <p:spTgt spid="12"/>
                                        </p:tgtEl>
                                        <p:attrNameLst>
                                          <p:attrName>ppt_x</p:attrName>
                                          <p:attrName>ppt_y</p:attrName>
                                        </p:attrNameLst>
                                      </p:cBhvr>
                                      <p:rCtr x="0" y="-6666"/>
                                    </p:animMotion>
                                  </p:childTnLst>
                                </p:cTn>
                              </p:par>
                              <p:par>
                                <p:cTn id="18" presetID="0" presetClass="path" presetSubtype="0" accel="20000" decel="20000" fill="hold" grpId="0" nodeType="withEffect">
                                  <p:stCondLst>
                                    <p:cond delay="0"/>
                                  </p:stCondLst>
                                  <p:childTnLst>
                                    <p:animMotion origin="layout" path="M 0 0 L 0.0000 -0.2133 E" pathEditMode="relative" ptsTypes="">
                                      <p:cBhvr>
                                        <p:cTn id="19" dur="1000" fill="hold"/>
                                        <p:tgtEl>
                                          <p:spTgt spid="15"/>
                                        </p:tgtEl>
                                        <p:attrNameLst>
                                          <p:attrName>ppt_x</p:attrName>
                                          <p:attrName>ppt_y</p:attrName>
                                        </p:attrNameLst>
                                      </p:cBhvr>
                                      <p:rCtr x="0" y="-10666"/>
                                    </p:animMotion>
                                  </p:childTnLst>
                                </p:cTn>
                              </p:par>
                              <p:par>
                                <p:cTn id="20" presetID="0" presetClass="path" presetSubtype="0" accel="20000" decel="20000" fill="hold" grpId="0" nodeType="withEffect">
                                  <p:stCondLst>
                                    <p:cond delay="0"/>
                                  </p:stCondLst>
                                  <p:childTnLst>
                                    <p:animMotion origin="layout" path="M 0 0 L 0.0000 -0.1333 E" pathEditMode="relative" ptsTypes="">
                                      <p:cBhvr>
                                        <p:cTn id="21" dur="1000" fill="hold"/>
                                        <p:tgtEl>
                                          <p:spTgt spid="18"/>
                                        </p:tgtEl>
                                        <p:attrNameLst>
                                          <p:attrName>ppt_x</p:attrName>
                                          <p:attrName>ppt_y</p:attrName>
                                        </p:attrNameLst>
                                      </p:cBhvr>
                                      <p:rCtr x="0" y="-6666"/>
                                    </p:animMotion>
                                  </p:childTnLst>
                                </p:cTn>
                              </p:par>
                            </p:childTnLst>
                          </p:cTn>
                        </p:par>
                      </p:childTnLst>
                    </p:cTn>
                  </p:par>
                  <p:par>
                    <p:cTn id="38"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250"/>
                                        <p:tgtEl>
                                          <p:spTgt spid="27"/>
                                        </p:tgtEl>
                                      </p:cBhvr>
                                    </p:animEffect>
                                  </p:childTnLst>
                                </p:cTn>
                              </p:par>
                            </p:childTnLst>
                          </p:cTn>
                        </p:par>
                        <p:par>
                          <p:cTn id="31" fill="hold">
                            <p:stCondLst>
                              <p:cond delay="250"/>
                            </p:stCondLst>
                            <p:childTnLst>
                              <p:par>
                                <p:cTn id="28" presetID="10" presetClass="entr" presetSubtype="0"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250"/>
                                        <p:tgtEl>
                                          <p:spTgt spid="28"/>
                                        </p:tgtEl>
                                      </p:cBhvr>
                                    </p:animEffect>
                                  </p:childTnLst>
                                </p:cTn>
                              </p:par>
                            </p:childTnLst>
                          </p:cTn>
                        </p:par>
                        <p:par>
                          <p:cTn id="37"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50"/>
                                        <p:tgtEl>
                                          <p:spTgt spid="29"/>
                                        </p:tgtEl>
                                      </p:cBhvr>
                                    </p:animEffect>
                                  </p:childTnLst>
                                </p:cTn>
                              </p:par>
                              <p:par>
                                <p:cTn id="35" presetID="0" presetClass="path" presetSubtype="0" accel="20000" decel="20000" fill="hold" grpId="0" nodeType="withEffect">
                                  <p:stCondLst>
                                    <p:cond delay="0"/>
                                  </p:stCondLst>
                                  <p:childTnLst>
                                    <p:animMotion origin="layout" path="M 0 0 L 0.0000 -0.0800 E" pathEditMode="relative" ptsTypes="">
                                      <p:cBhvr>
                                        <p:cTn id="36" dur="900" fill="hold"/>
                                        <p:tgtEl>
                                          <p:spTgt spid="27"/>
                                        </p:tgtEl>
                                        <p:attrNameLst>
                                          <p:attrName>ppt_x</p:attrName>
                                          <p:attrName>ppt_y</p:attrName>
                                        </p:attrNameLst>
                                      </p:cBhvr>
                                      <p:rCtr x="0" y="-4000"/>
                                    </p:animMotion>
                                  </p:childTnLst>
                                </p:cTn>
                              </p:par>
                            </p:childTnLst>
                          </p:cTn>
                        </p:par>
                      </p:childTnLst>
                    </p:cTn>
                  </p:par>
                  <p:par>
                    <p:cTn id="43" fill="hold">
                      <p:stCondLst>
                        <p:cond delay="indefinite"/>
                      </p:stCondLst>
                      <p:childTnLst>
                        <p:par>
                          <p:cTn id="42"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Intestino" descr="Ilustración biomédica (Servier Medical Art, CC BY)"/>
          <p:cNvPicPr>
            <a:picLocks noChangeAspect="1"/>
          </p:cNvPicPr>
          <p:nvPr/>
        </p:nvPicPr>
        <p:blipFill>
          <a:blip r:embed="rId2"/>
          <a:stretch>
            <a:fillRect/>
          </a:stretch>
        </p:blipFill>
        <p:spPr>
          <a:xfrm>
            <a:off x="365760" y="1097280"/>
            <a:ext cx="2011680" cy="1997311"/>
          </a:xfrm>
          <a:prstGeom prst="rect">
            <a:avLst/>
          </a:prstGeom>
        </p:spPr>
      </p:pic>
      <p:sp>
        <p:nvSpPr>
          <p:cNvPr id="7" name="Flecha gut→r"/>
          <p:cNvSpPr/>
          <p:nvPr/>
        </p:nvSpPr>
        <p:spPr>
          <a:xfrm>
            <a:off x="3611880" y="186537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8" name="Flecha r→gs"/>
          <p:cNvSpPr/>
          <p:nvPr/>
        </p:nvSpPr>
        <p:spPr>
          <a:xfrm>
            <a:off x="3611880" y="2916936"/>
            <a:ext cx="9144" cy="384048"/>
          </a:xfrm>
          <a:custGeom>
            <a:avLst/>
            <a:gdLst/>
            <a:ahLst/>
            <a:cxnLst/>
            <a:rect l="0" t="0" r="r" b="b"/>
            <a:pathLst>
              <a:path w="10" h="419" fill="none">
                <a:moveTo>
                  <a:pt x="0" y="0"/>
                </a:moveTo>
                <a:lnTo>
                  <a:pt x="0" y="419"/>
                </a:lnTo>
              </a:path>
            </a:pathLst>
          </a:custGeom>
          <a:noFill/>
          <a:ln w="28575" cap="rnd">
            <a:solidFill>
              <a:srgbClr val="1E1E1E"/>
            </a:solidFill>
            <a:round/>
            <a:tailEnd type="triangle" w="med" len="med"/>
          </a:ln>
        </p:spPr>
      </p:sp>
      <p:sp>
        <p:nvSpPr>
          <p:cNvPr id="9" name="Flecha gs→camp"/>
          <p:cNvSpPr/>
          <p:nvPr/>
        </p:nvSpPr>
        <p:spPr>
          <a:xfrm>
            <a:off x="3611880" y="3877056"/>
            <a:ext cx="9144" cy="384048"/>
          </a:xfrm>
          <a:custGeom>
            <a:avLst/>
            <a:gdLst/>
            <a:ahLst/>
            <a:cxnLst/>
            <a:rect l="0" t="0" r="r" b="b"/>
            <a:pathLst>
              <a:path w="10" h="419" fill="none">
                <a:moveTo>
                  <a:pt x="0" y="0"/>
                </a:moveTo>
                <a:lnTo>
                  <a:pt x="0" y="419"/>
                </a:lnTo>
              </a:path>
            </a:pathLst>
          </a:custGeom>
          <a:noFill/>
          <a:ln w="28575" cap="rnd">
            <a:solidFill>
              <a:srgbClr val="1E1E1E"/>
            </a:solidFill>
            <a:round/>
            <a:tailEnd type="triangle" w="med" len="med"/>
          </a:ln>
        </p:spPr>
      </p:sp>
      <p:sp>
        <p:nvSpPr>
          <p:cNvPr id="10" name="Flecha camp→pka"/>
          <p:cNvSpPr/>
          <p:nvPr/>
        </p:nvSpPr>
        <p:spPr>
          <a:xfrm>
            <a:off x="4745736" y="4572000"/>
            <a:ext cx="612648" cy="9144"/>
          </a:xfrm>
          <a:custGeom>
            <a:avLst/>
            <a:gdLst/>
            <a:ahLst/>
            <a:cxnLst/>
            <a:rect l="0" t="0" r="r" b="b"/>
            <a:pathLst>
              <a:path w="669" h="10" fill="none">
                <a:moveTo>
                  <a:pt x="0" y="0"/>
                </a:moveTo>
                <a:lnTo>
                  <a:pt x="669" y="0"/>
                </a:lnTo>
              </a:path>
            </a:pathLst>
          </a:custGeom>
          <a:noFill/>
          <a:ln w="28575" cap="rnd">
            <a:solidFill>
              <a:srgbClr val="1E1E1E"/>
            </a:solidFill>
            <a:round/>
            <a:tailEnd type="triangle" w="med" len="med"/>
          </a:ln>
        </p:spPr>
      </p:sp>
      <p:sp>
        <p:nvSpPr>
          <p:cNvPr id="11" name="Flecha pka→out"/>
          <p:cNvSpPr/>
          <p:nvPr/>
        </p:nvSpPr>
        <p:spPr>
          <a:xfrm>
            <a:off x="7808976" y="3657600"/>
            <a:ext cx="749808" cy="914400"/>
          </a:xfrm>
          <a:custGeom>
            <a:avLst/>
            <a:gdLst/>
            <a:ahLst/>
            <a:cxnLst/>
            <a:rect l="0" t="0" r="r" b="b"/>
            <a:pathLst>
              <a:path w="820" h="1000" fill="none">
                <a:moveTo>
                  <a:pt x="0" y="1000"/>
                </a:moveTo>
                <a:lnTo>
                  <a:pt x="820" y="0"/>
                </a:lnTo>
              </a:path>
            </a:pathLst>
          </a:custGeom>
          <a:noFill/>
          <a:ln w="38100" cap="rnd">
            <a:solidFill>
              <a:srgbClr val="1E8C3A"/>
            </a:solidFill>
            <a:round/>
            <a:tailEnd type="triangle" w="med" len="med"/>
          </a:ln>
        </p:spPr>
      </p:sp>
      <p:sp>
        <p:nvSpPr>
          <p:cNvPr id="12" name="Flecha gl→out"/>
          <p:cNvSpPr/>
          <p:nvPr/>
        </p:nvSpPr>
        <p:spPr>
          <a:xfrm>
            <a:off x="7808976" y="2606040"/>
            <a:ext cx="749808" cy="1051560"/>
          </a:xfrm>
          <a:custGeom>
            <a:avLst/>
            <a:gdLst/>
            <a:ahLst/>
            <a:cxnLst/>
            <a:rect l="0" t="0" r="r" b="b"/>
            <a:pathLst>
              <a:path w="820" h="1150" fill="none">
                <a:moveTo>
                  <a:pt x="0" y="0"/>
                </a:moveTo>
                <a:lnTo>
                  <a:pt x="820" y="1150"/>
                </a:lnTo>
              </a:path>
            </a:pathLst>
          </a:custGeom>
          <a:noFill/>
          <a:ln w="38100" cap="rnd">
            <a:solidFill>
              <a:srgbClr val="1E8C3A"/>
            </a:solidFill>
            <a:round/>
            <a:tailEnd type="triangle" w="med" len="med"/>
          </a:ln>
        </p:spPr>
      </p:sp>
      <p:sp>
        <p:nvSpPr>
          <p:cNvPr id="13" name="Nodo gut"/>
          <p:cNvSpPr/>
          <p:nvPr/>
        </p:nvSpPr>
        <p:spPr>
          <a:xfrm>
            <a:off x="2514600" y="1280160"/>
            <a:ext cx="219456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Células L (GLP-1)</a:t>
            </a:r>
            <a:endParaRPr lang="es-AR" sz="1350" dirty="0">
              <a:latin typeface="Fira Sans Condensed"/>
            </a:endParaRPr>
          </a:p>
          <a:p>
            <a:pPr algn="ctr">
              <a:spcAft>
                <a:spcPts val="200"/>
              </a:spcAft>
              <a:buNone/>
            </a:pPr>
            <a:r>
              <a:rPr lang="es-AR" sz="1350" b="1" dirty="0">
                <a:solidFill>
                  <a:srgbClr val="1E1E1E"/>
                </a:solidFill>
                <a:latin typeface="Fira Sans Condensed"/>
                <a:ea typeface="Fira Sans Condensed"/>
                <a:cs typeface="Fira Sans Condensed"/>
                <a:sym typeface="Fira Sans Condensed"/>
              </a:rPr>
              <a:t>células K (GIP)</a:t>
            </a:r>
            <a:endParaRPr lang="es-AR" sz="1350" dirty="0">
              <a:latin typeface="Fira Sans Condensed"/>
            </a:endParaRPr>
          </a:p>
        </p:txBody>
      </p:sp>
      <p:sp>
        <p:nvSpPr>
          <p:cNvPr id="14" name="Nodo r"/>
          <p:cNvSpPr/>
          <p:nvPr/>
        </p:nvSpPr>
        <p:spPr>
          <a:xfrm>
            <a:off x="2514600" y="2331720"/>
            <a:ext cx="21945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GLP-1R / GIPR</a:t>
            </a:r>
            <a:endParaRPr lang="es-AR" sz="1500" dirty="0">
              <a:latin typeface="Fira Sans Condensed"/>
            </a:endParaRPr>
          </a:p>
        </p:txBody>
      </p:sp>
      <p:sp>
        <p:nvSpPr>
          <p:cNvPr id="15" name="Nodo gs"/>
          <p:cNvSpPr/>
          <p:nvPr/>
        </p:nvSpPr>
        <p:spPr>
          <a:xfrm>
            <a:off x="2514600" y="3337560"/>
            <a:ext cx="219456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Gs → adenilil ciclasa</a:t>
            </a:r>
            <a:endParaRPr lang="es-AR" sz="1400" dirty="0">
              <a:latin typeface="Fira Sans Condensed"/>
            </a:endParaRPr>
          </a:p>
        </p:txBody>
      </p:sp>
      <p:sp>
        <p:nvSpPr>
          <p:cNvPr id="16" name="Nodo camp"/>
          <p:cNvSpPr/>
          <p:nvPr/>
        </p:nvSpPr>
        <p:spPr>
          <a:xfrm>
            <a:off x="2514600" y="429768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AMPc ↑</a:t>
            </a:r>
            <a:endParaRPr lang="es-AR" sz="1700" dirty="0">
              <a:latin typeface="Fira Sans Condensed"/>
            </a:endParaRPr>
          </a:p>
        </p:txBody>
      </p:sp>
      <p:sp>
        <p:nvSpPr>
          <p:cNvPr id="17" name="Nodo pka"/>
          <p:cNvSpPr/>
          <p:nvPr/>
        </p:nvSpPr>
        <p:spPr>
          <a:xfrm>
            <a:off x="5394960" y="4297680"/>
            <a:ext cx="23774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PKA · Epac2</a:t>
            </a:r>
            <a:endParaRPr lang="es-AR" sz="1500" dirty="0">
              <a:latin typeface="Fira Sans Condensed"/>
            </a:endParaRPr>
          </a:p>
        </p:txBody>
      </p:sp>
      <p:sp>
        <p:nvSpPr>
          <p:cNvPr id="18" name="Nodo gl"/>
          <p:cNvSpPr/>
          <p:nvPr/>
        </p:nvSpPr>
        <p:spPr>
          <a:xfrm>
            <a:off x="5394960" y="2331720"/>
            <a:ext cx="23774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Glucosa alta → ATP/ADP ↑</a:t>
            </a:r>
            <a:endParaRPr lang="es-AR" sz="1300" dirty="0">
              <a:latin typeface="Fira Sans Condensed"/>
            </a:endParaRPr>
          </a:p>
          <a:p>
            <a:pPr algn="ctr">
              <a:spcAft>
                <a:spcPts val="200"/>
              </a:spcAft>
              <a:buNone/>
            </a:pPr>
            <a:r>
              <a:rPr lang="es-AR" sz="1300" b="1" dirty="0">
                <a:solidFill>
                  <a:srgbClr val="1E1E1E"/>
                </a:solidFill>
                <a:latin typeface="Fira Sans Condensed"/>
                <a:ea typeface="Fira Sans Condensed"/>
                <a:cs typeface="Fira Sans Condensed"/>
                <a:sym typeface="Fira Sans Condensed"/>
              </a:rPr>
              <a:t>Ca</a:t>
            </a:r>
            <a:r>
              <a:rPr lang="es-AR" sz="1300" b="1" baseline="30000" dirty="0">
                <a:solidFill>
                  <a:srgbClr val="1E1E1E"/>
                </a:solidFill>
                <a:latin typeface="Fira Sans Condensed"/>
                <a:ea typeface="Fira Sans Condensed"/>
                <a:cs typeface="Fira Sans Condensed"/>
                <a:sym typeface="Fira Sans Condensed"/>
              </a:rPr>
              <a:t>2+</a:t>
            </a:r>
            <a:r>
              <a:rPr lang="es-AR" sz="1300" b="1" dirty="0">
                <a:solidFill>
                  <a:srgbClr val="1E1E1E"/>
                </a:solidFill>
                <a:latin typeface="Fira Sans Condensed"/>
                <a:ea typeface="Fira Sans Condensed"/>
                <a:cs typeface="Fira Sans Condensed"/>
                <a:sym typeface="Fira Sans Condensed"/>
              </a:rPr>
              <a:t> ↑</a:t>
            </a:r>
            <a:endParaRPr lang="es-AR" sz="1300" dirty="0">
              <a:latin typeface="Fira Sans Condensed"/>
            </a:endParaRPr>
          </a:p>
        </p:txBody>
      </p:sp>
      <p:sp>
        <p:nvSpPr>
          <p:cNvPr id="19" name="Nodo out"/>
          <p:cNvSpPr/>
          <p:nvPr/>
        </p:nvSpPr>
        <p:spPr>
          <a:xfrm>
            <a:off x="8595360" y="3291840"/>
            <a:ext cx="3200400" cy="7315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Más exocitosis de insulina</a:t>
            </a:r>
            <a:endParaRPr lang="es-AR" sz="1500" dirty="0">
              <a:latin typeface="Fira Sans Condensed"/>
            </a:endParaRPr>
          </a:p>
          <a:p>
            <a:pPr algn="ctr">
              <a:spcAft>
                <a:spcPts val="200"/>
              </a:spcAft>
              <a:buNone/>
            </a:pPr>
            <a:r>
              <a:rPr lang="es-AR" sz="1500" b="1" dirty="0">
                <a:solidFill>
                  <a:srgbClr val="FFFFFF"/>
                </a:solidFill>
                <a:latin typeface="Fira Sans Condensed"/>
                <a:ea typeface="Fira Sans Condensed"/>
                <a:cs typeface="Fira Sans Condensed"/>
                <a:sym typeface="Fira Sans Condensed"/>
              </a:rPr>
              <a:t>SOLO si hay hiperglucemia</a:t>
            </a:r>
            <a:endParaRPr lang="es-AR" sz="1500" dirty="0">
              <a:latin typeface="Fira Sans Condensed"/>
            </a:endParaRPr>
          </a:p>
        </p:txBody>
      </p:sp>
      <p:sp>
        <p:nvSpPr>
          <p:cNvPr id="20" name="Perla clínica"/>
          <p:cNvSpPr/>
          <p:nvPr/>
        </p:nvSpPr>
        <p:spPr>
          <a:xfrm>
            <a:off x="411480" y="5257800"/>
            <a:ext cx="11384280" cy="9601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Las incretinas </a:t>
            </a:r>
            <a:r>
              <a:rPr lang="es-AR" sz="1500" b="1" dirty="0">
                <a:solidFill>
                  <a:srgbClr val="FFFFFF"/>
                </a:solidFill>
                <a:latin typeface="Fira Sans Condensed"/>
                <a:ea typeface="Fira Sans Condensed"/>
                <a:cs typeface="Fira Sans Condensed"/>
                <a:sym typeface="Fira Sans Condensed"/>
              </a:rPr>
              <a:t>amplifican</a:t>
            </a:r>
            <a:r>
              <a:rPr lang="es-AR" sz="1500" dirty="0">
                <a:solidFill>
                  <a:srgbClr val="FFFFFF"/>
                </a:solidFill>
                <a:latin typeface="Fira Sans Condensed"/>
                <a:ea typeface="Fira Sans Condensed"/>
                <a:cs typeface="Fira Sans Condensed"/>
                <a:sym typeface="Fira Sans Condensed"/>
              </a:rPr>
              <a:t> la señal del calcio pero no cierran el K</a:t>
            </a:r>
            <a:r>
              <a:rPr lang="es-AR" sz="1500" baseline="-25000" dirty="0">
                <a:solidFill>
                  <a:srgbClr val="FFFFFF"/>
                </a:solidFill>
                <a:latin typeface="Fira Sans Condensed"/>
                <a:ea typeface="Fira Sans Condensed"/>
                <a:cs typeface="Fira Sans Condensed"/>
                <a:sym typeface="Fira Sans Condensed"/>
              </a:rPr>
              <a:t>ATP</a:t>
            </a:r>
            <a:r>
              <a:rPr lang="es-AR" sz="1500" dirty="0">
                <a:solidFill>
                  <a:srgbClr val="FFFFFF"/>
                </a:solidFill>
                <a:latin typeface="Fira Sans Condensed"/>
                <a:ea typeface="Fira Sans Condensed"/>
                <a:cs typeface="Fira Sans Condensed"/>
                <a:sym typeface="Fira Sans Condensed"/>
              </a:rPr>
              <a:t> por sí mismas: con glucosa baja el efecto es mínimo → bajo riesgo intrínseco de hipoglucemia (a diferencia de las sulfonilureas).</a:t>
            </a:r>
            <a:endParaRPr lang="es-AR" sz="1500" dirty="0">
              <a:latin typeface="Fira Sans Condensed"/>
            </a:endParaRPr>
          </a:p>
        </p:txBody>
      </p:sp>
      <p:sp>
        <p:nvSpPr>
          <p:cNvPr id="4"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INCRETINAS GLP-1 Y GIP: POTENCIACIÓN DEPENDIENTE DE GLUCOSA</a:t>
            </a:r>
            <a:endParaRPr lang="es-AR" sz="2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childTnLst>
                    </p:cTn>
                  </p:par>
                  <p:par>
                    <p:cTn id="16" fill="hold">
                      <p:stCondLst>
                        <p:cond delay="indefinite"/>
                      </p:stCondLst>
                      <p:childTnLst>
                        <p:par>
                          <p:cTn id="11" fill="hold">
                            <p:stCondLst>
                              <p:cond delay="0"/>
                            </p:stCondLst>
                            <p:childTnLst>
                              <p:par>
                                <p:cTn id="8" presetID="22" presetClass="entr" presetSubtype="1"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33" fill="hold">
                      <p:stCondLst>
                        <p:cond delay="indefinite"/>
                      </p:stCondLst>
                      <p:childTnLst>
                        <p:par>
                          <p:cTn id="20"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4"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childTnLst>
                          </p:cTn>
                        </p:par>
                        <p:par>
                          <p:cTn id="28" fill="hold">
                            <p:stCondLst>
                              <p:cond delay="900"/>
                            </p:stCondLst>
                            <p:childTnLst>
                              <p:par>
                                <p:cTn id="25" presetID="22" presetClass="entr" presetSubtype="1"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par>
                          <p:cTn id="32" fill="hold">
                            <p:stCondLst>
                              <p:cond delay="1400"/>
                            </p:stCondLst>
                            <p:childTnLst>
                              <p:par>
                                <p:cTn id="29" presetID="10"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childTnLst>
                          </p:cTn>
                        </p:par>
                      </p:childTnLst>
                    </p:cTn>
                  </p:par>
                  <p:par>
                    <p:cTn id="42" fill="hold">
                      <p:stCondLst>
                        <p:cond delay="indefinite"/>
                      </p:stCondLst>
                      <p:childTnLst>
                        <p:par>
                          <p:cTn id="37"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41"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47" fill="hold">
                      <p:stCondLst>
                        <p:cond delay="indefinite"/>
                      </p:stCondLst>
                      <p:childTnLst>
                        <p:par>
                          <p:cTn id="4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51"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childTnLst>
                          </p:cTn>
                        </p:par>
                        <p:par>
                          <p:cTn id="55"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par>
                          <p:cTn id="59"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00"/>
                                        <p:tgtEl>
                                          <p:spTgt spid="19"/>
                                        </p:tgtEl>
                                      </p:cBhvr>
                                    </p:animEffect>
                                  </p:childTnLst>
                                </p:cTn>
                              </p:par>
                            </p:childTnLst>
                          </p:cTn>
                        </p:par>
                      </p:childTnLst>
                    </p:cTn>
                  </p:par>
                  <p:par>
                    <p:cTn id="67" fill="hold">
                      <p:stCondLst>
                        <p:cond delay="indefinite"/>
                      </p:stCondLst>
                      <p:childTnLst>
                        <p:par>
                          <p:cTn id="66"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ppt_w</p:attrName>
                                        </p:attrNameLst>
                                      </p:cBhvr>
                                      <p:tavLst>
                                        <p:tav tm="0">
                                          <p:val>
                                            <p:fltVal val="0"/>
                                          </p:val>
                                        </p:tav>
                                        <p:tav tm="100000">
                                          <p:val>
                                            <p:strVal val="#ppt_w"/>
                                          </p:val>
                                        </p:tav>
                                      </p:tavLst>
                                    </p:anim>
                                    <p:anim calcmode="lin" valueType="num">
                                      <p:cBhvr>
                                        <p:cTn id="64" dur="500" fill="hold"/>
                                        <p:tgtEl>
                                          <p:spTgt spid="20"/>
                                        </p:tgtEl>
                                        <p:attrNameLst>
                                          <p:attrName>ppt_h</p:attrName>
                                        </p:attrNameLst>
                                      </p:cBhvr>
                                      <p:tavLst>
                                        <p:tav tm="0">
                                          <p:val>
                                            <p:fltVal val="0"/>
                                          </p:val>
                                        </p:tav>
                                        <p:tav tm="100000">
                                          <p:val>
                                            <p:strVal val="#ppt_h"/>
                                          </p:val>
                                        </p:tav>
                                      </p:tavLst>
                                    </p:anim>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14" grpId="0" animBg="1"/>
      <p:bldP spid="8" grpId="0" animBg="1"/>
      <p:bldP spid="15" grpId="0" animBg="1"/>
      <p:bldP spid="9" grpId="0" animBg="1"/>
      <p:bldP spid="16" grpId="0" animBg="1"/>
      <p:bldP spid="10" grpId="0" animBg="1"/>
      <p:bldP spid="17" grpId="0" animBg="1"/>
      <p:bldP spid="18" grpId="0" animBg="1"/>
      <p:bldP spid="11" grpId="0" animBg="1"/>
      <p:bldP spid="12" grpId="0" animBg="1"/>
      <p:bldP spid="19" grpId="0" animBg="1"/>
      <p:bldP spid="20"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Célula alfa"/>
          <p:cNvSpPr/>
          <p:nvPr/>
        </p:nvSpPr>
        <p:spPr>
          <a:xfrm>
            <a:off x="548640" y="1234440"/>
            <a:ext cx="1188720" cy="1188720"/>
          </a:xfrm>
          <a:prstGeom prst="ellipse">
            <a:avLst/>
          </a:prstGeom>
          <a:gradFill rotWithShape="1">
            <a:gsLst>
              <a:gs pos="0">
                <a:srgbClr val="FFFFFF"/>
              </a:gs>
              <a:gs pos="30000">
                <a:srgbClr val="F1948A"/>
              </a:gs>
              <a:gs pos="100000">
                <a:srgbClr val="784A45"/>
              </a:gs>
            </a:gsLst>
            <a:path path="circle">
              <a:fillToRect l="30000" t="25000" r="70000" b="75000"/>
            </a:path>
          </a:gradFill>
          <a:ln>
            <a:noFill/>
          </a:ln>
        </p:spPr>
        <p:txBody>
          <a:bodyPr wrap="square" lIns="0" tIns="0" rIns="0" bIns="0" anchor="ctr" rtlCol="0">
            <a:noAutofit/>
          </a:bodyPr>
          <a:lstStyle/>
          <a:p>
            <a:pPr algn="ctr">
              <a:spcAft>
                <a:spcPts val="300"/>
              </a:spcAft>
              <a:buNone/>
            </a:pPr>
            <a:r>
              <a:rPr lang="es-AR" sz="3000" b="1" dirty="0">
                <a:solidFill>
                  <a:srgbClr val="1E1E1E"/>
                </a:solidFill>
                <a:latin typeface="Fira Sans Condensed"/>
                <a:ea typeface="Fira Sans Condensed"/>
                <a:cs typeface="Fira Sans Condensed"/>
                <a:sym typeface="Fira Sans Condensed"/>
              </a:rPr>
              <a:t>α</a:t>
            </a:r>
            <a:endParaRPr lang="es-AR" sz="3000" dirty="0">
              <a:latin typeface="Fira Sans Condensed"/>
            </a:endParaRPr>
          </a:p>
        </p:txBody>
      </p:sp>
      <p:pic>
        <p:nvPicPr>
          <p:cNvPr id="7" name="Hígado glucagón" descr="Ilustración biomédica (Servier Medical Art, CC BY)"/>
          <p:cNvPicPr>
            <a:picLocks noChangeAspect="1"/>
          </p:cNvPicPr>
          <p:nvPr/>
        </p:nvPicPr>
        <p:blipFill>
          <a:blip r:embed="rId2"/>
          <a:stretch>
            <a:fillRect/>
          </a:stretch>
        </p:blipFill>
        <p:spPr>
          <a:xfrm>
            <a:off x="8138160" y="1097280"/>
            <a:ext cx="3657600" cy="2653990"/>
          </a:xfrm>
          <a:prstGeom prst="rect">
            <a:avLst/>
          </a:prstGeom>
        </p:spPr>
      </p:pic>
      <p:sp>
        <p:nvSpPr>
          <p:cNvPr id="8" name="Flecha st→g"/>
          <p:cNvSpPr/>
          <p:nvPr/>
        </p:nvSpPr>
        <p:spPr>
          <a:xfrm>
            <a:off x="3520440" y="204825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9" name="Flecha g→r"/>
          <p:cNvSpPr/>
          <p:nvPr/>
        </p:nvSpPr>
        <p:spPr>
          <a:xfrm>
            <a:off x="5065776" y="278892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10" name="Flecha r→c"/>
          <p:cNvSpPr/>
          <p:nvPr/>
        </p:nvSpPr>
        <p:spPr>
          <a:xfrm>
            <a:off x="6675120" y="3099816"/>
            <a:ext cx="9144" cy="292608"/>
          </a:xfrm>
          <a:custGeom>
            <a:avLst/>
            <a:gdLst/>
            <a:ahLst/>
            <a:cxnLst/>
            <a:rect l="0" t="0" r="r" b="b"/>
            <a:pathLst>
              <a:path w="10" h="319" fill="none">
                <a:moveTo>
                  <a:pt x="0" y="0"/>
                </a:moveTo>
                <a:lnTo>
                  <a:pt x="0" y="319"/>
                </a:lnTo>
              </a:path>
            </a:pathLst>
          </a:custGeom>
          <a:noFill/>
          <a:ln w="28575" cap="rnd">
            <a:solidFill>
              <a:srgbClr val="1E1E1E"/>
            </a:solidFill>
            <a:round/>
            <a:tailEnd type="triangle" w="med" len="med"/>
          </a:ln>
        </p:spPr>
      </p:sp>
      <p:sp>
        <p:nvSpPr>
          <p:cNvPr id="11" name="Flecha c→gl"/>
          <p:cNvSpPr/>
          <p:nvPr/>
        </p:nvSpPr>
        <p:spPr>
          <a:xfrm>
            <a:off x="7863840" y="3703320"/>
            <a:ext cx="502920" cy="457200"/>
          </a:xfrm>
          <a:custGeom>
            <a:avLst/>
            <a:gdLst/>
            <a:ahLst/>
            <a:cxnLst/>
            <a:rect l="0" t="0" r="r" b="b"/>
            <a:pathLst>
              <a:path w="550" h="500" fill="none">
                <a:moveTo>
                  <a:pt x="0" y="0"/>
                </a:moveTo>
                <a:lnTo>
                  <a:pt x="550" y="500"/>
                </a:lnTo>
              </a:path>
            </a:pathLst>
          </a:custGeom>
          <a:noFill/>
          <a:ln w="28575" cap="rnd">
            <a:solidFill>
              <a:srgbClr val="1E1E1E"/>
            </a:solidFill>
            <a:round/>
            <a:tailEnd type="triangle" w="med" len="med"/>
          </a:ln>
        </p:spPr>
      </p:sp>
      <p:sp>
        <p:nvSpPr>
          <p:cNvPr id="12" name="Flecha c→gn"/>
          <p:cNvSpPr/>
          <p:nvPr/>
        </p:nvSpPr>
        <p:spPr>
          <a:xfrm>
            <a:off x="7863840" y="3749040"/>
            <a:ext cx="502920" cy="1051560"/>
          </a:xfrm>
          <a:custGeom>
            <a:avLst/>
            <a:gdLst/>
            <a:ahLst/>
            <a:cxnLst/>
            <a:rect l="0" t="0" r="r" b="b"/>
            <a:pathLst>
              <a:path w="550" h="1150" fill="none">
                <a:moveTo>
                  <a:pt x="0" y="0"/>
                </a:moveTo>
                <a:lnTo>
                  <a:pt x="550" y="1150"/>
                </a:lnTo>
              </a:path>
            </a:pathLst>
          </a:custGeom>
          <a:noFill/>
          <a:ln w="28575" cap="rnd">
            <a:solidFill>
              <a:srgbClr val="1E1E1E"/>
            </a:solidFill>
            <a:round/>
            <a:tailEnd type="triangle" w="med" len="med"/>
          </a:ln>
        </p:spPr>
      </p:sp>
      <p:sp>
        <p:nvSpPr>
          <p:cNvPr id="13" name="Flecha c→gs"/>
          <p:cNvSpPr/>
          <p:nvPr/>
        </p:nvSpPr>
        <p:spPr>
          <a:xfrm>
            <a:off x="7863840" y="3794760"/>
            <a:ext cx="502920" cy="1645920"/>
          </a:xfrm>
          <a:custGeom>
            <a:avLst/>
            <a:gdLst/>
            <a:ahLst/>
            <a:cxnLst/>
            <a:rect l="0" t="0" r="r" b="b"/>
            <a:pathLst>
              <a:path w="550" h="1799" fill="none">
                <a:moveTo>
                  <a:pt x="0" y="0"/>
                </a:moveTo>
                <a:lnTo>
                  <a:pt x="550" y="1799"/>
                </a:lnTo>
              </a:path>
            </a:pathLst>
          </a:custGeom>
          <a:noFill/>
          <a:ln w="28575" cap="rnd">
            <a:solidFill>
              <a:srgbClr val="C00000"/>
            </a:solidFill>
            <a:round/>
            <a:tailEnd type="triangle" w="med" len="med"/>
          </a:ln>
        </p:spPr>
      </p:sp>
      <p:sp>
        <p:nvSpPr>
          <p:cNvPr id="14" name="Flecha c→o"/>
          <p:cNvSpPr/>
          <p:nvPr/>
        </p:nvSpPr>
        <p:spPr>
          <a:xfrm>
            <a:off x="5943600" y="3977640"/>
            <a:ext cx="731520" cy="548640"/>
          </a:xfrm>
          <a:custGeom>
            <a:avLst/>
            <a:gdLst/>
            <a:ahLst/>
            <a:cxnLst/>
            <a:rect l="0" t="0" r="r" b="b"/>
            <a:pathLst>
              <a:path w="799" h="600" fill="none">
                <a:moveTo>
                  <a:pt x="799" y="0"/>
                </a:moveTo>
                <a:lnTo>
                  <a:pt x="0" y="600"/>
                </a:lnTo>
              </a:path>
            </a:pathLst>
          </a:custGeom>
          <a:noFill/>
          <a:ln w="28575" cap="rnd">
            <a:solidFill>
              <a:srgbClr val="1E1E1E"/>
            </a:solidFill>
            <a:round/>
            <a:tailEnd type="triangle" w="med" len="med"/>
          </a:ln>
        </p:spPr>
      </p:sp>
      <p:sp>
        <p:nvSpPr>
          <p:cNvPr id="15" name="Nodo st"/>
          <p:cNvSpPr/>
          <p:nvPr/>
        </p:nvSpPr>
        <p:spPr>
          <a:xfrm>
            <a:off x="2011680" y="1234440"/>
            <a:ext cx="3017520" cy="7772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Hipoglucemia · aminoácidos</a:t>
            </a:r>
            <a:endParaRPr lang="es-AR" sz="1400" dirty="0">
              <a:latin typeface="Fira Sans Condensed"/>
            </a:endParaRPr>
          </a:p>
          <a:p>
            <a:pPr algn="ctr">
              <a:spcAft>
                <a:spcPts val="200"/>
              </a:spcAft>
              <a:buNone/>
            </a:pPr>
            <a:r>
              <a:rPr lang="es-AR" sz="1400" b="1" dirty="0">
                <a:solidFill>
                  <a:srgbClr val="1E1E1E"/>
                </a:solidFill>
                <a:latin typeface="Fira Sans Condensed"/>
                <a:ea typeface="Fira Sans Condensed"/>
                <a:cs typeface="Fira Sans Condensed"/>
                <a:sym typeface="Fira Sans Condensed"/>
              </a:rPr>
              <a:t>simpático · insulina baja</a:t>
            </a:r>
            <a:endParaRPr lang="es-AR" sz="1400" dirty="0">
              <a:latin typeface="Fira Sans Condensed"/>
            </a:endParaRPr>
          </a:p>
        </p:txBody>
      </p:sp>
      <p:sp>
        <p:nvSpPr>
          <p:cNvPr id="16" name="Nodo g"/>
          <p:cNvSpPr/>
          <p:nvPr/>
        </p:nvSpPr>
        <p:spPr>
          <a:xfrm>
            <a:off x="2011680" y="2514600"/>
            <a:ext cx="30175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C00000"/>
                </a:solidFill>
                <a:latin typeface="Fira Sans Condensed"/>
                <a:ea typeface="Fira Sans Condensed"/>
                <a:cs typeface="Fira Sans Condensed"/>
                <a:sym typeface="Fira Sans Condensed"/>
              </a:rPr>
              <a:t>GLUCAGÓN</a:t>
            </a:r>
            <a:endParaRPr lang="es-AR" sz="1800" dirty="0">
              <a:latin typeface="Fira Sans Condensed"/>
            </a:endParaRPr>
          </a:p>
        </p:txBody>
      </p:sp>
      <p:sp>
        <p:nvSpPr>
          <p:cNvPr id="17" name="Nodo r"/>
          <p:cNvSpPr/>
          <p:nvPr/>
        </p:nvSpPr>
        <p:spPr>
          <a:xfrm>
            <a:off x="5486400" y="2514600"/>
            <a:ext cx="23774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Receptor Gs (hepatocito)</a:t>
            </a:r>
            <a:endParaRPr lang="es-AR" sz="1350" dirty="0">
              <a:latin typeface="Fira Sans Condensed"/>
            </a:endParaRPr>
          </a:p>
        </p:txBody>
      </p:sp>
      <p:sp>
        <p:nvSpPr>
          <p:cNvPr id="18" name="Nodo c"/>
          <p:cNvSpPr/>
          <p:nvPr/>
        </p:nvSpPr>
        <p:spPr>
          <a:xfrm>
            <a:off x="5486400" y="3429000"/>
            <a:ext cx="237744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AC → AMPc → PKA</a:t>
            </a:r>
            <a:endParaRPr lang="es-AR" sz="1500" dirty="0">
              <a:latin typeface="Fira Sans Condensed"/>
            </a:endParaRPr>
          </a:p>
        </p:txBody>
      </p:sp>
      <p:sp>
        <p:nvSpPr>
          <p:cNvPr id="19" name="Nodo gl"/>
          <p:cNvSpPr/>
          <p:nvPr/>
        </p:nvSpPr>
        <p:spPr>
          <a:xfrm>
            <a:off x="8412480" y="3931920"/>
            <a:ext cx="33832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Glucogenólisis ↑</a:t>
            </a:r>
            <a:endParaRPr lang="es-AR" sz="1500" dirty="0">
              <a:latin typeface="Fira Sans Condensed"/>
            </a:endParaRPr>
          </a:p>
        </p:txBody>
      </p:sp>
      <p:sp>
        <p:nvSpPr>
          <p:cNvPr id="20" name="Nodo gn"/>
          <p:cNvSpPr/>
          <p:nvPr/>
        </p:nvSpPr>
        <p:spPr>
          <a:xfrm>
            <a:off x="8412480" y="4572000"/>
            <a:ext cx="33832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Gluconeogénesis ↑</a:t>
            </a:r>
            <a:endParaRPr lang="es-AR" sz="1500" dirty="0">
              <a:latin typeface="Fira Sans Condensed"/>
            </a:endParaRPr>
          </a:p>
        </p:txBody>
      </p:sp>
      <p:sp>
        <p:nvSpPr>
          <p:cNvPr id="21" name="Nodo gs"/>
          <p:cNvSpPr/>
          <p:nvPr/>
        </p:nvSpPr>
        <p:spPr>
          <a:xfrm>
            <a:off x="8412480" y="5212080"/>
            <a:ext cx="33832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Síntesis de glucógeno ↓</a:t>
            </a:r>
            <a:endParaRPr lang="es-AR" sz="1500" dirty="0">
              <a:latin typeface="Fira Sans Condensed"/>
            </a:endParaRPr>
          </a:p>
        </p:txBody>
      </p:sp>
      <p:sp>
        <p:nvSpPr>
          <p:cNvPr id="22" name="Nodo o"/>
          <p:cNvSpPr/>
          <p:nvPr/>
        </p:nvSpPr>
        <p:spPr>
          <a:xfrm>
            <a:off x="2011680" y="4572000"/>
            <a:ext cx="5303520" cy="10058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Producción hepática de glucosa ↑</a:t>
            </a:r>
            <a:endParaRPr lang="es-AR" sz="1500" dirty="0">
              <a:latin typeface="Fira Sans Condensed"/>
            </a:endParaRPr>
          </a:p>
          <a:p>
            <a:pPr algn="ctr">
              <a:spcAft>
                <a:spcPts val="200"/>
              </a:spcAft>
              <a:buNone/>
            </a:pPr>
            <a:r>
              <a:rPr lang="es-AR" sz="1500" b="1" dirty="0">
                <a:solidFill>
                  <a:srgbClr val="FFFFFF"/>
                </a:solidFill>
                <a:latin typeface="Fira Sans Condensed"/>
                <a:ea typeface="Fira Sans Condensed"/>
                <a:cs typeface="Fira Sans Condensed"/>
                <a:sym typeface="Fira Sans Condensed"/>
              </a:rPr>
              <a:t>(y modulación de la oxidación de lípidos)</a:t>
            </a:r>
            <a:endParaRPr lang="es-AR" sz="15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CÉLULA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 Y GLUCAGÓN: LA SEÑAL OPUESTA</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childTnLst>
                    </p:cTn>
                  </p:par>
                  <p:par>
                    <p:cTn id="16" fill="hold">
                      <p:stCondLst>
                        <p:cond delay="indefinite"/>
                      </p:stCondLst>
                      <p:childTnLst>
                        <p:par>
                          <p:cTn id="11" fill="hold">
                            <p:stCondLst>
                              <p:cond delay="0"/>
                            </p:stCondLst>
                            <p:childTnLst>
                              <p:par>
                                <p:cTn id="8" presetID="22" presetClass="entr" presetSubtype="1"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childTnLst>
                          </p:cTn>
                        </p:par>
                      </p:childTnLst>
                    </p:cTn>
                  </p:par>
                  <p:par>
                    <p:cTn id="33" fill="hold">
                      <p:stCondLst>
                        <p:cond delay="indefinite"/>
                      </p:stCondLst>
                      <p:childTnLst>
                        <p:par>
                          <p:cTn id="20"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4"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childTnLst>
                          </p:cTn>
                        </p:par>
                        <p:par>
                          <p:cTn id="28" fill="hold">
                            <p:stCondLst>
                              <p:cond delay="900"/>
                            </p:stCondLst>
                            <p:childTnLst>
                              <p:par>
                                <p:cTn id="25" presetID="22" presetClass="entr" presetSubtype="1"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32" fill="hold">
                            <p:stCondLst>
                              <p:cond delay="14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childTnLst>
                          </p:cTn>
                        </p:par>
                      </p:childTnLst>
                    </p:cTn>
                  </p:par>
                  <p:par>
                    <p:cTn id="58" fill="hold">
                      <p:stCondLst>
                        <p:cond delay="indefinite"/>
                      </p:stCondLst>
                      <p:childTnLst>
                        <p:par>
                          <p:cTn id="37"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par>
                          <p:cTn id="41"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par>
                          <p:cTn id="45" fill="hold">
                            <p:stCondLst>
                              <p:cond delay="900"/>
                            </p:stCondLst>
                            <p:childTnLst>
                              <p:par>
                                <p:cTn id="42" presetID="22" presetClass="entr" presetSubtype="8"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par>
                          <p:cTn id="49" fill="hold">
                            <p:stCondLst>
                              <p:cond delay="1400"/>
                            </p:stCondLst>
                            <p:childTnLst>
                              <p:par>
                                <p:cTn id="46" presetID="10" presetClass="entr" presetSubtype="0" fill="hold" grpId="0" nodeType="after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childTnLst>
                          </p:cTn>
                        </p:par>
                        <p:par>
                          <p:cTn id="53" fill="hold">
                            <p:stCondLst>
                              <p:cond delay="1800"/>
                            </p:stCondLst>
                            <p:childTnLst>
                              <p:par>
                                <p:cTn id="50" presetID="22" presetClass="entr" presetSubtype="8"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par>
                          <p:cTn id="57" fill="hold">
                            <p:stCondLst>
                              <p:cond delay="2300"/>
                            </p:stCondLst>
                            <p:childTnLst>
                              <p:par>
                                <p:cTn id="54" presetID="10"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67" fill="hold">
                      <p:stCondLst>
                        <p:cond delay="indefinite"/>
                      </p:stCondLst>
                      <p:childTnLst>
                        <p:par>
                          <p:cTn id="62"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par>
                          <p:cTn id="66"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6" grpId="0" animBg="1"/>
      <p:bldP spid="9" grpId="0" animBg="1"/>
      <p:bldP spid="17" grpId="0" animBg="1"/>
      <p:bldP spid="10" grpId="0" animBg="1"/>
      <p:bldP spid="18" grpId="0" animBg="1"/>
      <p:bldP spid="11" grpId="0" animBg="1"/>
      <p:bldP spid="19" grpId="0" animBg="1"/>
      <p:bldP spid="12" grpId="0" animBg="1"/>
      <p:bldP spid="20" grpId="0" animBg="1"/>
      <p:bldP spid="13" grpId="0" animBg="1"/>
      <p:bldP spid="21" grpId="0" animBg="1"/>
      <p:bldP spid="14" grpId="0" animBg="1"/>
      <p:bldP spid="2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Páncreas acción" descr="Ilustración biomédica (Servier Medical Art, CC BY)"/>
          <p:cNvPicPr>
            <a:picLocks noChangeAspect="1"/>
          </p:cNvPicPr>
          <p:nvPr/>
        </p:nvPicPr>
        <p:blipFill>
          <a:blip r:embed="rId2"/>
          <a:stretch>
            <a:fillRect/>
          </a:stretch>
        </p:blipFill>
        <p:spPr>
          <a:xfrm>
            <a:off x="4754880" y="1051560"/>
            <a:ext cx="2651760" cy="1100480"/>
          </a:xfrm>
          <a:prstGeom prst="rect">
            <a:avLst/>
          </a:prstGeom>
        </p:spPr>
      </p:pic>
      <p:sp>
        <p:nvSpPr>
          <p:cNvPr id="8" name="Recuadro INSULINA"/>
          <p:cNvSpPr/>
          <p:nvPr/>
        </p:nvSpPr>
        <p:spPr>
          <a:xfrm>
            <a:off x="5166360" y="2240280"/>
            <a:ext cx="182880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INSULINA</a:t>
            </a:r>
            <a:endParaRPr lang="es-AR" sz="1600" dirty="0">
              <a:latin typeface="Fira Sans Condensed"/>
            </a:endParaRPr>
          </a:p>
        </p:txBody>
      </p:sp>
      <p:grpSp>
        <p:nvGrpSpPr>
          <p:cNvPr id="9" name="Órgano HÍGADO"/>
          <p:cNvGrpSpPr/>
          <p:nvPr/>
        </p:nvGrpSpPr>
        <p:grpSpPr>
          <a:xfrm>
            <a:off x="365760" y="2880360"/>
            <a:ext cx="3657600" cy="3429000"/>
            <a:chOff x="365760" y="2880360"/>
            <a:chExt cx="3657600" cy="3429000"/>
          </a:xfrm>
        </p:grpSpPr>
        <p:pic>
          <p:nvPicPr>
            <p:cNvPr id="10" name="Imagen healthy_liver" descr="Ilustración biomédica (Servier Medical Art, CC BY)"/>
            <p:cNvPicPr>
              <a:picLocks noChangeAspect="1"/>
            </p:cNvPicPr>
            <p:nvPr/>
          </p:nvPicPr>
          <p:blipFill>
            <a:blip r:embed="rId3"/>
            <a:stretch>
              <a:fillRect/>
            </a:stretch>
          </p:blipFill>
          <p:spPr>
            <a:xfrm>
              <a:off x="1406947" y="2880360"/>
              <a:ext cx="1575227" cy="1143000"/>
            </a:xfrm>
            <a:prstGeom prst="rect">
              <a:avLst/>
            </a:prstGeom>
          </p:spPr>
        </p:pic>
        <p:sp>
          <p:nvSpPr>
            <p:cNvPr id="11" name="Recuadro HÍGADO"/>
            <p:cNvSpPr/>
            <p:nvPr/>
          </p:nvSpPr>
          <p:spPr>
            <a:xfrm>
              <a:off x="365760" y="4069080"/>
              <a:ext cx="36576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HÍGADO</a:t>
              </a:r>
              <a:endParaRPr lang="es-AR" sz="1500" dirty="0">
                <a:latin typeface="Fira Sans Condensed"/>
              </a:endParaRPr>
            </a:p>
          </p:txBody>
        </p:sp>
        <p:sp>
          <p:nvSpPr>
            <p:cNvPr id="12" name="Forma 11"/>
            <p:cNvSpPr/>
            <p:nvPr/>
          </p:nvSpPr>
          <p:spPr>
            <a:xfrm>
              <a:off x="365760" y="4526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Glucógeno ↑ · glucólisis ↑</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Lipogénesis ↑ (SREBP-1c)</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Producción de glucosa ↓</a:t>
              </a:r>
              <a:r>
                <a:rPr lang="es-AR" sz="1450" dirty="0">
                  <a:solidFill>
                    <a:srgbClr val="1E1E1E"/>
                  </a:solidFill>
                  <a:latin typeface="Fira Sans Condensed"/>
                  <a:ea typeface="Fira Sans Condensed"/>
                  <a:cs typeface="Fira Sans Condensed"/>
                  <a:sym typeface="Fira Sans Condensed"/>
                </a:rPr>
                <a:t> (FOXO1 inactivo)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No necesita GLUT4: usa </a:t>
              </a:r>
              <a:r>
                <a:rPr lang="es-AR" sz="1450" b="1" dirty="0">
                  <a:solidFill>
                    <a:srgbClr val="1E1E1E"/>
                  </a:solidFill>
                  <a:latin typeface="Fira Sans Condensed"/>
                  <a:ea typeface="Fira Sans Condensed"/>
                  <a:cs typeface="Fira Sans Condensed"/>
                  <a:sym typeface="Fira Sans Condensed"/>
                </a:rPr>
                <a:t>GLUT2</a:t>
              </a:r>
              <a:endParaRPr lang="es-AR" sz="1450" dirty="0">
                <a:latin typeface="Fira Sans Condensed"/>
              </a:endParaRPr>
            </a:p>
          </p:txBody>
        </p:sp>
      </p:grpSp>
      <p:grpSp>
        <p:nvGrpSpPr>
          <p:cNvPr id="13" name="Órgano MÚSCULO"/>
          <p:cNvGrpSpPr/>
          <p:nvPr/>
        </p:nvGrpSpPr>
        <p:grpSpPr>
          <a:xfrm>
            <a:off x="4251960" y="2880360"/>
            <a:ext cx="3657600" cy="3429000"/>
            <a:chOff x="4251960" y="2880360"/>
            <a:chExt cx="3657600" cy="3429000"/>
          </a:xfrm>
        </p:grpSpPr>
        <p:pic>
          <p:nvPicPr>
            <p:cNvPr id="14" name="Imagen muscle-fiber" descr="Ilustración biomédica (Servier Medical Art, CC BY)"/>
            <p:cNvPicPr>
              <a:picLocks noChangeAspect="1"/>
            </p:cNvPicPr>
            <p:nvPr/>
          </p:nvPicPr>
          <p:blipFill>
            <a:blip r:embed="rId4"/>
            <a:stretch>
              <a:fillRect/>
            </a:stretch>
          </p:blipFill>
          <p:spPr>
            <a:xfrm>
              <a:off x="4849837" y="2880360"/>
              <a:ext cx="2461846" cy="1143000"/>
            </a:xfrm>
            <a:prstGeom prst="rect">
              <a:avLst/>
            </a:prstGeom>
          </p:spPr>
        </p:pic>
        <p:sp>
          <p:nvSpPr>
            <p:cNvPr id="15" name="Recuadro MÚSCULO"/>
            <p:cNvSpPr/>
            <p:nvPr/>
          </p:nvSpPr>
          <p:spPr>
            <a:xfrm>
              <a:off x="4251960" y="4069080"/>
              <a:ext cx="36576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MÚSCULO</a:t>
              </a:r>
              <a:endParaRPr lang="es-AR" sz="1500" dirty="0">
                <a:latin typeface="Fira Sans Condensed"/>
              </a:endParaRPr>
            </a:p>
          </p:txBody>
        </p:sp>
        <p:sp>
          <p:nvSpPr>
            <p:cNvPr id="16" name="Forma 15"/>
            <p:cNvSpPr/>
            <p:nvPr/>
          </p:nvSpPr>
          <p:spPr>
            <a:xfrm>
              <a:off x="4251960" y="4526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GLUT4</a:t>
              </a:r>
              <a:r>
                <a:rPr lang="es-AR" sz="1450" dirty="0">
                  <a:solidFill>
                    <a:srgbClr val="1E1E1E"/>
                  </a:solidFill>
                  <a:latin typeface="Fira Sans Condensed"/>
                  <a:ea typeface="Fira Sans Condensed"/>
                  <a:cs typeface="Fira Sans Condensed"/>
                  <a:sym typeface="Fira Sans Condensed"/>
                </a:rPr>
                <a:t> en membrana → captación ↑</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Síntesis de glucógeno ↑</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Síntesis proteica ↑</a:t>
              </a:r>
              <a:endParaRPr lang="es-AR" sz="1450" dirty="0">
                <a:latin typeface="Fira Sans Condensed"/>
              </a:endParaRPr>
            </a:p>
          </p:txBody>
        </p:sp>
      </p:grpSp>
      <p:grpSp>
        <p:nvGrpSpPr>
          <p:cNvPr id="17" name="Órgano TEJIDO ADIPOSO"/>
          <p:cNvGrpSpPr/>
          <p:nvPr/>
        </p:nvGrpSpPr>
        <p:grpSpPr>
          <a:xfrm>
            <a:off x="8138160" y="2880360"/>
            <a:ext cx="3657600" cy="3429000"/>
            <a:chOff x="8138160" y="2880360"/>
            <a:chExt cx="3657600" cy="3429000"/>
          </a:xfrm>
        </p:grpSpPr>
        <p:pic>
          <p:nvPicPr>
            <p:cNvPr id="18" name="Imagen adipocyte-1" descr="Ilustración biomédica (Servier Medical Art, CC BY)"/>
            <p:cNvPicPr>
              <a:picLocks noChangeAspect="1"/>
            </p:cNvPicPr>
            <p:nvPr/>
          </p:nvPicPr>
          <p:blipFill>
            <a:blip r:embed="rId5"/>
            <a:stretch>
              <a:fillRect/>
            </a:stretch>
          </p:blipFill>
          <p:spPr>
            <a:xfrm>
              <a:off x="9406482" y="2880360"/>
              <a:ext cx="1120956" cy="1143000"/>
            </a:xfrm>
            <a:prstGeom prst="rect">
              <a:avLst/>
            </a:prstGeom>
          </p:spPr>
        </p:pic>
        <p:sp>
          <p:nvSpPr>
            <p:cNvPr id="19" name="Recuadro TEJIDO ADIPOSO"/>
            <p:cNvSpPr/>
            <p:nvPr/>
          </p:nvSpPr>
          <p:spPr>
            <a:xfrm>
              <a:off x="8138160" y="4069080"/>
              <a:ext cx="365760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TEJIDO ADIPOSO</a:t>
              </a:r>
              <a:endParaRPr lang="es-AR" sz="1500" dirty="0">
                <a:latin typeface="Fira Sans Condensed"/>
              </a:endParaRPr>
            </a:p>
          </p:txBody>
        </p:sp>
        <p:sp>
          <p:nvSpPr>
            <p:cNvPr id="20" name="Forma 19"/>
            <p:cNvSpPr/>
            <p:nvPr/>
          </p:nvSpPr>
          <p:spPr>
            <a:xfrm>
              <a:off x="8138160" y="4526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GLUT4</a:t>
              </a:r>
              <a:r>
                <a:rPr lang="es-AR" sz="1450" dirty="0">
                  <a:solidFill>
                    <a:srgbClr val="1E1E1E"/>
                  </a:solidFill>
                  <a:latin typeface="Fira Sans Condensed"/>
                  <a:ea typeface="Fira Sans Condensed"/>
                  <a:cs typeface="Fira Sans Condensed"/>
                  <a:sym typeface="Fira Sans Condensed"/>
                </a:rPr>
                <a:t> → glicerol-3-P</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LPL y esterificación ↑</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Lipólisis ↓</a:t>
              </a:r>
              <a:r>
                <a:rPr lang="es-AR" sz="1450" dirty="0">
                  <a:solidFill>
                    <a:srgbClr val="1E1E1E"/>
                  </a:solidFill>
                  <a:latin typeface="Fira Sans Condensed"/>
                  <a:ea typeface="Fira Sans Condensed"/>
                  <a:cs typeface="Fira Sans Condensed"/>
                  <a:sym typeface="Fira Sans Condensed"/>
                </a:rPr>
                <a:t> (PDE3B → AMPc ↓)</a:t>
              </a:r>
              <a:endParaRPr lang="es-AR" sz="1450" dirty="0">
                <a:latin typeface="Fira Sans Condensed"/>
              </a:endParaRPr>
            </a:p>
          </p:txBody>
        </p:sp>
      </p:grpSp>
      <p:sp>
        <p:nvSpPr>
          <p:cNvPr id="21" name="Flecha 20_2"/>
          <p:cNvSpPr/>
          <p:nvPr/>
        </p:nvSpPr>
        <p:spPr>
          <a:xfrm>
            <a:off x="2194560" y="2514600"/>
            <a:ext cx="2926080" cy="411480"/>
          </a:xfrm>
          <a:custGeom>
            <a:avLst/>
            <a:gdLst/>
            <a:ahLst/>
            <a:cxnLst/>
            <a:rect l="0" t="0" r="r" b="b"/>
            <a:pathLst>
              <a:path w="3199" h="450" fill="none">
                <a:moveTo>
                  <a:pt x="3199" y="0"/>
                </a:moveTo>
                <a:lnTo>
                  <a:pt x="0" y="450"/>
                </a:lnTo>
              </a:path>
            </a:pathLst>
          </a:custGeom>
          <a:noFill/>
          <a:ln w="38100" cap="rnd">
            <a:solidFill>
              <a:srgbClr val="1E8C3A"/>
            </a:solidFill>
            <a:round/>
            <a:tailEnd type="triangle" w="med" len="med"/>
          </a:ln>
        </p:spPr>
      </p:sp>
      <p:sp>
        <p:nvSpPr>
          <p:cNvPr id="22" name="Flecha 22_2"/>
          <p:cNvSpPr/>
          <p:nvPr/>
        </p:nvSpPr>
        <p:spPr>
          <a:xfrm>
            <a:off x="6080760" y="2724912"/>
            <a:ext cx="9144" cy="201168"/>
          </a:xfrm>
          <a:custGeom>
            <a:avLst/>
            <a:gdLst/>
            <a:ahLst/>
            <a:cxnLst/>
            <a:rect l="0" t="0" r="r" b="b"/>
            <a:pathLst>
              <a:path w="10" h="220" fill="none">
                <a:moveTo>
                  <a:pt x="0" y="0"/>
                </a:moveTo>
                <a:lnTo>
                  <a:pt x="0" y="220"/>
                </a:lnTo>
              </a:path>
            </a:pathLst>
          </a:custGeom>
          <a:noFill/>
          <a:ln w="38100" cap="rnd">
            <a:solidFill>
              <a:srgbClr val="1E8C3A"/>
            </a:solidFill>
            <a:round/>
            <a:tailEnd type="triangle" w="med" len="med"/>
          </a:ln>
        </p:spPr>
      </p:sp>
      <p:sp>
        <p:nvSpPr>
          <p:cNvPr id="23" name="Flecha 24_2"/>
          <p:cNvSpPr/>
          <p:nvPr/>
        </p:nvSpPr>
        <p:spPr>
          <a:xfrm>
            <a:off x="7040880" y="2514600"/>
            <a:ext cx="2926080" cy="411480"/>
          </a:xfrm>
          <a:custGeom>
            <a:avLst/>
            <a:gdLst/>
            <a:ahLst/>
            <a:cxnLst/>
            <a:rect l="0" t="0" r="r" b="b"/>
            <a:pathLst>
              <a:path w="3200" h="450" fill="none">
                <a:moveTo>
                  <a:pt x="0" y="0"/>
                </a:moveTo>
                <a:lnTo>
                  <a:pt x="3200" y="450"/>
                </a:lnTo>
              </a:path>
            </a:pathLst>
          </a:custGeom>
          <a:noFill/>
          <a:ln w="38100" cap="rnd">
            <a:solidFill>
              <a:srgbClr val="1E8C3A"/>
            </a:solidFill>
            <a:round/>
            <a:tailEnd type="triangle" w="med" len="med"/>
          </a:ln>
        </p:spPr>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ACCIÓN FISIOLÓGICA NORMAL DE LA INSULINA</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childTnLst>
                    </p:cTn>
                  </p:par>
                  <p:par>
                    <p:cTn id="18" fill="hold">
                      <p:stCondLst>
                        <p:cond delay="indefinite"/>
                      </p:stCondLst>
                      <p:childTnLst>
                        <p:par>
                          <p:cTn id="13"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600"/>
                                        <p:tgtEl>
                                          <p:spTgt spid="21"/>
                                        </p:tgtEl>
                                      </p:cBhvr>
                                    </p:animEffect>
                                  </p:childTnLst>
                                </p:cTn>
                              </p:par>
                            </p:childTnLst>
                          </p:cTn>
                        </p:par>
                        <p:par>
                          <p:cTn id="17"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27" fill="hold">
                      <p:stCondLst>
                        <p:cond delay="indefinite"/>
                      </p:stCondLst>
                      <p:childTnLst>
                        <p:par>
                          <p:cTn id="22"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up)">
                                      <p:cBhvr>
                                        <p:cTn id="21" dur="600"/>
                                        <p:tgtEl>
                                          <p:spTgt spid="22"/>
                                        </p:tgtEl>
                                      </p:cBhvr>
                                    </p:animEffect>
                                  </p:childTnLst>
                                </p:cTn>
                              </p:par>
                            </p:childTnLst>
                          </p:cTn>
                        </p:par>
                        <p:par>
                          <p:cTn id="26" fill="hold">
                            <p:stCondLst>
                              <p:cond delay="6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36" fill="hold">
                      <p:stCondLst>
                        <p:cond delay="indefinite"/>
                      </p:stCondLst>
                      <p:childTnLst>
                        <p:par>
                          <p:cTn id="31"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600"/>
                                        <p:tgtEl>
                                          <p:spTgt spid="23"/>
                                        </p:tgtEl>
                                      </p:cBhvr>
                                    </p:animEffect>
                                  </p:childTnLst>
                                </p:cTn>
                              </p:par>
                            </p:childTnLst>
                          </p:cTn>
                        </p:par>
                        <p:par>
                          <p:cTn id="35" fill="hold">
                            <p:stCondLst>
                              <p:cond delay="600"/>
                            </p:stCondLst>
                            <p:childTnLst>
                              <p:par>
                                <p:cTn id="32" presetID="10" presetClass="entr" presetSubtype="0"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1" grpId="0" animBg="1"/>
      <p:bldP spid="22" grpId="0" animBg="1"/>
      <p:bldP spid="23"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RS"/>
          <p:cNvSpPr/>
          <p:nvPr/>
        </p:nvSpPr>
        <p:spPr>
          <a:xfrm>
            <a:off x="1828800" y="4892040"/>
            <a:ext cx="123444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3" name="!!PI3K"/>
          <p:cNvSpPr/>
          <p:nvPr/>
        </p:nvSpPr>
        <p:spPr>
          <a:xfrm>
            <a:off x="3429000" y="5486400"/>
            <a:ext cx="91440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4" name="!!Fosfoinosítido"/>
          <p:cNvSpPr/>
          <p:nvPr/>
        </p:nvSpPr>
        <p:spPr>
          <a:xfrm>
            <a:off x="3657600" y="2377440"/>
            <a:ext cx="1005840" cy="329184"/>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PIP</a:t>
            </a:r>
            <a:r>
              <a:rPr lang="es-AR" sz="1200" b="1" baseline="-25000" dirty="0">
                <a:solidFill>
                  <a:srgbClr val="1E1E1E"/>
                </a:solidFill>
                <a:latin typeface="Fira Sans Condensed"/>
                <a:ea typeface="Fira Sans Condensed"/>
                <a:cs typeface="Fira Sans Condensed"/>
                <a:sym typeface="Fira Sans Condensed"/>
              </a:rPr>
              <a:t>2</a:t>
            </a:r>
            <a:endParaRPr lang="es-AR" sz="1200" dirty="0">
              <a:latin typeface="Fira Sans Condensed"/>
            </a:endParaRPr>
          </a:p>
        </p:txBody>
      </p:sp>
      <p:sp>
        <p:nvSpPr>
          <p:cNvPr id="25" name="!!PDK1"/>
          <p:cNvSpPr/>
          <p:nvPr/>
        </p:nvSpPr>
        <p:spPr>
          <a:xfrm>
            <a:off x="457200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26" name="!!Akt"/>
          <p:cNvSpPr/>
          <p:nvPr/>
        </p:nvSpPr>
        <p:spPr>
          <a:xfrm>
            <a:off x="557784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27"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AS160 (TBC1D4)</a:t>
            </a:r>
            <a:endParaRPr lang="es-AR" sz="1150" dirty="0">
              <a:latin typeface="Fira Sans Condensed"/>
            </a:endParaRPr>
          </a:p>
        </p:txBody>
      </p:sp>
      <p:grpSp>
        <p:nvGrpSpPr>
          <p:cNvPr id="28" name="!!Vesícula GLUT4 0"/>
          <p:cNvGrpSpPr/>
          <p:nvPr/>
        </p:nvGrpSpPr>
        <p:grpSpPr>
          <a:xfrm>
            <a:off x="6309360" y="4937760"/>
            <a:ext cx="566928" cy="566928"/>
            <a:chOff x="6309360" y="4937760"/>
            <a:chExt cx="566928" cy="566928"/>
          </a:xfrm>
        </p:grpSpPr>
        <p:sp>
          <p:nvSpPr>
            <p:cNvPr id="29" name="Forma 28"/>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0" name="Forma 29"/>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1" name="!!Vesícula GLUT4 1"/>
          <p:cNvGrpSpPr/>
          <p:nvPr/>
        </p:nvGrpSpPr>
        <p:grpSpPr>
          <a:xfrm>
            <a:off x="7040880" y="4572000"/>
            <a:ext cx="566928" cy="566928"/>
            <a:chOff x="7040880" y="4572000"/>
            <a:chExt cx="566928" cy="566928"/>
          </a:xfrm>
        </p:grpSpPr>
        <p:sp>
          <p:nvSpPr>
            <p:cNvPr id="32" name="Forma 31"/>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3" name="Forma 32"/>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4" name="!!Vesícula GLUT4 2"/>
          <p:cNvGrpSpPr/>
          <p:nvPr/>
        </p:nvGrpSpPr>
        <p:grpSpPr>
          <a:xfrm>
            <a:off x="6903720" y="5394960"/>
            <a:ext cx="566928" cy="566928"/>
            <a:chOff x="6903720" y="5394960"/>
            <a:chExt cx="566928" cy="566928"/>
          </a:xfrm>
        </p:grpSpPr>
        <p:sp>
          <p:nvSpPr>
            <p:cNvPr id="35" name="Forma 34"/>
            <p:cNvSpPr/>
            <p:nvPr/>
          </p:nvSpPr>
          <p:spPr>
            <a:xfrm>
              <a:off x="6903720" y="53949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6" name="Forma 35"/>
            <p:cNvSpPr/>
            <p:nvPr/>
          </p:nvSpPr>
          <p:spPr>
            <a:xfrm>
              <a:off x="7123176" y="55046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7" name="!!Panel"/>
          <p:cNvGrpSpPr/>
          <p:nvPr/>
        </p:nvGrpSpPr>
        <p:grpSpPr>
          <a:xfrm>
            <a:off x="8092440" y="1051560"/>
            <a:ext cx="3749040" cy="4343400"/>
            <a:chOff x="8092440" y="1051560"/>
            <a:chExt cx="3749040" cy="4343400"/>
          </a:xfrm>
        </p:grpSpPr>
        <p:sp>
          <p:nvSpPr>
            <p:cNvPr id="38" name="Forma 37"/>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9" name="Forma 38"/>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1</a:t>
              </a:r>
              <a:endParaRPr lang="es-AR" sz="1600" dirty="0">
                <a:latin typeface="Fira Sans Condensed"/>
              </a:endParaRPr>
            </a:p>
          </p:txBody>
        </p:sp>
        <p:sp>
          <p:nvSpPr>
            <p:cNvPr id="40" name="Forma 39"/>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El receptor</a:t>
              </a:r>
              <a:endParaRPr lang="es-AR" sz="1650" dirty="0">
                <a:latin typeface="Fira Sans Condensed"/>
              </a:endParaRPr>
            </a:p>
          </p:txBody>
        </p:sp>
        <p:sp>
          <p:nvSpPr>
            <p:cNvPr id="41" name="Forma 40"/>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Heterotetrámero </a:t>
              </a:r>
              <a:r>
                <a:rPr lang="es-AR" sz="1450" b="1" dirty="0">
                  <a:solidFill>
                    <a:srgbClr val="1E1E1E"/>
                  </a:solidFill>
                  <a:latin typeface="Fira Sans Condensed"/>
                  <a:ea typeface="Fira Sans Condensed"/>
                  <a:cs typeface="Fira Sans Condensed"/>
                  <a:sym typeface="Fira Sans Condensed"/>
                </a:rPr>
                <a:t>α₂β₂</a:t>
              </a:r>
              <a:r>
                <a:rPr lang="es-AR" sz="1450" dirty="0">
                  <a:solidFill>
                    <a:srgbClr val="1E1E1E"/>
                  </a:solidFill>
                  <a:latin typeface="Fira Sans Condensed"/>
                  <a:ea typeface="Fira Sans Condensed"/>
                  <a:cs typeface="Fira Sans Condensed"/>
                  <a:sym typeface="Fira Sans Condensed"/>
                </a:rPr>
                <a:t> unido por puentes disulfuro.</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Subunidades </a:t>
              </a:r>
              <a:r>
                <a:rPr lang="es-AR" sz="1450" b="1" dirty="0">
                  <a:solidFill>
                    <a:srgbClr val="1E1E1E"/>
                  </a:solidFill>
                  <a:latin typeface="Fira Sans Condensed"/>
                  <a:ea typeface="Fira Sans Condensed"/>
                  <a:cs typeface="Fira Sans Condensed"/>
                  <a:sym typeface="Fira Sans Condensed"/>
                </a:rPr>
                <a:t>α</a:t>
              </a:r>
              <a:r>
                <a:rPr lang="es-AR" sz="1450" dirty="0">
                  <a:solidFill>
                    <a:srgbClr val="1E1E1E"/>
                  </a:solidFill>
                  <a:latin typeface="Fira Sans Condensed"/>
                  <a:ea typeface="Fira Sans Condensed"/>
                  <a:cs typeface="Fira Sans Condensed"/>
                  <a:sym typeface="Fira Sans Condensed"/>
                </a:rPr>
                <a:t> extracelulares: unen insulina.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Subunidades </a:t>
              </a:r>
              <a:r>
                <a:rPr lang="es-AR" sz="1450" b="1" dirty="0">
                  <a:solidFill>
                    <a:srgbClr val="1E1E1E"/>
                  </a:solidFill>
                  <a:latin typeface="Fira Sans Condensed"/>
                  <a:ea typeface="Fira Sans Condensed"/>
                  <a:cs typeface="Fira Sans Condensed"/>
                  <a:sym typeface="Fira Sans Condensed"/>
                </a:rPr>
                <a:t>β</a:t>
              </a:r>
              <a:r>
                <a:rPr lang="es-AR" sz="1450" dirty="0">
                  <a:solidFill>
                    <a:srgbClr val="1E1E1E"/>
                  </a:solidFill>
                  <a:latin typeface="Fira Sans Condensed"/>
                  <a:ea typeface="Fira Sans Condensed"/>
                  <a:cs typeface="Fira Sans Condensed"/>
                  <a:sym typeface="Fira Sans Condensed"/>
                </a:rPr>
                <a:t> transmembrana con dominio </a:t>
              </a:r>
              <a:r>
                <a:rPr lang="es-AR" sz="1450" b="1" dirty="0">
                  <a:solidFill>
                    <a:srgbClr val="1E1E1E"/>
                  </a:solidFill>
                  <a:latin typeface="Fira Sans Condensed"/>
                  <a:ea typeface="Fira Sans Condensed"/>
                  <a:cs typeface="Fira Sans Condensed"/>
                  <a:sym typeface="Fira Sans Condensed"/>
                </a:rPr>
                <a:t>tirosina cinasa</a:t>
              </a:r>
              <a:r>
                <a:rPr lang="es-AR" sz="1450" dirty="0">
                  <a:solidFill>
                    <a:srgbClr val="1E1E1E"/>
                  </a:solidFill>
                  <a:latin typeface="Fira Sans Condensed"/>
                  <a:ea typeface="Fira Sans Condensed"/>
                  <a:cs typeface="Fira Sans Condensed"/>
                  <a:sym typeface="Fira Sans Condensed"/>
                </a:rPr>
                <a:t> intracelular.</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En reposo la actividad cinasa está autoinhibida.</a:t>
              </a:r>
              <a:endParaRPr lang="es-AR" sz="1450" dirty="0">
                <a:latin typeface="Fira Sans Condensed"/>
              </a:endParaRPr>
            </a:p>
          </p:txBody>
        </p:sp>
      </p:grpSp>
      <p:grpSp>
        <p:nvGrpSpPr>
          <p:cNvPr id="42" name="!!Progreso señal"/>
          <p:cNvGrpSpPr/>
          <p:nvPr/>
        </p:nvGrpSpPr>
        <p:grpSpPr>
          <a:xfrm>
            <a:off x="8092440" y="5669280"/>
            <a:ext cx="3739896" cy="566928"/>
            <a:chOff x="8092440" y="5669280"/>
            <a:chExt cx="3739896" cy="566928"/>
          </a:xfrm>
        </p:grpSpPr>
        <p:sp>
          <p:nvSpPr>
            <p:cNvPr id="43"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4"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45"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46"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47"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48"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49"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RECEPTOR DE INSULINA: TIROSINA CINASA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α₂β₂</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13"/>
                                        </p:tgtEl>
                                      </p:cBhvr>
                                      <p:by x="112000" y="112000"/>
                                    </p:animScale>
                                  </p:childTnLst>
                                </p:cTn>
                              </p:par>
                            </p:childTnLst>
                          </p:cTn>
                        </p:par>
                      </p:childTnLst>
                    </p:cTn>
                  </p:par>
                  <p:par>
                    <p:cTn id="19" fill="hold">
                      <p:stCondLst>
                        <p:cond delay="indefinite"/>
                      </p:stCondLst>
                      <p:childTnLst>
                        <p:par>
                          <p:cTn id="9" fill="hold">
                            <p:stCondLst>
                              <p:cond delay="0"/>
                            </p:stCondLst>
                            <p:childTnLst>
                              <p:par>
                                <p:cTn id="7" presetID="6" presetClass="emph" presetSubtype="0" fill="hold" grpId="0" nodeType="clickEffect">
                                  <p:stCondLst>
                                    <p:cond delay="0"/>
                                  </p:stCondLst>
                                  <p:childTnLst>
                                    <p:animScale>
                                      <p:cBhvr>
                                        <p:cTn id="8" dur="300" autoRev="1" fill="hold"/>
                                        <p:tgtEl>
                                          <p:spTgt spid="22"/>
                                        </p:tgtEl>
                                      </p:cBhvr>
                                      <p:by x="112000" y="112000"/>
                                    </p:animScale>
                                  </p:childTnLst>
                                </p:cTn>
                              </p:par>
                            </p:childTnLst>
                          </p:cTn>
                        </p:par>
                        <p:par>
                          <p:cTn id="12" fill="hold">
                            <p:stCondLst>
                              <p:cond delay="300"/>
                            </p:stCondLst>
                            <p:childTnLst>
                              <p:par>
                                <p:cTn id="10" presetID="6" presetClass="emph" presetSubtype="0" fill="hold" grpId="0" nodeType="afterEffect">
                                  <p:stCondLst>
                                    <p:cond delay="0"/>
                                  </p:stCondLst>
                                  <p:childTnLst>
                                    <p:animScale>
                                      <p:cBhvr>
                                        <p:cTn id="11" dur="300" autoRev="1" fill="hold"/>
                                        <p:tgtEl>
                                          <p:spTgt spid="23"/>
                                        </p:tgtEl>
                                      </p:cBhvr>
                                      <p:by x="112000" y="112000"/>
                                    </p:animScale>
                                  </p:childTnLst>
                                </p:cTn>
                              </p:par>
                            </p:childTnLst>
                          </p:cTn>
                        </p:par>
                        <p:par>
                          <p:cTn id="15" fill="hold">
                            <p:stCondLst>
                              <p:cond delay="600"/>
                            </p:stCondLst>
                            <p:childTnLst>
                              <p:par>
                                <p:cTn id="13" presetID="6" presetClass="emph" presetSubtype="0" fill="hold" grpId="0" nodeType="afterEffect">
                                  <p:stCondLst>
                                    <p:cond delay="0"/>
                                  </p:stCondLst>
                                  <p:childTnLst>
                                    <p:animScale>
                                      <p:cBhvr>
                                        <p:cTn id="14" dur="300" autoRev="1" fill="hold"/>
                                        <p:tgtEl>
                                          <p:spTgt spid="26"/>
                                        </p:tgtEl>
                                      </p:cBhvr>
                                      <p:by x="112000" y="112000"/>
                                    </p:animScale>
                                  </p:childTnLst>
                                </p:cTn>
                              </p:par>
                            </p:childTnLst>
                          </p:cTn>
                        </p:par>
                        <p:par>
                          <p:cTn id="18" fill="hold">
                            <p:stCondLst>
                              <p:cond delay="900"/>
                            </p:stCondLst>
                            <p:childTnLst>
                              <p:par>
                                <p:cTn id="16" presetID="6" presetClass="emph" presetSubtype="0" fill="hold" grpId="0" nodeType="afterEffect">
                                  <p:stCondLst>
                                    <p:cond delay="0"/>
                                  </p:stCondLst>
                                  <p:childTnLst>
                                    <p:animScale>
                                      <p:cBhvr>
                                        <p:cTn id="17" dur="300" autoRev="1" fill="hold"/>
                                        <p:tgtEl>
                                          <p:spTgt spid="28"/>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1828800" y="4892040"/>
            <a:ext cx="123444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PI3K"/>
          <p:cNvSpPr/>
          <p:nvPr/>
        </p:nvSpPr>
        <p:spPr>
          <a:xfrm>
            <a:off x="3429000" y="5486400"/>
            <a:ext cx="91440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7" name="!!Fosfoinosítido"/>
          <p:cNvSpPr/>
          <p:nvPr/>
        </p:nvSpPr>
        <p:spPr>
          <a:xfrm>
            <a:off x="3657600" y="2377440"/>
            <a:ext cx="1005840" cy="329184"/>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PIP</a:t>
            </a:r>
            <a:r>
              <a:rPr lang="es-AR" sz="1200" b="1" baseline="-25000" dirty="0">
                <a:solidFill>
                  <a:srgbClr val="1E1E1E"/>
                </a:solidFill>
                <a:latin typeface="Fira Sans Condensed"/>
                <a:ea typeface="Fira Sans Condensed"/>
                <a:cs typeface="Fira Sans Condensed"/>
                <a:sym typeface="Fira Sans Condensed"/>
              </a:rPr>
              <a:t>2</a:t>
            </a:r>
            <a:endParaRPr lang="es-AR" sz="1200" dirty="0">
              <a:latin typeface="Fira Sans Condensed"/>
            </a:endParaRPr>
          </a:p>
        </p:txBody>
      </p:sp>
      <p:sp>
        <p:nvSpPr>
          <p:cNvPr id="28" name="!!PDK1"/>
          <p:cNvSpPr/>
          <p:nvPr/>
        </p:nvSpPr>
        <p:spPr>
          <a:xfrm>
            <a:off x="457200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29" name="!!Akt"/>
          <p:cNvSpPr/>
          <p:nvPr/>
        </p:nvSpPr>
        <p:spPr>
          <a:xfrm>
            <a:off x="557784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0"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AS160 (TBC1D4)</a:t>
            </a:r>
            <a:endParaRPr lang="es-AR" sz="1150" dirty="0">
              <a:latin typeface="Fira Sans Condensed"/>
            </a:endParaRPr>
          </a:p>
        </p:txBody>
      </p:sp>
      <p:grpSp>
        <p:nvGrpSpPr>
          <p:cNvPr id="31" name="!!Vesícula GLUT4 0"/>
          <p:cNvGrpSpPr/>
          <p:nvPr/>
        </p:nvGrpSpPr>
        <p:grpSpPr>
          <a:xfrm>
            <a:off x="6309360" y="4937760"/>
            <a:ext cx="566928" cy="566928"/>
            <a:chOff x="6309360" y="4937760"/>
            <a:chExt cx="566928" cy="566928"/>
          </a:xfrm>
        </p:grpSpPr>
        <p:sp>
          <p:nvSpPr>
            <p:cNvPr id="32" name="Forma 31"/>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3" name="Forma 32"/>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4" name="!!Vesícula GLUT4 1"/>
          <p:cNvGrpSpPr/>
          <p:nvPr/>
        </p:nvGrpSpPr>
        <p:grpSpPr>
          <a:xfrm>
            <a:off x="7040880" y="4572000"/>
            <a:ext cx="566928" cy="566928"/>
            <a:chOff x="7040880" y="4572000"/>
            <a:chExt cx="566928" cy="566928"/>
          </a:xfrm>
        </p:grpSpPr>
        <p:sp>
          <p:nvSpPr>
            <p:cNvPr id="35" name="Forma 34"/>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6" name="Forma 35"/>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7" name="!!Vesícula GLUT4 2"/>
          <p:cNvGrpSpPr/>
          <p:nvPr/>
        </p:nvGrpSpPr>
        <p:grpSpPr>
          <a:xfrm>
            <a:off x="6903720" y="5394960"/>
            <a:ext cx="566928" cy="566928"/>
            <a:chOff x="6903720" y="5394960"/>
            <a:chExt cx="566928" cy="566928"/>
          </a:xfrm>
        </p:grpSpPr>
        <p:sp>
          <p:nvSpPr>
            <p:cNvPr id="38" name="Forma 37"/>
            <p:cNvSpPr/>
            <p:nvPr/>
          </p:nvSpPr>
          <p:spPr>
            <a:xfrm>
              <a:off x="6903720" y="53949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9" name="Forma 38"/>
            <p:cNvSpPr/>
            <p:nvPr/>
          </p:nvSpPr>
          <p:spPr>
            <a:xfrm>
              <a:off x="7123176" y="55046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0" name="!!Panel"/>
          <p:cNvGrpSpPr/>
          <p:nvPr/>
        </p:nvGrpSpPr>
        <p:grpSpPr>
          <a:xfrm>
            <a:off x="8092440" y="1051560"/>
            <a:ext cx="3749040" cy="4343400"/>
            <a:chOff x="8092440" y="1051560"/>
            <a:chExt cx="3749040" cy="4343400"/>
          </a:xfrm>
        </p:grpSpPr>
        <p:sp>
          <p:nvSpPr>
            <p:cNvPr id="41" name="Forma 40"/>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2" name="Forma 41"/>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2</a:t>
              </a:r>
              <a:endParaRPr lang="es-AR" sz="1600" dirty="0">
                <a:latin typeface="Fira Sans Condensed"/>
              </a:endParaRPr>
            </a:p>
          </p:txBody>
        </p:sp>
        <p:sp>
          <p:nvSpPr>
            <p:cNvPr id="43" name="Forma 42"/>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Autofosforilación</a:t>
              </a:r>
              <a:endParaRPr lang="es-AR" sz="1650" dirty="0">
                <a:latin typeface="Fira Sans Condensed"/>
              </a:endParaRPr>
            </a:p>
          </p:txBody>
        </p:sp>
        <p:sp>
          <p:nvSpPr>
            <p:cNvPr id="44" name="Forma 43"/>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insulina se une a las subunidades α → </a:t>
              </a:r>
              <a:r>
                <a:rPr lang="es-AR" sz="1450" b="1" dirty="0">
                  <a:solidFill>
                    <a:srgbClr val="1E1E1E"/>
                  </a:solidFill>
                  <a:latin typeface="Fira Sans Condensed"/>
                  <a:ea typeface="Fira Sans Condensed"/>
                  <a:cs typeface="Fira Sans Condensed"/>
                  <a:sym typeface="Fira Sans Condensed"/>
                </a:rPr>
                <a:t>cambio conformacional</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Los dominios cinasa β se </a:t>
              </a:r>
              <a:r>
                <a:rPr lang="es-AR" sz="1450" b="1" dirty="0">
                  <a:solidFill>
                    <a:srgbClr val="1E1E1E"/>
                  </a:solidFill>
                  <a:latin typeface="Fira Sans Condensed"/>
                  <a:ea typeface="Fira Sans Condensed"/>
                  <a:cs typeface="Fira Sans Condensed"/>
                  <a:sym typeface="Fira Sans Condensed"/>
                </a:rPr>
                <a:t>transfosforilan</a:t>
              </a:r>
              <a:r>
                <a:rPr lang="es-AR" sz="1450" dirty="0">
                  <a:solidFill>
                    <a:srgbClr val="1E1E1E"/>
                  </a:solidFill>
                  <a:latin typeface="Fira Sans Condensed"/>
                  <a:ea typeface="Fira Sans Condensed"/>
                  <a:cs typeface="Fira Sans Condensed"/>
                  <a:sym typeface="Fira Sans Condensed"/>
                </a:rPr>
                <a:t> en tirosinas.</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fosfotirosinas (P) son </a:t>
              </a:r>
              <a:r>
                <a:rPr lang="es-AR" sz="1450" b="1" dirty="0">
                  <a:solidFill>
                    <a:srgbClr val="1E1E1E"/>
                  </a:solidFill>
                  <a:latin typeface="Fira Sans Condensed"/>
                  <a:ea typeface="Fira Sans Condensed"/>
                  <a:cs typeface="Fira Sans Condensed"/>
                  <a:sym typeface="Fira Sans Condensed"/>
                </a:rPr>
                <a:t>sitios de anclaje</a:t>
              </a:r>
              <a:r>
                <a:rPr lang="es-AR" sz="1450" dirty="0">
                  <a:solidFill>
                    <a:srgbClr val="1E1E1E"/>
                  </a:solidFill>
                  <a:latin typeface="Fira Sans Condensed"/>
                  <a:ea typeface="Fira Sans Condensed"/>
                  <a:cs typeface="Fira Sans Condensed"/>
                  <a:sym typeface="Fira Sans Condensed"/>
                </a:rPr>
                <a:t> para proteínas con dominios PTB/SH2.</a:t>
              </a:r>
              <a:endParaRPr lang="es-AR" sz="1450" dirty="0">
                <a:latin typeface="Fira Sans Condensed"/>
              </a:endParaRPr>
            </a:p>
          </p:txBody>
        </p:sp>
      </p:grpSp>
      <p:grpSp>
        <p:nvGrpSpPr>
          <p:cNvPr id="45" name="!!Progreso señal"/>
          <p:cNvGrpSpPr/>
          <p:nvPr/>
        </p:nvGrpSpPr>
        <p:grpSpPr>
          <a:xfrm>
            <a:off x="8092440" y="5669280"/>
            <a:ext cx="3739896" cy="566928"/>
            <a:chOff x="8092440" y="5669280"/>
            <a:chExt cx="3739896" cy="566928"/>
          </a:xfrm>
        </p:grpSpPr>
        <p:sp>
          <p:nvSpPr>
            <p:cNvPr id="46" name="Etapa 1"/>
            <p:cNvSpPr/>
            <p:nvPr/>
          </p:nvSpPr>
          <p:spPr>
            <a:xfrm>
              <a:off x="8092440"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7" name="Etapa 2"/>
            <p:cNvSpPr/>
            <p:nvPr/>
          </p:nvSpPr>
          <p:spPr>
            <a:xfrm>
              <a:off x="8631936"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48"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49"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50"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51"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52"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53" name="Insulina llega"/>
          <p:cNvSpPr/>
          <p:nvPr/>
        </p:nvSpPr>
        <p:spPr>
          <a:xfrm>
            <a:off x="1298448" y="86868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UNIÓN DE INSULINA Y AUTOFOSFORILACIÓN</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29</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3"/>
                                        </p:tgtEl>
                                        <p:attrNameLst>
                                          <p:attrName>style.visibility</p:attrName>
                                        </p:attrNameLst>
                                      </p:cBhvr>
                                      <p:to>
                                        <p:strVal val="visible"/>
                                      </p:to>
                                    </p:set>
                                    <p:animEffect transition="in" filter="fade">
                                      <p:cBhvr>
                                        <p:cTn id="5" dur="500"/>
                                        <p:tgtEl>
                                          <p:spTgt spid="53"/>
                                        </p:tgtEl>
                                      </p:cBhvr>
                                    </p:animEffect>
                                  </p:childTnLst>
                                </p:cTn>
                              </p:par>
                              <p:par>
                                <p:cTn id="6" presetID="0" presetClass="path" presetSubtype="0" accel="20000" decel="20000" fill="hold" grpId="0" nodeType="withEffect">
                                  <p:stCondLst>
                                    <p:cond delay="0"/>
                                  </p:stCondLst>
                                  <p:childTnLst>
                                    <p:animMotion origin="layout" path="M 0 0 L 0.0000 0.0867 E" pathEditMode="relative" ptsTypes="">
                                      <p:cBhvr>
                                        <p:cTn id="7" dur="900" fill="hold"/>
                                        <p:tgtEl>
                                          <p:spTgt spid="53"/>
                                        </p:tgtEl>
                                        <p:attrNameLst>
                                          <p:attrName>ppt_x</p:attrName>
                                          <p:attrName>ppt_y</p:attrName>
                                        </p:attrNameLst>
                                      </p:cBhvr>
                                      <p:rCtr x="0" y="4333"/>
                                    </p:animMotion>
                                  </p:childTnLst>
                                </p:cTn>
                              </p:par>
                            </p:childTnLst>
                          </p:cTn>
                        </p:par>
                        <p:par>
                          <p:cTn id="12" fill="hold">
                            <p:stCondLst>
                              <p:cond delay="900"/>
                            </p:stCondLst>
                            <p:childTnLst>
                              <p:par>
                                <p:cTn id="9" presetID="10" presetClass="exit" presetSubtype="0" fill="hold" grpId="0" nodeType="afterEffect">
                                  <p:stCondLst>
                                    <p:cond delay="0"/>
                                  </p:stCondLst>
                                  <p:childTnLst>
                                    <p:animEffect transition="out" filter="fade">
                                      <p:cBhvr>
                                        <p:cTn id="10" dur="150"/>
                                        <p:tgtEl>
                                          <p:spTgt spid="53"/>
                                        </p:tgtEl>
                                      </p:cBhvr>
                                    </p:animEffect>
                                    <p:set>
                                      <p:cBhvr>
                                        <p:cTn id="11" dur="1" fill="hold">
                                          <p:stCondLst>
                                            <p:cond delay="149"/>
                                          </p:stCondLst>
                                        </p:cTn>
                                        <p:tgtEl>
                                          <p:spTgt spid="53"/>
                                        </p:tgtEl>
                                        <p:attrNameLst>
                                          <p:attrName>style.visibility</p:attrName>
                                        </p:attrNameLst>
                                      </p:cBhvr>
                                      <p:to>
                                        <p:strVal val="hidden"/>
                                      </p:to>
                                    </p:set>
                                  </p:childTnLst>
                                </p:cTn>
                              </p:par>
                            </p:childTnLst>
                          </p:cTn>
                        </p:par>
                      </p:childTnLst>
                    </p:cTn>
                  </p:par>
                  <p:par>
                    <p:cTn id="26"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animEffect transition="in" filter="fade">
                                      <p:cBhvr>
                                        <p:cTn id="18" dur="500"/>
                                        <p:tgtEl>
                                          <p:spTgt spid="23"/>
                                        </p:tgtEl>
                                      </p:cBhvr>
                                    </p:animEffect>
                                  </p:childTnLst>
                                </p:cTn>
                              </p:par>
                            </p:childTnLst>
                          </p:cTn>
                        </p:par>
                        <p:par>
                          <p:cTn id="25"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500" fill="hold"/>
                                        <p:tgtEl>
                                          <p:spTgt spid="24"/>
                                        </p:tgtEl>
                                        <p:attrNameLst>
                                          <p:attrName>ppt_w</p:attrName>
                                        </p:attrNameLst>
                                      </p:cBhvr>
                                      <p:tavLst>
                                        <p:tav tm="0">
                                          <p:val>
                                            <p:fltVal val="0"/>
                                          </p:val>
                                        </p:tav>
                                        <p:tav tm="100000">
                                          <p:val>
                                            <p:strVal val="#ppt_w"/>
                                          </p:val>
                                        </p:tav>
                                      </p:tavLst>
                                    </p:anim>
                                    <p:anim calcmode="lin" valueType="num">
                                      <p:cBhvr>
                                        <p:cTn id="23" dur="500" fill="hold"/>
                                        <p:tgtEl>
                                          <p:spTgt spid="24"/>
                                        </p:tgtEl>
                                        <p:attrNameLst>
                                          <p:attrName>ppt_h</p:attrName>
                                        </p:attrNameLst>
                                      </p:cBhvr>
                                      <p:tavLst>
                                        <p:tav tm="0">
                                          <p:val>
                                            <p:fltVal val="0"/>
                                          </p:val>
                                        </p:tav>
                                        <p:tav tm="100000">
                                          <p:val>
                                            <p:strVal val="#ppt_h"/>
                                          </p:val>
                                        </p:tav>
                                      </p:tavLst>
                                    </p:anim>
                                    <p:animEffect transition="in" filter="fade">
                                      <p:cBhvr>
                                        <p:cTn id="2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23" grpId="0" animBg="1"/>
      <p:bldP spid="2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7" name="!!PI3K"/>
          <p:cNvSpPr/>
          <p:nvPr/>
        </p:nvSpPr>
        <p:spPr>
          <a:xfrm>
            <a:off x="3429000" y="5486400"/>
            <a:ext cx="91440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PIP</a:t>
            </a:r>
            <a:r>
              <a:rPr lang="es-AR" sz="1200" b="1" baseline="-25000" dirty="0">
                <a:solidFill>
                  <a:srgbClr val="1E1E1E"/>
                </a:solidFill>
                <a:latin typeface="Fira Sans Condensed"/>
                <a:ea typeface="Fira Sans Condensed"/>
                <a:cs typeface="Fira Sans Condensed"/>
                <a:sym typeface="Fira Sans Condensed"/>
              </a:rPr>
              <a:t>2</a:t>
            </a:r>
            <a:endParaRPr lang="es-AR" sz="1200" dirty="0">
              <a:latin typeface="Fira Sans Condensed"/>
            </a:endParaRPr>
          </a:p>
        </p:txBody>
      </p:sp>
      <p:sp>
        <p:nvSpPr>
          <p:cNvPr id="29" name="!!PDK1"/>
          <p:cNvSpPr/>
          <p:nvPr/>
        </p:nvSpPr>
        <p:spPr>
          <a:xfrm>
            <a:off x="457200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57784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AS160 (TBC1D4)</a:t>
            </a:r>
            <a:endParaRPr lang="es-AR" sz="1150" dirty="0">
              <a:latin typeface="Fira Sans Condensed"/>
            </a:endParaRPr>
          </a:p>
        </p:txBody>
      </p:sp>
      <p:grpSp>
        <p:nvGrpSpPr>
          <p:cNvPr id="32" name="!!Vesícula GLUT4 0"/>
          <p:cNvGrpSpPr/>
          <p:nvPr/>
        </p:nvGrpSpPr>
        <p:grpSpPr>
          <a:xfrm>
            <a:off x="6309360" y="4937760"/>
            <a:ext cx="566928" cy="566928"/>
            <a:chOff x="6309360" y="4937760"/>
            <a:chExt cx="566928" cy="566928"/>
          </a:xfrm>
        </p:grpSpPr>
        <p:sp>
          <p:nvSpPr>
            <p:cNvPr id="33" name="Forma 32"/>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4" name="Forma 33"/>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5" name="!!Vesícula GLUT4 1"/>
          <p:cNvGrpSpPr/>
          <p:nvPr/>
        </p:nvGrpSpPr>
        <p:grpSpPr>
          <a:xfrm>
            <a:off x="7040880" y="4572000"/>
            <a:ext cx="566928" cy="566928"/>
            <a:chOff x="7040880" y="4572000"/>
            <a:chExt cx="566928" cy="566928"/>
          </a:xfrm>
        </p:grpSpPr>
        <p:sp>
          <p:nvSpPr>
            <p:cNvPr id="36" name="Forma 35"/>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7" name="Forma 36"/>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8" name="!!Vesícula GLUT4 2"/>
          <p:cNvGrpSpPr/>
          <p:nvPr/>
        </p:nvGrpSpPr>
        <p:grpSpPr>
          <a:xfrm>
            <a:off x="6903720" y="5394960"/>
            <a:ext cx="566928" cy="566928"/>
            <a:chOff x="6903720" y="5394960"/>
            <a:chExt cx="566928" cy="566928"/>
          </a:xfrm>
        </p:grpSpPr>
        <p:sp>
          <p:nvSpPr>
            <p:cNvPr id="39" name="Forma 38"/>
            <p:cNvSpPr/>
            <p:nvPr/>
          </p:nvSpPr>
          <p:spPr>
            <a:xfrm>
              <a:off x="6903720" y="53949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0" name="Forma 39"/>
            <p:cNvSpPr/>
            <p:nvPr/>
          </p:nvSpPr>
          <p:spPr>
            <a:xfrm>
              <a:off x="7123176" y="55046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1" name="!!Panel"/>
          <p:cNvGrpSpPr/>
          <p:nvPr/>
        </p:nvGrpSpPr>
        <p:grpSpPr>
          <a:xfrm>
            <a:off x="8092440" y="1051560"/>
            <a:ext cx="3749040" cy="4343400"/>
            <a:chOff x="8092440" y="1051560"/>
            <a:chExt cx="3749040" cy="4343400"/>
          </a:xfrm>
        </p:grpSpPr>
        <p:sp>
          <p:nvSpPr>
            <p:cNvPr id="42" name="Forma 41"/>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3" name="Forma 42"/>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3</a:t>
              </a:r>
              <a:endParaRPr lang="es-AR" sz="1600" dirty="0">
                <a:latin typeface="Fira Sans Condensed"/>
              </a:endParaRPr>
            </a:p>
          </p:txBody>
        </p:sp>
        <p:sp>
          <p:nvSpPr>
            <p:cNvPr id="44" name="Forma 43"/>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IRS-1 / IRS-2</a:t>
              </a:r>
              <a:endParaRPr lang="es-AR" sz="1650" dirty="0">
                <a:latin typeface="Fira Sans Condensed"/>
              </a:endParaRPr>
            </a:p>
          </p:txBody>
        </p:sp>
        <p:sp>
          <p:nvSpPr>
            <p:cNvPr id="45" name="Forma 44"/>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Los </a:t>
              </a:r>
              <a:r>
                <a:rPr lang="es-AR" sz="1450" b="1" dirty="0">
                  <a:solidFill>
                    <a:srgbClr val="1E1E1E"/>
                  </a:solidFill>
                  <a:latin typeface="Fira Sans Condensed"/>
                  <a:ea typeface="Fira Sans Condensed"/>
                  <a:cs typeface="Fira Sans Condensed"/>
                  <a:sym typeface="Fira Sans Condensed"/>
                </a:rPr>
                <a:t>sustratos del receptor de insulina</a:t>
              </a:r>
              <a:r>
                <a:rPr lang="es-AR" sz="1450" dirty="0">
                  <a:solidFill>
                    <a:srgbClr val="1E1E1E"/>
                  </a:solidFill>
                  <a:latin typeface="Fira Sans Condensed"/>
                  <a:ea typeface="Fira Sans Condensed"/>
                  <a:cs typeface="Fira Sans Condensed"/>
                  <a:sym typeface="Fira Sans Condensed"/>
                </a:rPr>
                <a:t> se anclan a las fosfotirosinas.</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El receptor los fosforila en </a:t>
              </a:r>
              <a:r>
                <a:rPr lang="es-AR" sz="1450" b="1" dirty="0">
                  <a:solidFill>
                    <a:srgbClr val="1E1E1E"/>
                  </a:solidFill>
                  <a:latin typeface="Fira Sans Condensed"/>
                  <a:ea typeface="Fira Sans Condensed"/>
                  <a:cs typeface="Fira Sans Condensed"/>
                  <a:sym typeface="Fira Sans Condensed"/>
                </a:rPr>
                <a:t>tirosinas</a:t>
              </a:r>
              <a:r>
                <a:rPr lang="es-AR" sz="1450" dirty="0">
                  <a:solidFill>
                    <a:srgbClr val="1E1E1E"/>
                  </a:solidFill>
                  <a:latin typeface="Fira Sans Condensed"/>
                  <a:ea typeface="Fira Sans Condensed"/>
                  <a:cs typeface="Fira Sans Condensed"/>
                  <a:sym typeface="Fira Sans Condensed"/>
                </a:rPr>
                <a:t> (P amarilla).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IRS funciona como </a:t>
              </a:r>
              <a:r>
                <a:rPr lang="es-AR" sz="1450" b="1" dirty="0">
                  <a:solidFill>
                    <a:srgbClr val="1E1E1E"/>
                  </a:solidFill>
                  <a:latin typeface="Fira Sans Condensed"/>
                  <a:ea typeface="Fira Sans Condensed"/>
                  <a:cs typeface="Fira Sans Condensed"/>
                  <a:sym typeface="Fira Sans Condensed"/>
                </a:rPr>
                <a:t>plataforma</a:t>
              </a:r>
              <a:r>
                <a:rPr lang="es-AR" sz="1450" dirty="0">
                  <a:solidFill>
                    <a:srgbClr val="1E1E1E"/>
                  </a:solidFill>
                  <a:latin typeface="Fira Sans Condensed"/>
                  <a:ea typeface="Fira Sans Condensed"/>
                  <a:cs typeface="Fira Sans Condensed"/>
                  <a:sym typeface="Fira Sans Condensed"/>
                </a:rPr>
                <a:t>: reúne efectores con dominios SH2.</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fosforilación en </a:t>
              </a:r>
              <a:r>
                <a:rPr lang="es-AR" sz="1450" b="1" dirty="0">
                  <a:solidFill>
                    <a:srgbClr val="1E1E1E"/>
                  </a:solidFill>
                  <a:latin typeface="Fira Sans Condensed"/>
                  <a:ea typeface="Fira Sans Condensed"/>
                  <a:cs typeface="Fira Sans Condensed"/>
                  <a:sym typeface="Fira Sans Condensed"/>
                </a:rPr>
                <a:t>serina/treonina</a:t>
              </a:r>
              <a:r>
                <a:rPr lang="es-AR" sz="1450" dirty="0">
                  <a:solidFill>
                    <a:srgbClr val="1E1E1E"/>
                  </a:solidFill>
                  <a:latin typeface="Fira Sans Condensed"/>
                  <a:ea typeface="Fira Sans Condensed"/>
                  <a:cs typeface="Fira Sans Condensed"/>
                  <a:sym typeface="Fira Sans Condensed"/>
                </a:rPr>
                <a:t> de IRS es inhibitoria (resistencia).</a:t>
              </a:r>
              <a:endParaRPr lang="es-AR" sz="1450" dirty="0">
                <a:latin typeface="Fira Sans Condensed"/>
              </a:endParaRPr>
            </a:p>
          </p:txBody>
        </p:sp>
      </p:grpSp>
      <p:grpSp>
        <p:nvGrpSpPr>
          <p:cNvPr id="46" name="!!Progreso señal"/>
          <p:cNvGrpSpPr/>
          <p:nvPr/>
        </p:nvGrpSpPr>
        <p:grpSpPr>
          <a:xfrm>
            <a:off x="8092440" y="5669280"/>
            <a:ext cx="3739896" cy="566928"/>
            <a:chOff x="8092440" y="5669280"/>
            <a:chExt cx="3739896" cy="566928"/>
          </a:xfrm>
        </p:grpSpPr>
        <p:sp>
          <p:nvSpPr>
            <p:cNvPr id="47"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8"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49" name="Etapa 3"/>
            <p:cNvSpPr/>
            <p:nvPr/>
          </p:nvSpPr>
          <p:spPr>
            <a:xfrm>
              <a:off x="9171432"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50"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51"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52"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53"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RECLUTAMIENTO Y FOSFORILACIÓN DE IRS</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30</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5"/>
                                        </p:tgtEl>
                                      </p:cBhvr>
                                      <p:by x="112000" y="112000"/>
                                    </p:animScale>
                                  </p:childTnLst>
                                </p:cTn>
                              </p:par>
                            </p:childTnLst>
                          </p:cTn>
                        </p:par>
                        <p:par>
                          <p:cTn id="11" fill="hold">
                            <p:stCondLst>
                              <p:cond delay="300"/>
                            </p:stCondLst>
                            <p:childTnLst>
                              <p:par>
                                <p:cTn id="6" presetID="53" presetClass="entr" presetSubtype="16" fill="hold" grpId="0" nodeType="afterEffect">
                                  <p:stCondLst>
                                    <p:cond delay="0"/>
                                  </p:stCondLst>
                                  <p:childTnLst>
                                    <p:set>
                                      <p:cBhvr>
                                        <p:cTn id="7" dur="1" fill="hold">
                                          <p:stCondLst>
                                            <p:cond delay="0"/>
                                          </p:stCondLst>
                                        </p:cTn>
                                        <p:tgtEl>
                                          <p:spTgt spid="26"/>
                                        </p:tgtEl>
                                        <p:attrNameLst>
                                          <p:attrName>style.visibility</p:attrName>
                                        </p:attrNameLst>
                                      </p:cBhvr>
                                      <p:to>
                                        <p:strVal val="visible"/>
                                      </p:to>
                                    </p:set>
                                    <p:anim calcmode="lin" valueType="num">
                                      <p:cBhvr>
                                        <p:cTn id="8" dur="500" fill="hold"/>
                                        <p:tgtEl>
                                          <p:spTgt spid="26"/>
                                        </p:tgtEl>
                                        <p:attrNameLst>
                                          <p:attrName>ppt_w</p:attrName>
                                        </p:attrNameLst>
                                      </p:cBhvr>
                                      <p:tavLst>
                                        <p:tav tm="0">
                                          <p:val>
                                            <p:fltVal val="0"/>
                                          </p:val>
                                        </p:tav>
                                        <p:tav tm="100000">
                                          <p:val>
                                            <p:strVal val="#ppt_w"/>
                                          </p:val>
                                        </p:tav>
                                      </p:tavLst>
                                    </p:anim>
                                    <p:anim calcmode="lin" valueType="num">
                                      <p:cBhvr>
                                        <p:cTn id="9" dur="500" fill="hold"/>
                                        <p:tgtEl>
                                          <p:spTgt spid="26"/>
                                        </p:tgtEl>
                                        <p:attrNameLst>
                                          <p:attrName>ppt_h</p:attrName>
                                        </p:attrNameLst>
                                      </p:cBhvr>
                                      <p:tavLst>
                                        <p:tav tm="0">
                                          <p:val>
                                            <p:fltVal val="0"/>
                                          </p:val>
                                        </p:tav>
                                        <p:tav tm="100000">
                                          <p:val>
                                            <p:strVal val="#ppt_h"/>
                                          </p:val>
                                        </p:tav>
                                      </p:tavLst>
                                    </p:anim>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7" name="!!PI3K"/>
          <p:cNvSpPr/>
          <p:nvPr/>
        </p:nvSpPr>
        <p:spPr>
          <a:xfrm>
            <a:off x="3703320" y="2880360"/>
            <a:ext cx="914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PIP</a:t>
            </a:r>
            <a:r>
              <a:rPr lang="es-AR" sz="1200" b="1" baseline="-25000" dirty="0">
                <a:solidFill>
                  <a:srgbClr val="C00000"/>
                </a:solidFill>
                <a:latin typeface="Fira Sans Condensed"/>
                <a:ea typeface="Fira Sans Condensed"/>
                <a:cs typeface="Fira Sans Condensed"/>
                <a:sym typeface="Fira Sans Condensed"/>
              </a:rPr>
              <a:t>3</a:t>
            </a:r>
            <a:endParaRPr lang="es-AR" sz="1200" dirty="0">
              <a:latin typeface="Fira Sans Condensed"/>
            </a:endParaRPr>
          </a:p>
        </p:txBody>
      </p:sp>
      <p:sp>
        <p:nvSpPr>
          <p:cNvPr id="29" name="!!PDK1"/>
          <p:cNvSpPr/>
          <p:nvPr/>
        </p:nvSpPr>
        <p:spPr>
          <a:xfrm>
            <a:off x="457200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577840" y="512064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AS160 (TBC1D4)</a:t>
            </a:r>
            <a:endParaRPr lang="es-AR" sz="1150" dirty="0">
              <a:latin typeface="Fira Sans Condensed"/>
            </a:endParaRPr>
          </a:p>
        </p:txBody>
      </p:sp>
      <p:grpSp>
        <p:nvGrpSpPr>
          <p:cNvPr id="32" name="!!Vesícula GLUT4 0"/>
          <p:cNvGrpSpPr/>
          <p:nvPr/>
        </p:nvGrpSpPr>
        <p:grpSpPr>
          <a:xfrm>
            <a:off x="6309360" y="4937760"/>
            <a:ext cx="566928" cy="566928"/>
            <a:chOff x="6309360" y="4937760"/>
            <a:chExt cx="566928" cy="566928"/>
          </a:xfrm>
        </p:grpSpPr>
        <p:sp>
          <p:nvSpPr>
            <p:cNvPr id="33" name="Forma 32"/>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4" name="Forma 33"/>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5" name="!!Vesícula GLUT4 1"/>
          <p:cNvGrpSpPr/>
          <p:nvPr/>
        </p:nvGrpSpPr>
        <p:grpSpPr>
          <a:xfrm>
            <a:off x="7040880" y="4572000"/>
            <a:ext cx="566928" cy="566928"/>
            <a:chOff x="7040880" y="4572000"/>
            <a:chExt cx="566928" cy="566928"/>
          </a:xfrm>
        </p:grpSpPr>
        <p:sp>
          <p:nvSpPr>
            <p:cNvPr id="36" name="Forma 35"/>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7" name="Forma 36"/>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8" name="!!Vesícula GLUT4 2"/>
          <p:cNvGrpSpPr/>
          <p:nvPr/>
        </p:nvGrpSpPr>
        <p:grpSpPr>
          <a:xfrm>
            <a:off x="6903720" y="5394960"/>
            <a:ext cx="566928" cy="566928"/>
            <a:chOff x="6903720" y="5394960"/>
            <a:chExt cx="566928" cy="566928"/>
          </a:xfrm>
        </p:grpSpPr>
        <p:sp>
          <p:nvSpPr>
            <p:cNvPr id="39" name="Forma 38"/>
            <p:cNvSpPr/>
            <p:nvPr/>
          </p:nvSpPr>
          <p:spPr>
            <a:xfrm>
              <a:off x="6903720" y="53949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0" name="Forma 39"/>
            <p:cNvSpPr/>
            <p:nvPr/>
          </p:nvSpPr>
          <p:spPr>
            <a:xfrm>
              <a:off x="7123176" y="55046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1" name="!!Panel"/>
          <p:cNvGrpSpPr/>
          <p:nvPr/>
        </p:nvGrpSpPr>
        <p:grpSpPr>
          <a:xfrm>
            <a:off x="8092440" y="1051560"/>
            <a:ext cx="3749040" cy="4343400"/>
            <a:chOff x="8092440" y="1051560"/>
            <a:chExt cx="3749040" cy="4343400"/>
          </a:xfrm>
        </p:grpSpPr>
        <p:sp>
          <p:nvSpPr>
            <p:cNvPr id="42" name="Forma 41"/>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3" name="Forma 42"/>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4–5</a:t>
              </a:r>
              <a:endParaRPr lang="es-AR" sz="1600" dirty="0">
                <a:latin typeface="Fira Sans Condensed"/>
              </a:endParaRPr>
            </a:p>
          </p:txBody>
        </p:sp>
        <p:sp>
          <p:nvSpPr>
            <p:cNvPr id="44" name="Forma 43"/>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PI3K → PIP₃</a:t>
              </a:r>
              <a:endParaRPr lang="es-AR" sz="1650" dirty="0">
                <a:latin typeface="Fira Sans Condensed"/>
              </a:endParaRPr>
            </a:p>
          </p:txBody>
        </p:sp>
        <p:sp>
          <p:nvSpPr>
            <p:cNvPr id="45" name="Forma 44"/>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subunidad reguladora p85 se une a IRS-P; la catalítica p110 queda junto a la membrana.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PI3K fosforila </a:t>
              </a:r>
              <a:r>
                <a:rPr lang="es-AR" sz="1450" b="1" dirty="0">
                  <a:solidFill>
                    <a:srgbClr val="1E1E1E"/>
                  </a:solidFill>
                  <a:latin typeface="Fira Sans Condensed"/>
                  <a:ea typeface="Fira Sans Condensed"/>
                  <a:cs typeface="Fira Sans Condensed"/>
                  <a:sym typeface="Fira Sans Condensed"/>
                </a:rPr>
                <a:t>PIP₂ → PIP₃</a:t>
              </a:r>
              <a:r>
                <a:rPr lang="es-AR" sz="1450" dirty="0">
                  <a:solidFill>
                    <a:srgbClr val="1E1E1E"/>
                  </a:solidFill>
                  <a:latin typeface="Fira Sans Condensed"/>
                  <a:ea typeface="Fira Sans Condensed"/>
                  <a:cs typeface="Fira Sans Condensed"/>
                  <a:sym typeface="Fira Sans Condensed"/>
                </a:rPr>
                <a:t> (fosfatidilinositol-3,4,5-trisfosfato).</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PIP₃ recluta proteínas con dominio </a:t>
              </a:r>
              <a:r>
                <a:rPr lang="es-AR" sz="1450" b="1" dirty="0">
                  <a:solidFill>
                    <a:srgbClr val="1E1E1E"/>
                  </a:solidFill>
                  <a:latin typeface="Fira Sans Condensed"/>
                  <a:ea typeface="Fira Sans Condensed"/>
                  <a:cs typeface="Fira Sans Condensed"/>
                  <a:sym typeface="Fira Sans Condensed"/>
                </a:rPr>
                <a:t>PH</a:t>
              </a:r>
              <a:r>
                <a:rPr lang="es-AR" sz="1450" dirty="0">
                  <a:solidFill>
                    <a:srgbClr val="1E1E1E"/>
                  </a:solidFill>
                  <a:latin typeface="Fira Sans Condensed"/>
                  <a:ea typeface="Fira Sans Condensed"/>
                  <a:cs typeface="Fira Sans Condensed"/>
                  <a:sym typeface="Fira Sans Condensed"/>
                </a:rPr>
                <a:t> a la membrana.</a:t>
              </a:r>
              <a:endParaRPr lang="es-AR" sz="1450" dirty="0">
                <a:latin typeface="Fira Sans Condensed"/>
              </a:endParaRPr>
            </a:p>
          </p:txBody>
        </p:sp>
      </p:grpSp>
      <p:grpSp>
        <p:nvGrpSpPr>
          <p:cNvPr id="46" name="!!Progreso señal"/>
          <p:cNvGrpSpPr/>
          <p:nvPr/>
        </p:nvGrpSpPr>
        <p:grpSpPr>
          <a:xfrm>
            <a:off x="8092440" y="5669280"/>
            <a:ext cx="3739896" cy="566928"/>
            <a:chOff x="8092440" y="5669280"/>
            <a:chExt cx="3739896" cy="566928"/>
          </a:xfrm>
        </p:grpSpPr>
        <p:sp>
          <p:nvSpPr>
            <p:cNvPr id="47"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8"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49"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50" name="Etapa 4"/>
            <p:cNvSpPr/>
            <p:nvPr/>
          </p:nvSpPr>
          <p:spPr>
            <a:xfrm>
              <a:off x="9710928"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51"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52"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53"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ACTIVACIÓN DE PI3K Y PRODUCCIÓN DE PIP</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₃</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31</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7"/>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28"/>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7" name="!!PI3K"/>
          <p:cNvSpPr/>
          <p:nvPr/>
        </p:nvSpPr>
        <p:spPr>
          <a:xfrm>
            <a:off x="3703320" y="2880360"/>
            <a:ext cx="914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PIP</a:t>
            </a:r>
            <a:r>
              <a:rPr lang="es-AR" sz="1200" b="1" baseline="-25000" dirty="0">
                <a:solidFill>
                  <a:srgbClr val="C00000"/>
                </a:solidFill>
                <a:latin typeface="Fira Sans Condensed"/>
                <a:ea typeface="Fira Sans Condensed"/>
                <a:cs typeface="Fira Sans Condensed"/>
                <a:sym typeface="Fira Sans Condensed"/>
              </a:rPr>
              <a:t>3</a:t>
            </a:r>
            <a:endParaRPr lang="es-AR" sz="1200" dirty="0">
              <a:latin typeface="Fira Sans Condensed"/>
            </a:endParaRPr>
          </a:p>
        </p:txBody>
      </p:sp>
      <p:sp>
        <p:nvSpPr>
          <p:cNvPr id="29" name="!!PDK1"/>
          <p:cNvSpPr/>
          <p:nvPr/>
        </p:nvSpPr>
        <p:spPr>
          <a:xfrm>
            <a:off x="480060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76072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kt-P"/>
          <p:cNvSpPr/>
          <p:nvPr/>
        </p:nvSpPr>
        <p:spPr>
          <a:xfrm>
            <a:off x="6446520" y="2724912"/>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32"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AS160 (TBC1D4)</a:t>
            </a:r>
            <a:endParaRPr lang="es-AR" sz="1150" dirty="0">
              <a:latin typeface="Fira Sans Condensed"/>
            </a:endParaRPr>
          </a:p>
        </p:txBody>
      </p:sp>
      <p:grpSp>
        <p:nvGrpSpPr>
          <p:cNvPr id="33" name="!!Vesícula GLUT4 0"/>
          <p:cNvGrpSpPr/>
          <p:nvPr/>
        </p:nvGrpSpPr>
        <p:grpSpPr>
          <a:xfrm>
            <a:off x="6309360" y="4937760"/>
            <a:ext cx="566928" cy="566928"/>
            <a:chOff x="6309360" y="4937760"/>
            <a:chExt cx="566928" cy="566928"/>
          </a:xfrm>
        </p:grpSpPr>
        <p:sp>
          <p:nvSpPr>
            <p:cNvPr id="34" name="Forma 33"/>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5" name="Forma 34"/>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6" name="!!Vesícula GLUT4 1"/>
          <p:cNvGrpSpPr/>
          <p:nvPr/>
        </p:nvGrpSpPr>
        <p:grpSpPr>
          <a:xfrm>
            <a:off x="7040880" y="4572000"/>
            <a:ext cx="566928" cy="566928"/>
            <a:chOff x="7040880" y="4572000"/>
            <a:chExt cx="566928" cy="566928"/>
          </a:xfrm>
        </p:grpSpPr>
        <p:sp>
          <p:nvSpPr>
            <p:cNvPr id="37" name="Forma 36"/>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8" name="Forma 37"/>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9" name="!!Vesícula GLUT4 2"/>
          <p:cNvGrpSpPr/>
          <p:nvPr/>
        </p:nvGrpSpPr>
        <p:grpSpPr>
          <a:xfrm>
            <a:off x="6903720" y="5394960"/>
            <a:ext cx="566928" cy="566928"/>
            <a:chOff x="6903720" y="5394960"/>
            <a:chExt cx="566928" cy="566928"/>
          </a:xfrm>
        </p:grpSpPr>
        <p:sp>
          <p:nvSpPr>
            <p:cNvPr id="40" name="Forma 39"/>
            <p:cNvSpPr/>
            <p:nvPr/>
          </p:nvSpPr>
          <p:spPr>
            <a:xfrm>
              <a:off x="6903720" y="53949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1" name="Forma 40"/>
            <p:cNvSpPr/>
            <p:nvPr/>
          </p:nvSpPr>
          <p:spPr>
            <a:xfrm>
              <a:off x="7123176" y="55046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2" name="!!Panel"/>
          <p:cNvGrpSpPr/>
          <p:nvPr/>
        </p:nvGrpSpPr>
        <p:grpSpPr>
          <a:xfrm>
            <a:off x="8092440" y="1051560"/>
            <a:ext cx="3749040" cy="4343400"/>
            <a:chOff x="8092440" y="1051560"/>
            <a:chExt cx="3749040" cy="4343400"/>
          </a:xfrm>
        </p:grpSpPr>
        <p:sp>
          <p:nvSpPr>
            <p:cNvPr id="43" name="Forma 42"/>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4" name="Forma 43"/>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6</a:t>
              </a:r>
              <a:endParaRPr lang="es-AR" sz="1600" dirty="0">
                <a:latin typeface="Fira Sans Condensed"/>
              </a:endParaRPr>
            </a:p>
          </p:txBody>
        </p:sp>
        <p:sp>
          <p:nvSpPr>
            <p:cNvPr id="45" name="Forma 44"/>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Akt (PKB): el nodo metabólico</a:t>
              </a:r>
              <a:endParaRPr lang="es-AR" sz="1650" dirty="0">
                <a:latin typeface="Fira Sans Condensed"/>
              </a:endParaRPr>
            </a:p>
          </p:txBody>
        </p:sp>
        <p:sp>
          <p:nvSpPr>
            <p:cNvPr id="46" name="Forma 45"/>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PDK1 y Akt se reclutan sobre PIP₃.</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PDK1 (y mTORC2) </a:t>
              </a:r>
              <a:r>
                <a:rPr lang="es-AR" sz="1450" b="1" dirty="0">
                  <a:solidFill>
                    <a:srgbClr val="1E1E1E"/>
                  </a:solidFill>
                  <a:latin typeface="Fira Sans Condensed"/>
                  <a:ea typeface="Fira Sans Condensed"/>
                  <a:cs typeface="Fira Sans Condensed"/>
                  <a:sym typeface="Fira Sans Condensed"/>
                </a:rPr>
                <a:t>fosforilan Akt</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Akt fosforila múltiples blancos: </a:t>
              </a:r>
              <a:r>
                <a:rPr lang="es-AR" sz="1450" b="1" dirty="0">
                  <a:solidFill>
                    <a:srgbClr val="1E1E1E"/>
                  </a:solidFill>
                  <a:latin typeface="Fira Sans Condensed"/>
                  <a:ea typeface="Fira Sans Condensed"/>
                  <a:cs typeface="Fira Sans Condensed"/>
                  <a:sym typeface="Fira Sans Condensed"/>
                </a:rPr>
                <a:t>AS160</a:t>
              </a:r>
              <a:r>
                <a:rPr lang="es-AR" sz="1450" dirty="0">
                  <a:solidFill>
                    <a:srgbClr val="1E1E1E"/>
                  </a:solidFill>
                  <a:latin typeface="Fira Sans Condensed"/>
                  <a:ea typeface="Fira Sans Condensed"/>
                  <a:cs typeface="Fira Sans Condensed"/>
                  <a:sym typeface="Fira Sans Condensed"/>
                </a:rPr>
                <a:t> (GLUT4), </a:t>
              </a:r>
              <a:r>
                <a:rPr lang="es-AR" sz="1450" b="1" dirty="0">
                  <a:solidFill>
                    <a:srgbClr val="1E1E1E"/>
                  </a:solidFill>
                  <a:latin typeface="Fira Sans Condensed"/>
                  <a:ea typeface="Fira Sans Condensed"/>
                  <a:cs typeface="Fira Sans Condensed"/>
                  <a:sym typeface="Fira Sans Condensed"/>
                </a:rPr>
                <a:t>GSK3</a:t>
              </a:r>
              <a:r>
                <a:rPr lang="es-AR" sz="1450" dirty="0">
                  <a:solidFill>
                    <a:srgbClr val="1E1E1E"/>
                  </a:solidFill>
                  <a:latin typeface="Fira Sans Condensed"/>
                  <a:ea typeface="Fira Sans Condensed"/>
                  <a:cs typeface="Fira Sans Condensed"/>
                  <a:sym typeface="Fira Sans Condensed"/>
                </a:rPr>
                <a:t> (glucógeno), </a:t>
              </a:r>
              <a:r>
                <a:rPr lang="es-AR" sz="1450" b="1" dirty="0">
                  <a:solidFill>
                    <a:srgbClr val="1E1E1E"/>
                  </a:solidFill>
                  <a:latin typeface="Fira Sans Condensed"/>
                  <a:ea typeface="Fira Sans Condensed"/>
                  <a:cs typeface="Fira Sans Condensed"/>
                  <a:sym typeface="Fira Sans Condensed"/>
                </a:rPr>
                <a:t>FOXO1</a:t>
              </a:r>
              <a:r>
                <a:rPr lang="es-AR" sz="1450" dirty="0">
                  <a:solidFill>
                    <a:srgbClr val="1E1E1E"/>
                  </a:solidFill>
                  <a:latin typeface="Fira Sans Condensed"/>
                  <a:ea typeface="Fira Sans Condensed"/>
                  <a:cs typeface="Fira Sans Condensed"/>
                  <a:sym typeface="Fira Sans Condensed"/>
                </a:rPr>
                <a:t> (gluconeogénesis), </a:t>
              </a:r>
              <a:r>
                <a:rPr lang="es-AR" sz="1450" b="1" dirty="0">
                  <a:solidFill>
                    <a:srgbClr val="1E1E1E"/>
                  </a:solidFill>
                  <a:latin typeface="Fira Sans Condensed"/>
                  <a:ea typeface="Fira Sans Condensed"/>
                  <a:cs typeface="Fira Sans Condensed"/>
                  <a:sym typeface="Fira Sans Condensed"/>
                </a:rPr>
                <a:t>PDE3B</a:t>
              </a:r>
              <a:r>
                <a:rPr lang="es-AR" sz="1450" dirty="0">
                  <a:solidFill>
                    <a:srgbClr val="1E1E1E"/>
                  </a:solidFill>
                  <a:latin typeface="Fira Sans Condensed"/>
                  <a:ea typeface="Fira Sans Condensed"/>
                  <a:cs typeface="Fira Sans Condensed"/>
                  <a:sym typeface="Fira Sans Condensed"/>
                </a:rPr>
                <a:t> (lipólisis), mTORC1.</a:t>
              </a:r>
              <a:endParaRPr lang="es-AR" sz="1450" dirty="0">
                <a:latin typeface="Fira Sans Condensed"/>
              </a:endParaRPr>
            </a:p>
          </p:txBody>
        </p:sp>
      </p:grpSp>
      <p:grpSp>
        <p:nvGrpSpPr>
          <p:cNvPr id="47" name="!!Progreso señal"/>
          <p:cNvGrpSpPr/>
          <p:nvPr/>
        </p:nvGrpSpPr>
        <p:grpSpPr>
          <a:xfrm>
            <a:off x="8092440" y="5669280"/>
            <a:ext cx="3739896" cy="566928"/>
            <a:chOff x="8092440" y="5669280"/>
            <a:chExt cx="3739896" cy="566928"/>
          </a:xfrm>
        </p:grpSpPr>
        <p:sp>
          <p:nvSpPr>
            <p:cNvPr id="48"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9"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50"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51"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52" name="Etapa 5"/>
            <p:cNvSpPr/>
            <p:nvPr/>
          </p:nvSpPr>
          <p:spPr>
            <a:xfrm>
              <a:off x="10250424"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53"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54"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PDK1 ACTIVA AKT</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32</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9"/>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30"/>
                                        </p:tgtEl>
                                      </p:cBhvr>
                                      <p:by x="112000" y="112000"/>
                                    </p:animScale>
                                  </p:childTnLst>
                                </p:cTn>
                              </p:par>
                            </p:childTnLst>
                          </p:cTn>
                        </p:par>
                        <p:par>
                          <p:cTn id="14"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p:cTn id="11" dur="500" fill="hold"/>
                                        <p:tgtEl>
                                          <p:spTgt spid="31"/>
                                        </p:tgtEl>
                                        <p:attrNameLst>
                                          <p:attrName>ppt_w</p:attrName>
                                        </p:attrNameLst>
                                      </p:cBhvr>
                                      <p:tavLst>
                                        <p:tav tm="0">
                                          <p:val>
                                            <p:fltVal val="0"/>
                                          </p:val>
                                        </p:tav>
                                        <p:tav tm="100000">
                                          <p:val>
                                            <p:strVal val="#ppt_w"/>
                                          </p:val>
                                        </p:tav>
                                      </p:tavLst>
                                    </p:anim>
                                    <p:anim calcmode="lin" valueType="num">
                                      <p:cBhvr>
                                        <p:cTn id="12" dur="500" fill="hold"/>
                                        <p:tgtEl>
                                          <p:spTgt spid="31"/>
                                        </p:tgtEl>
                                        <p:attrNameLst>
                                          <p:attrName>ppt_h</p:attrName>
                                        </p:attrNameLst>
                                      </p:cBhvr>
                                      <p:tavLst>
                                        <p:tav tm="0">
                                          <p:val>
                                            <p:fltVal val="0"/>
                                          </p:val>
                                        </p:tav>
                                        <p:tav tm="100000">
                                          <p:val>
                                            <p:strVal val="#ppt_h"/>
                                          </p:val>
                                        </p:tav>
                                      </p:tavLst>
                                    </p:anim>
                                    <p:animEffect transition="in" filter="fade">
                                      <p:cBhvr>
                                        <p:cTn id="1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7" name="!!PI3K"/>
          <p:cNvSpPr/>
          <p:nvPr/>
        </p:nvSpPr>
        <p:spPr>
          <a:xfrm>
            <a:off x="3703320" y="2880360"/>
            <a:ext cx="914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PIP</a:t>
            </a:r>
            <a:r>
              <a:rPr lang="es-AR" sz="1200" b="1" baseline="-25000" dirty="0">
                <a:solidFill>
                  <a:srgbClr val="C00000"/>
                </a:solidFill>
                <a:latin typeface="Fira Sans Condensed"/>
                <a:ea typeface="Fira Sans Condensed"/>
                <a:cs typeface="Fira Sans Condensed"/>
                <a:sym typeface="Fira Sans Condensed"/>
              </a:rPr>
              <a:t>3</a:t>
            </a:r>
            <a:endParaRPr lang="es-AR" sz="1200" dirty="0">
              <a:latin typeface="Fira Sans Condensed"/>
            </a:endParaRPr>
          </a:p>
        </p:txBody>
      </p:sp>
      <p:sp>
        <p:nvSpPr>
          <p:cNvPr id="29" name="!!PDK1"/>
          <p:cNvSpPr/>
          <p:nvPr/>
        </p:nvSpPr>
        <p:spPr>
          <a:xfrm>
            <a:off x="480060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76072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kt-P"/>
          <p:cNvSpPr/>
          <p:nvPr/>
        </p:nvSpPr>
        <p:spPr>
          <a:xfrm>
            <a:off x="6446520" y="2724912"/>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32" name="!!AS160"/>
          <p:cNvSpPr/>
          <p:nvPr/>
        </p:nvSpPr>
        <p:spPr>
          <a:xfrm>
            <a:off x="5897880" y="3749040"/>
            <a:ext cx="118872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AS160-P</a:t>
            </a:r>
            <a:endParaRPr lang="es-AR" sz="1250" dirty="0">
              <a:latin typeface="Fira Sans Condensed"/>
            </a:endParaRPr>
          </a:p>
        </p:txBody>
      </p:sp>
      <p:grpSp>
        <p:nvGrpSpPr>
          <p:cNvPr id="33" name="!!Vesícula GLUT4 0"/>
          <p:cNvGrpSpPr/>
          <p:nvPr/>
        </p:nvGrpSpPr>
        <p:grpSpPr>
          <a:xfrm>
            <a:off x="6446520" y="2240280"/>
            <a:ext cx="566928" cy="566928"/>
            <a:chOff x="6446520" y="2240280"/>
            <a:chExt cx="566928" cy="566928"/>
          </a:xfrm>
        </p:grpSpPr>
        <p:sp>
          <p:nvSpPr>
            <p:cNvPr id="34" name="Forma 33"/>
            <p:cNvSpPr/>
            <p:nvPr/>
          </p:nvSpPr>
          <p:spPr>
            <a:xfrm>
              <a:off x="6446520" y="2240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5" name="Forma 34"/>
            <p:cNvSpPr/>
            <p:nvPr/>
          </p:nvSpPr>
          <p:spPr>
            <a:xfrm>
              <a:off x="6665976" y="2350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6" name="!!Vesícula GLUT4 1"/>
          <p:cNvGrpSpPr/>
          <p:nvPr/>
        </p:nvGrpSpPr>
        <p:grpSpPr>
          <a:xfrm>
            <a:off x="7086600" y="2240280"/>
            <a:ext cx="566928" cy="566928"/>
            <a:chOff x="7086600" y="2240280"/>
            <a:chExt cx="566928" cy="566928"/>
          </a:xfrm>
        </p:grpSpPr>
        <p:sp>
          <p:nvSpPr>
            <p:cNvPr id="37" name="Forma 36"/>
            <p:cNvSpPr/>
            <p:nvPr/>
          </p:nvSpPr>
          <p:spPr>
            <a:xfrm>
              <a:off x="7086600" y="2240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8" name="Forma 37"/>
            <p:cNvSpPr/>
            <p:nvPr/>
          </p:nvSpPr>
          <p:spPr>
            <a:xfrm>
              <a:off x="7306056" y="2350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9" name="!!Vesícula GLUT4 2"/>
          <p:cNvGrpSpPr/>
          <p:nvPr/>
        </p:nvGrpSpPr>
        <p:grpSpPr>
          <a:xfrm>
            <a:off x="6309360" y="4526280"/>
            <a:ext cx="566928" cy="566928"/>
            <a:chOff x="6309360" y="4526280"/>
            <a:chExt cx="566928" cy="566928"/>
          </a:xfrm>
        </p:grpSpPr>
        <p:sp>
          <p:nvSpPr>
            <p:cNvPr id="40" name="Forma 39"/>
            <p:cNvSpPr/>
            <p:nvPr/>
          </p:nvSpPr>
          <p:spPr>
            <a:xfrm>
              <a:off x="6309360" y="4526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1" name="Forma 40"/>
            <p:cNvSpPr/>
            <p:nvPr/>
          </p:nvSpPr>
          <p:spPr>
            <a:xfrm>
              <a:off x="6528816" y="4636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2" name="!!Panel"/>
          <p:cNvGrpSpPr/>
          <p:nvPr/>
        </p:nvGrpSpPr>
        <p:grpSpPr>
          <a:xfrm>
            <a:off x="8092440" y="1051560"/>
            <a:ext cx="3749040" cy="4343400"/>
            <a:chOff x="8092440" y="1051560"/>
            <a:chExt cx="3749040" cy="4343400"/>
          </a:xfrm>
        </p:grpSpPr>
        <p:sp>
          <p:nvSpPr>
            <p:cNvPr id="43" name="Forma 42"/>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4" name="Forma 43"/>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7</a:t>
              </a:r>
              <a:endParaRPr lang="es-AR" sz="1600" dirty="0">
                <a:latin typeface="Fira Sans Condensed"/>
              </a:endParaRPr>
            </a:p>
          </p:txBody>
        </p:sp>
        <p:sp>
          <p:nvSpPr>
            <p:cNvPr id="45" name="Forma 44"/>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GLUT4 a la membrana</a:t>
              </a:r>
              <a:endParaRPr lang="es-AR" sz="1650" dirty="0">
                <a:latin typeface="Fira Sans Condensed"/>
              </a:endParaRPr>
            </a:p>
          </p:txBody>
        </p:sp>
        <p:sp>
          <p:nvSpPr>
            <p:cNvPr id="46" name="Forma 45"/>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Akt fosforila </a:t>
              </a:r>
              <a:r>
                <a:rPr lang="es-AR" sz="1450" b="1" dirty="0">
                  <a:solidFill>
                    <a:srgbClr val="1E1E1E"/>
                  </a:solidFill>
                  <a:latin typeface="Fira Sans Condensed"/>
                  <a:ea typeface="Fira Sans Condensed"/>
                  <a:cs typeface="Fira Sans Condensed"/>
                  <a:sym typeface="Fira Sans Condensed"/>
                </a:rPr>
                <a:t>AS160/TBC1D4</a:t>
              </a:r>
              <a:r>
                <a:rPr lang="es-AR" sz="1450" dirty="0">
                  <a:solidFill>
                    <a:srgbClr val="1E1E1E"/>
                  </a:solidFill>
                  <a:latin typeface="Fira Sans Condensed"/>
                  <a:ea typeface="Fira Sans Condensed"/>
                  <a:cs typeface="Fira Sans Condensed"/>
                  <a:sym typeface="Fira Sans Condensed"/>
                </a:rPr>
                <a:t> (una GAP de Rab) → Rab-GTP activos.</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a:t>
              </a:r>
              <a:r>
                <a:rPr lang="es-AR" sz="1450" b="1" dirty="0">
                  <a:solidFill>
                    <a:srgbClr val="1E1E1E"/>
                  </a:solidFill>
                  <a:latin typeface="Fira Sans Condensed"/>
                  <a:ea typeface="Fira Sans Condensed"/>
                  <a:cs typeface="Fira Sans Condensed"/>
                  <a:sym typeface="Fira Sans Condensed"/>
                </a:rPr>
                <a:t>vesículas con GLUT4</a:t>
              </a:r>
              <a:r>
                <a:rPr lang="es-AR" sz="1450" dirty="0">
                  <a:solidFill>
                    <a:srgbClr val="1E1E1E"/>
                  </a:solidFill>
                  <a:latin typeface="Fira Sans Condensed"/>
                  <a:ea typeface="Fira Sans Condensed"/>
                  <a:cs typeface="Fira Sans Condensed"/>
                  <a:sym typeface="Fira Sans Condensed"/>
                </a:rPr>
                <a:t> se mueven y </a:t>
              </a:r>
              <a:r>
                <a:rPr lang="es-AR" sz="1450" b="1" dirty="0">
                  <a:solidFill>
                    <a:srgbClr val="1E1E1E"/>
                  </a:solidFill>
                  <a:latin typeface="Fira Sans Condensed"/>
                  <a:ea typeface="Fira Sans Condensed"/>
                  <a:cs typeface="Fira Sans Condensed"/>
                  <a:sym typeface="Fira Sans Condensed"/>
                </a:rPr>
                <a:t>fusionan</a:t>
              </a:r>
              <a:r>
                <a:rPr lang="es-AR" sz="1450" dirty="0">
                  <a:solidFill>
                    <a:srgbClr val="1E1E1E"/>
                  </a:solidFill>
                  <a:latin typeface="Fira Sans Condensed"/>
                  <a:ea typeface="Fira Sans Condensed"/>
                  <a:cs typeface="Fira Sans Condensed"/>
                  <a:sym typeface="Fira Sans Condensed"/>
                </a:rPr>
                <a:t> con la membrana.</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glucosa entra por </a:t>
              </a:r>
              <a:r>
                <a:rPr lang="es-AR" sz="1450" b="1" dirty="0">
                  <a:solidFill>
                    <a:srgbClr val="1E1E1E"/>
                  </a:solidFill>
                  <a:latin typeface="Fira Sans Condensed"/>
                  <a:ea typeface="Fira Sans Condensed"/>
                  <a:cs typeface="Fira Sans Condensed"/>
                  <a:sym typeface="Fira Sans Condensed"/>
                </a:rPr>
                <a:t>difusión facilitada</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Al cesar la señal, GLUT4 se reinternaliza por endocitosis.</a:t>
              </a:r>
              <a:endParaRPr lang="es-AR" sz="1450" dirty="0">
                <a:latin typeface="Fira Sans Condensed"/>
              </a:endParaRPr>
            </a:p>
          </p:txBody>
        </p:sp>
      </p:grpSp>
      <p:grpSp>
        <p:nvGrpSpPr>
          <p:cNvPr id="47" name="!!Progreso señal"/>
          <p:cNvGrpSpPr/>
          <p:nvPr/>
        </p:nvGrpSpPr>
        <p:grpSpPr>
          <a:xfrm>
            <a:off x="8092440" y="5669280"/>
            <a:ext cx="3739896" cy="566928"/>
            <a:chOff x="8092440" y="5669280"/>
            <a:chExt cx="3739896" cy="566928"/>
          </a:xfrm>
        </p:grpSpPr>
        <p:sp>
          <p:nvSpPr>
            <p:cNvPr id="48"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49"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50"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51"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52"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53" name="Etapa 6"/>
            <p:cNvSpPr/>
            <p:nvPr/>
          </p:nvSpPr>
          <p:spPr>
            <a:xfrm>
              <a:off x="10789920"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54" name="Etapa 7"/>
            <p:cNvSpPr/>
            <p:nvPr/>
          </p:nvSpPr>
          <p:spPr>
            <a:xfrm>
              <a:off x="11329416" y="5669280"/>
              <a:ext cx="502920" cy="566928"/>
            </a:xfrm>
            <a:prstGeom prst="rect">
              <a:avLst/>
            </a:prstGeom>
            <a:solidFill>
              <a:srgbClr val="FFC000"/>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55" name="Glc entra 0"/>
          <p:cNvSpPr/>
          <p:nvPr/>
        </p:nvSpPr>
        <p:spPr>
          <a:xfrm>
            <a:off x="6355080" y="105156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56" name="Glc entra 1"/>
          <p:cNvSpPr/>
          <p:nvPr/>
        </p:nvSpPr>
        <p:spPr>
          <a:xfrm>
            <a:off x="6995160" y="105156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57" name="Glc entra 2"/>
          <p:cNvSpPr/>
          <p:nvPr/>
        </p:nvSpPr>
        <p:spPr>
          <a:xfrm>
            <a:off x="6355080" y="1344168"/>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58" name="Glc entra 3"/>
          <p:cNvSpPr/>
          <p:nvPr/>
        </p:nvSpPr>
        <p:spPr>
          <a:xfrm>
            <a:off x="6995160" y="1344168"/>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AS160 </a:t>
            </a:r>
            <a:r>
              <a:rPr lang="es-AR" sz="28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 TRANSLOCACIÓN DE GLUT4 </a:t>
            </a:r>
            <a:r>
              <a:rPr lang="es-AR" sz="28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 ENTRADA DE GLUCOSA</a:t>
            </a:r>
            <a:endParaRPr lang="es-AR" sz="28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5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32"/>
                                        </p:tgtEl>
                                      </p:cBhvr>
                                      <p:by x="112000" y="112000"/>
                                    </p:animScale>
                                  </p:childTnLst>
                                </p:cTn>
                              </p:par>
                            </p:childTnLst>
                          </p:cTn>
                        </p:par>
                      </p:childTnLst>
                    </p:cTn>
                  </p:par>
                  <p:par>
                    <p:cTn id="23" fill="hold">
                      <p:stCondLst>
                        <p:cond delay="indefinite"/>
                      </p:stCondLst>
                      <p:childTnLst>
                        <p:par>
                          <p:cTn id="10" fill="hold">
                            <p:stCondLst>
                              <p:cond delay="0"/>
                            </p:stCondLst>
                            <p:childTnLst>
                              <p:par>
                                <p:cTn id="7" presetID="10" presetClass="entr" presetSubtype="0" fill="hold" grpId="0" nodeType="clickEffect">
                                  <p:stCondLst>
                                    <p:cond delay="0"/>
                                  </p:stCondLst>
                                  <p:childTnLst>
                                    <p:set>
                                      <p:cBhvr>
                                        <p:cTn id="8" dur="1" fill="hold">
                                          <p:stCondLst>
                                            <p:cond delay="0"/>
                                          </p:stCondLst>
                                        </p:cTn>
                                        <p:tgtEl>
                                          <p:spTgt spid="55"/>
                                        </p:tgtEl>
                                        <p:attrNameLst>
                                          <p:attrName>style.visibility</p:attrName>
                                        </p:attrNameLst>
                                      </p:cBhvr>
                                      <p:to>
                                        <p:strVal val="visible"/>
                                      </p:to>
                                    </p:set>
                                    <p:animEffect transition="in" filter="fade">
                                      <p:cBhvr>
                                        <p:cTn id="9" dur="150"/>
                                        <p:tgtEl>
                                          <p:spTgt spid="55"/>
                                        </p:tgtEl>
                                      </p:cBhvr>
                                    </p:animEffect>
                                  </p:childTnLst>
                                </p:cTn>
                              </p:par>
                            </p:childTnLst>
                          </p:cTn>
                        </p:par>
                        <p:par>
                          <p:cTn id="14" fill="hold">
                            <p:stCondLst>
                              <p:cond delay="150"/>
                            </p:stCondLst>
                            <p:childTnLst>
                              <p:par>
                                <p:cTn id="11" presetID="10" presetClass="entr" presetSubtype="0" fill="hold" grpId="0" nodeType="after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150"/>
                                        <p:tgtEl>
                                          <p:spTgt spid="56"/>
                                        </p:tgtEl>
                                      </p:cBhvr>
                                    </p:animEffect>
                                  </p:childTnLst>
                                </p:cTn>
                              </p:par>
                            </p:childTnLst>
                          </p:cTn>
                        </p:par>
                        <p:par>
                          <p:cTn id="18" fill="hold">
                            <p:stCondLst>
                              <p:cond delay="300"/>
                            </p:stCondLst>
                            <p:childTnLst>
                              <p:par>
                                <p:cTn id="15" presetID="10" presetClass="entr" presetSubtype="0" fill="hold" grpId="0" nodeType="after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fade">
                                      <p:cBhvr>
                                        <p:cTn id="17" dur="150"/>
                                        <p:tgtEl>
                                          <p:spTgt spid="57"/>
                                        </p:tgtEl>
                                      </p:cBhvr>
                                    </p:animEffect>
                                  </p:childTnLst>
                                </p:cTn>
                              </p:par>
                            </p:childTnLst>
                          </p:cTn>
                        </p:par>
                        <p:par>
                          <p:cTn id="22" fill="hold">
                            <p:stCondLst>
                              <p:cond delay="450"/>
                            </p:stCondLst>
                            <p:childTnLst>
                              <p:par>
                                <p:cTn id="19" presetID="10" presetClass="entr" presetSubtype="0" fill="hold" grpId="0" nodeType="after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150"/>
                                        <p:tgtEl>
                                          <p:spTgt spid="58"/>
                                        </p:tgtEl>
                                      </p:cBhvr>
                                    </p:animEffect>
                                  </p:childTnLst>
                                </p:cTn>
                              </p:par>
                            </p:childTnLst>
                          </p:cTn>
                        </p:par>
                      </p:childTnLst>
                    </p:cTn>
                  </p:par>
                  <p:par>
                    <p:cTn id="36" fill="hold">
                      <p:stCondLst>
                        <p:cond delay="indefinite"/>
                      </p:stCondLst>
                      <p:childTnLst>
                        <p:par>
                          <p:cTn id="26" fill="hold">
                            <p:stCondLst>
                              <p:cond delay="0"/>
                            </p:stCondLst>
                            <p:childTnLst>
                              <p:par>
                                <p:cTn id="24" presetID="0" presetClass="path" presetSubtype="0" accel="20000" decel="20000" fill="hold" grpId="0" nodeType="clickEffect">
                                  <p:stCondLst>
                                    <p:cond delay="0"/>
                                  </p:stCondLst>
                                  <p:childTnLst>
                                    <p:animMotion origin="layout" path="M 0 0 L 0.0113 0.3200 E" pathEditMode="relative" ptsTypes="">
                                      <p:cBhvr>
                                        <p:cTn id="25" dur="1400" fill="hold"/>
                                        <p:tgtEl>
                                          <p:spTgt spid="55"/>
                                        </p:tgtEl>
                                        <p:attrNameLst>
                                          <p:attrName>ppt_x</p:attrName>
                                          <p:attrName>ppt_y</p:attrName>
                                        </p:attrNameLst>
                                      </p:cBhvr>
                                      <p:rCtr x="562" y="16000"/>
                                    </p:animMotion>
                                  </p:childTnLst>
                                </p:cTn>
                              </p:par>
                            </p:childTnLst>
                          </p:cTn>
                        </p:par>
                        <p:par>
                          <p:cTn id="29" fill="hold">
                            <p:stCondLst>
                              <p:cond delay="250"/>
                            </p:stCondLst>
                            <p:childTnLst>
                              <p:par>
                                <p:cTn id="27" presetID="0" presetClass="path" presetSubtype="0" accel="20000" decel="20000" fill="hold" grpId="0" nodeType="afterEffect">
                                  <p:stCondLst>
                                    <p:cond delay="0"/>
                                  </p:stCondLst>
                                  <p:childTnLst>
                                    <p:animMotion origin="layout" path="M 0 0 L 0.0113 0.3200 E" pathEditMode="relative" ptsTypes="">
                                      <p:cBhvr>
                                        <p:cTn id="28" dur="1400" fill="hold"/>
                                        <p:tgtEl>
                                          <p:spTgt spid="56"/>
                                        </p:tgtEl>
                                        <p:attrNameLst>
                                          <p:attrName>ppt_x</p:attrName>
                                          <p:attrName>ppt_y</p:attrName>
                                        </p:attrNameLst>
                                      </p:cBhvr>
                                      <p:rCtr x="562" y="16000"/>
                                    </p:animMotion>
                                  </p:childTnLst>
                                </p:cTn>
                              </p:par>
                            </p:childTnLst>
                          </p:cTn>
                        </p:par>
                        <p:par>
                          <p:cTn id="32" fill="hold">
                            <p:stCondLst>
                              <p:cond delay="750"/>
                            </p:stCondLst>
                            <p:childTnLst>
                              <p:par>
                                <p:cTn id="30" presetID="0" presetClass="path" presetSubtype="0" accel="20000" decel="20000" fill="hold" grpId="0" nodeType="afterEffect">
                                  <p:stCondLst>
                                    <p:cond delay="0"/>
                                  </p:stCondLst>
                                  <p:childTnLst>
                                    <p:animMotion origin="layout" path="M 0 0 L 0.0113 0.3667 E" pathEditMode="relative" ptsTypes="">
                                      <p:cBhvr>
                                        <p:cTn id="31" dur="1400" fill="hold"/>
                                        <p:tgtEl>
                                          <p:spTgt spid="57"/>
                                        </p:tgtEl>
                                        <p:attrNameLst>
                                          <p:attrName>ppt_x</p:attrName>
                                          <p:attrName>ppt_y</p:attrName>
                                        </p:attrNameLst>
                                      </p:cBhvr>
                                      <p:rCtr x="562" y="18333"/>
                                    </p:animMotion>
                                  </p:childTnLst>
                                </p:cTn>
                              </p:par>
                            </p:childTnLst>
                          </p:cTn>
                        </p:par>
                        <p:par>
                          <p:cTn id="35" fill="hold">
                            <p:stCondLst>
                              <p:cond delay="1500"/>
                            </p:stCondLst>
                            <p:childTnLst>
                              <p:par>
                                <p:cTn id="33" presetID="0" presetClass="path" presetSubtype="0" accel="20000" decel="20000" fill="hold" grpId="0" nodeType="afterEffect">
                                  <p:stCondLst>
                                    <p:cond delay="0"/>
                                  </p:stCondLst>
                                  <p:childTnLst>
                                    <p:animMotion origin="layout" path="M 0 0 L 0.0113 0.3667 E" pathEditMode="relative" ptsTypes="">
                                      <p:cBhvr>
                                        <p:cTn id="34" dur="1400" fill="hold"/>
                                        <p:tgtEl>
                                          <p:spTgt spid="58"/>
                                        </p:tgtEl>
                                        <p:attrNameLst>
                                          <p:attrName>ppt_x</p:attrName>
                                          <p:attrName>ppt_y</p:attrName>
                                        </p:attrNameLst>
                                      </p:cBhvr>
                                      <p:rCtr x="562" y="183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5" grpId="0" animBg="1"/>
      <p:bldP spid="56" grpId="0" animBg="1"/>
      <p:bldP spid="57" grpId="0" animBg="1"/>
      <p:bldP spid="58"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7" name="!!PI3K"/>
          <p:cNvSpPr/>
          <p:nvPr/>
        </p:nvSpPr>
        <p:spPr>
          <a:xfrm>
            <a:off x="3703320" y="2880360"/>
            <a:ext cx="914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PIP</a:t>
            </a:r>
            <a:r>
              <a:rPr lang="es-AR" sz="1200" b="1" baseline="-25000" dirty="0">
                <a:solidFill>
                  <a:srgbClr val="C00000"/>
                </a:solidFill>
                <a:latin typeface="Fira Sans Condensed"/>
                <a:ea typeface="Fira Sans Condensed"/>
                <a:cs typeface="Fira Sans Condensed"/>
                <a:sym typeface="Fira Sans Condensed"/>
              </a:rPr>
              <a:t>3</a:t>
            </a:r>
            <a:endParaRPr lang="es-AR" sz="1200" dirty="0">
              <a:latin typeface="Fira Sans Condensed"/>
            </a:endParaRPr>
          </a:p>
        </p:txBody>
      </p:sp>
      <p:sp>
        <p:nvSpPr>
          <p:cNvPr id="29" name="!!PDK1"/>
          <p:cNvSpPr/>
          <p:nvPr/>
        </p:nvSpPr>
        <p:spPr>
          <a:xfrm>
            <a:off x="480060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76072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kt-P"/>
          <p:cNvSpPr/>
          <p:nvPr/>
        </p:nvSpPr>
        <p:spPr>
          <a:xfrm>
            <a:off x="6446520" y="2724912"/>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32" name="!!AS160"/>
          <p:cNvSpPr/>
          <p:nvPr/>
        </p:nvSpPr>
        <p:spPr>
          <a:xfrm>
            <a:off x="5897880" y="3749040"/>
            <a:ext cx="118872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AS160-P</a:t>
            </a:r>
            <a:endParaRPr lang="es-AR" sz="1250" dirty="0">
              <a:latin typeface="Fira Sans Condensed"/>
            </a:endParaRPr>
          </a:p>
        </p:txBody>
      </p:sp>
      <p:grpSp>
        <p:nvGrpSpPr>
          <p:cNvPr id="33" name="!!Vesícula GLUT4 0"/>
          <p:cNvGrpSpPr/>
          <p:nvPr/>
        </p:nvGrpSpPr>
        <p:grpSpPr>
          <a:xfrm>
            <a:off x="6446520" y="2240280"/>
            <a:ext cx="566928" cy="566928"/>
            <a:chOff x="6446520" y="2240280"/>
            <a:chExt cx="566928" cy="566928"/>
          </a:xfrm>
        </p:grpSpPr>
        <p:sp>
          <p:nvSpPr>
            <p:cNvPr id="34" name="Forma 33"/>
            <p:cNvSpPr/>
            <p:nvPr/>
          </p:nvSpPr>
          <p:spPr>
            <a:xfrm>
              <a:off x="6446520" y="2240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5" name="Forma 34"/>
            <p:cNvSpPr/>
            <p:nvPr/>
          </p:nvSpPr>
          <p:spPr>
            <a:xfrm>
              <a:off x="6665976" y="2350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6" name="!!Vesícula GLUT4 1"/>
          <p:cNvGrpSpPr/>
          <p:nvPr/>
        </p:nvGrpSpPr>
        <p:grpSpPr>
          <a:xfrm>
            <a:off x="7086600" y="2240280"/>
            <a:ext cx="566928" cy="566928"/>
            <a:chOff x="7086600" y="2240280"/>
            <a:chExt cx="566928" cy="566928"/>
          </a:xfrm>
        </p:grpSpPr>
        <p:sp>
          <p:nvSpPr>
            <p:cNvPr id="37" name="Forma 36"/>
            <p:cNvSpPr/>
            <p:nvPr/>
          </p:nvSpPr>
          <p:spPr>
            <a:xfrm>
              <a:off x="7086600" y="2240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8" name="Forma 37"/>
            <p:cNvSpPr/>
            <p:nvPr/>
          </p:nvSpPr>
          <p:spPr>
            <a:xfrm>
              <a:off x="7306056" y="2350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9" name="!!Vesícula GLUT4 2"/>
          <p:cNvGrpSpPr/>
          <p:nvPr/>
        </p:nvGrpSpPr>
        <p:grpSpPr>
          <a:xfrm>
            <a:off x="6309360" y="4526280"/>
            <a:ext cx="566928" cy="566928"/>
            <a:chOff x="6309360" y="4526280"/>
            <a:chExt cx="566928" cy="566928"/>
          </a:xfrm>
        </p:grpSpPr>
        <p:sp>
          <p:nvSpPr>
            <p:cNvPr id="40" name="Forma 39"/>
            <p:cNvSpPr/>
            <p:nvPr/>
          </p:nvSpPr>
          <p:spPr>
            <a:xfrm>
              <a:off x="6309360" y="4526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1" name="Forma 40"/>
            <p:cNvSpPr/>
            <p:nvPr/>
          </p:nvSpPr>
          <p:spPr>
            <a:xfrm>
              <a:off x="6528816" y="4636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42" name="!!Rama MAPK"/>
          <p:cNvGrpSpPr/>
          <p:nvPr/>
        </p:nvGrpSpPr>
        <p:grpSpPr>
          <a:xfrm>
            <a:off x="640080" y="4069080"/>
            <a:ext cx="1783080" cy="2258568"/>
            <a:chOff x="640080" y="4069080"/>
            <a:chExt cx="1783080" cy="2258568"/>
          </a:xfrm>
        </p:grpSpPr>
        <p:sp>
          <p:nvSpPr>
            <p:cNvPr id="43" name="Recuadro Grb2/SOS"/>
            <p:cNvSpPr/>
            <p:nvPr/>
          </p:nvSpPr>
          <p:spPr>
            <a:xfrm>
              <a:off x="640080" y="4069080"/>
              <a:ext cx="1783080" cy="438912"/>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Grb2/SOS</a:t>
              </a:r>
              <a:endParaRPr lang="es-AR" sz="1250" dirty="0">
                <a:latin typeface="Fira Sans Condensed"/>
              </a:endParaRPr>
            </a:p>
          </p:txBody>
        </p:sp>
        <p:sp>
          <p:nvSpPr>
            <p:cNvPr id="44" name="Recuadro Ras-GTP"/>
            <p:cNvSpPr/>
            <p:nvPr/>
          </p:nvSpPr>
          <p:spPr>
            <a:xfrm>
              <a:off x="640080" y="4636008"/>
              <a:ext cx="1783080" cy="438912"/>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Ras-GTP</a:t>
              </a:r>
              <a:endParaRPr lang="es-AR" sz="1250" dirty="0">
                <a:latin typeface="Fira Sans Condensed"/>
              </a:endParaRPr>
            </a:p>
          </p:txBody>
        </p:sp>
        <p:sp>
          <p:nvSpPr>
            <p:cNvPr id="45" name="Flecha 44_2"/>
            <p:cNvSpPr/>
            <p:nvPr/>
          </p:nvSpPr>
          <p:spPr>
            <a:xfrm>
              <a:off x="1527048" y="4517136"/>
              <a:ext cx="9144" cy="109728"/>
            </a:xfrm>
            <a:custGeom>
              <a:avLst/>
              <a:gdLst/>
              <a:ahLst/>
              <a:cxnLst/>
              <a:rect l="0" t="0" r="r" b="b"/>
              <a:pathLst>
                <a:path w="10" h="120" fill="none">
                  <a:moveTo>
                    <a:pt x="0" y="0"/>
                  </a:moveTo>
                  <a:lnTo>
                    <a:pt x="0" y="120"/>
                  </a:lnTo>
                </a:path>
              </a:pathLst>
            </a:custGeom>
            <a:noFill/>
            <a:ln w="25400" cap="rnd">
              <a:solidFill>
                <a:srgbClr val="1E1E1E"/>
              </a:solidFill>
              <a:round/>
              <a:tailEnd type="triangle" w="med" len="med"/>
            </a:ln>
          </p:spPr>
        </p:sp>
        <p:sp>
          <p:nvSpPr>
            <p:cNvPr id="46" name="Recuadro Raf → MEK → ERK"/>
            <p:cNvSpPr/>
            <p:nvPr/>
          </p:nvSpPr>
          <p:spPr>
            <a:xfrm>
              <a:off x="640080" y="5202936"/>
              <a:ext cx="1783080" cy="438912"/>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Raf → MEK → ERK</a:t>
              </a:r>
              <a:endParaRPr lang="es-AR" sz="1250" dirty="0">
                <a:latin typeface="Fira Sans Condensed"/>
              </a:endParaRPr>
            </a:p>
          </p:txBody>
        </p:sp>
        <p:sp>
          <p:nvSpPr>
            <p:cNvPr id="47" name="Flecha 47_2"/>
            <p:cNvSpPr/>
            <p:nvPr/>
          </p:nvSpPr>
          <p:spPr>
            <a:xfrm>
              <a:off x="1527048" y="5084064"/>
              <a:ext cx="9144" cy="109728"/>
            </a:xfrm>
            <a:custGeom>
              <a:avLst/>
              <a:gdLst/>
              <a:ahLst/>
              <a:cxnLst/>
              <a:rect l="0" t="0" r="r" b="b"/>
              <a:pathLst>
                <a:path w="10" h="120" fill="none">
                  <a:moveTo>
                    <a:pt x="0" y="0"/>
                  </a:moveTo>
                  <a:lnTo>
                    <a:pt x="0" y="120"/>
                  </a:lnTo>
                </a:path>
              </a:pathLst>
            </a:custGeom>
            <a:noFill/>
            <a:ln w="25400" cap="rnd">
              <a:solidFill>
                <a:srgbClr val="1E1E1E"/>
              </a:solidFill>
              <a:round/>
              <a:tailEnd type="triangle" w="med" len="med"/>
            </a:ln>
          </p:spPr>
        </p:sp>
        <p:sp>
          <p:nvSpPr>
            <p:cNvPr id="48" name="Flecha 49_2"/>
            <p:cNvSpPr/>
            <p:nvPr/>
          </p:nvSpPr>
          <p:spPr>
            <a:xfrm>
              <a:off x="1527048" y="5678424"/>
              <a:ext cx="9144" cy="173736"/>
            </a:xfrm>
            <a:custGeom>
              <a:avLst/>
              <a:gdLst/>
              <a:ahLst/>
              <a:cxnLst/>
              <a:rect l="0" t="0" r="r" b="b"/>
              <a:pathLst>
                <a:path w="10" h="190" fill="none">
                  <a:moveTo>
                    <a:pt x="0" y="0"/>
                  </a:moveTo>
                  <a:lnTo>
                    <a:pt x="0" y="190"/>
                  </a:lnTo>
                </a:path>
              </a:pathLst>
            </a:custGeom>
            <a:noFill/>
            <a:ln w="25400" cap="rnd">
              <a:solidFill>
                <a:srgbClr val="1E1E1E"/>
              </a:solidFill>
              <a:round/>
              <a:tailEnd type="triangle" w="med" len="med"/>
            </a:ln>
          </p:spPr>
        </p:sp>
        <p:sp>
          <p:nvSpPr>
            <p:cNvPr id="49" name="Forma 51"/>
            <p:cNvSpPr/>
            <p:nvPr/>
          </p:nvSpPr>
          <p:spPr>
            <a:xfrm>
              <a:off x="640080" y="5870448"/>
              <a:ext cx="1783080" cy="457200"/>
            </a:xfrm>
            <a:prstGeom prst="rect">
              <a:avLst/>
            </a:prstGeom>
            <a:solidFill>
              <a:srgbClr val="D2B4DE"/>
            </a:solidFill>
            <a:ln w="15875" cap="rnd">
              <a:solidFill>
                <a:srgbClr val="1E1E1E"/>
              </a:solidFill>
              <a:round/>
            </a:ln>
          </p:spPr>
          <p:txBody>
            <a:bodyPr wrap="square" lIns="73152" tIns="45720" rIns="73152" bIns="4572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Núcleo: genes · proliferación</a:t>
              </a:r>
              <a:endParaRPr lang="es-AR" sz="1050" dirty="0">
                <a:latin typeface="Fira Sans Condensed"/>
              </a:endParaRPr>
            </a:p>
          </p:txBody>
        </p:sp>
      </p:grpSp>
      <p:grpSp>
        <p:nvGrpSpPr>
          <p:cNvPr id="50" name="!!Panel"/>
          <p:cNvGrpSpPr/>
          <p:nvPr/>
        </p:nvGrpSpPr>
        <p:grpSpPr>
          <a:xfrm>
            <a:off x="8092440" y="1051560"/>
            <a:ext cx="3749040" cy="4343400"/>
            <a:chOff x="8092440" y="1051560"/>
            <a:chExt cx="3749040" cy="4343400"/>
          </a:xfrm>
        </p:grpSpPr>
        <p:sp>
          <p:nvSpPr>
            <p:cNvPr id="51" name="Forma 53"/>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52" name="Forma 54"/>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8</a:t>
              </a:r>
              <a:endParaRPr lang="es-AR" sz="1600" dirty="0">
                <a:latin typeface="Fira Sans Condensed"/>
              </a:endParaRPr>
            </a:p>
          </p:txBody>
        </p:sp>
        <p:sp>
          <p:nvSpPr>
            <p:cNvPr id="53" name="Forma 55"/>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Rama mitogénica</a:t>
              </a:r>
              <a:endParaRPr lang="es-AR" sz="1650" dirty="0">
                <a:latin typeface="Fira Sans Condensed"/>
              </a:endParaRPr>
            </a:p>
          </p:txBody>
        </p:sp>
        <p:sp>
          <p:nvSpPr>
            <p:cNvPr id="54" name="Forma 56"/>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IRS/Shc reclutan </a:t>
              </a:r>
              <a:r>
                <a:rPr lang="es-AR" sz="1450" b="1" dirty="0">
                  <a:solidFill>
                    <a:srgbClr val="1E1E1E"/>
                  </a:solidFill>
                  <a:latin typeface="Fira Sans Condensed"/>
                  <a:ea typeface="Fira Sans Condensed"/>
                  <a:cs typeface="Fira Sans Condensed"/>
                  <a:sym typeface="Fira Sans Condensed"/>
                </a:rPr>
                <a:t>Grb2–SOS</a:t>
              </a:r>
              <a:r>
                <a:rPr lang="es-AR" sz="1450" dirty="0">
                  <a:solidFill>
                    <a:srgbClr val="1E1E1E"/>
                  </a:solidFill>
                  <a:latin typeface="Fira Sans Condensed"/>
                  <a:ea typeface="Fira Sans Condensed"/>
                  <a:cs typeface="Fira Sans Condensed"/>
                  <a:sym typeface="Fira Sans Condensed"/>
                </a:rPr>
                <a:t> → </a:t>
              </a:r>
              <a:r>
                <a:rPr lang="es-AR" sz="1450" b="1" dirty="0">
                  <a:solidFill>
                    <a:srgbClr val="1E1E1E"/>
                  </a:solidFill>
                  <a:latin typeface="Fira Sans Condensed"/>
                  <a:ea typeface="Fira Sans Condensed"/>
                  <a:cs typeface="Fira Sans Condensed"/>
                  <a:sym typeface="Fira Sans Condensed"/>
                </a:rPr>
                <a:t>Ras-GTP</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Cascada </a:t>
              </a:r>
              <a:r>
                <a:rPr lang="es-AR" sz="1450" b="1" dirty="0">
                  <a:solidFill>
                    <a:srgbClr val="1E1E1E"/>
                  </a:solidFill>
                  <a:latin typeface="Fira Sans Condensed"/>
                  <a:ea typeface="Fira Sans Condensed"/>
                  <a:cs typeface="Fira Sans Condensed"/>
                  <a:sym typeface="Fira Sans Condensed"/>
                </a:rPr>
                <a:t>Raf → MEK → ERK</a:t>
              </a:r>
              <a:r>
                <a:rPr lang="es-AR" sz="1450" dirty="0">
                  <a:solidFill>
                    <a:srgbClr val="1E1E1E"/>
                  </a:solidFill>
                  <a:latin typeface="Fira Sans Condensed"/>
                  <a:ea typeface="Fira Sans Condensed"/>
                  <a:cs typeface="Fira Sans Condensed"/>
                  <a:sym typeface="Fira Sans Condensed"/>
                </a:rPr>
                <a:t> (MAPK).</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ERK entra al núcleo: </a:t>
              </a:r>
              <a:r>
                <a:rPr lang="es-AR" sz="1450" b="1" dirty="0">
                  <a:solidFill>
                    <a:srgbClr val="1E1E1E"/>
                  </a:solidFill>
                  <a:latin typeface="Fira Sans Condensed"/>
                  <a:ea typeface="Fira Sans Condensed"/>
                  <a:cs typeface="Fira Sans Condensed"/>
                  <a:sym typeface="Fira Sans Condensed"/>
                </a:rPr>
                <a:t>expresión génica, crecimiento y proliferación</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rama PI3K–Akt es </a:t>
              </a:r>
              <a:r>
                <a:rPr lang="es-AR" sz="1450" b="1" dirty="0">
                  <a:solidFill>
                    <a:srgbClr val="1E1E1E"/>
                  </a:solidFill>
                  <a:latin typeface="Fira Sans Condensed"/>
                  <a:ea typeface="Fira Sans Condensed"/>
                  <a:cs typeface="Fira Sans Condensed"/>
                  <a:sym typeface="Fira Sans Condensed"/>
                </a:rPr>
                <a:t>principalmente metabólica</a:t>
              </a:r>
              <a:r>
                <a:rPr lang="es-AR" sz="1450" dirty="0">
                  <a:solidFill>
                    <a:srgbClr val="1E1E1E"/>
                  </a:solidFill>
                  <a:latin typeface="Fira Sans Condensed"/>
                  <a:ea typeface="Fira Sans Condensed"/>
                  <a:cs typeface="Fira Sans Condensed"/>
                  <a:sym typeface="Fira Sans Condensed"/>
                </a:rPr>
                <a:t>; la MAPK, mitogénica.</a:t>
              </a:r>
              <a:endParaRPr lang="es-AR" sz="1450" dirty="0">
                <a:latin typeface="Fira Sans Condensed"/>
              </a:endParaRPr>
            </a:p>
          </p:txBody>
        </p:sp>
      </p:grpSp>
      <p:grpSp>
        <p:nvGrpSpPr>
          <p:cNvPr id="55" name="!!Progreso señal"/>
          <p:cNvGrpSpPr/>
          <p:nvPr/>
        </p:nvGrpSpPr>
        <p:grpSpPr>
          <a:xfrm>
            <a:off x="8092440" y="5669280"/>
            <a:ext cx="3739896" cy="566928"/>
            <a:chOff x="8092440" y="5669280"/>
            <a:chExt cx="3739896" cy="566928"/>
          </a:xfrm>
        </p:grpSpPr>
        <p:sp>
          <p:nvSpPr>
            <p:cNvPr id="56"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57"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58"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a:t>
              </a:r>
              <a:endParaRPr lang="es-AR" sz="900" dirty="0">
                <a:latin typeface="Fira Sans Condensed"/>
              </a:endParaRPr>
            </a:p>
          </p:txBody>
        </p:sp>
        <p:sp>
          <p:nvSpPr>
            <p:cNvPr id="59"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PI3K/PIP3</a:t>
              </a:r>
              <a:endParaRPr lang="es-AR" sz="900" dirty="0">
                <a:latin typeface="Fira Sans Condensed"/>
              </a:endParaRPr>
            </a:p>
          </p:txBody>
        </p:sp>
        <p:sp>
          <p:nvSpPr>
            <p:cNvPr id="60"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a:t>
              </a:r>
              <a:endParaRPr lang="es-AR" sz="900" dirty="0">
                <a:latin typeface="Fira Sans Condensed"/>
              </a:endParaRPr>
            </a:p>
          </p:txBody>
        </p:sp>
        <p:sp>
          <p:nvSpPr>
            <p:cNvPr id="61"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a:t>
              </a:r>
              <a:endParaRPr lang="es-AR" sz="900" dirty="0">
                <a:latin typeface="Fira Sans Condensed"/>
              </a:endParaRPr>
            </a:p>
          </p:txBody>
        </p:sp>
        <p:sp>
          <p:nvSpPr>
            <p:cNvPr id="62"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Glucosa</a:t>
              </a:r>
              <a:endParaRPr lang="es-AR" sz="9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SEGUNDA RAMA: RAS–RAF–MEK–ERK</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6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22" presetClass="entr" presetSubtype="1" fill="hold" grpId="0" nodeType="clickEffect">
                                  <p:stCondLst>
                                    <p:cond delay="0"/>
                                  </p:stCondLst>
                                  <p:childTnLst>
                                    <p:set>
                                      <p:cBhvr>
                                        <p:cTn id="4" dur="1" fill="hold">
                                          <p:stCondLst>
                                            <p:cond delay="0"/>
                                          </p:stCondLst>
                                        </p:cTn>
                                        <p:tgtEl>
                                          <p:spTgt spid="42"/>
                                        </p:tgtEl>
                                        <p:attrNameLst>
                                          <p:attrName>style.visibility</p:attrName>
                                        </p:attrNameLst>
                                      </p:cBhvr>
                                      <p:to>
                                        <p:strVal val="visible"/>
                                      </p:to>
                                    </p:set>
                                    <p:animEffect transition="in" filter="wipe(up)">
                                      <p:cBhvr>
                                        <p:cTn id="5" dur="9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pSp>
        <p:nvGrpSpPr>
          <p:cNvPr id="6" name="Hepatocito señal"/>
          <p:cNvGrpSpPr/>
          <p:nvPr/>
        </p:nvGrpSpPr>
        <p:grpSpPr>
          <a:xfrm>
            <a:off x="320040" y="1143000"/>
            <a:ext cx="3108960" cy="2549347"/>
            <a:chOff x="320040" y="1143000"/>
            <a:chExt cx="3108960" cy="2549347"/>
          </a:xfrm>
        </p:grpSpPr>
        <p:sp>
          <p:nvSpPr>
            <p:cNvPr id="7" name="Forma 6"/>
            <p:cNvSpPr/>
            <p:nvPr/>
          </p:nvSpPr>
          <p:spPr>
            <a:xfrm>
              <a:off x="320040" y="1143000"/>
              <a:ext cx="3108960" cy="2549347"/>
            </a:xfrm>
            <a:custGeom>
              <a:avLst/>
              <a:gdLst/>
              <a:ahLst/>
              <a:cxnLst/>
              <a:rect l="0" t="0" r="r" b="b"/>
              <a:pathLst>
                <a:path w="1000" h="1000">
                  <a:moveTo>
                    <a:pt x="120" y="80"/>
                  </a:moveTo>
                  <a:cubicBezTo>
                    <a:pt x="164" y="38"/>
                    <a:pt x="430" y="19"/>
                    <a:pt x="500" y="20"/>
                  </a:cubicBezTo>
                  <a:cubicBezTo>
                    <a:pt x="569" y="20"/>
                    <a:pt x="836" y="50"/>
                    <a:pt x="880" y="90"/>
                  </a:cubicBezTo>
                  <a:cubicBezTo>
                    <a:pt x="924" y="129"/>
                    <a:pt x="981" y="375"/>
                    <a:pt x="980" y="450"/>
                  </a:cubicBezTo>
                  <a:cubicBezTo>
                    <a:pt x="978" y="524"/>
                    <a:pt x="905" y="851"/>
                    <a:pt x="860" y="900"/>
                  </a:cubicBezTo>
                  <a:cubicBezTo>
                    <a:pt x="814" y="948"/>
                    <a:pt x="548" y="980"/>
                    <a:pt x="480" y="980"/>
                  </a:cubicBezTo>
                  <a:cubicBezTo>
                    <a:pt x="411" y="980"/>
                    <a:pt x="152" y="946"/>
                    <a:pt x="110" y="900"/>
                  </a:cubicBezTo>
                  <a:cubicBezTo>
                    <a:pt x="67" y="853"/>
                    <a:pt x="19" y="545"/>
                    <a:pt x="20" y="470"/>
                  </a:cubicBezTo>
                  <a:cubicBezTo>
                    <a:pt x="20" y="394"/>
                    <a:pt x="76" y="121"/>
                    <a:pt x="120" y="80"/>
                  </a:cubicBezTo>
                  <a:close/>
                </a:path>
              </a:pathLst>
            </a:custGeom>
            <a:gradFill rotWithShape="1">
              <a:gsLst>
                <a:gs pos="0">
                  <a:srgbClr val="F2CABE"/>
                </a:gs>
                <a:gs pos="55000">
                  <a:srgbClr val="E8A08A"/>
                </a:gs>
                <a:gs pos="100000">
                  <a:srgbClr val="AE7867"/>
                </a:gs>
              </a:gsLst>
              <a:path path="circle">
                <a:fillToRect l="32000" t="28000" r="68000" b="72000"/>
              </a:path>
            </a:gradFill>
            <a:ln w="25400" cap="rnd">
              <a:solidFill>
                <a:srgbClr val="68483E"/>
              </a:solidFill>
              <a:round/>
            </a:ln>
            <a:effectLst>
              <a:outerShdw blurRad="101600" dist="50800" dir="2700000" algn="tl" rotWithShape="0">
                <a:srgbClr val="000000">
                  <a:alpha val="30000"/>
                </a:srgbClr>
              </a:outerShdw>
            </a:effectLst>
          </p:spPr>
        </p:sp>
        <p:grpSp>
          <p:nvGrpSpPr>
            <p:cNvPr id="8" name="Núcleo hepatocito"/>
            <p:cNvGrpSpPr/>
            <p:nvPr/>
          </p:nvGrpSpPr>
          <p:grpSpPr>
            <a:xfrm>
              <a:off x="1563624" y="2060765"/>
              <a:ext cx="683971" cy="615574"/>
              <a:chOff x="1563624" y="2060765"/>
              <a:chExt cx="683971" cy="615574"/>
            </a:xfrm>
          </p:grpSpPr>
          <p:sp>
            <p:nvSpPr>
              <p:cNvPr id="9" name="Forma 8"/>
              <p:cNvSpPr/>
              <p:nvPr/>
            </p:nvSpPr>
            <p:spPr>
              <a:xfrm>
                <a:off x="1563624" y="2060765"/>
                <a:ext cx="683971" cy="615574"/>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0" name="Forma 9"/>
              <p:cNvSpPr/>
              <p:nvPr/>
            </p:nvSpPr>
            <p:spPr>
              <a:xfrm>
                <a:off x="1919289" y="2265956"/>
                <a:ext cx="150474" cy="136794"/>
              </a:xfrm>
              <a:prstGeom prst="ellipse">
                <a:avLst/>
              </a:prstGeom>
              <a:solidFill>
                <a:srgbClr val="513B6B"/>
              </a:solidFill>
              <a:ln>
                <a:noFill/>
              </a:ln>
            </p:spPr>
          </p:sp>
        </p:grpSp>
        <p:grpSp>
          <p:nvGrpSpPr>
            <p:cNvPr id="11" name="Retículo endoplasmático"/>
            <p:cNvGrpSpPr/>
            <p:nvPr/>
          </p:nvGrpSpPr>
          <p:grpSpPr>
            <a:xfrm>
              <a:off x="693115" y="1510446"/>
              <a:ext cx="746150" cy="542161"/>
              <a:chOff x="693115" y="1510446"/>
              <a:chExt cx="746150" cy="542161"/>
            </a:xfrm>
          </p:grpSpPr>
          <p:sp>
            <p:nvSpPr>
              <p:cNvPr id="12" name="Forma 11"/>
              <p:cNvSpPr/>
              <p:nvPr/>
            </p:nvSpPr>
            <p:spPr>
              <a:xfrm>
                <a:off x="693115" y="1525402"/>
                <a:ext cx="746150" cy="14021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3" name="Forma 12"/>
              <p:cNvSpPr/>
              <p:nvPr/>
            </p:nvSpPr>
            <p:spPr>
              <a:xfrm>
                <a:off x="693115" y="1510446"/>
                <a:ext cx="746150" cy="168257"/>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4" name="Forma 13"/>
              <p:cNvSpPr/>
              <p:nvPr/>
            </p:nvSpPr>
            <p:spPr>
              <a:xfrm>
                <a:off x="693115" y="1712354"/>
                <a:ext cx="746150" cy="14021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5" name="Forma 14"/>
              <p:cNvSpPr/>
              <p:nvPr/>
            </p:nvSpPr>
            <p:spPr>
              <a:xfrm>
                <a:off x="693115" y="1697398"/>
                <a:ext cx="746150" cy="168257"/>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sp>
            <p:nvSpPr>
              <p:cNvPr id="16" name="Forma 15"/>
              <p:cNvSpPr/>
              <p:nvPr/>
            </p:nvSpPr>
            <p:spPr>
              <a:xfrm>
                <a:off x="693115" y="1899306"/>
                <a:ext cx="746150" cy="140214"/>
              </a:xfrm>
              <a:custGeom>
                <a:avLst/>
                <a:gdLst/>
                <a:ahLst/>
                <a:cxnLst/>
                <a:rect l="0" t="0" r="r" b="b"/>
                <a:pathLst>
                  <a:path w="1000" h="1000">
                    <a:moveTo>
                      <a:pt x="0" y="300"/>
                    </a:moveTo>
                    <a:cubicBezTo>
                      <a:pt x="20" y="241"/>
                      <a:pt x="208" y="0"/>
                      <a:pt x="250" y="0"/>
                    </a:cubicBezTo>
                    <a:cubicBezTo>
                      <a:pt x="291" y="0"/>
                      <a:pt x="458" y="300"/>
                      <a:pt x="500" y="300"/>
                    </a:cubicBezTo>
                    <a:cubicBezTo>
                      <a:pt x="541" y="300"/>
                      <a:pt x="708" y="0"/>
                      <a:pt x="750" y="0"/>
                    </a:cubicBezTo>
                    <a:cubicBezTo>
                      <a:pt x="791" y="0"/>
                      <a:pt x="979" y="241"/>
                      <a:pt x="1000" y="300"/>
                    </a:cubicBezTo>
                    <a:cubicBezTo>
                      <a:pt x="1020" y="358"/>
                      <a:pt x="1020" y="641"/>
                      <a:pt x="1000" y="700"/>
                    </a:cubicBezTo>
                    <a:cubicBezTo>
                      <a:pt x="979" y="758"/>
                      <a:pt x="791" y="1000"/>
                      <a:pt x="750" y="1000"/>
                    </a:cubicBezTo>
                    <a:cubicBezTo>
                      <a:pt x="708" y="1000"/>
                      <a:pt x="541" y="700"/>
                      <a:pt x="500" y="700"/>
                    </a:cubicBezTo>
                    <a:cubicBezTo>
                      <a:pt x="458" y="700"/>
                      <a:pt x="291" y="1000"/>
                      <a:pt x="250" y="1000"/>
                    </a:cubicBezTo>
                    <a:cubicBezTo>
                      <a:pt x="208" y="1000"/>
                      <a:pt x="20" y="758"/>
                      <a:pt x="0" y="700"/>
                    </a:cubicBezTo>
                    <a:cubicBezTo>
                      <a:pt x="-20" y="641"/>
                      <a:pt x="-20" y="358"/>
                      <a:pt x="0" y="300"/>
                    </a:cubicBezTo>
                    <a:close/>
                  </a:path>
                </a:pathLst>
              </a:custGeom>
              <a:solidFill>
                <a:srgbClr val="D8BEE2"/>
              </a:solidFill>
              <a:ln w="9525" cap="rnd">
                <a:solidFill>
                  <a:srgbClr val="7E6489"/>
                </a:solidFill>
                <a:round/>
              </a:ln>
            </p:spPr>
          </p:sp>
          <p:sp>
            <p:nvSpPr>
              <p:cNvPr id="17" name="Forma 16"/>
              <p:cNvSpPr/>
              <p:nvPr/>
            </p:nvSpPr>
            <p:spPr>
              <a:xfrm>
                <a:off x="693115" y="1884350"/>
                <a:ext cx="746150" cy="168257"/>
              </a:xfrm>
              <a:custGeom>
                <a:avLst/>
                <a:gdLst/>
                <a:ahLst/>
                <a:cxnLst/>
                <a:rect l="0" t="0" r="r" b="b"/>
                <a:pathLst>
                  <a:path w="1000" h="1000">
                    <a:moveTo>
                      <a:pt x="105" y="880"/>
                    </a:moveTo>
                    <a:cubicBezTo>
                      <a:pt x="105" y="904"/>
                      <a:pt x="84" y="925"/>
                      <a:pt x="60" y="925"/>
                    </a:cubicBezTo>
                    <a:cubicBezTo>
                      <a:pt x="35" y="925"/>
                      <a:pt x="15" y="904"/>
                      <a:pt x="15" y="880"/>
                    </a:cubicBezTo>
                    <a:cubicBezTo>
                      <a:pt x="15" y="855"/>
                      <a:pt x="35" y="835"/>
                      <a:pt x="60" y="835"/>
                    </a:cubicBezTo>
                    <a:cubicBezTo>
                      <a:pt x="84" y="835"/>
                      <a:pt x="105" y="855"/>
                      <a:pt x="105" y="880"/>
                    </a:cubicBezTo>
                    <a:close/>
                    <a:moveTo>
                      <a:pt x="185" y="120"/>
                    </a:moveTo>
                    <a:cubicBezTo>
                      <a:pt x="185" y="144"/>
                      <a:pt x="164" y="165"/>
                      <a:pt x="140" y="165"/>
                    </a:cubicBezTo>
                    <a:cubicBezTo>
                      <a:pt x="115" y="165"/>
                      <a:pt x="95" y="144"/>
                      <a:pt x="95" y="120"/>
                    </a:cubicBezTo>
                    <a:cubicBezTo>
                      <a:pt x="95" y="95"/>
                      <a:pt x="115" y="75"/>
                      <a:pt x="140" y="75"/>
                    </a:cubicBezTo>
                    <a:cubicBezTo>
                      <a:pt x="164" y="75"/>
                      <a:pt x="185" y="95"/>
                      <a:pt x="185" y="120"/>
                    </a:cubicBezTo>
                    <a:close/>
                    <a:moveTo>
                      <a:pt x="265" y="880"/>
                    </a:moveTo>
                    <a:cubicBezTo>
                      <a:pt x="265" y="904"/>
                      <a:pt x="244" y="925"/>
                      <a:pt x="220" y="925"/>
                    </a:cubicBezTo>
                    <a:cubicBezTo>
                      <a:pt x="195" y="925"/>
                      <a:pt x="175" y="904"/>
                      <a:pt x="175" y="880"/>
                    </a:cubicBezTo>
                    <a:cubicBezTo>
                      <a:pt x="175" y="855"/>
                      <a:pt x="195" y="835"/>
                      <a:pt x="220" y="835"/>
                    </a:cubicBezTo>
                    <a:cubicBezTo>
                      <a:pt x="244" y="835"/>
                      <a:pt x="265" y="855"/>
                      <a:pt x="265" y="880"/>
                    </a:cubicBezTo>
                    <a:close/>
                    <a:moveTo>
                      <a:pt x="345" y="120"/>
                    </a:moveTo>
                    <a:cubicBezTo>
                      <a:pt x="345" y="144"/>
                      <a:pt x="324" y="165"/>
                      <a:pt x="300" y="165"/>
                    </a:cubicBezTo>
                    <a:cubicBezTo>
                      <a:pt x="275" y="165"/>
                      <a:pt x="255" y="144"/>
                      <a:pt x="255" y="120"/>
                    </a:cubicBezTo>
                    <a:cubicBezTo>
                      <a:pt x="255" y="95"/>
                      <a:pt x="275" y="75"/>
                      <a:pt x="300" y="75"/>
                    </a:cubicBezTo>
                    <a:cubicBezTo>
                      <a:pt x="324" y="75"/>
                      <a:pt x="345" y="95"/>
                      <a:pt x="345" y="120"/>
                    </a:cubicBezTo>
                    <a:close/>
                    <a:moveTo>
                      <a:pt x="425" y="880"/>
                    </a:moveTo>
                    <a:cubicBezTo>
                      <a:pt x="425" y="904"/>
                      <a:pt x="404" y="925"/>
                      <a:pt x="380" y="925"/>
                    </a:cubicBezTo>
                    <a:cubicBezTo>
                      <a:pt x="355" y="925"/>
                      <a:pt x="335" y="904"/>
                      <a:pt x="335" y="880"/>
                    </a:cubicBezTo>
                    <a:cubicBezTo>
                      <a:pt x="335" y="855"/>
                      <a:pt x="355" y="835"/>
                      <a:pt x="380" y="835"/>
                    </a:cubicBezTo>
                    <a:cubicBezTo>
                      <a:pt x="404" y="835"/>
                      <a:pt x="425" y="855"/>
                      <a:pt x="425" y="880"/>
                    </a:cubicBezTo>
                    <a:close/>
                    <a:moveTo>
                      <a:pt x="505" y="120"/>
                    </a:moveTo>
                    <a:cubicBezTo>
                      <a:pt x="505" y="144"/>
                      <a:pt x="484" y="165"/>
                      <a:pt x="460" y="165"/>
                    </a:cubicBezTo>
                    <a:cubicBezTo>
                      <a:pt x="435" y="165"/>
                      <a:pt x="415" y="144"/>
                      <a:pt x="415" y="120"/>
                    </a:cubicBezTo>
                    <a:cubicBezTo>
                      <a:pt x="415" y="95"/>
                      <a:pt x="435" y="75"/>
                      <a:pt x="460" y="75"/>
                    </a:cubicBezTo>
                    <a:cubicBezTo>
                      <a:pt x="484" y="75"/>
                      <a:pt x="505" y="95"/>
                      <a:pt x="505" y="120"/>
                    </a:cubicBezTo>
                    <a:close/>
                    <a:moveTo>
                      <a:pt x="585" y="880"/>
                    </a:moveTo>
                    <a:cubicBezTo>
                      <a:pt x="585" y="904"/>
                      <a:pt x="564" y="925"/>
                      <a:pt x="540" y="925"/>
                    </a:cubicBezTo>
                    <a:cubicBezTo>
                      <a:pt x="515" y="925"/>
                      <a:pt x="495" y="904"/>
                      <a:pt x="495" y="880"/>
                    </a:cubicBezTo>
                    <a:cubicBezTo>
                      <a:pt x="495" y="855"/>
                      <a:pt x="515" y="835"/>
                      <a:pt x="540" y="835"/>
                    </a:cubicBezTo>
                    <a:cubicBezTo>
                      <a:pt x="564" y="835"/>
                      <a:pt x="585" y="855"/>
                      <a:pt x="585" y="880"/>
                    </a:cubicBezTo>
                    <a:close/>
                    <a:moveTo>
                      <a:pt x="665" y="120"/>
                    </a:moveTo>
                    <a:cubicBezTo>
                      <a:pt x="665" y="144"/>
                      <a:pt x="644" y="165"/>
                      <a:pt x="620" y="165"/>
                    </a:cubicBezTo>
                    <a:cubicBezTo>
                      <a:pt x="595" y="165"/>
                      <a:pt x="575" y="144"/>
                      <a:pt x="575" y="120"/>
                    </a:cubicBezTo>
                    <a:cubicBezTo>
                      <a:pt x="575" y="95"/>
                      <a:pt x="595" y="75"/>
                      <a:pt x="620" y="75"/>
                    </a:cubicBezTo>
                    <a:cubicBezTo>
                      <a:pt x="644" y="75"/>
                      <a:pt x="665" y="95"/>
                      <a:pt x="665" y="120"/>
                    </a:cubicBezTo>
                    <a:close/>
                    <a:moveTo>
                      <a:pt x="745" y="880"/>
                    </a:moveTo>
                    <a:cubicBezTo>
                      <a:pt x="745" y="904"/>
                      <a:pt x="724" y="925"/>
                      <a:pt x="700" y="925"/>
                    </a:cubicBezTo>
                    <a:cubicBezTo>
                      <a:pt x="675" y="925"/>
                      <a:pt x="655" y="904"/>
                      <a:pt x="655" y="880"/>
                    </a:cubicBezTo>
                    <a:cubicBezTo>
                      <a:pt x="655" y="855"/>
                      <a:pt x="675" y="835"/>
                      <a:pt x="700" y="835"/>
                    </a:cubicBezTo>
                    <a:cubicBezTo>
                      <a:pt x="724" y="835"/>
                      <a:pt x="745" y="855"/>
                      <a:pt x="745" y="880"/>
                    </a:cubicBezTo>
                    <a:close/>
                    <a:moveTo>
                      <a:pt x="825" y="120"/>
                    </a:moveTo>
                    <a:cubicBezTo>
                      <a:pt x="825" y="144"/>
                      <a:pt x="804" y="165"/>
                      <a:pt x="780" y="165"/>
                    </a:cubicBezTo>
                    <a:cubicBezTo>
                      <a:pt x="755" y="165"/>
                      <a:pt x="735" y="144"/>
                      <a:pt x="735" y="120"/>
                    </a:cubicBezTo>
                    <a:cubicBezTo>
                      <a:pt x="735" y="95"/>
                      <a:pt x="755" y="75"/>
                      <a:pt x="780" y="75"/>
                    </a:cubicBezTo>
                    <a:cubicBezTo>
                      <a:pt x="804" y="75"/>
                      <a:pt x="825" y="95"/>
                      <a:pt x="825" y="120"/>
                    </a:cubicBezTo>
                    <a:close/>
                    <a:moveTo>
                      <a:pt x="905" y="880"/>
                    </a:moveTo>
                    <a:cubicBezTo>
                      <a:pt x="905" y="904"/>
                      <a:pt x="884" y="925"/>
                      <a:pt x="860" y="925"/>
                    </a:cubicBezTo>
                    <a:cubicBezTo>
                      <a:pt x="835" y="925"/>
                      <a:pt x="815" y="904"/>
                      <a:pt x="815" y="880"/>
                    </a:cubicBezTo>
                    <a:cubicBezTo>
                      <a:pt x="815" y="855"/>
                      <a:pt x="835" y="835"/>
                      <a:pt x="860" y="835"/>
                    </a:cubicBezTo>
                    <a:cubicBezTo>
                      <a:pt x="884" y="835"/>
                      <a:pt x="905" y="855"/>
                      <a:pt x="905" y="880"/>
                    </a:cubicBezTo>
                    <a:close/>
                    <a:moveTo>
                      <a:pt x="985" y="120"/>
                    </a:moveTo>
                    <a:cubicBezTo>
                      <a:pt x="985" y="144"/>
                      <a:pt x="964" y="165"/>
                      <a:pt x="940" y="165"/>
                    </a:cubicBezTo>
                    <a:cubicBezTo>
                      <a:pt x="915" y="165"/>
                      <a:pt x="895" y="144"/>
                      <a:pt x="895" y="120"/>
                    </a:cubicBezTo>
                    <a:cubicBezTo>
                      <a:pt x="895" y="95"/>
                      <a:pt x="915" y="75"/>
                      <a:pt x="940" y="75"/>
                    </a:cubicBezTo>
                    <a:cubicBezTo>
                      <a:pt x="964" y="75"/>
                      <a:pt x="985" y="95"/>
                      <a:pt x="985" y="120"/>
                    </a:cubicBezTo>
                    <a:close/>
                  </a:path>
                </a:pathLst>
              </a:custGeom>
              <a:solidFill>
                <a:srgbClr val="5D3A6E"/>
              </a:solidFill>
              <a:ln>
                <a:noFill/>
              </a:ln>
            </p:spPr>
          </p:sp>
        </p:grpSp>
        <p:grpSp>
          <p:nvGrpSpPr>
            <p:cNvPr id="18" name="Mitocondria"/>
            <p:cNvGrpSpPr/>
            <p:nvPr/>
          </p:nvGrpSpPr>
          <p:grpSpPr>
            <a:xfrm>
              <a:off x="2371954" y="1652869"/>
              <a:ext cx="497434" cy="248717"/>
              <a:chOff x="2371954" y="1652869"/>
              <a:chExt cx="497434" cy="248717"/>
            </a:xfrm>
          </p:grpSpPr>
          <p:sp>
            <p:nvSpPr>
              <p:cNvPr id="19" name="Forma 18"/>
              <p:cNvSpPr/>
              <p:nvPr/>
            </p:nvSpPr>
            <p:spPr>
              <a:xfrm>
                <a:off x="2371954" y="1652869"/>
                <a:ext cx="497434" cy="248717"/>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0" name="Forma 19"/>
              <p:cNvSpPr/>
              <p:nvPr/>
            </p:nvSpPr>
            <p:spPr>
              <a:xfrm>
                <a:off x="2406774" y="1687690"/>
                <a:ext cx="427793" cy="179076"/>
              </a:xfrm>
              <a:prstGeom prst="ellipse">
                <a:avLst/>
              </a:prstGeom>
              <a:solidFill>
                <a:srgbClr val="F8D8B4"/>
              </a:solidFill>
              <a:ln w="9525" cap="rnd">
                <a:solidFill>
                  <a:srgbClr val="B2732B"/>
                </a:solidFill>
                <a:round/>
              </a:ln>
            </p:spPr>
          </p:sp>
          <p:sp>
            <p:nvSpPr>
              <p:cNvPr id="21" name="Forma 20"/>
              <p:cNvSpPr/>
              <p:nvPr/>
            </p:nvSpPr>
            <p:spPr>
              <a:xfrm>
                <a:off x="2406774" y="1687690"/>
                <a:ext cx="427793" cy="17907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2" name="Mitocondria_2"/>
            <p:cNvGrpSpPr/>
            <p:nvPr/>
          </p:nvGrpSpPr>
          <p:grpSpPr>
            <a:xfrm>
              <a:off x="2496312" y="2723595"/>
              <a:ext cx="497434" cy="248717"/>
              <a:chOff x="2496312" y="2723595"/>
              <a:chExt cx="497434" cy="248717"/>
            </a:xfrm>
          </p:grpSpPr>
          <p:sp>
            <p:nvSpPr>
              <p:cNvPr id="23" name="Forma 22"/>
              <p:cNvSpPr/>
              <p:nvPr/>
            </p:nvSpPr>
            <p:spPr>
              <a:xfrm rot="1500000">
                <a:off x="2496312" y="2723595"/>
                <a:ext cx="497434" cy="248717"/>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4" name="Forma 23"/>
              <p:cNvSpPr/>
              <p:nvPr/>
            </p:nvSpPr>
            <p:spPr>
              <a:xfrm rot="1500000">
                <a:off x="2531132" y="2758416"/>
                <a:ext cx="427793" cy="179076"/>
              </a:xfrm>
              <a:prstGeom prst="ellipse">
                <a:avLst/>
              </a:prstGeom>
              <a:solidFill>
                <a:srgbClr val="F8D8B4"/>
              </a:solidFill>
              <a:ln w="9525" cap="rnd">
                <a:solidFill>
                  <a:srgbClr val="B2732B"/>
                </a:solidFill>
                <a:round/>
              </a:ln>
            </p:spPr>
          </p:sp>
          <p:sp>
            <p:nvSpPr>
              <p:cNvPr id="25" name="Forma 24"/>
              <p:cNvSpPr/>
              <p:nvPr/>
            </p:nvSpPr>
            <p:spPr>
              <a:xfrm rot="1500000">
                <a:off x="2531132" y="2758416"/>
                <a:ext cx="427793" cy="17907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6" name="Mitocondria_3"/>
            <p:cNvGrpSpPr/>
            <p:nvPr/>
          </p:nvGrpSpPr>
          <p:grpSpPr>
            <a:xfrm>
              <a:off x="941832" y="2723595"/>
              <a:ext cx="497434" cy="248717"/>
              <a:chOff x="941832" y="2723595"/>
              <a:chExt cx="497434" cy="248717"/>
            </a:xfrm>
          </p:grpSpPr>
          <p:sp>
            <p:nvSpPr>
              <p:cNvPr id="27" name="Forma 26"/>
              <p:cNvSpPr/>
              <p:nvPr/>
            </p:nvSpPr>
            <p:spPr>
              <a:xfrm rot="-1200000">
                <a:off x="941832" y="2723595"/>
                <a:ext cx="497434" cy="248717"/>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8" name="Forma 27"/>
              <p:cNvSpPr/>
              <p:nvPr/>
            </p:nvSpPr>
            <p:spPr>
              <a:xfrm rot="-1200000">
                <a:off x="976652" y="2758416"/>
                <a:ext cx="427793" cy="179076"/>
              </a:xfrm>
              <a:prstGeom prst="ellipse">
                <a:avLst/>
              </a:prstGeom>
              <a:solidFill>
                <a:srgbClr val="F8D8B4"/>
              </a:solidFill>
              <a:ln w="9525" cap="rnd">
                <a:solidFill>
                  <a:srgbClr val="B2732B"/>
                </a:solidFill>
                <a:round/>
              </a:ln>
            </p:spPr>
          </p:sp>
          <p:sp>
            <p:nvSpPr>
              <p:cNvPr id="29" name="Forma 28"/>
              <p:cNvSpPr/>
              <p:nvPr/>
            </p:nvSpPr>
            <p:spPr>
              <a:xfrm rot="-1200000">
                <a:off x="976652" y="2758416"/>
                <a:ext cx="427793" cy="17907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30" name="Mitocondria_4"/>
            <p:cNvGrpSpPr/>
            <p:nvPr/>
          </p:nvGrpSpPr>
          <p:grpSpPr>
            <a:xfrm>
              <a:off x="1719072" y="3055010"/>
              <a:ext cx="497434" cy="248717"/>
              <a:chOff x="1719072" y="3055010"/>
              <a:chExt cx="497434" cy="248717"/>
            </a:xfrm>
          </p:grpSpPr>
          <p:sp>
            <p:nvSpPr>
              <p:cNvPr id="31" name="Forma 30"/>
              <p:cNvSpPr/>
              <p:nvPr/>
            </p:nvSpPr>
            <p:spPr>
              <a:xfrm rot="600000">
                <a:off x="1719072" y="3055010"/>
                <a:ext cx="497434" cy="248717"/>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2" name="Forma 31"/>
              <p:cNvSpPr/>
              <p:nvPr/>
            </p:nvSpPr>
            <p:spPr>
              <a:xfrm rot="600000">
                <a:off x="1753892" y="3089831"/>
                <a:ext cx="427793" cy="179076"/>
              </a:xfrm>
              <a:prstGeom prst="ellipse">
                <a:avLst/>
              </a:prstGeom>
              <a:solidFill>
                <a:srgbClr val="F8D8B4"/>
              </a:solidFill>
              <a:ln w="9525" cap="rnd">
                <a:solidFill>
                  <a:srgbClr val="B2732B"/>
                </a:solidFill>
                <a:round/>
              </a:ln>
            </p:spPr>
          </p:sp>
          <p:sp>
            <p:nvSpPr>
              <p:cNvPr id="33" name="Forma 32"/>
              <p:cNvSpPr/>
              <p:nvPr/>
            </p:nvSpPr>
            <p:spPr>
              <a:xfrm rot="600000">
                <a:off x="1753892" y="3089831"/>
                <a:ext cx="427793" cy="17907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34" name="Glucógeno"/>
            <p:cNvSpPr/>
            <p:nvPr/>
          </p:nvSpPr>
          <p:spPr>
            <a:xfrm>
              <a:off x="2247595" y="2162739"/>
              <a:ext cx="683971" cy="458882"/>
            </a:xfrm>
            <a:custGeom>
              <a:avLst/>
              <a:gdLst/>
              <a:ahLst/>
              <a:cxnLst/>
              <a:rect l="0" t="0" r="r" b="b"/>
              <a:pathLst>
                <a:path w="1000" h="1000">
                  <a:moveTo>
                    <a:pt x="471" y="726"/>
                  </a:moveTo>
                  <a:cubicBezTo>
                    <a:pt x="471" y="746"/>
                    <a:pt x="453" y="764"/>
                    <a:pt x="433" y="764"/>
                  </a:cubicBezTo>
                  <a:cubicBezTo>
                    <a:pt x="412" y="764"/>
                    <a:pt x="395" y="746"/>
                    <a:pt x="395" y="726"/>
                  </a:cubicBezTo>
                  <a:cubicBezTo>
                    <a:pt x="395" y="705"/>
                    <a:pt x="412" y="688"/>
                    <a:pt x="433" y="688"/>
                  </a:cubicBezTo>
                  <a:cubicBezTo>
                    <a:pt x="453" y="688"/>
                    <a:pt x="471" y="705"/>
                    <a:pt x="471" y="726"/>
                  </a:cubicBezTo>
                  <a:close/>
                  <a:moveTo>
                    <a:pt x="438" y="784"/>
                  </a:moveTo>
                  <a:cubicBezTo>
                    <a:pt x="438" y="804"/>
                    <a:pt x="420" y="822"/>
                    <a:pt x="400" y="822"/>
                  </a:cubicBezTo>
                  <a:cubicBezTo>
                    <a:pt x="379" y="822"/>
                    <a:pt x="362" y="804"/>
                    <a:pt x="362" y="784"/>
                  </a:cubicBezTo>
                  <a:cubicBezTo>
                    <a:pt x="362" y="763"/>
                    <a:pt x="379" y="746"/>
                    <a:pt x="400" y="746"/>
                  </a:cubicBezTo>
                  <a:cubicBezTo>
                    <a:pt x="420" y="746"/>
                    <a:pt x="438" y="763"/>
                    <a:pt x="438" y="784"/>
                  </a:cubicBezTo>
                  <a:close/>
                  <a:moveTo>
                    <a:pt x="371" y="789"/>
                  </a:moveTo>
                  <a:cubicBezTo>
                    <a:pt x="371" y="809"/>
                    <a:pt x="353" y="827"/>
                    <a:pt x="333" y="827"/>
                  </a:cubicBezTo>
                  <a:cubicBezTo>
                    <a:pt x="312" y="827"/>
                    <a:pt x="295" y="809"/>
                    <a:pt x="295" y="789"/>
                  </a:cubicBezTo>
                  <a:cubicBezTo>
                    <a:pt x="295" y="768"/>
                    <a:pt x="312" y="751"/>
                    <a:pt x="333" y="751"/>
                  </a:cubicBezTo>
                  <a:cubicBezTo>
                    <a:pt x="353" y="751"/>
                    <a:pt x="371" y="768"/>
                    <a:pt x="371" y="789"/>
                  </a:cubicBezTo>
                  <a:close/>
                  <a:moveTo>
                    <a:pt x="331" y="735"/>
                  </a:moveTo>
                  <a:cubicBezTo>
                    <a:pt x="331" y="755"/>
                    <a:pt x="313" y="773"/>
                    <a:pt x="293" y="773"/>
                  </a:cubicBezTo>
                  <a:cubicBezTo>
                    <a:pt x="272" y="773"/>
                    <a:pt x="255" y="755"/>
                    <a:pt x="255" y="735"/>
                  </a:cubicBezTo>
                  <a:cubicBezTo>
                    <a:pt x="255" y="714"/>
                    <a:pt x="272" y="697"/>
                    <a:pt x="293" y="697"/>
                  </a:cubicBezTo>
                  <a:cubicBezTo>
                    <a:pt x="313" y="697"/>
                    <a:pt x="331" y="714"/>
                    <a:pt x="331" y="735"/>
                  </a:cubicBezTo>
                  <a:close/>
                  <a:moveTo>
                    <a:pt x="355" y="673"/>
                  </a:moveTo>
                  <a:cubicBezTo>
                    <a:pt x="355" y="693"/>
                    <a:pt x="337" y="711"/>
                    <a:pt x="317" y="711"/>
                  </a:cubicBezTo>
                  <a:cubicBezTo>
                    <a:pt x="296" y="711"/>
                    <a:pt x="279" y="693"/>
                    <a:pt x="279" y="673"/>
                  </a:cubicBezTo>
                  <a:cubicBezTo>
                    <a:pt x="279" y="652"/>
                    <a:pt x="296" y="635"/>
                    <a:pt x="317" y="635"/>
                  </a:cubicBezTo>
                  <a:cubicBezTo>
                    <a:pt x="337" y="635"/>
                    <a:pt x="355" y="652"/>
                    <a:pt x="355" y="673"/>
                  </a:cubicBezTo>
                  <a:close/>
                  <a:moveTo>
                    <a:pt x="420" y="658"/>
                  </a:moveTo>
                  <a:cubicBezTo>
                    <a:pt x="420" y="678"/>
                    <a:pt x="402" y="696"/>
                    <a:pt x="382" y="696"/>
                  </a:cubicBezTo>
                  <a:cubicBezTo>
                    <a:pt x="361" y="696"/>
                    <a:pt x="344" y="678"/>
                    <a:pt x="344" y="658"/>
                  </a:cubicBezTo>
                  <a:cubicBezTo>
                    <a:pt x="344" y="637"/>
                    <a:pt x="361" y="620"/>
                    <a:pt x="382" y="620"/>
                  </a:cubicBezTo>
                  <a:cubicBezTo>
                    <a:pt x="402" y="620"/>
                    <a:pt x="420" y="637"/>
                    <a:pt x="420" y="658"/>
                  </a:cubicBezTo>
                  <a:close/>
                  <a:moveTo>
                    <a:pt x="785" y="253"/>
                  </a:moveTo>
                  <a:cubicBezTo>
                    <a:pt x="785" y="273"/>
                    <a:pt x="767" y="291"/>
                    <a:pt x="747" y="291"/>
                  </a:cubicBezTo>
                  <a:cubicBezTo>
                    <a:pt x="726" y="291"/>
                    <a:pt x="709" y="273"/>
                    <a:pt x="709" y="253"/>
                  </a:cubicBezTo>
                  <a:cubicBezTo>
                    <a:pt x="709" y="232"/>
                    <a:pt x="726" y="215"/>
                    <a:pt x="747" y="215"/>
                  </a:cubicBezTo>
                  <a:cubicBezTo>
                    <a:pt x="767" y="215"/>
                    <a:pt x="785" y="232"/>
                    <a:pt x="785" y="253"/>
                  </a:cubicBezTo>
                  <a:close/>
                  <a:moveTo>
                    <a:pt x="752" y="311"/>
                  </a:moveTo>
                  <a:cubicBezTo>
                    <a:pt x="752" y="331"/>
                    <a:pt x="734" y="349"/>
                    <a:pt x="714" y="349"/>
                  </a:cubicBezTo>
                  <a:cubicBezTo>
                    <a:pt x="693" y="349"/>
                    <a:pt x="676" y="331"/>
                    <a:pt x="676" y="311"/>
                  </a:cubicBezTo>
                  <a:cubicBezTo>
                    <a:pt x="676" y="290"/>
                    <a:pt x="693" y="273"/>
                    <a:pt x="714" y="273"/>
                  </a:cubicBezTo>
                  <a:cubicBezTo>
                    <a:pt x="734" y="273"/>
                    <a:pt x="752" y="290"/>
                    <a:pt x="752" y="311"/>
                  </a:cubicBezTo>
                  <a:close/>
                  <a:moveTo>
                    <a:pt x="685" y="316"/>
                  </a:moveTo>
                  <a:cubicBezTo>
                    <a:pt x="685" y="336"/>
                    <a:pt x="667" y="354"/>
                    <a:pt x="647" y="354"/>
                  </a:cubicBezTo>
                  <a:cubicBezTo>
                    <a:pt x="626" y="354"/>
                    <a:pt x="609" y="336"/>
                    <a:pt x="609" y="316"/>
                  </a:cubicBezTo>
                  <a:cubicBezTo>
                    <a:pt x="609" y="295"/>
                    <a:pt x="626" y="278"/>
                    <a:pt x="647" y="278"/>
                  </a:cubicBezTo>
                  <a:cubicBezTo>
                    <a:pt x="667" y="278"/>
                    <a:pt x="685" y="295"/>
                    <a:pt x="685" y="316"/>
                  </a:cubicBezTo>
                  <a:close/>
                  <a:moveTo>
                    <a:pt x="645" y="262"/>
                  </a:moveTo>
                  <a:cubicBezTo>
                    <a:pt x="645" y="282"/>
                    <a:pt x="627" y="300"/>
                    <a:pt x="607" y="300"/>
                  </a:cubicBezTo>
                  <a:cubicBezTo>
                    <a:pt x="586" y="300"/>
                    <a:pt x="569" y="282"/>
                    <a:pt x="569" y="262"/>
                  </a:cubicBezTo>
                  <a:cubicBezTo>
                    <a:pt x="569" y="241"/>
                    <a:pt x="586" y="224"/>
                    <a:pt x="607" y="224"/>
                  </a:cubicBezTo>
                  <a:cubicBezTo>
                    <a:pt x="627" y="224"/>
                    <a:pt x="645" y="241"/>
                    <a:pt x="645" y="262"/>
                  </a:cubicBezTo>
                  <a:close/>
                  <a:moveTo>
                    <a:pt x="669" y="200"/>
                  </a:moveTo>
                  <a:cubicBezTo>
                    <a:pt x="669" y="220"/>
                    <a:pt x="651" y="238"/>
                    <a:pt x="631" y="238"/>
                  </a:cubicBezTo>
                  <a:cubicBezTo>
                    <a:pt x="610" y="238"/>
                    <a:pt x="593" y="220"/>
                    <a:pt x="593" y="200"/>
                  </a:cubicBezTo>
                  <a:cubicBezTo>
                    <a:pt x="593" y="179"/>
                    <a:pt x="610" y="162"/>
                    <a:pt x="631" y="162"/>
                  </a:cubicBezTo>
                  <a:cubicBezTo>
                    <a:pt x="651" y="162"/>
                    <a:pt x="669" y="179"/>
                    <a:pt x="669" y="200"/>
                  </a:cubicBezTo>
                  <a:close/>
                  <a:moveTo>
                    <a:pt x="734" y="185"/>
                  </a:moveTo>
                  <a:cubicBezTo>
                    <a:pt x="734" y="205"/>
                    <a:pt x="716" y="223"/>
                    <a:pt x="696" y="223"/>
                  </a:cubicBezTo>
                  <a:cubicBezTo>
                    <a:pt x="675" y="223"/>
                    <a:pt x="658" y="205"/>
                    <a:pt x="658" y="185"/>
                  </a:cubicBezTo>
                  <a:cubicBezTo>
                    <a:pt x="658" y="164"/>
                    <a:pt x="675" y="147"/>
                    <a:pt x="696" y="147"/>
                  </a:cubicBezTo>
                  <a:cubicBezTo>
                    <a:pt x="716" y="147"/>
                    <a:pt x="734" y="164"/>
                    <a:pt x="734" y="185"/>
                  </a:cubicBezTo>
                  <a:close/>
                  <a:moveTo>
                    <a:pt x="606" y="738"/>
                  </a:moveTo>
                  <a:cubicBezTo>
                    <a:pt x="606" y="758"/>
                    <a:pt x="588" y="776"/>
                    <a:pt x="568" y="776"/>
                  </a:cubicBezTo>
                  <a:cubicBezTo>
                    <a:pt x="547" y="776"/>
                    <a:pt x="530" y="758"/>
                    <a:pt x="530" y="738"/>
                  </a:cubicBezTo>
                  <a:cubicBezTo>
                    <a:pt x="530" y="717"/>
                    <a:pt x="547" y="700"/>
                    <a:pt x="568" y="700"/>
                  </a:cubicBezTo>
                  <a:cubicBezTo>
                    <a:pt x="588" y="700"/>
                    <a:pt x="606" y="717"/>
                    <a:pt x="606" y="738"/>
                  </a:cubicBezTo>
                  <a:close/>
                  <a:moveTo>
                    <a:pt x="573" y="796"/>
                  </a:moveTo>
                  <a:cubicBezTo>
                    <a:pt x="573" y="816"/>
                    <a:pt x="555" y="834"/>
                    <a:pt x="535" y="834"/>
                  </a:cubicBezTo>
                  <a:cubicBezTo>
                    <a:pt x="514" y="834"/>
                    <a:pt x="497" y="816"/>
                    <a:pt x="497" y="796"/>
                  </a:cubicBezTo>
                  <a:cubicBezTo>
                    <a:pt x="497" y="775"/>
                    <a:pt x="514" y="758"/>
                    <a:pt x="535" y="758"/>
                  </a:cubicBezTo>
                  <a:cubicBezTo>
                    <a:pt x="555" y="758"/>
                    <a:pt x="573" y="775"/>
                    <a:pt x="573" y="796"/>
                  </a:cubicBezTo>
                  <a:close/>
                  <a:moveTo>
                    <a:pt x="506" y="801"/>
                  </a:moveTo>
                  <a:cubicBezTo>
                    <a:pt x="506" y="821"/>
                    <a:pt x="488" y="839"/>
                    <a:pt x="468" y="839"/>
                  </a:cubicBezTo>
                  <a:cubicBezTo>
                    <a:pt x="447" y="839"/>
                    <a:pt x="430" y="821"/>
                    <a:pt x="430" y="801"/>
                  </a:cubicBezTo>
                  <a:cubicBezTo>
                    <a:pt x="430" y="780"/>
                    <a:pt x="447" y="763"/>
                    <a:pt x="468" y="763"/>
                  </a:cubicBezTo>
                  <a:cubicBezTo>
                    <a:pt x="488" y="763"/>
                    <a:pt x="506" y="780"/>
                    <a:pt x="506" y="801"/>
                  </a:cubicBezTo>
                  <a:close/>
                  <a:moveTo>
                    <a:pt x="466" y="747"/>
                  </a:moveTo>
                  <a:cubicBezTo>
                    <a:pt x="466" y="767"/>
                    <a:pt x="448" y="785"/>
                    <a:pt x="428" y="785"/>
                  </a:cubicBezTo>
                  <a:cubicBezTo>
                    <a:pt x="407" y="785"/>
                    <a:pt x="390" y="767"/>
                    <a:pt x="390" y="747"/>
                  </a:cubicBezTo>
                  <a:cubicBezTo>
                    <a:pt x="390" y="726"/>
                    <a:pt x="407" y="709"/>
                    <a:pt x="428" y="709"/>
                  </a:cubicBezTo>
                  <a:cubicBezTo>
                    <a:pt x="448" y="709"/>
                    <a:pt x="466" y="726"/>
                    <a:pt x="466" y="747"/>
                  </a:cubicBezTo>
                  <a:close/>
                  <a:moveTo>
                    <a:pt x="490" y="685"/>
                  </a:moveTo>
                  <a:cubicBezTo>
                    <a:pt x="490" y="705"/>
                    <a:pt x="472" y="723"/>
                    <a:pt x="452" y="723"/>
                  </a:cubicBezTo>
                  <a:cubicBezTo>
                    <a:pt x="431" y="723"/>
                    <a:pt x="414" y="705"/>
                    <a:pt x="414" y="685"/>
                  </a:cubicBezTo>
                  <a:cubicBezTo>
                    <a:pt x="414" y="664"/>
                    <a:pt x="431" y="647"/>
                    <a:pt x="452" y="647"/>
                  </a:cubicBezTo>
                  <a:cubicBezTo>
                    <a:pt x="472" y="647"/>
                    <a:pt x="490" y="664"/>
                    <a:pt x="490" y="685"/>
                  </a:cubicBezTo>
                  <a:close/>
                  <a:moveTo>
                    <a:pt x="555" y="670"/>
                  </a:moveTo>
                  <a:cubicBezTo>
                    <a:pt x="555" y="690"/>
                    <a:pt x="537" y="708"/>
                    <a:pt x="517" y="708"/>
                  </a:cubicBezTo>
                  <a:cubicBezTo>
                    <a:pt x="496" y="708"/>
                    <a:pt x="479" y="690"/>
                    <a:pt x="479" y="670"/>
                  </a:cubicBezTo>
                  <a:cubicBezTo>
                    <a:pt x="479" y="649"/>
                    <a:pt x="496" y="632"/>
                    <a:pt x="517" y="632"/>
                  </a:cubicBezTo>
                  <a:cubicBezTo>
                    <a:pt x="537" y="632"/>
                    <a:pt x="555" y="649"/>
                    <a:pt x="555" y="670"/>
                  </a:cubicBezTo>
                  <a:close/>
                  <a:moveTo>
                    <a:pt x="713" y="760"/>
                  </a:moveTo>
                  <a:cubicBezTo>
                    <a:pt x="713" y="780"/>
                    <a:pt x="695" y="798"/>
                    <a:pt x="675" y="798"/>
                  </a:cubicBezTo>
                  <a:cubicBezTo>
                    <a:pt x="654" y="798"/>
                    <a:pt x="637" y="780"/>
                    <a:pt x="637" y="760"/>
                  </a:cubicBezTo>
                  <a:cubicBezTo>
                    <a:pt x="637" y="739"/>
                    <a:pt x="654" y="722"/>
                    <a:pt x="675" y="722"/>
                  </a:cubicBezTo>
                  <a:cubicBezTo>
                    <a:pt x="695" y="722"/>
                    <a:pt x="713" y="739"/>
                    <a:pt x="713" y="760"/>
                  </a:cubicBezTo>
                  <a:close/>
                  <a:moveTo>
                    <a:pt x="680" y="818"/>
                  </a:moveTo>
                  <a:cubicBezTo>
                    <a:pt x="680" y="838"/>
                    <a:pt x="662" y="856"/>
                    <a:pt x="642" y="856"/>
                  </a:cubicBezTo>
                  <a:cubicBezTo>
                    <a:pt x="621" y="856"/>
                    <a:pt x="604" y="838"/>
                    <a:pt x="604" y="818"/>
                  </a:cubicBezTo>
                  <a:cubicBezTo>
                    <a:pt x="604" y="797"/>
                    <a:pt x="621" y="780"/>
                    <a:pt x="642" y="780"/>
                  </a:cubicBezTo>
                  <a:cubicBezTo>
                    <a:pt x="662" y="780"/>
                    <a:pt x="680" y="797"/>
                    <a:pt x="680" y="818"/>
                  </a:cubicBezTo>
                  <a:close/>
                  <a:moveTo>
                    <a:pt x="613" y="823"/>
                  </a:moveTo>
                  <a:cubicBezTo>
                    <a:pt x="613" y="843"/>
                    <a:pt x="595" y="861"/>
                    <a:pt x="575" y="861"/>
                  </a:cubicBezTo>
                  <a:cubicBezTo>
                    <a:pt x="554" y="861"/>
                    <a:pt x="537" y="843"/>
                    <a:pt x="537" y="823"/>
                  </a:cubicBezTo>
                  <a:cubicBezTo>
                    <a:pt x="537" y="802"/>
                    <a:pt x="554" y="785"/>
                    <a:pt x="575" y="785"/>
                  </a:cubicBezTo>
                  <a:cubicBezTo>
                    <a:pt x="595" y="785"/>
                    <a:pt x="613" y="802"/>
                    <a:pt x="613" y="823"/>
                  </a:cubicBezTo>
                  <a:close/>
                  <a:moveTo>
                    <a:pt x="573" y="769"/>
                  </a:moveTo>
                  <a:cubicBezTo>
                    <a:pt x="573" y="789"/>
                    <a:pt x="555" y="807"/>
                    <a:pt x="535" y="807"/>
                  </a:cubicBezTo>
                  <a:cubicBezTo>
                    <a:pt x="514" y="807"/>
                    <a:pt x="497" y="789"/>
                    <a:pt x="497" y="769"/>
                  </a:cubicBezTo>
                  <a:cubicBezTo>
                    <a:pt x="497" y="748"/>
                    <a:pt x="514" y="731"/>
                    <a:pt x="535" y="731"/>
                  </a:cubicBezTo>
                  <a:cubicBezTo>
                    <a:pt x="555" y="731"/>
                    <a:pt x="573" y="748"/>
                    <a:pt x="573" y="769"/>
                  </a:cubicBezTo>
                  <a:close/>
                  <a:moveTo>
                    <a:pt x="597" y="707"/>
                  </a:moveTo>
                  <a:cubicBezTo>
                    <a:pt x="597" y="727"/>
                    <a:pt x="579" y="745"/>
                    <a:pt x="559" y="745"/>
                  </a:cubicBezTo>
                  <a:cubicBezTo>
                    <a:pt x="538" y="745"/>
                    <a:pt x="521" y="727"/>
                    <a:pt x="521" y="707"/>
                  </a:cubicBezTo>
                  <a:cubicBezTo>
                    <a:pt x="521" y="686"/>
                    <a:pt x="538" y="669"/>
                    <a:pt x="559" y="669"/>
                  </a:cubicBezTo>
                  <a:cubicBezTo>
                    <a:pt x="579" y="669"/>
                    <a:pt x="597" y="686"/>
                    <a:pt x="597" y="707"/>
                  </a:cubicBezTo>
                  <a:close/>
                  <a:moveTo>
                    <a:pt x="662" y="692"/>
                  </a:moveTo>
                  <a:cubicBezTo>
                    <a:pt x="662" y="712"/>
                    <a:pt x="644" y="730"/>
                    <a:pt x="624" y="730"/>
                  </a:cubicBezTo>
                  <a:cubicBezTo>
                    <a:pt x="603" y="730"/>
                    <a:pt x="586" y="712"/>
                    <a:pt x="586" y="692"/>
                  </a:cubicBezTo>
                  <a:cubicBezTo>
                    <a:pt x="586" y="671"/>
                    <a:pt x="603" y="654"/>
                    <a:pt x="624" y="654"/>
                  </a:cubicBezTo>
                  <a:cubicBezTo>
                    <a:pt x="644" y="654"/>
                    <a:pt x="662" y="671"/>
                    <a:pt x="662" y="692"/>
                  </a:cubicBezTo>
                  <a:close/>
                  <a:moveTo>
                    <a:pt x="822" y="187"/>
                  </a:moveTo>
                  <a:cubicBezTo>
                    <a:pt x="822" y="207"/>
                    <a:pt x="804" y="225"/>
                    <a:pt x="784" y="225"/>
                  </a:cubicBezTo>
                  <a:cubicBezTo>
                    <a:pt x="763" y="225"/>
                    <a:pt x="746" y="207"/>
                    <a:pt x="746" y="187"/>
                  </a:cubicBezTo>
                  <a:cubicBezTo>
                    <a:pt x="746" y="166"/>
                    <a:pt x="763" y="149"/>
                    <a:pt x="784" y="149"/>
                  </a:cubicBezTo>
                  <a:cubicBezTo>
                    <a:pt x="804" y="149"/>
                    <a:pt x="822" y="166"/>
                    <a:pt x="822" y="187"/>
                  </a:cubicBezTo>
                  <a:close/>
                  <a:moveTo>
                    <a:pt x="789" y="245"/>
                  </a:moveTo>
                  <a:cubicBezTo>
                    <a:pt x="789" y="265"/>
                    <a:pt x="771" y="283"/>
                    <a:pt x="751" y="283"/>
                  </a:cubicBezTo>
                  <a:cubicBezTo>
                    <a:pt x="730" y="283"/>
                    <a:pt x="713" y="265"/>
                    <a:pt x="713" y="245"/>
                  </a:cubicBezTo>
                  <a:cubicBezTo>
                    <a:pt x="713" y="224"/>
                    <a:pt x="730" y="207"/>
                    <a:pt x="751" y="207"/>
                  </a:cubicBezTo>
                  <a:cubicBezTo>
                    <a:pt x="771" y="207"/>
                    <a:pt x="789" y="224"/>
                    <a:pt x="789" y="245"/>
                  </a:cubicBezTo>
                  <a:close/>
                  <a:moveTo>
                    <a:pt x="722" y="250"/>
                  </a:moveTo>
                  <a:cubicBezTo>
                    <a:pt x="722" y="270"/>
                    <a:pt x="704" y="288"/>
                    <a:pt x="684" y="288"/>
                  </a:cubicBezTo>
                  <a:cubicBezTo>
                    <a:pt x="663" y="288"/>
                    <a:pt x="646" y="270"/>
                    <a:pt x="646" y="250"/>
                  </a:cubicBezTo>
                  <a:cubicBezTo>
                    <a:pt x="646" y="229"/>
                    <a:pt x="663" y="212"/>
                    <a:pt x="684" y="212"/>
                  </a:cubicBezTo>
                  <a:cubicBezTo>
                    <a:pt x="704" y="212"/>
                    <a:pt x="722" y="229"/>
                    <a:pt x="722" y="250"/>
                  </a:cubicBezTo>
                  <a:close/>
                  <a:moveTo>
                    <a:pt x="682" y="196"/>
                  </a:moveTo>
                  <a:cubicBezTo>
                    <a:pt x="682" y="216"/>
                    <a:pt x="664" y="234"/>
                    <a:pt x="644" y="234"/>
                  </a:cubicBezTo>
                  <a:cubicBezTo>
                    <a:pt x="623" y="234"/>
                    <a:pt x="606" y="216"/>
                    <a:pt x="606" y="196"/>
                  </a:cubicBezTo>
                  <a:cubicBezTo>
                    <a:pt x="606" y="175"/>
                    <a:pt x="623" y="158"/>
                    <a:pt x="644" y="158"/>
                  </a:cubicBezTo>
                  <a:cubicBezTo>
                    <a:pt x="664" y="158"/>
                    <a:pt x="682" y="175"/>
                    <a:pt x="682" y="196"/>
                  </a:cubicBezTo>
                  <a:close/>
                  <a:moveTo>
                    <a:pt x="706" y="134"/>
                  </a:moveTo>
                  <a:cubicBezTo>
                    <a:pt x="706" y="154"/>
                    <a:pt x="688" y="172"/>
                    <a:pt x="668" y="172"/>
                  </a:cubicBezTo>
                  <a:cubicBezTo>
                    <a:pt x="647" y="172"/>
                    <a:pt x="630" y="154"/>
                    <a:pt x="630" y="134"/>
                  </a:cubicBezTo>
                  <a:cubicBezTo>
                    <a:pt x="630" y="113"/>
                    <a:pt x="647" y="96"/>
                    <a:pt x="668" y="96"/>
                  </a:cubicBezTo>
                  <a:cubicBezTo>
                    <a:pt x="688" y="96"/>
                    <a:pt x="706" y="113"/>
                    <a:pt x="706" y="134"/>
                  </a:cubicBezTo>
                  <a:close/>
                  <a:moveTo>
                    <a:pt x="771" y="119"/>
                  </a:moveTo>
                  <a:cubicBezTo>
                    <a:pt x="771" y="139"/>
                    <a:pt x="753" y="157"/>
                    <a:pt x="733" y="157"/>
                  </a:cubicBezTo>
                  <a:cubicBezTo>
                    <a:pt x="712" y="157"/>
                    <a:pt x="695" y="139"/>
                    <a:pt x="695" y="119"/>
                  </a:cubicBezTo>
                  <a:cubicBezTo>
                    <a:pt x="695" y="98"/>
                    <a:pt x="712" y="81"/>
                    <a:pt x="733" y="81"/>
                  </a:cubicBezTo>
                  <a:cubicBezTo>
                    <a:pt x="753" y="81"/>
                    <a:pt x="771" y="98"/>
                    <a:pt x="771" y="119"/>
                  </a:cubicBezTo>
                  <a:close/>
                  <a:moveTo>
                    <a:pt x="848" y="133"/>
                  </a:moveTo>
                  <a:cubicBezTo>
                    <a:pt x="848" y="153"/>
                    <a:pt x="830" y="171"/>
                    <a:pt x="810" y="171"/>
                  </a:cubicBezTo>
                  <a:cubicBezTo>
                    <a:pt x="789" y="171"/>
                    <a:pt x="772" y="153"/>
                    <a:pt x="772" y="133"/>
                  </a:cubicBezTo>
                  <a:cubicBezTo>
                    <a:pt x="772" y="112"/>
                    <a:pt x="789" y="95"/>
                    <a:pt x="810" y="95"/>
                  </a:cubicBezTo>
                  <a:cubicBezTo>
                    <a:pt x="830" y="95"/>
                    <a:pt x="848" y="112"/>
                    <a:pt x="848" y="133"/>
                  </a:cubicBezTo>
                  <a:close/>
                  <a:moveTo>
                    <a:pt x="815" y="191"/>
                  </a:moveTo>
                  <a:cubicBezTo>
                    <a:pt x="815" y="211"/>
                    <a:pt x="797" y="229"/>
                    <a:pt x="777" y="229"/>
                  </a:cubicBezTo>
                  <a:cubicBezTo>
                    <a:pt x="756" y="229"/>
                    <a:pt x="739" y="211"/>
                    <a:pt x="739" y="191"/>
                  </a:cubicBezTo>
                  <a:cubicBezTo>
                    <a:pt x="739" y="170"/>
                    <a:pt x="756" y="153"/>
                    <a:pt x="777" y="153"/>
                  </a:cubicBezTo>
                  <a:cubicBezTo>
                    <a:pt x="797" y="153"/>
                    <a:pt x="815" y="170"/>
                    <a:pt x="815" y="191"/>
                  </a:cubicBezTo>
                  <a:close/>
                  <a:moveTo>
                    <a:pt x="748" y="196"/>
                  </a:moveTo>
                  <a:cubicBezTo>
                    <a:pt x="748" y="216"/>
                    <a:pt x="730" y="234"/>
                    <a:pt x="710" y="234"/>
                  </a:cubicBezTo>
                  <a:cubicBezTo>
                    <a:pt x="689" y="234"/>
                    <a:pt x="672" y="216"/>
                    <a:pt x="672" y="196"/>
                  </a:cubicBezTo>
                  <a:cubicBezTo>
                    <a:pt x="672" y="175"/>
                    <a:pt x="689" y="158"/>
                    <a:pt x="710" y="158"/>
                  </a:cubicBezTo>
                  <a:cubicBezTo>
                    <a:pt x="730" y="158"/>
                    <a:pt x="748" y="175"/>
                    <a:pt x="748" y="196"/>
                  </a:cubicBezTo>
                  <a:close/>
                  <a:moveTo>
                    <a:pt x="708" y="142"/>
                  </a:moveTo>
                  <a:cubicBezTo>
                    <a:pt x="708" y="162"/>
                    <a:pt x="690" y="180"/>
                    <a:pt x="670" y="180"/>
                  </a:cubicBezTo>
                  <a:cubicBezTo>
                    <a:pt x="649" y="180"/>
                    <a:pt x="632" y="162"/>
                    <a:pt x="632" y="142"/>
                  </a:cubicBezTo>
                  <a:cubicBezTo>
                    <a:pt x="632" y="121"/>
                    <a:pt x="649" y="104"/>
                    <a:pt x="670" y="104"/>
                  </a:cubicBezTo>
                  <a:cubicBezTo>
                    <a:pt x="690" y="104"/>
                    <a:pt x="708" y="121"/>
                    <a:pt x="708" y="142"/>
                  </a:cubicBezTo>
                  <a:close/>
                  <a:moveTo>
                    <a:pt x="732" y="80"/>
                  </a:moveTo>
                  <a:cubicBezTo>
                    <a:pt x="732" y="100"/>
                    <a:pt x="714" y="118"/>
                    <a:pt x="694" y="118"/>
                  </a:cubicBezTo>
                  <a:cubicBezTo>
                    <a:pt x="673" y="118"/>
                    <a:pt x="656" y="100"/>
                    <a:pt x="656" y="80"/>
                  </a:cubicBezTo>
                  <a:cubicBezTo>
                    <a:pt x="656" y="59"/>
                    <a:pt x="673" y="42"/>
                    <a:pt x="694" y="42"/>
                  </a:cubicBezTo>
                  <a:cubicBezTo>
                    <a:pt x="714" y="42"/>
                    <a:pt x="732" y="59"/>
                    <a:pt x="732" y="80"/>
                  </a:cubicBezTo>
                  <a:close/>
                  <a:moveTo>
                    <a:pt x="797" y="65"/>
                  </a:moveTo>
                  <a:cubicBezTo>
                    <a:pt x="797" y="85"/>
                    <a:pt x="779" y="103"/>
                    <a:pt x="759" y="103"/>
                  </a:cubicBezTo>
                  <a:cubicBezTo>
                    <a:pt x="738" y="103"/>
                    <a:pt x="721" y="85"/>
                    <a:pt x="721" y="65"/>
                  </a:cubicBezTo>
                  <a:cubicBezTo>
                    <a:pt x="721" y="44"/>
                    <a:pt x="738" y="27"/>
                    <a:pt x="759" y="27"/>
                  </a:cubicBezTo>
                  <a:cubicBezTo>
                    <a:pt x="779" y="27"/>
                    <a:pt x="797" y="44"/>
                    <a:pt x="797" y="65"/>
                  </a:cubicBezTo>
                  <a:close/>
                  <a:moveTo>
                    <a:pt x="708" y="385"/>
                  </a:moveTo>
                  <a:cubicBezTo>
                    <a:pt x="708" y="405"/>
                    <a:pt x="690" y="423"/>
                    <a:pt x="670" y="423"/>
                  </a:cubicBezTo>
                  <a:cubicBezTo>
                    <a:pt x="649" y="423"/>
                    <a:pt x="632" y="405"/>
                    <a:pt x="632" y="385"/>
                  </a:cubicBezTo>
                  <a:cubicBezTo>
                    <a:pt x="632" y="364"/>
                    <a:pt x="649" y="347"/>
                    <a:pt x="670" y="347"/>
                  </a:cubicBezTo>
                  <a:cubicBezTo>
                    <a:pt x="690" y="347"/>
                    <a:pt x="708" y="364"/>
                    <a:pt x="708" y="385"/>
                  </a:cubicBezTo>
                  <a:close/>
                  <a:moveTo>
                    <a:pt x="675" y="443"/>
                  </a:moveTo>
                  <a:cubicBezTo>
                    <a:pt x="675" y="463"/>
                    <a:pt x="657" y="481"/>
                    <a:pt x="637" y="481"/>
                  </a:cubicBezTo>
                  <a:cubicBezTo>
                    <a:pt x="616" y="481"/>
                    <a:pt x="599" y="463"/>
                    <a:pt x="599" y="443"/>
                  </a:cubicBezTo>
                  <a:cubicBezTo>
                    <a:pt x="599" y="422"/>
                    <a:pt x="616" y="405"/>
                    <a:pt x="637" y="405"/>
                  </a:cubicBezTo>
                  <a:cubicBezTo>
                    <a:pt x="657" y="405"/>
                    <a:pt x="675" y="422"/>
                    <a:pt x="675" y="443"/>
                  </a:cubicBezTo>
                  <a:close/>
                  <a:moveTo>
                    <a:pt x="608" y="448"/>
                  </a:moveTo>
                  <a:cubicBezTo>
                    <a:pt x="608" y="468"/>
                    <a:pt x="590" y="486"/>
                    <a:pt x="570" y="486"/>
                  </a:cubicBezTo>
                  <a:cubicBezTo>
                    <a:pt x="549" y="486"/>
                    <a:pt x="532" y="468"/>
                    <a:pt x="532" y="448"/>
                  </a:cubicBezTo>
                  <a:cubicBezTo>
                    <a:pt x="532" y="427"/>
                    <a:pt x="549" y="410"/>
                    <a:pt x="570" y="410"/>
                  </a:cubicBezTo>
                  <a:cubicBezTo>
                    <a:pt x="590" y="410"/>
                    <a:pt x="608" y="427"/>
                    <a:pt x="608" y="448"/>
                  </a:cubicBezTo>
                  <a:close/>
                  <a:moveTo>
                    <a:pt x="568" y="394"/>
                  </a:moveTo>
                  <a:cubicBezTo>
                    <a:pt x="568" y="414"/>
                    <a:pt x="550" y="432"/>
                    <a:pt x="530" y="432"/>
                  </a:cubicBezTo>
                  <a:cubicBezTo>
                    <a:pt x="509" y="432"/>
                    <a:pt x="492" y="414"/>
                    <a:pt x="492" y="394"/>
                  </a:cubicBezTo>
                  <a:cubicBezTo>
                    <a:pt x="492" y="373"/>
                    <a:pt x="509" y="356"/>
                    <a:pt x="530" y="356"/>
                  </a:cubicBezTo>
                  <a:cubicBezTo>
                    <a:pt x="550" y="356"/>
                    <a:pt x="568" y="373"/>
                    <a:pt x="568" y="394"/>
                  </a:cubicBezTo>
                  <a:close/>
                  <a:moveTo>
                    <a:pt x="592" y="332"/>
                  </a:moveTo>
                  <a:cubicBezTo>
                    <a:pt x="592" y="352"/>
                    <a:pt x="574" y="370"/>
                    <a:pt x="554" y="370"/>
                  </a:cubicBezTo>
                  <a:cubicBezTo>
                    <a:pt x="533" y="370"/>
                    <a:pt x="516" y="352"/>
                    <a:pt x="516" y="332"/>
                  </a:cubicBezTo>
                  <a:cubicBezTo>
                    <a:pt x="516" y="311"/>
                    <a:pt x="533" y="294"/>
                    <a:pt x="554" y="294"/>
                  </a:cubicBezTo>
                  <a:cubicBezTo>
                    <a:pt x="574" y="294"/>
                    <a:pt x="592" y="311"/>
                    <a:pt x="592" y="332"/>
                  </a:cubicBezTo>
                  <a:close/>
                  <a:moveTo>
                    <a:pt x="657" y="317"/>
                  </a:moveTo>
                  <a:cubicBezTo>
                    <a:pt x="657" y="337"/>
                    <a:pt x="639" y="355"/>
                    <a:pt x="619" y="355"/>
                  </a:cubicBezTo>
                  <a:cubicBezTo>
                    <a:pt x="598" y="355"/>
                    <a:pt x="581" y="337"/>
                    <a:pt x="581" y="317"/>
                  </a:cubicBezTo>
                  <a:cubicBezTo>
                    <a:pt x="581" y="296"/>
                    <a:pt x="598" y="279"/>
                    <a:pt x="619" y="279"/>
                  </a:cubicBezTo>
                  <a:cubicBezTo>
                    <a:pt x="639" y="279"/>
                    <a:pt x="657" y="296"/>
                    <a:pt x="657" y="317"/>
                  </a:cubicBezTo>
                  <a:close/>
                  <a:moveTo>
                    <a:pt x="792" y="359"/>
                  </a:moveTo>
                  <a:cubicBezTo>
                    <a:pt x="792" y="379"/>
                    <a:pt x="774" y="397"/>
                    <a:pt x="754" y="397"/>
                  </a:cubicBezTo>
                  <a:cubicBezTo>
                    <a:pt x="733" y="397"/>
                    <a:pt x="716" y="379"/>
                    <a:pt x="716" y="359"/>
                  </a:cubicBezTo>
                  <a:cubicBezTo>
                    <a:pt x="716" y="338"/>
                    <a:pt x="733" y="321"/>
                    <a:pt x="754" y="321"/>
                  </a:cubicBezTo>
                  <a:cubicBezTo>
                    <a:pt x="774" y="321"/>
                    <a:pt x="792" y="338"/>
                    <a:pt x="792" y="359"/>
                  </a:cubicBezTo>
                  <a:close/>
                  <a:moveTo>
                    <a:pt x="759" y="417"/>
                  </a:moveTo>
                  <a:cubicBezTo>
                    <a:pt x="759" y="437"/>
                    <a:pt x="741" y="455"/>
                    <a:pt x="721" y="455"/>
                  </a:cubicBezTo>
                  <a:cubicBezTo>
                    <a:pt x="700" y="455"/>
                    <a:pt x="683" y="437"/>
                    <a:pt x="683" y="417"/>
                  </a:cubicBezTo>
                  <a:cubicBezTo>
                    <a:pt x="683" y="396"/>
                    <a:pt x="700" y="379"/>
                    <a:pt x="721" y="379"/>
                  </a:cubicBezTo>
                  <a:cubicBezTo>
                    <a:pt x="741" y="379"/>
                    <a:pt x="759" y="396"/>
                    <a:pt x="759" y="417"/>
                  </a:cubicBezTo>
                  <a:close/>
                  <a:moveTo>
                    <a:pt x="692" y="422"/>
                  </a:moveTo>
                  <a:cubicBezTo>
                    <a:pt x="692" y="442"/>
                    <a:pt x="674" y="460"/>
                    <a:pt x="654" y="460"/>
                  </a:cubicBezTo>
                  <a:cubicBezTo>
                    <a:pt x="633" y="460"/>
                    <a:pt x="616" y="442"/>
                    <a:pt x="616" y="422"/>
                  </a:cubicBezTo>
                  <a:cubicBezTo>
                    <a:pt x="616" y="401"/>
                    <a:pt x="633" y="384"/>
                    <a:pt x="654" y="384"/>
                  </a:cubicBezTo>
                  <a:cubicBezTo>
                    <a:pt x="674" y="384"/>
                    <a:pt x="692" y="401"/>
                    <a:pt x="692" y="422"/>
                  </a:cubicBezTo>
                  <a:close/>
                  <a:moveTo>
                    <a:pt x="652" y="368"/>
                  </a:moveTo>
                  <a:cubicBezTo>
                    <a:pt x="652" y="388"/>
                    <a:pt x="634" y="406"/>
                    <a:pt x="614" y="406"/>
                  </a:cubicBezTo>
                  <a:cubicBezTo>
                    <a:pt x="593" y="406"/>
                    <a:pt x="576" y="388"/>
                    <a:pt x="576" y="368"/>
                  </a:cubicBezTo>
                  <a:cubicBezTo>
                    <a:pt x="576" y="347"/>
                    <a:pt x="593" y="330"/>
                    <a:pt x="614" y="330"/>
                  </a:cubicBezTo>
                  <a:cubicBezTo>
                    <a:pt x="634" y="330"/>
                    <a:pt x="652" y="347"/>
                    <a:pt x="652" y="368"/>
                  </a:cubicBezTo>
                  <a:close/>
                  <a:moveTo>
                    <a:pt x="676" y="306"/>
                  </a:moveTo>
                  <a:cubicBezTo>
                    <a:pt x="676" y="326"/>
                    <a:pt x="658" y="344"/>
                    <a:pt x="638" y="344"/>
                  </a:cubicBezTo>
                  <a:cubicBezTo>
                    <a:pt x="617" y="344"/>
                    <a:pt x="600" y="326"/>
                    <a:pt x="600" y="306"/>
                  </a:cubicBezTo>
                  <a:cubicBezTo>
                    <a:pt x="600" y="285"/>
                    <a:pt x="617" y="268"/>
                    <a:pt x="638" y="268"/>
                  </a:cubicBezTo>
                  <a:cubicBezTo>
                    <a:pt x="658" y="268"/>
                    <a:pt x="676" y="285"/>
                    <a:pt x="676" y="306"/>
                  </a:cubicBezTo>
                  <a:close/>
                  <a:moveTo>
                    <a:pt x="741" y="291"/>
                  </a:moveTo>
                  <a:cubicBezTo>
                    <a:pt x="741" y="311"/>
                    <a:pt x="723" y="329"/>
                    <a:pt x="703" y="329"/>
                  </a:cubicBezTo>
                  <a:cubicBezTo>
                    <a:pt x="682" y="329"/>
                    <a:pt x="665" y="311"/>
                    <a:pt x="665" y="291"/>
                  </a:cubicBezTo>
                  <a:cubicBezTo>
                    <a:pt x="665" y="270"/>
                    <a:pt x="682" y="253"/>
                    <a:pt x="703" y="253"/>
                  </a:cubicBezTo>
                  <a:cubicBezTo>
                    <a:pt x="723" y="253"/>
                    <a:pt x="741" y="270"/>
                    <a:pt x="741" y="291"/>
                  </a:cubicBezTo>
                  <a:close/>
                </a:path>
              </a:pathLst>
            </a:custGeom>
            <a:solidFill>
              <a:srgbClr val="B03A6E"/>
            </a:solidFill>
            <a:ln>
              <a:noFill/>
            </a:ln>
          </p:spPr>
        </p:sp>
        <p:sp>
          <p:nvSpPr>
            <p:cNvPr id="35" name="Gotas lipídicas"/>
            <p:cNvSpPr/>
            <p:nvPr/>
          </p:nvSpPr>
          <p:spPr>
            <a:xfrm>
              <a:off x="786384" y="2111752"/>
              <a:ext cx="621792" cy="509869"/>
            </a:xfrm>
            <a:custGeom>
              <a:avLst/>
              <a:gdLst/>
              <a:ahLst/>
              <a:cxnLst/>
              <a:rect l="0" t="0" r="r" b="b"/>
              <a:pathLst>
                <a:path w="1000" h="1000">
                  <a:moveTo>
                    <a:pt x="460" y="300"/>
                  </a:moveTo>
                  <a:cubicBezTo>
                    <a:pt x="460" y="388"/>
                    <a:pt x="388" y="460"/>
                    <a:pt x="300" y="460"/>
                  </a:cubicBezTo>
                  <a:cubicBezTo>
                    <a:pt x="211" y="460"/>
                    <a:pt x="140" y="388"/>
                    <a:pt x="140" y="300"/>
                  </a:cubicBezTo>
                  <a:cubicBezTo>
                    <a:pt x="140" y="211"/>
                    <a:pt x="211" y="140"/>
                    <a:pt x="300" y="140"/>
                  </a:cubicBezTo>
                  <a:cubicBezTo>
                    <a:pt x="388" y="140"/>
                    <a:pt x="460" y="211"/>
                    <a:pt x="460" y="300"/>
                  </a:cubicBezTo>
                  <a:close/>
                  <a:moveTo>
                    <a:pt x="820" y="650"/>
                  </a:moveTo>
                  <a:cubicBezTo>
                    <a:pt x="820" y="716"/>
                    <a:pt x="766" y="770"/>
                    <a:pt x="700" y="770"/>
                  </a:cubicBezTo>
                  <a:cubicBezTo>
                    <a:pt x="633" y="770"/>
                    <a:pt x="580" y="716"/>
                    <a:pt x="580" y="650"/>
                  </a:cubicBezTo>
                  <a:cubicBezTo>
                    <a:pt x="580" y="583"/>
                    <a:pt x="633" y="530"/>
                    <a:pt x="700" y="530"/>
                  </a:cubicBezTo>
                  <a:cubicBezTo>
                    <a:pt x="766" y="530"/>
                    <a:pt x="820" y="583"/>
                    <a:pt x="820" y="650"/>
                  </a:cubicBezTo>
                  <a:close/>
                </a:path>
              </a:pathLst>
            </a:custGeom>
            <a:gradFill rotWithShape="1">
              <a:gsLst>
                <a:gs pos="0">
                  <a:srgbClr val="FFF6C2"/>
                </a:gs>
                <a:gs pos="100000">
                  <a:srgbClr val="E9B90B"/>
                </a:gs>
              </a:gsLst>
              <a:path path="circle">
                <a:fillToRect l="35000" t="30000" r="65000" b="70000"/>
              </a:path>
            </a:gradFill>
            <a:ln w="9525" cap="rnd">
              <a:solidFill>
                <a:srgbClr val="9A7D0A"/>
              </a:solidFill>
              <a:round/>
            </a:ln>
          </p:spPr>
        </p:sp>
      </p:grpSp>
      <p:sp>
        <p:nvSpPr>
          <p:cNvPr id="36" name="Recuadro GLUT2: entrada sin ins"/>
          <p:cNvSpPr/>
          <p:nvPr/>
        </p:nvSpPr>
        <p:spPr>
          <a:xfrm>
            <a:off x="548640" y="3886200"/>
            <a:ext cx="265176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GLUT2: entrada sin insulina</a:t>
            </a:r>
            <a:endParaRPr lang="es-AR" sz="1350" dirty="0">
              <a:latin typeface="Fira Sans Condensed"/>
            </a:endParaRPr>
          </a:p>
        </p:txBody>
      </p:sp>
      <p:grpSp>
        <p:nvGrpSpPr>
          <p:cNvPr id="37" name="Flecha ak→fx"/>
          <p:cNvGrpSpPr/>
          <p:nvPr/>
        </p:nvGrpSpPr>
        <p:grpSpPr>
          <a:xfrm>
            <a:off x="4783106" y="1042416"/>
            <a:ext cx="1863789" cy="429768"/>
            <a:chOff x="4783106" y="1042416"/>
            <a:chExt cx="1863789" cy="429768"/>
          </a:xfrm>
        </p:grpSpPr>
        <p:sp>
          <p:nvSpPr>
            <p:cNvPr id="38" name="Flecha 37_2"/>
            <p:cNvSpPr/>
            <p:nvPr/>
          </p:nvSpPr>
          <p:spPr>
            <a:xfrm>
              <a:off x="5431536" y="1463040"/>
              <a:ext cx="566928" cy="9144"/>
            </a:xfrm>
            <a:custGeom>
              <a:avLst/>
              <a:gdLst/>
              <a:ahLst/>
              <a:cxnLst/>
              <a:rect l="0" t="0" r="r" b="b"/>
              <a:pathLst>
                <a:path w="619" h="10" fill="none">
                  <a:moveTo>
                    <a:pt x="0" y="0"/>
                  </a:moveTo>
                  <a:lnTo>
                    <a:pt x="619" y="0"/>
                  </a:lnTo>
                </a:path>
              </a:pathLst>
            </a:custGeom>
            <a:noFill/>
            <a:ln w="28575" cap="rnd">
              <a:solidFill>
                <a:srgbClr val="1E1E1E"/>
              </a:solidFill>
              <a:round/>
              <a:tailEnd type="triangle" w="med" len="med"/>
            </a:ln>
          </p:spPr>
        </p:sp>
        <p:sp>
          <p:nvSpPr>
            <p:cNvPr id="39" name="Rótulo fosforila → exclus"/>
            <p:cNvSpPr/>
            <p:nvPr/>
          </p:nvSpPr>
          <p:spPr>
            <a:xfrm>
              <a:off x="4783106" y="1042416"/>
              <a:ext cx="1863789"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fosforila → exclusión nuclear</a:t>
              </a:r>
              <a:endParaRPr lang="es-AR" sz="1000" dirty="0">
                <a:latin typeface="Fira Sans Condensed"/>
              </a:endParaRPr>
            </a:p>
          </p:txBody>
        </p:sp>
      </p:grpSp>
      <p:grpSp>
        <p:nvGrpSpPr>
          <p:cNvPr id="40" name="Flecha fx→fx2"/>
          <p:cNvGrpSpPr/>
          <p:nvPr/>
        </p:nvGrpSpPr>
        <p:grpSpPr>
          <a:xfrm>
            <a:off x="7900416" y="1362456"/>
            <a:ext cx="576072" cy="201168"/>
            <a:chOff x="7900416" y="1362456"/>
            <a:chExt cx="576072" cy="201168"/>
          </a:xfrm>
        </p:grpSpPr>
        <p:sp>
          <p:nvSpPr>
            <p:cNvPr id="41" name="Flecha 41_2"/>
            <p:cNvSpPr/>
            <p:nvPr/>
          </p:nvSpPr>
          <p:spPr>
            <a:xfrm>
              <a:off x="7900416" y="1463040"/>
              <a:ext cx="566928" cy="9144"/>
            </a:xfrm>
            <a:custGeom>
              <a:avLst/>
              <a:gdLst/>
              <a:ahLst/>
              <a:cxnLst/>
              <a:rect l="0" t="0" r="r" b="b"/>
              <a:pathLst>
                <a:path w="620" h="10" fill="none">
                  <a:moveTo>
                    <a:pt x="0" y="0"/>
                  </a:moveTo>
                  <a:lnTo>
                    <a:pt x="620" y="0"/>
                  </a:lnTo>
                </a:path>
              </a:pathLst>
            </a:custGeom>
            <a:noFill/>
            <a:ln w="34925" cap="rnd">
              <a:solidFill>
                <a:srgbClr val="C00000"/>
              </a:solidFill>
              <a:round/>
            </a:ln>
          </p:spPr>
        </p:sp>
        <p:sp>
          <p:nvSpPr>
            <p:cNvPr id="42" name="Flecha 43_2"/>
            <p:cNvSpPr/>
            <p:nvPr/>
          </p:nvSpPr>
          <p:spPr>
            <a:xfrm>
              <a:off x="8467344" y="1362456"/>
              <a:ext cx="9144" cy="201168"/>
            </a:xfrm>
            <a:custGeom>
              <a:avLst/>
              <a:gdLst/>
              <a:ahLst/>
              <a:cxnLst/>
              <a:rect l="0" t="0" r="r" b="b"/>
              <a:pathLst>
                <a:path w="10" h="220" fill="none">
                  <a:moveTo>
                    <a:pt x="0" y="0"/>
                  </a:moveTo>
                  <a:lnTo>
                    <a:pt x="0" y="220"/>
                  </a:lnTo>
                </a:path>
              </a:pathLst>
            </a:custGeom>
            <a:noFill/>
            <a:ln w="55880" cap="rnd">
              <a:solidFill>
                <a:srgbClr val="C00000"/>
              </a:solidFill>
              <a:round/>
            </a:ln>
          </p:spPr>
        </p:sp>
      </p:grpSp>
      <p:grpSp>
        <p:nvGrpSpPr>
          <p:cNvPr id="43" name="Flecha ak→gsk"/>
          <p:cNvGrpSpPr/>
          <p:nvPr/>
        </p:nvGrpSpPr>
        <p:grpSpPr>
          <a:xfrm>
            <a:off x="4663440" y="1783080"/>
            <a:ext cx="1335024" cy="923544"/>
            <a:chOff x="4663440" y="1783080"/>
            <a:chExt cx="1335024" cy="923544"/>
          </a:xfrm>
        </p:grpSpPr>
        <p:sp>
          <p:nvSpPr>
            <p:cNvPr id="44" name="Flecha 46_2"/>
            <p:cNvSpPr/>
            <p:nvPr/>
          </p:nvSpPr>
          <p:spPr>
            <a:xfrm>
              <a:off x="4663440" y="1783080"/>
              <a:ext cx="1325880" cy="822960"/>
            </a:xfrm>
            <a:custGeom>
              <a:avLst/>
              <a:gdLst/>
              <a:ahLst/>
              <a:cxnLst/>
              <a:rect l="0" t="0" r="r" b="b"/>
              <a:pathLst>
                <a:path w="1450" h="900" fill="none">
                  <a:moveTo>
                    <a:pt x="0" y="0"/>
                  </a:moveTo>
                  <a:lnTo>
                    <a:pt x="0" y="900"/>
                  </a:lnTo>
                  <a:lnTo>
                    <a:pt x="1450" y="900"/>
                  </a:lnTo>
                </a:path>
              </a:pathLst>
            </a:custGeom>
            <a:noFill/>
            <a:ln w="34925" cap="rnd">
              <a:solidFill>
                <a:srgbClr val="C00000"/>
              </a:solidFill>
              <a:round/>
            </a:ln>
          </p:spPr>
        </p:sp>
        <p:sp>
          <p:nvSpPr>
            <p:cNvPr id="45" name="Flecha 48_2"/>
            <p:cNvSpPr/>
            <p:nvPr/>
          </p:nvSpPr>
          <p:spPr>
            <a:xfrm>
              <a:off x="5989320" y="2505456"/>
              <a:ext cx="9144" cy="201168"/>
            </a:xfrm>
            <a:custGeom>
              <a:avLst/>
              <a:gdLst/>
              <a:ahLst/>
              <a:cxnLst/>
              <a:rect l="0" t="0" r="r" b="b"/>
              <a:pathLst>
                <a:path w="10" h="219" fill="none">
                  <a:moveTo>
                    <a:pt x="0" y="0"/>
                  </a:moveTo>
                  <a:lnTo>
                    <a:pt x="0" y="219"/>
                  </a:lnTo>
                </a:path>
              </a:pathLst>
            </a:custGeom>
            <a:noFill/>
            <a:ln w="55880" cap="rnd">
              <a:solidFill>
                <a:srgbClr val="C00000"/>
              </a:solidFill>
              <a:round/>
            </a:ln>
          </p:spPr>
        </p:sp>
      </p:grpSp>
      <p:grpSp>
        <p:nvGrpSpPr>
          <p:cNvPr id="46" name="Flecha gsk→gs"/>
          <p:cNvGrpSpPr/>
          <p:nvPr/>
        </p:nvGrpSpPr>
        <p:grpSpPr>
          <a:xfrm>
            <a:off x="7900416" y="2505456"/>
            <a:ext cx="576072" cy="201168"/>
            <a:chOff x="7900416" y="2505456"/>
            <a:chExt cx="576072" cy="201168"/>
          </a:xfrm>
        </p:grpSpPr>
        <p:sp>
          <p:nvSpPr>
            <p:cNvPr id="47" name="Flecha 51_2"/>
            <p:cNvSpPr/>
            <p:nvPr/>
          </p:nvSpPr>
          <p:spPr>
            <a:xfrm>
              <a:off x="7900416" y="2606040"/>
              <a:ext cx="566928" cy="9144"/>
            </a:xfrm>
            <a:custGeom>
              <a:avLst/>
              <a:gdLst/>
              <a:ahLst/>
              <a:cxnLst/>
              <a:rect l="0" t="0" r="r" b="b"/>
              <a:pathLst>
                <a:path w="620" h="10" fill="none">
                  <a:moveTo>
                    <a:pt x="0" y="0"/>
                  </a:moveTo>
                  <a:lnTo>
                    <a:pt x="620" y="0"/>
                  </a:lnTo>
                </a:path>
              </a:pathLst>
            </a:custGeom>
            <a:noFill/>
            <a:ln w="34925" cap="rnd">
              <a:solidFill>
                <a:srgbClr val="C00000"/>
              </a:solidFill>
              <a:round/>
            </a:ln>
          </p:spPr>
        </p:sp>
        <p:sp>
          <p:nvSpPr>
            <p:cNvPr id="48" name="Flecha 53_2"/>
            <p:cNvSpPr/>
            <p:nvPr/>
          </p:nvSpPr>
          <p:spPr>
            <a:xfrm>
              <a:off x="8467344" y="2505456"/>
              <a:ext cx="9144" cy="201168"/>
            </a:xfrm>
            <a:custGeom>
              <a:avLst/>
              <a:gdLst/>
              <a:ahLst/>
              <a:cxnLst/>
              <a:rect l="0" t="0" r="r" b="b"/>
              <a:pathLst>
                <a:path w="10" h="219" fill="none">
                  <a:moveTo>
                    <a:pt x="0" y="0"/>
                  </a:moveTo>
                  <a:lnTo>
                    <a:pt x="0" y="219"/>
                  </a:lnTo>
                </a:path>
              </a:pathLst>
            </a:custGeom>
            <a:noFill/>
            <a:ln w="55880" cap="rnd">
              <a:solidFill>
                <a:srgbClr val="C00000"/>
              </a:solidFill>
              <a:round/>
            </a:ln>
          </p:spPr>
        </p:sp>
      </p:grpSp>
      <p:sp>
        <p:nvSpPr>
          <p:cNvPr id="49" name="Flecha ak→mt"/>
          <p:cNvSpPr/>
          <p:nvPr/>
        </p:nvSpPr>
        <p:spPr>
          <a:xfrm>
            <a:off x="4480560" y="1783080"/>
            <a:ext cx="1508760" cy="1965960"/>
          </a:xfrm>
          <a:custGeom>
            <a:avLst/>
            <a:gdLst/>
            <a:ahLst/>
            <a:cxnLst/>
            <a:rect l="0" t="0" r="r" b="b"/>
            <a:pathLst>
              <a:path w="1649" h="2149" fill="none">
                <a:moveTo>
                  <a:pt x="0" y="0"/>
                </a:moveTo>
                <a:lnTo>
                  <a:pt x="0" y="2149"/>
                </a:lnTo>
                <a:lnTo>
                  <a:pt x="1649" y="2149"/>
                </a:lnTo>
              </a:path>
            </a:pathLst>
          </a:custGeom>
          <a:noFill/>
          <a:ln w="28575" cap="rnd">
            <a:solidFill>
              <a:srgbClr val="1E8C3A"/>
            </a:solidFill>
            <a:round/>
            <a:tailEnd type="triangle" w="med" len="med"/>
          </a:ln>
        </p:spPr>
      </p:sp>
      <p:sp>
        <p:nvSpPr>
          <p:cNvPr id="50" name="Flecha mt→sr"/>
          <p:cNvSpPr/>
          <p:nvPr/>
        </p:nvSpPr>
        <p:spPr>
          <a:xfrm>
            <a:off x="7900416" y="3749040"/>
            <a:ext cx="566928" cy="9144"/>
          </a:xfrm>
          <a:custGeom>
            <a:avLst/>
            <a:gdLst/>
            <a:ahLst/>
            <a:cxnLst/>
            <a:rect l="0" t="0" r="r" b="b"/>
            <a:pathLst>
              <a:path w="620" h="10" fill="none">
                <a:moveTo>
                  <a:pt x="0" y="0"/>
                </a:moveTo>
                <a:lnTo>
                  <a:pt x="620" y="0"/>
                </a:lnTo>
              </a:path>
            </a:pathLst>
          </a:custGeom>
          <a:noFill/>
          <a:ln w="28575" cap="rnd">
            <a:solidFill>
              <a:srgbClr val="1E8C3A"/>
            </a:solidFill>
            <a:round/>
            <a:tailEnd type="triangle" w="med" len="med"/>
          </a:ln>
        </p:spPr>
      </p:sp>
      <p:sp>
        <p:nvSpPr>
          <p:cNvPr id="51" name="Flecha fx2→o1"/>
          <p:cNvSpPr/>
          <p:nvPr/>
        </p:nvSpPr>
        <p:spPr>
          <a:xfrm>
            <a:off x="5897880" y="1783080"/>
            <a:ext cx="4251960" cy="2926080"/>
          </a:xfrm>
          <a:custGeom>
            <a:avLst/>
            <a:gdLst/>
            <a:ahLst/>
            <a:cxnLst/>
            <a:rect l="0" t="0" r="r" b="b"/>
            <a:pathLst>
              <a:path w="4649" h="3200" fill="none">
                <a:moveTo>
                  <a:pt x="4649" y="0"/>
                </a:moveTo>
                <a:lnTo>
                  <a:pt x="4649" y="250"/>
                </a:lnTo>
                <a:lnTo>
                  <a:pt x="0" y="250"/>
                </a:lnTo>
                <a:lnTo>
                  <a:pt x="0" y="3200"/>
                </a:lnTo>
              </a:path>
            </a:pathLst>
          </a:custGeom>
          <a:noFill/>
          <a:ln w="28575" cap="rnd">
            <a:solidFill>
              <a:srgbClr val="1E1E1E"/>
            </a:solidFill>
            <a:prstDash val="dash"/>
            <a:round/>
            <a:tailEnd type="triangle" w="med" len="med"/>
          </a:ln>
        </p:spPr>
      </p:sp>
      <p:sp>
        <p:nvSpPr>
          <p:cNvPr id="52" name="Flecha gs→o2"/>
          <p:cNvSpPr/>
          <p:nvPr/>
        </p:nvSpPr>
        <p:spPr>
          <a:xfrm>
            <a:off x="11521440" y="2926080"/>
            <a:ext cx="9144" cy="1783080"/>
          </a:xfrm>
          <a:custGeom>
            <a:avLst/>
            <a:gdLst/>
            <a:ahLst/>
            <a:cxnLst/>
            <a:rect l="0" t="0" r="r" b="b"/>
            <a:pathLst>
              <a:path w="10" h="1950" fill="none">
                <a:moveTo>
                  <a:pt x="0" y="0"/>
                </a:moveTo>
                <a:lnTo>
                  <a:pt x="0" y="1950"/>
                </a:lnTo>
              </a:path>
            </a:pathLst>
          </a:custGeom>
          <a:noFill/>
          <a:ln w="28575" cap="rnd">
            <a:solidFill>
              <a:srgbClr val="1E1E1E"/>
            </a:solidFill>
            <a:round/>
            <a:tailEnd type="triangle" w="med" len="med"/>
          </a:ln>
        </p:spPr>
      </p:sp>
      <p:sp>
        <p:nvSpPr>
          <p:cNvPr id="53" name="Flecha sr→o2"/>
          <p:cNvSpPr/>
          <p:nvPr/>
        </p:nvSpPr>
        <p:spPr>
          <a:xfrm>
            <a:off x="9601200" y="4069080"/>
            <a:ext cx="9144" cy="640080"/>
          </a:xfrm>
          <a:custGeom>
            <a:avLst/>
            <a:gdLst/>
            <a:ahLst/>
            <a:cxnLst/>
            <a:rect l="0" t="0" r="r" b="b"/>
            <a:pathLst>
              <a:path w="10" h="700" fill="none">
                <a:moveTo>
                  <a:pt x="0" y="0"/>
                </a:moveTo>
                <a:lnTo>
                  <a:pt x="0" y="700"/>
                </a:lnTo>
              </a:path>
            </a:pathLst>
          </a:custGeom>
          <a:noFill/>
          <a:ln w="28575" cap="rnd">
            <a:solidFill>
              <a:srgbClr val="1E1E1E"/>
            </a:solidFill>
            <a:round/>
            <a:tailEnd type="triangle" w="med" len="med"/>
          </a:ln>
        </p:spPr>
      </p:sp>
      <p:sp>
        <p:nvSpPr>
          <p:cNvPr id="54" name="Nodo ak"/>
          <p:cNvSpPr/>
          <p:nvPr/>
        </p:nvSpPr>
        <p:spPr>
          <a:xfrm>
            <a:off x="3931920" y="1188720"/>
            <a:ext cx="14630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1E1E1E"/>
                </a:solidFill>
                <a:latin typeface="Fira Sans Condensed"/>
                <a:ea typeface="Fira Sans Condensed"/>
                <a:cs typeface="Fira Sans Condensed"/>
                <a:sym typeface="Fira Sans Condensed"/>
              </a:rPr>
              <a:t>Akt</a:t>
            </a:r>
            <a:endParaRPr lang="es-AR" sz="1800" dirty="0">
              <a:latin typeface="Fira Sans Condensed"/>
            </a:endParaRPr>
          </a:p>
        </p:txBody>
      </p:sp>
      <p:sp>
        <p:nvSpPr>
          <p:cNvPr id="55" name="Nodo fx"/>
          <p:cNvSpPr/>
          <p:nvPr/>
        </p:nvSpPr>
        <p:spPr>
          <a:xfrm>
            <a:off x="6035040" y="1188720"/>
            <a:ext cx="182880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FOXO1-P</a:t>
            </a:r>
            <a:endParaRPr lang="es-AR" sz="1500" dirty="0">
              <a:latin typeface="Fira Sans Condensed"/>
            </a:endParaRPr>
          </a:p>
        </p:txBody>
      </p:sp>
      <p:sp>
        <p:nvSpPr>
          <p:cNvPr id="56" name="Nodo fx2"/>
          <p:cNvSpPr/>
          <p:nvPr/>
        </p:nvSpPr>
        <p:spPr>
          <a:xfrm>
            <a:off x="8503920" y="118872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PEPCK (PCK1) · G6Pasa (G6PC) ↓</a:t>
            </a:r>
            <a:endParaRPr lang="es-AR" sz="1350" dirty="0">
              <a:latin typeface="Fira Sans Condensed"/>
            </a:endParaRPr>
          </a:p>
        </p:txBody>
      </p:sp>
      <p:sp>
        <p:nvSpPr>
          <p:cNvPr id="57" name="Nodo gsk"/>
          <p:cNvSpPr/>
          <p:nvPr/>
        </p:nvSpPr>
        <p:spPr>
          <a:xfrm>
            <a:off x="6035040" y="2331720"/>
            <a:ext cx="182880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GSK3</a:t>
            </a:r>
            <a:endParaRPr lang="es-AR" sz="1500" dirty="0">
              <a:latin typeface="Fira Sans Condensed"/>
            </a:endParaRPr>
          </a:p>
        </p:txBody>
      </p:sp>
      <p:sp>
        <p:nvSpPr>
          <p:cNvPr id="58" name="Nodo gs"/>
          <p:cNvSpPr/>
          <p:nvPr/>
        </p:nvSpPr>
        <p:spPr>
          <a:xfrm>
            <a:off x="8503920" y="233172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Glucógeno sintasa activa</a:t>
            </a:r>
            <a:endParaRPr lang="es-AR" sz="1400" dirty="0">
              <a:latin typeface="Fira Sans Condensed"/>
            </a:endParaRPr>
          </a:p>
        </p:txBody>
      </p:sp>
      <p:sp>
        <p:nvSpPr>
          <p:cNvPr id="59" name="Nodo mt"/>
          <p:cNvSpPr/>
          <p:nvPr/>
        </p:nvSpPr>
        <p:spPr>
          <a:xfrm>
            <a:off x="6035040" y="3474720"/>
            <a:ext cx="18288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mTORC1</a:t>
            </a:r>
            <a:endParaRPr lang="es-AR" sz="1500" dirty="0">
              <a:latin typeface="Fira Sans Condensed"/>
            </a:endParaRPr>
          </a:p>
        </p:txBody>
      </p:sp>
      <p:sp>
        <p:nvSpPr>
          <p:cNvPr id="60" name="Nodo sr"/>
          <p:cNvSpPr/>
          <p:nvPr/>
        </p:nvSpPr>
        <p:spPr>
          <a:xfrm>
            <a:off x="8503920" y="347472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SREBP-1c → lipogénesis</a:t>
            </a:r>
            <a:endParaRPr lang="es-AR" sz="1400" dirty="0">
              <a:latin typeface="Fira Sans Condensed"/>
            </a:endParaRPr>
          </a:p>
        </p:txBody>
      </p:sp>
      <p:sp>
        <p:nvSpPr>
          <p:cNvPr id="61" name="Nodo o1"/>
          <p:cNvSpPr/>
          <p:nvPr/>
        </p:nvSpPr>
        <p:spPr>
          <a:xfrm>
            <a:off x="3931920" y="4754880"/>
            <a:ext cx="393192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Gluconeogénesis ↓ · glucogenólisis ↓</a:t>
            </a:r>
            <a:endParaRPr lang="es-AR" sz="1500" dirty="0">
              <a:latin typeface="Fira Sans Condensed"/>
            </a:endParaRPr>
          </a:p>
        </p:txBody>
      </p:sp>
      <p:sp>
        <p:nvSpPr>
          <p:cNvPr id="62" name="Nodo o2"/>
          <p:cNvSpPr/>
          <p:nvPr/>
        </p:nvSpPr>
        <p:spPr>
          <a:xfrm>
            <a:off x="8092440" y="4754880"/>
            <a:ext cx="370332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Glucógeno ↑ · TAG/VLDL ↑</a:t>
            </a:r>
            <a:endParaRPr lang="es-AR" sz="1500" dirty="0">
              <a:latin typeface="Fira Sans Condensed"/>
            </a:endParaRPr>
          </a:p>
        </p:txBody>
      </p:sp>
      <p:sp>
        <p:nvSpPr>
          <p:cNvPr id="63" name="Perla clínica"/>
          <p:cNvSpPr/>
          <p:nvPr/>
        </p:nvSpPr>
        <p:spPr>
          <a:xfrm>
            <a:off x="365760" y="5577840"/>
            <a:ext cx="11430000" cy="7315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Error frecuente: «toda acción de la insulina pasa por GLUT4». En el hígado el transporte es por </a:t>
            </a:r>
            <a:r>
              <a:rPr lang="es-AR" sz="1450" b="1" dirty="0">
                <a:solidFill>
                  <a:srgbClr val="FFFFFF"/>
                </a:solidFill>
                <a:latin typeface="Fira Sans Condensed"/>
                <a:ea typeface="Fira Sans Condensed"/>
                <a:cs typeface="Fira Sans Condensed"/>
                <a:sym typeface="Fira Sans Condensed"/>
              </a:rPr>
              <a:t>GLUT2</a:t>
            </a:r>
            <a:r>
              <a:rPr lang="es-AR" sz="1450" dirty="0">
                <a:solidFill>
                  <a:srgbClr val="FFFFFF"/>
                </a:solidFill>
                <a:latin typeface="Fira Sans Condensed"/>
                <a:ea typeface="Fira Sans Condensed"/>
                <a:cs typeface="Fira Sans Condensed"/>
                <a:sym typeface="Fira Sans Condensed"/>
              </a:rPr>
              <a:t>; la insulina cambia </a:t>
            </a:r>
            <a:r>
              <a:rPr lang="es-AR" sz="1450" b="1" dirty="0">
                <a:solidFill>
                  <a:srgbClr val="FFFFFF"/>
                </a:solidFill>
                <a:latin typeface="Fira Sans Condensed"/>
                <a:ea typeface="Fira Sans Condensed"/>
                <a:cs typeface="Fira Sans Condensed"/>
                <a:sym typeface="Fira Sans Condensed"/>
              </a:rPr>
              <a:t>qué hace</a:t>
            </a:r>
            <a:r>
              <a:rPr lang="es-AR" sz="1450" dirty="0">
                <a:solidFill>
                  <a:srgbClr val="FFFFFF"/>
                </a:solidFill>
                <a:latin typeface="Fira Sans Condensed"/>
                <a:ea typeface="Fira Sans Condensed"/>
                <a:cs typeface="Fira Sans Condensed"/>
                <a:sym typeface="Fira Sans Condensed"/>
              </a:rPr>
              <a:t> el hepatocito con la glucosa.</a:t>
            </a:r>
            <a:endParaRPr lang="es-AR" sz="1450" dirty="0">
              <a:latin typeface="Fira Sans Condensed"/>
            </a:endParaRPr>
          </a:p>
        </p:txBody>
      </p:sp>
      <p:sp>
        <p:nvSpPr>
          <p:cNvPr id="4" name="Título"/>
          <p:cNvSpPr txBox="1"/>
          <p:nvPr/>
        </p:nvSpPr>
        <p:spPr>
          <a:xfrm>
            <a:off x="320040" y="91440"/>
            <a:ext cx="11551615" cy="8361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200" dirty="0">
                <a:solidFill>
                  <a:srgbClr val="1E1E1E"/>
                </a:solidFill>
                <a:effectLst>
                  <a:glow rad="101600">
                    <a:srgbClr val="FFFFFF">
                      <a:alpha val="70000"/>
                    </a:srgbClr>
                  </a:glow>
                </a:effectLst>
                <a:latin typeface="Permanent Marker"/>
                <a:ea typeface="Permanent Marker"/>
                <a:cs typeface="Permanent Marker"/>
                <a:sym typeface="Permanent Marker"/>
              </a:rPr>
              <a:t>HEPATOCITO: LA INSULINA REGULA EL METABOLISMO, NO EL TRANSPORTE</a:t>
            </a:r>
            <a:endParaRPr lang="es-AR" sz="22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6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4"/>
                                        </p:tgtEl>
                                        <p:attrNameLst>
                                          <p:attrName>style.visibility</p:attrName>
                                        </p:attrNameLst>
                                      </p:cBhvr>
                                      <p:to>
                                        <p:strVal val="visible"/>
                                      </p:to>
                                    </p:set>
                                    <p:animEffect transition="in" filter="fade">
                                      <p:cBhvr>
                                        <p:cTn id="5" dur="400"/>
                                        <p:tgtEl>
                                          <p:spTgt spid="54"/>
                                        </p:tgtEl>
                                      </p:cBhvr>
                                    </p:animEffect>
                                  </p:childTnLst>
                                </p:cTn>
                              </p:par>
                            </p:childTnLst>
                          </p:cTn>
                        </p:par>
                      </p:childTnLst>
                    </p:cTn>
                  </p:par>
                  <p:par>
                    <p:cTn id="24"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left)">
                                      <p:cBhvr>
                                        <p:cTn id="10" dur="500"/>
                                        <p:tgtEl>
                                          <p:spTgt spid="37"/>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400"/>
                                        <p:tgtEl>
                                          <p:spTgt spid="55"/>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left)">
                                      <p:cBhvr>
                                        <p:cTn id="18" dur="500"/>
                                        <p:tgtEl>
                                          <p:spTgt spid="40"/>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400"/>
                                        <p:tgtEl>
                                          <p:spTgt spid="56"/>
                                        </p:tgtEl>
                                      </p:cBhvr>
                                    </p:animEffect>
                                  </p:childTnLst>
                                </p:cTn>
                              </p:par>
                            </p:childTnLst>
                          </p:cTn>
                        </p:par>
                      </p:childTnLst>
                    </p:cTn>
                  </p:par>
                  <p:par>
                    <p:cTn id="41"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400"/>
                                        <p:tgtEl>
                                          <p:spTgt spid="57"/>
                                        </p:tgtEl>
                                      </p:cBhvr>
                                    </p:animEffect>
                                  </p:childTnLst>
                                </p:cTn>
                              </p:par>
                            </p:childTnLst>
                          </p:cTn>
                        </p:par>
                        <p:par>
                          <p:cTn id="36" fill="hold">
                            <p:stCondLst>
                              <p:cond delay="900"/>
                            </p:stCondLst>
                            <p:childTnLst>
                              <p:par>
                                <p:cTn id="33" presetID="22" presetClass="entr" presetSubtype="8"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wipe(left)">
                                      <p:cBhvr>
                                        <p:cTn id="35" dur="500"/>
                                        <p:tgtEl>
                                          <p:spTgt spid="46"/>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fade">
                                      <p:cBhvr>
                                        <p:cTn id="39" dur="400"/>
                                        <p:tgtEl>
                                          <p:spTgt spid="58"/>
                                        </p:tgtEl>
                                      </p:cBhvr>
                                    </p:animEffect>
                                  </p:childTnLst>
                                </p:cTn>
                              </p:par>
                            </p:childTnLst>
                          </p:cTn>
                        </p:par>
                      </p:childTnLst>
                    </p:cTn>
                  </p:par>
                  <p:par>
                    <p:cTn id="58" fill="hold">
                      <p:stCondLst>
                        <p:cond delay="indefinite"/>
                      </p:stCondLst>
                      <p:childTnLst>
                        <p:par>
                          <p:cTn id="45"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500"/>
                                        <p:tgtEl>
                                          <p:spTgt spid="49"/>
                                        </p:tgtEl>
                                      </p:cBhvr>
                                    </p:animEffect>
                                  </p:childTnLst>
                                </p:cTn>
                              </p:par>
                            </p:childTnLst>
                          </p:cTn>
                        </p:par>
                        <p:par>
                          <p:cTn id="49"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400"/>
                                        <p:tgtEl>
                                          <p:spTgt spid="59"/>
                                        </p:tgtEl>
                                      </p:cBhvr>
                                    </p:animEffect>
                                  </p:childTnLst>
                                </p:cTn>
                              </p:par>
                            </p:childTnLst>
                          </p:cTn>
                        </p:par>
                        <p:par>
                          <p:cTn id="53" fill="hold">
                            <p:stCondLst>
                              <p:cond delay="900"/>
                            </p:stCondLst>
                            <p:childTnLst>
                              <p:par>
                                <p:cTn id="50" presetID="22" presetClass="entr" presetSubtype="8" fill="hold" grpId="0" nodeType="after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wipe(left)">
                                      <p:cBhvr>
                                        <p:cTn id="52" dur="500"/>
                                        <p:tgtEl>
                                          <p:spTgt spid="50"/>
                                        </p:tgtEl>
                                      </p:cBhvr>
                                    </p:animEffect>
                                  </p:childTnLst>
                                </p:cTn>
                              </p:par>
                            </p:childTnLst>
                          </p:cTn>
                        </p:par>
                        <p:par>
                          <p:cTn id="57" fill="hold">
                            <p:stCondLst>
                              <p:cond delay="1400"/>
                            </p:stCondLst>
                            <p:childTnLst>
                              <p:par>
                                <p:cTn id="54" presetID="10" presetClass="entr" presetSubtype="0" fill="hold" grpId="0" nodeType="after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400"/>
                                        <p:tgtEl>
                                          <p:spTgt spid="60"/>
                                        </p:tgtEl>
                                      </p:cBhvr>
                                    </p:animEffect>
                                  </p:childTnLst>
                                </p:cTn>
                              </p:par>
                            </p:childTnLst>
                          </p:cTn>
                        </p:par>
                      </p:childTnLst>
                    </p:cTn>
                  </p:par>
                  <p:par>
                    <p:cTn id="79" fill="hold">
                      <p:stCondLst>
                        <p:cond delay="indefinite"/>
                      </p:stCondLst>
                      <p:childTnLst>
                        <p:par>
                          <p:cTn id="62"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wipe(left)">
                                      <p:cBhvr>
                                        <p:cTn id="61" dur="500"/>
                                        <p:tgtEl>
                                          <p:spTgt spid="51"/>
                                        </p:tgtEl>
                                      </p:cBhvr>
                                    </p:animEffect>
                                  </p:childTnLst>
                                </p:cTn>
                              </p:par>
                            </p:childTnLst>
                          </p:cTn>
                        </p:par>
                        <p:par>
                          <p:cTn id="66"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fade">
                                      <p:cBhvr>
                                        <p:cTn id="65" dur="400"/>
                                        <p:tgtEl>
                                          <p:spTgt spid="61"/>
                                        </p:tgtEl>
                                      </p:cBhvr>
                                    </p:animEffect>
                                  </p:childTnLst>
                                </p:cTn>
                              </p:par>
                            </p:childTnLst>
                          </p:cTn>
                        </p:par>
                        <p:par>
                          <p:cTn id="70" fill="hold">
                            <p:stCondLst>
                              <p:cond delay="900"/>
                            </p:stCondLst>
                            <p:childTnLst>
                              <p:par>
                                <p:cTn id="67" presetID="22" presetClass="entr" presetSubtype="8" fill="hold" grpId="0"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wipe(left)">
                                      <p:cBhvr>
                                        <p:cTn id="69" dur="500"/>
                                        <p:tgtEl>
                                          <p:spTgt spid="52"/>
                                        </p:tgtEl>
                                      </p:cBhvr>
                                    </p:animEffect>
                                  </p:childTnLst>
                                </p:cTn>
                              </p:par>
                            </p:childTnLst>
                          </p:cTn>
                        </p:par>
                        <p:par>
                          <p:cTn id="74" fill="hold">
                            <p:stCondLst>
                              <p:cond delay="1400"/>
                            </p:stCondLst>
                            <p:childTnLst>
                              <p:par>
                                <p:cTn id="71" presetID="22" presetClass="entr" presetSubtype="8" fill="hold" grpId="0" nodeType="after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left)">
                                      <p:cBhvr>
                                        <p:cTn id="73" dur="500"/>
                                        <p:tgtEl>
                                          <p:spTgt spid="53"/>
                                        </p:tgtEl>
                                      </p:cBhvr>
                                    </p:animEffect>
                                  </p:childTnLst>
                                </p:cTn>
                              </p:par>
                            </p:childTnLst>
                          </p:cTn>
                        </p:par>
                        <p:par>
                          <p:cTn id="78" fill="hold">
                            <p:stCondLst>
                              <p:cond delay="1900"/>
                            </p:stCondLst>
                            <p:childTnLst>
                              <p:par>
                                <p:cTn id="75" presetID="10" presetClass="entr" presetSubtype="0" fill="hold" grpId="0" nodeType="after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400"/>
                                        <p:tgtEl>
                                          <p:spTgt spid="62"/>
                                        </p:tgtEl>
                                      </p:cBhvr>
                                    </p:animEffect>
                                  </p:childTnLst>
                                </p:cTn>
                              </p:par>
                            </p:childTnLst>
                          </p:cTn>
                        </p:par>
                      </p:childTnLst>
                    </p:cTn>
                  </p:par>
                  <p:par>
                    <p:cTn id="84" fill="hold">
                      <p:stCondLst>
                        <p:cond delay="indefinite"/>
                      </p:stCondLst>
                      <p:childTnLst>
                        <p:par>
                          <p:cTn id="83"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childTnLst>
                          </p:cTn>
                        </p:par>
                      </p:childTnLst>
                    </p:cTn>
                  </p:par>
                  <p:par>
                    <p:cTn id="91" fill="hold">
                      <p:stCondLst>
                        <p:cond delay="indefinite"/>
                      </p:stCondLst>
                      <p:childTnLst>
                        <p:par>
                          <p:cTn id="90"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63"/>
                                        </p:tgtEl>
                                        <p:attrNameLst>
                                          <p:attrName>style.visibility</p:attrName>
                                        </p:attrNameLst>
                                      </p:cBhvr>
                                      <p:to>
                                        <p:strVal val="visible"/>
                                      </p:to>
                                    </p:set>
                                    <p:anim calcmode="lin" valueType="num">
                                      <p:cBhvr>
                                        <p:cTn id="87" dur="500" fill="hold"/>
                                        <p:tgtEl>
                                          <p:spTgt spid="63"/>
                                        </p:tgtEl>
                                        <p:attrNameLst>
                                          <p:attrName>ppt_w</p:attrName>
                                        </p:attrNameLst>
                                      </p:cBhvr>
                                      <p:tavLst>
                                        <p:tav tm="0">
                                          <p:val>
                                            <p:fltVal val="0"/>
                                          </p:val>
                                        </p:tav>
                                        <p:tav tm="100000">
                                          <p:val>
                                            <p:strVal val="#ppt_w"/>
                                          </p:val>
                                        </p:tav>
                                      </p:tavLst>
                                    </p:anim>
                                    <p:anim calcmode="lin" valueType="num">
                                      <p:cBhvr>
                                        <p:cTn id="88" dur="500" fill="hold"/>
                                        <p:tgtEl>
                                          <p:spTgt spid="63"/>
                                        </p:tgtEl>
                                        <p:attrNameLst>
                                          <p:attrName>ppt_h</p:attrName>
                                        </p:attrNameLst>
                                      </p:cBhvr>
                                      <p:tavLst>
                                        <p:tav tm="0">
                                          <p:val>
                                            <p:fltVal val="0"/>
                                          </p:val>
                                        </p:tav>
                                        <p:tav tm="100000">
                                          <p:val>
                                            <p:strVal val="#ppt_h"/>
                                          </p:val>
                                        </p:tav>
                                      </p:tavLst>
                                    </p:anim>
                                    <p:animEffect transition="in" filter="fade">
                                      <p:cBhvr>
                                        <p:cTn id="8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8" grpId="0" animBg="1"/>
      <p:bldP spid="49" grpId="0" animBg="1"/>
      <p:bldP spid="59" grpId="0" animBg="1"/>
      <p:bldP spid="50" grpId="0" animBg="1"/>
      <p:bldP spid="60" grpId="0" animBg="1"/>
      <p:bldP spid="51" grpId="0" animBg="1"/>
      <p:bldP spid="61" grpId="0" animBg="1"/>
      <p:bldP spid="52" grpId="0" animBg="1"/>
      <p:bldP spid="53" grpId="0" animBg="1"/>
      <p:bldP spid="62" grpId="0" animBg="1"/>
      <p:bldP spid="36" grpId="0" animBg="1"/>
      <p:bldP spid="6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Adipocito señal" descr="Ilustración biomédica (Servier Medical Art, CC BY)"/>
          <p:cNvPicPr>
            <a:picLocks noChangeAspect="1"/>
          </p:cNvPicPr>
          <p:nvPr/>
        </p:nvPicPr>
        <p:blipFill>
          <a:blip r:embed="rId2"/>
          <a:stretch>
            <a:fillRect/>
          </a:stretch>
        </p:blipFill>
        <p:spPr>
          <a:xfrm>
            <a:off x="320040" y="1188720"/>
            <a:ext cx="2926080" cy="2983621"/>
          </a:xfrm>
          <a:prstGeom prst="rect">
            <a:avLst/>
          </a:prstGeom>
        </p:spPr>
      </p:pic>
      <p:sp>
        <p:nvSpPr>
          <p:cNvPr id="8" name="Flecha ak→pde"/>
          <p:cNvSpPr/>
          <p:nvPr/>
        </p:nvSpPr>
        <p:spPr>
          <a:xfrm>
            <a:off x="5340096" y="1508760"/>
            <a:ext cx="475488" cy="9144"/>
          </a:xfrm>
          <a:custGeom>
            <a:avLst/>
            <a:gdLst/>
            <a:ahLst/>
            <a:cxnLst/>
            <a:rect l="0" t="0" r="r" b="b"/>
            <a:pathLst>
              <a:path w="520" h="10" fill="none">
                <a:moveTo>
                  <a:pt x="0" y="0"/>
                </a:moveTo>
                <a:lnTo>
                  <a:pt x="520" y="0"/>
                </a:lnTo>
              </a:path>
            </a:pathLst>
          </a:custGeom>
          <a:noFill/>
          <a:ln w="28575" cap="rnd">
            <a:solidFill>
              <a:srgbClr val="1E8C3A"/>
            </a:solidFill>
            <a:round/>
            <a:tailEnd type="triangle" w="med" len="med"/>
          </a:ln>
        </p:spPr>
      </p:sp>
      <p:grpSp>
        <p:nvGrpSpPr>
          <p:cNvPr id="9" name="Flecha pde→camp"/>
          <p:cNvGrpSpPr/>
          <p:nvPr/>
        </p:nvGrpSpPr>
        <p:grpSpPr>
          <a:xfrm>
            <a:off x="7795720" y="1380744"/>
            <a:ext cx="684879" cy="196850"/>
            <a:chOff x="7795720" y="1380744"/>
            <a:chExt cx="684879" cy="196850"/>
          </a:xfrm>
        </p:grpSpPr>
        <p:sp>
          <p:nvSpPr>
            <p:cNvPr id="10" name="Flecha 9_2"/>
            <p:cNvSpPr/>
            <p:nvPr/>
          </p:nvSpPr>
          <p:spPr>
            <a:xfrm>
              <a:off x="7900416" y="1508760"/>
              <a:ext cx="475488" cy="9144"/>
            </a:xfrm>
            <a:custGeom>
              <a:avLst/>
              <a:gdLst/>
              <a:ahLst/>
              <a:cxnLst/>
              <a:rect l="0" t="0" r="r" b="b"/>
              <a:pathLst>
                <a:path w="519" h="10" fill="none">
                  <a:moveTo>
                    <a:pt x="0" y="0"/>
                  </a:moveTo>
                  <a:lnTo>
                    <a:pt x="519" y="0"/>
                  </a:lnTo>
                </a:path>
              </a:pathLst>
            </a:custGeom>
            <a:noFill/>
            <a:ln w="28575" cap="rnd">
              <a:solidFill>
                <a:srgbClr val="1E1E1E"/>
              </a:solidFill>
              <a:round/>
              <a:tailEnd type="triangle" w="med" len="med"/>
            </a:ln>
          </p:spPr>
        </p:sp>
        <p:sp>
          <p:nvSpPr>
            <p:cNvPr id="11" name="Rótulo degrada"/>
            <p:cNvSpPr/>
            <p:nvPr/>
          </p:nvSpPr>
          <p:spPr>
            <a:xfrm>
              <a:off x="7795720" y="1380744"/>
              <a:ext cx="684879"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degrada</a:t>
              </a:r>
              <a:endParaRPr lang="es-AR" sz="1000" dirty="0">
                <a:latin typeface="Fira Sans Condensed"/>
              </a:endParaRPr>
            </a:p>
          </p:txBody>
        </p:sp>
      </p:grpSp>
      <p:sp>
        <p:nvSpPr>
          <p:cNvPr id="12" name="Flecha camp→pka"/>
          <p:cNvSpPr/>
          <p:nvPr/>
        </p:nvSpPr>
        <p:spPr>
          <a:xfrm>
            <a:off x="10058400" y="1819656"/>
            <a:ext cx="9144" cy="521208"/>
          </a:xfrm>
          <a:custGeom>
            <a:avLst/>
            <a:gdLst/>
            <a:ahLst/>
            <a:cxnLst/>
            <a:rect l="0" t="0" r="r" b="b"/>
            <a:pathLst>
              <a:path w="10" h="569" fill="none">
                <a:moveTo>
                  <a:pt x="0" y="0"/>
                </a:moveTo>
                <a:lnTo>
                  <a:pt x="0" y="569"/>
                </a:lnTo>
              </a:path>
            </a:pathLst>
          </a:custGeom>
          <a:noFill/>
          <a:ln w="28575" cap="rnd">
            <a:solidFill>
              <a:srgbClr val="1E1E1E"/>
            </a:solidFill>
            <a:round/>
            <a:tailEnd type="triangle" w="med" len="med"/>
          </a:ln>
        </p:spPr>
      </p:sp>
      <p:sp>
        <p:nvSpPr>
          <p:cNvPr id="13" name="Flecha pka→hsl"/>
          <p:cNvSpPr/>
          <p:nvPr/>
        </p:nvSpPr>
        <p:spPr>
          <a:xfrm>
            <a:off x="10058400" y="2962656"/>
            <a:ext cx="9144" cy="521208"/>
          </a:xfrm>
          <a:custGeom>
            <a:avLst/>
            <a:gdLst/>
            <a:ahLst/>
            <a:cxnLst/>
            <a:rect l="0" t="0" r="r" b="b"/>
            <a:pathLst>
              <a:path w="10" h="569" fill="none">
                <a:moveTo>
                  <a:pt x="0" y="0"/>
                </a:moveTo>
                <a:lnTo>
                  <a:pt x="0" y="569"/>
                </a:lnTo>
              </a:path>
            </a:pathLst>
          </a:custGeom>
          <a:noFill/>
          <a:ln w="28575" cap="rnd">
            <a:solidFill>
              <a:srgbClr val="1E1E1E"/>
            </a:solidFill>
            <a:round/>
            <a:tailEnd type="triangle" w="med" len="med"/>
          </a:ln>
        </p:spPr>
      </p:sp>
      <p:sp>
        <p:nvSpPr>
          <p:cNvPr id="14" name="Flecha hsl→o"/>
          <p:cNvSpPr/>
          <p:nvPr/>
        </p:nvSpPr>
        <p:spPr>
          <a:xfrm>
            <a:off x="7900416" y="3794760"/>
            <a:ext cx="475488" cy="9144"/>
          </a:xfrm>
          <a:custGeom>
            <a:avLst/>
            <a:gdLst/>
            <a:ahLst/>
            <a:cxnLst/>
            <a:rect l="0" t="0" r="r" b="b"/>
            <a:pathLst>
              <a:path w="520" h="10" fill="none">
                <a:moveTo>
                  <a:pt x="520" y="0"/>
                </a:moveTo>
                <a:lnTo>
                  <a:pt x="0" y="0"/>
                </a:lnTo>
              </a:path>
            </a:pathLst>
          </a:custGeom>
          <a:noFill/>
          <a:ln w="28575" cap="rnd">
            <a:solidFill>
              <a:srgbClr val="1E1E1E"/>
            </a:solidFill>
            <a:round/>
            <a:tailEnd type="triangle" w="med" len="med"/>
          </a:ln>
        </p:spPr>
      </p:sp>
      <p:sp>
        <p:nvSpPr>
          <p:cNvPr id="15" name="Flecha ak→g4"/>
          <p:cNvSpPr/>
          <p:nvPr/>
        </p:nvSpPr>
        <p:spPr>
          <a:xfrm>
            <a:off x="4526280" y="1810512"/>
            <a:ext cx="9144" cy="530352"/>
          </a:xfrm>
          <a:custGeom>
            <a:avLst/>
            <a:gdLst/>
            <a:ahLst/>
            <a:cxnLst/>
            <a:rect l="0" t="0" r="r" b="b"/>
            <a:pathLst>
              <a:path w="10" h="580" fill="none">
                <a:moveTo>
                  <a:pt x="0" y="0"/>
                </a:moveTo>
                <a:lnTo>
                  <a:pt x="0" y="580"/>
                </a:lnTo>
              </a:path>
            </a:pathLst>
          </a:custGeom>
          <a:noFill/>
          <a:ln w="28575" cap="rnd">
            <a:solidFill>
              <a:srgbClr val="1E8C3A"/>
            </a:solidFill>
            <a:round/>
            <a:tailEnd type="triangle" w="med" len="med"/>
          </a:ln>
        </p:spPr>
      </p:sp>
      <p:sp>
        <p:nvSpPr>
          <p:cNvPr id="16" name="Nodo ak"/>
          <p:cNvSpPr/>
          <p:nvPr/>
        </p:nvSpPr>
        <p:spPr>
          <a:xfrm>
            <a:off x="3749040" y="1234440"/>
            <a:ext cx="15544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1E1E1E"/>
                </a:solidFill>
                <a:latin typeface="Fira Sans Condensed"/>
                <a:ea typeface="Fira Sans Condensed"/>
                <a:cs typeface="Fira Sans Condensed"/>
                <a:sym typeface="Fira Sans Condensed"/>
              </a:rPr>
              <a:t>Akt</a:t>
            </a:r>
            <a:endParaRPr lang="es-AR" sz="1800" dirty="0">
              <a:latin typeface="Fira Sans Condensed"/>
            </a:endParaRPr>
          </a:p>
        </p:txBody>
      </p:sp>
      <p:sp>
        <p:nvSpPr>
          <p:cNvPr id="17" name="Nodo pde"/>
          <p:cNvSpPr/>
          <p:nvPr/>
        </p:nvSpPr>
        <p:spPr>
          <a:xfrm>
            <a:off x="5852160" y="1234440"/>
            <a:ext cx="20116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PDE3B</a:t>
            </a:r>
            <a:endParaRPr lang="es-AR" sz="1700" dirty="0">
              <a:latin typeface="Fira Sans Condensed"/>
            </a:endParaRPr>
          </a:p>
        </p:txBody>
      </p:sp>
      <p:sp>
        <p:nvSpPr>
          <p:cNvPr id="18" name="Nodo camp"/>
          <p:cNvSpPr/>
          <p:nvPr/>
        </p:nvSpPr>
        <p:spPr>
          <a:xfrm>
            <a:off x="8412480" y="123444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AMPc → 5</a:t>
            </a:r>
            <a:r>
              <a:rPr lang="es-AR" sz="1500" b="1" dirty="0">
                <a:solidFill>
                  <a:srgbClr val="C00000"/>
                </a:solidFill>
                <a:latin typeface="Cambria Math"/>
                <a:ea typeface="Cambria Math"/>
                <a:cs typeface="Cambria Math"/>
                <a:sym typeface="Cambria Math"/>
              </a:rPr>
              <a:t>′</a:t>
            </a:r>
            <a:r>
              <a:rPr lang="es-AR" sz="1500" b="1" dirty="0">
                <a:solidFill>
                  <a:srgbClr val="C00000"/>
                </a:solidFill>
                <a:latin typeface="Fira Sans Condensed"/>
                <a:ea typeface="Fira Sans Condensed"/>
                <a:cs typeface="Fira Sans Condensed"/>
                <a:sym typeface="Fira Sans Condensed"/>
              </a:rPr>
              <a:t>-AMP</a:t>
            </a:r>
            <a:endParaRPr lang="es-AR" sz="1500" dirty="0">
              <a:latin typeface="Fira Sans Condensed"/>
            </a:endParaRPr>
          </a:p>
        </p:txBody>
      </p:sp>
      <p:sp>
        <p:nvSpPr>
          <p:cNvPr id="19" name="Nodo pka"/>
          <p:cNvSpPr/>
          <p:nvPr/>
        </p:nvSpPr>
        <p:spPr>
          <a:xfrm>
            <a:off x="8412480" y="2377440"/>
            <a:ext cx="329184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PKA ↓</a:t>
            </a:r>
            <a:endParaRPr lang="es-AR" sz="1600" dirty="0">
              <a:latin typeface="Fira Sans Condensed"/>
            </a:endParaRPr>
          </a:p>
        </p:txBody>
      </p:sp>
      <p:sp>
        <p:nvSpPr>
          <p:cNvPr id="20" name="Nodo hsl"/>
          <p:cNvSpPr/>
          <p:nvPr/>
        </p:nvSpPr>
        <p:spPr>
          <a:xfrm>
            <a:off x="8412480" y="352044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HSL y perilipina 1 sin fosforilar</a:t>
            </a:r>
            <a:endParaRPr lang="es-AR" sz="1350" dirty="0">
              <a:latin typeface="Fira Sans Condensed"/>
            </a:endParaRPr>
          </a:p>
        </p:txBody>
      </p:sp>
      <p:sp>
        <p:nvSpPr>
          <p:cNvPr id="21" name="Nodo o"/>
          <p:cNvSpPr/>
          <p:nvPr/>
        </p:nvSpPr>
        <p:spPr>
          <a:xfrm>
            <a:off x="3749040" y="3520440"/>
            <a:ext cx="411480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LIPÓLISIS ↓ · salida de AGNE ↓</a:t>
            </a:r>
            <a:endParaRPr lang="es-AR" sz="1500" dirty="0">
              <a:latin typeface="Fira Sans Condensed"/>
            </a:endParaRPr>
          </a:p>
        </p:txBody>
      </p:sp>
      <p:sp>
        <p:nvSpPr>
          <p:cNvPr id="22" name="Nodo g4"/>
          <p:cNvSpPr/>
          <p:nvPr/>
        </p:nvSpPr>
        <p:spPr>
          <a:xfrm>
            <a:off x="3749040" y="2377440"/>
            <a:ext cx="4114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GLUT4 → glicerol-3-P · esterificación ↑</a:t>
            </a:r>
            <a:endParaRPr lang="es-AR" sz="1350" dirty="0">
              <a:latin typeface="Fira Sans Condensed"/>
            </a:endParaRPr>
          </a:p>
        </p:txBody>
      </p:sp>
      <p:grpSp>
        <p:nvGrpSpPr>
          <p:cNvPr id="23" name="Cuadro Una vía, dos emergenci"/>
          <p:cNvGrpSpPr/>
          <p:nvPr/>
        </p:nvGrpSpPr>
        <p:grpSpPr>
          <a:xfrm>
            <a:off x="365760" y="4343400"/>
            <a:ext cx="11430000" cy="1920240"/>
            <a:chOff x="365760" y="4343400"/>
            <a:chExt cx="11430000" cy="1920240"/>
          </a:xfrm>
        </p:grpSpPr>
        <p:sp>
          <p:nvSpPr>
            <p:cNvPr id="24" name="Forma 24"/>
            <p:cNvSpPr/>
            <p:nvPr/>
          </p:nvSpPr>
          <p:spPr>
            <a:xfrm>
              <a:off x="365760" y="4544568"/>
              <a:ext cx="11430000" cy="1719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La lipólisis fisiológica permite sobrevivir entre comidas; el problema aparece cuando el freno insulínico falla.</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CAD</a:t>
              </a:r>
              <a:r>
                <a:rPr lang="es-AR" sz="1500" dirty="0">
                  <a:solidFill>
                    <a:srgbClr val="1E1E1E"/>
                  </a:solidFill>
                  <a:latin typeface="Fira Sans Condensed"/>
                  <a:ea typeface="Fira Sans Condensed"/>
                  <a:cs typeface="Fira Sans Condensed"/>
                  <a:sym typeface="Fira Sans Condensed"/>
                </a:rPr>
                <a:t>: el freno desaparece → gran flujo de AGNE al hígado → cetogénesis.</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EHH</a:t>
              </a:r>
              <a:r>
                <a:rPr lang="es-AR" sz="1500" dirty="0">
                  <a:solidFill>
                    <a:srgbClr val="1E1E1E"/>
                  </a:solidFill>
                  <a:latin typeface="Fira Sans Condensed"/>
                  <a:ea typeface="Fira Sans Condensed"/>
                  <a:cs typeface="Fira Sans Condensed"/>
                  <a:sym typeface="Fira Sans Condensed"/>
                </a:rPr>
                <a:t>: la insulina residual suele </a:t>
              </a:r>
              <a:r>
                <a:rPr lang="es-AR" sz="1500" b="1" dirty="0">
                  <a:solidFill>
                    <a:srgbClr val="1E1E1E"/>
                  </a:solidFill>
                  <a:latin typeface="Fira Sans Condensed"/>
                  <a:ea typeface="Fira Sans Condensed"/>
                  <a:cs typeface="Fira Sans Condensed"/>
                  <a:sym typeface="Fira Sans Condensed"/>
                </a:rPr>
                <a:t>conservar el freno</a:t>
              </a:r>
              <a:r>
                <a:rPr lang="es-AR" sz="1500" dirty="0">
                  <a:solidFill>
                    <a:srgbClr val="1E1E1E"/>
                  </a:solidFill>
                  <a:latin typeface="Fira Sans Condensed"/>
                  <a:ea typeface="Fira Sans Condensed"/>
                  <a:cs typeface="Fira Sans Condensed"/>
                  <a:sym typeface="Fira Sans Condensed"/>
                </a:rPr>
                <a:t> → pocas cetonas aun con glucemia muy alta.</a:t>
              </a:r>
              <a:endParaRPr lang="es-AR" sz="1500" dirty="0">
                <a:latin typeface="Fira Sans Condensed"/>
              </a:endParaRPr>
            </a:p>
          </p:txBody>
        </p:sp>
        <p:sp>
          <p:nvSpPr>
            <p:cNvPr id="25" name="Forma 25"/>
            <p:cNvSpPr/>
            <p:nvPr/>
          </p:nvSpPr>
          <p:spPr>
            <a:xfrm>
              <a:off x="502920" y="4343400"/>
              <a:ext cx="253513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UNA VÍA, DOS EMERGENCIAS</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ADIPOCITO: LA INSULINA FRENA LA LIPÓLISIS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childTnLst>
                          </p:cTn>
                        </p:par>
                      </p:childTnLst>
                    </p:cTn>
                  </p:par>
                  <p:par>
                    <p:cTn id="24"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41" fill="hold">
                      <p:stCondLst>
                        <p:cond delay="indefinite"/>
                      </p:stCondLst>
                      <p:childTnLst>
                        <p:par>
                          <p:cTn id="28"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childTnLst>
                          </p:cTn>
                        </p:par>
                        <p:par>
                          <p:cTn id="36" fill="hold">
                            <p:stCondLst>
                              <p:cond delay="900"/>
                            </p:stCondLst>
                            <p:childTnLst>
                              <p:par>
                                <p:cTn id="33" presetID="22" presetClass="entr" presetSubtype="1"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childTnLst>
                          </p:cTn>
                        </p:par>
                      </p:childTnLst>
                    </p:cTn>
                  </p:par>
                  <p:par>
                    <p:cTn id="50" fill="hold">
                      <p:stCondLst>
                        <p:cond delay="indefinite"/>
                      </p:stCondLst>
                      <p:childTnLst>
                        <p:par>
                          <p:cTn id="45"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right)">
                                      <p:cBhvr>
                                        <p:cTn id="44" dur="500"/>
                                        <p:tgtEl>
                                          <p:spTgt spid="14"/>
                                        </p:tgtEl>
                                      </p:cBhvr>
                                    </p:animEffect>
                                  </p:childTnLst>
                                </p:cTn>
                              </p:par>
                            </p:childTnLst>
                          </p:cTn>
                        </p:par>
                        <p:par>
                          <p:cTn id="49"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childTnLst>
                          </p:cTn>
                        </p:par>
                      </p:childTnLst>
                    </p:cTn>
                  </p:par>
                  <p:par>
                    <p:cTn id="59" fill="hold">
                      <p:stCondLst>
                        <p:cond delay="indefinite"/>
                      </p:stCondLst>
                      <p:childTnLst>
                        <p:par>
                          <p:cTn id="54"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par>
                          <p:cTn id="58"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par>
                    <p:cTn id="64" fill="hold">
                      <p:stCondLst>
                        <p:cond delay="indefinite"/>
                      </p:stCondLst>
                      <p:childTnLst>
                        <p:par>
                          <p:cTn id="63"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P spid="17" grpId="0" animBg="1"/>
      <p:bldP spid="18" grpId="0" animBg="1"/>
      <p:bldP spid="12" grpId="0" animBg="1"/>
      <p:bldP spid="19" grpId="0" animBg="1"/>
      <p:bldP spid="13" grpId="0" animBg="1"/>
      <p:bldP spid="20" grpId="0" animBg="1"/>
      <p:bldP spid="14" grpId="0" animBg="1"/>
      <p:bldP spid="21" grpId="0" animBg="1"/>
      <p:bldP spid="15"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pic>
        <p:nvPicPr>
          <p:cNvPr id="7" name="Corredor" descr="Ilustración biomédica (Servier Medical Art, CC BY)"/>
          <p:cNvPicPr>
            <a:picLocks noChangeAspect="1"/>
          </p:cNvPicPr>
          <p:nvPr/>
        </p:nvPicPr>
        <p:blipFill>
          <a:blip r:embed="rId2"/>
          <a:stretch>
            <a:fillRect/>
          </a:stretch>
        </p:blipFill>
        <p:spPr>
          <a:xfrm>
            <a:off x="457200" y="1097280"/>
            <a:ext cx="1651145" cy="3657600"/>
          </a:xfrm>
          <a:prstGeom prst="rect">
            <a:avLst/>
          </a:prstGeom>
        </p:spPr>
      </p:pic>
      <p:sp>
        <p:nvSpPr>
          <p:cNvPr id="8" name="Flecha c→ca"/>
          <p:cNvSpPr/>
          <p:nvPr/>
        </p:nvSpPr>
        <p:spPr>
          <a:xfrm>
            <a:off x="3474720" y="1819656"/>
            <a:ext cx="365760" cy="429768"/>
          </a:xfrm>
          <a:custGeom>
            <a:avLst/>
            <a:gdLst/>
            <a:ahLst/>
            <a:cxnLst/>
            <a:rect l="0" t="0" r="r" b="b"/>
            <a:pathLst>
              <a:path w="400" h="469" fill="none">
                <a:moveTo>
                  <a:pt x="400" y="0"/>
                </a:moveTo>
                <a:lnTo>
                  <a:pt x="0" y="469"/>
                </a:lnTo>
              </a:path>
            </a:pathLst>
          </a:custGeom>
          <a:noFill/>
          <a:ln w="28575" cap="rnd">
            <a:solidFill>
              <a:srgbClr val="1E1E1E"/>
            </a:solidFill>
            <a:round/>
            <a:tailEnd type="triangle" w="med" len="med"/>
          </a:ln>
        </p:spPr>
      </p:sp>
      <p:sp>
        <p:nvSpPr>
          <p:cNvPr id="9" name="Flecha c→am"/>
          <p:cNvSpPr/>
          <p:nvPr/>
        </p:nvSpPr>
        <p:spPr>
          <a:xfrm>
            <a:off x="4206240" y="1819656"/>
            <a:ext cx="365760" cy="429768"/>
          </a:xfrm>
          <a:custGeom>
            <a:avLst/>
            <a:gdLst/>
            <a:ahLst/>
            <a:cxnLst/>
            <a:rect l="0" t="0" r="r" b="b"/>
            <a:pathLst>
              <a:path w="399" h="469" fill="none">
                <a:moveTo>
                  <a:pt x="0" y="0"/>
                </a:moveTo>
                <a:lnTo>
                  <a:pt x="399" y="469"/>
                </a:lnTo>
              </a:path>
            </a:pathLst>
          </a:custGeom>
          <a:noFill/>
          <a:ln w="28575" cap="rnd">
            <a:solidFill>
              <a:srgbClr val="1E1E1E"/>
            </a:solidFill>
            <a:round/>
            <a:tailEnd type="triangle" w="med" len="med"/>
          </a:ln>
        </p:spPr>
      </p:sp>
      <p:sp>
        <p:nvSpPr>
          <p:cNvPr id="10" name="Flecha ca→g4"/>
          <p:cNvSpPr/>
          <p:nvPr/>
        </p:nvSpPr>
        <p:spPr>
          <a:xfrm>
            <a:off x="3291840" y="2743200"/>
            <a:ext cx="2743200" cy="320040"/>
          </a:xfrm>
          <a:custGeom>
            <a:avLst/>
            <a:gdLst/>
            <a:ahLst/>
            <a:cxnLst/>
            <a:rect l="0" t="0" r="r" b="b"/>
            <a:pathLst>
              <a:path w="2999" h="350" fill="none">
                <a:moveTo>
                  <a:pt x="0" y="120"/>
                </a:moveTo>
                <a:lnTo>
                  <a:pt x="0" y="350"/>
                </a:lnTo>
                <a:lnTo>
                  <a:pt x="2699" y="350"/>
                </a:lnTo>
                <a:lnTo>
                  <a:pt x="2999" y="0"/>
                </a:lnTo>
              </a:path>
            </a:pathLst>
          </a:custGeom>
          <a:noFill/>
          <a:ln w="28575" cap="rnd">
            <a:solidFill>
              <a:srgbClr val="1E8C3A"/>
            </a:solidFill>
            <a:round/>
            <a:tailEnd type="triangle" w="med" len="med"/>
          </a:ln>
        </p:spPr>
      </p:sp>
      <p:sp>
        <p:nvSpPr>
          <p:cNvPr id="11" name="Flecha am→g4"/>
          <p:cNvSpPr/>
          <p:nvPr/>
        </p:nvSpPr>
        <p:spPr>
          <a:xfrm>
            <a:off x="5431536" y="2560320"/>
            <a:ext cx="566928" cy="22860"/>
          </a:xfrm>
          <a:custGeom>
            <a:avLst/>
            <a:gdLst/>
            <a:ahLst/>
            <a:cxnLst/>
            <a:rect l="0" t="0" r="r" b="b"/>
            <a:pathLst>
              <a:path w="619" h="25" fill="none">
                <a:moveTo>
                  <a:pt x="0" y="0"/>
                </a:moveTo>
                <a:lnTo>
                  <a:pt x="619" y="25"/>
                </a:lnTo>
              </a:path>
            </a:pathLst>
          </a:custGeom>
          <a:noFill/>
          <a:ln w="28575" cap="rnd">
            <a:solidFill>
              <a:srgbClr val="1E8C3A"/>
            </a:solidFill>
            <a:round/>
            <a:tailEnd type="triangle" w="med" len="med"/>
          </a:ln>
        </p:spPr>
      </p:sp>
      <p:sp>
        <p:nvSpPr>
          <p:cNvPr id="12" name="Flecha me→g4"/>
          <p:cNvSpPr/>
          <p:nvPr/>
        </p:nvSpPr>
        <p:spPr>
          <a:xfrm>
            <a:off x="5440680" y="2880360"/>
            <a:ext cx="411480" cy="704088"/>
          </a:xfrm>
          <a:custGeom>
            <a:avLst/>
            <a:gdLst/>
            <a:ahLst/>
            <a:cxnLst/>
            <a:rect l="0" t="0" r="r" b="b"/>
            <a:pathLst>
              <a:path w="450" h="770" fill="none">
                <a:moveTo>
                  <a:pt x="0" y="770"/>
                </a:moveTo>
                <a:lnTo>
                  <a:pt x="450" y="0"/>
                </a:lnTo>
              </a:path>
            </a:pathLst>
          </a:custGeom>
          <a:noFill/>
          <a:ln w="28575" cap="rnd">
            <a:solidFill>
              <a:srgbClr val="1E8C3A"/>
            </a:solidFill>
            <a:round/>
            <a:tailEnd type="triangle" w="med" len="med"/>
          </a:ln>
        </p:spPr>
      </p:sp>
      <p:sp>
        <p:nvSpPr>
          <p:cNvPr id="13" name="Flecha g4→o"/>
          <p:cNvSpPr/>
          <p:nvPr/>
        </p:nvSpPr>
        <p:spPr>
          <a:xfrm>
            <a:off x="8814816" y="2583180"/>
            <a:ext cx="475488" cy="9144"/>
          </a:xfrm>
          <a:custGeom>
            <a:avLst/>
            <a:gdLst/>
            <a:ahLst/>
            <a:cxnLst/>
            <a:rect l="0" t="0" r="r" b="b"/>
            <a:pathLst>
              <a:path w="520" h="10" fill="none">
                <a:moveTo>
                  <a:pt x="0" y="0"/>
                </a:moveTo>
                <a:lnTo>
                  <a:pt x="520" y="0"/>
                </a:lnTo>
              </a:path>
            </a:pathLst>
          </a:custGeom>
          <a:noFill/>
          <a:ln w="28575" cap="rnd">
            <a:solidFill>
              <a:srgbClr val="1E1E1E"/>
            </a:solidFill>
            <a:round/>
            <a:tailEnd type="triangle" w="med" len="med"/>
          </a:ln>
        </p:spPr>
      </p:sp>
      <p:sp>
        <p:nvSpPr>
          <p:cNvPr id="14" name="Flecha g4→o2"/>
          <p:cNvSpPr/>
          <p:nvPr/>
        </p:nvSpPr>
        <p:spPr>
          <a:xfrm>
            <a:off x="7789545" y="2916936"/>
            <a:ext cx="765810" cy="384048"/>
          </a:xfrm>
          <a:custGeom>
            <a:avLst/>
            <a:gdLst/>
            <a:ahLst/>
            <a:cxnLst/>
            <a:rect l="0" t="0" r="r" b="b"/>
            <a:pathLst>
              <a:path w="837" h="419" fill="none">
                <a:moveTo>
                  <a:pt x="0" y="0"/>
                </a:moveTo>
                <a:lnTo>
                  <a:pt x="837" y="419"/>
                </a:lnTo>
              </a:path>
            </a:pathLst>
          </a:custGeom>
          <a:noFill/>
          <a:ln w="28575" cap="rnd">
            <a:solidFill>
              <a:srgbClr val="1E1E1E"/>
            </a:solidFill>
            <a:round/>
            <a:tailEnd type="triangle" w="med" len="med"/>
          </a:ln>
        </p:spPr>
      </p:sp>
      <p:sp>
        <p:nvSpPr>
          <p:cNvPr id="15" name="Nodo c"/>
          <p:cNvSpPr/>
          <p:nvPr/>
        </p:nvSpPr>
        <p:spPr>
          <a:xfrm>
            <a:off x="2651760" y="1234440"/>
            <a:ext cx="27432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Contracción muscular</a:t>
            </a:r>
            <a:endParaRPr lang="es-AR" sz="1600" dirty="0">
              <a:latin typeface="Fira Sans Condensed"/>
            </a:endParaRPr>
          </a:p>
        </p:txBody>
      </p:sp>
      <p:sp>
        <p:nvSpPr>
          <p:cNvPr id="16" name="Nodo ca"/>
          <p:cNvSpPr/>
          <p:nvPr/>
        </p:nvSpPr>
        <p:spPr>
          <a:xfrm>
            <a:off x="2651760" y="2286000"/>
            <a:ext cx="12801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Ca</a:t>
            </a:r>
            <a:r>
              <a:rPr lang="es-AR" sz="1300" b="1" baseline="30000" dirty="0">
                <a:solidFill>
                  <a:srgbClr val="1E1E1E"/>
                </a:solidFill>
                <a:latin typeface="Fira Sans Condensed"/>
                <a:ea typeface="Fira Sans Condensed"/>
                <a:cs typeface="Fira Sans Condensed"/>
                <a:sym typeface="Fira Sans Condensed"/>
              </a:rPr>
              <a:t>2+</a:t>
            </a:r>
            <a:r>
              <a:rPr lang="es-AR" sz="1300" b="1" dirty="0">
                <a:solidFill>
                  <a:srgbClr val="1E1E1E"/>
                </a:solidFill>
                <a:latin typeface="Fira Sans Condensed"/>
                <a:ea typeface="Fira Sans Condensed"/>
                <a:cs typeface="Fira Sans Condensed"/>
                <a:sym typeface="Fira Sans Condensed"/>
              </a:rPr>
              <a:t> ↑ · CaMK</a:t>
            </a:r>
            <a:endParaRPr lang="es-AR" sz="1300" dirty="0">
              <a:latin typeface="Fira Sans Condensed"/>
            </a:endParaRPr>
          </a:p>
        </p:txBody>
      </p:sp>
      <p:sp>
        <p:nvSpPr>
          <p:cNvPr id="17" name="Nodo am"/>
          <p:cNvSpPr/>
          <p:nvPr/>
        </p:nvSpPr>
        <p:spPr>
          <a:xfrm>
            <a:off x="4114800" y="2286000"/>
            <a:ext cx="12801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AMP/ATP ↑ · AMPK</a:t>
            </a:r>
            <a:endParaRPr lang="es-AR" sz="1300" dirty="0">
              <a:latin typeface="Fira Sans Condensed"/>
            </a:endParaRPr>
          </a:p>
        </p:txBody>
      </p:sp>
      <p:sp>
        <p:nvSpPr>
          <p:cNvPr id="18" name="Nodo me"/>
          <p:cNvSpPr/>
          <p:nvPr/>
        </p:nvSpPr>
        <p:spPr>
          <a:xfrm>
            <a:off x="2651760" y="3337560"/>
            <a:ext cx="274320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Señales mecánicas</a:t>
            </a:r>
            <a:endParaRPr lang="es-AR" sz="1400" dirty="0">
              <a:latin typeface="Fira Sans Condensed"/>
            </a:endParaRPr>
          </a:p>
        </p:txBody>
      </p:sp>
      <p:sp>
        <p:nvSpPr>
          <p:cNvPr id="19" name="Nodo g4"/>
          <p:cNvSpPr/>
          <p:nvPr/>
        </p:nvSpPr>
        <p:spPr>
          <a:xfrm>
            <a:off x="6035040" y="2286000"/>
            <a:ext cx="274320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TRANSLOCACIÓN GLUT4</a:t>
            </a:r>
            <a:endParaRPr lang="es-AR" sz="1600" dirty="0">
              <a:latin typeface="Fira Sans Condensed"/>
            </a:endParaRPr>
          </a:p>
        </p:txBody>
      </p:sp>
      <p:sp>
        <p:nvSpPr>
          <p:cNvPr id="20" name="Nodo o"/>
          <p:cNvSpPr/>
          <p:nvPr/>
        </p:nvSpPr>
        <p:spPr>
          <a:xfrm>
            <a:off x="9326880" y="2286000"/>
            <a:ext cx="251460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FFFFFF"/>
                </a:solidFill>
                <a:latin typeface="Fira Sans Condensed"/>
                <a:ea typeface="Fira Sans Condensed"/>
                <a:cs typeface="Fira Sans Condensed"/>
                <a:sym typeface="Fira Sans Condensed"/>
              </a:rPr>
              <a:t>Glucemia ↓</a:t>
            </a:r>
            <a:endParaRPr lang="es-AR" sz="1700" dirty="0">
              <a:latin typeface="Fira Sans Condensed"/>
            </a:endParaRPr>
          </a:p>
        </p:txBody>
      </p:sp>
      <p:sp>
        <p:nvSpPr>
          <p:cNvPr id="21" name="Nodo o2"/>
          <p:cNvSpPr/>
          <p:nvPr/>
        </p:nvSpPr>
        <p:spPr>
          <a:xfrm>
            <a:off x="6035040" y="3337560"/>
            <a:ext cx="58064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Sostenido: sensibilidad insulínica ↑ · capacidad mitocondrial ↑</a:t>
            </a:r>
            <a:endParaRPr lang="es-AR" sz="1400" dirty="0">
              <a:latin typeface="Fira Sans Condensed"/>
            </a:endParaRPr>
          </a:p>
        </p:txBody>
      </p:sp>
      <p:grpSp>
        <p:nvGrpSpPr>
          <p:cNvPr id="22" name="Cuadro Aplicación clínica"/>
          <p:cNvGrpSpPr/>
          <p:nvPr/>
        </p:nvGrpSpPr>
        <p:grpSpPr>
          <a:xfrm>
            <a:off x="365760" y="4846320"/>
            <a:ext cx="11430000" cy="1417320"/>
            <a:chOff x="365760" y="4846320"/>
            <a:chExt cx="11430000" cy="1417320"/>
          </a:xfrm>
        </p:grpSpPr>
        <p:sp>
          <p:nvSpPr>
            <p:cNvPr id="23" name="Forma 22"/>
            <p:cNvSpPr/>
            <p:nvPr/>
          </p:nvSpPr>
          <p:spPr>
            <a:xfrm>
              <a:off x="365760" y="5047488"/>
              <a:ext cx="1143000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Fuerza: preserva masa magra y depósito de glucosa como glucógeno · aeróbico: capacidad oxidativa, función endotelial y gasto. Nunca se inicia ejercicio durante una </a:t>
              </a:r>
              <a:r>
                <a:rPr lang="es-AR" sz="1450" b="1" dirty="0">
                  <a:solidFill>
                    <a:srgbClr val="1E1E1E"/>
                  </a:solidFill>
                  <a:latin typeface="Fira Sans Condensed"/>
                  <a:ea typeface="Fira Sans Condensed"/>
                  <a:cs typeface="Fira Sans Condensed"/>
                  <a:sym typeface="Fira Sans Condensed"/>
                </a:rPr>
                <a:t>crisis hiperglucémica descompensada</a:t>
              </a:r>
              <a:r>
                <a:rPr lang="es-AR" sz="1450" dirty="0">
                  <a:solidFill>
                    <a:srgbClr val="1E1E1E"/>
                  </a:solidFill>
                  <a:latin typeface="Fira Sans Condensed"/>
                  <a:ea typeface="Fira Sans Condensed"/>
                  <a:cs typeface="Fira Sans Condensed"/>
                  <a:sym typeface="Fira Sans Condensed"/>
                </a:rPr>
                <a:t>; se evalúan riesgo CV, neuropatía, retinopatía, pies e hipoglucemia.</a:t>
              </a:r>
              <a:endParaRPr lang="es-AR" sz="1450" dirty="0">
                <a:latin typeface="Fira Sans Condensed"/>
              </a:endParaRPr>
            </a:p>
          </p:txBody>
        </p:sp>
        <p:sp>
          <p:nvSpPr>
            <p:cNvPr id="24" name="Forma 23"/>
            <p:cNvSpPr/>
            <p:nvPr/>
          </p:nvSpPr>
          <p:spPr>
            <a:xfrm>
              <a:off x="502920" y="4846320"/>
              <a:ext cx="194492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APLICACIÓN CLÍNICA</a:t>
              </a:r>
              <a:endParaRPr lang="es-AR" sz="14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EJERCICIO: GLUT4 SIN DEPENDER DE LA INSULINA</a:t>
            </a:r>
            <a:endParaRPr lang="es-AR" sz="32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childTnLst>
                    </p:cTn>
                  </p:par>
                  <p:par>
                    <p:cTn id="28" fill="hold">
                      <p:stCondLst>
                        <p:cond delay="indefinite"/>
                      </p:stCondLst>
                      <p:childTnLst>
                        <p:par>
                          <p:cTn id="11" fill="hold">
                            <p:stCondLst>
                              <p:cond delay="0"/>
                            </p:stCondLst>
                            <p:childTnLst>
                              <p:par>
                                <p:cTn id="8" presetID="22" presetClass="entr" presetSubtype="1"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childTnLst>
                          </p:cTn>
                        </p:par>
                        <p:par>
                          <p:cTn id="19" fill="hold">
                            <p:stCondLst>
                              <p:cond delay="900"/>
                            </p:stCondLst>
                            <p:childTnLst>
                              <p:par>
                                <p:cTn id="16" presetID="22" presetClass="entr" presetSubtype="1"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par>
                          <p:cTn id="27" fill="hold">
                            <p:stCondLst>
                              <p:cond delay="18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childTnLst>
                          </p:cTn>
                        </p:par>
                      </p:childTnLst>
                    </p:cTn>
                  </p:par>
                  <p:par>
                    <p:cTn id="45" fill="hold">
                      <p:stCondLst>
                        <p:cond delay="indefinite"/>
                      </p:stCondLst>
                      <p:childTnLst>
                        <p:par>
                          <p:cTn id="32"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6"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40"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par>
                          <p:cTn id="44"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childTnLst>
                          </p:cTn>
                        </p:par>
                      </p:childTnLst>
                    </p:cTn>
                  </p:par>
                  <p:par>
                    <p:cTn id="54" fill="hold">
                      <p:stCondLst>
                        <p:cond delay="indefinite"/>
                      </p:stCondLst>
                      <p:childTnLst>
                        <p:par>
                          <p:cTn id="49"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par>
                          <p:cTn id="53"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childTnLst>
                          </p:cTn>
                        </p:par>
                      </p:childTnLst>
                    </p:cTn>
                  </p:par>
                  <p:par>
                    <p:cTn id="63" fill="hold">
                      <p:stCondLst>
                        <p:cond delay="indefinite"/>
                      </p:stCondLst>
                      <p:childTnLst>
                        <p:par>
                          <p:cTn id="58"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up)">
                                      <p:cBhvr>
                                        <p:cTn id="57" dur="500"/>
                                        <p:tgtEl>
                                          <p:spTgt spid="14"/>
                                        </p:tgtEl>
                                      </p:cBhvr>
                                    </p:animEffect>
                                  </p:childTnLst>
                                </p:cTn>
                              </p:par>
                            </p:childTnLst>
                          </p:cTn>
                        </p:par>
                        <p:par>
                          <p:cTn id="62"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childTnLst>
                          </p:cTn>
                        </p:par>
                      </p:childTnLst>
                    </p:cTn>
                  </p:par>
                  <p:par>
                    <p:cTn id="68" fill="hold">
                      <p:stCondLst>
                        <p:cond delay="indefinite"/>
                      </p:stCondLst>
                      <p:childTnLst>
                        <p:par>
                          <p:cTn id="67"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6" grpId="0" animBg="1"/>
      <p:bldP spid="9" grpId="0" animBg="1"/>
      <p:bldP spid="17" grpId="0" animBg="1"/>
      <p:bldP spid="18" grpId="0" animBg="1"/>
      <p:bldP spid="10" grpId="0" animBg="1"/>
      <p:bldP spid="11" grpId="0" animBg="1"/>
      <p:bldP spid="12" grpId="0" animBg="1"/>
      <p:bldP spid="19" grpId="0" animBg="1"/>
      <p:bldP spid="13" grpId="0" animBg="1"/>
      <p:bldP spid="20" grpId="0" animBg="1"/>
      <p:bldP spid="14" grpId="0" animBg="1"/>
      <p:bldP spid="21"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Contrarreg GLUCAGÓN"/>
          <p:cNvGrpSpPr/>
          <p:nvPr/>
        </p:nvGrpSpPr>
        <p:grpSpPr>
          <a:xfrm>
            <a:off x="365760" y="1097280"/>
            <a:ext cx="5577840" cy="1783080"/>
            <a:chOff x="365760" y="1097280"/>
            <a:chExt cx="5577840" cy="1783080"/>
          </a:xfrm>
        </p:grpSpPr>
        <p:pic>
          <p:nvPicPr>
            <p:cNvPr id="8" name="Imagen pancreas" descr="Ilustración biomédica (Servier Medical Art, CC BY)"/>
            <p:cNvPicPr>
              <a:picLocks noChangeAspect="1"/>
            </p:cNvPicPr>
            <p:nvPr/>
          </p:nvPicPr>
          <p:blipFill>
            <a:blip r:embed="rId2"/>
            <a:stretch>
              <a:fillRect/>
            </a:stretch>
          </p:blipFill>
          <p:spPr>
            <a:xfrm>
              <a:off x="365760" y="1723187"/>
              <a:ext cx="1280160" cy="531266"/>
            </a:xfrm>
            <a:prstGeom prst="rect">
              <a:avLst/>
            </a:prstGeom>
          </p:spPr>
        </p:pic>
        <p:sp>
          <p:nvSpPr>
            <p:cNvPr id="9" name="Recuadro GLUCAGÓN"/>
            <p:cNvSpPr/>
            <p:nvPr/>
          </p:nvSpPr>
          <p:spPr>
            <a:xfrm>
              <a:off x="1783080" y="1097280"/>
              <a:ext cx="416052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GLUCAGÓN</a:t>
              </a:r>
              <a:endParaRPr lang="es-AR" sz="1500" dirty="0">
                <a:latin typeface="Fira Sans Condensed"/>
              </a:endParaRPr>
            </a:p>
          </p:txBody>
        </p:sp>
        <p:sp>
          <p:nvSpPr>
            <p:cNvPr id="10" name="Forma 9"/>
            <p:cNvSpPr/>
            <p:nvPr/>
          </p:nvSpPr>
          <p:spPr>
            <a:xfrm>
              <a:off x="1783080" y="1645920"/>
              <a:ext cx="41605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Gs → AMPc → PKA en hígado: </a:t>
              </a:r>
              <a:r>
                <a:rPr lang="es-AR" sz="1450" b="1" dirty="0">
                  <a:solidFill>
                    <a:srgbClr val="1E1E1E"/>
                  </a:solidFill>
                  <a:latin typeface="Fira Sans Condensed"/>
                  <a:ea typeface="Fira Sans Condensed"/>
                  <a:cs typeface="Fira Sans Condensed"/>
                  <a:sym typeface="Fira Sans Condensed"/>
                </a:rPr>
                <a:t>glucogenólisis y gluconeogénesis ↑</a:t>
              </a:r>
              <a:r>
                <a:rPr lang="es-AR" sz="1450" dirty="0">
                  <a:solidFill>
                    <a:srgbClr val="1E1E1E"/>
                  </a:solidFill>
                  <a:latin typeface="Fira Sans Condensed"/>
                  <a:ea typeface="Fira Sans Condensed"/>
                  <a:cs typeface="Fira Sans Condensed"/>
                  <a:sym typeface="Fira Sans Condensed"/>
                </a:rPr>
                <a:t>, síntesis de glucógeno ↓, modula oxidación de lípidos.</a:t>
              </a:r>
              <a:endParaRPr lang="es-AR" sz="1450" dirty="0">
                <a:latin typeface="Fira Sans Condensed"/>
              </a:endParaRPr>
            </a:p>
          </p:txBody>
        </p:sp>
      </p:grpSp>
      <p:grpSp>
        <p:nvGrpSpPr>
          <p:cNvPr id="11" name="Contrarreg CATECOLAMINAS"/>
          <p:cNvGrpSpPr/>
          <p:nvPr/>
        </p:nvGrpSpPr>
        <p:grpSpPr>
          <a:xfrm>
            <a:off x="6247066" y="1097280"/>
            <a:ext cx="5502974" cy="1783080"/>
            <a:chOff x="6247066" y="1097280"/>
            <a:chExt cx="5502974" cy="1783080"/>
          </a:xfrm>
        </p:grpSpPr>
        <p:pic>
          <p:nvPicPr>
            <p:cNvPr id="12" name="Imagen heart-front" descr="Ilustración biomédica (Servier Medical Art, CC BY)"/>
            <p:cNvPicPr>
              <a:picLocks noChangeAspect="1"/>
            </p:cNvPicPr>
            <p:nvPr/>
          </p:nvPicPr>
          <p:blipFill>
            <a:blip r:embed="rId3"/>
            <a:stretch>
              <a:fillRect/>
            </a:stretch>
          </p:blipFill>
          <p:spPr>
            <a:xfrm>
              <a:off x="6247066" y="1188720"/>
              <a:ext cx="1130427" cy="1600200"/>
            </a:xfrm>
            <a:prstGeom prst="rect">
              <a:avLst/>
            </a:prstGeom>
          </p:spPr>
        </p:pic>
        <p:sp>
          <p:nvSpPr>
            <p:cNvPr id="13" name="Recuadro CATECOLAMINAS"/>
            <p:cNvSpPr/>
            <p:nvPr/>
          </p:nvSpPr>
          <p:spPr>
            <a:xfrm>
              <a:off x="7589520" y="1097280"/>
              <a:ext cx="416052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CATECOLAMINAS</a:t>
              </a:r>
              <a:endParaRPr lang="es-AR" sz="1500" dirty="0">
                <a:latin typeface="Fira Sans Condensed"/>
              </a:endParaRPr>
            </a:p>
          </p:txBody>
        </p:sp>
        <p:sp>
          <p:nvSpPr>
            <p:cNvPr id="14" name="Forma 13"/>
            <p:cNvSpPr/>
            <p:nvPr/>
          </p:nvSpPr>
          <p:spPr>
            <a:xfrm>
              <a:off x="7589520" y="1645920"/>
              <a:ext cx="41605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Movilizan reservas: </a:t>
              </a:r>
              <a:r>
                <a:rPr lang="es-AR" sz="1450" b="1" dirty="0">
                  <a:solidFill>
                    <a:srgbClr val="1E1E1E"/>
                  </a:solidFill>
                  <a:latin typeface="Fira Sans Condensed"/>
                  <a:ea typeface="Fira Sans Condensed"/>
                  <a:cs typeface="Fira Sans Condensed"/>
                  <a:sym typeface="Fira Sans Condensed"/>
                </a:rPr>
                <a:t>lipólisis ↑</a:t>
              </a:r>
              <a:r>
                <a:rPr lang="es-AR" sz="1450" dirty="0">
                  <a:solidFill>
                    <a:srgbClr val="1E1E1E"/>
                  </a:solidFill>
                  <a:latin typeface="Fira Sans Condensed"/>
                  <a:ea typeface="Fira Sans Condensed"/>
                  <a:cs typeface="Fira Sans Condensed"/>
                  <a:sym typeface="Fira Sans Condensed"/>
                </a:rPr>
                <a:t> (β-adrenérgicos), glucogenólisis; ajustan flujo sanguíneo.</a:t>
              </a:r>
              <a:endParaRPr lang="es-AR" sz="1450" dirty="0">
                <a:latin typeface="Fira Sans Condensed"/>
              </a:endParaRPr>
            </a:p>
          </p:txBody>
        </p:sp>
      </p:grpSp>
      <p:grpSp>
        <p:nvGrpSpPr>
          <p:cNvPr id="15" name="Contrarreg CORTISOL"/>
          <p:cNvGrpSpPr/>
          <p:nvPr/>
        </p:nvGrpSpPr>
        <p:grpSpPr>
          <a:xfrm>
            <a:off x="456057" y="3108960"/>
            <a:ext cx="5487543" cy="1783080"/>
            <a:chOff x="456057" y="3108960"/>
            <a:chExt cx="5487543" cy="1783080"/>
          </a:xfrm>
        </p:grpSpPr>
        <p:pic>
          <p:nvPicPr>
            <p:cNvPr id="16" name="Imagen kidney-2" descr="Ilustración biomédica (Servier Medical Art, CC BY)"/>
            <p:cNvPicPr>
              <a:picLocks noChangeAspect="1"/>
            </p:cNvPicPr>
            <p:nvPr/>
          </p:nvPicPr>
          <p:blipFill>
            <a:blip r:embed="rId4"/>
            <a:stretch>
              <a:fillRect/>
            </a:stretch>
          </p:blipFill>
          <p:spPr>
            <a:xfrm>
              <a:off x="456057" y="3200400"/>
              <a:ext cx="1099566" cy="1600200"/>
            </a:xfrm>
            <a:prstGeom prst="rect">
              <a:avLst/>
            </a:prstGeom>
          </p:spPr>
        </p:pic>
        <p:sp>
          <p:nvSpPr>
            <p:cNvPr id="17" name="Recuadro CORTISOL"/>
            <p:cNvSpPr/>
            <p:nvPr/>
          </p:nvSpPr>
          <p:spPr>
            <a:xfrm>
              <a:off x="1783080" y="3108960"/>
              <a:ext cx="416052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CORTISOL</a:t>
              </a:r>
              <a:endParaRPr lang="es-AR" sz="1500" dirty="0">
                <a:latin typeface="Fira Sans Condensed"/>
              </a:endParaRPr>
            </a:p>
          </p:txBody>
        </p:sp>
        <p:sp>
          <p:nvSpPr>
            <p:cNvPr id="18" name="Forma 17"/>
            <p:cNvSpPr/>
            <p:nvPr/>
          </p:nvSpPr>
          <p:spPr>
            <a:xfrm>
              <a:off x="1783080" y="3657600"/>
              <a:ext cx="41605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Induce </a:t>
              </a:r>
              <a:r>
                <a:rPr lang="es-AR" sz="1450" b="1" dirty="0">
                  <a:solidFill>
                    <a:srgbClr val="1E1E1E"/>
                  </a:solidFill>
                  <a:latin typeface="Fira Sans Condensed"/>
                  <a:ea typeface="Fira Sans Condensed"/>
                  <a:cs typeface="Fira Sans Condensed"/>
                  <a:sym typeface="Fira Sans Condensed"/>
                </a:rPr>
                <a:t>enzimas gluconeogénicas</a:t>
              </a:r>
              <a:r>
                <a:rPr lang="es-AR" sz="1450" dirty="0">
                  <a:solidFill>
                    <a:srgbClr val="1E1E1E"/>
                  </a:solidFill>
                  <a:latin typeface="Fira Sans Condensed"/>
                  <a:ea typeface="Fira Sans Condensed"/>
                  <a:cs typeface="Fira Sans Condensed"/>
                  <a:sym typeface="Fira Sans Condensed"/>
                </a:rPr>
                <a:t>, resistencia a insulina y </a:t>
              </a:r>
              <a:r>
                <a:rPr lang="es-AR" sz="1450" b="1" dirty="0">
                  <a:solidFill>
                    <a:srgbClr val="1E1E1E"/>
                  </a:solidFill>
                  <a:latin typeface="Fira Sans Condensed"/>
                  <a:ea typeface="Fira Sans Condensed"/>
                  <a:cs typeface="Fira Sans Condensed"/>
                  <a:sym typeface="Fira Sans Condensed"/>
                </a:rPr>
                <a:t>proteólisis</a:t>
              </a:r>
              <a:r>
                <a:rPr lang="es-AR" sz="1450" dirty="0">
                  <a:solidFill>
                    <a:srgbClr val="1E1E1E"/>
                  </a:solidFill>
                  <a:latin typeface="Fira Sans Condensed"/>
                  <a:ea typeface="Fira Sans Condensed"/>
                  <a:cs typeface="Fira Sans Condensed"/>
                  <a:sym typeface="Fira Sans Condensed"/>
                </a:rPr>
                <a:t> en escenarios crónicos.</a:t>
              </a:r>
              <a:endParaRPr lang="es-AR" sz="1450" dirty="0">
                <a:latin typeface="Fira Sans Condensed"/>
              </a:endParaRPr>
            </a:p>
          </p:txBody>
        </p:sp>
      </p:grpSp>
      <p:grpSp>
        <p:nvGrpSpPr>
          <p:cNvPr id="19" name="Contrarreg HORMONA DE CRECIMIENTO"/>
          <p:cNvGrpSpPr/>
          <p:nvPr/>
        </p:nvGrpSpPr>
        <p:grpSpPr>
          <a:xfrm>
            <a:off x="6172200" y="3108960"/>
            <a:ext cx="5577840" cy="1783080"/>
            <a:chOff x="6172200" y="3108960"/>
            <a:chExt cx="5577840" cy="1783080"/>
          </a:xfrm>
        </p:grpSpPr>
        <p:pic>
          <p:nvPicPr>
            <p:cNvPr id="20" name="Imagen brain-2" descr="Ilustración biomédica (Servier Medical Art, CC BY)"/>
            <p:cNvPicPr>
              <a:picLocks noChangeAspect="1"/>
            </p:cNvPicPr>
            <p:nvPr/>
          </p:nvPicPr>
          <p:blipFill>
            <a:blip r:embed="rId5"/>
            <a:stretch>
              <a:fillRect/>
            </a:stretch>
          </p:blipFill>
          <p:spPr>
            <a:xfrm>
              <a:off x="6172200" y="3346881"/>
              <a:ext cx="1280160" cy="1307239"/>
            </a:xfrm>
            <a:prstGeom prst="rect">
              <a:avLst/>
            </a:prstGeom>
          </p:spPr>
        </p:pic>
        <p:sp>
          <p:nvSpPr>
            <p:cNvPr id="21" name="Recuadro HORMONA DE CRECIMIENTO"/>
            <p:cNvSpPr/>
            <p:nvPr/>
          </p:nvSpPr>
          <p:spPr>
            <a:xfrm>
              <a:off x="7589520" y="3108960"/>
              <a:ext cx="416052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HORMONA DE CRECIMIENTO</a:t>
              </a:r>
              <a:endParaRPr lang="es-AR" sz="1500" dirty="0">
                <a:latin typeface="Fira Sans Condensed"/>
              </a:endParaRPr>
            </a:p>
          </p:txBody>
        </p:sp>
        <p:sp>
          <p:nvSpPr>
            <p:cNvPr id="22" name="Forma 21"/>
            <p:cNvSpPr/>
            <p:nvPr/>
          </p:nvSpPr>
          <p:spPr>
            <a:xfrm>
              <a:off x="7589520" y="3657600"/>
              <a:ext cx="41605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Reduce la utilización periférica de glucosa y favorece la </a:t>
              </a:r>
              <a:r>
                <a:rPr lang="es-AR" sz="1450" b="1" dirty="0">
                  <a:solidFill>
                    <a:srgbClr val="1E1E1E"/>
                  </a:solidFill>
                  <a:latin typeface="Fira Sans Condensed"/>
                  <a:ea typeface="Fira Sans Condensed"/>
                  <a:cs typeface="Fira Sans Condensed"/>
                  <a:sym typeface="Fira Sans Condensed"/>
                </a:rPr>
                <a:t>lipólisis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grpSp>
      <p:sp>
        <p:nvSpPr>
          <p:cNvPr id="23" name="Perla clínica"/>
          <p:cNvSpPr/>
          <p:nvPr/>
        </p:nvSpPr>
        <p:spPr>
          <a:xfrm>
            <a:off x="365760" y="5257800"/>
            <a:ext cx="11430000" cy="9601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b="1" dirty="0">
                <a:solidFill>
                  <a:srgbClr val="FFFFFF"/>
                </a:solidFill>
                <a:latin typeface="Fira Sans Condensed"/>
                <a:ea typeface="Fira Sans Condensed"/>
                <a:cs typeface="Fira Sans Condensed"/>
                <a:sym typeface="Fira Sans Condensed"/>
              </a:rPr>
              <a:t>Menos insulina + más señales contrarreguladoras</a:t>
            </a:r>
            <a:r>
              <a:rPr lang="es-AR" sz="1600" dirty="0">
                <a:solidFill>
                  <a:srgbClr val="FFFFFF"/>
                </a:solidFill>
                <a:latin typeface="Fira Sans Condensed"/>
                <a:ea typeface="Fira Sans Condensed"/>
                <a:cs typeface="Fira Sans Condensed"/>
                <a:sym typeface="Fira Sans Condensed"/>
              </a:rPr>
              <a:t> = catabolismo: explica la CAD y por qué una </a:t>
            </a:r>
            <a:r>
              <a:rPr lang="es-AR" sz="1600" b="1" dirty="0">
                <a:solidFill>
                  <a:srgbClr val="FFFFFF"/>
                </a:solidFill>
                <a:latin typeface="Fira Sans Condensed"/>
                <a:ea typeface="Fira Sans Condensed"/>
                <a:cs typeface="Fira Sans Condensed"/>
                <a:sym typeface="Fira Sans Condensed"/>
              </a:rPr>
              <a:t>infección</a:t>
            </a:r>
            <a:r>
              <a:rPr lang="es-AR" sz="1600" dirty="0">
                <a:solidFill>
                  <a:srgbClr val="FFFFFF"/>
                </a:solidFill>
                <a:latin typeface="Fira Sans Condensed"/>
                <a:ea typeface="Fira Sans Condensed"/>
                <a:cs typeface="Fira Sans Condensed"/>
                <a:sym typeface="Fira Sans Condensed"/>
              </a:rPr>
              <a:t> (estrés) puede descompensar a una persona con diabetes.</a:t>
            </a:r>
            <a:endParaRPr lang="es-AR" sz="16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HORMONAS CONTRARREGULADORAS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p:cTn id="25" dur="500" fill="hold"/>
                                        <p:tgtEl>
                                          <p:spTgt spid="23"/>
                                        </p:tgtEl>
                                        <p:attrNameLst>
                                          <p:attrName>ppt_w</p:attrName>
                                        </p:attrNameLst>
                                      </p:cBhvr>
                                      <p:tavLst>
                                        <p:tav tm="0">
                                          <p:val>
                                            <p:fltVal val="0"/>
                                          </p:val>
                                        </p:tav>
                                        <p:tav tm="100000">
                                          <p:val>
                                            <p:strVal val="#ppt_w"/>
                                          </p:val>
                                        </p:tav>
                                      </p:tavLst>
                                    </p:anim>
                                    <p:anim calcmode="lin" valueType="num">
                                      <p:cBhvr>
                                        <p:cTn id="26" dur="500" fill="hold"/>
                                        <p:tgtEl>
                                          <p:spTgt spid="23"/>
                                        </p:tgtEl>
                                        <p:attrNameLst>
                                          <p:attrName>ppt_h</p:attrName>
                                        </p:attrNameLst>
                                      </p:cBhvr>
                                      <p:tavLst>
                                        <p:tav tm="0">
                                          <p:val>
                                            <p:fltVal val="0"/>
                                          </p:val>
                                        </p:tav>
                                        <p:tav tm="100000">
                                          <p:val>
                                            <p:strVal val="#ppt_h"/>
                                          </p:val>
                                        </p:tav>
                                      </p:tavLst>
                                    </p:anim>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Glucosa 3D vía"/>
          <p:cNvGrpSpPr/>
          <p:nvPr/>
        </p:nvGrpSpPr>
        <p:grpSpPr>
          <a:xfrm>
            <a:off x="403743" y="999059"/>
            <a:ext cx="1155326" cy="924508"/>
            <a:chOff x="403743" y="999059"/>
            <a:chExt cx="1155326" cy="924508"/>
          </a:xfrm>
        </p:grpSpPr>
        <p:sp>
          <p:nvSpPr>
            <p:cNvPr id="8" name="Átomo H"/>
            <p:cNvSpPr/>
            <p:nvPr/>
          </p:nvSpPr>
          <p:spPr>
            <a:xfrm>
              <a:off x="1164401" y="1459688"/>
              <a:ext cx="77162" cy="7716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 name="Átomo H_2"/>
            <p:cNvSpPr/>
            <p:nvPr/>
          </p:nvSpPr>
          <p:spPr>
            <a:xfrm>
              <a:off x="1283214" y="1106477"/>
              <a:ext cx="77612" cy="7761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 name="Flecha 9_2"/>
            <p:cNvSpPr/>
            <p:nvPr/>
          </p:nvSpPr>
          <p:spPr>
            <a:xfrm>
              <a:off x="1322020" y="1145283"/>
              <a:ext cx="110970" cy="61624"/>
            </a:xfrm>
            <a:custGeom>
              <a:avLst/>
              <a:gdLst/>
              <a:ahLst/>
              <a:cxnLst/>
              <a:rect l="0" t="0" r="r" b="b"/>
              <a:pathLst>
                <a:path w="121" h="67" fill="none">
                  <a:moveTo>
                    <a:pt x="121" y="67"/>
                  </a:moveTo>
                  <a:lnTo>
                    <a:pt x="0" y="0"/>
                  </a:lnTo>
                </a:path>
              </a:pathLst>
            </a:custGeom>
            <a:noFill/>
            <a:ln w="19702" cap="rnd">
              <a:solidFill>
                <a:srgbClr val="9A9A9A"/>
              </a:solidFill>
              <a:round/>
            </a:ln>
          </p:spPr>
        </p:sp>
        <p:sp>
          <p:nvSpPr>
            <p:cNvPr id="11" name="Flecha 11_2"/>
            <p:cNvSpPr/>
            <p:nvPr/>
          </p:nvSpPr>
          <p:spPr>
            <a:xfrm>
              <a:off x="1202982" y="1498269"/>
              <a:ext cx="37610" cy="32133"/>
            </a:xfrm>
            <a:custGeom>
              <a:avLst/>
              <a:gdLst/>
              <a:ahLst/>
              <a:cxnLst/>
              <a:rect l="0" t="0" r="r" b="b"/>
              <a:pathLst>
                <a:path w="41" h="35" fill="none">
                  <a:moveTo>
                    <a:pt x="41" y="35"/>
                  </a:moveTo>
                  <a:lnTo>
                    <a:pt x="0" y="0"/>
                  </a:lnTo>
                </a:path>
              </a:pathLst>
            </a:custGeom>
            <a:noFill/>
            <a:ln w="19702" cap="rnd">
              <a:solidFill>
                <a:srgbClr val="9A9A9A"/>
              </a:solidFill>
              <a:round/>
            </a:ln>
          </p:spPr>
        </p:sp>
        <p:sp>
          <p:nvSpPr>
            <p:cNvPr id="12" name="Átomo H_3"/>
            <p:cNvSpPr/>
            <p:nvPr/>
          </p:nvSpPr>
          <p:spPr>
            <a:xfrm>
              <a:off x="1480584" y="1595716"/>
              <a:ext cx="78485" cy="7848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 name="Átomo H_4"/>
            <p:cNvSpPr/>
            <p:nvPr/>
          </p:nvSpPr>
          <p:spPr>
            <a:xfrm>
              <a:off x="755291" y="1403065"/>
              <a:ext cx="78834" cy="788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 name="Átomo O"/>
            <p:cNvSpPr/>
            <p:nvPr/>
          </p:nvSpPr>
          <p:spPr>
            <a:xfrm>
              <a:off x="1371014" y="1144931"/>
              <a:ext cx="123952" cy="12395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5" name="Flecha 16_2"/>
            <p:cNvSpPr/>
            <p:nvPr/>
          </p:nvSpPr>
          <p:spPr>
            <a:xfrm>
              <a:off x="1396432" y="1634959"/>
              <a:ext cx="123395" cy="60461"/>
            </a:xfrm>
            <a:custGeom>
              <a:avLst/>
              <a:gdLst/>
              <a:ahLst/>
              <a:cxnLst/>
              <a:rect l="0" t="0" r="r" b="b"/>
              <a:pathLst>
                <a:path w="134" h="66" fill="none">
                  <a:moveTo>
                    <a:pt x="0" y="66"/>
                  </a:moveTo>
                  <a:lnTo>
                    <a:pt x="134" y="0"/>
                  </a:lnTo>
                </a:path>
              </a:pathLst>
            </a:custGeom>
            <a:noFill/>
            <a:ln w="19702" cap="rnd">
              <a:solidFill>
                <a:srgbClr val="9A9A9A"/>
              </a:solidFill>
              <a:round/>
            </a:ln>
          </p:spPr>
        </p:sp>
        <p:sp>
          <p:nvSpPr>
            <p:cNvPr id="16" name="Átomo H_5"/>
            <p:cNvSpPr/>
            <p:nvPr/>
          </p:nvSpPr>
          <p:spPr>
            <a:xfrm>
              <a:off x="1057053" y="1844099"/>
              <a:ext cx="79468" cy="7946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7" name="Átomo O_2"/>
            <p:cNvSpPr/>
            <p:nvPr/>
          </p:nvSpPr>
          <p:spPr>
            <a:xfrm>
              <a:off x="1333978" y="1632966"/>
              <a:ext cx="124908" cy="12490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8" name="Flecha 20_2"/>
            <p:cNvSpPr/>
            <p:nvPr/>
          </p:nvSpPr>
          <p:spPr>
            <a:xfrm>
              <a:off x="1240592" y="1530402"/>
              <a:ext cx="155840" cy="165019"/>
            </a:xfrm>
            <a:custGeom>
              <a:avLst/>
              <a:gdLst/>
              <a:ahLst/>
              <a:cxnLst/>
              <a:rect l="0" t="0" r="r" b="b"/>
              <a:pathLst>
                <a:path w="170" h="180" fill="none">
                  <a:moveTo>
                    <a:pt x="0" y="0"/>
                  </a:moveTo>
                  <a:lnTo>
                    <a:pt x="170" y="180"/>
                  </a:lnTo>
                </a:path>
              </a:pathLst>
            </a:custGeom>
            <a:noFill/>
            <a:ln w="19702" cap="rnd">
              <a:solidFill>
                <a:srgbClr val="9A9A9A"/>
              </a:solidFill>
              <a:round/>
            </a:ln>
          </p:spPr>
        </p:sp>
        <p:sp>
          <p:nvSpPr>
            <p:cNvPr id="19" name="Átomo C"/>
            <p:cNvSpPr/>
            <p:nvPr/>
          </p:nvSpPr>
          <p:spPr>
            <a:xfrm>
              <a:off x="1174293" y="1464103"/>
              <a:ext cx="132598" cy="13259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 name="Flecha 23_2"/>
            <p:cNvSpPr/>
            <p:nvPr/>
          </p:nvSpPr>
          <p:spPr>
            <a:xfrm>
              <a:off x="969925" y="1799116"/>
              <a:ext cx="126861" cy="84717"/>
            </a:xfrm>
            <a:custGeom>
              <a:avLst/>
              <a:gdLst/>
              <a:ahLst/>
              <a:cxnLst/>
              <a:rect l="0" t="0" r="r" b="b"/>
              <a:pathLst>
                <a:path w="138" h="92" fill="none">
                  <a:moveTo>
                    <a:pt x="0" y="0"/>
                  </a:moveTo>
                  <a:lnTo>
                    <a:pt x="138" y="92"/>
                  </a:lnTo>
                </a:path>
              </a:pathLst>
            </a:custGeom>
            <a:noFill/>
            <a:ln w="19702" cap="rnd">
              <a:solidFill>
                <a:srgbClr val="9A9A9A"/>
              </a:solidFill>
              <a:round/>
            </a:ln>
          </p:spPr>
        </p:sp>
        <p:sp>
          <p:nvSpPr>
            <p:cNvPr id="21" name="Átomo O_3"/>
            <p:cNvSpPr/>
            <p:nvPr/>
          </p:nvSpPr>
          <p:spPr>
            <a:xfrm>
              <a:off x="907214" y="1736405"/>
              <a:ext cx="125422" cy="12542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2" name="Flecha 26_2"/>
            <p:cNvSpPr/>
            <p:nvPr/>
          </p:nvSpPr>
          <p:spPr>
            <a:xfrm>
              <a:off x="794708" y="1434931"/>
              <a:ext cx="79291" cy="9144"/>
            </a:xfrm>
            <a:custGeom>
              <a:avLst/>
              <a:gdLst/>
              <a:ahLst/>
              <a:cxnLst/>
              <a:rect l="0" t="0" r="r" b="b"/>
              <a:pathLst>
                <a:path w="86" h="10" fill="none">
                  <a:moveTo>
                    <a:pt x="86" y="0"/>
                  </a:moveTo>
                  <a:lnTo>
                    <a:pt x="0" y="8"/>
                  </a:lnTo>
                </a:path>
              </a:pathLst>
            </a:custGeom>
            <a:noFill/>
            <a:ln w="19702" cap="rnd">
              <a:solidFill>
                <a:srgbClr val="9A9A9A"/>
              </a:solidFill>
              <a:round/>
            </a:ln>
          </p:spPr>
        </p:sp>
        <p:sp>
          <p:nvSpPr>
            <p:cNvPr id="23" name="Flecha 28_2"/>
            <p:cNvSpPr/>
            <p:nvPr/>
          </p:nvSpPr>
          <p:spPr>
            <a:xfrm>
              <a:off x="1330328" y="1206907"/>
              <a:ext cx="102661" cy="126863"/>
            </a:xfrm>
            <a:custGeom>
              <a:avLst/>
              <a:gdLst/>
              <a:ahLst/>
              <a:cxnLst/>
              <a:rect l="0" t="0" r="r" b="b"/>
              <a:pathLst>
                <a:path w="112" h="138" fill="none">
                  <a:moveTo>
                    <a:pt x="0" y="138"/>
                  </a:moveTo>
                  <a:lnTo>
                    <a:pt x="112" y="0"/>
                  </a:lnTo>
                </a:path>
              </a:pathLst>
            </a:custGeom>
            <a:noFill/>
            <a:ln w="19702" cap="rnd">
              <a:solidFill>
                <a:srgbClr val="9A9A9A"/>
              </a:solidFill>
              <a:round/>
            </a:ln>
          </p:spPr>
        </p:sp>
        <p:sp>
          <p:nvSpPr>
            <p:cNvPr id="24" name="Flecha 30_2"/>
            <p:cNvSpPr/>
            <p:nvPr/>
          </p:nvSpPr>
          <p:spPr>
            <a:xfrm>
              <a:off x="1240592" y="1333770"/>
              <a:ext cx="89736" cy="196632"/>
            </a:xfrm>
            <a:custGeom>
              <a:avLst/>
              <a:gdLst/>
              <a:ahLst/>
              <a:cxnLst/>
              <a:rect l="0" t="0" r="r" b="b"/>
              <a:pathLst>
                <a:path w="98" h="215" fill="none">
                  <a:moveTo>
                    <a:pt x="98" y="0"/>
                  </a:moveTo>
                  <a:lnTo>
                    <a:pt x="0" y="215"/>
                  </a:lnTo>
                </a:path>
              </a:pathLst>
            </a:custGeom>
            <a:noFill/>
            <a:ln w="19702" cap="rnd">
              <a:solidFill>
                <a:srgbClr val="9A9A9A"/>
              </a:solidFill>
              <a:round/>
            </a:ln>
          </p:spPr>
        </p:sp>
        <p:sp>
          <p:nvSpPr>
            <p:cNvPr id="25" name="Flecha 32_2"/>
            <p:cNvSpPr/>
            <p:nvPr/>
          </p:nvSpPr>
          <p:spPr>
            <a:xfrm>
              <a:off x="1043470" y="1530402"/>
              <a:ext cx="197122" cy="78460"/>
            </a:xfrm>
            <a:custGeom>
              <a:avLst/>
              <a:gdLst/>
              <a:ahLst/>
              <a:cxnLst/>
              <a:rect l="0" t="0" r="r" b="b"/>
              <a:pathLst>
                <a:path w="215" h="85" fill="none">
                  <a:moveTo>
                    <a:pt x="215" y="0"/>
                  </a:moveTo>
                  <a:lnTo>
                    <a:pt x="0" y="85"/>
                  </a:lnTo>
                </a:path>
              </a:pathLst>
            </a:custGeom>
            <a:noFill/>
            <a:ln w="19702" cap="rnd">
              <a:solidFill>
                <a:srgbClr val="9A9A9A"/>
              </a:solidFill>
              <a:round/>
            </a:ln>
          </p:spPr>
        </p:sp>
        <p:sp>
          <p:nvSpPr>
            <p:cNvPr id="26" name="Flecha 34_2"/>
            <p:cNvSpPr/>
            <p:nvPr/>
          </p:nvSpPr>
          <p:spPr>
            <a:xfrm>
              <a:off x="969925" y="1608861"/>
              <a:ext cx="73545" cy="190255"/>
            </a:xfrm>
            <a:custGeom>
              <a:avLst/>
              <a:gdLst/>
              <a:ahLst/>
              <a:cxnLst/>
              <a:rect l="0" t="0" r="r" b="b"/>
              <a:pathLst>
                <a:path w="80" h="208" fill="none">
                  <a:moveTo>
                    <a:pt x="80" y="0"/>
                  </a:moveTo>
                  <a:lnTo>
                    <a:pt x="0" y="208"/>
                  </a:lnTo>
                </a:path>
              </a:pathLst>
            </a:custGeom>
            <a:noFill/>
            <a:ln w="19702" cap="rnd">
              <a:solidFill>
                <a:srgbClr val="9A9A9A"/>
              </a:solidFill>
              <a:round/>
            </a:ln>
          </p:spPr>
        </p:sp>
        <p:sp>
          <p:nvSpPr>
            <p:cNvPr id="27" name="Átomo C_2"/>
            <p:cNvSpPr/>
            <p:nvPr/>
          </p:nvSpPr>
          <p:spPr>
            <a:xfrm>
              <a:off x="806450" y="1367382"/>
              <a:ext cx="135098" cy="13509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7_2"/>
            <p:cNvSpPr/>
            <p:nvPr/>
          </p:nvSpPr>
          <p:spPr>
            <a:xfrm>
              <a:off x="874000" y="1434931"/>
              <a:ext cx="169470" cy="173930"/>
            </a:xfrm>
            <a:custGeom>
              <a:avLst/>
              <a:gdLst/>
              <a:ahLst/>
              <a:cxnLst/>
              <a:rect l="0" t="0" r="r" b="b"/>
              <a:pathLst>
                <a:path w="185" h="190" fill="none">
                  <a:moveTo>
                    <a:pt x="185" y="190"/>
                  </a:moveTo>
                  <a:lnTo>
                    <a:pt x="0" y="0"/>
                  </a:lnTo>
                </a:path>
              </a:pathLst>
            </a:custGeom>
            <a:noFill/>
            <a:ln w="19702" cap="rnd">
              <a:solidFill>
                <a:srgbClr val="9A9A9A"/>
              </a:solidFill>
              <a:round/>
            </a:ln>
          </p:spPr>
        </p:sp>
        <p:sp>
          <p:nvSpPr>
            <p:cNvPr id="29" name="Flecha 39_2"/>
            <p:cNvSpPr/>
            <p:nvPr/>
          </p:nvSpPr>
          <p:spPr>
            <a:xfrm>
              <a:off x="874000" y="1223951"/>
              <a:ext cx="86775" cy="210980"/>
            </a:xfrm>
            <a:custGeom>
              <a:avLst/>
              <a:gdLst/>
              <a:ahLst/>
              <a:cxnLst/>
              <a:rect l="0" t="0" r="r" b="b"/>
              <a:pathLst>
                <a:path w="94" h="230" fill="none">
                  <a:moveTo>
                    <a:pt x="0" y="230"/>
                  </a:moveTo>
                  <a:lnTo>
                    <a:pt x="94" y="0"/>
                  </a:lnTo>
                </a:path>
              </a:pathLst>
            </a:custGeom>
            <a:noFill/>
            <a:ln w="19702" cap="rnd">
              <a:solidFill>
                <a:srgbClr val="9A9A9A"/>
              </a:solidFill>
              <a:round/>
            </a:ln>
          </p:spPr>
        </p:sp>
        <p:sp>
          <p:nvSpPr>
            <p:cNvPr id="30" name="Átomo C_3"/>
            <p:cNvSpPr/>
            <p:nvPr/>
          </p:nvSpPr>
          <p:spPr>
            <a:xfrm>
              <a:off x="1262707" y="1266148"/>
              <a:ext cx="135243" cy="1352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1" name="Átomo C_4"/>
            <p:cNvSpPr/>
            <p:nvPr/>
          </p:nvSpPr>
          <p:spPr>
            <a:xfrm>
              <a:off x="975796" y="1541187"/>
              <a:ext cx="135348" cy="13534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2" name="Átomo O_4"/>
            <p:cNvSpPr/>
            <p:nvPr/>
          </p:nvSpPr>
          <p:spPr>
            <a:xfrm>
              <a:off x="896954" y="1160130"/>
              <a:ext cx="127641" cy="1276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3" name="Flecha 44_2"/>
            <p:cNvSpPr/>
            <p:nvPr/>
          </p:nvSpPr>
          <p:spPr>
            <a:xfrm>
              <a:off x="1330328" y="1333770"/>
              <a:ext cx="123030" cy="46147"/>
            </a:xfrm>
            <a:custGeom>
              <a:avLst/>
              <a:gdLst/>
              <a:ahLst/>
              <a:cxnLst/>
              <a:rect l="0" t="0" r="r" b="b"/>
              <a:pathLst>
                <a:path w="134" h="50" fill="none">
                  <a:moveTo>
                    <a:pt x="0" y="0"/>
                  </a:moveTo>
                  <a:lnTo>
                    <a:pt x="134" y="50"/>
                  </a:lnTo>
                </a:path>
              </a:pathLst>
            </a:custGeom>
            <a:noFill/>
            <a:ln w="19702" cap="rnd">
              <a:solidFill>
                <a:srgbClr val="9A9A9A"/>
              </a:solidFill>
              <a:round/>
            </a:ln>
          </p:spPr>
        </p:sp>
        <p:sp>
          <p:nvSpPr>
            <p:cNvPr id="34" name="Flecha 46_2"/>
            <p:cNvSpPr/>
            <p:nvPr/>
          </p:nvSpPr>
          <p:spPr>
            <a:xfrm>
              <a:off x="1156060" y="1208727"/>
              <a:ext cx="174268" cy="125043"/>
            </a:xfrm>
            <a:custGeom>
              <a:avLst/>
              <a:gdLst/>
              <a:ahLst/>
              <a:cxnLst/>
              <a:rect l="0" t="0" r="r" b="b"/>
              <a:pathLst>
                <a:path w="190" h="136" fill="none">
                  <a:moveTo>
                    <a:pt x="0" y="0"/>
                  </a:moveTo>
                  <a:lnTo>
                    <a:pt x="190" y="136"/>
                  </a:lnTo>
                </a:path>
              </a:pathLst>
            </a:custGeom>
            <a:noFill/>
            <a:ln w="19702" cap="rnd">
              <a:solidFill>
                <a:srgbClr val="9A9A9A"/>
              </a:solidFill>
              <a:round/>
            </a:ln>
          </p:spPr>
        </p:sp>
        <p:sp>
          <p:nvSpPr>
            <p:cNvPr id="35" name="Flecha 48_2"/>
            <p:cNvSpPr/>
            <p:nvPr/>
          </p:nvSpPr>
          <p:spPr>
            <a:xfrm>
              <a:off x="960775" y="1208727"/>
              <a:ext cx="195285" cy="15223"/>
            </a:xfrm>
            <a:custGeom>
              <a:avLst/>
              <a:gdLst/>
              <a:ahLst/>
              <a:cxnLst/>
              <a:rect l="0" t="0" r="r" b="b"/>
              <a:pathLst>
                <a:path w="213" h="16" fill="none">
                  <a:moveTo>
                    <a:pt x="0" y="16"/>
                  </a:moveTo>
                  <a:lnTo>
                    <a:pt x="213" y="0"/>
                  </a:lnTo>
                </a:path>
              </a:pathLst>
            </a:custGeom>
            <a:noFill/>
            <a:ln w="19702" cap="rnd">
              <a:solidFill>
                <a:srgbClr val="9A9A9A"/>
              </a:solidFill>
              <a:round/>
            </a:ln>
          </p:spPr>
        </p:sp>
        <p:sp>
          <p:nvSpPr>
            <p:cNvPr id="36" name="Flecha 50_2"/>
            <p:cNvSpPr/>
            <p:nvPr/>
          </p:nvSpPr>
          <p:spPr>
            <a:xfrm>
              <a:off x="703904" y="1434931"/>
              <a:ext cx="170095" cy="32064"/>
            </a:xfrm>
            <a:custGeom>
              <a:avLst/>
              <a:gdLst/>
              <a:ahLst/>
              <a:cxnLst/>
              <a:rect l="0" t="0" r="r" b="b"/>
              <a:pathLst>
                <a:path w="186" h="35" fill="none">
                  <a:moveTo>
                    <a:pt x="0" y="35"/>
                  </a:moveTo>
                  <a:lnTo>
                    <a:pt x="186" y="0"/>
                  </a:lnTo>
                </a:path>
              </a:pathLst>
            </a:custGeom>
            <a:noFill/>
            <a:ln w="19702" cap="rnd">
              <a:solidFill>
                <a:srgbClr val="9A9A9A"/>
              </a:solidFill>
              <a:round/>
            </a:ln>
          </p:spPr>
        </p:sp>
        <p:sp>
          <p:nvSpPr>
            <p:cNvPr id="37" name="Flecha 52_2"/>
            <p:cNvSpPr/>
            <p:nvPr/>
          </p:nvSpPr>
          <p:spPr>
            <a:xfrm>
              <a:off x="1043470" y="1608861"/>
              <a:ext cx="39376" cy="40372"/>
            </a:xfrm>
            <a:custGeom>
              <a:avLst/>
              <a:gdLst/>
              <a:ahLst/>
              <a:cxnLst/>
              <a:rect l="0" t="0" r="r" b="b"/>
              <a:pathLst>
                <a:path w="43" h="44" fill="none">
                  <a:moveTo>
                    <a:pt x="0" y="0"/>
                  </a:moveTo>
                  <a:lnTo>
                    <a:pt x="43" y="44"/>
                  </a:lnTo>
                </a:path>
              </a:pathLst>
            </a:custGeom>
            <a:noFill/>
            <a:ln w="19702" cap="rnd">
              <a:solidFill>
                <a:srgbClr val="9A9A9A"/>
              </a:solidFill>
              <a:round/>
            </a:ln>
          </p:spPr>
        </p:sp>
        <p:sp>
          <p:nvSpPr>
            <p:cNvPr id="38" name="Átomo H_6"/>
            <p:cNvSpPr/>
            <p:nvPr/>
          </p:nvSpPr>
          <p:spPr>
            <a:xfrm>
              <a:off x="1411973" y="1338531"/>
              <a:ext cx="82771" cy="827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9" name="Átomo C_5"/>
            <p:cNvSpPr/>
            <p:nvPr/>
          </p:nvSpPr>
          <p:spPr>
            <a:xfrm>
              <a:off x="1087050" y="1139717"/>
              <a:ext cx="138021" cy="13802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Flecha 56_2"/>
            <p:cNvSpPr/>
            <p:nvPr/>
          </p:nvSpPr>
          <p:spPr>
            <a:xfrm>
              <a:off x="1156060" y="1040494"/>
              <a:ext cx="40184" cy="168234"/>
            </a:xfrm>
            <a:custGeom>
              <a:avLst/>
              <a:gdLst/>
              <a:ahLst/>
              <a:cxnLst/>
              <a:rect l="0" t="0" r="r" b="b"/>
              <a:pathLst>
                <a:path w="43" h="183" fill="none">
                  <a:moveTo>
                    <a:pt x="0" y="183"/>
                  </a:moveTo>
                  <a:lnTo>
                    <a:pt x="43" y="0"/>
                  </a:lnTo>
                </a:path>
              </a:pathLst>
            </a:custGeom>
            <a:noFill/>
            <a:ln w="19702" cap="rnd">
              <a:solidFill>
                <a:srgbClr val="9A9A9A"/>
              </a:solidFill>
              <a:round/>
            </a:ln>
          </p:spPr>
        </p:sp>
        <p:sp>
          <p:nvSpPr>
            <p:cNvPr id="41" name="Átomo H_7"/>
            <p:cNvSpPr/>
            <p:nvPr/>
          </p:nvSpPr>
          <p:spPr>
            <a:xfrm>
              <a:off x="1154809" y="999059"/>
              <a:ext cx="82870" cy="8287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2" name="Átomo O_5"/>
            <p:cNvSpPr/>
            <p:nvPr/>
          </p:nvSpPr>
          <p:spPr>
            <a:xfrm>
              <a:off x="459826" y="1271204"/>
              <a:ext cx="130253" cy="13025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3" name="Flecha 60_2"/>
            <p:cNvSpPr/>
            <p:nvPr/>
          </p:nvSpPr>
          <p:spPr>
            <a:xfrm>
              <a:off x="524952" y="1336331"/>
              <a:ext cx="178952" cy="130665"/>
            </a:xfrm>
            <a:custGeom>
              <a:avLst/>
              <a:gdLst/>
              <a:ahLst/>
              <a:cxnLst/>
              <a:rect l="0" t="0" r="r" b="b"/>
              <a:pathLst>
                <a:path w="195" h="142" fill="none">
                  <a:moveTo>
                    <a:pt x="0" y="0"/>
                  </a:moveTo>
                  <a:lnTo>
                    <a:pt x="195" y="142"/>
                  </a:lnTo>
                </a:path>
              </a:pathLst>
            </a:custGeom>
            <a:noFill/>
            <a:ln w="19702" cap="rnd">
              <a:solidFill>
                <a:srgbClr val="9A9A9A"/>
              </a:solidFill>
              <a:round/>
            </a:ln>
          </p:spPr>
        </p:sp>
        <p:sp>
          <p:nvSpPr>
            <p:cNvPr id="44" name="Flecha 62_2"/>
            <p:cNvSpPr/>
            <p:nvPr/>
          </p:nvSpPr>
          <p:spPr>
            <a:xfrm>
              <a:off x="649019" y="1466995"/>
              <a:ext cx="54886" cy="163445"/>
            </a:xfrm>
            <a:custGeom>
              <a:avLst/>
              <a:gdLst/>
              <a:ahLst/>
              <a:cxnLst/>
              <a:rect l="0" t="0" r="r" b="b"/>
              <a:pathLst>
                <a:path w="60" h="178" fill="none">
                  <a:moveTo>
                    <a:pt x="60" y="0"/>
                  </a:moveTo>
                  <a:lnTo>
                    <a:pt x="0" y="178"/>
                  </a:lnTo>
                </a:path>
              </a:pathLst>
            </a:custGeom>
            <a:noFill/>
            <a:ln w="19702" cap="rnd">
              <a:solidFill>
                <a:srgbClr val="9A9A9A"/>
              </a:solidFill>
              <a:round/>
            </a:ln>
          </p:spPr>
        </p:sp>
        <p:sp>
          <p:nvSpPr>
            <p:cNvPr id="45" name="Átomo C_6"/>
            <p:cNvSpPr/>
            <p:nvPr/>
          </p:nvSpPr>
          <p:spPr>
            <a:xfrm>
              <a:off x="634312" y="1397403"/>
              <a:ext cx="139186" cy="13918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6" name="Átomo H_8"/>
            <p:cNvSpPr/>
            <p:nvPr/>
          </p:nvSpPr>
          <p:spPr>
            <a:xfrm>
              <a:off x="607242" y="1588663"/>
              <a:ext cx="83554" cy="8355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7" name="Átomo H_9"/>
            <p:cNvSpPr/>
            <p:nvPr/>
          </p:nvSpPr>
          <p:spPr>
            <a:xfrm>
              <a:off x="1041061" y="1607449"/>
              <a:ext cx="83569" cy="8356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8" name="Flecha 67_2"/>
            <p:cNvSpPr/>
            <p:nvPr/>
          </p:nvSpPr>
          <p:spPr>
            <a:xfrm>
              <a:off x="446134" y="1323615"/>
              <a:ext cx="78818" cy="12715"/>
            </a:xfrm>
            <a:custGeom>
              <a:avLst/>
              <a:gdLst/>
              <a:ahLst/>
              <a:cxnLst/>
              <a:rect l="0" t="0" r="r" b="b"/>
              <a:pathLst>
                <a:path w="86" h="13" fill="none">
                  <a:moveTo>
                    <a:pt x="86" y="13"/>
                  </a:moveTo>
                  <a:lnTo>
                    <a:pt x="0" y="0"/>
                  </a:lnTo>
                </a:path>
              </a:pathLst>
            </a:custGeom>
            <a:noFill/>
            <a:ln w="19702" cap="rnd">
              <a:solidFill>
                <a:srgbClr val="9A9A9A"/>
              </a:solidFill>
              <a:round/>
            </a:ln>
          </p:spPr>
        </p:sp>
        <p:sp>
          <p:nvSpPr>
            <p:cNvPr id="49" name="Flecha 69_2"/>
            <p:cNvSpPr/>
            <p:nvPr/>
          </p:nvSpPr>
          <p:spPr>
            <a:xfrm>
              <a:off x="1133698" y="1208727"/>
              <a:ext cx="22362" cy="69276"/>
            </a:xfrm>
            <a:custGeom>
              <a:avLst/>
              <a:gdLst/>
              <a:ahLst/>
              <a:cxnLst/>
              <a:rect l="0" t="0" r="r" b="b"/>
              <a:pathLst>
                <a:path w="24" h="75" fill="none">
                  <a:moveTo>
                    <a:pt x="24" y="0"/>
                  </a:moveTo>
                  <a:lnTo>
                    <a:pt x="0" y="75"/>
                  </a:lnTo>
                </a:path>
              </a:pathLst>
            </a:custGeom>
            <a:noFill/>
            <a:ln w="19702" cap="rnd">
              <a:solidFill>
                <a:srgbClr val="9A9A9A"/>
              </a:solidFill>
              <a:round/>
            </a:ln>
          </p:spPr>
        </p:sp>
        <p:sp>
          <p:nvSpPr>
            <p:cNvPr id="50" name="Flecha 71_2"/>
            <p:cNvSpPr/>
            <p:nvPr/>
          </p:nvSpPr>
          <p:spPr>
            <a:xfrm>
              <a:off x="703904" y="1423260"/>
              <a:ext cx="58998" cy="43736"/>
            </a:xfrm>
            <a:custGeom>
              <a:avLst/>
              <a:gdLst/>
              <a:ahLst/>
              <a:cxnLst/>
              <a:rect l="0" t="0" r="r" b="b"/>
              <a:pathLst>
                <a:path w="64" h="47" fill="none">
                  <a:moveTo>
                    <a:pt x="0" y="47"/>
                  </a:moveTo>
                  <a:lnTo>
                    <a:pt x="64" y="0"/>
                  </a:lnTo>
                </a:path>
              </a:pathLst>
            </a:custGeom>
            <a:noFill/>
            <a:ln w="19702" cap="rnd">
              <a:solidFill>
                <a:srgbClr val="9A9A9A"/>
              </a:solidFill>
              <a:round/>
            </a:ln>
          </p:spPr>
        </p:sp>
        <p:sp>
          <p:nvSpPr>
            <p:cNvPr id="51" name="Átomo H_10"/>
            <p:cNvSpPr/>
            <p:nvPr/>
          </p:nvSpPr>
          <p:spPr>
            <a:xfrm>
              <a:off x="403743" y="1281224"/>
              <a:ext cx="84782" cy="8478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2" name="Átomo H_11"/>
            <p:cNvSpPr/>
            <p:nvPr/>
          </p:nvSpPr>
          <p:spPr>
            <a:xfrm>
              <a:off x="720020" y="1380378"/>
              <a:ext cx="85764" cy="8576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3" name="Átomo O_6"/>
            <p:cNvSpPr/>
            <p:nvPr/>
          </p:nvSpPr>
          <p:spPr>
            <a:xfrm>
              <a:off x="1066229" y="1210535"/>
              <a:ext cx="134938" cy="13493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4" name="Flecha 76_2"/>
            <p:cNvSpPr/>
            <p:nvPr/>
          </p:nvSpPr>
          <p:spPr>
            <a:xfrm>
              <a:off x="1133698" y="1217776"/>
              <a:ext cx="121418" cy="60228"/>
            </a:xfrm>
            <a:custGeom>
              <a:avLst/>
              <a:gdLst/>
              <a:ahLst/>
              <a:cxnLst/>
              <a:rect l="0" t="0" r="r" b="b"/>
              <a:pathLst>
                <a:path w="132" h="65" fill="none">
                  <a:moveTo>
                    <a:pt x="0" y="65"/>
                  </a:moveTo>
                  <a:lnTo>
                    <a:pt x="132" y="0"/>
                  </a:lnTo>
                </a:path>
              </a:pathLst>
            </a:custGeom>
            <a:noFill/>
            <a:ln w="19702" cap="rnd">
              <a:solidFill>
                <a:srgbClr val="9A9A9A"/>
              </a:solidFill>
              <a:round/>
            </a:ln>
          </p:spPr>
        </p:sp>
        <p:sp>
          <p:nvSpPr>
            <p:cNvPr id="55" name="Átomo H_12"/>
            <p:cNvSpPr/>
            <p:nvPr/>
          </p:nvSpPr>
          <p:spPr>
            <a:xfrm>
              <a:off x="1211610" y="1174269"/>
              <a:ext cx="87012" cy="8701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56" name="Flecha g→g6p"/>
          <p:cNvGrpSpPr/>
          <p:nvPr/>
        </p:nvGrpSpPr>
        <p:grpSpPr>
          <a:xfrm>
            <a:off x="1176929" y="1636776"/>
            <a:ext cx="1666855" cy="475488"/>
            <a:chOff x="1176929" y="1636776"/>
            <a:chExt cx="1666855" cy="475488"/>
          </a:xfrm>
        </p:grpSpPr>
        <p:sp>
          <p:nvSpPr>
            <p:cNvPr id="57" name="Flecha 80_2"/>
            <p:cNvSpPr/>
            <p:nvPr/>
          </p:nvSpPr>
          <p:spPr>
            <a:xfrm>
              <a:off x="2834640" y="1636776"/>
              <a:ext cx="9144" cy="475488"/>
            </a:xfrm>
            <a:custGeom>
              <a:avLst/>
              <a:gdLst/>
              <a:ahLst/>
              <a:cxnLst/>
              <a:rect l="0" t="0" r="r" b="b"/>
              <a:pathLst>
                <a:path w="10" h="520" fill="none">
                  <a:moveTo>
                    <a:pt x="0" y="0"/>
                  </a:moveTo>
                  <a:lnTo>
                    <a:pt x="0" y="520"/>
                  </a:lnTo>
                </a:path>
              </a:pathLst>
            </a:custGeom>
            <a:noFill/>
            <a:ln w="28575" cap="rnd">
              <a:solidFill>
                <a:srgbClr val="1E1E1E"/>
              </a:solidFill>
              <a:round/>
              <a:tailEnd type="triangle" w="med" len="med"/>
            </a:ln>
          </p:spPr>
        </p:sp>
        <p:sp>
          <p:nvSpPr>
            <p:cNvPr id="58" name="Rótulo Hexocinasa / GCK"/>
            <p:cNvSpPr/>
            <p:nvPr/>
          </p:nvSpPr>
          <p:spPr>
            <a:xfrm>
              <a:off x="1176929" y="1746504"/>
              <a:ext cx="1212302"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Hexocinasa / GCK</a:t>
              </a:r>
              <a:endParaRPr lang="es-AR" sz="1000" dirty="0">
                <a:latin typeface="Fira Sans Condensed"/>
              </a:endParaRPr>
            </a:p>
          </p:txBody>
        </p:sp>
      </p:grpSp>
      <p:grpSp>
        <p:nvGrpSpPr>
          <p:cNvPr id="59" name="Flecha g6p→g"/>
          <p:cNvGrpSpPr/>
          <p:nvPr/>
        </p:nvGrpSpPr>
        <p:grpSpPr>
          <a:xfrm>
            <a:off x="3291840" y="1618488"/>
            <a:ext cx="1660424" cy="512064"/>
            <a:chOff x="3291840" y="1618488"/>
            <a:chExt cx="1660424" cy="512064"/>
          </a:xfrm>
        </p:grpSpPr>
        <p:sp>
          <p:nvSpPr>
            <p:cNvPr id="60" name="Flecha 84_2"/>
            <p:cNvSpPr/>
            <p:nvPr/>
          </p:nvSpPr>
          <p:spPr>
            <a:xfrm>
              <a:off x="3291840" y="1618488"/>
              <a:ext cx="9144" cy="512064"/>
            </a:xfrm>
            <a:custGeom>
              <a:avLst/>
              <a:gdLst/>
              <a:ahLst/>
              <a:cxnLst/>
              <a:rect l="0" t="0" r="r" b="b"/>
              <a:pathLst>
                <a:path w="10" h="560" fill="none">
                  <a:moveTo>
                    <a:pt x="0" y="560"/>
                  </a:moveTo>
                  <a:lnTo>
                    <a:pt x="0" y="0"/>
                  </a:lnTo>
                </a:path>
              </a:pathLst>
            </a:custGeom>
            <a:noFill/>
            <a:ln w="28575" cap="rnd">
              <a:solidFill>
                <a:srgbClr val="0070C0"/>
              </a:solidFill>
              <a:round/>
              <a:tailEnd type="triangle" w="med" len="med"/>
            </a:ln>
          </p:spPr>
        </p:sp>
        <p:sp>
          <p:nvSpPr>
            <p:cNvPr id="61" name="Rótulo G6Pasa (hígado)"/>
            <p:cNvSpPr/>
            <p:nvPr/>
          </p:nvSpPr>
          <p:spPr>
            <a:xfrm>
              <a:off x="3825976" y="1746504"/>
              <a:ext cx="1126288"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G6Pasa (hígado)</a:t>
              </a:r>
              <a:endParaRPr lang="es-AR" sz="1000" dirty="0">
                <a:latin typeface="Fira Sans Condensed"/>
              </a:endParaRPr>
            </a:p>
          </p:txBody>
        </p:sp>
      </p:grpSp>
      <p:sp>
        <p:nvSpPr>
          <p:cNvPr id="62" name="Flecha g6p→f6p"/>
          <p:cNvSpPr/>
          <p:nvPr/>
        </p:nvSpPr>
        <p:spPr>
          <a:xfrm>
            <a:off x="2834640" y="268833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grpSp>
        <p:nvGrpSpPr>
          <p:cNvPr id="63" name="Flecha f6p→fbp"/>
          <p:cNvGrpSpPr/>
          <p:nvPr/>
        </p:nvGrpSpPr>
        <p:grpSpPr>
          <a:xfrm>
            <a:off x="1143524" y="3694176"/>
            <a:ext cx="1700260" cy="429768"/>
            <a:chOff x="1143524" y="3694176"/>
            <a:chExt cx="1700260" cy="429768"/>
          </a:xfrm>
        </p:grpSpPr>
        <p:sp>
          <p:nvSpPr>
            <p:cNvPr id="64" name="Flecha 89_2"/>
            <p:cNvSpPr/>
            <p:nvPr/>
          </p:nvSpPr>
          <p:spPr>
            <a:xfrm>
              <a:off x="2834640" y="369417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65" name="Rótulo PFK-1 (regulador)"/>
            <p:cNvSpPr/>
            <p:nvPr/>
          </p:nvSpPr>
          <p:spPr>
            <a:xfrm>
              <a:off x="1143524" y="3781044"/>
              <a:ext cx="1187672"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PFK-1 (regulador)</a:t>
              </a:r>
              <a:endParaRPr lang="es-AR" sz="1000" dirty="0">
                <a:latin typeface="Fira Sans Condensed"/>
              </a:endParaRPr>
            </a:p>
          </p:txBody>
        </p:sp>
      </p:grpSp>
      <p:grpSp>
        <p:nvGrpSpPr>
          <p:cNvPr id="66" name="Flecha fbp→f6p"/>
          <p:cNvGrpSpPr/>
          <p:nvPr/>
        </p:nvGrpSpPr>
        <p:grpSpPr>
          <a:xfrm>
            <a:off x="3291840" y="3675888"/>
            <a:ext cx="1225728" cy="466344"/>
            <a:chOff x="3291840" y="3675888"/>
            <a:chExt cx="1225728" cy="466344"/>
          </a:xfrm>
        </p:grpSpPr>
        <p:sp>
          <p:nvSpPr>
            <p:cNvPr id="67" name="Flecha 93_2"/>
            <p:cNvSpPr/>
            <p:nvPr/>
          </p:nvSpPr>
          <p:spPr>
            <a:xfrm>
              <a:off x="3291840" y="3675888"/>
              <a:ext cx="9144" cy="466344"/>
            </a:xfrm>
            <a:custGeom>
              <a:avLst/>
              <a:gdLst/>
              <a:ahLst/>
              <a:cxnLst/>
              <a:rect l="0" t="0" r="r" b="b"/>
              <a:pathLst>
                <a:path w="10" h="510" fill="none">
                  <a:moveTo>
                    <a:pt x="0" y="510"/>
                  </a:moveTo>
                  <a:lnTo>
                    <a:pt x="0" y="0"/>
                  </a:lnTo>
                </a:path>
              </a:pathLst>
            </a:custGeom>
            <a:noFill/>
            <a:ln w="28575" cap="rnd">
              <a:solidFill>
                <a:srgbClr val="0070C0"/>
              </a:solidFill>
              <a:round/>
              <a:tailEnd type="triangle" w="med" len="med"/>
            </a:ln>
          </p:spPr>
        </p:sp>
        <p:sp>
          <p:nvSpPr>
            <p:cNvPr id="68" name="Rótulo FBPasa-1"/>
            <p:cNvSpPr/>
            <p:nvPr/>
          </p:nvSpPr>
          <p:spPr>
            <a:xfrm>
              <a:off x="3803472" y="3781044"/>
              <a:ext cx="714096"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FBPasa-1</a:t>
              </a:r>
              <a:endParaRPr lang="es-AR" sz="1000" dirty="0">
                <a:latin typeface="Fira Sans Condensed"/>
              </a:endParaRPr>
            </a:p>
          </p:txBody>
        </p:sp>
      </p:grpSp>
      <p:sp>
        <p:nvSpPr>
          <p:cNvPr id="69" name="Flecha fbp→pep"/>
          <p:cNvSpPr/>
          <p:nvPr/>
        </p:nvSpPr>
        <p:spPr>
          <a:xfrm>
            <a:off x="2834640" y="4700016"/>
            <a:ext cx="9144" cy="429768"/>
          </a:xfrm>
          <a:custGeom>
            <a:avLst/>
            <a:gdLst/>
            <a:ahLst/>
            <a:cxnLst/>
            <a:rect l="0" t="0" r="r" b="b"/>
            <a:pathLst>
              <a:path w="10" h="470" fill="none">
                <a:moveTo>
                  <a:pt x="0" y="0"/>
                </a:moveTo>
                <a:lnTo>
                  <a:pt x="0" y="470"/>
                </a:lnTo>
              </a:path>
            </a:pathLst>
          </a:custGeom>
          <a:noFill/>
          <a:ln w="28575" cap="rnd">
            <a:solidFill>
              <a:srgbClr val="1E1E1E"/>
            </a:solidFill>
            <a:round/>
            <a:tailEnd type="triangle" w="med" len="med"/>
          </a:ln>
        </p:spPr>
      </p:sp>
      <p:grpSp>
        <p:nvGrpSpPr>
          <p:cNvPr id="70" name="Flecha pep→pyr"/>
          <p:cNvGrpSpPr/>
          <p:nvPr/>
        </p:nvGrpSpPr>
        <p:grpSpPr>
          <a:xfrm>
            <a:off x="3877056" y="5015484"/>
            <a:ext cx="1207008" cy="411480"/>
            <a:chOff x="3877056" y="5015484"/>
            <a:chExt cx="1207008" cy="411480"/>
          </a:xfrm>
        </p:grpSpPr>
        <p:sp>
          <p:nvSpPr>
            <p:cNvPr id="71" name="Flecha 98_2"/>
            <p:cNvSpPr/>
            <p:nvPr/>
          </p:nvSpPr>
          <p:spPr>
            <a:xfrm>
              <a:off x="3877056" y="5417820"/>
              <a:ext cx="1207008" cy="9144"/>
            </a:xfrm>
            <a:custGeom>
              <a:avLst/>
              <a:gdLst/>
              <a:ahLst/>
              <a:cxnLst/>
              <a:rect l="0" t="0" r="r" b="b"/>
              <a:pathLst>
                <a:path w="1319" h="10" fill="none">
                  <a:moveTo>
                    <a:pt x="0" y="0"/>
                  </a:moveTo>
                  <a:lnTo>
                    <a:pt x="1319" y="0"/>
                  </a:lnTo>
                </a:path>
              </a:pathLst>
            </a:custGeom>
            <a:noFill/>
            <a:ln w="28575" cap="rnd">
              <a:solidFill>
                <a:srgbClr val="1E1E1E"/>
              </a:solidFill>
              <a:round/>
              <a:tailEnd type="triangle" w="med" len="med"/>
            </a:ln>
          </p:spPr>
        </p:sp>
        <p:sp>
          <p:nvSpPr>
            <p:cNvPr id="72" name="Rótulo PK"/>
            <p:cNvSpPr/>
            <p:nvPr/>
          </p:nvSpPr>
          <p:spPr>
            <a:xfrm>
              <a:off x="4294394" y="5015484"/>
              <a:ext cx="372332"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PK</a:t>
              </a:r>
              <a:endParaRPr lang="es-AR" sz="1000" dirty="0">
                <a:latin typeface="Fira Sans Condensed"/>
              </a:endParaRPr>
            </a:p>
          </p:txBody>
        </p:sp>
      </p:grpSp>
      <p:grpSp>
        <p:nvGrpSpPr>
          <p:cNvPr id="73" name="Flecha pyr→oaa"/>
          <p:cNvGrpSpPr/>
          <p:nvPr/>
        </p:nvGrpSpPr>
        <p:grpSpPr>
          <a:xfrm>
            <a:off x="4078444" y="4471416"/>
            <a:ext cx="1965740" cy="658368"/>
            <a:chOff x="4078444" y="4471416"/>
            <a:chExt cx="1965740" cy="658368"/>
          </a:xfrm>
        </p:grpSpPr>
        <p:sp>
          <p:nvSpPr>
            <p:cNvPr id="74" name="Flecha 102_2"/>
            <p:cNvSpPr/>
            <p:nvPr/>
          </p:nvSpPr>
          <p:spPr>
            <a:xfrm>
              <a:off x="6035040" y="4471416"/>
              <a:ext cx="9144" cy="658368"/>
            </a:xfrm>
            <a:custGeom>
              <a:avLst/>
              <a:gdLst/>
              <a:ahLst/>
              <a:cxnLst/>
              <a:rect l="0" t="0" r="r" b="b"/>
              <a:pathLst>
                <a:path w="10" h="720" fill="none">
                  <a:moveTo>
                    <a:pt x="0" y="720"/>
                  </a:moveTo>
                  <a:lnTo>
                    <a:pt x="0" y="0"/>
                  </a:lnTo>
                </a:path>
              </a:pathLst>
            </a:custGeom>
            <a:noFill/>
            <a:ln w="28575" cap="rnd">
              <a:solidFill>
                <a:srgbClr val="0070C0"/>
              </a:solidFill>
              <a:round/>
              <a:tailEnd type="triangle" w="med" len="med"/>
            </a:ln>
          </p:spPr>
        </p:sp>
        <p:sp>
          <p:nvSpPr>
            <p:cNvPr id="75" name="Rótulo Piruvato carboxila"/>
            <p:cNvSpPr/>
            <p:nvPr/>
          </p:nvSpPr>
          <p:spPr>
            <a:xfrm>
              <a:off x="4078444" y="4672584"/>
              <a:ext cx="1627191"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Piruvato carboxilasa (PC)</a:t>
              </a:r>
              <a:endParaRPr lang="es-AR" sz="1000" dirty="0">
                <a:latin typeface="Fira Sans Condensed"/>
              </a:endParaRPr>
            </a:p>
          </p:txBody>
        </p:sp>
      </p:grpSp>
      <p:grpSp>
        <p:nvGrpSpPr>
          <p:cNvPr id="76" name="Flecha oaa→pep"/>
          <p:cNvGrpSpPr/>
          <p:nvPr/>
        </p:nvGrpSpPr>
        <p:grpSpPr>
          <a:xfrm>
            <a:off x="3886200" y="4206240"/>
            <a:ext cx="1188720" cy="1097280"/>
            <a:chOff x="3886200" y="4206240"/>
            <a:chExt cx="1188720" cy="1097280"/>
          </a:xfrm>
        </p:grpSpPr>
        <p:sp>
          <p:nvSpPr>
            <p:cNvPr id="77" name="Flecha 106_2"/>
            <p:cNvSpPr/>
            <p:nvPr/>
          </p:nvSpPr>
          <p:spPr>
            <a:xfrm>
              <a:off x="3886200" y="4206240"/>
              <a:ext cx="1188720" cy="1097280"/>
            </a:xfrm>
            <a:custGeom>
              <a:avLst/>
              <a:gdLst/>
              <a:ahLst/>
              <a:cxnLst/>
              <a:rect l="0" t="0" r="r" b="b"/>
              <a:pathLst>
                <a:path w="1299" h="1200" fill="none">
                  <a:moveTo>
                    <a:pt x="1299" y="0"/>
                  </a:moveTo>
                  <a:lnTo>
                    <a:pt x="0" y="1200"/>
                  </a:lnTo>
                </a:path>
              </a:pathLst>
            </a:custGeom>
            <a:noFill/>
            <a:ln w="28575" cap="rnd">
              <a:solidFill>
                <a:srgbClr val="0070C0"/>
              </a:solidFill>
              <a:round/>
              <a:tailEnd type="triangle" w="med" len="med"/>
            </a:ln>
          </p:spPr>
        </p:sp>
        <p:sp>
          <p:nvSpPr>
            <p:cNvPr id="78" name="Rótulo PEPCK"/>
            <p:cNvSpPr/>
            <p:nvPr/>
          </p:nvSpPr>
          <p:spPr>
            <a:xfrm>
              <a:off x="4189610" y="4398264"/>
              <a:ext cx="581900"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PEPCK</a:t>
              </a:r>
              <a:endParaRPr lang="es-AR" sz="1000" dirty="0">
                <a:latin typeface="Fira Sans Condensed"/>
              </a:endParaRPr>
            </a:p>
          </p:txBody>
        </p:sp>
      </p:grpSp>
      <p:grpSp>
        <p:nvGrpSpPr>
          <p:cNvPr id="79" name="Flecha pyr→acoa"/>
          <p:cNvGrpSpPr/>
          <p:nvPr/>
        </p:nvGrpSpPr>
        <p:grpSpPr>
          <a:xfrm>
            <a:off x="6986016" y="5015484"/>
            <a:ext cx="841248" cy="411480"/>
            <a:chOff x="6986016" y="5015484"/>
            <a:chExt cx="841248" cy="411480"/>
          </a:xfrm>
        </p:grpSpPr>
        <p:sp>
          <p:nvSpPr>
            <p:cNvPr id="80" name="Flecha 110_2"/>
            <p:cNvSpPr/>
            <p:nvPr/>
          </p:nvSpPr>
          <p:spPr>
            <a:xfrm>
              <a:off x="6986016" y="5417820"/>
              <a:ext cx="841248" cy="9144"/>
            </a:xfrm>
            <a:custGeom>
              <a:avLst/>
              <a:gdLst/>
              <a:ahLst/>
              <a:cxnLst/>
              <a:rect l="0" t="0" r="r" b="b"/>
              <a:pathLst>
                <a:path w="920" h="10" fill="none">
                  <a:moveTo>
                    <a:pt x="0" y="0"/>
                  </a:moveTo>
                  <a:lnTo>
                    <a:pt x="920" y="0"/>
                  </a:lnTo>
                </a:path>
              </a:pathLst>
            </a:custGeom>
            <a:noFill/>
            <a:ln w="28575" cap="rnd">
              <a:solidFill>
                <a:srgbClr val="1E1E1E"/>
              </a:solidFill>
              <a:round/>
              <a:tailEnd type="triangle" w="med" len="med"/>
            </a:ln>
          </p:spPr>
        </p:sp>
        <p:sp>
          <p:nvSpPr>
            <p:cNvPr id="81" name="Rótulo PDH"/>
            <p:cNvSpPr/>
            <p:nvPr/>
          </p:nvSpPr>
          <p:spPr>
            <a:xfrm>
              <a:off x="7178613" y="5015484"/>
              <a:ext cx="456053"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PDH</a:t>
              </a:r>
              <a:endParaRPr lang="es-AR" sz="1000" dirty="0">
                <a:latin typeface="Fira Sans Condensed"/>
              </a:endParaRPr>
            </a:p>
          </p:txBody>
        </p:sp>
      </p:grpSp>
      <p:sp>
        <p:nvSpPr>
          <p:cNvPr id="82" name="Flecha acoa→oaa"/>
          <p:cNvSpPr/>
          <p:nvPr/>
        </p:nvSpPr>
        <p:spPr>
          <a:xfrm>
            <a:off x="6995160" y="4178808"/>
            <a:ext cx="1417320" cy="960120"/>
          </a:xfrm>
          <a:custGeom>
            <a:avLst/>
            <a:gdLst/>
            <a:ahLst/>
            <a:cxnLst/>
            <a:rect l="0" t="0" r="r" b="b"/>
            <a:pathLst>
              <a:path w="1549" h="1049" fill="none">
                <a:moveTo>
                  <a:pt x="1549" y="1049"/>
                </a:moveTo>
                <a:lnTo>
                  <a:pt x="1549" y="0"/>
                </a:lnTo>
                <a:lnTo>
                  <a:pt x="0" y="0"/>
                </a:lnTo>
              </a:path>
            </a:pathLst>
          </a:custGeom>
          <a:noFill/>
          <a:ln w="28575" cap="rnd">
            <a:solidFill>
              <a:srgbClr val="1E8C3A"/>
            </a:solidFill>
            <a:round/>
            <a:tailEnd type="triangle" w="med" len="med"/>
          </a:ln>
        </p:spPr>
      </p:sp>
      <p:sp>
        <p:nvSpPr>
          <p:cNvPr id="83" name="Flecha lac→pyr"/>
          <p:cNvSpPr/>
          <p:nvPr/>
        </p:nvSpPr>
        <p:spPr>
          <a:xfrm>
            <a:off x="5440680" y="5696712"/>
            <a:ext cx="137160" cy="338328"/>
          </a:xfrm>
          <a:custGeom>
            <a:avLst/>
            <a:gdLst/>
            <a:ahLst/>
            <a:cxnLst/>
            <a:rect l="0" t="0" r="r" b="b"/>
            <a:pathLst>
              <a:path w="149" h="369" fill="none">
                <a:moveTo>
                  <a:pt x="0" y="369"/>
                </a:moveTo>
                <a:lnTo>
                  <a:pt x="149" y="0"/>
                </a:lnTo>
              </a:path>
            </a:pathLst>
          </a:custGeom>
          <a:noFill/>
          <a:ln w="28575" cap="rnd">
            <a:solidFill>
              <a:srgbClr val="2563B0"/>
            </a:solidFill>
            <a:prstDash val="dash"/>
            <a:round/>
            <a:tailEnd type="triangle" w="med" len="med"/>
          </a:ln>
        </p:spPr>
      </p:sp>
      <p:sp>
        <p:nvSpPr>
          <p:cNvPr id="84" name="Flecha ala→pyr"/>
          <p:cNvSpPr/>
          <p:nvPr/>
        </p:nvSpPr>
        <p:spPr>
          <a:xfrm>
            <a:off x="6400800" y="5696712"/>
            <a:ext cx="914400" cy="338328"/>
          </a:xfrm>
          <a:custGeom>
            <a:avLst/>
            <a:gdLst/>
            <a:ahLst/>
            <a:cxnLst/>
            <a:rect l="0" t="0" r="r" b="b"/>
            <a:pathLst>
              <a:path w="1000" h="369" fill="none">
                <a:moveTo>
                  <a:pt x="1000" y="369"/>
                </a:moveTo>
                <a:lnTo>
                  <a:pt x="0" y="0"/>
                </a:lnTo>
              </a:path>
            </a:pathLst>
          </a:custGeom>
          <a:noFill/>
          <a:ln w="28575" cap="rnd">
            <a:solidFill>
              <a:srgbClr val="2563B0"/>
            </a:solidFill>
            <a:prstDash val="dash"/>
            <a:round/>
            <a:tailEnd type="triangle" w="med" len="med"/>
          </a:ln>
        </p:spPr>
      </p:sp>
      <p:sp>
        <p:nvSpPr>
          <p:cNvPr id="85" name="Flecha gly→fbp"/>
          <p:cNvSpPr/>
          <p:nvPr/>
        </p:nvSpPr>
        <p:spPr>
          <a:xfrm>
            <a:off x="3886200" y="2880360"/>
            <a:ext cx="3931920" cy="1508760"/>
          </a:xfrm>
          <a:custGeom>
            <a:avLst/>
            <a:gdLst/>
            <a:ahLst/>
            <a:cxnLst/>
            <a:rect l="0" t="0" r="r" b="b"/>
            <a:pathLst>
              <a:path w="4300" h="1650" fill="none">
                <a:moveTo>
                  <a:pt x="4300" y="0"/>
                </a:moveTo>
                <a:lnTo>
                  <a:pt x="349" y="0"/>
                </a:lnTo>
                <a:lnTo>
                  <a:pt x="349" y="1650"/>
                </a:lnTo>
                <a:lnTo>
                  <a:pt x="0" y="1650"/>
                </a:lnTo>
              </a:path>
            </a:pathLst>
          </a:custGeom>
          <a:noFill/>
          <a:ln w="28575" cap="rnd">
            <a:solidFill>
              <a:srgbClr val="2563B0"/>
            </a:solidFill>
            <a:prstDash val="dash"/>
            <a:round/>
            <a:tailEnd type="triangle" w="med" len="med"/>
          </a:ln>
        </p:spPr>
      </p:sp>
      <p:sp>
        <p:nvSpPr>
          <p:cNvPr id="86" name="Nodo g"/>
          <p:cNvSpPr/>
          <p:nvPr/>
        </p:nvSpPr>
        <p:spPr>
          <a:xfrm>
            <a:off x="1828800" y="109728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GLUCOSA</a:t>
            </a:r>
            <a:endParaRPr lang="es-AR" sz="1500" dirty="0">
              <a:latin typeface="Fira Sans Condensed"/>
            </a:endParaRPr>
          </a:p>
        </p:txBody>
      </p:sp>
      <p:sp>
        <p:nvSpPr>
          <p:cNvPr id="87" name="Nodo g6p"/>
          <p:cNvSpPr/>
          <p:nvPr/>
        </p:nvSpPr>
        <p:spPr>
          <a:xfrm>
            <a:off x="1828800" y="214884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GLUCOSA-6-P</a:t>
            </a:r>
            <a:endParaRPr lang="es-AR" sz="1400" dirty="0">
              <a:latin typeface="Fira Sans Condensed"/>
            </a:endParaRPr>
          </a:p>
        </p:txBody>
      </p:sp>
      <p:sp>
        <p:nvSpPr>
          <p:cNvPr id="88" name="Nodo f6p"/>
          <p:cNvSpPr/>
          <p:nvPr/>
        </p:nvSpPr>
        <p:spPr>
          <a:xfrm>
            <a:off x="1828800" y="315468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FRUCTOSA-6-P</a:t>
            </a:r>
            <a:endParaRPr lang="es-AR" sz="1400" dirty="0">
              <a:latin typeface="Fira Sans Condensed"/>
            </a:endParaRPr>
          </a:p>
        </p:txBody>
      </p:sp>
      <p:sp>
        <p:nvSpPr>
          <p:cNvPr id="89" name="Nodo fbp"/>
          <p:cNvSpPr/>
          <p:nvPr/>
        </p:nvSpPr>
        <p:spPr>
          <a:xfrm>
            <a:off x="1828800" y="416052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FRUCTOSA-1,6-BP</a:t>
            </a:r>
            <a:endParaRPr lang="es-AR" sz="1300" dirty="0">
              <a:latin typeface="Fira Sans Condensed"/>
            </a:endParaRPr>
          </a:p>
        </p:txBody>
      </p:sp>
      <p:sp>
        <p:nvSpPr>
          <p:cNvPr id="90" name="Nodo pep"/>
          <p:cNvSpPr/>
          <p:nvPr/>
        </p:nvSpPr>
        <p:spPr>
          <a:xfrm>
            <a:off x="1828800" y="516636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FOSFOENOLPIRUVATO</a:t>
            </a:r>
            <a:endParaRPr lang="es-AR" sz="1250" dirty="0">
              <a:latin typeface="Fira Sans Condensed"/>
            </a:endParaRPr>
          </a:p>
        </p:txBody>
      </p:sp>
      <p:sp>
        <p:nvSpPr>
          <p:cNvPr id="91" name="Nodo pyr"/>
          <p:cNvSpPr/>
          <p:nvPr/>
        </p:nvSpPr>
        <p:spPr>
          <a:xfrm>
            <a:off x="5120640" y="516636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PIRUVATO</a:t>
            </a:r>
            <a:endParaRPr lang="es-AR" sz="1500" dirty="0">
              <a:latin typeface="Fira Sans Condensed"/>
            </a:endParaRPr>
          </a:p>
        </p:txBody>
      </p:sp>
      <p:sp>
        <p:nvSpPr>
          <p:cNvPr id="92" name="Nodo oaa"/>
          <p:cNvSpPr/>
          <p:nvPr/>
        </p:nvSpPr>
        <p:spPr>
          <a:xfrm>
            <a:off x="5120640" y="393192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OXALACETATO</a:t>
            </a:r>
            <a:endParaRPr lang="es-AR" sz="1400" dirty="0">
              <a:latin typeface="Fira Sans Condensed"/>
            </a:endParaRPr>
          </a:p>
        </p:txBody>
      </p:sp>
      <p:sp>
        <p:nvSpPr>
          <p:cNvPr id="93" name="Nodo acoa"/>
          <p:cNvSpPr/>
          <p:nvPr/>
        </p:nvSpPr>
        <p:spPr>
          <a:xfrm>
            <a:off x="7863840" y="516636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ACETIL-COA</a:t>
            </a:r>
            <a:endParaRPr lang="es-AR" sz="1500" dirty="0">
              <a:latin typeface="Fira Sans Condensed"/>
            </a:endParaRPr>
          </a:p>
        </p:txBody>
      </p:sp>
      <p:sp>
        <p:nvSpPr>
          <p:cNvPr id="94" name="Nodo lac"/>
          <p:cNvSpPr/>
          <p:nvPr/>
        </p:nvSpPr>
        <p:spPr>
          <a:xfrm>
            <a:off x="4480560" y="6035040"/>
            <a:ext cx="1828800" cy="38404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Lactato (Cori)</a:t>
            </a:r>
            <a:endParaRPr lang="es-AR" sz="1250" dirty="0">
              <a:latin typeface="Fira Sans Condensed"/>
            </a:endParaRPr>
          </a:p>
        </p:txBody>
      </p:sp>
      <p:sp>
        <p:nvSpPr>
          <p:cNvPr id="95" name="Nodo ala"/>
          <p:cNvSpPr/>
          <p:nvPr/>
        </p:nvSpPr>
        <p:spPr>
          <a:xfrm>
            <a:off x="6629400" y="6035040"/>
            <a:ext cx="2011680" cy="38404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Alanina (Cahill)</a:t>
            </a:r>
            <a:endParaRPr lang="es-AR" sz="1250" dirty="0">
              <a:latin typeface="Fira Sans Condensed"/>
            </a:endParaRPr>
          </a:p>
        </p:txBody>
      </p:sp>
      <p:sp>
        <p:nvSpPr>
          <p:cNvPr id="96" name="Nodo gly"/>
          <p:cNvSpPr/>
          <p:nvPr/>
        </p:nvSpPr>
        <p:spPr>
          <a:xfrm>
            <a:off x="7863840" y="2651760"/>
            <a:ext cx="393192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Glicerol (lipólisis) → DHAP</a:t>
            </a:r>
            <a:endParaRPr lang="es-AR" sz="1300" dirty="0">
              <a:latin typeface="Fira Sans Condensed"/>
            </a:endParaRPr>
          </a:p>
        </p:txBody>
      </p:sp>
      <p:grpSp>
        <p:nvGrpSpPr>
          <p:cNvPr id="97" name="Acetil-CoA inhibe PDH"/>
          <p:cNvGrpSpPr/>
          <p:nvPr/>
        </p:nvGrpSpPr>
        <p:grpSpPr>
          <a:xfrm>
            <a:off x="7351776" y="5413248"/>
            <a:ext cx="2798064" cy="576072"/>
            <a:chOff x="7351776" y="5413248"/>
            <a:chExt cx="2798064" cy="576072"/>
          </a:xfrm>
        </p:grpSpPr>
        <p:sp>
          <p:nvSpPr>
            <p:cNvPr id="98" name="Flecha 129_2"/>
            <p:cNvSpPr/>
            <p:nvPr/>
          </p:nvSpPr>
          <p:spPr>
            <a:xfrm>
              <a:off x="7452360" y="5413248"/>
              <a:ext cx="2697480" cy="576072"/>
            </a:xfrm>
            <a:custGeom>
              <a:avLst/>
              <a:gdLst/>
              <a:ahLst/>
              <a:cxnLst/>
              <a:rect l="0" t="0" r="r" b="b"/>
              <a:pathLst>
                <a:path w="2949" h="629" fill="none">
                  <a:moveTo>
                    <a:pt x="2500" y="0"/>
                  </a:moveTo>
                  <a:lnTo>
                    <a:pt x="2949" y="0"/>
                  </a:lnTo>
                  <a:lnTo>
                    <a:pt x="2949" y="629"/>
                  </a:lnTo>
                  <a:lnTo>
                    <a:pt x="0" y="629"/>
                  </a:lnTo>
                  <a:lnTo>
                    <a:pt x="0" y="80"/>
                  </a:lnTo>
                </a:path>
              </a:pathLst>
            </a:custGeom>
            <a:noFill/>
            <a:ln w="31750" cap="rnd">
              <a:solidFill>
                <a:srgbClr val="C00000"/>
              </a:solidFill>
              <a:round/>
            </a:ln>
          </p:spPr>
        </p:sp>
        <p:sp>
          <p:nvSpPr>
            <p:cNvPr id="99" name="Flecha 131_2"/>
            <p:cNvSpPr/>
            <p:nvPr/>
          </p:nvSpPr>
          <p:spPr>
            <a:xfrm>
              <a:off x="7351776" y="5486400"/>
              <a:ext cx="201168" cy="9144"/>
            </a:xfrm>
            <a:custGeom>
              <a:avLst/>
              <a:gdLst/>
              <a:ahLst/>
              <a:cxnLst/>
              <a:rect l="0" t="0" r="r" b="b"/>
              <a:pathLst>
                <a:path w="219" h="10" fill="none">
                  <a:moveTo>
                    <a:pt x="0" y="0"/>
                  </a:moveTo>
                  <a:lnTo>
                    <a:pt x="219" y="0"/>
                  </a:lnTo>
                </a:path>
              </a:pathLst>
            </a:custGeom>
            <a:noFill/>
            <a:ln w="50800" cap="rnd">
              <a:solidFill>
                <a:srgbClr val="C00000"/>
              </a:solidFill>
              <a:round/>
            </a:ln>
          </p:spPr>
        </p:sp>
      </p:grpSp>
      <p:sp>
        <p:nvSpPr>
          <p:cNvPr id="100" name="Forma 133"/>
          <p:cNvSpPr txBox="1"/>
          <p:nvPr/>
        </p:nvSpPr>
        <p:spPr>
          <a:xfrm>
            <a:off x="8823960" y="6035040"/>
            <a:ext cx="1371600" cy="274320"/>
          </a:xfrm>
          <a:prstGeom prst="rect">
            <a:avLst/>
          </a:prstGeom>
          <a:noFill/>
          <a:ln>
            <a:noFill/>
          </a:ln>
        </p:spPr>
        <p:txBody>
          <a:bodyPr wrap="square" lIns="0" tIns="0" rIns="0" bIns="0" anchor="ctr" rtlCol="0">
            <a:noAutofit/>
          </a:bodyPr>
          <a:lstStyle/>
          <a:p>
            <a:pPr algn="ctr">
              <a:spcAft>
                <a:spcPts val="300"/>
              </a:spcAft>
              <a:buNone/>
            </a:pPr>
            <a:r>
              <a:rPr lang="es-AR" sz="11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 inhibe PDH</a:t>
            </a:r>
            <a:endParaRPr lang="es-AR" sz="1100" dirty="0">
              <a:latin typeface="Fira Sans Condensed"/>
            </a:endParaRPr>
          </a:p>
        </p:txBody>
      </p:sp>
      <p:sp>
        <p:nvSpPr>
          <p:cNvPr id="101" name="Forma 134"/>
          <p:cNvSpPr txBox="1"/>
          <p:nvPr/>
        </p:nvSpPr>
        <p:spPr>
          <a:xfrm>
            <a:off x="8503920" y="4434840"/>
            <a:ext cx="1463040" cy="274320"/>
          </a:xfrm>
          <a:prstGeom prst="rect">
            <a:avLst/>
          </a:prstGeom>
          <a:noFill/>
          <a:ln>
            <a:noFill/>
          </a:ln>
        </p:spPr>
        <p:txBody>
          <a:bodyPr wrap="square" lIns="0" tIns="0" rIns="0" bIns="0" anchor="ctr" rtlCol="0">
            <a:noAutofit/>
          </a:bodyPr>
          <a:lstStyle/>
          <a:p>
            <a:pPr algn="ctr" marL="132714" indent="-132714">
              <a:spcAft>
                <a:spcPts val="300"/>
              </a:spcAft>
              <a:buClr>
                <a:srgbClr val="1E8C3A"/>
              </a:buClr>
              <a:buFont typeface="Wingdings" pitchFamily="2" charset="2"/>
              <a:buChar char="ü"/>
            </a:pPr>
            <a:r>
              <a:rPr lang="es-AR" sz="1100" b="1" dirty="0">
                <a:solidFill>
                  <a:srgbClr val="1E8C3A"/>
                </a:solidFill>
                <a:effectLst>
                  <a:glow rad="101600">
                    <a:srgbClr val="FFFFFF">
                      <a:alpha val="70000"/>
                    </a:srgbClr>
                  </a:glow>
                </a:effectLst>
                <a:latin typeface="Fira Sans Condensed"/>
                <a:ea typeface="Fira Sans Condensed"/>
                <a:cs typeface="Fira Sans Condensed"/>
                <a:sym typeface="Fira Sans Condensed"/>
              </a:rPr>
              <a:t>activa PC</a:t>
            </a:r>
            <a:endParaRPr lang="es-AR" sz="110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GLUCÓLISIS Y GLUCONEOGÉNESIS: PASOS REGULADOS</a:t>
            </a:r>
            <a:endParaRPr lang="es-AR" sz="30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0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39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6"/>
                                        </p:tgtEl>
                                        <p:attrNameLst>
                                          <p:attrName>style.visibility</p:attrName>
                                        </p:attrNameLst>
                                      </p:cBhvr>
                                      <p:to>
                                        <p:strVal val="visible"/>
                                      </p:to>
                                    </p:set>
                                    <p:animEffect transition="in" filter="fade">
                                      <p:cBhvr>
                                        <p:cTn id="5" dur="400"/>
                                        <p:tgtEl>
                                          <p:spTgt spid="86"/>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56"/>
                                        </p:tgtEl>
                                        <p:attrNameLst>
                                          <p:attrName>style.visibility</p:attrName>
                                        </p:attrNameLst>
                                      </p:cBhvr>
                                      <p:to>
                                        <p:strVal val="visible"/>
                                      </p:to>
                                    </p:set>
                                    <p:animEffect transition="in" filter="wipe(up)">
                                      <p:cBhvr>
                                        <p:cTn id="9" dur="500"/>
                                        <p:tgtEl>
                                          <p:spTgt spid="56"/>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400"/>
                                        <p:tgtEl>
                                          <p:spTgt spid="87"/>
                                        </p:tgtEl>
                                      </p:cBhvr>
                                    </p:animEffect>
                                  </p:childTnLst>
                                </p:cTn>
                              </p:par>
                            </p:childTnLst>
                          </p:cTn>
                        </p:par>
                        <p:par>
                          <p:cTn id="18" fill="hold">
                            <p:stCondLst>
                              <p:cond delay="1300"/>
                            </p:stCondLst>
                            <p:childTnLst>
                              <p:par>
                                <p:cTn id="15" presetID="22" presetClass="entr" presetSubtype="1" fill="hold" grpId="0" nodeType="after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wipe(up)">
                                      <p:cBhvr>
                                        <p:cTn id="17" dur="500"/>
                                        <p:tgtEl>
                                          <p:spTgt spid="62"/>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88"/>
                                        </p:tgtEl>
                                        <p:attrNameLst>
                                          <p:attrName>style.visibility</p:attrName>
                                        </p:attrNameLst>
                                      </p:cBhvr>
                                      <p:to>
                                        <p:strVal val="visible"/>
                                      </p:to>
                                    </p:set>
                                    <p:animEffect transition="in" filter="fade">
                                      <p:cBhvr>
                                        <p:cTn id="21" dur="400"/>
                                        <p:tgtEl>
                                          <p:spTgt spid="88"/>
                                        </p:tgtEl>
                                      </p:cBhvr>
                                    </p:animEffect>
                                  </p:childTnLst>
                                </p:cTn>
                              </p:par>
                            </p:childTnLst>
                          </p:cTn>
                        </p:par>
                        <p:par>
                          <p:cTn id="26" fill="hold">
                            <p:stCondLst>
                              <p:cond delay="2200"/>
                            </p:stCondLst>
                            <p:childTnLst>
                              <p:par>
                                <p:cTn id="23" presetID="22" presetClass="entr" presetSubtype="1" fill="hold" grpId="0" nodeType="after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wipe(up)">
                                      <p:cBhvr>
                                        <p:cTn id="25" dur="500"/>
                                        <p:tgtEl>
                                          <p:spTgt spid="63"/>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89"/>
                                        </p:tgtEl>
                                        <p:attrNameLst>
                                          <p:attrName>style.visibility</p:attrName>
                                        </p:attrNameLst>
                                      </p:cBhvr>
                                      <p:to>
                                        <p:strVal val="visible"/>
                                      </p:to>
                                    </p:set>
                                    <p:animEffect transition="in" filter="fade">
                                      <p:cBhvr>
                                        <p:cTn id="29" dur="400"/>
                                        <p:tgtEl>
                                          <p:spTgt spid="89"/>
                                        </p:tgtEl>
                                      </p:cBhvr>
                                    </p:animEffect>
                                  </p:childTnLst>
                                </p:cTn>
                              </p:par>
                            </p:childTnLst>
                          </p:cTn>
                        </p:par>
                        <p:par>
                          <p:cTn id="34" fill="hold">
                            <p:stCondLst>
                              <p:cond delay="3100"/>
                            </p:stCondLst>
                            <p:childTnLst>
                              <p:par>
                                <p:cTn id="31" presetID="22" presetClass="entr" presetSubtype="1" fill="hold" grpId="0" nodeType="after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wipe(up)">
                                      <p:cBhvr>
                                        <p:cTn id="33" dur="500"/>
                                        <p:tgtEl>
                                          <p:spTgt spid="69"/>
                                        </p:tgtEl>
                                      </p:cBhvr>
                                    </p:animEffect>
                                  </p:childTnLst>
                                </p:cTn>
                              </p:par>
                            </p:childTnLst>
                          </p:cTn>
                        </p:par>
                        <p:par>
                          <p:cTn id="38" fill="hold">
                            <p:stCondLst>
                              <p:cond delay="3600"/>
                            </p:stCondLst>
                            <p:childTnLst>
                              <p:par>
                                <p:cTn id="35" presetID="10" presetClass="entr" presetSubtype="0" fill="hold" grpId="0" nodeType="afterEffect">
                                  <p:stCondLst>
                                    <p:cond delay="0"/>
                                  </p:stCondLst>
                                  <p:childTnLst>
                                    <p:set>
                                      <p:cBhvr>
                                        <p:cTn id="36" dur="1" fill="hold">
                                          <p:stCondLst>
                                            <p:cond delay="0"/>
                                          </p:stCondLst>
                                        </p:cTn>
                                        <p:tgtEl>
                                          <p:spTgt spid="90"/>
                                        </p:tgtEl>
                                        <p:attrNameLst>
                                          <p:attrName>style.visibility</p:attrName>
                                        </p:attrNameLst>
                                      </p:cBhvr>
                                      <p:to>
                                        <p:strVal val="visible"/>
                                      </p:to>
                                    </p:set>
                                    <p:animEffect transition="in" filter="fade">
                                      <p:cBhvr>
                                        <p:cTn id="37" dur="400"/>
                                        <p:tgtEl>
                                          <p:spTgt spid="90"/>
                                        </p:tgtEl>
                                      </p:cBhvr>
                                    </p:animEffect>
                                  </p:childTnLst>
                                </p:cTn>
                              </p:par>
                            </p:childTnLst>
                          </p:cTn>
                        </p:par>
                        <p:par>
                          <p:cTn id="42"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wipe(left)">
                                      <p:cBhvr>
                                        <p:cTn id="41" dur="500"/>
                                        <p:tgtEl>
                                          <p:spTgt spid="70"/>
                                        </p:tgtEl>
                                      </p:cBhvr>
                                    </p:animEffect>
                                  </p:childTnLst>
                                </p:cTn>
                              </p:par>
                            </p:childTnLst>
                          </p:cTn>
                        </p:par>
                        <p:par>
                          <p:cTn id="46" fill="hold">
                            <p:stCondLst>
                              <p:cond delay="4500"/>
                            </p:stCondLst>
                            <p:childTnLst>
                              <p:par>
                                <p:cTn id="43" presetID="10" presetClass="entr" presetSubtype="0" fill="hold" grpId="0" nodeType="afterEffect">
                                  <p:stCondLst>
                                    <p:cond delay="0"/>
                                  </p:stCondLst>
                                  <p:childTnLst>
                                    <p:set>
                                      <p:cBhvr>
                                        <p:cTn id="44" dur="1" fill="hold">
                                          <p:stCondLst>
                                            <p:cond delay="0"/>
                                          </p:stCondLst>
                                        </p:cTn>
                                        <p:tgtEl>
                                          <p:spTgt spid="91"/>
                                        </p:tgtEl>
                                        <p:attrNameLst>
                                          <p:attrName>style.visibility</p:attrName>
                                        </p:attrNameLst>
                                      </p:cBhvr>
                                      <p:to>
                                        <p:strVal val="visible"/>
                                      </p:to>
                                    </p:set>
                                    <p:animEffect transition="in" filter="fade">
                                      <p:cBhvr>
                                        <p:cTn id="45" dur="400"/>
                                        <p:tgtEl>
                                          <p:spTgt spid="91"/>
                                        </p:tgtEl>
                                      </p:cBhvr>
                                    </p:animEffect>
                                  </p:childTnLst>
                                </p:cTn>
                              </p:par>
                            </p:childTnLst>
                          </p:cTn>
                        </p:par>
                      </p:childTnLst>
                    </p:cTn>
                  </p:par>
                  <p:par>
                    <p:cTn id="56" fill="hold">
                      <p:stCondLst>
                        <p:cond delay="indefinite"/>
                      </p:stCondLst>
                      <p:childTnLst>
                        <p:par>
                          <p:cTn id="51"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9"/>
                                        </p:tgtEl>
                                        <p:attrNameLst>
                                          <p:attrName>style.visibility</p:attrName>
                                        </p:attrNameLst>
                                      </p:cBhvr>
                                      <p:to>
                                        <p:strVal val="visible"/>
                                      </p:to>
                                    </p:set>
                                    <p:animEffect transition="in" filter="wipe(left)">
                                      <p:cBhvr>
                                        <p:cTn id="50" dur="500"/>
                                        <p:tgtEl>
                                          <p:spTgt spid="79"/>
                                        </p:tgtEl>
                                      </p:cBhvr>
                                    </p:animEffect>
                                  </p:childTnLst>
                                </p:cTn>
                              </p:par>
                            </p:childTnLst>
                          </p:cTn>
                        </p:par>
                        <p:par>
                          <p:cTn id="55"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93"/>
                                        </p:tgtEl>
                                        <p:attrNameLst>
                                          <p:attrName>style.visibility</p:attrName>
                                        </p:attrNameLst>
                                      </p:cBhvr>
                                      <p:to>
                                        <p:strVal val="visible"/>
                                      </p:to>
                                    </p:set>
                                    <p:animEffect transition="in" filter="fade">
                                      <p:cBhvr>
                                        <p:cTn id="54" dur="400"/>
                                        <p:tgtEl>
                                          <p:spTgt spid="93"/>
                                        </p:tgtEl>
                                      </p:cBhvr>
                                    </p:animEffect>
                                  </p:childTnLst>
                                </p:cTn>
                              </p:par>
                            </p:childTnLst>
                          </p:cTn>
                        </p:par>
                      </p:childTnLst>
                    </p:cTn>
                  </p:par>
                  <p:par>
                    <p:cTn id="77" fill="hold">
                      <p:stCondLst>
                        <p:cond delay="indefinite"/>
                      </p:stCondLst>
                      <p:childTnLst>
                        <p:par>
                          <p:cTn id="60"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wipe(down)">
                                      <p:cBhvr>
                                        <p:cTn id="59" dur="500"/>
                                        <p:tgtEl>
                                          <p:spTgt spid="73"/>
                                        </p:tgtEl>
                                      </p:cBhvr>
                                    </p:animEffect>
                                  </p:childTnLst>
                                </p:cTn>
                              </p:par>
                            </p:childTnLst>
                          </p:cTn>
                        </p:par>
                        <p:par>
                          <p:cTn id="64"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92"/>
                                        </p:tgtEl>
                                        <p:attrNameLst>
                                          <p:attrName>style.visibility</p:attrName>
                                        </p:attrNameLst>
                                      </p:cBhvr>
                                      <p:to>
                                        <p:strVal val="visible"/>
                                      </p:to>
                                    </p:set>
                                    <p:animEffect transition="in" filter="fade">
                                      <p:cBhvr>
                                        <p:cTn id="63" dur="400"/>
                                        <p:tgtEl>
                                          <p:spTgt spid="92"/>
                                        </p:tgtEl>
                                      </p:cBhvr>
                                    </p:animEffect>
                                  </p:childTnLst>
                                </p:cTn>
                              </p:par>
                            </p:childTnLst>
                          </p:cTn>
                        </p:par>
                        <p:par>
                          <p:cTn id="68" fill="hold">
                            <p:stCondLst>
                              <p:cond delay="900"/>
                            </p:stCondLst>
                            <p:childTnLst>
                              <p:par>
                                <p:cTn id="65" presetID="22" presetClass="entr" presetSubtype="8" fill="hold" grpId="0" nodeType="after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wipe(left)">
                                      <p:cBhvr>
                                        <p:cTn id="67" dur="500"/>
                                        <p:tgtEl>
                                          <p:spTgt spid="76"/>
                                        </p:tgtEl>
                                      </p:cBhvr>
                                    </p:animEffect>
                                  </p:childTnLst>
                                </p:cTn>
                              </p:par>
                            </p:childTnLst>
                          </p:cTn>
                        </p:par>
                        <p:par>
                          <p:cTn id="72" fill="hold">
                            <p:stCondLst>
                              <p:cond delay="1400"/>
                            </p:stCondLst>
                            <p:childTnLst>
                              <p:par>
                                <p:cTn id="69" presetID="22" presetClass="entr" presetSubtype="8" fill="hold" grpId="0" nodeType="afterEffect">
                                  <p:stCondLst>
                                    <p:cond delay="0"/>
                                  </p:stCondLst>
                                  <p:childTnLst>
                                    <p:set>
                                      <p:cBhvr>
                                        <p:cTn id="70" dur="1" fill="hold">
                                          <p:stCondLst>
                                            <p:cond delay="0"/>
                                          </p:stCondLst>
                                        </p:cTn>
                                        <p:tgtEl>
                                          <p:spTgt spid="66"/>
                                        </p:tgtEl>
                                        <p:attrNameLst>
                                          <p:attrName>style.visibility</p:attrName>
                                        </p:attrNameLst>
                                      </p:cBhvr>
                                      <p:to>
                                        <p:strVal val="visible"/>
                                      </p:to>
                                    </p:set>
                                    <p:animEffect transition="in" filter="wipe(left)">
                                      <p:cBhvr>
                                        <p:cTn id="71" dur="500"/>
                                        <p:tgtEl>
                                          <p:spTgt spid="66"/>
                                        </p:tgtEl>
                                      </p:cBhvr>
                                    </p:animEffect>
                                  </p:childTnLst>
                                </p:cTn>
                              </p:par>
                            </p:childTnLst>
                          </p:cTn>
                        </p:par>
                        <p:par>
                          <p:cTn id="76" fill="hold">
                            <p:stCondLst>
                              <p:cond delay="1900"/>
                            </p:stCondLst>
                            <p:childTnLst>
                              <p:par>
                                <p:cTn id="73" presetID="22" presetClass="entr" presetSubtype="8" fill="hold" grpId="0" nodeType="after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wipe(left)">
                                      <p:cBhvr>
                                        <p:cTn id="75" dur="500"/>
                                        <p:tgtEl>
                                          <p:spTgt spid="59"/>
                                        </p:tgtEl>
                                      </p:cBhvr>
                                    </p:animEffect>
                                  </p:childTnLst>
                                </p:cTn>
                              </p:par>
                            </p:childTnLst>
                          </p:cTn>
                        </p:par>
                      </p:childTnLst>
                    </p:cTn>
                  </p:par>
                  <p:par>
                    <p:cTn id="82" fill="hold">
                      <p:stCondLst>
                        <p:cond delay="indefinite"/>
                      </p:stCondLst>
                      <p:childTnLst>
                        <p:par>
                          <p:cTn id="81"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82"/>
                                        </p:tgtEl>
                                        <p:attrNameLst>
                                          <p:attrName>style.visibility</p:attrName>
                                        </p:attrNameLst>
                                      </p:cBhvr>
                                      <p:to>
                                        <p:strVal val="visible"/>
                                      </p:to>
                                    </p:set>
                                    <p:animEffect transition="in" filter="wipe(left)">
                                      <p:cBhvr>
                                        <p:cTn id="80" dur="500"/>
                                        <p:tgtEl>
                                          <p:spTgt spid="82"/>
                                        </p:tgtEl>
                                      </p:cBhvr>
                                    </p:animEffect>
                                  </p:childTnLst>
                                </p:cTn>
                              </p:par>
                            </p:childTnLst>
                          </p:cTn>
                        </p:par>
                      </p:childTnLst>
                    </p:cTn>
                  </p:par>
                  <p:par>
                    <p:cTn id="107" fill="hold">
                      <p:stCondLst>
                        <p:cond delay="indefinite"/>
                      </p:stCondLst>
                      <p:childTnLst>
                        <p:par>
                          <p:cTn id="86"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94"/>
                                        </p:tgtEl>
                                        <p:attrNameLst>
                                          <p:attrName>style.visibility</p:attrName>
                                        </p:attrNameLst>
                                      </p:cBhvr>
                                      <p:to>
                                        <p:strVal val="visible"/>
                                      </p:to>
                                    </p:set>
                                    <p:animEffect transition="in" filter="fade">
                                      <p:cBhvr>
                                        <p:cTn id="85" dur="400"/>
                                        <p:tgtEl>
                                          <p:spTgt spid="94"/>
                                        </p:tgtEl>
                                      </p:cBhvr>
                                    </p:animEffect>
                                  </p:childTnLst>
                                </p:cTn>
                              </p:par>
                            </p:childTnLst>
                          </p:cTn>
                        </p:par>
                        <p:par>
                          <p:cTn id="90" fill="hold">
                            <p:stCondLst>
                              <p:cond delay="400"/>
                            </p:stCondLst>
                            <p:childTnLst>
                              <p:par>
                                <p:cTn id="87" presetID="22" presetClass="entr" presetSubtype="8" fill="hold" grpId="0" nodeType="afterEffect">
                                  <p:stCondLst>
                                    <p:cond delay="0"/>
                                  </p:stCondLst>
                                  <p:childTnLst>
                                    <p:set>
                                      <p:cBhvr>
                                        <p:cTn id="88" dur="1" fill="hold">
                                          <p:stCondLst>
                                            <p:cond delay="0"/>
                                          </p:stCondLst>
                                        </p:cTn>
                                        <p:tgtEl>
                                          <p:spTgt spid="83"/>
                                        </p:tgtEl>
                                        <p:attrNameLst>
                                          <p:attrName>style.visibility</p:attrName>
                                        </p:attrNameLst>
                                      </p:cBhvr>
                                      <p:to>
                                        <p:strVal val="visible"/>
                                      </p:to>
                                    </p:set>
                                    <p:animEffect transition="in" filter="wipe(left)">
                                      <p:cBhvr>
                                        <p:cTn id="89" dur="500"/>
                                        <p:tgtEl>
                                          <p:spTgt spid="83"/>
                                        </p:tgtEl>
                                      </p:cBhvr>
                                    </p:animEffect>
                                  </p:childTnLst>
                                </p:cTn>
                              </p:par>
                            </p:childTnLst>
                          </p:cTn>
                        </p:par>
                        <p:par>
                          <p:cTn id="94" fill="hold">
                            <p:stCondLst>
                              <p:cond delay="900"/>
                            </p:stCondLst>
                            <p:childTnLst>
                              <p:par>
                                <p:cTn id="91" presetID="10" presetClass="entr" presetSubtype="0" fill="hold" grpId="0" nodeType="afterEffect">
                                  <p:stCondLst>
                                    <p:cond delay="0"/>
                                  </p:stCondLst>
                                  <p:childTnLst>
                                    <p:set>
                                      <p:cBhvr>
                                        <p:cTn id="92" dur="1" fill="hold">
                                          <p:stCondLst>
                                            <p:cond delay="0"/>
                                          </p:stCondLst>
                                        </p:cTn>
                                        <p:tgtEl>
                                          <p:spTgt spid="95"/>
                                        </p:tgtEl>
                                        <p:attrNameLst>
                                          <p:attrName>style.visibility</p:attrName>
                                        </p:attrNameLst>
                                      </p:cBhvr>
                                      <p:to>
                                        <p:strVal val="visible"/>
                                      </p:to>
                                    </p:set>
                                    <p:animEffect transition="in" filter="fade">
                                      <p:cBhvr>
                                        <p:cTn id="93" dur="400"/>
                                        <p:tgtEl>
                                          <p:spTgt spid="95"/>
                                        </p:tgtEl>
                                      </p:cBhvr>
                                    </p:animEffect>
                                  </p:childTnLst>
                                </p:cTn>
                              </p:par>
                            </p:childTnLst>
                          </p:cTn>
                        </p:par>
                        <p:par>
                          <p:cTn id="98" fill="hold">
                            <p:stCondLst>
                              <p:cond delay="1300"/>
                            </p:stCondLst>
                            <p:childTnLst>
                              <p:par>
                                <p:cTn id="95" presetID="22" presetClass="entr" presetSubtype="8" fill="hold" grpId="0" nodeType="afterEffect">
                                  <p:stCondLst>
                                    <p:cond delay="0"/>
                                  </p:stCondLst>
                                  <p:childTnLst>
                                    <p:set>
                                      <p:cBhvr>
                                        <p:cTn id="96" dur="1" fill="hold">
                                          <p:stCondLst>
                                            <p:cond delay="0"/>
                                          </p:stCondLst>
                                        </p:cTn>
                                        <p:tgtEl>
                                          <p:spTgt spid="84"/>
                                        </p:tgtEl>
                                        <p:attrNameLst>
                                          <p:attrName>style.visibility</p:attrName>
                                        </p:attrNameLst>
                                      </p:cBhvr>
                                      <p:to>
                                        <p:strVal val="visible"/>
                                      </p:to>
                                    </p:set>
                                    <p:animEffect transition="in" filter="wipe(left)">
                                      <p:cBhvr>
                                        <p:cTn id="97" dur="500"/>
                                        <p:tgtEl>
                                          <p:spTgt spid="84"/>
                                        </p:tgtEl>
                                      </p:cBhvr>
                                    </p:animEffect>
                                  </p:childTnLst>
                                </p:cTn>
                              </p:par>
                            </p:childTnLst>
                          </p:cTn>
                        </p:par>
                        <p:par>
                          <p:cTn id="102" fill="hold">
                            <p:stCondLst>
                              <p:cond delay="1800"/>
                            </p:stCondLst>
                            <p:childTnLst>
                              <p:par>
                                <p:cTn id="99" presetID="10" presetClass="entr" presetSubtype="0" fill="hold" grpId="0" nodeType="afterEffect">
                                  <p:stCondLst>
                                    <p:cond delay="0"/>
                                  </p:stCondLst>
                                  <p:childTnLst>
                                    <p:set>
                                      <p:cBhvr>
                                        <p:cTn id="100" dur="1" fill="hold">
                                          <p:stCondLst>
                                            <p:cond delay="0"/>
                                          </p:stCondLst>
                                        </p:cTn>
                                        <p:tgtEl>
                                          <p:spTgt spid="96"/>
                                        </p:tgtEl>
                                        <p:attrNameLst>
                                          <p:attrName>style.visibility</p:attrName>
                                        </p:attrNameLst>
                                      </p:cBhvr>
                                      <p:to>
                                        <p:strVal val="visible"/>
                                      </p:to>
                                    </p:set>
                                    <p:animEffect transition="in" filter="fade">
                                      <p:cBhvr>
                                        <p:cTn id="101" dur="400"/>
                                        <p:tgtEl>
                                          <p:spTgt spid="96"/>
                                        </p:tgtEl>
                                      </p:cBhvr>
                                    </p:animEffect>
                                  </p:childTnLst>
                                </p:cTn>
                              </p:par>
                            </p:childTnLst>
                          </p:cTn>
                        </p:par>
                        <p:par>
                          <p:cTn id="106" fill="hold">
                            <p:stCondLst>
                              <p:cond delay="2200"/>
                            </p:stCondLst>
                            <p:childTnLst>
                              <p:par>
                                <p:cTn id="103" presetID="22" presetClass="entr" presetSubtype="8" fill="hold" grpId="0" nodeType="afterEffect">
                                  <p:stCondLst>
                                    <p:cond delay="0"/>
                                  </p:stCondLst>
                                  <p:childTnLst>
                                    <p:set>
                                      <p:cBhvr>
                                        <p:cTn id="104" dur="1" fill="hold">
                                          <p:stCondLst>
                                            <p:cond delay="0"/>
                                          </p:stCondLst>
                                        </p:cTn>
                                        <p:tgtEl>
                                          <p:spTgt spid="85"/>
                                        </p:tgtEl>
                                        <p:attrNameLst>
                                          <p:attrName>style.visibility</p:attrName>
                                        </p:attrNameLst>
                                      </p:cBhvr>
                                      <p:to>
                                        <p:strVal val="visible"/>
                                      </p:to>
                                    </p:set>
                                    <p:animEffect transition="in" filter="wipe(left)">
                                      <p:cBhvr>
                                        <p:cTn id="105" dur="500"/>
                                        <p:tgtEl>
                                          <p:spTgt spid="85"/>
                                        </p:tgtEl>
                                      </p:cBhvr>
                                    </p:animEffect>
                                  </p:childTnLst>
                                </p:cTn>
                              </p:par>
                            </p:childTnLst>
                          </p:cTn>
                        </p:par>
                      </p:childTnLst>
                    </p:cTn>
                  </p:par>
                  <p:par>
                    <p:cTn id="119" fill="hold">
                      <p:stCondLst>
                        <p:cond delay="indefinite"/>
                      </p:stCondLst>
                      <p:childTnLst>
                        <p:par>
                          <p:cTn id="114"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01"/>
                                        </p:tgtEl>
                                        <p:attrNameLst>
                                          <p:attrName>style.visibility</p:attrName>
                                        </p:attrNameLst>
                                      </p:cBhvr>
                                      <p:to>
                                        <p:strVal val="visible"/>
                                      </p:to>
                                    </p:set>
                                    <p:animEffect transition="in" filter="fade">
                                      <p:cBhvr>
                                        <p:cTn id="110" dur="500"/>
                                        <p:tgtEl>
                                          <p:spTgt spid="101"/>
                                        </p:tgtEl>
                                      </p:cBhvr>
                                    </p:animEffect>
                                  </p:childTnLst>
                                </p:cTn>
                              </p:par>
                              <p:par>
                                <p:cTn id="111" presetID="22" presetClass="entr" presetSubtype="2" fill="hold" grpId="0" nodeType="withEffect">
                                  <p:stCondLst>
                                    <p:cond delay="0"/>
                                  </p:stCondLst>
                                  <p:childTnLst>
                                    <p:set>
                                      <p:cBhvr>
                                        <p:cTn id="112" dur="1" fill="hold">
                                          <p:stCondLst>
                                            <p:cond delay="0"/>
                                          </p:stCondLst>
                                        </p:cTn>
                                        <p:tgtEl>
                                          <p:spTgt spid="97"/>
                                        </p:tgtEl>
                                        <p:attrNameLst>
                                          <p:attrName>style.visibility</p:attrName>
                                        </p:attrNameLst>
                                      </p:cBhvr>
                                      <p:to>
                                        <p:strVal val="visible"/>
                                      </p:to>
                                    </p:set>
                                    <p:animEffect transition="in" filter="wipe(right)">
                                      <p:cBhvr>
                                        <p:cTn id="113" dur="600"/>
                                        <p:tgtEl>
                                          <p:spTgt spid="97"/>
                                        </p:tgtEl>
                                      </p:cBhvr>
                                    </p:animEffect>
                                  </p:childTnLst>
                                </p:cTn>
                              </p:par>
                            </p:childTnLst>
                          </p:cTn>
                        </p:par>
                        <p:par>
                          <p:cTn id="118" fill="hold">
                            <p:stCondLst>
                              <p:cond delay="600"/>
                            </p:stCondLst>
                            <p:childTnLst>
                              <p:par>
                                <p:cTn id="115" presetID="10" presetClass="entr" presetSubtype="0" fill="hold" grpId="0" nodeType="afterEffect">
                                  <p:stCondLst>
                                    <p:cond delay="0"/>
                                  </p:stCondLst>
                                  <p:childTnLst>
                                    <p:set>
                                      <p:cBhvr>
                                        <p:cTn id="116" dur="1" fill="hold">
                                          <p:stCondLst>
                                            <p:cond delay="0"/>
                                          </p:stCondLst>
                                        </p:cTn>
                                        <p:tgtEl>
                                          <p:spTgt spid="100"/>
                                        </p:tgtEl>
                                        <p:attrNameLst>
                                          <p:attrName>style.visibility</p:attrName>
                                        </p:attrNameLst>
                                      </p:cBhvr>
                                      <p:to>
                                        <p:strVal val="visible"/>
                                      </p:to>
                                    </p:set>
                                    <p:animEffect transition="in" filter="fade">
                                      <p:cBhvr>
                                        <p:cTn id="1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62" grpId="0" animBg="1"/>
      <p:bldP spid="88" grpId="0" animBg="1"/>
      <p:bldP spid="89" grpId="0" animBg="1"/>
      <p:bldP spid="69" grpId="0" animBg="1"/>
      <p:bldP spid="90" grpId="0" animBg="1"/>
      <p:bldP spid="91" grpId="0" animBg="1"/>
      <p:bldP spid="93" grpId="0" animBg="1"/>
      <p:bldP spid="92" grpId="0" animBg="1"/>
      <p:bldP spid="82" grpId="0" animBg="1"/>
      <p:bldP spid="94" grpId="0" animBg="1"/>
      <p:bldP spid="83" grpId="0" animBg="1"/>
      <p:bldP spid="95" grpId="0" animBg="1"/>
      <p:bldP spid="84" grpId="0" animBg="1"/>
      <p:bldP spid="96" grpId="0" animBg="1"/>
      <p:bldP spid="85" grpId="0" animBg="1"/>
      <p:bldP spid="101" grpId="0" animBg="1"/>
      <p:bldP spid="100"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Palmitato 3D"/>
          <p:cNvGrpSpPr/>
          <p:nvPr/>
        </p:nvGrpSpPr>
        <p:grpSpPr>
          <a:xfrm>
            <a:off x="0" y="1025654"/>
            <a:ext cx="3657600" cy="1357369"/>
            <a:chOff x="0" y="1025654"/>
            <a:chExt cx="3657600" cy="1357369"/>
          </a:xfrm>
        </p:grpSpPr>
        <p:sp>
          <p:nvSpPr>
            <p:cNvPr id="8" name="Átomo O"/>
            <p:cNvSpPr/>
            <p:nvPr/>
          </p:nvSpPr>
          <p:spPr>
            <a:xfrm>
              <a:off x="2931121" y="1306708"/>
              <a:ext cx="148297" cy="14829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 name="Flecha 8_2"/>
            <p:cNvSpPr/>
            <p:nvPr/>
          </p:nvSpPr>
          <p:spPr>
            <a:xfrm>
              <a:off x="2996735" y="1306341"/>
              <a:ext cx="105146" cy="59410"/>
            </a:xfrm>
            <a:custGeom>
              <a:avLst/>
              <a:gdLst/>
              <a:ahLst/>
              <a:cxnLst/>
              <a:rect l="0" t="0" r="r" b="b"/>
              <a:pathLst>
                <a:path w="114" h="64" fill="none">
                  <a:moveTo>
                    <a:pt x="114" y="0"/>
                  </a:moveTo>
                  <a:lnTo>
                    <a:pt x="0" y="64"/>
                  </a:lnTo>
                </a:path>
              </a:pathLst>
            </a:custGeom>
            <a:noFill/>
            <a:ln w="19276" cap="rnd">
              <a:solidFill>
                <a:srgbClr val="9A9A9A"/>
              </a:solidFill>
              <a:round/>
            </a:ln>
          </p:spPr>
        </p:sp>
        <p:sp>
          <p:nvSpPr>
            <p:cNvPr id="10" name="Flecha 10_2"/>
            <p:cNvSpPr/>
            <p:nvPr/>
          </p:nvSpPr>
          <p:spPr>
            <a:xfrm>
              <a:off x="3013804" y="1336551"/>
              <a:ext cx="105146" cy="59410"/>
            </a:xfrm>
            <a:custGeom>
              <a:avLst/>
              <a:gdLst/>
              <a:ahLst/>
              <a:cxnLst/>
              <a:rect l="0" t="0" r="r" b="b"/>
              <a:pathLst>
                <a:path w="114" h="64" fill="none">
                  <a:moveTo>
                    <a:pt x="114" y="0"/>
                  </a:moveTo>
                  <a:lnTo>
                    <a:pt x="0" y="64"/>
                  </a:lnTo>
                </a:path>
              </a:pathLst>
            </a:custGeom>
            <a:noFill/>
            <a:ln w="19276" cap="rnd">
              <a:solidFill>
                <a:srgbClr val="9A9A9A"/>
              </a:solidFill>
              <a:round/>
            </a:ln>
          </p:spPr>
        </p:sp>
        <p:sp>
          <p:nvSpPr>
            <p:cNvPr id="11" name="Átomo C"/>
            <p:cNvSpPr/>
            <p:nvPr/>
          </p:nvSpPr>
          <p:spPr>
            <a:xfrm>
              <a:off x="3030294" y="1241324"/>
              <a:ext cx="160244" cy="1602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 name="Flecha 13_2"/>
            <p:cNvSpPr/>
            <p:nvPr/>
          </p:nvSpPr>
          <p:spPr>
            <a:xfrm>
              <a:off x="3110416" y="1117575"/>
              <a:ext cx="118649" cy="203871"/>
            </a:xfrm>
            <a:custGeom>
              <a:avLst/>
              <a:gdLst/>
              <a:ahLst/>
              <a:cxnLst/>
              <a:rect l="0" t="0" r="r" b="b"/>
              <a:pathLst>
                <a:path w="129" h="222" fill="none">
                  <a:moveTo>
                    <a:pt x="0" y="222"/>
                  </a:moveTo>
                  <a:lnTo>
                    <a:pt x="129" y="0"/>
                  </a:lnTo>
                </a:path>
              </a:pathLst>
            </a:custGeom>
            <a:noFill/>
            <a:ln w="24096" cap="rnd">
              <a:solidFill>
                <a:srgbClr val="9A9A9A"/>
              </a:solidFill>
              <a:round/>
            </a:ln>
          </p:spPr>
        </p:sp>
        <p:sp>
          <p:nvSpPr>
            <p:cNvPr id="13" name="Átomo O_2"/>
            <p:cNvSpPr/>
            <p:nvPr/>
          </p:nvSpPr>
          <p:spPr>
            <a:xfrm>
              <a:off x="3153114" y="1041624"/>
              <a:ext cx="151902" cy="15190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4" name="Flecha 16_2"/>
            <p:cNvSpPr/>
            <p:nvPr/>
          </p:nvSpPr>
          <p:spPr>
            <a:xfrm>
              <a:off x="3097888" y="1321446"/>
              <a:ext cx="12527" cy="202694"/>
            </a:xfrm>
            <a:custGeom>
              <a:avLst/>
              <a:gdLst/>
              <a:ahLst/>
              <a:cxnLst/>
              <a:rect l="0" t="0" r="r" b="b"/>
              <a:pathLst>
                <a:path w="13" h="221" fill="none">
                  <a:moveTo>
                    <a:pt x="0" y="221"/>
                  </a:moveTo>
                  <a:lnTo>
                    <a:pt x="13" y="0"/>
                  </a:lnTo>
                </a:path>
              </a:pathLst>
            </a:custGeom>
            <a:noFill/>
            <a:ln w="24096" cap="rnd">
              <a:solidFill>
                <a:srgbClr val="9A9A9A"/>
              </a:solidFill>
              <a:round/>
            </a:ln>
          </p:spPr>
        </p:sp>
        <p:sp>
          <p:nvSpPr>
            <p:cNvPr id="15" name="Átomo C_2"/>
            <p:cNvSpPr/>
            <p:nvPr/>
          </p:nvSpPr>
          <p:spPr>
            <a:xfrm>
              <a:off x="2801083" y="1642050"/>
              <a:ext cx="162967" cy="16296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6" name="Flecha 19_2"/>
            <p:cNvSpPr/>
            <p:nvPr/>
          </p:nvSpPr>
          <p:spPr>
            <a:xfrm>
              <a:off x="2882567" y="1524140"/>
              <a:ext cx="215322" cy="199394"/>
            </a:xfrm>
            <a:custGeom>
              <a:avLst/>
              <a:gdLst/>
              <a:ahLst/>
              <a:cxnLst/>
              <a:rect l="0" t="0" r="r" b="b"/>
              <a:pathLst>
                <a:path w="235" h="218" fill="none">
                  <a:moveTo>
                    <a:pt x="0" y="218"/>
                  </a:moveTo>
                  <a:lnTo>
                    <a:pt x="235" y="0"/>
                  </a:lnTo>
                </a:path>
              </a:pathLst>
            </a:custGeom>
            <a:noFill/>
            <a:ln w="24096" cap="rnd">
              <a:solidFill>
                <a:srgbClr val="9A9A9A"/>
              </a:solidFill>
              <a:round/>
            </a:ln>
          </p:spPr>
        </p:sp>
        <p:sp>
          <p:nvSpPr>
            <p:cNvPr id="17" name="Átomo C_3"/>
            <p:cNvSpPr/>
            <p:nvPr/>
          </p:nvSpPr>
          <p:spPr>
            <a:xfrm>
              <a:off x="3016263" y="1442514"/>
              <a:ext cx="163251" cy="1632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 name="Flecha 22_2"/>
            <p:cNvSpPr/>
            <p:nvPr/>
          </p:nvSpPr>
          <p:spPr>
            <a:xfrm>
              <a:off x="2616180" y="1606151"/>
              <a:ext cx="266387" cy="117382"/>
            </a:xfrm>
            <a:custGeom>
              <a:avLst/>
              <a:gdLst/>
              <a:ahLst/>
              <a:cxnLst/>
              <a:rect l="0" t="0" r="r" b="b"/>
              <a:pathLst>
                <a:path w="291" h="128" fill="none">
                  <a:moveTo>
                    <a:pt x="0" y="0"/>
                  </a:moveTo>
                  <a:lnTo>
                    <a:pt x="291" y="128"/>
                  </a:lnTo>
                </a:path>
              </a:pathLst>
            </a:custGeom>
            <a:noFill/>
            <a:ln w="24096" cap="rnd">
              <a:solidFill>
                <a:srgbClr val="9A9A9A"/>
              </a:solidFill>
              <a:round/>
            </a:ln>
          </p:spPr>
        </p:sp>
        <p:sp>
          <p:nvSpPr>
            <p:cNvPr id="19" name="Átomo C_4"/>
            <p:cNvSpPr/>
            <p:nvPr/>
          </p:nvSpPr>
          <p:spPr>
            <a:xfrm>
              <a:off x="2322834" y="1729250"/>
              <a:ext cx="163427" cy="16342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 name="Flecha 25_2"/>
            <p:cNvSpPr/>
            <p:nvPr/>
          </p:nvSpPr>
          <p:spPr>
            <a:xfrm>
              <a:off x="2404548" y="1606151"/>
              <a:ext cx="211632" cy="204812"/>
            </a:xfrm>
            <a:custGeom>
              <a:avLst/>
              <a:gdLst/>
              <a:ahLst/>
              <a:cxnLst/>
              <a:rect l="0" t="0" r="r" b="b"/>
              <a:pathLst>
                <a:path w="231" h="223" fill="none">
                  <a:moveTo>
                    <a:pt x="0" y="223"/>
                  </a:moveTo>
                  <a:lnTo>
                    <a:pt x="231" y="0"/>
                  </a:lnTo>
                </a:path>
              </a:pathLst>
            </a:custGeom>
            <a:noFill/>
            <a:ln w="24096" cap="rnd">
              <a:solidFill>
                <a:srgbClr val="9A9A9A"/>
              </a:solidFill>
              <a:round/>
            </a:ln>
          </p:spPr>
        </p:sp>
        <p:sp>
          <p:nvSpPr>
            <p:cNvPr id="21" name="Átomo C_5"/>
            <p:cNvSpPr/>
            <p:nvPr/>
          </p:nvSpPr>
          <p:spPr>
            <a:xfrm>
              <a:off x="2534353" y="1524324"/>
              <a:ext cx="163654" cy="16365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 name="Flecha 28_2"/>
            <p:cNvSpPr/>
            <p:nvPr/>
          </p:nvSpPr>
          <p:spPr>
            <a:xfrm>
              <a:off x="2138127" y="1694144"/>
              <a:ext cx="266421" cy="116820"/>
            </a:xfrm>
            <a:custGeom>
              <a:avLst/>
              <a:gdLst/>
              <a:ahLst/>
              <a:cxnLst/>
              <a:rect l="0" t="0" r="r" b="b"/>
              <a:pathLst>
                <a:path w="291" h="127" fill="none">
                  <a:moveTo>
                    <a:pt x="0" y="0"/>
                  </a:moveTo>
                  <a:lnTo>
                    <a:pt x="291" y="127"/>
                  </a:lnTo>
                </a:path>
              </a:pathLst>
            </a:custGeom>
            <a:noFill/>
            <a:ln w="24096" cap="rnd">
              <a:solidFill>
                <a:srgbClr val="9A9A9A"/>
              </a:solidFill>
              <a:round/>
            </a:ln>
          </p:spPr>
        </p:sp>
        <p:sp>
          <p:nvSpPr>
            <p:cNvPr id="23" name="Átomo C_6"/>
            <p:cNvSpPr/>
            <p:nvPr/>
          </p:nvSpPr>
          <p:spPr>
            <a:xfrm>
              <a:off x="1845078" y="1817674"/>
              <a:ext cx="163900" cy="1639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 name="Flecha 31_2"/>
            <p:cNvSpPr/>
            <p:nvPr/>
          </p:nvSpPr>
          <p:spPr>
            <a:xfrm>
              <a:off x="1927027" y="1694144"/>
              <a:ext cx="211099" cy="205479"/>
            </a:xfrm>
            <a:custGeom>
              <a:avLst/>
              <a:gdLst/>
              <a:ahLst/>
              <a:cxnLst/>
              <a:rect l="0" t="0" r="r" b="b"/>
              <a:pathLst>
                <a:path w="230" h="224" fill="none">
                  <a:moveTo>
                    <a:pt x="0" y="224"/>
                  </a:moveTo>
                  <a:lnTo>
                    <a:pt x="230" y="0"/>
                  </a:lnTo>
                </a:path>
              </a:pathLst>
            </a:custGeom>
            <a:noFill/>
            <a:ln w="24096" cap="rnd">
              <a:solidFill>
                <a:srgbClr val="9A9A9A"/>
              </a:solidFill>
              <a:round/>
            </a:ln>
          </p:spPr>
        </p:sp>
        <p:sp>
          <p:nvSpPr>
            <p:cNvPr id="25" name="Flecha 33_2"/>
            <p:cNvSpPr/>
            <p:nvPr/>
          </p:nvSpPr>
          <p:spPr>
            <a:xfrm>
              <a:off x="1653761" y="1790113"/>
              <a:ext cx="273266" cy="109511"/>
            </a:xfrm>
            <a:custGeom>
              <a:avLst/>
              <a:gdLst/>
              <a:ahLst/>
              <a:cxnLst/>
              <a:rect l="0" t="0" r="r" b="b"/>
              <a:pathLst>
                <a:path w="298" h="119" fill="none">
                  <a:moveTo>
                    <a:pt x="0" y="0"/>
                  </a:moveTo>
                  <a:lnTo>
                    <a:pt x="298" y="119"/>
                  </a:lnTo>
                </a:path>
              </a:pathLst>
            </a:custGeom>
            <a:noFill/>
            <a:ln w="24096" cap="rnd">
              <a:solidFill>
                <a:srgbClr val="9A9A9A"/>
              </a:solidFill>
              <a:round/>
            </a:ln>
          </p:spPr>
        </p:sp>
        <p:sp>
          <p:nvSpPr>
            <p:cNvPr id="26" name="Átomo C_7"/>
            <p:cNvSpPr/>
            <p:nvPr/>
          </p:nvSpPr>
          <p:spPr>
            <a:xfrm>
              <a:off x="2056068" y="1612085"/>
              <a:ext cx="164118" cy="16411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 name="Átomo C_8"/>
            <p:cNvSpPr/>
            <p:nvPr/>
          </p:nvSpPr>
          <p:spPr>
            <a:xfrm>
              <a:off x="1571639" y="1707990"/>
              <a:ext cx="164245" cy="1642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7_2"/>
            <p:cNvSpPr/>
            <p:nvPr/>
          </p:nvSpPr>
          <p:spPr>
            <a:xfrm>
              <a:off x="1595586" y="1679907"/>
              <a:ext cx="58176" cy="110206"/>
            </a:xfrm>
            <a:custGeom>
              <a:avLst/>
              <a:gdLst/>
              <a:ahLst/>
              <a:cxnLst/>
              <a:rect l="0" t="0" r="r" b="b"/>
              <a:pathLst>
                <a:path w="63" h="120" fill="none">
                  <a:moveTo>
                    <a:pt x="0" y="0"/>
                  </a:moveTo>
                  <a:lnTo>
                    <a:pt x="63" y="120"/>
                  </a:lnTo>
                </a:path>
              </a:pathLst>
            </a:custGeom>
            <a:noFill/>
            <a:ln w="24096" cap="rnd">
              <a:solidFill>
                <a:srgbClr val="9A9A9A"/>
              </a:solidFill>
              <a:round/>
            </a:ln>
          </p:spPr>
        </p:sp>
        <p:sp>
          <p:nvSpPr>
            <p:cNvPr id="29" name="Átomo C_9"/>
            <p:cNvSpPr/>
            <p:nvPr/>
          </p:nvSpPr>
          <p:spPr>
            <a:xfrm>
              <a:off x="1511588" y="1595909"/>
              <a:ext cx="167996" cy="16799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Flecha 40_2"/>
            <p:cNvSpPr/>
            <p:nvPr/>
          </p:nvSpPr>
          <p:spPr>
            <a:xfrm>
              <a:off x="1322263" y="1570124"/>
              <a:ext cx="273322" cy="109783"/>
            </a:xfrm>
            <a:custGeom>
              <a:avLst/>
              <a:gdLst/>
              <a:ahLst/>
              <a:cxnLst/>
              <a:rect l="0" t="0" r="r" b="b"/>
              <a:pathLst>
                <a:path w="298" h="120" fill="none">
                  <a:moveTo>
                    <a:pt x="0" y="0"/>
                  </a:moveTo>
                  <a:lnTo>
                    <a:pt x="298" y="120"/>
                  </a:lnTo>
                </a:path>
              </a:pathLst>
            </a:custGeom>
            <a:noFill/>
            <a:ln w="24096" cap="rnd">
              <a:solidFill>
                <a:srgbClr val="9A9A9A"/>
              </a:solidFill>
              <a:round/>
            </a:ln>
          </p:spPr>
        </p:sp>
        <p:sp>
          <p:nvSpPr>
            <p:cNvPr id="31" name="Átomo C_10"/>
            <p:cNvSpPr/>
            <p:nvPr/>
          </p:nvSpPr>
          <p:spPr>
            <a:xfrm>
              <a:off x="1027567" y="1692698"/>
              <a:ext cx="168244" cy="1682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2" name="Flecha 43_2"/>
            <p:cNvSpPr/>
            <p:nvPr/>
          </p:nvSpPr>
          <p:spPr>
            <a:xfrm>
              <a:off x="1111689" y="1570124"/>
              <a:ext cx="210575" cy="206696"/>
            </a:xfrm>
            <a:custGeom>
              <a:avLst/>
              <a:gdLst/>
              <a:ahLst/>
              <a:cxnLst/>
              <a:rect l="0" t="0" r="r" b="b"/>
              <a:pathLst>
                <a:path w="230" h="226" fill="none">
                  <a:moveTo>
                    <a:pt x="0" y="226"/>
                  </a:moveTo>
                  <a:lnTo>
                    <a:pt x="230" y="0"/>
                  </a:lnTo>
                </a:path>
              </a:pathLst>
            </a:custGeom>
            <a:noFill/>
            <a:ln w="24096" cap="rnd">
              <a:solidFill>
                <a:srgbClr val="9A9A9A"/>
              </a:solidFill>
              <a:round/>
            </a:ln>
          </p:spPr>
        </p:sp>
        <p:sp>
          <p:nvSpPr>
            <p:cNvPr id="33" name="Átomo C_11"/>
            <p:cNvSpPr/>
            <p:nvPr/>
          </p:nvSpPr>
          <p:spPr>
            <a:xfrm>
              <a:off x="1238090" y="1485951"/>
              <a:ext cx="168346" cy="16834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4" name="Flecha 46_2"/>
            <p:cNvSpPr/>
            <p:nvPr/>
          </p:nvSpPr>
          <p:spPr>
            <a:xfrm>
              <a:off x="838621" y="1666789"/>
              <a:ext cx="273068" cy="110031"/>
            </a:xfrm>
            <a:custGeom>
              <a:avLst/>
              <a:gdLst/>
              <a:ahLst/>
              <a:cxnLst/>
              <a:rect l="0" t="0" r="r" b="b"/>
              <a:pathLst>
                <a:path w="298" h="120" fill="none">
                  <a:moveTo>
                    <a:pt x="0" y="0"/>
                  </a:moveTo>
                  <a:lnTo>
                    <a:pt x="298" y="120"/>
                  </a:lnTo>
                </a:path>
              </a:pathLst>
            </a:custGeom>
            <a:noFill/>
            <a:ln w="24096" cap="rnd">
              <a:solidFill>
                <a:srgbClr val="9A9A9A"/>
              </a:solidFill>
              <a:round/>
            </a:ln>
          </p:spPr>
        </p:sp>
        <p:sp>
          <p:nvSpPr>
            <p:cNvPr id="35" name="Átomo C_12"/>
            <p:cNvSpPr/>
            <p:nvPr/>
          </p:nvSpPr>
          <p:spPr>
            <a:xfrm>
              <a:off x="754326" y="1582493"/>
              <a:ext cx="168590" cy="1685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6" name="Flecha 49_2"/>
            <p:cNvSpPr/>
            <p:nvPr/>
          </p:nvSpPr>
          <p:spPr>
            <a:xfrm>
              <a:off x="782419" y="1549217"/>
              <a:ext cx="56202" cy="117571"/>
            </a:xfrm>
            <a:custGeom>
              <a:avLst/>
              <a:gdLst/>
              <a:ahLst/>
              <a:cxnLst/>
              <a:rect l="0" t="0" r="r" b="b"/>
              <a:pathLst>
                <a:path w="61" h="128" fill="none">
                  <a:moveTo>
                    <a:pt x="0" y="0"/>
                  </a:moveTo>
                  <a:lnTo>
                    <a:pt x="61" y="128"/>
                  </a:lnTo>
                </a:path>
              </a:pathLst>
            </a:custGeom>
            <a:noFill/>
            <a:ln w="24096" cap="rnd">
              <a:solidFill>
                <a:srgbClr val="9A9A9A"/>
              </a:solidFill>
              <a:round/>
            </a:ln>
          </p:spPr>
        </p:sp>
        <p:sp>
          <p:nvSpPr>
            <p:cNvPr id="37" name="Átomo C_13"/>
            <p:cNvSpPr/>
            <p:nvPr/>
          </p:nvSpPr>
          <p:spPr>
            <a:xfrm>
              <a:off x="696267" y="1463066"/>
              <a:ext cx="172304" cy="17230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52_2"/>
            <p:cNvSpPr/>
            <p:nvPr/>
          </p:nvSpPr>
          <p:spPr>
            <a:xfrm>
              <a:off x="500667" y="1463605"/>
              <a:ext cx="281752" cy="85612"/>
            </a:xfrm>
            <a:custGeom>
              <a:avLst/>
              <a:gdLst/>
              <a:ahLst/>
              <a:cxnLst/>
              <a:rect l="0" t="0" r="r" b="b"/>
              <a:pathLst>
                <a:path w="308" h="93" fill="none">
                  <a:moveTo>
                    <a:pt x="0" y="0"/>
                  </a:moveTo>
                  <a:lnTo>
                    <a:pt x="308" y="93"/>
                  </a:lnTo>
                </a:path>
              </a:pathLst>
            </a:custGeom>
            <a:noFill/>
            <a:ln w="24096" cap="rnd">
              <a:solidFill>
                <a:srgbClr val="9A9A9A"/>
              </a:solidFill>
              <a:round/>
            </a:ln>
          </p:spPr>
        </p:sp>
        <p:sp>
          <p:nvSpPr>
            <p:cNvPr id="39" name="Átomo C_14"/>
            <p:cNvSpPr/>
            <p:nvPr/>
          </p:nvSpPr>
          <p:spPr>
            <a:xfrm>
              <a:off x="414370" y="1377308"/>
              <a:ext cx="172593" cy="17259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Flecha 55_2"/>
            <p:cNvSpPr/>
            <p:nvPr/>
          </p:nvSpPr>
          <p:spPr>
            <a:xfrm>
              <a:off x="428535" y="1362400"/>
              <a:ext cx="72131" cy="101205"/>
            </a:xfrm>
            <a:custGeom>
              <a:avLst/>
              <a:gdLst/>
              <a:ahLst/>
              <a:cxnLst/>
              <a:rect l="0" t="0" r="r" b="b"/>
              <a:pathLst>
                <a:path w="78" h="110" fill="none">
                  <a:moveTo>
                    <a:pt x="0" y="0"/>
                  </a:moveTo>
                  <a:lnTo>
                    <a:pt x="78" y="110"/>
                  </a:lnTo>
                </a:path>
              </a:pathLst>
            </a:custGeom>
            <a:noFill/>
            <a:ln w="24096" cap="rnd">
              <a:solidFill>
                <a:srgbClr val="9A9A9A"/>
              </a:solidFill>
              <a:round/>
            </a:ln>
          </p:spPr>
        </p:sp>
        <p:sp>
          <p:nvSpPr>
            <p:cNvPr id="41" name="Átomo C_15"/>
            <p:cNvSpPr/>
            <p:nvPr/>
          </p:nvSpPr>
          <p:spPr>
            <a:xfrm>
              <a:off x="340363" y="1274228"/>
              <a:ext cx="176344" cy="1763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2" name="Flecha 58_2"/>
            <p:cNvSpPr/>
            <p:nvPr/>
          </p:nvSpPr>
          <p:spPr>
            <a:xfrm>
              <a:off x="428535" y="1114335"/>
              <a:ext cx="138327" cy="248065"/>
            </a:xfrm>
            <a:custGeom>
              <a:avLst/>
              <a:gdLst/>
              <a:ahLst/>
              <a:cxnLst/>
              <a:rect l="0" t="0" r="r" b="b"/>
              <a:pathLst>
                <a:path w="151" h="271" fill="none">
                  <a:moveTo>
                    <a:pt x="151" y="0"/>
                  </a:moveTo>
                  <a:lnTo>
                    <a:pt x="0" y="271"/>
                  </a:lnTo>
                </a:path>
              </a:pathLst>
            </a:custGeom>
            <a:noFill/>
            <a:ln w="24096" cap="rnd">
              <a:solidFill>
                <a:srgbClr val="9A9A9A"/>
              </a:solidFill>
              <a:round/>
            </a:ln>
          </p:spPr>
        </p:sp>
        <p:sp>
          <p:nvSpPr>
            <p:cNvPr id="43" name="Átomo C_16"/>
            <p:cNvSpPr/>
            <p:nvPr/>
          </p:nvSpPr>
          <p:spPr>
            <a:xfrm>
              <a:off x="478180" y="1025654"/>
              <a:ext cx="177363" cy="17736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Forma 61"/>
            <p:cNvSpPr txBox="1"/>
            <p:nvPr/>
          </p:nvSpPr>
          <p:spPr>
            <a:xfrm>
              <a:off x="0" y="2072127"/>
              <a:ext cx="365760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Ácido graso (palmitato)</a:t>
              </a:r>
              <a:endParaRPr lang="es-AR" sz="1300" dirty="0">
                <a:latin typeface="Fira Sans Condensed"/>
              </a:endParaRPr>
            </a:p>
          </p:txBody>
        </p:sp>
      </p:grpSp>
      <p:sp>
        <p:nvSpPr>
          <p:cNvPr id="45" name="Flecha ac→cpt"/>
          <p:cNvSpPr/>
          <p:nvPr/>
        </p:nvSpPr>
        <p:spPr>
          <a:xfrm>
            <a:off x="4892040" y="1728216"/>
            <a:ext cx="9144" cy="475488"/>
          </a:xfrm>
          <a:custGeom>
            <a:avLst/>
            <a:gdLst/>
            <a:ahLst/>
            <a:cxnLst/>
            <a:rect l="0" t="0" r="r" b="b"/>
            <a:pathLst>
              <a:path w="10" h="520" fill="none">
                <a:moveTo>
                  <a:pt x="0" y="0"/>
                </a:moveTo>
                <a:lnTo>
                  <a:pt x="0" y="520"/>
                </a:lnTo>
              </a:path>
            </a:pathLst>
          </a:custGeom>
          <a:noFill/>
          <a:ln w="28575" cap="rnd">
            <a:solidFill>
              <a:srgbClr val="1E1E1E"/>
            </a:solidFill>
            <a:round/>
            <a:tailEnd type="triangle" w="med" len="med"/>
          </a:ln>
        </p:spPr>
      </p:sp>
      <p:grpSp>
        <p:nvGrpSpPr>
          <p:cNvPr id="46" name="Flecha mal→cpt"/>
          <p:cNvGrpSpPr/>
          <p:nvPr/>
        </p:nvGrpSpPr>
        <p:grpSpPr>
          <a:xfrm>
            <a:off x="2871216" y="2414016"/>
            <a:ext cx="941832" cy="201168"/>
            <a:chOff x="2871216" y="2414016"/>
            <a:chExt cx="941832" cy="201168"/>
          </a:xfrm>
        </p:grpSpPr>
        <p:sp>
          <p:nvSpPr>
            <p:cNvPr id="47" name="Flecha 64_2"/>
            <p:cNvSpPr/>
            <p:nvPr/>
          </p:nvSpPr>
          <p:spPr>
            <a:xfrm>
              <a:off x="2871216" y="2514600"/>
              <a:ext cx="932688" cy="9144"/>
            </a:xfrm>
            <a:custGeom>
              <a:avLst/>
              <a:gdLst/>
              <a:ahLst/>
              <a:cxnLst/>
              <a:rect l="0" t="0" r="r" b="b"/>
              <a:pathLst>
                <a:path w="1020" h="10" fill="none">
                  <a:moveTo>
                    <a:pt x="0" y="0"/>
                  </a:moveTo>
                  <a:lnTo>
                    <a:pt x="1020" y="0"/>
                  </a:lnTo>
                </a:path>
              </a:pathLst>
            </a:custGeom>
            <a:noFill/>
            <a:ln w="34925" cap="rnd">
              <a:solidFill>
                <a:srgbClr val="C00000"/>
              </a:solidFill>
              <a:round/>
            </a:ln>
          </p:spPr>
        </p:sp>
        <p:sp>
          <p:nvSpPr>
            <p:cNvPr id="48" name="Flecha 66_2"/>
            <p:cNvSpPr/>
            <p:nvPr/>
          </p:nvSpPr>
          <p:spPr>
            <a:xfrm>
              <a:off x="3803904" y="2414016"/>
              <a:ext cx="9144" cy="201168"/>
            </a:xfrm>
            <a:custGeom>
              <a:avLst/>
              <a:gdLst/>
              <a:ahLst/>
              <a:cxnLst/>
              <a:rect l="0" t="0" r="r" b="b"/>
              <a:pathLst>
                <a:path w="10" h="219" fill="none">
                  <a:moveTo>
                    <a:pt x="0" y="0"/>
                  </a:moveTo>
                  <a:lnTo>
                    <a:pt x="0" y="219"/>
                  </a:lnTo>
                </a:path>
              </a:pathLst>
            </a:custGeom>
            <a:noFill/>
            <a:ln w="55880" cap="rnd">
              <a:solidFill>
                <a:srgbClr val="C00000"/>
              </a:solidFill>
              <a:round/>
            </a:ln>
          </p:spPr>
        </p:sp>
      </p:grpSp>
      <p:sp>
        <p:nvSpPr>
          <p:cNvPr id="49" name="Flecha cpt→box"/>
          <p:cNvSpPr/>
          <p:nvPr/>
        </p:nvSpPr>
        <p:spPr>
          <a:xfrm>
            <a:off x="4892040" y="282549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50" name="Flecha box→acoa"/>
          <p:cNvSpPr/>
          <p:nvPr/>
        </p:nvSpPr>
        <p:spPr>
          <a:xfrm>
            <a:off x="4892040" y="383133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51" name="Flecha acoa→k"/>
          <p:cNvSpPr/>
          <p:nvPr/>
        </p:nvSpPr>
        <p:spPr>
          <a:xfrm>
            <a:off x="5980176" y="4549140"/>
            <a:ext cx="658368" cy="9144"/>
          </a:xfrm>
          <a:custGeom>
            <a:avLst/>
            <a:gdLst/>
            <a:ahLst/>
            <a:cxnLst/>
            <a:rect l="0" t="0" r="r" b="b"/>
            <a:pathLst>
              <a:path w="719" h="10" fill="none">
                <a:moveTo>
                  <a:pt x="0" y="0"/>
                </a:moveTo>
                <a:lnTo>
                  <a:pt x="719" y="0"/>
                </a:lnTo>
              </a:path>
            </a:pathLst>
          </a:custGeom>
          <a:noFill/>
          <a:ln w="28575" cap="rnd">
            <a:solidFill>
              <a:srgbClr val="1E1E1E"/>
            </a:solidFill>
            <a:round/>
            <a:tailEnd type="triangle" w="med" len="med"/>
          </a:ln>
        </p:spPr>
      </p:sp>
      <p:grpSp>
        <p:nvGrpSpPr>
          <p:cNvPr id="52" name="Flecha acoa→hmg"/>
          <p:cNvGrpSpPr/>
          <p:nvPr/>
        </p:nvGrpSpPr>
        <p:grpSpPr>
          <a:xfrm>
            <a:off x="3671578" y="4837176"/>
            <a:ext cx="1229606" cy="475488"/>
            <a:chOff x="3671578" y="4837176"/>
            <a:chExt cx="1229606" cy="475488"/>
          </a:xfrm>
        </p:grpSpPr>
        <p:sp>
          <p:nvSpPr>
            <p:cNvPr id="53" name="Flecha 72_2"/>
            <p:cNvSpPr/>
            <p:nvPr/>
          </p:nvSpPr>
          <p:spPr>
            <a:xfrm>
              <a:off x="4892040" y="4837176"/>
              <a:ext cx="9144" cy="475488"/>
            </a:xfrm>
            <a:custGeom>
              <a:avLst/>
              <a:gdLst/>
              <a:ahLst/>
              <a:cxnLst/>
              <a:rect l="0" t="0" r="r" b="b"/>
              <a:pathLst>
                <a:path w="10" h="519" fill="none">
                  <a:moveTo>
                    <a:pt x="0" y="0"/>
                  </a:moveTo>
                  <a:lnTo>
                    <a:pt x="0" y="519"/>
                  </a:lnTo>
                </a:path>
              </a:pathLst>
            </a:custGeom>
            <a:noFill/>
            <a:ln w="28575" cap="rnd">
              <a:solidFill>
                <a:srgbClr val="1E1E1E"/>
              </a:solidFill>
              <a:round/>
              <a:tailEnd type="triangle" w="med" len="med"/>
            </a:ln>
          </p:spPr>
        </p:sp>
        <p:sp>
          <p:nvSpPr>
            <p:cNvPr id="54" name="Rótulo HMGCS2"/>
            <p:cNvSpPr/>
            <p:nvPr/>
          </p:nvSpPr>
          <p:spPr>
            <a:xfrm>
              <a:off x="3671578" y="4946904"/>
              <a:ext cx="703564" cy="206693"/>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HMGCS2</a:t>
              </a:r>
              <a:endParaRPr lang="es-AR" sz="1050" dirty="0">
                <a:latin typeface="Fira Sans Condensed"/>
              </a:endParaRPr>
            </a:p>
          </p:txBody>
        </p:sp>
      </p:grpSp>
      <p:grpSp>
        <p:nvGrpSpPr>
          <p:cNvPr id="55" name="Flecha hmg→aca"/>
          <p:cNvGrpSpPr/>
          <p:nvPr/>
        </p:nvGrpSpPr>
        <p:grpSpPr>
          <a:xfrm>
            <a:off x="5790592" y="5198364"/>
            <a:ext cx="1037535" cy="411480"/>
            <a:chOff x="5790592" y="5198364"/>
            <a:chExt cx="1037535" cy="411480"/>
          </a:xfrm>
        </p:grpSpPr>
        <p:sp>
          <p:nvSpPr>
            <p:cNvPr id="56" name="Flecha 76_2"/>
            <p:cNvSpPr/>
            <p:nvPr/>
          </p:nvSpPr>
          <p:spPr>
            <a:xfrm>
              <a:off x="5980176" y="5600700"/>
              <a:ext cx="658368" cy="9144"/>
            </a:xfrm>
            <a:custGeom>
              <a:avLst/>
              <a:gdLst/>
              <a:ahLst/>
              <a:cxnLst/>
              <a:rect l="0" t="0" r="r" b="b"/>
              <a:pathLst>
                <a:path w="719" h="10" fill="none">
                  <a:moveTo>
                    <a:pt x="0" y="0"/>
                  </a:moveTo>
                  <a:lnTo>
                    <a:pt x="719" y="0"/>
                  </a:lnTo>
                </a:path>
              </a:pathLst>
            </a:custGeom>
            <a:noFill/>
            <a:ln w="28575" cap="rnd">
              <a:solidFill>
                <a:srgbClr val="1E1E1E"/>
              </a:solidFill>
              <a:round/>
              <a:tailEnd type="triangle" w="med" len="med"/>
            </a:ln>
          </p:spPr>
        </p:sp>
        <p:sp>
          <p:nvSpPr>
            <p:cNvPr id="57" name="Rótulo HMG-CoA liasa"/>
            <p:cNvSpPr/>
            <p:nvPr/>
          </p:nvSpPr>
          <p:spPr>
            <a:xfrm>
              <a:off x="5790592" y="5198364"/>
              <a:ext cx="1037535"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HMG-CoA liasa</a:t>
              </a:r>
              <a:endParaRPr lang="es-AR" sz="1000" dirty="0">
                <a:latin typeface="Fira Sans Condensed"/>
              </a:endParaRPr>
            </a:p>
          </p:txBody>
        </p:sp>
      </p:grpSp>
      <p:grpSp>
        <p:nvGrpSpPr>
          <p:cNvPr id="58" name="Flecha aca→bhb"/>
          <p:cNvGrpSpPr/>
          <p:nvPr/>
        </p:nvGrpSpPr>
        <p:grpSpPr>
          <a:xfrm>
            <a:off x="8814816" y="5198364"/>
            <a:ext cx="749808" cy="411480"/>
            <a:chOff x="8814816" y="5198364"/>
            <a:chExt cx="749808" cy="411480"/>
          </a:xfrm>
        </p:grpSpPr>
        <p:sp>
          <p:nvSpPr>
            <p:cNvPr id="59" name="Flecha 80_2"/>
            <p:cNvSpPr/>
            <p:nvPr/>
          </p:nvSpPr>
          <p:spPr>
            <a:xfrm>
              <a:off x="8814816" y="5600700"/>
              <a:ext cx="749808" cy="9144"/>
            </a:xfrm>
            <a:custGeom>
              <a:avLst/>
              <a:gdLst/>
              <a:ahLst/>
              <a:cxnLst/>
              <a:rect l="0" t="0" r="r" b="b"/>
              <a:pathLst>
                <a:path w="820" h="10" fill="none">
                  <a:moveTo>
                    <a:pt x="0" y="0"/>
                  </a:moveTo>
                  <a:lnTo>
                    <a:pt x="820" y="0"/>
                  </a:lnTo>
                </a:path>
              </a:pathLst>
            </a:custGeom>
            <a:noFill/>
            <a:ln w="28575" cap="rnd">
              <a:solidFill>
                <a:srgbClr val="1E1E1E"/>
              </a:solidFill>
              <a:round/>
              <a:headEnd type="triangle" w="med" len="med"/>
              <a:tailEnd type="triangle" w="med" len="med"/>
            </a:ln>
          </p:spPr>
        </p:sp>
        <p:sp>
          <p:nvSpPr>
            <p:cNvPr id="60" name="Rótulo NADH"/>
            <p:cNvSpPr/>
            <p:nvPr/>
          </p:nvSpPr>
          <p:spPr>
            <a:xfrm>
              <a:off x="8921064" y="5198364"/>
              <a:ext cx="537311"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NADH</a:t>
              </a:r>
              <a:endParaRPr lang="es-AR" sz="1000" dirty="0">
                <a:latin typeface="Fira Sans Condensed"/>
              </a:endParaRPr>
            </a:p>
          </p:txBody>
        </p:sp>
      </p:grpSp>
      <p:sp>
        <p:nvSpPr>
          <p:cNvPr id="61" name="Flecha bhb→per"/>
          <p:cNvSpPr/>
          <p:nvPr/>
        </p:nvSpPr>
        <p:spPr>
          <a:xfrm>
            <a:off x="10721340" y="4882896"/>
            <a:ext cx="9144" cy="429768"/>
          </a:xfrm>
          <a:custGeom>
            <a:avLst/>
            <a:gdLst/>
            <a:ahLst/>
            <a:cxnLst/>
            <a:rect l="0" t="0" r="r" b="b"/>
            <a:pathLst>
              <a:path w="10" h="469" fill="none">
                <a:moveTo>
                  <a:pt x="0" y="469"/>
                </a:moveTo>
                <a:lnTo>
                  <a:pt x="0" y="0"/>
                </a:lnTo>
              </a:path>
            </a:pathLst>
          </a:custGeom>
          <a:noFill/>
          <a:ln w="28575" cap="rnd">
            <a:solidFill>
              <a:srgbClr val="2563B0"/>
            </a:solidFill>
            <a:prstDash val="dash"/>
            <a:round/>
            <a:tailEnd type="triangle" w="med" len="med"/>
          </a:ln>
        </p:spPr>
      </p:sp>
      <p:sp>
        <p:nvSpPr>
          <p:cNvPr id="62" name="Nodo ac"/>
          <p:cNvSpPr/>
          <p:nvPr/>
        </p:nvSpPr>
        <p:spPr>
          <a:xfrm>
            <a:off x="3840480" y="1188720"/>
            <a:ext cx="21031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ACIL-COA</a:t>
            </a:r>
            <a:endParaRPr lang="es-AR" sz="1500" dirty="0">
              <a:latin typeface="Fira Sans Condensed"/>
            </a:endParaRPr>
          </a:p>
        </p:txBody>
      </p:sp>
      <p:sp>
        <p:nvSpPr>
          <p:cNvPr id="63" name="Nodo cpt"/>
          <p:cNvSpPr/>
          <p:nvPr/>
        </p:nvSpPr>
        <p:spPr>
          <a:xfrm>
            <a:off x="3840480" y="2240280"/>
            <a:ext cx="210312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CPT1 · carnitina</a:t>
            </a:r>
            <a:endParaRPr lang="es-AR" sz="1400" dirty="0">
              <a:latin typeface="Fira Sans Condensed"/>
            </a:endParaRPr>
          </a:p>
        </p:txBody>
      </p:sp>
      <p:sp>
        <p:nvSpPr>
          <p:cNvPr id="64" name="Nodo mal"/>
          <p:cNvSpPr/>
          <p:nvPr/>
        </p:nvSpPr>
        <p:spPr>
          <a:xfrm>
            <a:off x="457200" y="2240280"/>
            <a:ext cx="23774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MALONIL-COA</a:t>
            </a:r>
            <a:endParaRPr lang="es-AR" sz="1400" dirty="0">
              <a:latin typeface="Fira Sans Condensed"/>
            </a:endParaRPr>
          </a:p>
        </p:txBody>
      </p:sp>
      <p:sp>
        <p:nvSpPr>
          <p:cNvPr id="65" name="Nodo box"/>
          <p:cNvSpPr/>
          <p:nvPr/>
        </p:nvSpPr>
        <p:spPr>
          <a:xfrm>
            <a:off x="3840480" y="3291840"/>
            <a:ext cx="210312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β-oxidación</a:t>
            </a:r>
            <a:endParaRPr lang="es-AR" sz="1500" dirty="0">
              <a:latin typeface="Fira Sans Condensed"/>
            </a:endParaRPr>
          </a:p>
        </p:txBody>
      </p:sp>
      <p:sp>
        <p:nvSpPr>
          <p:cNvPr id="66" name="Nodo acoa"/>
          <p:cNvSpPr/>
          <p:nvPr/>
        </p:nvSpPr>
        <p:spPr>
          <a:xfrm>
            <a:off x="3840480" y="4297680"/>
            <a:ext cx="21031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ACETIL-COA</a:t>
            </a:r>
            <a:endParaRPr lang="es-AR" sz="1500" dirty="0">
              <a:latin typeface="Fira Sans Condensed"/>
            </a:endParaRPr>
          </a:p>
        </p:txBody>
      </p:sp>
      <p:sp>
        <p:nvSpPr>
          <p:cNvPr id="67" name="Nodo k"/>
          <p:cNvSpPr/>
          <p:nvPr/>
        </p:nvSpPr>
        <p:spPr>
          <a:xfrm>
            <a:off x="6675120" y="4297680"/>
            <a:ext cx="210312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Krebs (con OAA)</a:t>
            </a:r>
            <a:endParaRPr lang="es-AR" sz="1400" dirty="0">
              <a:latin typeface="Fira Sans Condensed"/>
            </a:endParaRPr>
          </a:p>
        </p:txBody>
      </p:sp>
      <p:sp>
        <p:nvSpPr>
          <p:cNvPr id="68" name="Nodo hmg"/>
          <p:cNvSpPr/>
          <p:nvPr/>
        </p:nvSpPr>
        <p:spPr>
          <a:xfrm>
            <a:off x="3840480" y="5349240"/>
            <a:ext cx="21031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HMG-CoA</a:t>
            </a:r>
            <a:endParaRPr lang="es-AR" sz="1500" dirty="0">
              <a:latin typeface="Fira Sans Condensed"/>
            </a:endParaRPr>
          </a:p>
        </p:txBody>
      </p:sp>
      <p:sp>
        <p:nvSpPr>
          <p:cNvPr id="69" name="Nodo aca"/>
          <p:cNvSpPr/>
          <p:nvPr/>
        </p:nvSpPr>
        <p:spPr>
          <a:xfrm>
            <a:off x="6675120" y="5349240"/>
            <a:ext cx="21031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ACETOACETATO</a:t>
            </a:r>
            <a:endParaRPr lang="es-AR" sz="1350" dirty="0">
              <a:latin typeface="Fira Sans Condensed"/>
            </a:endParaRPr>
          </a:p>
        </p:txBody>
      </p:sp>
      <p:sp>
        <p:nvSpPr>
          <p:cNvPr id="70" name="Nodo bhb"/>
          <p:cNvSpPr/>
          <p:nvPr/>
        </p:nvSpPr>
        <p:spPr>
          <a:xfrm>
            <a:off x="9601200" y="5349240"/>
            <a:ext cx="22402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β-HIDROXIBUTIRATO</a:t>
            </a:r>
            <a:endParaRPr lang="es-AR" sz="1250" dirty="0">
              <a:latin typeface="Fira Sans Condensed"/>
            </a:endParaRPr>
          </a:p>
        </p:txBody>
      </p:sp>
      <p:sp>
        <p:nvSpPr>
          <p:cNvPr id="71" name="Nodo per"/>
          <p:cNvSpPr/>
          <p:nvPr/>
        </p:nvSpPr>
        <p:spPr>
          <a:xfrm>
            <a:off x="9601200" y="4160520"/>
            <a:ext cx="224028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Tejidos periféricos:</a:t>
            </a:r>
            <a:endParaRPr lang="es-AR" sz="1250" dirty="0">
              <a:latin typeface="Fira Sans Condensed"/>
            </a:endParaRPr>
          </a:p>
          <a:p>
            <a:pPr algn="ctr">
              <a:spcAft>
                <a:spcPts val="200"/>
              </a:spcAft>
              <a:buNone/>
            </a:pPr>
            <a:r>
              <a:rPr lang="es-AR" sz="1250" b="1" dirty="0">
                <a:solidFill>
                  <a:srgbClr val="1E1E1E"/>
                </a:solidFill>
                <a:latin typeface="Fira Sans Condensed"/>
                <a:ea typeface="Fira Sans Condensed"/>
                <a:cs typeface="Fira Sans Condensed"/>
                <a:sym typeface="Fira Sans Condensed"/>
              </a:rPr>
              <a:t>SCOT → acetil-CoA</a:t>
            </a:r>
            <a:endParaRPr lang="es-AR" sz="1250" dirty="0">
              <a:latin typeface="Fira Sans Condensed"/>
            </a:endParaRPr>
          </a:p>
        </p:txBody>
      </p:sp>
      <p:grpSp>
        <p:nvGrpSpPr>
          <p:cNvPr id="72" name="Cuadro Regulación"/>
          <p:cNvGrpSpPr/>
          <p:nvPr/>
        </p:nvGrpSpPr>
        <p:grpSpPr>
          <a:xfrm>
            <a:off x="6629400" y="1143000"/>
            <a:ext cx="5212080" cy="2788920"/>
            <a:chOff x="6629400" y="1143000"/>
            <a:chExt cx="5212080" cy="2788920"/>
          </a:xfrm>
        </p:grpSpPr>
        <p:sp>
          <p:nvSpPr>
            <p:cNvPr id="73" name="Forma 95"/>
            <p:cNvSpPr/>
            <p:nvPr/>
          </p:nvSpPr>
          <p:spPr>
            <a:xfrm>
              <a:off x="6629400" y="1344168"/>
              <a:ext cx="5212080" cy="25877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3350" indent="-133350">
                <a:spcAft>
                  <a:spcPts val="4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Insulina alta</a:t>
              </a:r>
              <a:r>
                <a:rPr lang="es-AR" sz="1400" dirty="0">
                  <a:solidFill>
                    <a:srgbClr val="1E1E1E"/>
                  </a:solidFill>
                  <a:latin typeface="Fira Sans Condensed"/>
                  <a:ea typeface="Fira Sans Condensed"/>
                  <a:cs typeface="Fira Sans Condensed"/>
                  <a:sym typeface="Fira Sans Condensed"/>
                </a:rPr>
                <a:t> → ACC activa → malonil-CoA ↑ → CPT1 frenada.</a:t>
              </a:r>
              <a:endParaRPr lang="es-AR" sz="1400" dirty="0">
                <a:latin typeface="Fira Sans Condensed"/>
              </a:endParaRPr>
            </a:p>
            <a:p>
              <a:pPr algn="l" marL="133350" indent="-133350">
                <a:spcAft>
                  <a:spcPts val="4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Insulina/glucagón baja</a:t>
              </a:r>
              <a:r>
                <a:rPr lang="es-AR" sz="1400" dirty="0">
                  <a:solidFill>
                    <a:srgbClr val="1E1E1E"/>
                  </a:solidFill>
                  <a:latin typeface="Fira Sans Condensed"/>
                  <a:ea typeface="Fira Sans Condensed"/>
                  <a:cs typeface="Fira Sans Condensed"/>
                  <a:sym typeface="Fira Sans Condensed"/>
                </a:rPr>
                <a:t> → malonil-CoA ↓ → los ácidos grasos entran a la mitocondria.</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Acetil-CoA ↑ + OAA desviado a gluconeogénesis → </a:t>
              </a:r>
              <a:r>
                <a:rPr lang="es-AR" sz="1400" b="1" dirty="0">
                  <a:solidFill>
                    <a:srgbClr val="1E1E1E"/>
                  </a:solidFill>
                  <a:latin typeface="Fira Sans Condensed"/>
                  <a:ea typeface="Fira Sans Condensed"/>
                  <a:cs typeface="Fira Sans Condensed"/>
                  <a:sym typeface="Fira Sans Condensed"/>
                </a:rPr>
                <a:t>cetogénesis</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La acetona deriva de la descarboxilación del acetoacetato.</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El </a:t>
              </a:r>
              <a:r>
                <a:rPr lang="es-AR" sz="1400" b="1" dirty="0">
                  <a:solidFill>
                    <a:srgbClr val="1E1E1E"/>
                  </a:solidFill>
                  <a:latin typeface="Fira Sans Condensed"/>
                  <a:ea typeface="Fira Sans Condensed"/>
                  <a:cs typeface="Fira Sans Condensed"/>
                  <a:sym typeface="Fira Sans Condensed"/>
                </a:rPr>
                <a:t>hígado no oxida</a:t>
              </a:r>
              <a:r>
                <a:rPr lang="es-AR" sz="1400" dirty="0">
                  <a:solidFill>
                    <a:srgbClr val="1E1E1E"/>
                  </a:solidFill>
                  <a:latin typeface="Fira Sans Condensed"/>
                  <a:ea typeface="Fira Sans Condensed"/>
                  <a:cs typeface="Fira Sans Condensed"/>
                  <a:sym typeface="Fira Sans Condensed"/>
                </a:rPr>
                <a:t> sus cuerpos cetónicos: carece de </a:t>
              </a:r>
              <a:r>
                <a:rPr lang="es-AR" sz="1400" b="1" dirty="0">
                  <a:solidFill>
                    <a:srgbClr val="1E1E1E"/>
                  </a:solidFill>
                  <a:latin typeface="Fira Sans Condensed"/>
                  <a:ea typeface="Fira Sans Condensed"/>
                  <a:cs typeface="Fira Sans Condensed"/>
                  <a:sym typeface="Fira Sans Condensed"/>
                </a:rPr>
                <a:t>SCOT</a:t>
              </a:r>
              <a:r>
                <a:rPr lang="es-AR" sz="1400" dirty="0">
                  <a:solidFill>
                    <a:srgbClr val="1E1E1E"/>
                  </a:solidFill>
                  <a:latin typeface="Fira Sans Condensed"/>
                  <a:ea typeface="Fira Sans Condensed"/>
                  <a:cs typeface="Fira Sans Condensed"/>
                  <a:sym typeface="Fira Sans Condensed"/>
                </a:rPr>
                <a:t> (OXCT1).</a:t>
              </a:r>
              <a:endParaRPr lang="es-AR" sz="1400" dirty="0">
                <a:latin typeface="Fira Sans Condensed"/>
              </a:endParaRPr>
            </a:p>
          </p:txBody>
        </p:sp>
        <p:sp>
          <p:nvSpPr>
            <p:cNvPr id="74" name="Forma 96"/>
            <p:cNvSpPr/>
            <p:nvPr/>
          </p:nvSpPr>
          <p:spPr>
            <a:xfrm>
              <a:off x="6766560" y="1143000"/>
              <a:ext cx="135864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REGULACIÓN</a:t>
              </a:r>
              <a:endParaRPr lang="es-AR" sz="1400" dirty="0">
                <a:latin typeface="Fira Sans Condensed"/>
              </a:endParaRPr>
            </a:p>
          </p:txBody>
        </p:sp>
      </p:gr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-OXIDACIÓN Y CETOGÉNESIS: EL FRENO DEL MALONIL-COA</a:t>
            </a:r>
            <a:endParaRPr lang="es-AR" sz="27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7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2"/>
                                        </p:tgtEl>
                                        <p:attrNameLst>
                                          <p:attrName>style.visibility</p:attrName>
                                        </p:attrNameLst>
                                      </p:cBhvr>
                                      <p:to>
                                        <p:strVal val="visible"/>
                                      </p:to>
                                    </p:set>
                                    <p:animEffect transition="in" filter="fade">
                                      <p:cBhvr>
                                        <p:cTn id="5" dur="400"/>
                                        <p:tgtEl>
                                          <p:spTgt spid="62"/>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45"/>
                                        </p:tgtEl>
                                        <p:attrNameLst>
                                          <p:attrName>style.visibility</p:attrName>
                                        </p:attrNameLst>
                                      </p:cBhvr>
                                      <p:to>
                                        <p:strVal val="visible"/>
                                      </p:to>
                                    </p:set>
                                    <p:animEffect transition="in" filter="wipe(up)">
                                      <p:cBhvr>
                                        <p:cTn id="9" dur="500"/>
                                        <p:tgtEl>
                                          <p:spTgt spid="45"/>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400"/>
                                        <p:tgtEl>
                                          <p:spTgt spid="63"/>
                                        </p:tgtEl>
                                      </p:cBhvr>
                                    </p:animEffect>
                                  </p:childTnLst>
                                </p:cTn>
                              </p:par>
                            </p:childTnLst>
                          </p:cTn>
                        </p:par>
                      </p:childTnLst>
                    </p:cTn>
                  </p:par>
                  <p:par>
                    <p:cTn id="24" fill="hold">
                      <p:stCondLst>
                        <p:cond delay="indefinite"/>
                      </p:stCondLst>
                      <p:childTnLst>
                        <p:par>
                          <p:cTn id="19"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fade">
                                      <p:cBhvr>
                                        <p:cTn id="18" dur="400"/>
                                        <p:tgtEl>
                                          <p:spTgt spid="64"/>
                                        </p:tgtEl>
                                      </p:cBhvr>
                                    </p:animEffect>
                                  </p:childTnLst>
                                </p:cTn>
                              </p:par>
                            </p:childTnLst>
                          </p:cTn>
                        </p:par>
                        <p:par>
                          <p:cTn id="23" fill="hold">
                            <p:stCondLst>
                              <p:cond delay="400"/>
                            </p:stCondLst>
                            <p:childTnLst>
                              <p:par>
                                <p:cTn id="20" presetID="22" presetClass="entr" presetSubtype="8" fill="hold" grpId="0" nodeType="after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left)">
                                      <p:cBhvr>
                                        <p:cTn id="22" dur="500"/>
                                        <p:tgtEl>
                                          <p:spTgt spid="46"/>
                                        </p:tgtEl>
                                      </p:cBhvr>
                                    </p:animEffect>
                                  </p:childTnLst>
                                </p:cTn>
                              </p:par>
                            </p:childTnLst>
                          </p:cTn>
                        </p:par>
                      </p:childTnLst>
                    </p:cTn>
                  </p:par>
                  <p:par>
                    <p:cTn id="49" fill="hold">
                      <p:stCondLst>
                        <p:cond delay="indefinite"/>
                      </p:stCondLst>
                      <p:childTnLst>
                        <p:par>
                          <p:cTn id="28"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up)">
                                      <p:cBhvr>
                                        <p:cTn id="27" dur="500"/>
                                        <p:tgtEl>
                                          <p:spTgt spid="49"/>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400"/>
                                        <p:tgtEl>
                                          <p:spTgt spid="65"/>
                                        </p:tgtEl>
                                      </p:cBhvr>
                                    </p:animEffect>
                                  </p:childTnLst>
                                </p:cTn>
                              </p:par>
                            </p:childTnLst>
                          </p:cTn>
                        </p:par>
                        <p:par>
                          <p:cTn id="36" fill="hold">
                            <p:stCondLst>
                              <p:cond delay="900"/>
                            </p:stCondLst>
                            <p:childTnLst>
                              <p:par>
                                <p:cTn id="33" presetID="22" presetClass="entr" presetSubtype="1" fill="hold" grpId="0" nodeType="after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wipe(up)">
                                      <p:cBhvr>
                                        <p:cTn id="35" dur="500"/>
                                        <p:tgtEl>
                                          <p:spTgt spid="50"/>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400"/>
                                        <p:tgtEl>
                                          <p:spTgt spid="66"/>
                                        </p:tgtEl>
                                      </p:cBhvr>
                                    </p:animEffect>
                                  </p:childTnLst>
                                </p:cTn>
                              </p:par>
                            </p:childTnLst>
                          </p:cTn>
                        </p:par>
                        <p:par>
                          <p:cTn id="44" fill="hold">
                            <p:stCondLst>
                              <p:cond delay="1800"/>
                            </p:stCondLst>
                            <p:childTnLst>
                              <p:par>
                                <p:cTn id="41" presetID="22" presetClass="entr" presetSubtype="8" fill="hold" grpId="0"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wipe(left)">
                                      <p:cBhvr>
                                        <p:cTn id="43" dur="500"/>
                                        <p:tgtEl>
                                          <p:spTgt spid="51"/>
                                        </p:tgtEl>
                                      </p:cBhvr>
                                    </p:animEffect>
                                  </p:childTnLst>
                                </p:cTn>
                              </p:par>
                            </p:childTnLst>
                          </p:cTn>
                        </p:par>
                        <p:par>
                          <p:cTn id="48" fill="hold">
                            <p:stCondLst>
                              <p:cond delay="2300"/>
                            </p:stCondLst>
                            <p:childTnLst>
                              <p:par>
                                <p:cTn id="45" presetID="10" presetClass="entr" presetSubtype="0" fill="hold" grpId="0" nodeType="after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fade">
                                      <p:cBhvr>
                                        <p:cTn id="47" dur="400"/>
                                        <p:tgtEl>
                                          <p:spTgt spid="67"/>
                                        </p:tgtEl>
                                      </p:cBhvr>
                                    </p:animEffect>
                                  </p:childTnLst>
                                </p:cTn>
                              </p:par>
                            </p:childTnLst>
                          </p:cTn>
                        </p:par>
                      </p:childTnLst>
                    </p:cTn>
                  </p:par>
                  <p:par>
                    <p:cTn id="74" fill="hold">
                      <p:stCondLst>
                        <p:cond delay="indefinite"/>
                      </p:stCondLst>
                      <p:childTnLst>
                        <p:par>
                          <p:cTn id="53"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wipe(up)">
                                      <p:cBhvr>
                                        <p:cTn id="52" dur="500"/>
                                        <p:tgtEl>
                                          <p:spTgt spid="52"/>
                                        </p:tgtEl>
                                      </p:cBhvr>
                                    </p:animEffect>
                                  </p:childTnLst>
                                </p:cTn>
                              </p:par>
                            </p:childTnLst>
                          </p:cTn>
                        </p:par>
                        <p:par>
                          <p:cTn id="57"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fade">
                                      <p:cBhvr>
                                        <p:cTn id="56" dur="400"/>
                                        <p:tgtEl>
                                          <p:spTgt spid="68"/>
                                        </p:tgtEl>
                                      </p:cBhvr>
                                    </p:animEffect>
                                  </p:childTnLst>
                                </p:cTn>
                              </p:par>
                            </p:childTnLst>
                          </p:cTn>
                        </p:par>
                        <p:par>
                          <p:cTn id="61" fill="hold">
                            <p:stCondLst>
                              <p:cond delay="900"/>
                            </p:stCondLst>
                            <p:childTnLst>
                              <p:par>
                                <p:cTn id="58" presetID="22" presetClass="entr" presetSubtype="8" fill="hold" grpId="0" nodeType="after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wipe(left)">
                                      <p:cBhvr>
                                        <p:cTn id="60" dur="500"/>
                                        <p:tgtEl>
                                          <p:spTgt spid="55"/>
                                        </p:tgtEl>
                                      </p:cBhvr>
                                    </p:animEffect>
                                  </p:childTnLst>
                                </p:cTn>
                              </p:par>
                            </p:childTnLst>
                          </p:cTn>
                        </p:par>
                        <p:par>
                          <p:cTn id="65" fill="hold">
                            <p:stCondLst>
                              <p:cond delay="1400"/>
                            </p:stCondLst>
                            <p:childTnLst>
                              <p:par>
                                <p:cTn id="62" presetID="10" presetClass="entr" presetSubtype="0" fill="hold" grpId="0" nodeType="after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fade">
                                      <p:cBhvr>
                                        <p:cTn id="64" dur="400"/>
                                        <p:tgtEl>
                                          <p:spTgt spid="69"/>
                                        </p:tgtEl>
                                      </p:cBhvr>
                                    </p:animEffect>
                                  </p:childTnLst>
                                </p:cTn>
                              </p:par>
                            </p:childTnLst>
                          </p:cTn>
                        </p:par>
                        <p:par>
                          <p:cTn id="69" fill="hold">
                            <p:stCondLst>
                              <p:cond delay="1800"/>
                            </p:stCondLst>
                            <p:childTnLst>
                              <p:par>
                                <p:cTn id="66" presetID="22" presetClass="entr" presetSubtype="8" fill="hold" grpId="0" nodeType="after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wipe(left)">
                                      <p:cBhvr>
                                        <p:cTn id="68" dur="500"/>
                                        <p:tgtEl>
                                          <p:spTgt spid="58"/>
                                        </p:tgtEl>
                                      </p:cBhvr>
                                    </p:animEffect>
                                  </p:childTnLst>
                                </p:cTn>
                              </p:par>
                            </p:childTnLst>
                          </p:cTn>
                        </p:par>
                        <p:par>
                          <p:cTn id="73" fill="hold">
                            <p:stCondLst>
                              <p:cond delay="2300"/>
                            </p:stCondLst>
                            <p:childTnLst>
                              <p:par>
                                <p:cTn id="70" presetID="10" presetClass="entr" presetSubtype="0" fill="hold" grpId="0" nodeType="afterEffect">
                                  <p:stCondLst>
                                    <p:cond delay="0"/>
                                  </p:stCondLst>
                                  <p:childTnLst>
                                    <p:set>
                                      <p:cBhvr>
                                        <p:cTn id="71" dur="1" fill="hold">
                                          <p:stCondLst>
                                            <p:cond delay="0"/>
                                          </p:stCondLst>
                                        </p:cTn>
                                        <p:tgtEl>
                                          <p:spTgt spid="70"/>
                                        </p:tgtEl>
                                        <p:attrNameLst>
                                          <p:attrName>style.visibility</p:attrName>
                                        </p:attrNameLst>
                                      </p:cBhvr>
                                      <p:to>
                                        <p:strVal val="visible"/>
                                      </p:to>
                                    </p:set>
                                    <p:animEffect transition="in" filter="fade">
                                      <p:cBhvr>
                                        <p:cTn id="72" dur="400"/>
                                        <p:tgtEl>
                                          <p:spTgt spid="70"/>
                                        </p:tgtEl>
                                      </p:cBhvr>
                                    </p:animEffect>
                                  </p:childTnLst>
                                </p:cTn>
                              </p:par>
                            </p:childTnLst>
                          </p:cTn>
                        </p:par>
                      </p:childTnLst>
                    </p:cTn>
                  </p:par>
                  <p:par>
                    <p:cTn id="83" fill="hold">
                      <p:stCondLst>
                        <p:cond delay="indefinite"/>
                      </p:stCondLst>
                      <p:childTnLst>
                        <p:par>
                          <p:cTn id="78"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wipe(down)">
                                      <p:cBhvr>
                                        <p:cTn id="77" dur="500"/>
                                        <p:tgtEl>
                                          <p:spTgt spid="61"/>
                                        </p:tgtEl>
                                      </p:cBhvr>
                                    </p:animEffect>
                                  </p:childTnLst>
                                </p:cTn>
                              </p:par>
                            </p:childTnLst>
                          </p:cTn>
                        </p:par>
                        <p:par>
                          <p:cTn id="82" fill="hold">
                            <p:stCondLst>
                              <p:cond delay="500"/>
                            </p:stCondLst>
                            <p:childTnLst>
                              <p:par>
                                <p:cTn id="79" presetID="10" presetClass="entr" presetSubtype="0" fill="hold" grpId="0" nodeType="afterEffect">
                                  <p:stCondLst>
                                    <p:cond delay="0"/>
                                  </p:stCondLst>
                                  <p:childTnLst>
                                    <p:set>
                                      <p:cBhvr>
                                        <p:cTn id="80" dur="1" fill="hold">
                                          <p:stCondLst>
                                            <p:cond delay="0"/>
                                          </p:stCondLst>
                                        </p:cTn>
                                        <p:tgtEl>
                                          <p:spTgt spid="71"/>
                                        </p:tgtEl>
                                        <p:attrNameLst>
                                          <p:attrName>style.visibility</p:attrName>
                                        </p:attrNameLst>
                                      </p:cBhvr>
                                      <p:to>
                                        <p:strVal val="visible"/>
                                      </p:to>
                                    </p:set>
                                    <p:animEffect transition="in" filter="fade">
                                      <p:cBhvr>
                                        <p:cTn id="81" dur="400"/>
                                        <p:tgtEl>
                                          <p:spTgt spid="71"/>
                                        </p:tgtEl>
                                      </p:cBhvr>
                                    </p:animEffect>
                                  </p:childTnLst>
                                </p:cTn>
                              </p:par>
                            </p:childTnLst>
                          </p:cTn>
                        </p:par>
                      </p:childTnLst>
                    </p:cTn>
                  </p:par>
                  <p:par>
                    <p:cTn id="88" fill="hold">
                      <p:stCondLst>
                        <p:cond delay="indefinite"/>
                      </p:stCondLst>
                      <p:childTnLst>
                        <p:par>
                          <p:cTn id="87"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72"/>
                                        </p:tgtEl>
                                        <p:attrNameLst>
                                          <p:attrName>style.visibility</p:attrName>
                                        </p:attrNameLst>
                                      </p:cBhvr>
                                      <p:to>
                                        <p:strVal val="visible"/>
                                      </p:to>
                                    </p:set>
                                    <p:animEffect transition="in" filter="fade">
                                      <p:cBhvr>
                                        <p:cTn id="8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5" grpId="0" animBg="1"/>
      <p:bldP spid="63" grpId="0" animBg="1"/>
      <p:bldP spid="64" grpId="0" animBg="1"/>
      <p:bldP spid="49" grpId="0" animBg="1"/>
      <p:bldP spid="65" grpId="0" animBg="1"/>
      <p:bldP spid="50" grpId="0" animBg="1"/>
      <p:bldP spid="66" grpId="0" animBg="1"/>
      <p:bldP spid="51" grpId="0" animBg="1"/>
      <p:bldP spid="67" grpId="0" animBg="1"/>
      <p:bldP spid="68" grpId="0" animBg="1"/>
      <p:bldP spid="69" grpId="0" animBg="1"/>
      <p:bldP spid="70" grpId="0" animBg="1"/>
      <p:bldP spid="61" grpId="0" animBg="1"/>
      <p:bldP spid="71"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12191695" cy="3429000"/>
          </a:xfrm>
          <a:prstGeom prst="rect">
            <a:avLst/>
          </a:prstGeom>
          <a:solidFill>
            <a:srgbClr val="00B0F0"/>
          </a:solidFill>
          <a:ln>
            <a:noFill/>
          </a:ln>
        </p:spPr>
      </p:sp>
      <p:sp>
        <p:nvSpPr>
          <p:cNvPr id="3" name="!!Fondo 2"/>
          <p:cNvSpPr/>
          <p:nvPr/>
        </p:nvSpPr>
        <p:spPr>
          <a:xfrm>
            <a:off x="0" y="3429000"/>
            <a:ext cx="12191695" cy="3429000"/>
          </a:xfrm>
          <a:prstGeom prst="rect">
            <a:avLst/>
          </a:prstGeom>
          <a:solidFill>
            <a:srgbClr val="F8CBAD"/>
          </a:solidFill>
          <a:ln>
            <a:noFill/>
          </a:ln>
        </p:spPr>
      </p:sp>
      <p:grpSp>
        <p:nvGrpSpPr>
          <p:cNvPr id="6" name="Exterior"/>
          <p:cNvGrpSpPr/>
          <p:nvPr/>
        </p:nvGrpSpPr>
        <p:grpSpPr>
          <a:xfrm>
            <a:off x="457200" y="1188720"/>
            <a:ext cx="5303520" cy="1783080"/>
            <a:chOff x="457200" y="1188720"/>
            <a:chExt cx="5303520" cy="1783080"/>
          </a:xfrm>
        </p:grpSpPr>
        <p:sp>
          <p:nvSpPr>
            <p:cNvPr id="7" name="Recuadro MUCHA GLUCOSA EXTRACEL"/>
            <p:cNvSpPr/>
            <p:nvPr/>
          </p:nvSpPr>
          <p:spPr>
            <a:xfrm>
              <a:off x="457200" y="1188720"/>
              <a:ext cx="530352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900" b="1" dirty="0">
                  <a:solidFill>
                    <a:srgbClr val="C00000"/>
                  </a:solidFill>
                  <a:latin typeface="Fira Sans Condensed"/>
                  <a:ea typeface="Fira Sans Condensed"/>
                  <a:cs typeface="Fira Sans Condensed"/>
                  <a:sym typeface="Fira Sans Condensed"/>
                </a:rPr>
                <a:t>MUCHA GLUCOSA EXTRACELULAR</a:t>
              </a:r>
              <a:endParaRPr lang="es-AR" sz="1900" dirty="0">
                <a:latin typeface="Fira Sans Condensed"/>
              </a:endParaRPr>
            </a:p>
          </p:txBody>
        </p:sp>
        <p:sp>
          <p:nvSpPr>
            <p:cNvPr id="8" name="Glc exterior 0"/>
            <p:cNvSpPr/>
            <p:nvPr/>
          </p:nvSpPr>
          <p:spPr>
            <a:xfrm>
              <a:off x="64008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9" name="Glc exterior 1"/>
            <p:cNvSpPr/>
            <p:nvPr/>
          </p:nvSpPr>
          <p:spPr>
            <a:xfrm>
              <a:off x="150876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0" name="Glc exterior 2"/>
            <p:cNvSpPr/>
            <p:nvPr/>
          </p:nvSpPr>
          <p:spPr>
            <a:xfrm>
              <a:off x="237744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1" name="Glc exterior 3"/>
            <p:cNvSpPr/>
            <p:nvPr/>
          </p:nvSpPr>
          <p:spPr>
            <a:xfrm>
              <a:off x="324612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2" name="Glc exterior 4"/>
            <p:cNvSpPr/>
            <p:nvPr/>
          </p:nvSpPr>
          <p:spPr>
            <a:xfrm>
              <a:off x="411480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3" name="Glc exterior 5"/>
            <p:cNvSpPr/>
            <p:nvPr/>
          </p:nvSpPr>
          <p:spPr>
            <a:xfrm>
              <a:off x="4983480" y="20574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4" name="Glc exterior 6"/>
            <p:cNvSpPr/>
            <p:nvPr/>
          </p:nvSpPr>
          <p:spPr>
            <a:xfrm>
              <a:off x="64008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5" name="Glc exterior 7"/>
            <p:cNvSpPr/>
            <p:nvPr/>
          </p:nvSpPr>
          <p:spPr>
            <a:xfrm>
              <a:off x="150876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6" name="Glc exterior 8"/>
            <p:cNvSpPr/>
            <p:nvPr/>
          </p:nvSpPr>
          <p:spPr>
            <a:xfrm>
              <a:off x="237744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7" name="Glc exterior 9"/>
            <p:cNvSpPr/>
            <p:nvPr/>
          </p:nvSpPr>
          <p:spPr>
            <a:xfrm>
              <a:off x="324612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8" name="Glc exterior 10"/>
            <p:cNvSpPr/>
            <p:nvPr/>
          </p:nvSpPr>
          <p:spPr>
            <a:xfrm>
              <a:off x="411480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19" name="Glc exterior 11"/>
            <p:cNvSpPr/>
            <p:nvPr/>
          </p:nvSpPr>
          <p:spPr>
            <a:xfrm>
              <a:off x="4983480" y="256032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grpSp>
      <p:grpSp>
        <p:nvGrpSpPr>
          <p:cNvPr id="20" name="Interior"/>
          <p:cNvGrpSpPr/>
          <p:nvPr/>
        </p:nvGrpSpPr>
        <p:grpSpPr>
          <a:xfrm>
            <a:off x="6400800" y="1188720"/>
            <a:ext cx="5349240" cy="1828800"/>
            <a:chOff x="6400800" y="1188720"/>
            <a:chExt cx="5349240" cy="1828800"/>
          </a:xfrm>
        </p:grpSpPr>
        <p:sp>
          <p:nvSpPr>
            <p:cNvPr id="21" name="Forma 20"/>
            <p:cNvSpPr/>
            <p:nvPr/>
          </p:nvSpPr>
          <p:spPr>
            <a:xfrm>
              <a:off x="6400800" y="1188720"/>
              <a:ext cx="5349240" cy="1828800"/>
            </a:xfrm>
            <a:prstGeom prst="roundRect">
              <a:avLst>
                <a:gd name="adj" fmla="val 15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22" name="Recuadro ESCASA SEÑAL INSULÍNIC"/>
            <p:cNvSpPr/>
            <p:nvPr/>
          </p:nvSpPr>
          <p:spPr>
            <a:xfrm>
              <a:off x="6675120" y="1417320"/>
              <a:ext cx="4800600" cy="5943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ESCASA SEÑAL INSULÍNICA INTRACELULAR</a:t>
              </a:r>
              <a:endParaRPr lang="es-AR" sz="1500" dirty="0">
                <a:latin typeface="Fira Sans Condensed"/>
              </a:endParaRPr>
            </a:p>
          </p:txBody>
        </p:sp>
        <p:sp>
          <p:nvSpPr>
            <p:cNvPr id="23" name="Forma 22"/>
            <p:cNvSpPr txBox="1"/>
            <p:nvPr/>
          </p:nvSpPr>
          <p:spPr>
            <a:xfrm>
              <a:off x="6675120" y="2148840"/>
              <a:ext cx="4800600" cy="731520"/>
            </a:xfrm>
            <a:prstGeom prst="rect">
              <a:avLst/>
            </a:prstGeom>
            <a:noFill/>
            <a:ln>
              <a:noFill/>
            </a:ln>
          </p:spPr>
          <p:txBody>
            <a:bodyPr wrap="square" lIns="0" tIns="0" rIns="0" bIns="0" anchor="ctr" rtlCol="0">
              <a:noAutofit/>
            </a:bodyPr>
            <a:lstStyle/>
            <a:p>
              <a:pPr algn="ctr">
                <a:spcAft>
                  <a:spcPts val="300"/>
                </a:spcAft>
                <a:buNone/>
              </a:pPr>
              <a:r>
                <a:rPr lang="es-AR" sz="1500" dirty="0">
                  <a:solidFill>
                    <a:srgbClr val="1E1E1E"/>
                  </a:solidFill>
                  <a:latin typeface="Fira Sans Condensed"/>
                  <a:ea typeface="Fira Sans Condensed"/>
                  <a:cs typeface="Fira Sans Condensed"/>
                  <a:sym typeface="Fira Sans Condensed"/>
                </a:rPr>
                <a:t>La célula «interpreta» ayuno: lipólisis, cetogénesis, gluconeogénesis y proteólisis.</a:t>
              </a:r>
              <a:endParaRPr lang="es-AR" sz="1500" dirty="0">
                <a:latin typeface="Fira Sans Condensed"/>
              </a:endParaRPr>
            </a:p>
          </p:txBody>
        </p:sp>
      </p:grpSp>
      <p:sp>
        <p:nvSpPr>
          <p:cNvPr id="24" name="Perla clínica"/>
          <p:cNvSpPr/>
          <p:nvPr/>
        </p:nvSpPr>
        <p:spPr>
          <a:xfrm>
            <a:off x="457200" y="3931920"/>
            <a:ext cx="11292840" cy="10058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800" dirty="0">
                <a:solidFill>
                  <a:srgbClr val="FFFFFF"/>
                </a:solidFill>
                <a:latin typeface="Fira Sans Condensed"/>
                <a:ea typeface="Fira Sans Condensed"/>
                <a:cs typeface="Fira Sans Condensed"/>
                <a:sym typeface="Fira Sans Condensed"/>
              </a:rPr>
              <a:t>En la DM1 descompensada el problema </a:t>
            </a:r>
            <a:r>
              <a:rPr lang="es-AR" sz="1800" b="1" dirty="0">
                <a:solidFill>
                  <a:srgbClr val="FFFFFF"/>
                </a:solidFill>
                <a:latin typeface="Fira Sans Condensed"/>
                <a:ea typeface="Fira Sans Condensed"/>
                <a:cs typeface="Fira Sans Condensed"/>
                <a:sym typeface="Fira Sans Condensed"/>
              </a:rPr>
              <a:t>no es falta de glucosa corporal</a:t>
            </a:r>
            <a:r>
              <a:rPr lang="es-AR" sz="1800" dirty="0">
                <a:solidFill>
                  <a:srgbClr val="FFFFFF"/>
                </a:solidFill>
                <a:latin typeface="Fira Sans Condensed"/>
                <a:ea typeface="Fira Sans Condensed"/>
                <a:cs typeface="Fira Sans Condensed"/>
                <a:sym typeface="Fira Sans Condensed"/>
              </a:rPr>
              <a:t>: coexisten hiperglucemia con un </a:t>
            </a:r>
            <a:r>
              <a:rPr lang="es-AR" sz="1800" b="1" dirty="0">
                <a:solidFill>
                  <a:srgbClr val="FFFFFF"/>
                </a:solidFill>
                <a:latin typeface="Fira Sans Condensed"/>
                <a:ea typeface="Fira Sans Condensed"/>
                <a:cs typeface="Fira Sans Condensed"/>
                <a:sym typeface="Fira Sans Condensed"/>
              </a:rPr>
              <a:t>metabolismo de ayuno extremo</a:t>
            </a:r>
            <a:r>
              <a:rPr lang="es-AR" sz="1800" dirty="0">
                <a:solidFill>
                  <a:srgbClr val="FFFFFF"/>
                </a:solidFill>
                <a:latin typeface="Fira Sans Condensed"/>
                <a:ea typeface="Fira Sans Condensed"/>
                <a:cs typeface="Fira Sans Condensed"/>
                <a:sym typeface="Fira Sans Condensed"/>
              </a:rPr>
              <a:t>.</a:t>
            </a:r>
            <a:endParaRPr lang="es-AR" sz="1800" dirty="0">
              <a:latin typeface="Fira Sans Condensed"/>
            </a:endParaRPr>
          </a:p>
        </p:txBody>
      </p:sp>
      <p:sp>
        <p:nvSpPr>
          <p:cNvPr id="25" name="Forma 24"/>
          <p:cNvSpPr/>
          <p:nvPr/>
        </p:nvSpPr>
        <p:spPr>
          <a:xfrm>
            <a:off x="457200" y="5166360"/>
            <a:ext cx="1129284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Detalle fino: el hígado mantiene entrada de glucosa por GLUT2 aun sin insulina — el problema allí es la </a:t>
            </a:r>
            <a:r>
              <a:rPr lang="es-AR" sz="1500" b="1" dirty="0">
                <a:solidFill>
                  <a:srgbClr val="1E1E1E"/>
                </a:solidFill>
                <a:latin typeface="Fira Sans Condensed"/>
                <a:ea typeface="Fira Sans Condensed"/>
                <a:cs typeface="Fira Sans Condensed"/>
                <a:sym typeface="Fira Sans Condensed"/>
              </a:rPr>
              <a:t>regulación hormonal</a:t>
            </a:r>
            <a:r>
              <a:rPr lang="es-AR" sz="1500" dirty="0">
                <a:solidFill>
                  <a:srgbClr val="1E1E1E"/>
                </a:solidFill>
                <a:latin typeface="Fira Sans Condensed"/>
                <a:ea typeface="Fira Sans Condensed"/>
                <a:cs typeface="Fira Sans Condensed"/>
                <a:sym typeface="Fira Sans Condensed"/>
              </a:rPr>
              <a:t>. El músculo </a:t>
            </a:r>
            <a:r>
              <a:rPr lang="es-AR" sz="1500" b="1" dirty="0">
                <a:solidFill>
                  <a:srgbClr val="1E1E1E"/>
                </a:solidFill>
                <a:latin typeface="Fira Sans Condensed"/>
                <a:ea typeface="Fira Sans Condensed"/>
                <a:cs typeface="Fira Sans Condensed"/>
                <a:sym typeface="Fira Sans Condensed"/>
              </a:rPr>
              <a:t>no posee glucosa-6-fosfatasa</a:t>
            </a:r>
            <a:r>
              <a:rPr lang="es-AR" sz="1500" dirty="0">
                <a:solidFill>
                  <a:srgbClr val="1E1E1E"/>
                </a:solidFill>
                <a:latin typeface="Fira Sans Condensed"/>
                <a:ea typeface="Fira Sans Condensed"/>
                <a:cs typeface="Fira Sans Condensed"/>
                <a:sym typeface="Fira Sans Condensed"/>
              </a:rPr>
              <a:t> funcional para liberar glucosa al plasma.</a:t>
            </a:r>
            <a:endParaRPr lang="es-AR" sz="1500" dirty="0">
              <a:latin typeface="Fira Sans Condensed"/>
            </a:endParaRPr>
          </a:p>
        </p:txBody>
      </p:sp>
      <p:sp>
        <p:nvSpPr>
          <p:cNvPr id="4" name="Título"/>
          <p:cNvSpPr txBox="1"/>
          <p:nvPr/>
        </p:nvSpPr>
        <p:spPr>
          <a:xfrm>
            <a:off x="320040" y="91440"/>
            <a:ext cx="11551615" cy="4894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300" dirty="0">
                <a:solidFill>
                  <a:srgbClr val="1E1E1E"/>
                </a:solidFill>
                <a:effectLst>
                  <a:glow rad="101600">
                    <a:srgbClr val="FFFFFF">
                      <a:alpha val="70000"/>
                    </a:srgbClr>
                  </a:glow>
                </a:effectLst>
                <a:latin typeface="Permanent Marker"/>
                <a:ea typeface="Permanent Marker"/>
                <a:cs typeface="Permanent Marker"/>
                <a:sym typeface="Permanent Marker"/>
              </a:rPr>
              <a:t>CLAVE INTEGRADORA: AYUNO EXTREMO EN MEDIO DE LA ABUNDANCIA</a:t>
            </a:r>
            <a:endParaRPr lang="es-AR" sz="23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animEffect transition="in" filter="fade">
                                      <p:cBhvr>
                                        <p:cTn id="17" dur="500"/>
                                        <p:tgtEl>
                                          <p:spTgt spid="24"/>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8"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9"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10"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1"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2"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3"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4"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5"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6"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7"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8"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9" name="!!Mapa elemento 0"/>
          <p:cNvGrpSpPr/>
          <p:nvPr/>
        </p:nvGrpSpPr>
        <p:grpSpPr>
          <a:xfrm>
            <a:off x="1920240" y="1097280"/>
            <a:ext cx="2240280" cy="457200"/>
            <a:chOff x="1920240" y="1097280"/>
            <a:chExt cx="2240280" cy="457200"/>
          </a:xfrm>
        </p:grpSpPr>
        <p:sp>
          <p:nvSpPr>
            <p:cNvPr id="20" name="Flecha 19_2"/>
            <p:cNvSpPr/>
            <p:nvPr/>
          </p:nvSpPr>
          <p:spPr>
            <a:xfrm>
              <a:off x="1920240" y="1508760"/>
              <a:ext cx="2240280" cy="45720"/>
            </a:xfrm>
            <a:custGeom>
              <a:avLst/>
              <a:gdLst/>
              <a:ahLst/>
              <a:cxnLst/>
              <a:rect l="0" t="0" r="r" b="b"/>
              <a:pathLst>
                <a:path w="2449" h="50" fill="none">
                  <a:moveTo>
                    <a:pt x="0" y="50"/>
                  </a:moveTo>
                  <a:lnTo>
                    <a:pt x="2449" y="0"/>
                  </a:lnTo>
                </a:path>
              </a:pathLst>
            </a:custGeom>
            <a:noFill/>
            <a:ln w="38100" cap="rnd">
              <a:solidFill>
                <a:srgbClr val="1E1E1E"/>
              </a:solidFill>
              <a:round/>
              <a:tailEnd type="triangle" w="med" len="med"/>
            </a:ln>
          </p:spPr>
        </p:sp>
        <p:sp>
          <p:nvSpPr>
            <p:cNvPr id="21" name="Rótulo glucosa · AA · QM"/>
            <p:cNvSpPr/>
            <p:nvPr/>
          </p:nvSpPr>
          <p:spPr>
            <a:xfrm>
              <a:off x="2240280" y="1097280"/>
              <a:ext cx="129553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AA · QM</a:t>
              </a:r>
              <a:endParaRPr lang="es-AR" sz="1150" dirty="0">
                <a:latin typeface="Fira Sans Condensed"/>
              </a:endParaRPr>
            </a:p>
          </p:txBody>
        </p:sp>
      </p:grpSp>
      <p:sp>
        <p:nvSpPr>
          <p:cNvPr id="22" name="!!Mapa elemento 1"/>
          <p:cNvSpPr/>
          <p:nvPr/>
        </p:nvSpPr>
        <p:spPr>
          <a:xfrm>
            <a:off x="2011680" y="210312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Incretinas GLP-1/GIP</a:t>
            </a:r>
            <a:endParaRPr lang="es-AR" sz="1250" dirty="0">
              <a:latin typeface="Fira Sans Condensed"/>
            </a:endParaRPr>
          </a:p>
        </p:txBody>
      </p:sp>
      <p:sp>
        <p:nvSpPr>
          <p:cNvPr id="23" name="!!Mapa elemento 2"/>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MAPA 1 · ESTADO ALIMENTADO · INGESTA E INSULINA</a:t>
            </a:r>
            <a:endParaRPr lang="es-AR" sz="30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2"/>
                                        </p:tgtEl>
                                        <p:attrNameLst>
                                          <p:attrName>style.visibility</p:attrName>
                                        </p:attrNameLst>
                                      </p:cBhvr>
                                      <p:to>
                                        <p:strVal val="visible"/>
                                      </p:to>
                                    </p:set>
                                    <p:anim calcmode="lin" valueType="num">
                                      <p:cBhvr>
                                        <p:cTn id="10" dur="500" fill="hold"/>
                                        <p:tgtEl>
                                          <p:spTgt spid="22"/>
                                        </p:tgtEl>
                                        <p:attrNameLst>
                                          <p:attrName>ppt_w</p:attrName>
                                        </p:attrNameLst>
                                      </p:cBhvr>
                                      <p:tavLst>
                                        <p:tav tm="0">
                                          <p:val>
                                            <p:fltVal val="0"/>
                                          </p:val>
                                        </p:tav>
                                        <p:tav tm="100000">
                                          <p:val>
                                            <p:strVal val="#ppt_w"/>
                                          </p:val>
                                        </p:tav>
                                      </p:tavLst>
                                    </p:anim>
                                    <p:anim calcmode="lin" valueType="num">
                                      <p:cBhvr>
                                        <p:cTn id="11" dur="500" fill="hold"/>
                                        <p:tgtEl>
                                          <p:spTgt spid="22"/>
                                        </p:tgtEl>
                                        <p:attrNameLst>
                                          <p:attrName>ppt_h</p:attrName>
                                        </p:attrNameLst>
                                      </p:cBhvr>
                                      <p:tavLst>
                                        <p:tav tm="0">
                                          <p:val>
                                            <p:fltVal val="0"/>
                                          </p:val>
                                        </p:tav>
                                        <p:tav tm="100000">
                                          <p:val>
                                            <p:strVal val="#ppt_h"/>
                                          </p:val>
                                        </p:tav>
                                      </p:tavLst>
                                    </p:anim>
                                    <p:animEffect transition="in" filter="fade">
                                      <p:cBhvr>
                                        <p:cTn id="12" dur="500"/>
                                        <p:tgtEl>
                                          <p:spTgt spid="22"/>
                                        </p:tgtEl>
                                      </p:cBhvr>
                                    </p:animEffect>
                                  </p:childTnLst>
                                </p:cTn>
                              </p:par>
                            </p:childTnLst>
                          </p:cTn>
                        </p:par>
                      </p:childTnLst>
                    </p:cTn>
                  </p:par>
                  <p:par>
                    <p:cTn id="21" fill="hold">
                      <p:stCondLst>
                        <p:cond delay="indefinite"/>
                      </p:stCondLst>
                      <p:childTnLst>
                        <p:par>
                          <p:cTn id="20"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8"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9"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10"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1"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2"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3"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4"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5"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6"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7"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8"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9" name="!!Mapa elemento 0"/>
          <p:cNvGrpSpPr/>
          <p:nvPr/>
        </p:nvGrpSpPr>
        <p:grpSpPr>
          <a:xfrm>
            <a:off x="1920240" y="1097280"/>
            <a:ext cx="2240280" cy="457200"/>
            <a:chOff x="1920240" y="1097280"/>
            <a:chExt cx="2240280" cy="457200"/>
          </a:xfrm>
        </p:grpSpPr>
        <p:sp>
          <p:nvSpPr>
            <p:cNvPr id="20" name="Flecha 19_2"/>
            <p:cNvSpPr/>
            <p:nvPr/>
          </p:nvSpPr>
          <p:spPr>
            <a:xfrm>
              <a:off x="1920240" y="1508760"/>
              <a:ext cx="2240280" cy="45720"/>
            </a:xfrm>
            <a:custGeom>
              <a:avLst/>
              <a:gdLst/>
              <a:ahLst/>
              <a:cxnLst/>
              <a:rect l="0" t="0" r="r" b="b"/>
              <a:pathLst>
                <a:path w="2449" h="50" fill="none">
                  <a:moveTo>
                    <a:pt x="0" y="50"/>
                  </a:moveTo>
                  <a:lnTo>
                    <a:pt x="2449" y="0"/>
                  </a:lnTo>
                </a:path>
              </a:pathLst>
            </a:custGeom>
            <a:noFill/>
            <a:ln w="38100" cap="rnd">
              <a:solidFill>
                <a:srgbClr val="1E1E1E"/>
              </a:solidFill>
              <a:round/>
              <a:tailEnd type="triangle" w="med" len="med"/>
            </a:ln>
          </p:spPr>
        </p:sp>
        <p:sp>
          <p:nvSpPr>
            <p:cNvPr id="21" name="Rótulo glucosa · AA · QM"/>
            <p:cNvSpPr/>
            <p:nvPr/>
          </p:nvSpPr>
          <p:spPr>
            <a:xfrm>
              <a:off x="2240280" y="1097280"/>
              <a:ext cx="129553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AA · QM</a:t>
              </a:r>
              <a:endParaRPr lang="es-AR" sz="1150" dirty="0">
                <a:latin typeface="Fira Sans Condensed"/>
              </a:endParaRPr>
            </a:p>
          </p:txBody>
        </p:sp>
      </p:grpSp>
      <p:sp>
        <p:nvSpPr>
          <p:cNvPr id="22" name="!!Mapa elemento 1"/>
          <p:cNvSpPr/>
          <p:nvPr/>
        </p:nvSpPr>
        <p:spPr>
          <a:xfrm>
            <a:off x="2011680" y="210312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Incretinas GLP-1/GIP</a:t>
            </a:r>
            <a:endParaRPr lang="es-AR" sz="1250" dirty="0">
              <a:latin typeface="Fira Sans Condensed"/>
            </a:endParaRPr>
          </a:p>
        </p:txBody>
      </p:sp>
      <p:sp>
        <p:nvSpPr>
          <p:cNvPr id="23" name="!!Mapa elemento 2"/>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grpSp>
        <p:nvGrpSpPr>
          <p:cNvPr id="24" name="!!Mapa elemento 3"/>
          <p:cNvGrpSpPr/>
          <p:nvPr/>
        </p:nvGrpSpPr>
        <p:grpSpPr>
          <a:xfrm>
            <a:off x="2514600" y="1920240"/>
            <a:ext cx="2423160" cy="1737360"/>
            <a:chOff x="2514600" y="1920240"/>
            <a:chExt cx="2423160" cy="1737360"/>
          </a:xfrm>
        </p:grpSpPr>
        <p:sp>
          <p:nvSpPr>
            <p:cNvPr id="25" name="Flecha 25_2"/>
            <p:cNvSpPr/>
            <p:nvPr/>
          </p:nvSpPr>
          <p:spPr>
            <a:xfrm>
              <a:off x="2514600" y="1920240"/>
              <a:ext cx="2423160" cy="1737360"/>
            </a:xfrm>
            <a:custGeom>
              <a:avLst/>
              <a:gdLst/>
              <a:ahLst/>
              <a:cxnLst/>
              <a:rect l="0" t="0" r="r" b="b"/>
              <a:pathLst>
                <a:path w="2650" h="1900" fill="none">
                  <a:moveTo>
                    <a:pt x="2650" y="0"/>
                  </a:moveTo>
                  <a:lnTo>
                    <a:pt x="0" y="1900"/>
                  </a:lnTo>
                </a:path>
              </a:pathLst>
            </a:custGeom>
            <a:noFill/>
            <a:ln w="38100" cap="rnd">
              <a:solidFill>
                <a:srgbClr val="1E8C3A"/>
              </a:solidFill>
              <a:round/>
              <a:tailEnd type="triangle" w="med" len="med"/>
            </a:ln>
          </p:spPr>
        </p:sp>
        <p:sp>
          <p:nvSpPr>
            <p:cNvPr id="26" name="Rótulo insulina portal"/>
            <p:cNvSpPr/>
            <p:nvPr/>
          </p:nvSpPr>
          <p:spPr>
            <a:xfrm>
              <a:off x="3144043" y="2651760"/>
              <a:ext cx="116427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insulina portal</a:t>
              </a:r>
              <a:endParaRPr lang="es-AR" sz="1150" dirty="0">
                <a:latin typeface="Fira Sans Condensed"/>
              </a:endParaRPr>
            </a:p>
          </p:txBody>
        </p:sp>
      </p:grpSp>
      <p:sp>
        <p:nvSpPr>
          <p:cNvPr id="27" name="!!Mapa elemento 4"/>
          <p:cNvSpPr/>
          <p:nvPr/>
        </p:nvSpPr>
        <p:spPr>
          <a:xfrm>
            <a:off x="2697480" y="3749040"/>
            <a:ext cx="182880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Hígado</a:t>
            </a:r>
            <a:r>
              <a:rPr lang="es-AR" sz="1150" dirty="0">
                <a:solidFill>
                  <a:srgbClr val="1E1E1E"/>
                </a:solidFill>
                <a:latin typeface="Fira Sans Condensed"/>
                <a:ea typeface="Fira Sans Condensed"/>
                <a:cs typeface="Fira Sans Condensed"/>
                <a:sym typeface="Fira Sans Condensed"/>
              </a:rPr>
              <a:t>: glucógeno ↑, glucólisis ↑, lipogénesis ↑, </a:t>
            </a:r>
            <a:r>
              <a:rPr lang="es-AR" sz="1150" b="1" dirty="0">
                <a:solidFill>
                  <a:srgbClr val="1E1E1E"/>
                </a:solidFill>
                <a:latin typeface="Fira Sans Condensed"/>
                <a:ea typeface="Fira Sans Condensed"/>
                <a:cs typeface="Fira Sans Condensed"/>
                <a:sym typeface="Fira Sans Condensed"/>
              </a:rPr>
              <a:t>PHG ↓</a:t>
            </a:r>
            <a:endParaRPr lang="es-AR" sz="1150" dirty="0">
              <a:latin typeface="Fira Sans Condensed"/>
            </a:endParaRPr>
          </a:p>
        </p:txBody>
      </p:sp>
      <p:grpSp>
        <p:nvGrpSpPr>
          <p:cNvPr id="28" name="!!Mapa elemento 5"/>
          <p:cNvGrpSpPr/>
          <p:nvPr/>
        </p:nvGrpSpPr>
        <p:grpSpPr>
          <a:xfrm>
            <a:off x="5175406" y="2011680"/>
            <a:ext cx="621988" cy="2514600"/>
            <a:chOff x="5175406" y="2011680"/>
            <a:chExt cx="621988" cy="2514600"/>
          </a:xfrm>
        </p:grpSpPr>
        <p:sp>
          <p:nvSpPr>
            <p:cNvPr id="29" name="Flecha 30_2"/>
            <p:cNvSpPr/>
            <p:nvPr/>
          </p:nvSpPr>
          <p:spPr>
            <a:xfrm>
              <a:off x="5486400" y="2011680"/>
              <a:ext cx="9144" cy="2514600"/>
            </a:xfrm>
            <a:custGeom>
              <a:avLst/>
              <a:gdLst/>
              <a:ahLst/>
              <a:cxnLst/>
              <a:rect l="0" t="0" r="r" b="b"/>
              <a:pathLst>
                <a:path w="10" h="2750" fill="none">
                  <a:moveTo>
                    <a:pt x="0" y="0"/>
                  </a:moveTo>
                  <a:lnTo>
                    <a:pt x="0" y="2750"/>
                  </a:lnTo>
                </a:path>
              </a:pathLst>
            </a:custGeom>
            <a:noFill/>
            <a:ln w="38100" cap="rnd">
              <a:solidFill>
                <a:srgbClr val="1E8C3A"/>
              </a:solidFill>
              <a:round/>
              <a:tailEnd type="triangle" w="med" len="med"/>
            </a:ln>
          </p:spPr>
        </p:sp>
        <p:sp>
          <p:nvSpPr>
            <p:cNvPr id="30" name="Rótulo GLUT4"/>
            <p:cNvSpPr/>
            <p:nvPr/>
          </p:nvSpPr>
          <p:spPr>
            <a:xfrm>
              <a:off x="5175406" y="3131820"/>
              <a:ext cx="621988"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GLUT4</a:t>
              </a:r>
              <a:endParaRPr lang="es-AR" sz="1150" dirty="0">
                <a:latin typeface="Fira Sans Condensed"/>
              </a:endParaRPr>
            </a:p>
          </p:txBody>
        </p:sp>
      </p:grpSp>
      <p:sp>
        <p:nvSpPr>
          <p:cNvPr id="31" name="!!Mapa elemento 6"/>
          <p:cNvSpPr/>
          <p:nvPr/>
        </p:nvSpPr>
        <p:spPr>
          <a:xfrm>
            <a:off x="6903720" y="4800600"/>
            <a:ext cx="23774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Músculo</a:t>
            </a:r>
            <a:r>
              <a:rPr lang="es-AR" sz="1150" dirty="0">
                <a:solidFill>
                  <a:srgbClr val="1E1E1E"/>
                </a:solidFill>
                <a:latin typeface="Fira Sans Condensed"/>
                <a:ea typeface="Fira Sans Condensed"/>
                <a:cs typeface="Fira Sans Condensed"/>
                <a:sym typeface="Fira Sans Condensed"/>
              </a:rPr>
              <a:t>: captación ↑, glucógeno ↑, síntesis proteica ↑</a:t>
            </a:r>
            <a:endParaRPr lang="es-AR" sz="1150" dirty="0">
              <a:latin typeface="Fira Sans Condensed"/>
            </a:endParaRPr>
          </a:p>
        </p:txBody>
      </p:sp>
      <p:grpSp>
        <p:nvGrpSpPr>
          <p:cNvPr id="32" name="!!Mapa elemento 7"/>
          <p:cNvGrpSpPr/>
          <p:nvPr/>
        </p:nvGrpSpPr>
        <p:grpSpPr>
          <a:xfrm>
            <a:off x="6583680" y="1783080"/>
            <a:ext cx="3246120" cy="2148840"/>
            <a:chOff x="6583680" y="1783080"/>
            <a:chExt cx="3246120" cy="2148840"/>
          </a:xfrm>
        </p:grpSpPr>
        <p:sp>
          <p:nvSpPr>
            <p:cNvPr id="33" name="Flecha 35_2"/>
            <p:cNvSpPr/>
            <p:nvPr/>
          </p:nvSpPr>
          <p:spPr>
            <a:xfrm>
              <a:off x="6583680" y="1783080"/>
              <a:ext cx="3246120" cy="2148840"/>
            </a:xfrm>
            <a:custGeom>
              <a:avLst/>
              <a:gdLst/>
              <a:ahLst/>
              <a:cxnLst/>
              <a:rect l="0" t="0" r="r" b="b"/>
              <a:pathLst>
                <a:path w="3550" h="2349" fill="none">
                  <a:moveTo>
                    <a:pt x="0" y="0"/>
                  </a:moveTo>
                  <a:lnTo>
                    <a:pt x="3550" y="2349"/>
                  </a:lnTo>
                </a:path>
              </a:pathLst>
            </a:custGeom>
            <a:noFill/>
            <a:ln w="38100" cap="rnd">
              <a:solidFill>
                <a:srgbClr val="1E8C3A"/>
              </a:solidFill>
              <a:round/>
              <a:tailEnd type="triangle" w="med" len="med"/>
            </a:ln>
          </p:spPr>
        </p:sp>
        <p:sp>
          <p:nvSpPr>
            <p:cNvPr id="34" name="Rótulo GLUT4 · LPL"/>
            <p:cNvSpPr/>
            <p:nvPr/>
          </p:nvSpPr>
          <p:spPr>
            <a:xfrm>
              <a:off x="7730183" y="2720340"/>
              <a:ext cx="95311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GLUT4 · LPL</a:t>
              </a:r>
              <a:endParaRPr lang="es-AR" sz="1150" dirty="0">
                <a:latin typeface="Fira Sans Condensed"/>
              </a:endParaRPr>
            </a:p>
          </p:txBody>
        </p:sp>
      </p:grpSp>
      <p:sp>
        <p:nvSpPr>
          <p:cNvPr id="35" name="!!Mapa elemento 8"/>
          <p:cNvSpPr/>
          <p:nvPr/>
        </p:nvSpPr>
        <p:spPr>
          <a:xfrm>
            <a:off x="7726680" y="3794760"/>
            <a:ext cx="19659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Adiposo</a:t>
            </a:r>
            <a:r>
              <a:rPr lang="es-AR" sz="1150" dirty="0">
                <a:solidFill>
                  <a:srgbClr val="1E1E1E"/>
                </a:solidFill>
                <a:latin typeface="Fira Sans Condensed"/>
                <a:ea typeface="Fira Sans Condensed"/>
                <a:cs typeface="Fira Sans Condensed"/>
                <a:sym typeface="Fira Sans Condensed"/>
              </a:rPr>
              <a:t>: TAG ↑, </a:t>
            </a:r>
            <a:r>
              <a:rPr lang="es-AR" sz="1150" b="1" dirty="0">
                <a:solidFill>
                  <a:srgbClr val="1E1E1E"/>
                </a:solidFill>
                <a:latin typeface="Fira Sans Condensed"/>
                <a:ea typeface="Fira Sans Condensed"/>
                <a:cs typeface="Fira Sans Condensed"/>
                <a:sym typeface="Fira Sans Condensed"/>
              </a:rPr>
              <a:t>lipólisis ↓</a:t>
            </a:r>
            <a:endParaRPr lang="es-AR" sz="1150" dirty="0">
              <a:latin typeface="Fira Sans Condensed"/>
            </a:endParaRPr>
          </a:p>
        </p:txBody>
      </p:sp>
      <p:grpSp>
        <p:nvGrpSpPr>
          <p:cNvPr id="36" name="!!Mapa elemento 9"/>
          <p:cNvGrpSpPr/>
          <p:nvPr/>
        </p:nvGrpSpPr>
        <p:grpSpPr>
          <a:xfrm>
            <a:off x="9281160" y="1371600"/>
            <a:ext cx="731520" cy="592137"/>
            <a:chOff x="9281160" y="1371600"/>
            <a:chExt cx="731520" cy="592137"/>
          </a:xfrm>
        </p:grpSpPr>
        <p:sp>
          <p:nvSpPr>
            <p:cNvPr id="37" name="Flecha 40_2"/>
            <p:cNvSpPr/>
            <p:nvPr/>
          </p:nvSpPr>
          <p:spPr>
            <a:xfrm>
              <a:off x="9326880" y="1371600"/>
              <a:ext cx="685800" cy="45720"/>
            </a:xfrm>
            <a:custGeom>
              <a:avLst/>
              <a:gdLst/>
              <a:ahLst/>
              <a:cxnLst/>
              <a:rect l="0" t="0" r="r" b="b"/>
              <a:pathLst>
                <a:path w="750" h="50" fill="none">
                  <a:moveTo>
                    <a:pt x="0" y="50"/>
                  </a:moveTo>
                  <a:lnTo>
                    <a:pt x="750" y="0"/>
                  </a:lnTo>
                </a:path>
              </a:pathLst>
            </a:custGeom>
            <a:noFill/>
            <a:ln w="38100" cap="rnd">
              <a:solidFill>
                <a:srgbClr val="1E1E1E"/>
              </a:solidFill>
              <a:round/>
              <a:tailEnd type="triangle" w="med" len="med"/>
            </a:ln>
          </p:spPr>
        </p:sp>
        <p:sp>
          <p:nvSpPr>
            <p:cNvPr id="38" name="Rótulo glucosa"/>
            <p:cNvSpPr/>
            <p:nvPr/>
          </p:nvSpPr>
          <p:spPr>
            <a:xfrm>
              <a:off x="9281160" y="1737360"/>
              <a:ext cx="71469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a:t>
              </a:r>
              <a:endParaRPr lang="es-AR" sz="1150" dirty="0">
                <a:latin typeface="Fira Sans Condensed"/>
              </a:endParaRPr>
            </a:p>
          </p:txBody>
        </p:sp>
      </p:gr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MAPA 1 · ESTADO ALIMENTADO · ACCIÓN EN TEJIDOS</a:t>
            </a:r>
            <a:endParaRPr lang="es-AR" sz="31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500"/>
                                        <p:tgtEl>
                                          <p:spTgt spid="24"/>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7"/>
                                        </p:tgtEl>
                                        <p:attrNameLst>
                                          <p:attrName>style.visibility</p:attrName>
                                        </p:attrNameLst>
                                      </p:cBhvr>
                                      <p:to>
                                        <p:strVal val="visible"/>
                                      </p:to>
                                    </p:set>
                                    <p:anim calcmode="lin" valueType="num">
                                      <p:cBhvr>
                                        <p:cTn id="10" dur="500" fill="hold"/>
                                        <p:tgtEl>
                                          <p:spTgt spid="27"/>
                                        </p:tgtEl>
                                        <p:attrNameLst>
                                          <p:attrName>ppt_w</p:attrName>
                                        </p:attrNameLst>
                                      </p:cBhvr>
                                      <p:tavLst>
                                        <p:tav tm="0">
                                          <p:val>
                                            <p:fltVal val="0"/>
                                          </p:val>
                                        </p:tav>
                                        <p:tav tm="100000">
                                          <p:val>
                                            <p:strVal val="#ppt_w"/>
                                          </p:val>
                                        </p:tav>
                                      </p:tavLst>
                                    </p:anim>
                                    <p:anim calcmode="lin" valueType="num">
                                      <p:cBhvr>
                                        <p:cTn id="11" dur="500" fill="hold"/>
                                        <p:tgtEl>
                                          <p:spTgt spid="27"/>
                                        </p:tgtEl>
                                        <p:attrNameLst>
                                          <p:attrName>ppt_h</p:attrName>
                                        </p:attrNameLst>
                                      </p:cBhvr>
                                      <p:tavLst>
                                        <p:tav tm="0">
                                          <p:val>
                                            <p:fltVal val="0"/>
                                          </p:val>
                                        </p:tav>
                                        <p:tav tm="100000">
                                          <p:val>
                                            <p:strVal val="#ppt_h"/>
                                          </p:val>
                                        </p:tav>
                                      </p:tavLst>
                                    </p:anim>
                                    <p:animEffect transition="in" filter="fade">
                                      <p:cBhvr>
                                        <p:cTn id="12" dur="500"/>
                                        <p:tgtEl>
                                          <p:spTgt spid="27"/>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26" fill="hold">
                      <p:stCondLst>
                        <p:cond delay="indefinite"/>
                      </p:stCondLst>
                      <p:childTnLst>
                        <p:par>
                          <p:cTn id="25"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childTnLst>
                          </p:cTn>
                        </p:par>
                      </p:childTnLst>
                    </p:cTn>
                  </p:par>
                  <p:par>
                    <p:cTn id="31" fill="hold">
                      <p:stCondLst>
                        <p:cond delay="indefinite"/>
                      </p:stCondLst>
                      <p:childTnLst>
                        <p:par>
                          <p:cTn id="3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childTnLst>
                          </p:cTn>
                        </p:par>
                      </p:childTnLst>
                    </p:cTn>
                  </p:par>
                  <p:par>
                    <p:cTn id="38" fill="hold">
                      <p:stCondLst>
                        <p:cond delay="indefinite"/>
                      </p:stCondLst>
                      <p:childTnLst>
                        <p:par>
                          <p:cTn id="37"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fltVal val="0"/>
                                          </p:val>
                                        </p:tav>
                                        <p:tav tm="100000">
                                          <p:val>
                                            <p:strVal val="#ppt_w"/>
                                          </p:val>
                                        </p:tav>
                                      </p:tavLst>
                                    </p:anim>
                                    <p:anim calcmode="lin" valueType="num">
                                      <p:cBhvr>
                                        <p:cTn id="35" dur="500" fill="hold"/>
                                        <p:tgtEl>
                                          <p:spTgt spid="35"/>
                                        </p:tgtEl>
                                        <p:attrNameLst>
                                          <p:attrName>ppt_h</p:attrName>
                                        </p:attrNameLst>
                                      </p:cBhvr>
                                      <p:tavLst>
                                        <p:tav tm="0">
                                          <p:val>
                                            <p:fltVal val="0"/>
                                          </p:val>
                                        </p:tav>
                                        <p:tav tm="100000">
                                          <p:val>
                                            <p:strVal val="#ppt_h"/>
                                          </p:val>
                                        </p:tav>
                                      </p:tavLst>
                                    </p:anim>
                                    <p:animEffect transition="in" filter="fade">
                                      <p:cBhvr>
                                        <p:cTn id="36" dur="500"/>
                                        <p:tgtEl>
                                          <p:spTgt spid="35"/>
                                        </p:tgtEl>
                                      </p:cBhvr>
                                    </p:animEffect>
                                  </p:childTnLst>
                                </p:cTn>
                              </p:par>
                            </p:childTnLst>
                          </p:cTn>
                        </p:par>
                      </p:childTnLst>
                    </p:cTn>
                  </p:par>
                  <p:par>
                    <p:cTn id="43" fill="hold">
                      <p:stCondLst>
                        <p:cond delay="indefinite"/>
                      </p:stCondLst>
                      <p:childTnLst>
                        <p:par>
                          <p:cTn id="42"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1" grpId="0" animBg="1"/>
      <p:bldP spid="35"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8"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9"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10"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1"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2"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3"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4"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5"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6"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7"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8"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9" name="!!Mapa elemento 0"/>
          <p:cNvGrpSpPr/>
          <p:nvPr/>
        </p:nvGrpSpPr>
        <p:grpSpPr>
          <a:xfrm>
            <a:off x="1920240" y="1097280"/>
            <a:ext cx="2240280" cy="457200"/>
            <a:chOff x="1920240" y="1097280"/>
            <a:chExt cx="2240280" cy="457200"/>
          </a:xfrm>
        </p:grpSpPr>
        <p:sp>
          <p:nvSpPr>
            <p:cNvPr id="20" name="Flecha 19_2"/>
            <p:cNvSpPr/>
            <p:nvPr/>
          </p:nvSpPr>
          <p:spPr>
            <a:xfrm>
              <a:off x="1920240" y="1508760"/>
              <a:ext cx="2240280" cy="45720"/>
            </a:xfrm>
            <a:custGeom>
              <a:avLst/>
              <a:gdLst/>
              <a:ahLst/>
              <a:cxnLst/>
              <a:rect l="0" t="0" r="r" b="b"/>
              <a:pathLst>
                <a:path w="2449" h="50" fill="none">
                  <a:moveTo>
                    <a:pt x="0" y="50"/>
                  </a:moveTo>
                  <a:lnTo>
                    <a:pt x="2449" y="0"/>
                  </a:lnTo>
                </a:path>
              </a:pathLst>
            </a:custGeom>
            <a:noFill/>
            <a:ln w="38100" cap="rnd">
              <a:solidFill>
                <a:srgbClr val="1E1E1E"/>
              </a:solidFill>
              <a:round/>
              <a:tailEnd type="triangle" w="med" len="med"/>
            </a:ln>
          </p:spPr>
        </p:sp>
        <p:sp>
          <p:nvSpPr>
            <p:cNvPr id="21" name="Rótulo glucosa · AA · QM"/>
            <p:cNvSpPr/>
            <p:nvPr/>
          </p:nvSpPr>
          <p:spPr>
            <a:xfrm>
              <a:off x="2240280" y="1097280"/>
              <a:ext cx="129553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AA · QM</a:t>
              </a:r>
              <a:endParaRPr lang="es-AR" sz="1150" dirty="0">
                <a:latin typeface="Fira Sans Condensed"/>
              </a:endParaRPr>
            </a:p>
          </p:txBody>
        </p:sp>
      </p:grpSp>
      <p:sp>
        <p:nvSpPr>
          <p:cNvPr id="22" name="!!Mapa elemento 1"/>
          <p:cNvSpPr/>
          <p:nvPr/>
        </p:nvSpPr>
        <p:spPr>
          <a:xfrm>
            <a:off x="2011680" y="210312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Incretinas GLP-1/GIP</a:t>
            </a:r>
            <a:endParaRPr lang="es-AR" sz="1250" dirty="0">
              <a:latin typeface="Fira Sans Condensed"/>
            </a:endParaRPr>
          </a:p>
        </p:txBody>
      </p:sp>
      <p:sp>
        <p:nvSpPr>
          <p:cNvPr id="23" name="!!Mapa elemento 2"/>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grpSp>
        <p:nvGrpSpPr>
          <p:cNvPr id="24" name="!!Mapa elemento 3"/>
          <p:cNvGrpSpPr/>
          <p:nvPr/>
        </p:nvGrpSpPr>
        <p:grpSpPr>
          <a:xfrm>
            <a:off x="2514600" y="1920240"/>
            <a:ext cx="2423160" cy="1737360"/>
            <a:chOff x="2514600" y="1920240"/>
            <a:chExt cx="2423160" cy="1737360"/>
          </a:xfrm>
        </p:grpSpPr>
        <p:sp>
          <p:nvSpPr>
            <p:cNvPr id="25" name="Flecha 25_2"/>
            <p:cNvSpPr/>
            <p:nvPr/>
          </p:nvSpPr>
          <p:spPr>
            <a:xfrm>
              <a:off x="2514600" y="1920240"/>
              <a:ext cx="2423160" cy="1737360"/>
            </a:xfrm>
            <a:custGeom>
              <a:avLst/>
              <a:gdLst/>
              <a:ahLst/>
              <a:cxnLst/>
              <a:rect l="0" t="0" r="r" b="b"/>
              <a:pathLst>
                <a:path w="2650" h="1900" fill="none">
                  <a:moveTo>
                    <a:pt x="2650" y="0"/>
                  </a:moveTo>
                  <a:lnTo>
                    <a:pt x="0" y="1900"/>
                  </a:lnTo>
                </a:path>
              </a:pathLst>
            </a:custGeom>
            <a:noFill/>
            <a:ln w="38100" cap="rnd">
              <a:solidFill>
                <a:srgbClr val="1E8C3A"/>
              </a:solidFill>
              <a:round/>
              <a:tailEnd type="triangle" w="med" len="med"/>
            </a:ln>
          </p:spPr>
        </p:sp>
        <p:sp>
          <p:nvSpPr>
            <p:cNvPr id="26" name="Rótulo insulina portal"/>
            <p:cNvSpPr/>
            <p:nvPr/>
          </p:nvSpPr>
          <p:spPr>
            <a:xfrm>
              <a:off x="3144043" y="2651760"/>
              <a:ext cx="116427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insulina portal</a:t>
              </a:r>
              <a:endParaRPr lang="es-AR" sz="1150" dirty="0">
                <a:latin typeface="Fira Sans Condensed"/>
              </a:endParaRPr>
            </a:p>
          </p:txBody>
        </p:sp>
      </p:grpSp>
      <p:sp>
        <p:nvSpPr>
          <p:cNvPr id="27" name="!!Mapa elemento 4"/>
          <p:cNvSpPr/>
          <p:nvPr/>
        </p:nvSpPr>
        <p:spPr>
          <a:xfrm>
            <a:off x="2697480" y="3749040"/>
            <a:ext cx="182880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Hígado</a:t>
            </a:r>
            <a:r>
              <a:rPr lang="es-AR" sz="1150" dirty="0">
                <a:solidFill>
                  <a:srgbClr val="1E1E1E"/>
                </a:solidFill>
                <a:latin typeface="Fira Sans Condensed"/>
                <a:ea typeface="Fira Sans Condensed"/>
                <a:cs typeface="Fira Sans Condensed"/>
                <a:sym typeface="Fira Sans Condensed"/>
              </a:rPr>
              <a:t>: glucógeno ↑, glucólisis ↑, lipogénesis ↑, </a:t>
            </a:r>
            <a:r>
              <a:rPr lang="es-AR" sz="1150" b="1" dirty="0">
                <a:solidFill>
                  <a:srgbClr val="1E1E1E"/>
                </a:solidFill>
                <a:latin typeface="Fira Sans Condensed"/>
                <a:ea typeface="Fira Sans Condensed"/>
                <a:cs typeface="Fira Sans Condensed"/>
                <a:sym typeface="Fira Sans Condensed"/>
              </a:rPr>
              <a:t>PHG ↓</a:t>
            </a:r>
            <a:endParaRPr lang="es-AR" sz="1150" dirty="0">
              <a:latin typeface="Fira Sans Condensed"/>
            </a:endParaRPr>
          </a:p>
        </p:txBody>
      </p:sp>
      <p:grpSp>
        <p:nvGrpSpPr>
          <p:cNvPr id="28" name="!!Mapa elemento 5"/>
          <p:cNvGrpSpPr/>
          <p:nvPr/>
        </p:nvGrpSpPr>
        <p:grpSpPr>
          <a:xfrm>
            <a:off x="5175406" y="2011680"/>
            <a:ext cx="621988" cy="2514600"/>
            <a:chOff x="5175406" y="2011680"/>
            <a:chExt cx="621988" cy="2514600"/>
          </a:xfrm>
        </p:grpSpPr>
        <p:sp>
          <p:nvSpPr>
            <p:cNvPr id="29" name="Flecha 30_2"/>
            <p:cNvSpPr/>
            <p:nvPr/>
          </p:nvSpPr>
          <p:spPr>
            <a:xfrm>
              <a:off x="5486400" y="2011680"/>
              <a:ext cx="9144" cy="2514600"/>
            </a:xfrm>
            <a:custGeom>
              <a:avLst/>
              <a:gdLst/>
              <a:ahLst/>
              <a:cxnLst/>
              <a:rect l="0" t="0" r="r" b="b"/>
              <a:pathLst>
                <a:path w="10" h="2750" fill="none">
                  <a:moveTo>
                    <a:pt x="0" y="0"/>
                  </a:moveTo>
                  <a:lnTo>
                    <a:pt x="0" y="2750"/>
                  </a:lnTo>
                </a:path>
              </a:pathLst>
            </a:custGeom>
            <a:noFill/>
            <a:ln w="38100" cap="rnd">
              <a:solidFill>
                <a:srgbClr val="1E8C3A"/>
              </a:solidFill>
              <a:round/>
              <a:tailEnd type="triangle" w="med" len="med"/>
            </a:ln>
          </p:spPr>
        </p:sp>
        <p:sp>
          <p:nvSpPr>
            <p:cNvPr id="30" name="Rótulo GLUT4"/>
            <p:cNvSpPr/>
            <p:nvPr/>
          </p:nvSpPr>
          <p:spPr>
            <a:xfrm>
              <a:off x="5175406" y="3131820"/>
              <a:ext cx="621988"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GLUT4</a:t>
              </a:r>
              <a:endParaRPr lang="es-AR" sz="1150" dirty="0">
                <a:latin typeface="Fira Sans Condensed"/>
              </a:endParaRPr>
            </a:p>
          </p:txBody>
        </p:sp>
      </p:grpSp>
      <p:sp>
        <p:nvSpPr>
          <p:cNvPr id="31" name="!!Mapa elemento 6"/>
          <p:cNvSpPr/>
          <p:nvPr/>
        </p:nvSpPr>
        <p:spPr>
          <a:xfrm>
            <a:off x="6903720" y="4800600"/>
            <a:ext cx="23774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Músculo</a:t>
            </a:r>
            <a:r>
              <a:rPr lang="es-AR" sz="1150" dirty="0">
                <a:solidFill>
                  <a:srgbClr val="1E1E1E"/>
                </a:solidFill>
                <a:latin typeface="Fira Sans Condensed"/>
                <a:ea typeface="Fira Sans Condensed"/>
                <a:cs typeface="Fira Sans Condensed"/>
                <a:sym typeface="Fira Sans Condensed"/>
              </a:rPr>
              <a:t>: captación ↑, glucógeno ↑, síntesis proteica ↑</a:t>
            </a:r>
            <a:endParaRPr lang="es-AR" sz="1150" dirty="0">
              <a:latin typeface="Fira Sans Condensed"/>
            </a:endParaRPr>
          </a:p>
        </p:txBody>
      </p:sp>
      <p:grpSp>
        <p:nvGrpSpPr>
          <p:cNvPr id="32" name="!!Mapa elemento 7"/>
          <p:cNvGrpSpPr/>
          <p:nvPr/>
        </p:nvGrpSpPr>
        <p:grpSpPr>
          <a:xfrm>
            <a:off x="6583680" y="1783080"/>
            <a:ext cx="3246120" cy="2148840"/>
            <a:chOff x="6583680" y="1783080"/>
            <a:chExt cx="3246120" cy="2148840"/>
          </a:xfrm>
        </p:grpSpPr>
        <p:sp>
          <p:nvSpPr>
            <p:cNvPr id="33" name="Flecha 35_2"/>
            <p:cNvSpPr/>
            <p:nvPr/>
          </p:nvSpPr>
          <p:spPr>
            <a:xfrm>
              <a:off x="6583680" y="1783080"/>
              <a:ext cx="3246120" cy="2148840"/>
            </a:xfrm>
            <a:custGeom>
              <a:avLst/>
              <a:gdLst/>
              <a:ahLst/>
              <a:cxnLst/>
              <a:rect l="0" t="0" r="r" b="b"/>
              <a:pathLst>
                <a:path w="3550" h="2349" fill="none">
                  <a:moveTo>
                    <a:pt x="0" y="0"/>
                  </a:moveTo>
                  <a:lnTo>
                    <a:pt x="3550" y="2349"/>
                  </a:lnTo>
                </a:path>
              </a:pathLst>
            </a:custGeom>
            <a:noFill/>
            <a:ln w="38100" cap="rnd">
              <a:solidFill>
                <a:srgbClr val="1E8C3A"/>
              </a:solidFill>
              <a:round/>
              <a:tailEnd type="triangle" w="med" len="med"/>
            </a:ln>
          </p:spPr>
        </p:sp>
        <p:sp>
          <p:nvSpPr>
            <p:cNvPr id="34" name="Rótulo GLUT4 · LPL"/>
            <p:cNvSpPr/>
            <p:nvPr/>
          </p:nvSpPr>
          <p:spPr>
            <a:xfrm>
              <a:off x="7730183" y="2720340"/>
              <a:ext cx="95311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GLUT4 · LPL</a:t>
              </a:r>
              <a:endParaRPr lang="es-AR" sz="1150" dirty="0">
                <a:latin typeface="Fira Sans Condensed"/>
              </a:endParaRPr>
            </a:p>
          </p:txBody>
        </p:sp>
      </p:grpSp>
      <p:sp>
        <p:nvSpPr>
          <p:cNvPr id="35" name="!!Mapa elemento 8"/>
          <p:cNvSpPr/>
          <p:nvPr/>
        </p:nvSpPr>
        <p:spPr>
          <a:xfrm>
            <a:off x="7726680" y="3794760"/>
            <a:ext cx="19659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Adiposo</a:t>
            </a:r>
            <a:r>
              <a:rPr lang="es-AR" sz="1150" dirty="0">
                <a:solidFill>
                  <a:srgbClr val="1E1E1E"/>
                </a:solidFill>
                <a:latin typeface="Fira Sans Condensed"/>
                <a:ea typeface="Fira Sans Condensed"/>
                <a:cs typeface="Fira Sans Condensed"/>
                <a:sym typeface="Fira Sans Condensed"/>
              </a:rPr>
              <a:t>: TAG ↑, </a:t>
            </a:r>
            <a:r>
              <a:rPr lang="es-AR" sz="1150" b="1" dirty="0">
                <a:solidFill>
                  <a:srgbClr val="1E1E1E"/>
                </a:solidFill>
                <a:latin typeface="Fira Sans Condensed"/>
                <a:ea typeface="Fira Sans Condensed"/>
                <a:cs typeface="Fira Sans Condensed"/>
                <a:sym typeface="Fira Sans Condensed"/>
              </a:rPr>
              <a:t>lipólisis ↓</a:t>
            </a:r>
            <a:endParaRPr lang="es-AR" sz="1150" dirty="0">
              <a:latin typeface="Fira Sans Condensed"/>
            </a:endParaRPr>
          </a:p>
        </p:txBody>
      </p:sp>
      <p:grpSp>
        <p:nvGrpSpPr>
          <p:cNvPr id="36" name="!!Mapa elemento 9"/>
          <p:cNvGrpSpPr/>
          <p:nvPr/>
        </p:nvGrpSpPr>
        <p:grpSpPr>
          <a:xfrm>
            <a:off x="9281160" y="1371600"/>
            <a:ext cx="731520" cy="592137"/>
            <a:chOff x="9281160" y="1371600"/>
            <a:chExt cx="731520" cy="592137"/>
          </a:xfrm>
        </p:grpSpPr>
        <p:sp>
          <p:nvSpPr>
            <p:cNvPr id="37" name="Flecha 40_2"/>
            <p:cNvSpPr/>
            <p:nvPr/>
          </p:nvSpPr>
          <p:spPr>
            <a:xfrm>
              <a:off x="9326880" y="1371600"/>
              <a:ext cx="685800" cy="45720"/>
            </a:xfrm>
            <a:custGeom>
              <a:avLst/>
              <a:gdLst/>
              <a:ahLst/>
              <a:cxnLst/>
              <a:rect l="0" t="0" r="r" b="b"/>
              <a:pathLst>
                <a:path w="750" h="50" fill="none">
                  <a:moveTo>
                    <a:pt x="0" y="50"/>
                  </a:moveTo>
                  <a:lnTo>
                    <a:pt x="750" y="0"/>
                  </a:lnTo>
                </a:path>
              </a:pathLst>
            </a:custGeom>
            <a:noFill/>
            <a:ln w="38100" cap="rnd">
              <a:solidFill>
                <a:srgbClr val="1E1E1E"/>
              </a:solidFill>
              <a:round/>
              <a:tailEnd type="triangle" w="med" len="med"/>
            </a:ln>
          </p:spPr>
        </p:sp>
        <p:sp>
          <p:nvSpPr>
            <p:cNvPr id="38" name="Rótulo glucosa"/>
            <p:cNvSpPr/>
            <p:nvPr/>
          </p:nvSpPr>
          <p:spPr>
            <a:xfrm>
              <a:off x="9281160" y="1737360"/>
              <a:ext cx="71469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a:t>
              </a:r>
              <a:endParaRPr lang="es-AR" sz="1150" dirty="0">
                <a:latin typeface="Fira Sans Condensed"/>
              </a:endParaRPr>
            </a:p>
          </p:txBody>
        </p:sp>
      </p:grpSp>
      <p:sp>
        <p:nvSpPr>
          <p:cNvPr id="39" name="!!Conclusión mapa"/>
          <p:cNvSpPr/>
          <p:nvPr/>
        </p:nvSpPr>
        <p:spPr>
          <a:xfrm>
            <a:off x="365760" y="6062472"/>
            <a:ext cx="11430000" cy="384048"/>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b="1" dirty="0">
                <a:solidFill>
                  <a:srgbClr val="FFFFFF"/>
                </a:solidFill>
                <a:latin typeface="Fira Sans Condensed"/>
                <a:ea typeface="Fira Sans Condensed"/>
                <a:cs typeface="Fira Sans Condensed"/>
                <a:sym typeface="Fira Sans Condensed"/>
              </a:rPr>
              <a:t>Insulina = señal de abundancia</a:t>
            </a:r>
            <a:r>
              <a:rPr lang="es-AR" sz="1400" dirty="0">
                <a:solidFill>
                  <a:srgbClr val="FFFFFF"/>
                </a:solidFill>
                <a:latin typeface="Fira Sans Condensed"/>
                <a:ea typeface="Fira Sans Condensed"/>
                <a:cs typeface="Fira Sans Condensed"/>
                <a:sym typeface="Fira Sans Condensed"/>
              </a:rPr>
              <a:t>: captar, utilizar y almacenar.</a:t>
            </a:r>
            <a:endParaRPr lang="es-AR" sz="140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MAPA 1 · ESTADO ALIMENTADO · SISTEMA COMPLETO</a:t>
            </a:r>
            <a:endParaRPr lang="es-AR" sz="30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4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9"/>
                                        </p:tgtEl>
                                        <p:attrNameLst>
                                          <p:attrName>style.visibility</p:attrName>
                                        </p:attrNameLst>
                                      </p:cBhvr>
                                      <p:to>
                                        <p:strVal val="visible"/>
                                      </p:to>
                                    </p:set>
                                    <p:anim calcmode="lin" valueType="num">
                                      <p:cBhvr>
                                        <p:cTn id="5" dur="500" fill="hold"/>
                                        <p:tgtEl>
                                          <p:spTgt spid="39"/>
                                        </p:tgtEl>
                                        <p:attrNameLst>
                                          <p:attrName>ppt_w</p:attrName>
                                        </p:attrNameLst>
                                      </p:cBhvr>
                                      <p:tavLst>
                                        <p:tav tm="0">
                                          <p:val>
                                            <p:fltVal val="0"/>
                                          </p:val>
                                        </p:tav>
                                        <p:tav tm="100000">
                                          <p:val>
                                            <p:strVal val="#ppt_w"/>
                                          </p:val>
                                        </p:tav>
                                      </p:tavLst>
                                    </p:anim>
                                    <p:anim calcmode="lin" valueType="num">
                                      <p:cBhvr>
                                        <p:cTn id="6" dur="500" fill="hold"/>
                                        <p:tgtEl>
                                          <p:spTgt spid="39"/>
                                        </p:tgtEl>
                                        <p:attrNameLst>
                                          <p:attrName>ppt_h</p:attrName>
                                        </p:attrNameLst>
                                      </p:cBhvr>
                                      <p:tavLst>
                                        <p:tav tm="0">
                                          <p:val>
                                            <p:fltVal val="0"/>
                                          </p:val>
                                        </p:tav>
                                        <p:tav tm="100000">
                                          <p:val>
                                            <p:strVal val="#ppt_h"/>
                                          </p:val>
                                        </p:tav>
                                      </p:tavLst>
                                    </p:anim>
                                    <p:animEffect transition="in" filter="fad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7"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8"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9"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0"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1"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3"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5"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6"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7"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sp>
        <p:nvSpPr>
          <p:cNvPr id="18" name="!!Mapa elemento 0"/>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grpSp>
        <p:nvGrpSpPr>
          <p:cNvPr id="19" name="!!Mapa elemento 1"/>
          <p:cNvGrpSpPr/>
          <p:nvPr/>
        </p:nvGrpSpPr>
        <p:grpSpPr>
          <a:xfrm>
            <a:off x="2514600" y="1920240"/>
            <a:ext cx="2423160" cy="1737360"/>
            <a:chOff x="2514600" y="1920240"/>
            <a:chExt cx="2423160" cy="1737360"/>
          </a:xfrm>
        </p:grpSpPr>
        <p:sp>
          <p:nvSpPr>
            <p:cNvPr id="20" name="Flecha 19_2"/>
            <p:cNvSpPr/>
            <p:nvPr/>
          </p:nvSpPr>
          <p:spPr>
            <a:xfrm>
              <a:off x="2514600" y="1920240"/>
              <a:ext cx="2423160" cy="1737360"/>
            </a:xfrm>
            <a:custGeom>
              <a:avLst/>
              <a:gdLst/>
              <a:ahLst/>
              <a:cxnLst/>
              <a:rect l="0" t="0" r="r" b="b"/>
              <a:pathLst>
                <a:path w="2650" h="1900" fill="none">
                  <a:moveTo>
                    <a:pt x="2650" y="0"/>
                  </a:moveTo>
                  <a:lnTo>
                    <a:pt x="0" y="1900"/>
                  </a:lnTo>
                </a:path>
              </a:pathLst>
            </a:custGeom>
            <a:noFill/>
            <a:ln w="38100" cap="rnd">
              <a:solidFill>
                <a:srgbClr val="1E1E1E"/>
              </a:solidFill>
              <a:round/>
              <a:tailEnd type="triangle" w="med" len="med"/>
            </a:ln>
          </p:spPr>
        </p:sp>
        <p:sp>
          <p:nvSpPr>
            <p:cNvPr id="21" name="Rótulo glucagón portal"/>
            <p:cNvSpPr/>
            <p:nvPr/>
          </p:nvSpPr>
          <p:spPr>
            <a:xfrm>
              <a:off x="3109519" y="2651760"/>
              <a:ext cx="12333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glucagón portal</a:t>
              </a:r>
              <a:endParaRPr lang="es-AR" sz="1150" dirty="0">
                <a:latin typeface="Fira Sans Condensed"/>
              </a:endParaRPr>
            </a:p>
          </p:txBody>
        </p:sp>
      </p:grpSp>
      <p:sp>
        <p:nvSpPr>
          <p:cNvPr id="22" name="!!Mapa elemento 2"/>
          <p:cNvSpPr/>
          <p:nvPr/>
        </p:nvSpPr>
        <p:spPr>
          <a:xfrm>
            <a:off x="2697480" y="2926080"/>
            <a:ext cx="182880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Hígado</a:t>
            </a:r>
            <a:r>
              <a:rPr lang="es-AR" sz="1150" dirty="0">
                <a:solidFill>
                  <a:srgbClr val="1E1E1E"/>
                </a:solidFill>
                <a:latin typeface="Fira Sans Condensed"/>
                <a:ea typeface="Fira Sans Condensed"/>
                <a:cs typeface="Fira Sans Condensed"/>
                <a:sym typeface="Fira Sans Condensed"/>
              </a:rPr>
              <a:t>: glucogenólisis → </a:t>
            </a:r>
            <a:r>
              <a:rPr lang="es-AR" sz="1150" b="1" dirty="0">
                <a:solidFill>
                  <a:srgbClr val="1E1E1E"/>
                </a:solidFill>
                <a:latin typeface="Fira Sans Condensed"/>
                <a:ea typeface="Fira Sans Condensed"/>
                <a:cs typeface="Fira Sans Condensed"/>
                <a:sym typeface="Fira Sans Condensed"/>
              </a:rPr>
              <a:t>gluconeogénesis</a:t>
            </a:r>
            <a:r>
              <a:rPr lang="es-AR" sz="1150" dirty="0">
                <a:solidFill>
                  <a:srgbClr val="1E1E1E"/>
                </a:solidFill>
                <a:latin typeface="Fira Sans Condensed"/>
                <a:ea typeface="Fira Sans Condensed"/>
                <a:cs typeface="Fira Sans Condensed"/>
                <a:sym typeface="Fira Sans Condensed"/>
              </a:rPr>
              <a:t> ↑</a:t>
            </a:r>
            <a:endParaRPr lang="es-AR" sz="11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MAPA 2 · AYUNO · CAMBIO HORMONAL</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 calcmode="lin" valueType="num">
                                      <p:cBhvr>
                                        <p:cTn id="5" dur="500" fill="hold"/>
                                        <p:tgtEl>
                                          <p:spTgt spid="18"/>
                                        </p:tgtEl>
                                        <p:attrNameLst>
                                          <p:attrName>ppt_w</p:attrName>
                                        </p:attrNameLst>
                                      </p:cBhvr>
                                      <p:tavLst>
                                        <p:tav tm="0">
                                          <p:val>
                                            <p:fltVal val="0"/>
                                          </p:val>
                                        </p:tav>
                                        <p:tav tm="100000">
                                          <p:val>
                                            <p:strVal val="#ppt_w"/>
                                          </p:val>
                                        </p:tav>
                                      </p:tavLst>
                                    </p:anim>
                                    <p:anim calcmode="lin" valueType="num">
                                      <p:cBhvr>
                                        <p:cTn id="6" dur="500" fill="hold"/>
                                        <p:tgtEl>
                                          <p:spTgt spid="18"/>
                                        </p:tgtEl>
                                        <p:attrNameLst>
                                          <p:attrName>ppt_h</p:attrName>
                                        </p:attrNameLst>
                                      </p:cBhvr>
                                      <p:tavLst>
                                        <p:tav tm="0">
                                          <p:val>
                                            <p:fltVal val="0"/>
                                          </p:val>
                                        </p:tav>
                                        <p:tav tm="100000">
                                          <p:val>
                                            <p:strVal val="#ppt_h"/>
                                          </p:val>
                                        </p:tav>
                                      </p:tavLst>
                                    </p:anim>
                                    <p:animEffect transition="in" filter="fade">
                                      <p:cBhvr>
                                        <p:cTn id="7" dur="500"/>
                                        <p:tgtEl>
                                          <p:spTgt spid="18"/>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21" fill="hold">
                      <p:stCondLst>
                        <p:cond delay="indefinite"/>
                      </p:stCondLst>
                      <p:childTnLst>
                        <p:par>
                          <p:cTn id="20"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500" fill="hold"/>
                                        <p:tgtEl>
                                          <p:spTgt spid="22"/>
                                        </p:tgtEl>
                                        <p:attrNameLst>
                                          <p:attrName>ppt_w</p:attrName>
                                        </p:attrNameLst>
                                      </p:cBhvr>
                                      <p:tavLst>
                                        <p:tav tm="0">
                                          <p:val>
                                            <p:fltVal val="0"/>
                                          </p:val>
                                        </p:tav>
                                        <p:tav tm="100000">
                                          <p:val>
                                            <p:strVal val="#ppt_w"/>
                                          </p:val>
                                        </p:tav>
                                      </p:tavLst>
                                    </p:anim>
                                    <p:anim calcmode="lin" valueType="num">
                                      <p:cBhvr>
                                        <p:cTn id="18" dur="500" fill="hold"/>
                                        <p:tgtEl>
                                          <p:spTgt spid="22"/>
                                        </p:tgtEl>
                                        <p:attrNameLst>
                                          <p:attrName>ppt_h</p:attrName>
                                        </p:attrNameLst>
                                      </p:cBhvr>
                                      <p:tavLst>
                                        <p:tav tm="0">
                                          <p:val>
                                            <p:fltVal val="0"/>
                                          </p:val>
                                        </p:tav>
                                        <p:tav tm="100000">
                                          <p:val>
                                            <p:strVal val="#ppt_h"/>
                                          </p:val>
                                        </p:tav>
                                      </p:tavLst>
                                    </p:anim>
                                    <p:animEffect transition="in" filter="fade">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7"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8"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9"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0"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1"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3"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5"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6"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7"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sp>
        <p:nvSpPr>
          <p:cNvPr id="18" name="!!Mapa elemento 0"/>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grpSp>
        <p:nvGrpSpPr>
          <p:cNvPr id="19" name="!!Mapa elemento 1"/>
          <p:cNvGrpSpPr/>
          <p:nvPr/>
        </p:nvGrpSpPr>
        <p:grpSpPr>
          <a:xfrm>
            <a:off x="2514600" y="1920240"/>
            <a:ext cx="2423160" cy="1737360"/>
            <a:chOff x="2514600" y="1920240"/>
            <a:chExt cx="2423160" cy="1737360"/>
          </a:xfrm>
        </p:grpSpPr>
        <p:sp>
          <p:nvSpPr>
            <p:cNvPr id="20" name="Flecha 19_2"/>
            <p:cNvSpPr/>
            <p:nvPr/>
          </p:nvSpPr>
          <p:spPr>
            <a:xfrm>
              <a:off x="2514600" y="1920240"/>
              <a:ext cx="2423160" cy="1737360"/>
            </a:xfrm>
            <a:custGeom>
              <a:avLst/>
              <a:gdLst/>
              <a:ahLst/>
              <a:cxnLst/>
              <a:rect l="0" t="0" r="r" b="b"/>
              <a:pathLst>
                <a:path w="2650" h="1900" fill="none">
                  <a:moveTo>
                    <a:pt x="2650" y="0"/>
                  </a:moveTo>
                  <a:lnTo>
                    <a:pt x="0" y="1900"/>
                  </a:lnTo>
                </a:path>
              </a:pathLst>
            </a:custGeom>
            <a:noFill/>
            <a:ln w="38100" cap="rnd">
              <a:solidFill>
                <a:srgbClr val="1E1E1E"/>
              </a:solidFill>
              <a:round/>
              <a:tailEnd type="triangle" w="med" len="med"/>
            </a:ln>
          </p:spPr>
        </p:sp>
        <p:sp>
          <p:nvSpPr>
            <p:cNvPr id="21" name="Rótulo glucagón portal"/>
            <p:cNvSpPr/>
            <p:nvPr/>
          </p:nvSpPr>
          <p:spPr>
            <a:xfrm>
              <a:off x="3109519" y="2651760"/>
              <a:ext cx="12333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glucagón portal</a:t>
              </a:r>
              <a:endParaRPr lang="es-AR" sz="1150" dirty="0">
                <a:latin typeface="Fira Sans Condensed"/>
              </a:endParaRPr>
            </a:p>
          </p:txBody>
        </p:sp>
      </p:grpSp>
      <p:sp>
        <p:nvSpPr>
          <p:cNvPr id="22" name="!!Mapa elemento 2"/>
          <p:cNvSpPr/>
          <p:nvPr/>
        </p:nvSpPr>
        <p:spPr>
          <a:xfrm>
            <a:off x="2697480" y="2926080"/>
            <a:ext cx="182880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Hígado</a:t>
            </a:r>
            <a:r>
              <a:rPr lang="es-AR" sz="1150" dirty="0">
                <a:solidFill>
                  <a:srgbClr val="1E1E1E"/>
                </a:solidFill>
                <a:latin typeface="Fira Sans Condensed"/>
                <a:ea typeface="Fira Sans Condensed"/>
                <a:cs typeface="Fira Sans Condensed"/>
                <a:sym typeface="Fira Sans Condensed"/>
              </a:rPr>
              <a:t>: glucogenólisis → </a:t>
            </a:r>
            <a:r>
              <a:rPr lang="es-AR" sz="1150" b="1" dirty="0">
                <a:solidFill>
                  <a:srgbClr val="1E1E1E"/>
                </a:solidFill>
                <a:latin typeface="Fira Sans Condensed"/>
                <a:ea typeface="Fira Sans Condensed"/>
                <a:cs typeface="Fira Sans Condensed"/>
                <a:sym typeface="Fira Sans Condensed"/>
              </a:rPr>
              <a:t>gluconeogénesis</a:t>
            </a:r>
            <a:r>
              <a:rPr lang="es-AR" sz="1150" dirty="0">
                <a:solidFill>
                  <a:srgbClr val="1E1E1E"/>
                </a:solidFill>
                <a:latin typeface="Fira Sans Condensed"/>
                <a:ea typeface="Fira Sans Condensed"/>
                <a:cs typeface="Fira Sans Condensed"/>
                <a:sym typeface="Fira Sans Condensed"/>
              </a:rPr>
              <a:t> ↑</a:t>
            </a:r>
            <a:endParaRPr lang="es-AR" sz="1150" dirty="0">
              <a:latin typeface="Fira Sans Condensed"/>
            </a:endParaRPr>
          </a:p>
        </p:txBody>
      </p:sp>
      <p:grpSp>
        <p:nvGrpSpPr>
          <p:cNvPr id="23" name="!!Mapa elemento 3"/>
          <p:cNvGrpSpPr/>
          <p:nvPr/>
        </p:nvGrpSpPr>
        <p:grpSpPr>
          <a:xfrm>
            <a:off x="2606040" y="3703320"/>
            <a:ext cx="7132320" cy="420624"/>
            <a:chOff x="2606040" y="3703320"/>
            <a:chExt cx="7132320" cy="420624"/>
          </a:xfrm>
        </p:grpSpPr>
        <p:sp>
          <p:nvSpPr>
            <p:cNvPr id="24" name="Flecha 24_2"/>
            <p:cNvSpPr/>
            <p:nvPr/>
          </p:nvSpPr>
          <p:spPr>
            <a:xfrm>
              <a:off x="2606040" y="4114800"/>
              <a:ext cx="7132320" cy="9144"/>
            </a:xfrm>
            <a:custGeom>
              <a:avLst/>
              <a:gdLst/>
              <a:ahLst/>
              <a:cxnLst/>
              <a:rect l="0" t="0" r="r" b="b"/>
              <a:pathLst>
                <a:path w="7800" h="10" fill="none">
                  <a:moveTo>
                    <a:pt x="7800" y="0"/>
                  </a:moveTo>
                  <a:lnTo>
                    <a:pt x="0" y="0"/>
                  </a:lnTo>
                </a:path>
              </a:pathLst>
            </a:custGeom>
            <a:noFill/>
            <a:ln w="38100" cap="rnd">
              <a:solidFill>
                <a:srgbClr val="2563B0"/>
              </a:solidFill>
              <a:prstDash val="dash"/>
              <a:round/>
              <a:tailEnd type="triangle" w="med" len="med"/>
            </a:ln>
          </p:spPr>
        </p:sp>
        <p:sp>
          <p:nvSpPr>
            <p:cNvPr id="25" name="Rótulo AGNE · glicerol"/>
            <p:cNvSpPr/>
            <p:nvPr/>
          </p:nvSpPr>
          <p:spPr>
            <a:xfrm>
              <a:off x="4937760" y="3703320"/>
              <a:ext cx="114739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26" name="!!Mapa elemento 4"/>
          <p:cNvGrpSpPr/>
          <p:nvPr/>
        </p:nvGrpSpPr>
        <p:grpSpPr>
          <a:xfrm>
            <a:off x="6812280" y="4315968"/>
            <a:ext cx="2926080" cy="393192"/>
            <a:chOff x="6812280" y="4315968"/>
            <a:chExt cx="2926080" cy="393192"/>
          </a:xfrm>
        </p:grpSpPr>
        <p:sp>
          <p:nvSpPr>
            <p:cNvPr id="27" name="Flecha 28_2"/>
            <p:cNvSpPr/>
            <p:nvPr/>
          </p:nvSpPr>
          <p:spPr>
            <a:xfrm>
              <a:off x="6812280" y="4389120"/>
              <a:ext cx="2926080" cy="320040"/>
            </a:xfrm>
            <a:custGeom>
              <a:avLst/>
              <a:gdLst/>
              <a:ahLst/>
              <a:cxnLst/>
              <a:rect l="0" t="0" r="r" b="b"/>
              <a:pathLst>
                <a:path w="3200" h="350" fill="none">
                  <a:moveTo>
                    <a:pt x="3200" y="0"/>
                  </a:moveTo>
                  <a:lnTo>
                    <a:pt x="0" y="350"/>
                  </a:lnTo>
                </a:path>
              </a:pathLst>
            </a:custGeom>
            <a:noFill/>
            <a:ln w="38100" cap="rnd">
              <a:solidFill>
                <a:srgbClr val="2563B0"/>
              </a:solidFill>
              <a:prstDash val="dash"/>
              <a:round/>
              <a:tailEnd type="triangle" w="med" len="med"/>
            </a:ln>
          </p:spPr>
        </p:sp>
        <p:sp>
          <p:nvSpPr>
            <p:cNvPr id="28" name="Rótulo AG"/>
            <p:cNvSpPr/>
            <p:nvPr/>
          </p:nvSpPr>
          <p:spPr>
            <a:xfrm>
              <a:off x="7955280" y="4315968"/>
              <a:ext cx="3949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a:t>
              </a:r>
              <a:endParaRPr lang="es-AR" sz="1150" dirty="0">
                <a:latin typeface="Fira Sans Condensed"/>
              </a:endParaRPr>
            </a:p>
          </p:txBody>
        </p:sp>
      </p:grpSp>
      <p:sp>
        <p:nvSpPr>
          <p:cNvPr id="29" name="!!Mapa elemento 5"/>
          <p:cNvSpPr/>
          <p:nvPr/>
        </p:nvSpPr>
        <p:spPr>
          <a:xfrm>
            <a:off x="6903720" y="4846320"/>
            <a:ext cx="24688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Músculo</a:t>
            </a:r>
            <a:r>
              <a:rPr lang="es-AR" sz="1150" dirty="0">
                <a:solidFill>
                  <a:srgbClr val="1E1E1E"/>
                </a:solidFill>
                <a:latin typeface="Fira Sans Condensed"/>
                <a:ea typeface="Fira Sans Condensed"/>
                <a:cs typeface="Fira Sans Condensed"/>
                <a:sym typeface="Fira Sans Condensed"/>
              </a:rPr>
              <a:t>: oxida AG; proteólisis → alanina</a:t>
            </a:r>
            <a:endParaRPr lang="es-AR" sz="1150" dirty="0">
              <a:latin typeface="Fira Sans Condensed"/>
            </a:endParaRPr>
          </a:p>
        </p:txBody>
      </p:sp>
      <p:grpSp>
        <p:nvGrpSpPr>
          <p:cNvPr id="30" name="!!Mapa elemento 6"/>
          <p:cNvGrpSpPr/>
          <p:nvPr/>
        </p:nvGrpSpPr>
        <p:grpSpPr>
          <a:xfrm>
            <a:off x="2606040" y="4617720"/>
            <a:ext cx="1965960" cy="640080"/>
            <a:chOff x="2606040" y="4617720"/>
            <a:chExt cx="1965960" cy="640080"/>
          </a:xfrm>
        </p:grpSpPr>
        <p:sp>
          <p:nvSpPr>
            <p:cNvPr id="31" name="Flecha 33_2"/>
            <p:cNvSpPr/>
            <p:nvPr/>
          </p:nvSpPr>
          <p:spPr>
            <a:xfrm>
              <a:off x="2606040" y="4617720"/>
              <a:ext cx="1965960" cy="640080"/>
            </a:xfrm>
            <a:custGeom>
              <a:avLst/>
              <a:gdLst/>
              <a:ahLst/>
              <a:cxnLst/>
              <a:rect l="0" t="0" r="r" b="b"/>
              <a:pathLst>
                <a:path w="2150" h="700" fill="none">
                  <a:moveTo>
                    <a:pt x="2150" y="700"/>
                  </a:moveTo>
                  <a:lnTo>
                    <a:pt x="0" y="0"/>
                  </a:lnTo>
                </a:path>
              </a:pathLst>
            </a:custGeom>
            <a:noFill/>
            <a:ln w="38100" cap="rnd">
              <a:solidFill>
                <a:srgbClr val="1E1E1E"/>
              </a:solidFill>
              <a:round/>
              <a:tailEnd type="triangle" w="med" len="med"/>
            </a:ln>
          </p:spPr>
        </p:sp>
        <p:sp>
          <p:nvSpPr>
            <p:cNvPr id="32" name="Rótulo alanina"/>
            <p:cNvSpPr/>
            <p:nvPr/>
          </p:nvSpPr>
          <p:spPr>
            <a:xfrm>
              <a:off x="3240508" y="4800600"/>
              <a:ext cx="6970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alanina</a:t>
              </a:r>
              <a:endParaRPr lang="es-AR" sz="1150" dirty="0">
                <a:latin typeface="Fira Sans Condensed"/>
              </a:endParaRPr>
            </a:p>
          </p:txBody>
        </p:sp>
      </p:grpSp>
      <p:grpSp>
        <p:nvGrpSpPr>
          <p:cNvPr id="33" name="!!Mapa elemento 7"/>
          <p:cNvGrpSpPr/>
          <p:nvPr/>
        </p:nvGrpSpPr>
        <p:grpSpPr>
          <a:xfrm>
            <a:off x="1828800" y="1783080"/>
            <a:ext cx="8183880" cy="1737360"/>
            <a:chOff x="1828800" y="1783080"/>
            <a:chExt cx="8183880" cy="1737360"/>
          </a:xfrm>
        </p:grpSpPr>
        <p:sp>
          <p:nvSpPr>
            <p:cNvPr id="34" name="Flecha 37_2"/>
            <p:cNvSpPr/>
            <p:nvPr/>
          </p:nvSpPr>
          <p:spPr>
            <a:xfrm>
              <a:off x="1828800" y="1783080"/>
              <a:ext cx="8183880" cy="1737360"/>
            </a:xfrm>
            <a:custGeom>
              <a:avLst/>
              <a:gdLst/>
              <a:ahLst/>
              <a:cxnLst/>
              <a:rect l="0" t="0" r="r" b="b"/>
              <a:pathLst>
                <a:path w="8950" h="1900" fill="none">
                  <a:moveTo>
                    <a:pt x="0" y="1900"/>
                  </a:moveTo>
                  <a:lnTo>
                    <a:pt x="600" y="1000"/>
                  </a:lnTo>
                  <a:lnTo>
                    <a:pt x="8950" y="0"/>
                  </a:lnTo>
                </a:path>
              </a:pathLst>
            </a:custGeom>
            <a:noFill/>
            <a:ln w="38100" cap="rnd">
              <a:solidFill>
                <a:srgbClr val="1E1E1E"/>
              </a:solidFill>
              <a:round/>
              <a:tailEnd type="triangle" w="med" len="med"/>
            </a:ln>
          </p:spPr>
        </p:sp>
        <p:sp>
          <p:nvSpPr>
            <p:cNvPr id="35" name="Rótulo glucosa · (cetonas"/>
            <p:cNvSpPr/>
            <p:nvPr/>
          </p:nvSpPr>
          <p:spPr>
            <a:xfrm>
              <a:off x="5486400" y="2377440"/>
              <a:ext cx="2819902"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(cetonas en ayuno prolongado)</a:t>
              </a:r>
              <a:endParaRPr lang="es-AR" sz="1150" dirty="0">
                <a:latin typeface="Fira Sans Condensed"/>
              </a:endParaRPr>
            </a:p>
          </p:txBody>
        </p:sp>
      </p:grpSp>
      <p:sp>
        <p:nvSpPr>
          <p:cNvPr id="36" name="!!Mapa elemento 8"/>
          <p:cNvSpPr/>
          <p:nvPr/>
        </p:nvSpPr>
        <p:spPr>
          <a:xfrm>
            <a:off x="2011680" y="2103120"/>
            <a:ext cx="2103120" cy="4114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Riñón: gluconeogénesis</a:t>
            </a:r>
            <a:endParaRPr lang="es-AR" sz="1200" dirty="0">
              <a:latin typeface="Fira Sans Condensed"/>
            </a:endParaRPr>
          </a:p>
        </p:txBody>
      </p:sp>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MAPA 2 · AYUNO · MOVILIZACIÓN DE SUSTRATOS</a:t>
            </a:r>
            <a:endParaRPr lang="es-AR" sz="33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500"/>
                                        <p:tgtEl>
                                          <p:spTgt spid="23"/>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p:cTn id="15" dur="500" fill="hold"/>
                                        <p:tgtEl>
                                          <p:spTgt spid="29"/>
                                        </p:tgtEl>
                                        <p:attrNameLst>
                                          <p:attrName>ppt_w</p:attrName>
                                        </p:attrNameLst>
                                      </p:cBhvr>
                                      <p:tavLst>
                                        <p:tav tm="0">
                                          <p:val>
                                            <p:fltVal val="0"/>
                                          </p:val>
                                        </p:tav>
                                        <p:tav tm="100000">
                                          <p:val>
                                            <p:strVal val="#ppt_w"/>
                                          </p:val>
                                        </p:tav>
                                      </p:tavLst>
                                    </p:anim>
                                    <p:anim calcmode="lin" valueType="num">
                                      <p:cBhvr>
                                        <p:cTn id="16" dur="500" fill="hold"/>
                                        <p:tgtEl>
                                          <p:spTgt spid="29"/>
                                        </p:tgtEl>
                                        <p:attrNameLst>
                                          <p:attrName>ppt_h</p:attrName>
                                        </p:attrNameLst>
                                      </p:cBhvr>
                                      <p:tavLst>
                                        <p:tav tm="0">
                                          <p:val>
                                            <p:fltVal val="0"/>
                                          </p:val>
                                        </p:tav>
                                        <p:tav tm="100000">
                                          <p:val>
                                            <p:strVal val="#ppt_h"/>
                                          </p:val>
                                        </p:tav>
                                      </p:tavLst>
                                    </p:anim>
                                    <p:animEffect transition="in" filter="fade">
                                      <p:cBhvr>
                                        <p:cTn id="17" dur="500"/>
                                        <p:tgtEl>
                                          <p:spTgt spid="29"/>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36" fill="hold">
                      <p:stCondLst>
                        <p:cond delay="indefinite"/>
                      </p:stCondLst>
                      <p:childTnLst>
                        <p:par>
                          <p:cTn id="35"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6"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NTESTINO" descr="Ilustración biomédica (Servier Medical Art, CC BY)"/>
          <p:cNvPicPr>
            <a:picLocks noChangeAspect="1"/>
          </p:cNvPicPr>
          <p:nvPr/>
        </p:nvPicPr>
        <p:blipFill>
          <a:blip r:embed="rId2"/>
          <a:stretch>
            <a:fillRect/>
          </a:stretch>
        </p:blipFill>
        <p:spPr>
          <a:xfrm>
            <a:off x="411480" y="1005840"/>
            <a:ext cx="1463040" cy="1452590"/>
          </a:xfrm>
          <a:prstGeom prst="rect">
            <a:avLst/>
          </a:prstGeom>
        </p:spPr>
      </p:pic>
      <p:sp>
        <p:nvSpPr>
          <p:cNvPr id="7" name="!!Rótulo órgano INTESTINO"/>
          <p:cNvSpPr/>
          <p:nvPr/>
        </p:nvSpPr>
        <p:spPr>
          <a:xfrm>
            <a:off x="457200" y="251460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8" name="!!Órgano PÁNCREAS" descr="Ilustración biomédica (Servier Medical Art, CC BY)"/>
          <p:cNvPicPr>
            <a:picLocks noChangeAspect="1"/>
          </p:cNvPicPr>
          <p:nvPr/>
        </p:nvPicPr>
        <p:blipFill>
          <a:blip r:embed="rId3"/>
          <a:stretch>
            <a:fillRect/>
          </a:stretch>
        </p:blipFill>
        <p:spPr>
          <a:xfrm>
            <a:off x="4206240" y="960120"/>
            <a:ext cx="2377440" cy="986638"/>
          </a:xfrm>
          <a:prstGeom prst="rect">
            <a:avLst/>
          </a:prstGeom>
        </p:spPr>
      </p:pic>
      <p:sp>
        <p:nvSpPr>
          <p:cNvPr id="9" name="!!Rótulo órgano PÁNCREAS"/>
          <p:cNvSpPr/>
          <p:nvPr/>
        </p:nvSpPr>
        <p:spPr>
          <a:xfrm>
            <a:off x="4800600" y="19659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0" name="!!Órgano HÍGADO" descr="Ilustración biomédica (Servier Medical Art, CC BY)"/>
          <p:cNvPicPr>
            <a:picLocks noChangeAspect="1"/>
          </p:cNvPicPr>
          <p:nvPr/>
        </p:nvPicPr>
        <p:blipFill>
          <a:blip r:embed="rId4"/>
          <a:stretch>
            <a:fillRect/>
          </a:stretch>
        </p:blipFill>
        <p:spPr>
          <a:xfrm>
            <a:off x="365760" y="3566160"/>
            <a:ext cx="2194560" cy="1592394"/>
          </a:xfrm>
          <a:prstGeom prst="rect">
            <a:avLst/>
          </a:prstGeom>
        </p:spPr>
      </p:pic>
      <p:sp>
        <p:nvSpPr>
          <p:cNvPr id="11" name="!!Rótulo órgano HÍGADO"/>
          <p:cNvSpPr/>
          <p:nvPr/>
        </p:nvSpPr>
        <p:spPr>
          <a:xfrm>
            <a:off x="777240" y="516636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4572000" y="4572000"/>
            <a:ext cx="2194560" cy="1018903"/>
          </a:xfrm>
          <a:prstGeom prst="rect">
            <a:avLst/>
          </a:prstGeom>
        </p:spPr>
      </p:pic>
      <p:sp>
        <p:nvSpPr>
          <p:cNvPr id="13" name="!!Rótulo órgano MÚSCULO"/>
          <p:cNvSpPr/>
          <p:nvPr/>
        </p:nvSpPr>
        <p:spPr>
          <a:xfrm>
            <a:off x="5120640" y="5669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TEJIDO ADIPOSO" descr="Ilustración biomédica (Servier Medical Art, CC BY)"/>
          <p:cNvPicPr>
            <a:picLocks noChangeAspect="1"/>
          </p:cNvPicPr>
          <p:nvPr/>
        </p:nvPicPr>
        <p:blipFill>
          <a:blip r:embed="rId6"/>
          <a:stretch>
            <a:fillRect/>
          </a:stretch>
        </p:blipFill>
        <p:spPr>
          <a:xfrm>
            <a:off x="9784080" y="3749040"/>
            <a:ext cx="1645920" cy="1678287"/>
          </a:xfrm>
          <a:prstGeom prst="rect">
            <a:avLst/>
          </a:prstGeom>
        </p:spPr>
      </p:pic>
      <p:sp>
        <p:nvSpPr>
          <p:cNvPr id="15" name="!!Rótulo órgano TEJIDO ADIPOSO"/>
          <p:cNvSpPr/>
          <p:nvPr/>
        </p:nvSpPr>
        <p:spPr>
          <a:xfrm>
            <a:off x="9646920" y="54406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6" name="!!Órgano CEREBRO" descr="Ilustración biomédica (Servier Medical Art, CC BY)"/>
          <p:cNvPicPr>
            <a:picLocks noChangeAspect="1"/>
          </p:cNvPicPr>
          <p:nvPr/>
        </p:nvPicPr>
        <p:blipFill>
          <a:blip r:embed="rId7"/>
          <a:stretch>
            <a:fillRect/>
          </a:stretch>
        </p:blipFill>
        <p:spPr>
          <a:xfrm>
            <a:off x="10058400" y="914400"/>
            <a:ext cx="1234440" cy="1260551"/>
          </a:xfrm>
          <a:prstGeom prst="rect">
            <a:avLst/>
          </a:prstGeom>
        </p:spPr>
      </p:pic>
      <p:sp>
        <p:nvSpPr>
          <p:cNvPr id="17" name="!!Rótulo órgano CEREBRO"/>
          <p:cNvSpPr/>
          <p:nvPr/>
        </p:nvSpPr>
        <p:spPr>
          <a:xfrm>
            <a:off x="10104120" y="219456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sp>
        <p:nvSpPr>
          <p:cNvPr id="18" name="!!Mapa elemento 0"/>
          <p:cNvSpPr/>
          <p:nvPr/>
        </p:nvSpPr>
        <p:spPr>
          <a:xfrm>
            <a:off x="6903720" y="1188720"/>
            <a:ext cx="23774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INSULINA ↓ · GLUCAGÓN ↑</a:t>
            </a:r>
            <a:endParaRPr lang="es-AR" sz="1300" dirty="0">
              <a:latin typeface="Fira Sans Condensed"/>
            </a:endParaRPr>
          </a:p>
        </p:txBody>
      </p:sp>
      <p:grpSp>
        <p:nvGrpSpPr>
          <p:cNvPr id="19" name="!!Mapa elemento 1"/>
          <p:cNvGrpSpPr/>
          <p:nvPr/>
        </p:nvGrpSpPr>
        <p:grpSpPr>
          <a:xfrm>
            <a:off x="2514600" y="1920240"/>
            <a:ext cx="2423160" cy="1737360"/>
            <a:chOff x="2514600" y="1920240"/>
            <a:chExt cx="2423160" cy="1737360"/>
          </a:xfrm>
        </p:grpSpPr>
        <p:sp>
          <p:nvSpPr>
            <p:cNvPr id="20" name="Flecha 19_2"/>
            <p:cNvSpPr/>
            <p:nvPr/>
          </p:nvSpPr>
          <p:spPr>
            <a:xfrm>
              <a:off x="2514600" y="1920240"/>
              <a:ext cx="2423160" cy="1737360"/>
            </a:xfrm>
            <a:custGeom>
              <a:avLst/>
              <a:gdLst/>
              <a:ahLst/>
              <a:cxnLst/>
              <a:rect l="0" t="0" r="r" b="b"/>
              <a:pathLst>
                <a:path w="2650" h="1900" fill="none">
                  <a:moveTo>
                    <a:pt x="2650" y="0"/>
                  </a:moveTo>
                  <a:lnTo>
                    <a:pt x="0" y="1900"/>
                  </a:lnTo>
                </a:path>
              </a:pathLst>
            </a:custGeom>
            <a:noFill/>
            <a:ln w="38100" cap="rnd">
              <a:solidFill>
                <a:srgbClr val="1E1E1E"/>
              </a:solidFill>
              <a:round/>
              <a:tailEnd type="triangle" w="med" len="med"/>
            </a:ln>
          </p:spPr>
        </p:sp>
        <p:sp>
          <p:nvSpPr>
            <p:cNvPr id="21" name="Rótulo glucagón portal"/>
            <p:cNvSpPr/>
            <p:nvPr/>
          </p:nvSpPr>
          <p:spPr>
            <a:xfrm>
              <a:off x="3109519" y="2651760"/>
              <a:ext cx="12333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glucagón portal</a:t>
              </a:r>
              <a:endParaRPr lang="es-AR" sz="1150" dirty="0">
                <a:latin typeface="Fira Sans Condensed"/>
              </a:endParaRPr>
            </a:p>
          </p:txBody>
        </p:sp>
      </p:grpSp>
      <p:sp>
        <p:nvSpPr>
          <p:cNvPr id="22" name="!!Mapa elemento 2"/>
          <p:cNvSpPr/>
          <p:nvPr/>
        </p:nvSpPr>
        <p:spPr>
          <a:xfrm>
            <a:off x="2697480" y="2926080"/>
            <a:ext cx="182880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Hígado</a:t>
            </a:r>
            <a:r>
              <a:rPr lang="es-AR" sz="1150" dirty="0">
                <a:solidFill>
                  <a:srgbClr val="1E1E1E"/>
                </a:solidFill>
                <a:latin typeface="Fira Sans Condensed"/>
                <a:ea typeface="Fira Sans Condensed"/>
                <a:cs typeface="Fira Sans Condensed"/>
                <a:sym typeface="Fira Sans Condensed"/>
              </a:rPr>
              <a:t>: glucogenólisis → </a:t>
            </a:r>
            <a:r>
              <a:rPr lang="es-AR" sz="1150" b="1" dirty="0">
                <a:solidFill>
                  <a:srgbClr val="1E1E1E"/>
                </a:solidFill>
                <a:latin typeface="Fira Sans Condensed"/>
                <a:ea typeface="Fira Sans Condensed"/>
                <a:cs typeface="Fira Sans Condensed"/>
                <a:sym typeface="Fira Sans Condensed"/>
              </a:rPr>
              <a:t>gluconeogénesis</a:t>
            </a:r>
            <a:r>
              <a:rPr lang="es-AR" sz="1150" dirty="0">
                <a:solidFill>
                  <a:srgbClr val="1E1E1E"/>
                </a:solidFill>
                <a:latin typeface="Fira Sans Condensed"/>
                <a:ea typeface="Fira Sans Condensed"/>
                <a:cs typeface="Fira Sans Condensed"/>
                <a:sym typeface="Fira Sans Condensed"/>
              </a:rPr>
              <a:t> ↑</a:t>
            </a:r>
            <a:endParaRPr lang="es-AR" sz="1150" dirty="0">
              <a:latin typeface="Fira Sans Condensed"/>
            </a:endParaRPr>
          </a:p>
        </p:txBody>
      </p:sp>
      <p:grpSp>
        <p:nvGrpSpPr>
          <p:cNvPr id="23" name="!!Mapa elemento 3"/>
          <p:cNvGrpSpPr/>
          <p:nvPr/>
        </p:nvGrpSpPr>
        <p:grpSpPr>
          <a:xfrm>
            <a:off x="2606040" y="3703320"/>
            <a:ext cx="7132320" cy="420624"/>
            <a:chOff x="2606040" y="3703320"/>
            <a:chExt cx="7132320" cy="420624"/>
          </a:xfrm>
        </p:grpSpPr>
        <p:sp>
          <p:nvSpPr>
            <p:cNvPr id="24" name="Flecha 24_2"/>
            <p:cNvSpPr/>
            <p:nvPr/>
          </p:nvSpPr>
          <p:spPr>
            <a:xfrm>
              <a:off x="2606040" y="4114800"/>
              <a:ext cx="7132320" cy="9144"/>
            </a:xfrm>
            <a:custGeom>
              <a:avLst/>
              <a:gdLst/>
              <a:ahLst/>
              <a:cxnLst/>
              <a:rect l="0" t="0" r="r" b="b"/>
              <a:pathLst>
                <a:path w="7800" h="10" fill="none">
                  <a:moveTo>
                    <a:pt x="7800" y="0"/>
                  </a:moveTo>
                  <a:lnTo>
                    <a:pt x="0" y="0"/>
                  </a:lnTo>
                </a:path>
              </a:pathLst>
            </a:custGeom>
            <a:noFill/>
            <a:ln w="38100" cap="rnd">
              <a:solidFill>
                <a:srgbClr val="2563B0"/>
              </a:solidFill>
              <a:prstDash val="dash"/>
              <a:round/>
              <a:tailEnd type="triangle" w="med" len="med"/>
            </a:ln>
          </p:spPr>
        </p:sp>
        <p:sp>
          <p:nvSpPr>
            <p:cNvPr id="25" name="Rótulo AGNE · glicerol"/>
            <p:cNvSpPr/>
            <p:nvPr/>
          </p:nvSpPr>
          <p:spPr>
            <a:xfrm>
              <a:off x="4937760" y="3703320"/>
              <a:ext cx="114739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26" name="!!Mapa elemento 4"/>
          <p:cNvGrpSpPr/>
          <p:nvPr/>
        </p:nvGrpSpPr>
        <p:grpSpPr>
          <a:xfrm>
            <a:off x="6812280" y="4315968"/>
            <a:ext cx="2926080" cy="393192"/>
            <a:chOff x="6812280" y="4315968"/>
            <a:chExt cx="2926080" cy="393192"/>
          </a:xfrm>
        </p:grpSpPr>
        <p:sp>
          <p:nvSpPr>
            <p:cNvPr id="27" name="Flecha 28_2"/>
            <p:cNvSpPr/>
            <p:nvPr/>
          </p:nvSpPr>
          <p:spPr>
            <a:xfrm>
              <a:off x="6812280" y="4389120"/>
              <a:ext cx="2926080" cy="320040"/>
            </a:xfrm>
            <a:custGeom>
              <a:avLst/>
              <a:gdLst/>
              <a:ahLst/>
              <a:cxnLst/>
              <a:rect l="0" t="0" r="r" b="b"/>
              <a:pathLst>
                <a:path w="3200" h="350" fill="none">
                  <a:moveTo>
                    <a:pt x="3200" y="0"/>
                  </a:moveTo>
                  <a:lnTo>
                    <a:pt x="0" y="350"/>
                  </a:lnTo>
                </a:path>
              </a:pathLst>
            </a:custGeom>
            <a:noFill/>
            <a:ln w="38100" cap="rnd">
              <a:solidFill>
                <a:srgbClr val="2563B0"/>
              </a:solidFill>
              <a:prstDash val="dash"/>
              <a:round/>
              <a:tailEnd type="triangle" w="med" len="med"/>
            </a:ln>
          </p:spPr>
        </p:sp>
        <p:sp>
          <p:nvSpPr>
            <p:cNvPr id="28" name="Rótulo AG"/>
            <p:cNvSpPr/>
            <p:nvPr/>
          </p:nvSpPr>
          <p:spPr>
            <a:xfrm>
              <a:off x="7955280" y="4315968"/>
              <a:ext cx="3949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a:t>
              </a:r>
              <a:endParaRPr lang="es-AR" sz="1150" dirty="0">
                <a:latin typeface="Fira Sans Condensed"/>
              </a:endParaRPr>
            </a:p>
          </p:txBody>
        </p:sp>
      </p:grpSp>
      <p:sp>
        <p:nvSpPr>
          <p:cNvPr id="29" name="!!Mapa elemento 5"/>
          <p:cNvSpPr/>
          <p:nvPr/>
        </p:nvSpPr>
        <p:spPr>
          <a:xfrm>
            <a:off x="6903720" y="4846320"/>
            <a:ext cx="24688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b="1" dirty="0">
                <a:solidFill>
                  <a:srgbClr val="1E1E1E"/>
                </a:solidFill>
                <a:latin typeface="Fira Sans Condensed"/>
                <a:ea typeface="Fira Sans Condensed"/>
                <a:cs typeface="Fira Sans Condensed"/>
                <a:sym typeface="Fira Sans Condensed"/>
              </a:rPr>
              <a:t>Músculo</a:t>
            </a:r>
            <a:r>
              <a:rPr lang="es-AR" sz="1150" dirty="0">
                <a:solidFill>
                  <a:srgbClr val="1E1E1E"/>
                </a:solidFill>
                <a:latin typeface="Fira Sans Condensed"/>
                <a:ea typeface="Fira Sans Condensed"/>
                <a:cs typeface="Fira Sans Condensed"/>
                <a:sym typeface="Fira Sans Condensed"/>
              </a:rPr>
              <a:t>: oxida AG; proteólisis → alanina</a:t>
            </a:r>
            <a:endParaRPr lang="es-AR" sz="1150" dirty="0">
              <a:latin typeface="Fira Sans Condensed"/>
            </a:endParaRPr>
          </a:p>
        </p:txBody>
      </p:sp>
      <p:grpSp>
        <p:nvGrpSpPr>
          <p:cNvPr id="30" name="!!Mapa elemento 6"/>
          <p:cNvGrpSpPr/>
          <p:nvPr/>
        </p:nvGrpSpPr>
        <p:grpSpPr>
          <a:xfrm>
            <a:off x="2606040" y="4617720"/>
            <a:ext cx="1965960" cy="640080"/>
            <a:chOff x="2606040" y="4617720"/>
            <a:chExt cx="1965960" cy="640080"/>
          </a:xfrm>
        </p:grpSpPr>
        <p:sp>
          <p:nvSpPr>
            <p:cNvPr id="31" name="Flecha 33_2"/>
            <p:cNvSpPr/>
            <p:nvPr/>
          </p:nvSpPr>
          <p:spPr>
            <a:xfrm>
              <a:off x="2606040" y="4617720"/>
              <a:ext cx="1965960" cy="640080"/>
            </a:xfrm>
            <a:custGeom>
              <a:avLst/>
              <a:gdLst/>
              <a:ahLst/>
              <a:cxnLst/>
              <a:rect l="0" t="0" r="r" b="b"/>
              <a:pathLst>
                <a:path w="2150" h="700" fill="none">
                  <a:moveTo>
                    <a:pt x="2150" y="700"/>
                  </a:moveTo>
                  <a:lnTo>
                    <a:pt x="0" y="0"/>
                  </a:lnTo>
                </a:path>
              </a:pathLst>
            </a:custGeom>
            <a:noFill/>
            <a:ln w="38100" cap="rnd">
              <a:solidFill>
                <a:srgbClr val="1E1E1E"/>
              </a:solidFill>
              <a:round/>
              <a:tailEnd type="triangle" w="med" len="med"/>
            </a:ln>
          </p:spPr>
        </p:sp>
        <p:sp>
          <p:nvSpPr>
            <p:cNvPr id="32" name="Rótulo alanina"/>
            <p:cNvSpPr/>
            <p:nvPr/>
          </p:nvSpPr>
          <p:spPr>
            <a:xfrm>
              <a:off x="3240508" y="4800600"/>
              <a:ext cx="6970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alanina</a:t>
              </a:r>
              <a:endParaRPr lang="es-AR" sz="1150" dirty="0">
                <a:latin typeface="Fira Sans Condensed"/>
              </a:endParaRPr>
            </a:p>
          </p:txBody>
        </p:sp>
      </p:grpSp>
      <p:grpSp>
        <p:nvGrpSpPr>
          <p:cNvPr id="33" name="!!Mapa elemento 7"/>
          <p:cNvGrpSpPr/>
          <p:nvPr/>
        </p:nvGrpSpPr>
        <p:grpSpPr>
          <a:xfrm>
            <a:off x="1828800" y="1783080"/>
            <a:ext cx="8183880" cy="1737360"/>
            <a:chOff x="1828800" y="1783080"/>
            <a:chExt cx="8183880" cy="1737360"/>
          </a:xfrm>
        </p:grpSpPr>
        <p:sp>
          <p:nvSpPr>
            <p:cNvPr id="34" name="Flecha 37_2"/>
            <p:cNvSpPr/>
            <p:nvPr/>
          </p:nvSpPr>
          <p:spPr>
            <a:xfrm>
              <a:off x="1828800" y="1783080"/>
              <a:ext cx="8183880" cy="1737360"/>
            </a:xfrm>
            <a:custGeom>
              <a:avLst/>
              <a:gdLst/>
              <a:ahLst/>
              <a:cxnLst/>
              <a:rect l="0" t="0" r="r" b="b"/>
              <a:pathLst>
                <a:path w="8950" h="1900" fill="none">
                  <a:moveTo>
                    <a:pt x="0" y="1900"/>
                  </a:moveTo>
                  <a:lnTo>
                    <a:pt x="600" y="1000"/>
                  </a:lnTo>
                  <a:lnTo>
                    <a:pt x="8950" y="0"/>
                  </a:lnTo>
                </a:path>
              </a:pathLst>
            </a:custGeom>
            <a:noFill/>
            <a:ln w="38100" cap="rnd">
              <a:solidFill>
                <a:srgbClr val="1E1E1E"/>
              </a:solidFill>
              <a:round/>
              <a:tailEnd type="triangle" w="med" len="med"/>
            </a:ln>
          </p:spPr>
        </p:sp>
        <p:sp>
          <p:nvSpPr>
            <p:cNvPr id="35" name="Rótulo glucosa · (cetonas"/>
            <p:cNvSpPr/>
            <p:nvPr/>
          </p:nvSpPr>
          <p:spPr>
            <a:xfrm>
              <a:off x="5486400" y="2377440"/>
              <a:ext cx="2819902"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(cetonas en ayuno prolongado)</a:t>
              </a:r>
              <a:endParaRPr lang="es-AR" sz="1150" dirty="0">
                <a:latin typeface="Fira Sans Condensed"/>
              </a:endParaRPr>
            </a:p>
          </p:txBody>
        </p:sp>
      </p:grpSp>
      <p:sp>
        <p:nvSpPr>
          <p:cNvPr id="36" name="!!Mapa elemento 8"/>
          <p:cNvSpPr/>
          <p:nvPr/>
        </p:nvSpPr>
        <p:spPr>
          <a:xfrm>
            <a:off x="2011680" y="2103120"/>
            <a:ext cx="2103120" cy="4114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Riñón: gluconeogénesis</a:t>
            </a:r>
            <a:endParaRPr lang="es-AR" sz="1200" dirty="0">
              <a:latin typeface="Fira Sans Condensed"/>
            </a:endParaRPr>
          </a:p>
        </p:txBody>
      </p:sp>
      <p:sp>
        <p:nvSpPr>
          <p:cNvPr id="37" name="!!Conclusión mapa"/>
          <p:cNvSpPr/>
          <p:nvPr/>
        </p:nvSpPr>
        <p:spPr>
          <a:xfrm>
            <a:off x="365760" y="6062472"/>
            <a:ext cx="11430000" cy="384048"/>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En la </a:t>
            </a:r>
            <a:r>
              <a:rPr lang="es-AR" sz="1400" b="1" dirty="0">
                <a:solidFill>
                  <a:srgbClr val="FFFFFF"/>
                </a:solidFill>
                <a:latin typeface="Fira Sans Condensed"/>
                <a:ea typeface="Fira Sans Condensed"/>
                <a:cs typeface="Fira Sans Condensed"/>
                <a:sym typeface="Fira Sans Condensed"/>
              </a:rPr>
              <a:t>DM1 sin insulina</a:t>
            </a:r>
            <a:r>
              <a:rPr lang="es-AR" sz="1400" dirty="0">
                <a:solidFill>
                  <a:srgbClr val="FFFFFF"/>
                </a:solidFill>
                <a:latin typeface="Fira Sans Condensed"/>
                <a:ea typeface="Fira Sans Condensed"/>
                <a:cs typeface="Fira Sans Condensed"/>
                <a:sym typeface="Fira Sans Condensed"/>
              </a:rPr>
              <a:t> este programa se exagera hasta la </a:t>
            </a:r>
            <a:r>
              <a:rPr lang="es-AR" sz="1400" b="1" dirty="0">
                <a:solidFill>
                  <a:srgbClr val="FFFFFF"/>
                </a:solidFill>
                <a:latin typeface="Fira Sans Condensed"/>
                <a:ea typeface="Fira Sans Condensed"/>
                <a:cs typeface="Fira Sans Condensed"/>
                <a:sym typeface="Fira Sans Condensed"/>
              </a:rPr>
              <a:t>cetoacidosis</a:t>
            </a:r>
            <a:r>
              <a:rPr lang="es-AR" sz="1400" dirty="0">
                <a:solidFill>
                  <a:srgbClr val="FFFFFF"/>
                </a:solidFill>
                <a:latin typeface="Fira Sans Condensed"/>
                <a:ea typeface="Fira Sans Condensed"/>
                <a:cs typeface="Fira Sans Condensed"/>
                <a:sym typeface="Fira Sans Condensed"/>
              </a:rPr>
              <a:t>.</a:t>
            </a:r>
            <a:endParaRPr lang="es-AR" sz="14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MAPA 2 · AYUNO · SISTEMA COMPLETO</a:t>
            </a:r>
            <a:endParaRPr lang="es-AR" sz="34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7"/>
                                        </p:tgtEl>
                                        <p:attrNameLst>
                                          <p:attrName>style.visibility</p:attrName>
                                        </p:attrNameLst>
                                      </p:cBhvr>
                                      <p:to>
                                        <p:strVal val="visible"/>
                                      </p:to>
                                    </p:set>
                                    <p:anim calcmode="lin" valueType="num">
                                      <p:cBhvr>
                                        <p:cTn id="5" dur="500" fill="hold"/>
                                        <p:tgtEl>
                                          <p:spTgt spid="37"/>
                                        </p:tgtEl>
                                        <p:attrNameLst>
                                          <p:attrName>ppt_w</p:attrName>
                                        </p:attrNameLst>
                                      </p:cBhvr>
                                      <p:tavLst>
                                        <p:tav tm="0">
                                          <p:val>
                                            <p:fltVal val="0"/>
                                          </p:val>
                                        </p:tav>
                                        <p:tav tm="100000">
                                          <p:val>
                                            <p:strVal val="#ppt_w"/>
                                          </p:val>
                                        </p:tav>
                                      </p:tavLst>
                                    </p:anim>
                                    <p:anim calcmode="lin" valueType="num">
                                      <p:cBhvr>
                                        <p:cTn id="6" dur="500" fill="hold"/>
                                        <p:tgtEl>
                                          <p:spTgt spid="37"/>
                                        </p:tgtEl>
                                        <p:attrNameLst>
                                          <p:attrName>ppt_h</p:attrName>
                                        </p:attrNameLst>
                                      </p:cBhvr>
                                      <p:tavLst>
                                        <p:tav tm="0">
                                          <p:val>
                                            <p:fltVal val="0"/>
                                          </p:val>
                                        </p:tav>
                                        <p:tav tm="100000">
                                          <p:val>
                                            <p:strVal val="#ppt_h"/>
                                          </p:val>
                                        </p:tav>
                                      </p:tavLst>
                                    </p:anim>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aphicFrame>
        <p:nvGraphicFramePr>
          <p:cNvPr id="6" name="Tabla órganos"/>
          <p:cNvGraphicFramePr>
            <a:graphicFrameLocks noGrp="1"/>
          </p:cNvGraphicFramePr>
          <p:nvPr/>
        </p:nvGraphicFramePr>
        <p:xfrm>
          <a:off x="365760" y="1097280"/>
          <a:ext cx="11430000" cy="3200400"/>
        </p:xfrm>
        <a:graphic>
          <a:graphicData uri="http://schemas.openxmlformats.org/drawingml/2006/table">
            <a:tbl>
              <a:tblPr firstRow="1" bandRow="1"/>
              <a:tblGrid>
                <a:gridCol w="1524000"/>
                <a:gridCol w="3238500"/>
                <a:gridCol w="3810000"/>
                <a:gridCol w="2857500"/>
              </a:tblGrid>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Órgano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Bajo insulina posprandial</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Ayuno / déficit de insulina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Consecuencia clínica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Hígado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Glucógeno ↑, glucólisis ↑, lipogénesis ↑; producción neta de glucosa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Glucogenólisis y gluconeogénesis ↑; β-oxidación ↑ y, si el contexto lo permite, cetogénesis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Glucosa plasmática ↑; cetonas ↑ en DM1</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Músculo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GLUT4 en membrana; glucógeno y síntesis proteica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Captación de glucosa ↓; uso de ácidos grasos ↑; proteólisis en déficit grave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Debilidad, pérdida de masa magra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Tejido adiposo blanco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GLUT4 y esterificación ↑; lipólisis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ATGL/HSL ↑, liberación de ácidos grasos y glicerol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Sustrato hepático para cetonas y gluconeogénesis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Páncreas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Secreción β estimulada por glucosa/incretinas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Predomina relación glucagón/insulina elevada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Cambio sistémico a estado catabólico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Riñón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Reabsorción habitual de glucosa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Hiperglucemia sobrecarga SGLT2/SGLT1 → glucosuria; contribución a gluconeogénesis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Diuresis osmótica y deshidratación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SNC / eritrocitos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Glucosa como sustrato central; eritrocitos glucolíticos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Encéfalo puede usar cetonas en ayuno prolongado; eritrocitos siempre glucosa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Vulnerabilidad del sensorio a hiperosmolalidad / hipoperfusión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4" name="Título"/>
          <p:cNvSpPr txBox="1"/>
          <p:nvPr/>
        </p:nvSpPr>
        <p:spPr>
          <a:xfrm>
            <a:off x="320040" y="91440"/>
            <a:ext cx="11551615" cy="8361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200" dirty="0">
                <a:solidFill>
                  <a:srgbClr val="1E1E1E"/>
                </a:solidFill>
                <a:effectLst>
                  <a:glow rad="101600">
                    <a:srgbClr val="FFFFFF">
                      <a:alpha val="70000"/>
                    </a:srgbClr>
                  </a:glow>
                </a:effectLst>
                <a:latin typeface="Permanent Marker"/>
                <a:ea typeface="Permanent Marker"/>
                <a:cs typeface="Permanent Marker"/>
                <a:sym typeface="Permanent Marker"/>
              </a:rPr>
              <a:t>METABOLISMO POR ÓRGANOS: ALIMENTADO, AYUNO Y DÉFICIT DE INSULINA</a:t>
            </a:r>
            <a:endParaRPr lang="es-AR" sz="22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48</a:t>
            </a:r>
            <a:endParaRPr lang="es-AR" sz="1000" dirty="0">
              <a:latin typeface="Fira Sans Condensed"/>
            </a:endParaRP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aphicFrame>
        <p:nvGraphicFramePr>
          <p:cNvPr id="7" name="Tabla criterios"/>
          <p:cNvGraphicFramePr>
            <a:graphicFrameLocks noGrp="1"/>
          </p:cNvGraphicFramePr>
          <p:nvPr/>
        </p:nvGraphicFramePr>
        <p:xfrm>
          <a:off x="365760" y="1097280"/>
          <a:ext cx="7498080" cy="2148840"/>
        </p:xfrm>
        <a:graphic>
          <a:graphicData uri="http://schemas.openxmlformats.org/drawingml/2006/table">
            <a:tbl>
              <a:tblPr firstRow="1" bandRow="1"/>
              <a:tblGrid>
                <a:gridCol w="3474720"/>
                <a:gridCol w="1645920"/>
                <a:gridCol w="2377440"/>
              </a:tblGrid>
              <a:tr h="53340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Prueba (personas no embarazadas)</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Diabetes</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Prediabetes (riesgo elevado)</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Glucemia plasmática en ayunas (≥ 8 h)</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 126 mg/dL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100–125 mg/dL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Glucemia 2 h tras 75 g (PTOG)</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 200 mg/dL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140–199 mg/dL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HbA1c estandarizada NGSP/DCCT</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 6,5 %</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5,7–6,4 %</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181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Glucemia al azar + síntomas clásicos o crisis hiperglucémica</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 200 mg/dL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00" dirty="0">
                          <a:solidFill>
                            <a:srgbClr val="1E1E1E"/>
                          </a:solidFill>
                          <a:latin typeface="Fira Sans Condensed"/>
                          <a:ea typeface="Fira Sans Condensed"/>
                          <a:cs typeface="Fira Sans Condensed"/>
                          <a:sym typeface="Fira Sans Condensed"/>
                        </a:rPr>
                        <a:t>No se define prediabetes con este criterio</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grpSp>
        <p:nvGrpSpPr>
          <p:cNvPr id="8" name="Paso 1"/>
          <p:cNvGrpSpPr/>
          <p:nvPr/>
        </p:nvGrpSpPr>
        <p:grpSpPr>
          <a:xfrm>
            <a:off x="8138160" y="1097280"/>
            <a:ext cx="3703320" cy="804672"/>
            <a:chOff x="8138160" y="1097280"/>
            <a:chExt cx="3703320" cy="804672"/>
          </a:xfrm>
        </p:grpSpPr>
        <p:sp>
          <p:nvSpPr>
            <p:cNvPr id="9" name="Forma 8"/>
            <p:cNvSpPr/>
            <p:nvPr/>
          </p:nvSpPr>
          <p:spPr>
            <a:xfrm>
              <a:off x="8138160" y="1097280"/>
              <a:ext cx="3703320" cy="8046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Sin hiperglucemia inequívoca: </a:t>
              </a:r>
              <a:r>
                <a:rPr lang="es-AR" sz="1400" b="1" dirty="0">
                  <a:solidFill>
                    <a:srgbClr val="1E1E1E"/>
                  </a:solidFill>
                  <a:latin typeface="Fira Sans Condensed"/>
                  <a:ea typeface="Fira Sans Condensed"/>
                  <a:cs typeface="Fira Sans Condensed"/>
                  <a:sym typeface="Fira Sans Condensed"/>
                </a:rPr>
                <a:t>dos resultados anormales</a:t>
              </a:r>
              <a:r>
                <a:rPr lang="es-AR" sz="1400" dirty="0">
                  <a:solidFill>
                    <a:srgbClr val="1E1E1E"/>
                  </a:solidFill>
                  <a:latin typeface="Fira Sans Condensed"/>
                  <a:ea typeface="Fira Sans Condensed"/>
                  <a:cs typeface="Fira Sans Condensed"/>
                  <a:sym typeface="Fira Sans Condensed"/>
                </a:rPr>
                <a:t> (misma prueba repetida o dos pruebas distintas).</a:t>
              </a:r>
              <a:endParaRPr lang="es-AR" sz="1400" dirty="0">
                <a:latin typeface="Fira Sans Condensed"/>
              </a:endParaRPr>
            </a:p>
          </p:txBody>
        </p:sp>
        <p:sp>
          <p:nvSpPr>
            <p:cNvPr id="10" name="Forma 9"/>
            <p:cNvSpPr/>
            <p:nvPr/>
          </p:nvSpPr>
          <p:spPr>
            <a:xfrm>
              <a:off x="8229600" y="132588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1" name="Paso 2"/>
          <p:cNvGrpSpPr/>
          <p:nvPr/>
        </p:nvGrpSpPr>
        <p:grpSpPr>
          <a:xfrm>
            <a:off x="8138160" y="1993392"/>
            <a:ext cx="3703320" cy="591312"/>
            <a:chOff x="8138160" y="1993392"/>
            <a:chExt cx="3703320" cy="591312"/>
          </a:xfrm>
        </p:grpSpPr>
        <p:sp>
          <p:nvSpPr>
            <p:cNvPr id="12" name="Forma 11"/>
            <p:cNvSpPr/>
            <p:nvPr/>
          </p:nvSpPr>
          <p:spPr>
            <a:xfrm>
              <a:off x="8138160" y="1993392"/>
              <a:ext cx="3703320" cy="5913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Si son </a:t>
              </a:r>
              <a:r>
                <a:rPr lang="es-AR" sz="1400" b="1" dirty="0">
                  <a:solidFill>
                    <a:srgbClr val="1E1E1E"/>
                  </a:solidFill>
                  <a:latin typeface="Fira Sans Condensed"/>
                  <a:ea typeface="Fira Sans Condensed"/>
                  <a:cs typeface="Fira Sans Condensed"/>
                  <a:sym typeface="Fira Sans Condensed"/>
                </a:rPr>
                <a:t>discordantes</a:t>
              </a:r>
              <a:r>
                <a:rPr lang="es-AR" sz="1400" dirty="0">
                  <a:solidFill>
                    <a:srgbClr val="1E1E1E"/>
                  </a:solidFill>
                  <a:latin typeface="Fira Sans Condensed"/>
                  <a:ea typeface="Fira Sans Condensed"/>
                  <a:cs typeface="Fira Sans Condensed"/>
                  <a:sym typeface="Fira Sans Condensed"/>
                </a:rPr>
                <a:t>, se repite la prueba situada sobre el umbral.</a:t>
              </a:r>
              <a:endParaRPr lang="es-AR" sz="1400" dirty="0">
                <a:latin typeface="Fira Sans Condensed"/>
              </a:endParaRPr>
            </a:p>
          </p:txBody>
        </p:sp>
        <p:sp>
          <p:nvSpPr>
            <p:cNvPr id="13" name="Forma 12"/>
            <p:cNvSpPr/>
            <p:nvPr/>
          </p:nvSpPr>
          <p:spPr>
            <a:xfrm>
              <a:off x="8229600" y="211531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4" name="Paso 3"/>
          <p:cNvGrpSpPr/>
          <p:nvPr/>
        </p:nvGrpSpPr>
        <p:grpSpPr>
          <a:xfrm>
            <a:off x="8138160" y="2676144"/>
            <a:ext cx="3703320" cy="804672"/>
            <a:chOff x="8138160" y="2676144"/>
            <a:chExt cx="3703320" cy="804672"/>
          </a:xfrm>
        </p:grpSpPr>
        <p:sp>
          <p:nvSpPr>
            <p:cNvPr id="15" name="Forma 14"/>
            <p:cNvSpPr/>
            <p:nvPr/>
          </p:nvSpPr>
          <p:spPr>
            <a:xfrm>
              <a:off x="8138160" y="2676144"/>
              <a:ext cx="3703320" cy="8046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Un valor aislado de </a:t>
              </a:r>
              <a:r>
                <a:rPr lang="es-AR" sz="1400" b="1" dirty="0">
                  <a:solidFill>
                    <a:srgbClr val="1E1E1E"/>
                  </a:solidFill>
                  <a:latin typeface="Fira Sans Condensed"/>
                  <a:ea typeface="Fira Sans Condensed"/>
                  <a:cs typeface="Fira Sans Condensed"/>
                  <a:sym typeface="Fira Sans Condensed"/>
                </a:rPr>
                <a:t>145 mg/dL</a:t>
              </a:r>
              <a:r>
                <a:rPr lang="es-AR" sz="1400" dirty="0">
                  <a:solidFill>
                    <a:srgbClr val="1E1E1E"/>
                  </a:solidFill>
                  <a:latin typeface="Fira Sans Condensed"/>
                  <a:ea typeface="Fira Sans Condensed"/>
                  <a:cs typeface="Fira Sans Condensed"/>
                  <a:sym typeface="Fira Sans Condensed"/>
                </a:rPr>
                <a:t> no demuestra diabetes sin saber si fue en ayunas, el contexto y la confirmación.</a:t>
              </a:r>
              <a:endParaRPr lang="es-AR" sz="1400" dirty="0">
                <a:latin typeface="Fira Sans Condensed"/>
              </a:endParaRPr>
            </a:p>
          </p:txBody>
        </p:sp>
        <p:sp>
          <p:nvSpPr>
            <p:cNvPr id="16" name="Forma 15"/>
            <p:cNvSpPr/>
            <p:nvPr/>
          </p:nvSpPr>
          <p:spPr>
            <a:xfrm>
              <a:off x="8229600" y="290474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DIAGNÓSTICO BIOQUÍMICO: CRITERIOS ADA 2026</a:t>
            </a:r>
            <a:endParaRPr lang="es-AR" sz="33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49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Eritrocito 0"/>
          <p:cNvSpPr/>
          <p:nvPr/>
        </p:nvSpPr>
        <p:spPr>
          <a:xfrm>
            <a:off x="365760" y="1143000"/>
            <a:ext cx="822960" cy="82296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7" name="Eritrocito 1"/>
          <p:cNvSpPr/>
          <p:nvPr/>
        </p:nvSpPr>
        <p:spPr>
          <a:xfrm>
            <a:off x="1280160" y="1143000"/>
            <a:ext cx="822960" cy="82296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 name="Eritrocito 2"/>
          <p:cNvSpPr/>
          <p:nvPr/>
        </p:nvSpPr>
        <p:spPr>
          <a:xfrm>
            <a:off x="2194560" y="1143000"/>
            <a:ext cx="822960" cy="82296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Eritrocito 3"/>
          <p:cNvSpPr/>
          <p:nvPr/>
        </p:nvSpPr>
        <p:spPr>
          <a:xfrm>
            <a:off x="365760" y="1828800"/>
            <a:ext cx="822960" cy="82296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Eritrocito 4"/>
          <p:cNvSpPr/>
          <p:nvPr/>
        </p:nvSpPr>
        <p:spPr>
          <a:xfrm>
            <a:off x="1280160" y="1828800"/>
            <a:ext cx="822960" cy="82296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Flecha hb→sb"/>
          <p:cNvSpPr/>
          <p:nvPr/>
        </p:nvSpPr>
        <p:spPr>
          <a:xfrm>
            <a:off x="4994910" y="1773936"/>
            <a:ext cx="480060" cy="521208"/>
          </a:xfrm>
          <a:custGeom>
            <a:avLst/>
            <a:gdLst/>
            <a:ahLst/>
            <a:cxnLst/>
            <a:rect l="0" t="0" r="r" b="b"/>
            <a:pathLst>
              <a:path w="524" h="569" fill="none">
                <a:moveTo>
                  <a:pt x="0" y="0"/>
                </a:moveTo>
                <a:lnTo>
                  <a:pt x="524" y="569"/>
                </a:lnTo>
              </a:path>
            </a:pathLst>
          </a:custGeom>
          <a:noFill/>
          <a:ln w="28575" cap="rnd">
            <a:solidFill>
              <a:srgbClr val="1E1E1E"/>
            </a:solidFill>
            <a:round/>
            <a:tailEnd type="triangle" w="med" len="med"/>
          </a:ln>
        </p:spPr>
      </p:sp>
      <p:sp>
        <p:nvSpPr>
          <p:cNvPr id="12" name="Flecha gl→sb"/>
          <p:cNvSpPr/>
          <p:nvPr/>
        </p:nvSpPr>
        <p:spPr>
          <a:xfrm>
            <a:off x="6069330" y="1773936"/>
            <a:ext cx="708660" cy="521208"/>
          </a:xfrm>
          <a:custGeom>
            <a:avLst/>
            <a:gdLst/>
            <a:ahLst/>
            <a:cxnLst/>
            <a:rect l="0" t="0" r="r" b="b"/>
            <a:pathLst>
              <a:path w="774" h="569" fill="none">
                <a:moveTo>
                  <a:pt x="774" y="0"/>
                </a:moveTo>
                <a:lnTo>
                  <a:pt x="0" y="569"/>
                </a:lnTo>
              </a:path>
            </a:pathLst>
          </a:custGeom>
          <a:noFill/>
          <a:ln w="28575" cap="rnd">
            <a:solidFill>
              <a:srgbClr val="1E1E1E"/>
            </a:solidFill>
            <a:round/>
            <a:tailEnd type="triangle" w="med" len="med"/>
          </a:ln>
        </p:spPr>
      </p:sp>
      <p:grpSp>
        <p:nvGrpSpPr>
          <p:cNvPr id="13" name="Flecha sb→am"/>
          <p:cNvGrpSpPr/>
          <p:nvPr/>
        </p:nvGrpSpPr>
        <p:grpSpPr>
          <a:xfrm>
            <a:off x="5715000" y="2916936"/>
            <a:ext cx="824228" cy="429768"/>
            <a:chOff x="5715000" y="2916936"/>
            <a:chExt cx="824228" cy="429768"/>
          </a:xfrm>
        </p:grpSpPr>
        <p:sp>
          <p:nvSpPr>
            <p:cNvPr id="14" name="Flecha 13_2"/>
            <p:cNvSpPr/>
            <p:nvPr/>
          </p:nvSpPr>
          <p:spPr>
            <a:xfrm>
              <a:off x="5715000" y="2916936"/>
              <a:ext cx="9144" cy="429768"/>
            </a:xfrm>
            <a:custGeom>
              <a:avLst/>
              <a:gdLst/>
              <a:ahLst/>
              <a:cxnLst/>
              <a:rect l="0" t="0" r="r" b="b"/>
              <a:pathLst>
                <a:path w="10" h="470" fill="none">
                  <a:moveTo>
                    <a:pt x="0" y="0"/>
                  </a:moveTo>
                  <a:lnTo>
                    <a:pt x="0" y="470"/>
                  </a:lnTo>
                </a:path>
              </a:pathLst>
            </a:custGeom>
            <a:noFill/>
            <a:ln w="28575" cap="rnd">
              <a:solidFill>
                <a:srgbClr val="1E1E1E"/>
              </a:solidFill>
              <a:round/>
              <a:tailEnd type="triangle" w="med" len="med"/>
            </a:ln>
          </p:spPr>
        </p:sp>
        <p:sp>
          <p:nvSpPr>
            <p:cNvPr id="15" name="Rótulo horas"/>
            <p:cNvSpPr/>
            <p:nvPr/>
          </p:nvSpPr>
          <p:spPr>
            <a:xfrm>
              <a:off x="5988052" y="3003804"/>
              <a:ext cx="551176" cy="206693"/>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horas</a:t>
              </a:r>
              <a:endParaRPr lang="es-AR" sz="1050" dirty="0">
                <a:latin typeface="Fira Sans Condensed"/>
              </a:endParaRPr>
            </a:p>
          </p:txBody>
        </p:sp>
      </p:grpSp>
      <p:grpSp>
        <p:nvGrpSpPr>
          <p:cNvPr id="16" name="Flecha am→a1c"/>
          <p:cNvGrpSpPr/>
          <p:nvPr/>
        </p:nvGrpSpPr>
        <p:grpSpPr>
          <a:xfrm>
            <a:off x="5715000" y="3968496"/>
            <a:ext cx="1492412" cy="429768"/>
            <a:chOff x="5715000" y="3968496"/>
            <a:chExt cx="1492412" cy="429768"/>
          </a:xfrm>
        </p:grpSpPr>
        <p:sp>
          <p:nvSpPr>
            <p:cNvPr id="17" name="Flecha 17_2"/>
            <p:cNvSpPr/>
            <p:nvPr/>
          </p:nvSpPr>
          <p:spPr>
            <a:xfrm>
              <a:off x="5715000" y="3968496"/>
              <a:ext cx="9144" cy="429768"/>
            </a:xfrm>
            <a:custGeom>
              <a:avLst/>
              <a:gdLst/>
              <a:ahLst/>
              <a:cxnLst/>
              <a:rect l="0" t="0" r="r" b="b"/>
              <a:pathLst>
                <a:path w="10" h="469" fill="none">
                  <a:moveTo>
                    <a:pt x="0" y="0"/>
                  </a:moveTo>
                  <a:lnTo>
                    <a:pt x="0" y="469"/>
                  </a:lnTo>
                </a:path>
              </a:pathLst>
            </a:custGeom>
            <a:noFill/>
            <a:ln w="28575" cap="rnd">
              <a:solidFill>
                <a:srgbClr val="1E1E1E"/>
              </a:solidFill>
              <a:round/>
              <a:tailEnd type="triangle" w="med" len="med"/>
            </a:ln>
          </p:spPr>
        </p:sp>
        <p:sp>
          <p:nvSpPr>
            <p:cNvPr id="18" name="Rótulo días · irreversibl"/>
            <p:cNvSpPr/>
            <p:nvPr/>
          </p:nvSpPr>
          <p:spPr>
            <a:xfrm>
              <a:off x="5959948" y="4055364"/>
              <a:ext cx="1247464" cy="206693"/>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días · irreversible</a:t>
              </a:r>
              <a:endParaRPr lang="es-AR" sz="1050" dirty="0">
                <a:latin typeface="Fira Sans Condensed"/>
              </a:endParaRPr>
            </a:p>
          </p:txBody>
        </p:sp>
      </p:grpSp>
      <p:sp>
        <p:nvSpPr>
          <p:cNvPr id="19" name="Nodo hb"/>
          <p:cNvSpPr/>
          <p:nvPr/>
        </p:nvSpPr>
        <p:spPr>
          <a:xfrm>
            <a:off x="3566160" y="1188720"/>
            <a:ext cx="23774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Hb: valina N-terminal</a:t>
            </a:r>
            <a:endParaRPr lang="es-AR" sz="1250" dirty="0">
              <a:latin typeface="Fira Sans Condensed"/>
            </a:endParaRPr>
          </a:p>
          <a:p>
            <a:pPr algn="ctr">
              <a:spcAft>
                <a:spcPts val="200"/>
              </a:spcAft>
              <a:buNone/>
            </a:pPr>
            <a:r>
              <a:rPr lang="es-AR" sz="1250" b="1" dirty="0">
                <a:solidFill>
                  <a:srgbClr val="1E1E1E"/>
                </a:solidFill>
                <a:latin typeface="Fira Sans Condensed"/>
                <a:ea typeface="Fira Sans Condensed"/>
                <a:cs typeface="Fira Sans Condensed"/>
                <a:sym typeface="Fira Sans Condensed"/>
              </a:rPr>
              <a:t>de la cadena β (–NH₂)</a:t>
            </a:r>
            <a:endParaRPr lang="es-AR" sz="1250" dirty="0">
              <a:latin typeface="Fira Sans Condensed"/>
            </a:endParaRPr>
          </a:p>
        </p:txBody>
      </p:sp>
      <p:sp>
        <p:nvSpPr>
          <p:cNvPr id="20" name="Nodo gl"/>
          <p:cNvSpPr/>
          <p:nvPr/>
        </p:nvSpPr>
        <p:spPr>
          <a:xfrm>
            <a:off x="6400800" y="1188720"/>
            <a:ext cx="14630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GLUCOSA</a:t>
            </a:r>
            <a:endParaRPr lang="es-AR" sz="1500" dirty="0">
              <a:latin typeface="Fira Sans Condensed"/>
            </a:endParaRPr>
          </a:p>
        </p:txBody>
      </p:sp>
      <p:sp>
        <p:nvSpPr>
          <p:cNvPr id="21" name="Nodo sb"/>
          <p:cNvSpPr/>
          <p:nvPr/>
        </p:nvSpPr>
        <p:spPr>
          <a:xfrm>
            <a:off x="3566160" y="2331720"/>
            <a:ext cx="429768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Base de Schiff (aldimina) · reversible</a:t>
            </a:r>
            <a:endParaRPr lang="es-AR" sz="1400" dirty="0">
              <a:latin typeface="Fira Sans Condensed"/>
            </a:endParaRPr>
          </a:p>
        </p:txBody>
      </p:sp>
      <p:sp>
        <p:nvSpPr>
          <p:cNvPr id="22" name="Nodo am"/>
          <p:cNvSpPr/>
          <p:nvPr/>
        </p:nvSpPr>
        <p:spPr>
          <a:xfrm>
            <a:off x="3566160" y="3383280"/>
            <a:ext cx="429768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Reordenamiento de Amadori · cetoamina estable</a:t>
            </a:r>
            <a:endParaRPr lang="es-AR" sz="1350" dirty="0">
              <a:latin typeface="Fira Sans Condensed"/>
            </a:endParaRPr>
          </a:p>
        </p:txBody>
      </p:sp>
      <p:sp>
        <p:nvSpPr>
          <p:cNvPr id="23" name="Nodo a1c"/>
          <p:cNvSpPr/>
          <p:nvPr/>
        </p:nvSpPr>
        <p:spPr>
          <a:xfrm>
            <a:off x="3566160" y="4434840"/>
            <a:ext cx="429768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C00000"/>
                </a:solidFill>
                <a:latin typeface="Fira Sans Condensed"/>
                <a:ea typeface="Fira Sans Condensed"/>
                <a:cs typeface="Fira Sans Condensed"/>
                <a:sym typeface="Fira Sans Condensed"/>
              </a:rPr>
              <a:t>HbA1c</a:t>
            </a:r>
            <a:endParaRPr lang="es-AR" sz="2000" dirty="0">
              <a:latin typeface="Fira Sans Condensed"/>
            </a:endParaRPr>
          </a:p>
        </p:txBody>
      </p:sp>
      <p:grpSp>
        <p:nvGrpSpPr>
          <p:cNvPr id="24" name="Glucosa 3D A1c"/>
          <p:cNvGrpSpPr/>
          <p:nvPr/>
        </p:nvGrpSpPr>
        <p:grpSpPr>
          <a:xfrm>
            <a:off x="6695785" y="570063"/>
            <a:ext cx="916293" cy="733231"/>
            <a:chOff x="6695785" y="570063"/>
            <a:chExt cx="916293" cy="733231"/>
          </a:xfrm>
        </p:grpSpPr>
        <p:sp>
          <p:nvSpPr>
            <p:cNvPr id="25" name="Átomo H"/>
            <p:cNvSpPr/>
            <p:nvPr/>
          </p:nvSpPr>
          <p:spPr>
            <a:xfrm>
              <a:off x="7299066" y="935390"/>
              <a:ext cx="61197" cy="6119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6" name="Átomo H_2"/>
            <p:cNvSpPr/>
            <p:nvPr/>
          </p:nvSpPr>
          <p:spPr>
            <a:xfrm>
              <a:off x="7393296" y="655257"/>
              <a:ext cx="61554" cy="6155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7" name="Flecha 28_2"/>
            <p:cNvSpPr/>
            <p:nvPr/>
          </p:nvSpPr>
          <p:spPr>
            <a:xfrm>
              <a:off x="7424073" y="686034"/>
              <a:ext cx="88011" cy="48874"/>
            </a:xfrm>
            <a:custGeom>
              <a:avLst/>
              <a:gdLst/>
              <a:ahLst/>
              <a:cxnLst/>
              <a:rect l="0" t="0" r="r" b="b"/>
              <a:pathLst>
                <a:path w="96" h="53" fill="none">
                  <a:moveTo>
                    <a:pt x="96" y="53"/>
                  </a:moveTo>
                  <a:lnTo>
                    <a:pt x="0" y="0"/>
                  </a:lnTo>
                </a:path>
              </a:pathLst>
            </a:custGeom>
            <a:noFill/>
            <a:ln w="19050" cap="rnd">
              <a:solidFill>
                <a:srgbClr val="9A9A9A"/>
              </a:solidFill>
              <a:round/>
            </a:ln>
          </p:spPr>
        </p:sp>
        <p:sp>
          <p:nvSpPr>
            <p:cNvPr id="28" name="Flecha 30_2"/>
            <p:cNvSpPr/>
            <p:nvPr/>
          </p:nvSpPr>
          <p:spPr>
            <a:xfrm>
              <a:off x="7329665" y="965988"/>
              <a:ext cx="29828" cy="25485"/>
            </a:xfrm>
            <a:custGeom>
              <a:avLst/>
              <a:gdLst/>
              <a:ahLst/>
              <a:cxnLst/>
              <a:rect l="0" t="0" r="r" b="b"/>
              <a:pathLst>
                <a:path w="32" h="27" fill="none">
                  <a:moveTo>
                    <a:pt x="32" y="27"/>
                  </a:moveTo>
                  <a:lnTo>
                    <a:pt x="0" y="0"/>
                  </a:lnTo>
                </a:path>
              </a:pathLst>
            </a:custGeom>
            <a:noFill/>
            <a:ln w="19050" cap="rnd">
              <a:solidFill>
                <a:srgbClr val="9A9A9A"/>
              </a:solidFill>
              <a:round/>
            </a:ln>
          </p:spPr>
        </p:sp>
        <p:sp>
          <p:nvSpPr>
            <p:cNvPr id="29" name="Átomo H_3"/>
            <p:cNvSpPr/>
            <p:nvPr/>
          </p:nvSpPr>
          <p:spPr>
            <a:xfrm>
              <a:off x="7549831" y="1043274"/>
              <a:ext cx="62247" cy="622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0" name="Átomo H_4"/>
            <p:cNvSpPr/>
            <p:nvPr/>
          </p:nvSpPr>
          <p:spPr>
            <a:xfrm>
              <a:off x="6974599" y="890482"/>
              <a:ext cx="62524" cy="6252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1" name="Átomo O"/>
            <p:cNvSpPr/>
            <p:nvPr/>
          </p:nvSpPr>
          <p:spPr>
            <a:xfrm>
              <a:off x="7462931" y="685755"/>
              <a:ext cx="98306" cy="9830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2" name="Flecha 35_2"/>
            <p:cNvSpPr/>
            <p:nvPr/>
          </p:nvSpPr>
          <p:spPr>
            <a:xfrm>
              <a:off x="7483090" y="1074398"/>
              <a:ext cx="97865" cy="47952"/>
            </a:xfrm>
            <a:custGeom>
              <a:avLst/>
              <a:gdLst/>
              <a:ahLst/>
              <a:cxnLst/>
              <a:rect l="0" t="0" r="r" b="b"/>
              <a:pathLst>
                <a:path w="107" h="52" fill="none">
                  <a:moveTo>
                    <a:pt x="0" y="52"/>
                  </a:moveTo>
                  <a:lnTo>
                    <a:pt x="107" y="0"/>
                  </a:lnTo>
                </a:path>
              </a:pathLst>
            </a:custGeom>
            <a:noFill/>
            <a:ln w="19050" cap="rnd">
              <a:solidFill>
                <a:srgbClr val="9A9A9A"/>
              </a:solidFill>
              <a:round/>
            </a:ln>
          </p:spPr>
        </p:sp>
        <p:sp>
          <p:nvSpPr>
            <p:cNvPr id="33" name="Átomo H_5"/>
            <p:cNvSpPr/>
            <p:nvPr/>
          </p:nvSpPr>
          <p:spPr>
            <a:xfrm>
              <a:off x="7213927" y="1240268"/>
              <a:ext cx="63026" cy="6302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4" name="Átomo O_2"/>
            <p:cNvSpPr/>
            <p:nvPr/>
          </p:nvSpPr>
          <p:spPr>
            <a:xfrm>
              <a:off x="7433558" y="1072818"/>
              <a:ext cx="99065" cy="9906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5" name="Flecha 39_2"/>
            <p:cNvSpPr/>
            <p:nvPr/>
          </p:nvSpPr>
          <p:spPr>
            <a:xfrm>
              <a:off x="7359493" y="991473"/>
              <a:ext cx="123597" cy="130877"/>
            </a:xfrm>
            <a:custGeom>
              <a:avLst/>
              <a:gdLst/>
              <a:ahLst/>
              <a:cxnLst/>
              <a:rect l="0" t="0" r="r" b="b"/>
              <a:pathLst>
                <a:path w="135" h="143" fill="none">
                  <a:moveTo>
                    <a:pt x="0" y="0"/>
                  </a:moveTo>
                  <a:lnTo>
                    <a:pt x="135" y="143"/>
                  </a:lnTo>
                </a:path>
              </a:pathLst>
            </a:custGeom>
            <a:noFill/>
            <a:ln w="19050" cap="rnd">
              <a:solidFill>
                <a:srgbClr val="9A9A9A"/>
              </a:solidFill>
              <a:round/>
            </a:ln>
          </p:spPr>
        </p:sp>
        <p:sp>
          <p:nvSpPr>
            <p:cNvPr id="36" name="Átomo C"/>
            <p:cNvSpPr/>
            <p:nvPr/>
          </p:nvSpPr>
          <p:spPr>
            <a:xfrm>
              <a:off x="7306911" y="938891"/>
              <a:ext cx="105164" cy="1051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Flecha 42_2"/>
            <p:cNvSpPr/>
            <p:nvPr/>
          </p:nvSpPr>
          <p:spPr>
            <a:xfrm>
              <a:off x="7144826" y="1204592"/>
              <a:ext cx="100614" cy="67189"/>
            </a:xfrm>
            <a:custGeom>
              <a:avLst/>
              <a:gdLst/>
              <a:ahLst/>
              <a:cxnLst/>
              <a:rect l="0" t="0" r="r" b="b"/>
              <a:pathLst>
                <a:path w="110" h="73" fill="none">
                  <a:moveTo>
                    <a:pt x="0" y="0"/>
                  </a:moveTo>
                  <a:lnTo>
                    <a:pt x="110" y="73"/>
                  </a:lnTo>
                </a:path>
              </a:pathLst>
            </a:custGeom>
            <a:noFill/>
            <a:ln w="19050" cap="rnd">
              <a:solidFill>
                <a:srgbClr val="9A9A9A"/>
              </a:solidFill>
              <a:round/>
            </a:ln>
          </p:spPr>
        </p:sp>
        <p:sp>
          <p:nvSpPr>
            <p:cNvPr id="38" name="Átomo O_3"/>
            <p:cNvSpPr/>
            <p:nvPr/>
          </p:nvSpPr>
          <p:spPr>
            <a:xfrm>
              <a:off x="7095090" y="1154855"/>
              <a:ext cx="99473" cy="9947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9" name="Flecha 45_2"/>
            <p:cNvSpPr/>
            <p:nvPr/>
          </p:nvSpPr>
          <p:spPr>
            <a:xfrm>
              <a:off x="7005861" y="915755"/>
              <a:ext cx="62886" cy="9144"/>
            </a:xfrm>
            <a:custGeom>
              <a:avLst/>
              <a:gdLst/>
              <a:ahLst/>
              <a:cxnLst/>
              <a:rect l="0" t="0" r="r" b="b"/>
              <a:pathLst>
                <a:path w="68" h="10" fill="none">
                  <a:moveTo>
                    <a:pt x="68" y="0"/>
                  </a:moveTo>
                  <a:lnTo>
                    <a:pt x="0" y="6"/>
                  </a:lnTo>
                </a:path>
              </a:pathLst>
            </a:custGeom>
            <a:noFill/>
            <a:ln w="19050" cap="rnd">
              <a:solidFill>
                <a:srgbClr val="9A9A9A"/>
              </a:solidFill>
              <a:round/>
            </a:ln>
          </p:spPr>
        </p:sp>
        <p:sp>
          <p:nvSpPr>
            <p:cNvPr id="40" name="Flecha 47_2"/>
            <p:cNvSpPr/>
            <p:nvPr/>
          </p:nvSpPr>
          <p:spPr>
            <a:xfrm>
              <a:off x="7430663" y="734908"/>
              <a:ext cx="81421" cy="100615"/>
            </a:xfrm>
            <a:custGeom>
              <a:avLst/>
              <a:gdLst/>
              <a:ahLst/>
              <a:cxnLst/>
              <a:rect l="0" t="0" r="r" b="b"/>
              <a:pathLst>
                <a:path w="89" h="110" fill="none">
                  <a:moveTo>
                    <a:pt x="0" y="110"/>
                  </a:moveTo>
                  <a:lnTo>
                    <a:pt x="89" y="0"/>
                  </a:lnTo>
                </a:path>
              </a:pathLst>
            </a:custGeom>
            <a:noFill/>
            <a:ln w="19050" cap="rnd">
              <a:solidFill>
                <a:srgbClr val="9A9A9A"/>
              </a:solidFill>
              <a:round/>
            </a:ln>
          </p:spPr>
        </p:sp>
        <p:sp>
          <p:nvSpPr>
            <p:cNvPr id="41" name="Flecha 49_2"/>
            <p:cNvSpPr/>
            <p:nvPr/>
          </p:nvSpPr>
          <p:spPr>
            <a:xfrm>
              <a:off x="7359493" y="835524"/>
              <a:ext cx="71170" cy="155949"/>
            </a:xfrm>
            <a:custGeom>
              <a:avLst/>
              <a:gdLst/>
              <a:ahLst/>
              <a:cxnLst/>
              <a:rect l="0" t="0" r="r" b="b"/>
              <a:pathLst>
                <a:path w="77" h="170" fill="none">
                  <a:moveTo>
                    <a:pt x="77" y="0"/>
                  </a:moveTo>
                  <a:lnTo>
                    <a:pt x="0" y="170"/>
                  </a:lnTo>
                </a:path>
              </a:pathLst>
            </a:custGeom>
            <a:noFill/>
            <a:ln w="19050" cap="rnd">
              <a:solidFill>
                <a:srgbClr val="9A9A9A"/>
              </a:solidFill>
              <a:round/>
            </a:ln>
          </p:spPr>
        </p:sp>
        <p:sp>
          <p:nvSpPr>
            <p:cNvPr id="42" name="Flecha 51_2"/>
            <p:cNvSpPr/>
            <p:nvPr/>
          </p:nvSpPr>
          <p:spPr>
            <a:xfrm>
              <a:off x="7203155" y="991473"/>
              <a:ext cx="156338" cy="62227"/>
            </a:xfrm>
            <a:custGeom>
              <a:avLst/>
              <a:gdLst/>
              <a:ahLst/>
              <a:cxnLst/>
              <a:rect l="0" t="0" r="r" b="b"/>
              <a:pathLst>
                <a:path w="170" h="68" fill="none">
                  <a:moveTo>
                    <a:pt x="170" y="0"/>
                  </a:moveTo>
                  <a:lnTo>
                    <a:pt x="0" y="68"/>
                  </a:lnTo>
                </a:path>
              </a:pathLst>
            </a:custGeom>
            <a:noFill/>
            <a:ln w="19050" cap="rnd">
              <a:solidFill>
                <a:srgbClr val="9A9A9A"/>
              </a:solidFill>
              <a:round/>
            </a:ln>
          </p:spPr>
        </p:sp>
        <p:sp>
          <p:nvSpPr>
            <p:cNvPr id="43" name="Flecha 53_2"/>
            <p:cNvSpPr/>
            <p:nvPr/>
          </p:nvSpPr>
          <p:spPr>
            <a:xfrm>
              <a:off x="7144826" y="1053700"/>
              <a:ext cx="58329" cy="150892"/>
            </a:xfrm>
            <a:custGeom>
              <a:avLst/>
              <a:gdLst/>
              <a:ahLst/>
              <a:cxnLst/>
              <a:rect l="0" t="0" r="r" b="b"/>
              <a:pathLst>
                <a:path w="63" h="165" fill="none">
                  <a:moveTo>
                    <a:pt x="63" y="0"/>
                  </a:moveTo>
                  <a:lnTo>
                    <a:pt x="0" y="165"/>
                  </a:lnTo>
                </a:path>
              </a:pathLst>
            </a:custGeom>
            <a:noFill/>
            <a:ln w="19050" cap="rnd">
              <a:solidFill>
                <a:srgbClr val="9A9A9A"/>
              </a:solidFill>
              <a:round/>
            </a:ln>
          </p:spPr>
        </p:sp>
        <p:sp>
          <p:nvSpPr>
            <p:cNvPr id="44" name="Átomo C_2"/>
            <p:cNvSpPr/>
            <p:nvPr/>
          </p:nvSpPr>
          <p:spPr>
            <a:xfrm>
              <a:off x="7015174" y="862182"/>
              <a:ext cx="107147" cy="10714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5" name="Flecha 56_2"/>
            <p:cNvSpPr/>
            <p:nvPr/>
          </p:nvSpPr>
          <p:spPr>
            <a:xfrm>
              <a:off x="7068747" y="915755"/>
              <a:ext cx="134407" cy="137944"/>
            </a:xfrm>
            <a:custGeom>
              <a:avLst/>
              <a:gdLst/>
              <a:ahLst/>
              <a:cxnLst/>
              <a:rect l="0" t="0" r="r" b="b"/>
              <a:pathLst>
                <a:path w="146" h="150" fill="none">
                  <a:moveTo>
                    <a:pt x="146" y="150"/>
                  </a:moveTo>
                  <a:lnTo>
                    <a:pt x="0" y="0"/>
                  </a:lnTo>
                </a:path>
              </a:pathLst>
            </a:custGeom>
            <a:noFill/>
            <a:ln w="19050" cap="rnd">
              <a:solidFill>
                <a:srgbClr val="9A9A9A"/>
              </a:solidFill>
              <a:round/>
            </a:ln>
          </p:spPr>
        </p:sp>
        <p:sp>
          <p:nvSpPr>
            <p:cNvPr id="46" name="Flecha 58_2"/>
            <p:cNvSpPr/>
            <p:nvPr/>
          </p:nvSpPr>
          <p:spPr>
            <a:xfrm>
              <a:off x="7068747" y="748426"/>
              <a:ext cx="68822" cy="167329"/>
            </a:xfrm>
            <a:custGeom>
              <a:avLst/>
              <a:gdLst/>
              <a:ahLst/>
              <a:cxnLst/>
              <a:rect l="0" t="0" r="r" b="b"/>
              <a:pathLst>
                <a:path w="75" h="182" fill="none">
                  <a:moveTo>
                    <a:pt x="0" y="182"/>
                  </a:moveTo>
                  <a:lnTo>
                    <a:pt x="75" y="0"/>
                  </a:lnTo>
                </a:path>
              </a:pathLst>
            </a:custGeom>
            <a:noFill/>
            <a:ln w="19050" cap="rnd">
              <a:solidFill>
                <a:srgbClr val="9A9A9A"/>
              </a:solidFill>
              <a:round/>
            </a:ln>
          </p:spPr>
        </p:sp>
        <p:sp>
          <p:nvSpPr>
            <p:cNvPr id="47" name="Átomo C_3"/>
            <p:cNvSpPr/>
            <p:nvPr/>
          </p:nvSpPr>
          <p:spPr>
            <a:xfrm>
              <a:off x="7377032" y="781893"/>
              <a:ext cx="107262" cy="1072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Átomo C_4"/>
            <p:cNvSpPr/>
            <p:nvPr/>
          </p:nvSpPr>
          <p:spPr>
            <a:xfrm>
              <a:off x="7149482" y="1000027"/>
              <a:ext cx="107345" cy="1073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9" name="Átomo O_4"/>
            <p:cNvSpPr/>
            <p:nvPr/>
          </p:nvSpPr>
          <p:spPr>
            <a:xfrm>
              <a:off x="7086953" y="697810"/>
              <a:ext cx="101233" cy="1012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0" name="Flecha 63_2"/>
            <p:cNvSpPr/>
            <p:nvPr/>
          </p:nvSpPr>
          <p:spPr>
            <a:xfrm>
              <a:off x="7430663" y="835524"/>
              <a:ext cx="97575" cy="36599"/>
            </a:xfrm>
            <a:custGeom>
              <a:avLst/>
              <a:gdLst/>
              <a:ahLst/>
              <a:cxnLst/>
              <a:rect l="0" t="0" r="r" b="b"/>
              <a:pathLst>
                <a:path w="106" h="40" fill="none">
                  <a:moveTo>
                    <a:pt x="0" y="0"/>
                  </a:moveTo>
                  <a:lnTo>
                    <a:pt x="106" y="40"/>
                  </a:lnTo>
                </a:path>
              </a:pathLst>
            </a:custGeom>
            <a:noFill/>
            <a:ln w="19050" cap="rnd">
              <a:solidFill>
                <a:srgbClr val="9A9A9A"/>
              </a:solidFill>
              <a:round/>
            </a:ln>
          </p:spPr>
        </p:sp>
        <p:sp>
          <p:nvSpPr>
            <p:cNvPr id="51" name="Flecha 65_2"/>
            <p:cNvSpPr/>
            <p:nvPr/>
          </p:nvSpPr>
          <p:spPr>
            <a:xfrm>
              <a:off x="7292451" y="736352"/>
              <a:ext cx="138213" cy="99172"/>
            </a:xfrm>
            <a:custGeom>
              <a:avLst/>
              <a:gdLst/>
              <a:ahLst/>
              <a:cxnLst/>
              <a:rect l="0" t="0" r="r" b="b"/>
              <a:pathLst>
                <a:path w="151" h="108" fill="none">
                  <a:moveTo>
                    <a:pt x="0" y="0"/>
                  </a:moveTo>
                  <a:lnTo>
                    <a:pt x="151" y="108"/>
                  </a:lnTo>
                </a:path>
              </a:pathLst>
            </a:custGeom>
            <a:noFill/>
            <a:ln w="19050" cap="rnd">
              <a:solidFill>
                <a:srgbClr val="9A9A9A"/>
              </a:solidFill>
              <a:round/>
            </a:ln>
          </p:spPr>
        </p:sp>
        <p:sp>
          <p:nvSpPr>
            <p:cNvPr id="52" name="Flecha 67_2"/>
            <p:cNvSpPr/>
            <p:nvPr/>
          </p:nvSpPr>
          <p:spPr>
            <a:xfrm>
              <a:off x="7137569" y="736352"/>
              <a:ext cx="154882" cy="12074"/>
            </a:xfrm>
            <a:custGeom>
              <a:avLst/>
              <a:gdLst/>
              <a:ahLst/>
              <a:cxnLst/>
              <a:rect l="0" t="0" r="r" b="b"/>
              <a:pathLst>
                <a:path w="169" h="13" fill="none">
                  <a:moveTo>
                    <a:pt x="0" y="13"/>
                  </a:moveTo>
                  <a:lnTo>
                    <a:pt x="169" y="0"/>
                  </a:lnTo>
                </a:path>
              </a:pathLst>
            </a:custGeom>
            <a:noFill/>
            <a:ln w="19050" cap="rnd">
              <a:solidFill>
                <a:srgbClr val="9A9A9A"/>
              </a:solidFill>
              <a:round/>
            </a:ln>
          </p:spPr>
        </p:sp>
        <p:sp>
          <p:nvSpPr>
            <p:cNvPr id="53" name="Flecha 69_2"/>
            <p:cNvSpPr/>
            <p:nvPr/>
          </p:nvSpPr>
          <p:spPr>
            <a:xfrm>
              <a:off x="6933844" y="915755"/>
              <a:ext cx="134903" cy="25430"/>
            </a:xfrm>
            <a:custGeom>
              <a:avLst/>
              <a:gdLst/>
              <a:ahLst/>
              <a:cxnLst/>
              <a:rect l="0" t="0" r="r" b="b"/>
              <a:pathLst>
                <a:path w="147" h="27" fill="none">
                  <a:moveTo>
                    <a:pt x="0" y="27"/>
                  </a:moveTo>
                  <a:lnTo>
                    <a:pt x="147" y="0"/>
                  </a:lnTo>
                </a:path>
              </a:pathLst>
            </a:custGeom>
            <a:noFill/>
            <a:ln w="19050" cap="rnd">
              <a:solidFill>
                <a:srgbClr val="9A9A9A"/>
              </a:solidFill>
              <a:round/>
            </a:ln>
          </p:spPr>
        </p:sp>
        <p:sp>
          <p:nvSpPr>
            <p:cNvPr id="54" name="Flecha 71_2"/>
            <p:cNvSpPr/>
            <p:nvPr/>
          </p:nvSpPr>
          <p:spPr>
            <a:xfrm>
              <a:off x="7203155" y="1053700"/>
              <a:ext cx="31229" cy="32019"/>
            </a:xfrm>
            <a:custGeom>
              <a:avLst/>
              <a:gdLst/>
              <a:ahLst/>
              <a:cxnLst/>
              <a:rect l="0" t="0" r="r" b="b"/>
              <a:pathLst>
                <a:path w="34" h="35" fill="none">
                  <a:moveTo>
                    <a:pt x="0" y="0"/>
                  </a:moveTo>
                  <a:lnTo>
                    <a:pt x="34" y="35"/>
                  </a:lnTo>
                </a:path>
              </a:pathLst>
            </a:custGeom>
            <a:noFill/>
            <a:ln w="19050" cap="rnd">
              <a:solidFill>
                <a:srgbClr val="9A9A9A"/>
              </a:solidFill>
              <a:round/>
            </a:ln>
          </p:spPr>
        </p:sp>
        <p:sp>
          <p:nvSpPr>
            <p:cNvPr id="55" name="Átomo H_6"/>
            <p:cNvSpPr/>
            <p:nvPr/>
          </p:nvSpPr>
          <p:spPr>
            <a:xfrm>
              <a:off x="7495415" y="839300"/>
              <a:ext cx="65646" cy="6564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6" name="Átomo C_5"/>
            <p:cNvSpPr/>
            <p:nvPr/>
          </p:nvSpPr>
          <p:spPr>
            <a:xfrm>
              <a:off x="7237718" y="681620"/>
              <a:ext cx="109465" cy="10946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7" name="Flecha 75_2"/>
            <p:cNvSpPr/>
            <p:nvPr/>
          </p:nvSpPr>
          <p:spPr>
            <a:xfrm>
              <a:off x="7292451" y="602925"/>
              <a:ext cx="31870" cy="133427"/>
            </a:xfrm>
            <a:custGeom>
              <a:avLst/>
              <a:gdLst/>
              <a:ahLst/>
              <a:cxnLst/>
              <a:rect l="0" t="0" r="r" b="b"/>
              <a:pathLst>
                <a:path w="34" h="145" fill="none">
                  <a:moveTo>
                    <a:pt x="0" y="145"/>
                  </a:moveTo>
                  <a:lnTo>
                    <a:pt x="34" y="0"/>
                  </a:lnTo>
                </a:path>
              </a:pathLst>
            </a:custGeom>
            <a:noFill/>
            <a:ln w="19050" cap="rnd">
              <a:solidFill>
                <a:srgbClr val="9A9A9A"/>
              </a:solidFill>
              <a:round/>
            </a:ln>
          </p:spPr>
        </p:sp>
        <p:sp>
          <p:nvSpPr>
            <p:cNvPr id="58" name="Átomo H_7"/>
            <p:cNvSpPr/>
            <p:nvPr/>
          </p:nvSpPr>
          <p:spPr>
            <a:xfrm>
              <a:off x="7291458" y="570063"/>
              <a:ext cx="65725" cy="6572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9" name="Átomo O_5"/>
            <p:cNvSpPr/>
            <p:nvPr/>
          </p:nvSpPr>
          <p:spPr>
            <a:xfrm>
              <a:off x="6740264" y="785903"/>
              <a:ext cx="103304" cy="10330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0" name="Flecha 79_2"/>
            <p:cNvSpPr/>
            <p:nvPr/>
          </p:nvSpPr>
          <p:spPr>
            <a:xfrm>
              <a:off x="6791917" y="837555"/>
              <a:ext cx="141928" cy="103630"/>
            </a:xfrm>
            <a:custGeom>
              <a:avLst/>
              <a:gdLst/>
              <a:ahLst/>
              <a:cxnLst/>
              <a:rect l="0" t="0" r="r" b="b"/>
              <a:pathLst>
                <a:path w="155" h="113" fill="none">
                  <a:moveTo>
                    <a:pt x="0" y="0"/>
                  </a:moveTo>
                  <a:lnTo>
                    <a:pt x="155" y="113"/>
                  </a:lnTo>
                </a:path>
              </a:pathLst>
            </a:custGeom>
            <a:noFill/>
            <a:ln w="19050" cap="rnd">
              <a:solidFill>
                <a:srgbClr val="9A9A9A"/>
              </a:solidFill>
              <a:round/>
            </a:ln>
          </p:spPr>
        </p:sp>
        <p:sp>
          <p:nvSpPr>
            <p:cNvPr id="61" name="Flecha 81_2"/>
            <p:cNvSpPr/>
            <p:nvPr/>
          </p:nvSpPr>
          <p:spPr>
            <a:xfrm>
              <a:off x="6890314" y="941185"/>
              <a:ext cx="43530" cy="129628"/>
            </a:xfrm>
            <a:custGeom>
              <a:avLst/>
              <a:gdLst/>
              <a:ahLst/>
              <a:cxnLst/>
              <a:rect l="0" t="0" r="r" b="b"/>
              <a:pathLst>
                <a:path w="47" h="141" fill="none">
                  <a:moveTo>
                    <a:pt x="47" y="0"/>
                  </a:moveTo>
                  <a:lnTo>
                    <a:pt x="0" y="141"/>
                  </a:lnTo>
                </a:path>
              </a:pathLst>
            </a:custGeom>
            <a:noFill/>
            <a:ln w="19050" cap="rnd">
              <a:solidFill>
                <a:srgbClr val="9A9A9A"/>
              </a:solidFill>
              <a:round/>
            </a:ln>
          </p:spPr>
        </p:sp>
        <p:sp>
          <p:nvSpPr>
            <p:cNvPr id="62" name="Átomo C_6"/>
            <p:cNvSpPr/>
            <p:nvPr/>
          </p:nvSpPr>
          <p:spPr>
            <a:xfrm>
              <a:off x="6878650" y="885991"/>
              <a:ext cx="110389" cy="11038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3" name="Átomo H_8"/>
            <p:cNvSpPr/>
            <p:nvPr/>
          </p:nvSpPr>
          <p:spPr>
            <a:xfrm>
              <a:off x="6857181" y="1037680"/>
              <a:ext cx="66267" cy="6626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4" name="Átomo H_9"/>
            <p:cNvSpPr/>
            <p:nvPr/>
          </p:nvSpPr>
          <p:spPr>
            <a:xfrm>
              <a:off x="7201244" y="1052580"/>
              <a:ext cx="66279" cy="6627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5" name="Flecha 86_2"/>
            <p:cNvSpPr/>
            <p:nvPr/>
          </p:nvSpPr>
          <p:spPr>
            <a:xfrm>
              <a:off x="6729405" y="827470"/>
              <a:ext cx="62511" cy="10085"/>
            </a:xfrm>
            <a:custGeom>
              <a:avLst/>
              <a:gdLst/>
              <a:ahLst/>
              <a:cxnLst/>
              <a:rect l="0" t="0" r="r" b="b"/>
              <a:pathLst>
                <a:path w="68" h="11" fill="none">
                  <a:moveTo>
                    <a:pt x="68" y="11"/>
                  </a:moveTo>
                  <a:lnTo>
                    <a:pt x="0" y="0"/>
                  </a:lnTo>
                </a:path>
              </a:pathLst>
            </a:custGeom>
            <a:noFill/>
            <a:ln w="19050" cap="rnd">
              <a:solidFill>
                <a:srgbClr val="9A9A9A"/>
              </a:solidFill>
              <a:round/>
            </a:ln>
          </p:spPr>
        </p:sp>
        <p:sp>
          <p:nvSpPr>
            <p:cNvPr id="66" name="Flecha 88_2"/>
            <p:cNvSpPr/>
            <p:nvPr/>
          </p:nvSpPr>
          <p:spPr>
            <a:xfrm>
              <a:off x="7274715" y="736352"/>
              <a:ext cx="17736" cy="54943"/>
            </a:xfrm>
            <a:custGeom>
              <a:avLst/>
              <a:gdLst/>
              <a:ahLst/>
              <a:cxnLst/>
              <a:rect l="0" t="0" r="r" b="b"/>
              <a:pathLst>
                <a:path w="19" h="60" fill="none">
                  <a:moveTo>
                    <a:pt x="19" y="0"/>
                  </a:moveTo>
                  <a:lnTo>
                    <a:pt x="0" y="60"/>
                  </a:lnTo>
                </a:path>
              </a:pathLst>
            </a:custGeom>
            <a:noFill/>
            <a:ln w="19050" cap="rnd">
              <a:solidFill>
                <a:srgbClr val="9A9A9A"/>
              </a:solidFill>
              <a:round/>
            </a:ln>
          </p:spPr>
        </p:sp>
        <p:sp>
          <p:nvSpPr>
            <p:cNvPr id="67" name="Flecha 90_2"/>
            <p:cNvSpPr/>
            <p:nvPr/>
          </p:nvSpPr>
          <p:spPr>
            <a:xfrm>
              <a:off x="6933844" y="906499"/>
              <a:ext cx="46791" cy="34687"/>
            </a:xfrm>
            <a:custGeom>
              <a:avLst/>
              <a:gdLst/>
              <a:ahLst/>
              <a:cxnLst/>
              <a:rect l="0" t="0" r="r" b="b"/>
              <a:pathLst>
                <a:path w="51" h="37" fill="none">
                  <a:moveTo>
                    <a:pt x="0" y="37"/>
                  </a:moveTo>
                  <a:lnTo>
                    <a:pt x="51" y="0"/>
                  </a:lnTo>
                </a:path>
              </a:pathLst>
            </a:custGeom>
            <a:noFill/>
            <a:ln w="19050" cap="rnd">
              <a:solidFill>
                <a:srgbClr val="9A9A9A"/>
              </a:solidFill>
              <a:round/>
            </a:ln>
          </p:spPr>
        </p:sp>
        <p:sp>
          <p:nvSpPr>
            <p:cNvPr id="68" name="Átomo H_10"/>
            <p:cNvSpPr/>
            <p:nvPr/>
          </p:nvSpPr>
          <p:spPr>
            <a:xfrm>
              <a:off x="6695785" y="793850"/>
              <a:ext cx="67241" cy="6724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9" name="Átomo H_11"/>
            <p:cNvSpPr/>
            <p:nvPr/>
          </p:nvSpPr>
          <p:spPr>
            <a:xfrm>
              <a:off x="6946626" y="872489"/>
              <a:ext cx="68020" cy="6802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0" name="Átomo O_6"/>
            <p:cNvSpPr/>
            <p:nvPr/>
          </p:nvSpPr>
          <p:spPr>
            <a:xfrm>
              <a:off x="7221205" y="737786"/>
              <a:ext cx="107020" cy="10702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1" name="Flecha 95_2"/>
            <p:cNvSpPr/>
            <p:nvPr/>
          </p:nvSpPr>
          <p:spPr>
            <a:xfrm>
              <a:off x="7274715" y="743528"/>
              <a:ext cx="96297" cy="47767"/>
            </a:xfrm>
            <a:custGeom>
              <a:avLst/>
              <a:gdLst/>
              <a:ahLst/>
              <a:cxnLst/>
              <a:rect l="0" t="0" r="r" b="b"/>
              <a:pathLst>
                <a:path w="105" h="52" fill="none">
                  <a:moveTo>
                    <a:pt x="0" y="52"/>
                  </a:moveTo>
                  <a:lnTo>
                    <a:pt x="105" y="0"/>
                  </a:lnTo>
                </a:path>
              </a:pathLst>
            </a:custGeom>
            <a:noFill/>
            <a:ln w="19050" cap="rnd">
              <a:solidFill>
                <a:srgbClr val="9A9A9A"/>
              </a:solidFill>
              <a:round/>
            </a:ln>
          </p:spPr>
        </p:sp>
        <p:sp>
          <p:nvSpPr>
            <p:cNvPr id="72" name="Átomo H_12"/>
            <p:cNvSpPr/>
            <p:nvPr/>
          </p:nvSpPr>
          <p:spPr>
            <a:xfrm>
              <a:off x="7336507" y="709023"/>
              <a:ext cx="69010" cy="6901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73" name="Ventana temporal"/>
          <p:cNvGrpSpPr/>
          <p:nvPr/>
        </p:nvGrpSpPr>
        <p:grpSpPr>
          <a:xfrm>
            <a:off x="8229600" y="1143000"/>
            <a:ext cx="3566160" cy="1417320"/>
            <a:chOff x="8229600" y="1143000"/>
            <a:chExt cx="3566160" cy="1417320"/>
          </a:xfrm>
        </p:grpSpPr>
        <p:sp>
          <p:nvSpPr>
            <p:cNvPr id="74" name="Forma 99"/>
            <p:cNvSpPr txBox="1"/>
            <p:nvPr/>
          </p:nvSpPr>
          <p:spPr>
            <a:xfrm>
              <a:off x="8229600" y="1143000"/>
              <a:ext cx="3566160" cy="32004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EXPOSICIÓN QUE REFLEJA</a:t>
              </a:r>
              <a:endParaRPr lang="es-AR" sz="1300" dirty="0">
                <a:latin typeface="Fira Sans Condensed"/>
              </a:endParaRPr>
            </a:p>
          </p:txBody>
        </p:sp>
        <p:sp>
          <p:nvSpPr>
            <p:cNvPr id="75" name="Forma 100"/>
            <p:cNvSpPr/>
            <p:nvPr/>
          </p:nvSpPr>
          <p:spPr>
            <a:xfrm>
              <a:off x="8229600" y="1554480"/>
              <a:ext cx="822960" cy="411480"/>
            </a:xfrm>
            <a:prstGeom prst="rect">
              <a:avLst/>
            </a:prstGeom>
            <a:solidFill>
              <a:srgbClr val="F8CBAD"/>
            </a:solidFill>
            <a:ln w="12700" cap="rnd">
              <a:solidFill>
                <a:srgbClr val="1E1E1E"/>
              </a:solidFill>
              <a:round/>
            </a:ln>
          </p:spPr>
        </p:sp>
        <p:sp>
          <p:nvSpPr>
            <p:cNvPr id="76" name="Forma 101"/>
            <p:cNvSpPr/>
            <p:nvPr/>
          </p:nvSpPr>
          <p:spPr>
            <a:xfrm>
              <a:off x="9079992" y="1554480"/>
              <a:ext cx="822960" cy="411480"/>
            </a:xfrm>
            <a:prstGeom prst="rect">
              <a:avLst/>
            </a:prstGeom>
            <a:solidFill>
              <a:srgbClr val="F4B183"/>
            </a:solidFill>
            <a:ln w="12700" cap="rnd">
              <a:solidFill>
                <a:srgbClr val="1E1E1E"/>
              </a:solidFill>
              <a:round/>
            </a:ln>
          </p:spPr>
        </p:sp>
        <p:sp>
          <p:nvSpPr>
            <p:cNvPr id="77" name="Forma 102"/>
            <p:cNvSpPr/>
            <p:nvPr/>
          </p:nvSpPr>
          <p:spPr>
            <a:xfrm>
              <a:off x="9930384" y="1554480"/>
              <a:ext cx="822960" cy="411480"/>
            </a:xfrm>
            <a:prstGeom prst="rect">
              <a:avLst/>
            </a:prstGeom>
            <a:solidFill>
              <a:srgbClr val="ED7D31"/>
            </a:solidFill>
            <a:ln w="12700" cap="rnd">
              <a:solidFill>
                <a:srgbClr val="1E1E1E"/>
              </a:solidFill>
              <a:round/>
            </a:ln>
          </p:spPr>
        </p:sp>
        <p:sp>
          <p:nvSpPr>
            <p:cNvPr id="78" name="Forma 103"/>
            <p:cNvSpPr/>
            <p:nvPr/>
          </p:nvSpPr>
          <p:spPr>
            <a:xfrm>
              <a:off x="10780776" y="1554480"/>
              <a:ext cx="1005840" cy="411480"/>
            </a:xfrm>
            <a:prstGeom prst="rect">
              <a:avLst/>
            </a:prstGeom>
            <a:solidFill>
              <a:srgbClr val="C55A11"/>
            </a:solidFill>
            <a:ln w="12700" cap="rnd">
              <a:solidFill>
                <a:srgbClr val="1E1E1E"/>
              </a:solidFill>
              <a:round/>
            </a:ln>
          </p:spPr>
        </p:sp>
        <p:sp>
          <p:nvSpPr>
            <p:cNvPr id="79" name="Forma 104"/>
            <p:cNvSpPr txBox="1"/>
            <p:nvPr/>
          </p:nvSpPr>
          <p:spPr>
            <a:xfrm>
              <a:off x="8229600" y="2011680"/>
              <a:ext cx="3566160" cy="548640"/>
            </a:xfrm>
            <a:prstGeom prst="rect">
              <a:avLst/>
            </a:prstGeom>
            <a:noFill/>
            <a:ln>
              <a:noFill/>
            </a:ln>
          </p:spPr>
          <p:txBody>
            <a:bodyPr wrap="square" lIns="0" tIns="0" rIns="0" bIns="0" anchor="t" rtlCol="0">
              <a:noAutofit/>
            </a:bodyPr>
            <a:lstStyle/>
            <a:p>
              <a:pPr algn="ctr">
                <a:spcAft>
                  <a:spcPts val="300"/>
                </a:spcAft>
                <a:buNone/>
              </a:pPr>
              <a:r>
                <a:rPr lang="es-AR" sz="1300" dirty="0">
                  <a:solidFill>
                    <a:srgbClr val="1E1E1E"/>
                  </a:solidFill>
                  <a:latin typeface="Fira Sans Condensed"/>
                  <a:ea typeface="Fira Sans Condensed"/>
                  <a:cs typeface="Fira Sans Condensed"/>
                  <a:sym typeface="Fira Sans Condensed"/>
                </a:rPr>
                <a:t>≈ 8–12 semanas · mayor peso de las semanas </a:t>
              </a:r>
              <a:r>
                <a:rPr lang="es-AR" sz="1300" b="1" dirty="0">
                  <a:solidFill>
                    <a:srgbClr val="1E1E1E"/>
                  </a:solidFill>
                  <a:latin typeface="Fira Sans Condensed"/>
                  <a:ea typeface="Fira Sans Condensed"/>
                  <a:cs typeface="Fira Sans Condensed"/>
                  <a:sym typeface="Fira Sans Condensed"/>
                </a:rPr>
                <a:t>recientes</a:t>
              </a:r>
              <a:endParaRPr lang="es-AR" sz="1300" dirty="0">
                <a:latin typeface="Fira Sans Condensed"/>
              </a:endParaRPr>
            </a:p>
          </p:txBody>
        </p:sp>
      </p:grpSp>
      <p:sp>
        <p:nvSpPr>
          <p:cNvPr id="80" name="Perla clínica"/>
          <p:cNvSpPr/>
          <p:nvPr/>
        </p:nvSpPr>
        <p:spPr>
          <a:xfrm>
            <a:off x="8229600" y="2743200"/>
            <a:ext cx="3611880" cy="13716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Glucación (no enzimática, depende de concentración y tiempo) </a:t>
            </a:r>
            <a:r>
              <a:rPr lang="es-AR" sz="1400" b="1" dirty="0">
                <a:solidFill>
                  <a:srgbClr val="FFFFFF"/>
                </a:solidFill>
                <a:latin typeface="Fira Sans Condensed"/>
                <a:ea typeface="Fira Sans Condensed"/>
                <a:cs typeface="Fira Sans Condensed"/>
                <a:sym typeface="Fira Sans Condensed"/>
              </a:rPr>
              <a:t>≠ glucosilación</a:t>
            </a:r>
            <a:r>
              <a:rPr lang="es-AR" sz="1400" dirty="0">
                <a:solidFill>
                  <a:srgbClr val="FFFFFF"/>
                </a:solidFill>
                <a:latin typeface="Fira Sans Condensed"/>
                <a:ea typeface="Fira Sans Condensed"/>
                <a:cs typeface="Fira Sans Condensed"/>
                <a:sym typeface="Fira Sans Condensed"/>
              </a:rPr>
              <a:t> (enzimática).</a:t>
            </a:r>
            <a:endParaRPr lang="es-AR" sz="1400" dirty="0">
              <a:latin typeface="Fira Sans Condensed"/>
            </a:endParaRPr>
          </a:p>
        </p:txBody>
      </p:sp>
      <p:sp>
        <p:nvSpPr>
          <p:cNvPr id="81" name="Forma 106"/>
          <p:cNvSpPr/>
          <p:nvPr/>
        </p:nvSpPr>
        <p:spPr>
          <a:xfrm>
            <a:off x="365760" y="5257800"/>
            <a:ext cx="1147572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HbA1c es un </a:t>
            </a:r>
            <a:r>
              <a:rPr lang="es-AR" sz="1500" b="1" dirty="0">
                <a:solidFill>
                  <a:srgbClr val="1E1E1E"/>
                </a:solidFill>
                <a:latin typeface="Fira Sans Condensed"/>
                <a:ea typeface="Fira Sans Condensed"/>
                <a:cs typeface="Fira Sans Condensed"/>
                <a:sym typeface="Fira Sans Condensed"/>
              </a:rPr>
              <a:t>promedio ponderado</a:t>
            </a:r>
            <a:r>
              <a:rPr lang="es-AR" sz="1500" dirty="0">
                <a:solidFill>
                  <a:srgbClr val="1E1E1E"/>
                </a:solidFill>
                <a:latin typeface="Fira Sans Condensed"/>
                <a:ea typeface="Fira Sans Condensed"/>
                <a:cs typeface="Fira Sans Condensed"/>
                <a:sym typeface="Fira Sans Condensed"/>
              </a:rPr>
              <a:t> de semanas: una glucemia aislada es una instantánea. Su interpretación depende de la </a:t>
            </a:r>
            <a:r>
              <a:rPr lang="es-AR" sz="1500" b="1" dirty="0">
                <a:solidFill>
                  <a:srgbClr val="1E1E1E"/>
                </a:solidFill>
                <a:latin typeface="Fira Sans Condensed"/>
                <a:ea typeface="Fira Sans Condensed"/>
                <a:cs typeface="Fira Sans Condensed"/>
                <a:sym typeface="Fira Sans Condensed"/>
              </a:rPr>
              <a:t>vida media eritrocitaria</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HbA1c: GLUCACIÓN NO ENZIMÁTICA DE LA HEMOGLOBINA</a:t>
            </a:r>
            <a:endParaRPr lang="es-AR" sz="28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8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childTnLst>
                          </p:cTn>
                        </p:par>
                        <p:par>
                          <p:cTn id="10"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24" fill="hold">
                      <p:stCondLst>
                        <p:cond delay="indefinite"/>
                      </p:stCondLst>
                      <p:childTnLst>
                        <p:par>
                          <p:cTn id="15"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500"/>
                                        <p:tgtEl>
                                          <p:spTgt spid="11"/>
                                        </p:tgtEl>
                                      </p:cBhvr>
                                    </p:animEffect>
                                  </p:childTnLst>
                                </p:cTn>
                              </p:par>
                            </p:childTnLst>
                          </p:cTn>
                        </p:par>
                        <p:par>
                          <p:cTn id="19"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par>
                          <p:cTn id="23"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33" fill="hold">
                      <p:stCondLst>
                        <p:cond delay="indefinite"/>
                      </p:stCondLst>
                      <p:childTnLst>
                        <p:par>
                          <p:cTn id="28"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
                                        <p:tgtEl>
                                          <p:spTgt spid="13"/>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childTnLst>
                          </p:cTn>
                        </p:par>
                      </p:childTnLst>
                    </p:cTn>
                  </p:par>
                  <p:par>
                    <p:cTn id="42" fill="hold">
                      <p:stCondLst>
                        <p:cond delay="indefinite"/>
                      </p:stCondLst>
                      <p:childTnLst>
                        <p:par>
                          <p:cTn id="37"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41"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childTnLst>
                          </p:cTn>
                        </p:par>
                      </p:childTnLst>
                    </p:cTn>
                  </p:par>
                  <p:par>
                    <p:cTn id="47" fill="hold">
                      <p:stCondLst>
                        <p:cond delay="indefinite"/>
                      </p:stCondLst>
                      <p:childTnLst>
                        <p:par>
                          <p:cTn id="4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fade">
                                      <p:cBhvr>
                                        <p:cTn id="45" dur="500"/>
                                        <p:tgtEl>
                                          <p:spTgt spid="73"/>
                                        </p:tgtEl>
                                      </p:cBhvr>
                                    </p:animEffect>
                                  </p:childTnLst>
                                </p:cTn>
                              </p:par>
                            </p:childTnLst>
                          </p:cTn>
                        </p:par>
                      </p:childTnLst>
                    </p:cTn>
                  </p:par>
                  <p:par>
                    <p:cTn id="54" fill="hold">
                      <p:stCondLst>
                        <p:cond delay="indefinite"/>
                      </p:stCondLst>
                      <p:childTnLst>
                        <p:par>
                          <p:cTn id="53"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80"/>
                                        </p:tgtEl>
                                        <p:attrNameLst>
                                          <p:attrName>style.visibility</p:attrName>
                                        </p:attrNameLst>
                                      </p:cBhvr>
                                      <p:to>
                                        <p:strVal val="visible"/>
                                      </p:to>
                                    </p:set>
                                    <p:anim calcmode="lin" valueType="num">
                                      <p:cBhvr>
                                        <p:cTn id="50" dur="500" fill="hold"/>
                                        <p:tgtEl>
                                          <p:spTgt spid="80"/>
                                        </p:tgtEl>
                                        <p:attrNameLst>
                                          <p:attrName>ppt_w</p:attrName>
                                        </p:attrNameLst>
                                      </p:cBhvr>
                                      <p:tavLst>
                                        <p:tav tm="0">
                                          <p:val>
                                            <p:fltVal val="0"/>
                                          </p:val>
                                        </p:tav>
                                        <p:tav tm="100000">
                                          <p:val>
                                            <p:strVal val="#ppt_w"/>
                                          </p:val>
                                        </p:tav>
                                      </p:tavLst>
                                    </p:anim>
                                    <p:anim calcmode="lin" valueType="num">
                                      <p:cBhvr>
                                        <p:cTn id="51" dur="500" fill="hold"/>
                                        <p:tgtEl>
                                          <p:spTgt spid="80"/>
                                        </p:tgtEl>
                                        <p:attrNameLst>
                                          <p:attrName>ppt_h</p:attrName>
                                        </p:attrNameLst>
                                      </p:cBhvr>
                                      <p:tavLst>
                                        <p:tav tm="0">
                                          <p:val>
                                            <p:fltVal val="0"/>
                                          </p:val>
                                        </p:tav>
                                        <p:tav tm="100000">
                                          <p:val>
                                            <p:strVal val="#ppt_h"/>
                                          </p:val>
                                        </p:tav>
                                      </p:tavLst>
                                    </p:anim>
                                    <p:animEffect transition="in" filter="fade">
                                      <p:cBhvr>
                                        <p:cTn id="52" dur="500"/>
                                        <p:tgtEl>
                                          <p:spTgt spid="80"/>
                                        </p:tgtEl>
                                      </p:cBhvr>
                                    </p:animEffect>
                                  </p:childTnLst>
                                </p:cTn>
                              </p:par>
                            </p:childTnLst>
                          </p:cTn>
                        </p:par>
                      </p:childTnLst>
                    </p:cTn>
                  </p:par>
                  <p:par>
                    <p:cTn id="59" fill="hold">
                      <p:stCondLst>
                        <p:cond delay="indefinite"/>
                      </p:stCondLst>
                      <p:childTnLst>
                        <p:par>
                          <p:cTn id="58"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fade">
                                      <p:cBhvr>
                                        <p:cTn id="5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11" grpId="0" animBg="1"/>
      <p:bldP spid="12" grpId="0" animBg="1"/>
      <p:bldP spid="21" grpId="0" animBg="1"/>
      <p:bldP spid="22" grpId="0" animBg="1"/>
      <p:bldP spid="23" grpId="0" animBg="1"/>
      <p:bldP spid="80" grpId="0" animBg="1"/>
      <p:bldP spid="81"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aphicFrame>
        <p:nvGraphicFramePr>
          <p:cNvPr id="7" name="Tabla sesgos"/>
          <p:cNvGraphicFramePr>
            <a:graphicFrameLocks noGrp="1"/>
          </p:cNvGraphicFramePr>
          <p:nvPr/>
        </p:nvGraphicFramePr>
        <p:xfrm>
          <a:off x="365760" y="1097280"/>
          <a:ext cx="5760720" cy="2606040"/>
        </p:xfrm>
        <a:graphic>
          <a:graphicData uri="http://schemas.openxmlformats.org/drawingml/2006/table">
            <a:tbl>
              <a:tblPr firstRow="1" bandRow="1"/>
              <a:tblGrid>
                <a:gridCol w="2286000"/>
                <a:gridCol w="3474720"/>
              </a:tblGrid>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Situación</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Mecanismo del sesgo</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Anemia ferropénica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Eritrocitos más longevos → tiende a sobrestimar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Hemólisis · transfusiones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Población eritrocitaria joven o ajena → subestima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Embarazo avanzado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Recambio eritrocitario aumentado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Enfermedad renal · eritropoyetina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Vida eritrocitaria y reticulocitosis alteradas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Hemoglobinopatías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Interferencia analítica o vida media distinta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8" name="Fórmula"/>
          <p:cNvSpPr/>
          <p:nvPr/>
        </p:nvSpPr>
        <p:spPr>
          <a:xfrm>
            <a:off x="6492240" y="1143000"/>
            <a:ext cx="5349240" cy="82296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1E1E1E"/>
                </a:solidFill>
                <a:latin typeface="Fira Sans Condensed"/>
                <a:ea typeface="Fira Sans Condensed"/>
                <a:cs typeface="Fira Sans Condensed"/>
                <a:sym typeface="Fira Sans Condensed"/>
              </a:rPr>
              <a:t>eAG (mg/dL) = 28,7 × HbA1c (%) − 46,7</a:t>
            </a:r>
            <a:endParaRPr lang="es-AR" sz="2000" dirty="0">
              <a:latin typeface="Fira Sans Condensed"/>
            </a:endParaRPr>
          </a:p>
        </p:txBody>
      </p:sp>
      <p:sp>
        <p:nvSpPr>
          <p:cNvPr id="9" name="Fórmula_2"/>
          <p:cNvSpPr/>
          <p:nvPr/>
        </p:nvSpPr>
        <p:spPr>
          <a:xfrm>
            <a:off x="6492240" y="2194560"/>
            <a:ext cx="5349240" cy="68580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28,7 × 12 − 46,7 = 344,4 − 46,7</a:t>
            </a:r>
            <a:endParaRPr lang="es-AR" sz="1800" dirty="0">
              <a:latin typeface="Fira Sans Condensed"/>
            </a:endParaRPr>
          </a:p>
        </p:txBody>
      </p:sp>
      <p:sp>
        <p:nvSpPr>
          <p:cNvPr id="10" name="Fórmula_3"/>
          <p:cNvSpPr/>
          <p:nvPr/>
        </p:nvSpPr>
        <p:spPr>
          <a:xfrm>
            <a:off x="6492240" y="3063240"/>
            <a:ext cx="5349240" cy="73152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600" b="1" dirty="0">
                <a:solidFill>
                  <a:srgbClr val="C00000"/>
                </a:solidFill>
                <a:latin typeface="Fira Sans Condensed"/>
                <a:ea typeface="Fira Sans Condensed"/>
                <a:cs typeface="Fira Sans Condensed"/>
                <a:sym typeface="Fira Sans Condensed"/>
              </a:rPr>
              <a:t>≈ 297,7 mg/dL</a:t>
            </a:r>
            <a:endParaRPr lang="es-AR" sz="2600" dirty="0">
              <a:latin typeface="Fira Sans Condensed"/>
            </a:endParaRPr>
          </a:p>
        </p:txBody>
      </p:sp>
      <p:grpSp>
        <p:nvGrpSpPr>
          <p:cNvPr id="11" name="Cuadro Interpretación"/>
          <p:cNvGrpSpPr/>
          <p:nvPr/>
        </p:nvGrpSpPr>
        <p:grpSpPr>
          <a:xfrm>
            <a:off x="6492240" y="4023360"/>
            <a:ext cx="5349240" cy="2240280"/>
            <a:chOff x="6492240" y="4023360"/>
            <a:chExt cx="5349240" cy="2240280"/>
          </a:xfrm>
        </p:grpSpPr>
        <p:sp>
          <p:nvSpPr>
            <p:cNvPr id="12" name="Forma 11"/>
            <p:cNvSpPr/>
            <p:nvPr/>
          </p:nvSpPr>
          <p:spPr>
            <a:xfrm>
              <a:off x="6492240" y="4224528"/>
              <a:ext cx="5349240" cy="20391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Caso 11: HbA1c </a:t>
              </a:r>
              <a:r>
                <a:rPr lang="es-AR" sz="1450" b="1" dirty="0">
                  <a:solidFill>
                    <a:srgbClr val="1E1E1E"/>
                  </a:solidFill>
                  <a:latin typeface="Fira Sans Condensed"/>
                  <a:ea typeface="Fira Sans Condensed"/>
                  <a:cs typeface="Fira Sans Condensed"/>
                  <a:sym typeface="Fira Sans Condensed"/>
                </a:rPr>
                <a:t>12 %</a:t>
              </a:r>
              <a:r>
                <a:rPr lang="es-AR" sz="1450" dirty="0">
                  <a:solidFill>
                    <a:srgbClr val="1E1E1E"/>
                  </a:solidFill>
                  <a:latin typeface="Fira Sans Condensed"/>
                  <a:ea typeface="Fira Sans Condensed"/>
                  <a:cs typeface="Fira Sans Condensed"/>
                  <a:sym typeface="Fira Sans Condensed"/>
                </a:rPr>
                <a:t> → promedio ≈ </a:t>
              </a:r>
              <a:r>
                <a:rPr lang="es-AR" sz="1450" b="1" dirty="0">
                  <a:solidFill>
                    <a:srgbClr val="1E1E1E"/>
                  </a:solidFill>
                  <a:latin typeface="Fira Sans Condensed"/>
                  <a:ea typeface="Fira Sans Condensed"/>
                  <a:cs typeface="Fira Sans Condensed"/>
                  <a:sym typeface="Fira Sans Condensed"/>
                </a:rPr>
                <a:t>298 mg/dL</a:t>
              </a:r>
              <a:r>
                <a:rPr lang="es-AR" sz="1450" dirty="0">
                  <a:solidFill>
                    <a:srgbClr val="1E1E1E"/>
                  </a:solidFill>
                  <a:latin typeface="Fira Sans Condensed"/>
                  <a:ea typeface="Fira Sans Condensed"/>
                  <a:cs typeface="Fira Sans Condensed"/>
                  <a:sym typeface="Fira Sans Condensed"/>
                </a:rPr>
                <a:t>, pese a una glucemia en ayunas aislada de </a:t>
              </a:r>
              <a:r>
                <a:rPr lang="es-AR" sz="1450" b="1" dirty="0">
                  <a:solidFill>
                    <a:srgbClr val="1E1E1E"/>
                  </a:solidFill>
                  <a:latin typeface="Fira Sans Condensed"/>
                  <a:ea typeface="Fira Sans Condensed"/>
                  <a:cs typeface="Fira Sans Condensed"/>
                  <a:sym typeface="Fira Sans Condensed"/>
                </a:rPr>
                <a:t>160 mg/dL</a:t>
              </a:r>
              <a:r>
                <a:rPr lang="es-AR" sz="1450" dirty="0">
                  <a:solidFill>
                    <a:srgbClr val="1E1E1E"/>
                  </a:solidFill>
                  <a:latin typeface="Fira Sans Condensed"/>
                  <a:ea typeface="Fira Sans Condensed"/>
                  <a:cs typeface="Fira Sans Condensed"/>
                  <a:sym typeface="Fira Sans Condensed"/>
                </a:rPr>
                <a:t>. Explicaciones: picos posprandiales, variabilidad, subregistro, cambios recientes o problemas de medición. Indica </a:t>
              </a:r>
              <a:r>
                <a:rPr lang="es-AR" sz="1450" b="1" dirty="0">
                  <a:solidFill>
                    <a:srgbClr val="1E1E1E"/>
                  </a:solidFill>
                  <a:latin typeface="Fira Sans Condensed"/>
                  <a:ea typeface="Fira Sans Condensed"/>
                  <a:cs typeface="Fira Sans Condensed"/>
                  <a:sym typeface="Fira Sans Condensed"/>
                </a:rPr>
                <a:t>control marcadamente insuficiente</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13" name="Forma 12"/>
            <p:cNvSpPr/>
            <p:nvPr/>
          </p:nvSpPr>
          <p:spPr>
            <a:xfrm>
              <a:off x="6629400" y="4023360"/>
              <a:ext cx="169155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INTERPRETACIÓN</a:t>
              </a:r>
              <a:endParaRPr lang="es-AR" sz="1400" dirty="0">
                <a:latin typeface="Fira Sans Condensed"/>
              </a:endParaRPr>
            </a:p>
          </p:txBody>
        </p:sp>
      </p:grpSp>
      <p:sp>
        <p:nvSpPr>
          <p:cNvPr id="14" name="Forma 13"/>
          <p:cNvSpPr/>
          <p:nvPr/>
        </p:nvSpPr>
        <p:spPr>
          <a:xfrm>
            <a:off x="365760" y="4709160"/>
            <a:ext cx="5760720" cy="15544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En esas situaciones puede preferirse la </a:t>
            </a:r>
            <a:r>
              <a:rPr lang="es-AR" sz="1500" b="1" dirty="0">
                <a:solidFill>
                  <a:srgbClr val="1E1E1E"/>
                </a:solidFill>
                <a:latin typeface="Fira Sans Condensed"/>
                <a:ea typeface="Fira Sans Condensed"/>
                <a:cs typeface="Fira Sans Condensed"/>
                <a:sym typeface="Fira Sans Condensed"/>
              </a:rPr>
              <a:t>glucosa plasmática</a:t>
            </a:r>
            <a:r>
              <a:rPr lang="es-AR" sz="1500" dirty="0">
                <a:solidFill>
                  <a:srgbClr val="1E1E1E"/>
                </a:solidFill>
                <a:latin typeface="Fira Sans Condensed"/>
                <a:ea typeface="Fira Sans Condensed"/>
                <a:cs typeface="Fira Sans Condensed"/>
                <a:sym typeface="Fira Sans Condensed"/>
              </a:rPr>
              <a:t> o marcadores alternativos validados.</a:t>
            </a:r>
            <a:endParaRPr lang="es-AR" sz="1500" dirty="0">
              <a:latin typeface="Fira Sans Condensed"/>
            </a:endParaRPr>
          </a:p>
        </p:txBody>
      </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HbA1c: SESGOS Y GLUCEMIA PROMEDIO ESTIMADA</a:t>
            </a:r>
            <a:endParaRPr lang="es-AR" sz="32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24" fill="hold">
                      <p:stCondLst>
                        <p:cond delay="indefinite"/>
                      </p:stCondLst>
                      <p:childTnLst>
                        <p:par>
                          <p:cTn id="23"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9" grpId="0" animBg="1"/>
      <p:bldP spid="10"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sp>
        <p:nvSpPr>
          <p:cNvPr id="7" name="Recuadro HIPERGLUCEMIA SOSTENID"/>
          <p:cNvSpPr/>
          <p:nvPr/>
        </p:nvSpPr>
        <p:spPr>
          <a:xfrm>
            <a:off x="4480560" y="1143000"/>
            <a:ext cx="324612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HIPERGLUCEMIA SOSTENIDA</a:t>
            </a:r>
            <a:endParaRPr lang="es-AR" sz="1600" dirty="0">
              <a:latin typeface="Fira Sans Condensed"/>
            </a:endParaRPr>
          </a:p>
        </p:txBody>
      </p:sp>
      <p:grpSp>
        <p:nvGrpSpPr>
          <p:cNvPr id="8" name="Vía AGE"/>
          <p:cNvGrpSpPr/>
          <p:nvPr/>
        </p:nvGrpSpPr>
        <p:grpSpPr>
          <a:xfrm>
            <a:off x="365760" y="1810512"/>
            <a:ext cx="5733288" cy="1938528"/>
            <a:chOff x="365760" y="1810512"/>
            <a:chExt cx="5733288" cy="1938528"/>
          </a:xfrm>
        </p:grpSpPr>
        <p:sp>
          <p:nvSpPr>
            <p:cNvPr id="9" name="Flecha 8_2"/>
            <p:cNvSpPr/>
            <p:nvPr/>
          </p:nvSpPr>
          <p:spPr>
            <a:xfrm>
              <a:off x="1435608" y="1810512"/>
              <a:ext cx="4663440" cy="521208"/>
            </a:xfrm>
            <a:custGeom>
              <a:avLst/>
              <a:gdLst/>
              <a:ahLst/>
              <a:cxnLst/>
              <a:rect l="0" t="0" r="r" b="b"/>
              <a:pathLst>
                <a:path w="5100" h="569" fill="none">
                  <a:moveTo>
                    <a:pt x="5100" y="0"/>
                  </a:moveTo>
                  <a:lnTo>
                    <a:pt x="0" y="569"/>
                  </a:lnTo>
                </a:path>
              </a:pathLst>
            </a:custGeom>
            <a:noFill/>
            <a:ln w="28575" cap="rnd">
              <a:solidFill>
                <a:srgbClr val="1E1E1E"/>
              </a:solidFill>
              <a:round/>
              <a:tailEnd type="triangle" w="med" len="med"/>
            </a:ln>
          </p:spPr>
        </p:sp>
        <p:sp>
          <p:nvSpPr>
            <p:cNvPr id="10" name="Recuadro AGE"/>
            <p:cNvSpPr/>
            <p:nvPr/>
          </p:nvSpPr>
          <p:spPr>
            <a:xfrm>
              <a:off x="365760" y="2377440"/>
              <a:ext cx="2148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AGE</a:t>
              </a:r>
              <a:endParaRPr lang="es-AR" sz="1500" dirty="0">
                <a:latin typeface="Fira Sans Condensed"/>
              </a:endParaRPr>
            </a:p>
          </p:txBody>
        </p:sp>
        <p:sp>
          <p:nvSpPr>
            <p:cNvPr id="11" name="Forma 11"/>
            <p:cNvSpPr/>
            <p:nvPr/>
          </p:nvSpPr>
          <p:spPr>
            <a:xfrm>
              <a:off x="365760" y="2880360"/>
              <a:ext cx="2148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Glucación avanzada</a:t>
              </a:r>
              <a:endParaRPr lang="es-AR" sz="1300" dirty="0">
                <a:latin typeface="Fira Sans Condensed"/>
              </a:endParaRPr>
            </a:p>
            <a:p>
              <a:pPr algn="l">
                <a:spcAft>
                  <a:spcPts val="400"/>
                </a:spcAft>
                <a:buNone/>
              </a:pPr>
              <a:r>
                <a:rPr lang="es-AR" sz="1300" dirty="0">
                  <a:solidFill>
                    <a:srgbClr val="1E1E1E"/>
                  </a:solidFill>
                  <a:latin typeface="Fira Sans Condensed"/>
                  <a:ea typeface="Fira Sans Condensed"/>
                  <a:cs typeface="Fira Sans Condensed"/>
                  <a:sym typeface="Fira Sans Condensed"/>
                </a:rPr>
                <a:t>(productos finales)</a:t>
              </a:r>
              <a:endParaRPr lang="es-AR" sz="1300" dirty="0">
                <a:latin typeface="Fira Sans Condensed"/>
              </a:endParaRPr>
            </a:p>
          </p:txBody>
        </p:sp>
      </p:grpSp>
      <p:grpSp>
        <p:nvGrpSpPr>
          <p:cNvPr id="12" name="Vía RAGE"/>
          <p:cNvGrpSpPr/>
          <p:nvPr/>
        </p:nvGrpSpPr>
        <p:grpSpPr>
          <a:xfrm>
            <a:off x="2697480" y="1810512"/>
            <a:ext cx="3401568" cy="1938528"/>
            <a:chOff x="2697480" y="1810512"/>
            <a:chExt cx="3401568" cy="1938528"/>
          </a:xfrm>
        </p:grpSpPr>
        <p:sp>
          <p:nvSpPr>
            <p:cNvPr id="13" name="Flecha 13_2"/>
            <p:cNvSpPr/>
            <p:nvPr/>
          </p:nvSpPr>
          <p:spPr>
            <a:xfrm>
              <a:off x="3767328" y="1810512"/>
              <a:ext cx="2331720" cy="521208"/>
            </a:xfrm>
            <a:custGeom>
              <a:avLst/>
              <a:gdLst/>
              <a:ahLst/>
              <a:cxnLst/>
              <a:rect l="0" t="0" r="r" b="b"/>
              <a:pathLst>
                <a:path w="2550" h="569" fill="none">
                  <a:moveTo>
                    <a:pt x="2550" y="0"/>
                  </a:moveTo>
                  <a:lnTo>
                    <a:pt x="0" y="569"/>
                  </a:lnTo>
                </a:path>
              </a:pathLst>
            </a:custGeom>
            <a:noFill/>
            <a:ln w="28575" cap="rnd">
              <a:solidFill>
                <a:srgbClr val="1E1E1E"/>
              </a:solidFill>
              <a:round/>
              <a:tailEnd type="triangle" w="med" len="med"/>
            </a:ln>
          </p:spPr>
        </p:sp>
        <p:sp>
          <p:nvSpPr>
            <p:cNvPr id="14" name="Recuadro RAGE"/>
            <p:cNvSpPr/>
            <p:nvPr/>
          </p:nvSpPr>
          <p:spPr>
            <a:xfrm>
              <a:off x="2697480" y="2377440"/>
              <a:ext cx="2148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RAGE</a:t>
              </a:r>
              <a:endParaRPr lang="es-AR" sz="1500" dirty="0">
                <a:latin typeface="Fira Sans Condensed"/>
              </a:endParaRPr>
            </a:p>
          </p:txBody>
        </p:sp>
        <p:sp>
          <p:nvSpPr>
            <p:cNvPr id="15" name="Forma 16"/>
            <p:cNvSpPr/>
            <p:nvPr/>
          </p:nvSpPr>
          <p:spPr>
            <a:xfrm>
              <a:off x="2697480" y="2880360"/>
              <a:ext cx="2148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Unión a RAGE →</a:t>
              </a:r>
              <a:endParaRPr lang="es-AR" sz="1300" dirty="0">
                <a:latin typeface="Fira Sans Condensed"/>
              </a:endParaRPr>
            </a:p>
            <a:p>
              <a:pPr algn="l">
                <a:spcAft>
                  <a:spcPts val="400"/>
                </a:spcAft>
                <a:buNone/>
              </a:pPr>
              <a:r>
                <a:rPr lang="es-AR" sz="1300" dirty="0">
                  <a:solidFill>
                    <a:srgbClr val="1E1E1E"/>
                  </a:solidFill>
                  <a:latin typeface="Fira Sans Condensed"/>
                  <a:ea typeface="Fira Sans Condensed"/>
                  <a:cs typeface="Fira Sans Condensed"/>
                  <a:sym typeface="Fira Sans Condensed"/>
                </a:rPr>
                <a:t>NF-κB · citocinas</a:t>
              </a:r>
              <a:endParaRPr lang="es-AR" sz="1300" dirty="0">
                <a:latin typeface="Fira Sans Condensed"/>
              </a:endParaRPr>
            </a:p>
          </p:txBody>
        </p:sp>
      </p:grpSp>
      <p:grpSp>
        <p:nvGrpSpPr>
          <p:cNvPr id="16" name="Vía PKC"/>
          <p:cNvGrpSpPr/>
          <p:nvPr/>
        </p:nvGrpSpPr>
        <p:grpSpPr>
          <a:xfrm>
            <a:off x="5029200" y="1810512"/>
            <a:ext cx="2148840" cy="1938528"/>
            <a:chOff x="5029200" y="1810512"/>
            <a:chExt cx="2148840" cy="1938528"/>
          </a:xfrm>
        </p:grpSpPr>
        <p:sp>
          <p:nvSpPr>
            <p:cNvPr id="17" name="Flecha 18_2"/>
            <p:cNvSpPr/>
            <p:nvPr/>
          </p:nvSpPr>
          <p:spPr>
            <a:xfrm>
              <a:off x="6099048" y="1810512"/>
              <a:ext cx="9144" cy="521208"/>
            </a:xfrm>
            <a:custGeom>
              <a:avLst/>
              <a:gdLst/>
              <a:ahLst/>
              <a:cxnLst/>
              <a:rect l="0" t="0" r="r" b="b"/>
              <a:pathLst>
                <a:path w="10" h="569" fill="none">
                  <a:moveTo>
                    <a:pt x="0" y="0"/>
                  </a:moveTo>
                  <a:lnTo>
                    <a:pt x="0" y="569"/>
                  </a:lnTo>
                </a:path>
              </a:pathLst>
            </a:custGeom>
            <a:noFill/>
            <a:ln w="28575" cap="rnd">
              <a:solidFill>
                <a:srgbClr val="1E1E1E"/>
              </a:solidFill>
              <a:round/>
              <a:tailEnd type="triangle" w="med" len="med"/>
            </a:ln>
          </p:spPr>
        </p:sp>
        <p:sp>
          <p:nvSpPr>
            <p:cNvPr id="18" name="Recuadro PKC"/>
            <p:cNvSpPr/>
            <p:nvPr/>
          </p:nvSpPr>
          <p:spPr>
            <a:xfrm>
              <a:off x="5029200" y="2377440"/>
              <a:ext cx="2148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PKC</a:t>
              </a:r>
              <a:endParaRPr lang="es-AR" sz="1500" dirty="0">
                <a:latin typeface="Fira Sans Condensed"/>
              </a:endParaRPr>
            </a:p>
          </p:txBody>
        </p:sp>
        <p:sp>
          <p:nvSpPr>
            <p:cNvPr id="19" name="Forma 21"/>
            <p:cNvSpPr/>
            <p:nvPr/>
          </p:nvSpPr>
          <p:spPr>
            <a:xfrm>
              <a:off x="5029200" y="2880360"/>
              <a:ext cx="2148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DAG de novo →</a:t>
              </a:r>
              <a:endParaRPr lang="es-AR" sz="1300" dirty="0">
                <a:latin typeface="Fira Sans Condensed"/>
              </a:endParaRPr>
            </a:p>
            <a:p>
              <a:pPr algn="l">
                <a:spcAft>
                  <a:spcPts val="400"/>
                </a:spcAft>
                <a:buNone/>
              </a:pPr>
              <a:r>
                <a:rPr lang="es-AR" sz="1300" dirty="0">
                  <a:solidFill>
                    <a:srgbClr val="1E1E1E"/>
                  </a:solidFill>
                  <a:latin typeface="Fira Sans Condensed"/>
                  <a:ea typeface="Fira Sans Condensed"/>
                  <a:cs typeface="Fira Sans Condensed"/>
                  <a:sym typeface="Fira Sans Condensed"/>
                </a:rPr>
                <a:t>activación de PKC</a:t>
              </a:r>
              <a:endParaRPr lang="es-AR" sz="1300" dirty="0">
                <a:latin typeface="Fira Sans Condensed"/>
              </a:endParaRPr>
            </a:p>
          </p:txBody>
        </p:sp>
      </p:grpSp>
      <p:grpSp>
        <p:nvGrpSpPr>
          <p:cNvPr id="20" name="Vía POLIOLES"/>
          <p:cNvGrpSpPr/>
          <p:nvPr/>
        </p:nvGrpSpPr>
        <p:grpSpPr>
          <a:xfrm>
            <a:off x="6099048" y="1810512"/>
            <a:ext cx="3410712" cy="1938528"/>
            <a:chOff x="6099048" y="1810512"/>
            <a:chExt cx="3410712" cy="1938528"/>
          </a:xfrm>
        </p:grpSpPr>
        <p:sp>
          <p:nvSpPr>
            <p:cNvPr id="21" name="Flecha 23_2"/>
            <p:cNvSpPr/>
            <p:nvPr/>
          </p:nvSpPr>
          <p:spPr>
            <a:xfrm>
              <a:off x="6099048" y="1810512"/>
              <a:ext cx="2331720" cy="521208"/>
            </a:xfrm>
            <a:custGeom>
              <a:avLst/>
              <a:gdLst/>
              <a:ahLst/>
              <a:cxnLst/>
              <a:rect l="0" t="0" r="r" b="b"/>
              <a:pathLst>
                <a:path w="2550" h="569" fill="none">
                  <a:moveTo>
                    <a:pt x="0" y="0"/>
                  </a:moveTo>
                  <a:lnTo>
                    <a:pt x="2550" y="569"/>
                  </a:lnTo>
                </a:path>
              </a:pathLst>
            </a:custGeom>
            <a:noFill/>
            <a:ln w="28575" cap="rnd">
              <a:solidFill>
                <a:srgbClr val="1E1E1E"/>
              </a:solidFill>
              <a:round/>
              <a:tailEnd type="triangle" w="med" len="med"/>
            </a:ln>
          </p:spPr>
        </p:sp>
        <p:sp>
          <p:nvSpPr>
            <p:cNvPr id="22" name="Recuadro POLIOLES"/>
            <p:cNvSpPr/>
            <p:nvPr/>
          </p:nvSpPr>
          <p:spPr>
            <a:xfrm>
              <a:off x="7360920" y="2377440"/>
              <a:ext cx="2148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POLIOLES</a:t>
              </a:r>
              <a:endParaRPr lang="es-AR" sz="1500" dirty="0">
                <a:latin typeface="Fira Sans Condensed"/>
              </a:endParaRPr>
            </a:p>
          </p:txBody>
        </p:sp>
        <p:sp>
          <p:nvSpPr>
            <p:cNvPr id="23" name="Forma 26"/>
            <p:cNvSpPr/>
            <p:nvPr/>
          </p:nvSpPr>
          <p:spPr>
            <a:xfrm>
              <a:off x="7360920" y="2880360"/>
              <a:ext cx="2148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Aldosa reductasa:</a:t>
              </a:r>
              <a:endParaRPr lang="es-AR" sz="1300" dirty="0">
                <a:latin typeface="Fira Sans Condensed"/>
              </a:endParaRPr>
            </a:p>
            <a:p>
              <a:pPr algn="l">
                <a:spcAft>
                  <a:spcPts val="400"/>
                </a:spcAft>
                <a:buNone/>
              </a:pPr>
              <a:r>
                <a:rPr lang="es-AR" sz="1300" dirty="0">
                  <a:solidFill>
                    <a:srgbClr val="1E1E1E"/>
                  </a:solidFill>
                  <a:latin typeface="Fira Sans Condensed"/>
                  <a:ea typeface="Fira Sans Condensed"/>
                  <a:cs typeface="Fira Sans Condensed"/>
                  <a:sym typeface="Fira Sans Condensed"/>
                </a:rPr>
                <a:t>sorbitol · NADPH ↓</a:t>
              </a:r>
              <a:endParaRPr lang="es-AR" sz="1300" dirty="0">
                <a:latin typeface="Fira Sans Condensed"/>
              </a:endParaRPr>
            </a:p>
          </p:txBody>
        </p:sp>
      </p:grpSp>
      <p:grpSp>
        <p:nvGrpSpPr>
          <p:cNvPr id="24" name="Vía HEXOSAMINAS"/>
          <p:cNvGrpSpPr/>
          <p:nvPr/>
        </p:nvGrpSpPr>
        <p:grpSpPr>
          <a:xfrm>
            <a:off x="6099048" y="1810512"/>
            <a:ext cx="5742432" cy="1938528"/>
            <a:chOff x="6099048" y="1810512"/>
            <a:chExt cx="5742432" cy="1938528"/>
          </a:xfrm>
        </p:grpSpPr>
        <p:sp>
          <p:nvSpPr>
            <p:cNvPr id="25" name="Flecha 28_2"/>
            <p:cNvSpPr/>
            <p:nvPr/>
          </p:nvSpPr>
          <p:spPr>
            <a:xfrm>
              <a:off x="6099048" y="1810512"/>
              <a:ext cx="4663440" cy="521208"/>
            </a:xfrm>
            <a:custGeom>
              <a:avLst/>
              <a:gdLst/>
              <a:ahLst/>
              <a:cxnLst/>
              <a:rect l="0" t="0" r="r" b="b"/>
              <a:pathLst>
                <a:path w="5100" h="569" fill="none">
                  <a:moveTo>
                    <a:pt x="0" y="0"/>
                  </a:moveTo>
                  <a:lnTo>
                    <a:pt x="5100" y="569"/>
                  </a:lnTo>
                </a:path>
              </a:pathLst>
            </a:custGeom>
            <a:noFill/>
            <a:ln w="28575" cap="rnd">
              <a:solidFill>
                <a:srgbClr val="1E1E1E"/>
              </a:solidFill>
              <a:round/>
              <a:tailEnd type="triangle" w="med" len="med"/>
            </a:ln>
          </p:spPr>
        </p:sp>
        <p:sp>
          <p:nvSpPr>
            <p:cNvPr id="26" name="Recuadro HEXOSAMINAS"/>
            <p:cNvSpPr/>
            <p:nvPr/>
          </p:nvSpPr>
          <p:spPr>
            <a:xfrm>
              <a:off x="9692640" y="2377440"/>
              <a:ext cx="2148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HEXOSAMINAS</a:t>
              </a:r>
              <a:endParaRPr lang="es-AR" sz="1500" dirty="0">
                <a:latin typeface="Fira Sans Condensed"/>
              </a:endParaRPr>
            </a:p>
          </p:txBody>
        </p:sp>
        <p:sp>
          <p:nvSpPr>
            <p:cNvPr id="27" name="Forma 31"/>
            <p:cNvSpPr/>
            <p:nvPr/>
          </p:nvSpPr>
          <p:spPr>
            <a:xfrm>
              <a:off x="9692640" y="2880360"/>
              <a:ext cx="2148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Fructosa-6-P →</a:t>
              </a:r>
              <a:endParaRPr lang="es-AR" sz="1300" dirty="0">
                <a:latin typeface="Fira Sans Condensed"/>
              </a:endParaRPr>
            </a:p>
            <a:p>
              <a:pPr algn="l">
                <a:spcAft>
                  <a:spcPts val="400"/>
                </a:spcAft>
                <a:buNone/>
              </a:pPr>
              <a:r>
                <a:rPr lang="es-AR" sz="1300" dirty="0">
                  <a:solidFill>
                    <a:srgbClr val="1E1E1E"/>
                  </a:solidFill>
                  <a:latin typeface="Fira Sans Condensed"/>
                  <a:ea typeface="Fira Sans Condensed"/>
                  <a:cs typeface="Fira Sans Condensed"/>
                  <a:sym typeface="Fira Sans Condensed"/>
                </a:rPr>
                <a:t>UDP-GlcNAc</a:t>
              </a:r>
              <a:endParaRPr lang="es-AR" sz="1300" dirty="0">
                <a:latin typeface="Fira Sans Condensed"/>
              </a:endParaRPr>
            </a:p>
          </p:txBody>
        </p:sp>
      </p:grpSp>
      <p:sp>
        <p:nvSpPr>
          <p:cNvPr id="28" name="Recuadro ESPECIES REACTIVAS DE "/>
          <p:cNvSpPr/>
          <p:nvPr/>
        </p:nvSpPr>
        <p:spPr>
          <a:xfrm>
            <a:off x="2926080" y="4069080"/>
            <a:ext cx="6355080" cy="566928"/>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ESPECIES REACTIVAS DE OXÍGENO · ESTRÉS ENDOTELIAL</a:t>
            </a:r>
            <a:endParaRPr lang="es-AR" sz="1500" dirty="0">
              <a:latin typeface="Fira Sans Condensed"/>
            </a:endParaRPr>
          </a:p>
        </p:txBody>
      </p:sp>
      <p:grpSp>
        <p:nvGrpSpPr>
          <p:cNvPr id="29" name="Convergencia"/>
          <p:cNvGrpSpPr/>
          <p:nvPr/>
        </p:nvGrpSpPr>
        <p:grpSpPr>
          <a:xfrm>
            <a:off x="365760" y="4983480"/>
            <a:ext cx="11338560" cy="548640"/>
            <a:chOff x="365760" y="4983480"/>
            <a:chExt cx="11338560" cy="548640"/>
          </a:xfrm>
        </p:grpSpPr>
        <p:sp>
          <p:nvSpPr>
            <p:cNvPr id="30" name="Recuadro Fibrosis"/>
            <p:cNvSpPr/>
            <p:nvPr/>
          </p:nvSpPr>
          <p:spPr>
            <a:xfrm>
              <a:off x="365760" y="4983480"/>
              <a:ext cx="26974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Fibrosis</a:t>
              </a:r>
              <a:endParaRPr lang="es-AR" sz="1400" dirty="0">
                <a:latin typeface="Fira Sans Condensed"/>
              </a:endParaRPr>
            </a:p>
          </p:txBody>
        </p:sp>
        <p:sp>
          <p:nvSpPr>
            <p:cNvPr id="31" name="Recuadro Matriz extracelular al"/>
            <p:cNvSpPr/>
            <p:nvPr/>
          </p:nvSpPr>
          <p:spPr>
            <a:xfrm>
              <a:off x="3246120" y="4983480"/>
              <a:ext cx="26974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Matriz extracelular alterada</a:t>
              </a:r>
              <a:endParaRPr lang="es-AR" sz="1400" dirty="0">
                <a:latin typeface="Fira Sans Condensed"/>
              </a:endParaRPr>
            </a:p>
          </p:txBody>
        </p:sp>
        <p:sp>
          <p:nvSpPr>
            <p:cNvPr id="32" name="Recuadro Inflamación"/>
            <p:cNvSpPr/>
            <p:nvPr/>
          </p:nvSpPr>
          <p:spPr>
            <a:xfrm>
              <a:off x="6126480" y="4983480"/>
              <a:ext cx="26974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Inflamación</a:t>
              </a:r>
              <a:endParaRPr lang="es-AR" sz="1400" dirty="0">
                <a:latin typeface="Fira Sans Condensed"/>
              </a:endParaRPr>
            </a:p>
          </p:txBody>
        </p:sp>
        <p:sp>
          <p:nvSpPr>
            <p:cNvPr id="33" name="Recuadro Disfunción vascular"/>
            <p:cNvSpPr/>
            <p:nvPr/>
          </p:nvSpPr>
          <p:spPr>
            <a:xfrm>
              <a:off x="9006840" y="4983480"/>
              <a:ext cx="26974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Disfunción vascular</a:t>
              </a:r>
              <a:endParaRPr lang="es-AR" sz="1400" dirty="0">
                <a:latin typeface="Fira Sans Condensed"/>
              </a:endParaRPr>
            </a:p>
          </p:txBody>
        </p:sp>
      </p:grpSp>
      <p:sp>
        <p:nvSpPr>
          <p:cNvPr id="34" name="Forma 38"/>
          <p:cNvSpPr/>
          <p:nvPr/>
        </p:nvSpPr>
        <p:spPr>
          <a:xfrm>
            <a:off x="365760" y="5715000"/>
            <a:ext cx="11475720" cy="5943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Daño </a:t>
            </a:r>
            <a:r>
              <a:rPr lang="es-AR" sz="1500" b="1" dirty="0">
                <a:solidFill>
                  <a:srgbClr val="1E1E1E"/>
                </a:solidFill>
                <a:latin typeface="Fira Sans Condensed"/>
                <a:ea typeface="Fira Sans Condensed"/>
                <a:cs typeface="Fira Sans Condensed"/>
                <a:sym typeface="Fira Sans Condensed"/>
              </a:rPr>
              <a:t>renal, nervioso y retiniano</a:t>
            </a:r>
            <a:r>
              <a:rPr lang="es-AR" sz="1500" dirty="0">
                <a:solidFill>
                  <a:srgbClr val="1E1E1E"/>
                </a:solidFill>
                <a:latin typeface="Fira Sans Condensed"/>
                <a:ea typeface="Fira Sans Condensed"/>
                <a:cs typeface="Fira Sans Condensed"/>
                <a:sym typeface="Fira Sans Condensed"/>
              </a:rPr>
              <a:t> (microangiopatía) y aceleración de la aterosclerosis (macroangiopatía).</a:t>
            </a:r>
            <a:endParaRPr lang="es-AR" sz="1500" dirty="0">
              <a:latin typeface="Fira Sans Condensed"/>
            </a:endParaRPr>
          </a:p>
        </p:txBody>
      </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GLUCOTOXICIDAD: CINCO VÍAS BIOQUÍMICAS CONVERGENTES</a:t>
            </a:r>
            <a:endParaRPr lang="es-AR" sz="27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34" fill="hold">
                      <p:stCondLst>
                        <p:cond delay="indefinite"/>
                      </p:stCondLst>
                      <p:childTnLst>
                        <p:par>
                          <p:cTn id="33"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41" fill="hold">
                      <p:stCondLst>
                        <p:cond delay="indefinite"/>
                      </p:stCondLst>
                      <p:childTnLst>
                        <p:par>
                          <p:cTn id="40"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fltVal val="0"/>
                                          </p:val>
                                        </p:tav>
                                        <p:tav tm="100000">
                                          <p:val>
                                            <p:strVal val="#ppt_w"/>
                                          </p:val>
                                        </p:tav>
                                      </p:tavLst>
                                    </p:anim>
                                    <p:anim calcmode="lin" valueType="num">
                                      <p:cBhvr>
                                        <p:cTn id="38" dur="500" fill="hold"/>
                                        <p:tgtEl>
                                          <p:spTgt spid="28"/>
                                        </p:tgtEl>
                                        <p:attrNameLst>
                                          <p:attrName>ppt_h</p:attrName>
                                        </p:attrNameLst>
                                      </p:cBhvr>
                                      <p:tavLst>
                                        <p:tav tm="0">
                                          <p:val>
                                            <p:fltVal val="0"/>
                                          </p:val>
                                        </p:tav>
                                        <p:tav tm="100000">
                                          <p:val>
                                            <p:strVal val="#ppt_h"/>
                                          </p:val>
                                        </p:tav>
                                      </p:tavLst>
                                    </p:anim>
                                    <p:animEffect transition="in" filter="fade">
                                      <p:cBhvr>
                                        <p:cTn id="39" dur="500"/>
                                        <p:tgtEl>
                                          <p:spTgt spid="28"/>
                                        </p:tgtEl>
                                      </p:cBhvr>
                                    </p:animEffect>
                                  </p:childTnLst>
                                </p:cTn>
                              </p:par>
                            </p:childTnLst>
                          </p:cTn>
                        </p:par>
                      </p:childTnLst>
                    </p:cTn>
                  </p:par>
                  <p:par>
                    <p:cTn id="46" fill="hold">
                      <p:stCondLst>
                        <p:cond delay="indefinite"/>
                      </p:stCondLst>
                      <p:childTnLst>
                        <p:par>
                          <p:cTn id="45"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childTnLst>
                          </p:cTn>
                        </p:par>
                      </p:childTnLst>
                    </p:cTn>
                  </p:par>
                  <p:par>
                    <p:cTn id="51" fill="hold">
                      <p:stCondLst>
                        <p:cond delay="indefinite"/>
                      </p:stCondLst>
                      <p:childTnLst>
                        <p:par>
                          <p:cTn id="50"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8" grpId="0" animBg="1"/>
      <p:bldP spid="34"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pic>
        <p:nvPicPr>
          <p:cNvPr id="7" name="Vaso AGE" descr="Ilustración biomédica (Servier Medical Art, CC BY)"/>
          <p:cNvPicPr>
            <a:picLocks noChangeAspect="1"/>
          </p:cNvPicPr>
          <p:nvPr/>
        </p:nvPicPr>
        <p:blipFill>
          <a:blip r:embed="rId2"/>
          <a:stretch>
            <a:fillRect/>
          </a:stretch>
        </p:blipFill>
        <p:spPr>
          <a:xfrm>
            <a:off x="274320" y="1097280"/>
            <a:ext cx="3840480" cy="3036722"/>
          </a:xfrm>
          <a:prstGeom prst="rect">
            <a:avLst/>
          </a:prstGeom>
        </p:spPr>
      </p:pic>
      <p:sp>
        <p:nvSpPr>
          <p:cNvPr id="8" name="Flecha p→age"/>
          <p:cNvSpPr/>
          <p:nvPr/>
        </p:nvSpPr>
        <p:spPr>
          <a:xfrm>
            <a:off x="6894576" y="144018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9" name="Flecha age→x"/>
          <p:cNvSpPr/>
          <p:nvPr/>
        </p:nvSpPr>
        <p:spPr>
          <a:xfrm>
            <a:off x="9180576" y="1440180"/>
            <a:ext cx="475488" cy="9144"/>
          </a:xfrm>
          <a:custGeom>
            <a:avLst/>
            <a:gdLst/>
            <a:ahLst/>
            <a:cxnLst/>
            <a:rect l="0" t="0" r="r" b="b"/>
            <a:pathLst>
              <a:path w="520" h="10" fill="none">
                <a:moveTo>
                  <a:pt x="0" y="0"/>
                </a:moveTo>
                <a:lnTo>
                  <a:pt x="520" y="0"/>
                </a:lnTo>
              </a:path>
            </a:pathLst>
          </a:custGeom>
          <a:noFill/>
          <a:ln w="28575" cap="rnd">
            <a:solidFill>
              <a:srgbClr val="1E1E1E"/>
            </a:solidFill>
            <a:round/>
            <a:tailEnd type="triangle" w="med" len="med"/>
          </a:ln>
        </p:spPr>
      </p:sp>
      <p:sp>
        <p:nvSpPr>
          <p:cNvPr id="10" name="Flecha age→r"/>
          <p:cNvSpPr/>
          <p:nvPr/>
        </p:nvSpPr>
        <p:spPr>
          <a:xfrm>
            <a:off x="8229600" y="1728216"/>
            <a:ext cx="9144" cy="566928"/>
          </a:xfrm>
          <a:custGeom>
            <a:avLst/>
            <a:gdLst/>
            <a:ahLst/>
            <a:cxnLst/>
            <a:rect l="0" t="0" r="r" b="b"/>
            <a:pathLst>
              <a:path w="10" h="619" fill="none">
                <a:moveTo>
                  <a:pt x="0" y="0"/>
                </a:moveTo>
                <a:lnTo>
                  <a:pt x="0" y="619"/>
                </a:lnTo>
              </a:path>
            </a:pathLst>
          </a:custGeom>
          <a:noFill/>
          <a:ln w="28575" cap="rnd">
            <a:solidFill>
              <a:srgbClr val="1E1E1E"/>
            </a:solidFill>
            <a:round/>
            <a:tailEnd type="triangle" w="med" len="med"/>
          </a:ln>
        </p:spPr>
      </p:sp>
      <p:sp>
        <p:nvSpPr>
          <p:cNvPr id="11" name="Flecha r→ros"/>
          <p:cNvSpPr/>
          <p:nvPr/>
        </p:nvSpPr>
        <p:spPr>
          <a:xfrm>
            <a:off x="5669280" y="2606040"/>
            <a:ext cx="1600200" cy="777240"/>
          </a:xfrm>
          <a:custGeom>
            <a:avLst/>
            <a:gdLst/>
            <a:ahLst/>
            <a:cxnLst/>
            <a:rect l="0" t="0" r="r" b="b"/>
            <a:pathLst>
              <a:path w="1750" h="850" fill="none">
                <a:moveTo>
                  <a:pt x="1750" y="0"/>
                </a:moveTo>
                <a:lnTo>
                  <a:pt x="0" y="0"/>
                </a:lnTo>
                <a:lnTo>
                  <a:pt x="0" y="850"/>
                </a:lnTo>
              </a:path>
            </a:pathLst>
          </a:custGeom>
          <a:noFill/>
          <a:ln w="28575" cap="rnd">
            <a:solidFill>
              <a:srgbClr val="1E1E1E"/>
            </a:solidFill>
            <a:round/>
            <a:tailEnd type="triangle" w="med" len="med"/>
          </a:ln>
        </p:spPr>
      </p:sp>
      <p:sp>
        <p:nvSpPr>
          <p:cNvPr id="12" name="Flecha r→nf"/>
          <p:cNvSpPr/>
          <p:nvPr/>
        </p:nvSpPr>
        <p:spPr>
          <a:xfrm>
            <a:off x="8229600" y="2871216"/>
            <a:ext cx="9144" cy="521208"/>
          </a:xfrm>
          <a:custGeom>
            <a:avLst/>
            <a:gdLst/>
            <a:ahLst/>
            <a:cxnLst/>
            <a:rect l="0" t="0" r="r" b="b"/>
            <a:pathLst>
              <a:path w="10" h="570" fill="none">
                <a:moveTo>
                  <a:pt x="0" y="0"/>
                </a:moveTo>
                <a:lnTo>
                  <a:pt x="0" y="570"/>
                </a:lnTo>
              </a:path>
            </a:pathLst>
          </a:custGeom>
          <a:noFill/>
          <a:ln w="28575" cap="rnd">
            <a:solidFill>
              <a:srgbClr val="1E1E1E"/>
            </a:solidFill>
            <a:round/>
            <a:tailEnd type="triangle" w="med" len="med"/>
          </a:ln>
        </p:spPr>
      </p:sp>
      <p:sp>
        <p:nvSpPr>
          <p:cNvPr id="13" name="Flecha nf→cy"/>
          <p:cNvSpPr/>
          <p:nvPr/>
        </p:nvSpPr>
        <p:spPr>
          <a:xfrm>
            <a:off x="9180576" y="3703320"/>
            <a:ext cx="475488" cy="9144"/>
          </a:xfrm>
          <a:custGeom>
            <a:avLst/>
            <a:gdLst/>
            <a:ahLst/>
            <a:cxnLst/>
            <a:rect l="0" t="0" r="r" b="b"/>
            <a:pathLst>
              <a:path w="520" h="10" fill="none">
                <a:moveTo>
                  <a:pt x="0" y="0"/>
                </a:moveTo>
                <a:lnTo>
                  <a:pt x="520" y="0"/>
                </a:lnTo>
              </a:path>
            </a:pathLst>
          </a:custGeom>
          <a:noFill/>
          <a:ln w="28575" cap="rnd">
            <a:solidFill>
              <a:srgbClr val="1E1E1E"/>
            </a:solidFill>
            <a:round/>
            <a:tailEnd type="triangle" w="med" len="med"/>
          </a:ln>
        </p:spPr>
      </p:sp>
      <p:sp>
        <p:nvSpPr>
          <p:cNvPr id="14" name="Flecha ros→nf"/>
          <p:cNvSpPr/>
          <p:nvPr/>
        </p:nvSpPr>
        <p:spPr>
          <a:xfrm>
            <a:off x="6894576" y="3703320"/>
            <a:ext cx="384048" cy="9144"/>
          </a:xfrm>
          <a:custGeom>
            <a:avLst/>
            <a:gdLst/>
            <a:ahLst/>
            <a:cxnLst/>
            <a:rect l="0" t="0" r="r" b="b"/>
            <a:pathLst>
              <a:path w="419" h="10" fill="none">
                <a:moveTo>
                  <a:pt x="0" y="0"/>
                </a:moveTo>
                <a:lnTo>
                  <a:pt x="419" y="0"/>
                </a:lnTo>
              </a:path>
            </a:pathLst>
          </a:custGeom>
          <a:noFill/>
          <a:ln w="28575" cap="rnd">
            <a:solidFill>
              <a:srgbClr val="1E8C3A"/>
            </a:solidFill>
            <a:round/>
            <a:tailEnd type="triangle" w="med" len="med"/>
          </a:ln>
        </p:spPr>
      </p:sp>
      <p:sp>
        <p:nvSpPr>
          <p:cNvPr id="15" name="Flecha ros→no"/>
          <p:cNvSpPr/>
          <p:nvPr/>
        </p:nvSpPr>
        <p:spPr>
          <a:xfrm>
            <a:off x="5669280" y="4023360"/>
            <a:ext cx="9144" cy="502920"/>
          </a:xfrm>
          <a:custGeom>
            <a:avLst/>
            <a:gdLst/>
            <a:ahLst/>
            <a:cxnLst/>
            <a:rect l="0" t="0" r="r" b="b"/>
            <a:pathLst>
              <a:path w="10" h="549" fill="none">
                <a:moveTo>
                  <a:pt x="0" y="0"/>
                </a:moveTo>
                <a:lnTo>
                  <a:pt x="0" y="549"/>
                </a:lnTo>
              </a:path>
            </a:pathLst>
          </a:custGeom>
          <a:noFill/>
          <a:ln w="28575" cap="rnd">
            <a:solidFill>
              <a:srgbClr val="1E1E1E"/>
            </a:solidFill>
            <a:round/>
            <a:tailEnd type="triangle" w="med" len="med"/>
          </a:ln>
        </p:spPr>
      </p:sp>
      <p:sp>
        <p:nvSpPr>
          <p:cNvPr id="16" name="Flecha cy→no"/>
          <p:cNvSpPr/>
          <p:nvPr/>
        </p:nvSpPr>
        <p:spPr>
          <a:xfrm>
            <a:off x="10789920" y="4023360"/>
            <a:ext cx="9144" cy="502920"/>
          </a:xfrm>
          <a:custGeom>
            <a:avLst/>
            <a:gdLst/>
            <a:ahLst/>
            <a:cxnLst/>
            <a:rect l="0" t="0" r="r" b="b"/>
            <a:pathLst>
              <a:path w="10" h="549" fill="none">
                <a:moveTo>
                  <a:pt x="0" y="0"/>
                </a:moveTo>
                <a:lnTo>
                  <a:pt x="0" y="549"/>
                </a:lnTo>
              </a:path>
            </a:pathLst>
          </a:custGeom>
          <a:noFill/>
          <a:ln w="28575" cap="rnd">
            <a:solidFill>
              <a:srgbClr val="1E1E1E"/>
            </a:solidFill>
            <a:round/>
            <a:tailEnd type="triangle" w="med" len="med"/>
          </a:ln>
        </p:spPr>
      </p:sp>
      <p:sp>
        <p:nvSpPr>
          <p:cNvPr id="17" name="Nodo p"/>
          <p:cNvSpPr/>
          <p:nvPr/>
        </p:nvSpPr>
        <p:spPr>
          <a:xfrm>
            <a:off x="4480560" y="1188720"/>
            <a:ext cx="237744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Proteínas de larga vida</a:t>
            </a:r>
            <a:endParaRPr lang="es-AR" sz="1250" dirty="0">
              <a:latin typeface="Fira Sans Condensed"/>
            </a:endParaRPr>
          </a:p>
          <a:p>
            <a:pPr algn="ctr">
              <a:spcAft>
                <a:spcPts val="200"/>
              </a:spcAft>
              <a:buNone/>
            </a:pPr>
            <a:r>
              <a:rPr lang="es-AR" sz="1250" b="1" dirty="0">
                <a:solidFill>
                  <a:srgbClr val="1E1E1E"/>
                </a:solidFill>
                <a:latin typeface="Fira Sans Condensed"/>
                <a:ea typeface="Fira Sans Condensed"/>
                <a:cs typeface="Fira Sans Condensed"/>
                <a:sym typeface="Fira Sans Condensed"/>
              </a:rPr>
              <a:t>(colágeno, matriz)</a:t>
            </a:r>
            <a:endParaRPr lang="es-AR" sz="1250" dirty="0">
              <a:latin typeface="Fira Sans Condensed"/>
            </a:endParaRPr>
          </a:p>
        </p:txBody>
      </p:sp>
      <p:sp>
        <p:nvSpPr>
          <p:cNvPr id="18" name="Nodo age"/>
          <p:cNvSpPr/>
          <p:nvPr/>
        </p:nvSpPr>
        <p:spPr>
          <a:xfrm>
            <a:off x="7315200" y="118872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C00000"/>
                </a:solidFill>
                <a:latin typeface="Fira Sans Condensed"/>
                <a:ea typeface="Fira Sans Condensed"/>
                <a:cs typeface="Fira Sans Condensed"/>
                <a:sym typeface="Fira Sans Condensed"/>
              </a:rPr>
              <a:t>AGE</a:t>
            </a:r>
            <a:endParaRPr lang="es-AR" sz="1800" dirty="0">
              <a:latin typeface="Fira Sans Condensed"/>
            </a:endParaRPr>
          </a:p>
        </p:txBody>
      </p:sp>
      <p:sp>
        <p:nvSpPr>
          <p:cNvPr id="19" name="Nodo x"/>
          <p:cNvSpPr/>
          <p:nvPr/>
        </p:nvSpPr>
        <p:spPr>
          <a:xfrm>
            <a:off x="9692640" y="1188720"/>
            <a:ext cx="21488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Entrecruzamiento:</a:t>
            </a:r>
            <a:endParaRPr lang="es-AR" sz="1250" dirty="0">
              <a:latin typeface="Fira Sans Condensed"/>
            </a:endParaRPr>
          </a:p>
          <a:p>
            <a:pPr algn="ctr">
              <a:spcAft>
                <a:spcPts val="200"/>
              </a:spcAft>
              <a:buNone/>
            </a:pPr>
            <a:r>
              <a:rPr lang="es-AR" sz="1250" b="1" dirty="0">
                <a:solidFill>
                  <a:srgbClr val="1E1E1E"/>
                </a:solidFill>
                <a:latin typeface="Fira Sans Condensed"/>
                <a:ea typeface="Fira Sans Condensed"/>
                <a:cs typeface="Fira Sans Condensed"/>
                <a:sym typeface="Fira Sans Condensed"/>
              </a:rPr>
              <a:t>rigidez de matriz</a:t>
            </a:r>
            <a:endParaRPr lang="es-AR" sz="1250" dirty="0">
              <a:latin typeface="Fira Sans Condensed"/>
            </a:endParaRPr>
          </a:p>
        </p:txBody>
      </p:sp>
      <p:sp>
        <p:nvSpPr>
          <p:cNvPr id="20" name="Nodo r"/>
          <p:cNvSpPr/>
          <p:nvPr/>
        </p:nvSpPr>
        <p:spPr>
          <a:xfrm>
            <a:off x="7315200" y="2331720"/>
            <a:ext cx="182880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1E1E1E"/>
                </a:solidFill>
                <a:latin typeface="Fira Sans Condensed"/>
                <a:ea typeface="Fira Sans Condensed"/>
                <a:cs typeface="Fira Sans Condensed"/>
                <a:sym typeface="Fira Sans Condensed"/>
              </a:rPr>
              <a:t>RAGE</a:t>
            </a:r>
            <a:endParaRPr lang="es-AR" sz="1800" dirty="0">
              <a:latin typeface="Fira Sans Condensed"/>
            </a:endParaRPr>
          </a:p>
        </p:txBody>
      </p:sp>
      <p:sp>
        <p:nvSpPr>
          <p:cNvPr id="21" name="Nodo ros"/>
          <p:cNvSpPr/>
          <p:nvPr/>
        </p:nvSpPr>
        <p:spPr>
          <a:xfrm>
            <a:off x="4480560" y="3429000"/>
            <a:ext cx="23774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NADPH oxidasa → ROS</a:t>
            </a:r>
            <a:endParaRPr lang="es-AR" sz="1400" dirty="0">
              <a:latin typeface="Fira Sans Condensed"/>
            </a:endParaRPr>
          </a:p>
        </p:txBody>
      </p:sp>
      <p:sp>
        <p:nvSpPr>
          <p:cNvPr id="22" name="Nodo nf"/>
          <p:cNvSpPr/>
          <p:nvPr/>
        </p:nvSpPr>
        <p:spPr>
          <a:xfrm>
            <a:off x="7315200" y="3429000"/>
            <a:ext cx="18288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NF-κB</a:t>
            </a:r>
            <a:endParaRPr lang="es-AR" sz="1700" dirty="0">
              <a:latin typeface="Fira Sans Condensed"/>
            </a:endParaRPr>
          </a:p>
        </p:txBody>
      </p:sp>
      <p:sp>
        <p:nvSpPr>
          <p:cNvPr id="23" name="Nodo cy"/>
          <p:cNvSpPr/>
          <p:nvPr/>
        </p:nvSpPr>
        <p:spPr>
          <a:xfrm>
            <a:off x="9692640" y="3429000"/>
            <a:ext cx="21488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Citocinas · moléculas</a:t>
            </a:r>
            <a:endParaRPr lang="es-AR" sz="1250" dirty="0">
              <a:latin typeface="Fira Sans Condensed"/>
            </a:endParaRPr>
          </a:p>
          <a:p>
            <a:pPr algn="ctr">
              <a:spcAft>
                <a:spcPts val="200"/>
              </a:spcAft>
              <a:buNone/>
            </a:pPr>
            <a:r>
              <a:rPr lang="es-AR" sz="1250" b="1" dirty="0">
                <a:solidFill>
                  <a:srgbClr val="1E1E1E"/>
                </a:solidFill>
                <a:latin typeface="Fira Sans Condensed"/>
                <a:ea typeface="Fira Sans Condensed"/>
                <a:cs typeface="Fira Sans Condensed"/>
                <a:sym typeface="Fira Sans Condensed"/>
              </a:rPr>
              <a:t>de adhesión</a:t>
            </a:r>
            <a:endParaRPr lang="es-AR" sz="1250" dirty="0">
              <a:latin typeface="Fira Sans Condensed"/>
            </a:endParaRPr>
          </a:p>
        </p:txBody>
      </p:sp>
      <p:sp>
        <p:nvSpPr>
          <p:cNvPr id="24" name="Nodo no"/>
          <p:cNvSpPr/>
          <p:nvPr/>
        </p:nvSpPr>
        <p:spPr>
          <a:xfrm>
            <a:off x="4480560" y="4572000"/>
            <a:ext cx="736092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50" b="1" dirty="0">
                <a:solidFill>
                  <a:srgbClr val="FFFFFF"/>
                </a:solidFill>
                <a:latin typeface="Fira Sans Condensed"/>
                <a:ea typeface="Fira Sans Condensed"/>
                <a:cs typeface="Fira Sans Condensed"/>
                <a:sym typeface="Fira Sans Condensed"/>
              </a:rPr>
              <a:t>Menor biodisponibilidad de NO · permeabilidad ↑ · procoagulación</a:t>
            </a:r>
            <a:endParaRPr lang="es-AR" sz="1450" dirty="0">
              <a:latin typeface="Fira Sans Condensed"/>
            </a:endParaRPr>
          </a:p>
        </p:txBody>
      </p:sp>
      <p:sp>
        <p:nvSpPr>
          <p:cNvPr id="25" name="Forma 24"/>
          <p:cNvSpPr/>
          <p:nvPr/>
        </p:nvSpPr>
        <p:spPr>
          <a:xfrm>
            <a:off x="365760" y="5394960"/>
            <a:ext cx="1147572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Los AGE se acumulan en proteínas de recambio lento: el daño </a:t>
            </a:r>
            <a:r>
              <a:rPr lang="es-AR" sz="1450" b="1" dirty="0">
                <a:solidFill>
                  <a:srgbClr val="1E1E1E"/>
                </a:solidFill>
                <a:latin typeface="Fira Sans Condensed"/>
                <a:ea typeface="Fira Sans Condensed"/>
                <a:cs typeface="Fira Sans Condensed"/>
                <a:sym typeface="Fira Sans Condensed"/>
              </a:rPr>
              <a:t>persiste</a:t>
            </a:r>
            <a:r>
              <a:rPr lang="es-AR" sz="1450" dirty="0">
                <a:solidFill>
                  <a:srgbClr val="1E1E1E"/>
                </a:solidFill>
                <a:latin typeface="Fira Sans Condensed"/>
                <a:ea typeface="Fira Sans Condensed"/>
                <a:cs typeface="Fira Sans Condensed"/>
                <a:sym typeface="Fira Sans Condensed"/>
              </a:rPr>
              <a:t> aunque la glucemia mejore («memoria metabólica», ampliación).</a:t>
            </a:r>
            <a:endParaRPr lang="es-AR" sz="14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AGE Y RAGE: DEL AZÚCAR AL DAÑO ENDOTELIAL</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500"/>
                                        <p:tgtEl>
                                          <p:spTgt spid="8"/>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childTnLst>
                          </p:cTn>
                        </p:par>
                      </p:childTnLst>
                    </p:cTn>
                  </p:par>
                  <p:par>
                    <p:cTn id="24" fill="hold">
                      <p:stCondLst>
                        <p:cond delay="indefinite"/>
                      </p:stCondLst>
                      <p:childTnLst>
                        <p:par>
                          <p:cTn id="19"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33" fill="hold">
                      <p:stCondLst>
                        <p:cond delay="indefinite"/>
                      </p:stCondLst>
                      <p:childTnLst>
                        <p:par>
                          <p:cTn id="28"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childTnLst>
                          </p:cTn>
                        </p:par>
                      </p:childTnLst>
                    </p:cTn>
                  </p:par>
                  <p:par>
                    <p:cTn id="54" fill="hold">
                      <p:stCondLst>
                        <p:cond delay="indefinite"/>
                      </p:stCondLst>
                      <p:childTnLst>
                        <p:par>
                          <p:cTn id="37"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par>
                          <p:cTn id="41"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par>
                          <p:cTn id="45" fill="hold">
                            <p:stCondLst>
                              <p:cond delay="900"/>
                            </p:stCondLst>
                            <p:childTnLst>
                              <p:par>
                                <p:cTn id="42" presetID="22" presetClass="entr" presetSubtype="1"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par>
                          <p:cTn id="49" fill="hold">
                            <p:stCondLst>
                              <p:cond delay="1400"/>
                            </p:stCondLst>
                            <p:childTnLst>
                              <p:par>
                                <p:cTn id="46" presetID="10" presetClass="entr" presetSubtype="0" fill="hold" grpId="0"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00"/>
                                        <p:tgtEl>
                                          <p:spTgt spid="22"/>
                                        </p:tgtEl>
                                      </p:cBhvr>
                                    </p:animEffect>
                                  </p:childTnLst>
                                </p:cTn>
                              </p:par>
                            </p:childTnLst>
                          </p:cTn>
                        </p:par>
                        <p:par>
                          <p:cTn id="53" fill="hold">
                            <p:stCondLst>
                              <p:cond delay="1800"/>
                            </p:stCondLst>
                            <p:childTnLst>
                              <p:par>
                                <p:cTn id="50" presetID="22" presetClass="entr" presetSubtype="8"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63" fill="hold">
                      <p:stCondLst>
                        <p:cond delay="indefinite"/>
                      </p:stCondLst>
                      <p:childTnLst>
                        <p:par>
                          <p:cTn id="58"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par>
                          <p:cTn id="62"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childTnLst>
                          </p:cTn>
                        </p:par>
                      </p:childTnLst>
                    </p:cTn>
                  </p:par>
                  <p:par>
                    <p:cTn id="76" fill="hold">
                      <p:stCondLst>
                        <p:cond delay="indefinite"/>
                      </p:stCondLst>
                      <p:childTnLst>
                        <p:par>
                          <p:cTn id="67"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71"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500"/>
                                        <p:tgtEl>
                                          <p:spTgt spid="16"/>
                                        </p:tgtEl>
                                      </p:cBhvr>
                                    </p:animEffect>
                                  </p:childTnLst>
                                </p:cTn>
                              </p:par>
                            </p:childTnLst>
                          </p:cTn>
                        </p:par>
                        <p:par>
                          <p:cTn id="75" fill="hold">
                            <p:stCondLst>
                              <p:cond delay="1000"/>
                            </p:stCondLst>
                            <p:childTnLst>
                              <p:par>
                                <p:cTn id="72" presetID="10" presetClass="entr" presetSubtype="0" fill="hold" grpId="0" nodeType="after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400"/>
                                        <p:tgtEl>
                                          <p:spTgt spid="24"/>
                                        </p:tgtEl>
                                      </p:cBhvr>
                                    </p:animEffect>
                                  </p:childTnLst>
                                </p:cTn>
                              </p:par>
                            </p:childTnLst>
                          </p:cTn>
                        </p:par>
                      </p:childTnLst>
                    </p:cTn>
                  </p:par>
                  <p:par>
                    <p:cTn id="81" fill="hold">
                      <p:stCondLst>
                        <p:cond delay="indefinite"/>
                      </p:stCondLst>
                      <p:childTnLst>
                        <p:par>
                          <p:cTn id="80"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8" grpId="0" animBg="1"/>
      <p:bldP spid="18" grpId="0" animBg="1"/>
      <p:bldP spid="9" grpId="0" animBg="1"/>
      <p:bldP spid="19" grpId="0" animBg="1"/>
      <p:bldP spid="10" grpId="0" animBg="1"/>
      <p:bldP spid="20" grpId="0" animBg="1"/>
      <p:bldP spid="11" grpId="0" animBg="1"/>
      <p:bldP spid="21" grpId="0" animBg="1"/>
      <p:bldP spid="12" grpId="0" animBg="1"/>
      <p:bldP spid="22" grpId="0" animBg="1"/>
      <p:bldP spid="14" grpId="0" animBg="1"/>
      <p:bldP spid="13" grpId="0" animBg="1"/>
      <p:bldP spid="23" grpId="0" animBg="1"/>
      <p:bldP spid="15" grpId="0" animBg="1"/>
      <p:bldP spid="16" grpId="0" animBg="1"/>
      <p:bldP spid="24" grpId="0" animBg="1"/>
      <p:bldP spid="25"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Micro RETINOPATÍA"/>
          <p:cNvGrpSpPr/>
          <p:nvPr/>
        </p:nvGrpSpPr>
        <p:grpSpPr>
          <a:xfrm>
            <a:off x="365760" y="1097280"/>
            <a:ext cx="3657600" cy="4343400"/>
            <a:chOff x="365760" y="1097280"/>
            <a:chExt cx="3657600" cy="4343400"/>
          </a:xfrm>
        </p:grpSpPr>
        <p:pic>
          <p:nvPicPr>
            <p:cNvPr id="8" name="Imagen diabetic-retinopathy-eye" descr="Ilustración biomédica (Servier Medical Art, CC BY)"/>
            <p:cNvPicPr>
              <a:picLocks noChangeAspect="1"/>
            </p:cNvPicPr>
            <p:nvPr/>
          </p:nvPicPr>
          <p:blipFill>
            <a:blip r:embed="rId2"/>
            <a:stretch>
              <a:fillRect/>
            </a:stretch>
          </p:blipFill>
          <p:spPr>
            <a:xfrm>
              <a:off x="916707" y="1097280"/>
              <a:ext cx="2647146" cy="2286000"/>
            </a:xfrm>
            <a:prstGeom prst="rect">
              <a:avLst/>
            </a:prstGeom>
          </p:spPr>
        </p:pic>
        <p:sp>
          <p:nvSpPr>
            <p:cNvPr id="9" name="Recuadro RETINOPATÍA"/>
            <p:cNvSpPr/>
            <p:nvPr/>
          </p:nvSpPr>
          <p:spPr>
            <a:xfrm>
              <a:off x="365760" y="3520440"/>
              <a:ext cx="36576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RETINOPATÍA</a:t>
              </a:r>
              <a:endParaRPr lang="es-AR" sz="1400" dirty="0">
                <a:latin typeface="Fira Sans Condensed"/>
              </a:endParaRPr>
            </a:p>
          </p:txBody>
        </p:sp>
        <p:sp>
          <p:nvSpPr>
            <p:cNvPr id="10" name="Forma 9"/>
            <p:cNvSpPr/>
            <p:nvPr/>
          </p:nvSpPr>
          <p:spPr>
            <a:xfrm>
              <a:off x="365760" y="4114800"/>
              <a:ext cx="3657600" cy="13258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Microaneurismas, hemorragias, edema macular y neovascularización.</a:t>
              </a:r>
              <a:endParaRPr lang="es-AR" sz="1450" dirty="0">
                <a:latin typeface="Fira Sans Condensed"/>
              </a:endParaRPr>
            </a:p>
          </p:txBody>
        </p:sp>
      </p:grpSp>
      <p:grpSp>
        <p:nvGrpSpPr>
          <p:cNvPr id="11" name="Micro ENFERMEDAD RENAL DIABÉTICA"/>
          <p:cNvGrpSpPr/>
          <p:nvPr/>
        </p:nvGrpSpPr>
        <p:grpSpPr>
          <a:xfrm>
            <a:off x="4206240" y="1097280"/>
            <a:ext cx="3657600" cy="4343400"/>
            <a:chOff x="4206240" y="1097280"/>
            <a:chExt cx="3657600" cy="4343400"/>
          </a:xfrm>
        </p:grpSpPr>
        <p:pic>
          <p:nvPicPr>
            <p:cNvPr id="12" name="Imagen kidney-1" descr="Ilustración biomédica (Servier Medical Art, CC BY)"/>
            <p:cNvPicPr>
              <a:picLocks noChangeAspect="1"/>
            </p:cNvPicPr>
            <p:nvPr/>
          </p:nvPicPr>
          <p:blipFill>
            <a:blip r:embed="rId3"/>
            <a:stretch>
              <a:fillRect/>
            </a:stretch>
          </p:blipFill>
          <p:spPr>
            <a:xfrm>
              <a:off x="5434965" y="1097280"/>
              <a:ext cx="1291590" cy="2286000"/>
            </a:xfrm>
            <a:prstGeom prst="rect">
              <a:avLst/>
            </a:prstGeom>
          </p:spPr>
        </p:pic>
        <p:sp>
          <p:nvSpPr>
            <p:cNvPr id="13" name="Recuadro ENFERMEDAD RENAL DIABÉ"/>
            <p:cNvSpPr/>
            <p:nvPr/>
          </p:nvSpPr>
          <p:spPr>
            <a:xfrm>
              <a:off x="4206240" y="3520440"/>
              <a:ext cx="36576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ENFERMEDAD RENAL DIABÉTICA</a:t>
              </a:r>
              <a:endParaRPr lang="es-AR" sz="1400" dirty="0">
                <a:latin typeface="Fira Sans Condensed"/>
              </a:endParaRPr>
            </a:p>
          </p:txBody>
        </p:sp>
        <p:sp>
          <p:nvSpPr>
            <p:cNvPr id="14" name="Forma 13"/>
            <p:cNvSpPr/>
            <p:nvPr/>
          </p:nvSpPr>
          <p:spPr>
            <a:xfrm>
              <a:off x="4206240" y="4114800"/>
              <a:ext cx="3657600" cy="13258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Albuminuria y/o disminución de la TFG; hiperfiltración inicial.</a:t>
              </a:r>
              <a:endParaRPr lang="es-AR" sz="1450" dirty="0">
                <a:latin typeface="Fira Sans Condensed"/>
              </a:endParaRPr>
            </a:p>
          </p:txBody>
        </p:sp>
      </p:grpSp>
      <p:grpSp>
        <p:nvGrpSpPr>
          <p:cNvPr id="15" name="Micro NEUROPATÍA"/>
          <p:cNvGrpSpPr/>
          <p:nvPr/>
        </p:nvGrpSpPr>
        <p:grpSpPr>
          <a:xfrm>
            <a:off x="8046720" y="1097280"/>
            <a:ext cx="3657600" cy="4343400"/>
            <a:chOff x="8046720" y="1097280"/>
            <a:chExt cx="3657600" cy="4343400"/>
          </a:xfrm>
        </p:grpSpPr>
        <p:pic>
          <p:nvPicPr>
            <p:cNvPr id="16" name="Imagen Pyramidal_Neuron" descr="Ilustración biomédica (Servier Medical Art, CC BY)"/>
            <p:cNvPicPr>
              <a:picLocks noChangeAspect="1"/>
            </p:cNvPicPr>
            <p:nvPr/>
          </p:nvPicPr>
          <p:blipFill>
            <a:blip r:embed="rId4"/>
            <a:stretch>
              <a:fillRect/>
            </a:stretch>
          </p:blipFill>
          <p:spPr>
            <a:xfrm>
              <a:off x="9230541" y="1097280"/>
              <a:ext cx="1381397" cy="2286000"/>
            </a:xfrm>
            <a:prstGeom prst="rect">
              <a:avLst/>
            </a:prstGeom>
          </p:spPr>
        </p:pic>
        <p:sp>
          <p:nvSpPr>
            <p:cNvPr id="17" name="Recuadro NEUROPATÍA"/>
            <p:cNvSpPr/>
            <p:nvPr/>
          </p:nvSpPr>
          <p:spPr>
            <a:xfrm>
              <a:off x="8046720" y="3520440"/>
              <a:ext cx="36576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NEUROPATÍA</a:t>
              </a:r>
              <a:endParaRPr lang="es-AR" sz="1400" dirty="0">
                <a:latin typeface="Fira Sans Condensed"/>
              </a:endParaRPr>
            </a:p>
          </p:txBody>
        </p:sp>
        <p:sp>
          <p:nvSpPr>
            <p:cNvPr id="18" name="Forma 17"/>
            <p:cNvSpPr/>
            <p:nvPr/>
          </p:nvSpPr>
          <p:spPr>
            <a:xfrm>
              <a:off x="8046720" y="4114800"/>
              <a:ext cx="3657600" cy="13258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Periférica (dolor, pérdida de sensibilidad protectora) y autonómica (gastroparesia, disfunción CV y sexual).</a:t>
              </a:r>
              <a:endParaRPr lang="es-AR" sz="1450" dirty="0">
                <a:latin typeface="Fira Sans Condensed"/>
              </a:endParaRPr>
            </a:p>
          </p:txBody>
        </p:sp>
      </p:grpSp>
      <p:sp>
        <p:nvSpPr>
          <p:cNvPr id="19" name="Perla clínica"/>
          <p:cNvSpPr/>
          <p:nvPr/>
        </p:nvSpPr>
        <p:spPr>
          <a:xfrm>
            <a:off x="365760" y="5623560"/>
            <a:ext cx="1147572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Prevención integral: control glucémico </a:t>
            </a:r>
            <a:r>
              <a:rPr lang="es-AR" sz="1500" b="1" dirty="0">
                <a:solidFill>
                  <a:srgbClr val="FFFFFF"/>
                </a:solidFill>
                <a:latin typeface="Fira Sans Condensed"/>
                <a:ea typeface="Fira Sans Condensed"/>
                <a:cs typeface="Fira Sans Condensed"/>
                <a:sym typeface="Fira Sans Condensed"/>
              </a:rPr>
              <a:t>individualizado</a:t>
            </a:r>
            <a:r>
              <a:rPr lang="es-AR" sz="1500" dirty="0">
                <a:solidFill>
                  <a:srgbClr val="FFFFFF"/>
                </a:solidFill>
                <a:latin typeface="Fira Sans Condensed"/>
                <a:ea typeface="Fira Sans Condensed"/>
                <a:cs typeface="Fira Sans Condensed"/>
                <a:sym typeface="Fira Sans Condensed"/>
              </a:rPr>
              <a:t>, presión, lípidos, función renal, retina, pies, tabaquismo y vacunación.</a:t>
            </a:r>
            <a:endParaRPr lang="es-AR" sz="15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COMPLICACIONES MICROVASCULARES</a:t>
            </a:r>
            <a:endParaRPr lang="es-AR" sz="3400" dirty="0">
              <a:latin typeface="Permanent Marker"/>
            </a:endParaRPr>
          </a:p>
        </p:txBody>
      </p:sp>
      <p:sp>
        <p:nvSpPr>
          <p:cNvPr id="6"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4" fill="hold">
                      <p:stCondLst>
                        <p:cond delay="indefinite"/>
                      </p:stCondLst>
                      <p:childTnLst>
                        <p:par>
                          <p:cTn id="23"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Macro"/>
          <p:cNvGrpSpPr/>
          <p:nvPr/>
        </p:nvGrpSpPr>
        <p:grpSpPr>
          <a:xfrm>
            <a:off x="365760" y="1097280"/>
            <a:ext cx="5577840" cy="5212080"/>
            <a:chOff x="365760" y="1097280"/>
            <a:chExt cx="5577840" cy="5212080"/>
          </a:xfrm>
        </p:grpSpPr>
        <p:sp>
          <p:nvSpPr>
            <p:cNvPr id="7" name="Recuadro MACROANGIOPATÍA (LARGO"/>
            <p:cNvSpPr/>
            <p:nvPr/>
          </p:nvSpPr>
          <p:spPr>
            <a:xfrm>
              <a:off x="365760" y="1097280"/>
              <a:ext cx="55778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MACROANGIOPATÍA (LARGO PLAZO)</a:t>
              </a:r>
              <a:endParaRPr lang="es-AR" sz="1500" dirty="0">
                <a:latin typeface="Fira Sans Condensed"/>
              </a:endParaRPr>
            </a:p>
          </p:txBody>
        </p:sp>
        <p:pic>
          <p:nvPicPr>
            <p:cNvPr id="8" name="Imagen heart-front" descr="Ilustración biomédica (Servier Medical Art, CC BY)"/>
            <p:cNvPicPr>
              <a:picLocks noChangeAspect="1"/>
            </p:cNvPicPr>
            <p:nvPr/>
          </p:nvPicPr>
          <p:blipFill>
            <a:blip r:embed="rId2"/>
            <a:stretch>
              <a:fillRect/>
            </a:stretch>
          </p:blipFill>
          <p:spPr>
            <a:xfrm>
              <a:off x="575060" y="1737360"/>
              <a:ext cx="1227321" cy="1737360"/>
            </a:xfrm>
            <a:prstGeom prst="rect">
              <a:avLst/>
            </a:prstGeom>
          </p:spPr>
        </p:pic>
        <p:pic>
          <p:nvPicPr>
            <p:cNvPr id="9" name="Imagen brain-2" descr="Ilustración biomédica (Servier Medical Art, CC BY)"/>
            <p:cNvPicPr>
              <a:picLocks noChangeAspect="1"/>
            </p:cNvPicPr>
            <p:nvPr/>
          </p:nvPicPr>
          <p:blipFill>
            <a:blip r:embed="rId3"/>
            <a:stretch>
              <a:fillRect/>
            </a:stretch>
          </p:blipFill>
          <p:spPr>
            <a:xfrm>
              <a:off x="2119220" y="1828800"/>
              <a:ext cx="1522280" cy="1554480"/>
            </a:xfrm>
            <a:prstGeom prst="rect">
              <a:avLst/>
            </a:prstGeom>
          </p:spPr>
        </p:pic>
        <p:pic>
          <p:nvPicPr>
            <p:cNvPr id="10" name="Imagen aorta-body" descr="Ilustración biomédica (Servier Medical Art, CC BY)"/>
            <p:cNvPicPr>
              <a:picLocks noChangeAspect="1"/>
            </p:cNvPicPr>
            <p:nvPr/>
          </p:nvPicPr>
          <p:blipFill>
            <a:blip r:embed="rId4"/>
            <a:stretch>
              <a:fillRect/>
            </a:stretch>
          </p:blipFill>
          <p:spPr>
            <a:xfrm>
              <a:off x="4617067" y="1691640"/>
              <a:ext cx="549946" cy="1828800"/>
            </a:xfrm>
            <a:prstGeom prst="rect">
              <a:avLst/>
            </a:prstGeom>
          </p:spPr>
        </p:pic>
        <p:sp>
          <p:nvSpPr>
            <p:cNvPr id="11" name="Forma 10"/>
            <p:cNvSpPr/>
            <p:nvPr/>
          </p:nvSpPr>
          <p:spPr>
            <a:xfrm>
              <a:off x="365760" y="3657600"/>
              <a:ext cx="5577840" cy="15087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Enfermedad </a:t>
              </a:r>
              <a:r>
                <a:rPr lang="es-AR" sz="1450" b="1" dirty="0">
                  <a:solidFill>
                    <a:srgbClr val="1E1E1E"/>
                  </a:solidFill>
                  <a:latin typeface="Fira Sans Condensed"/>
                  <a:ea typeface="Fira Sans Condensed"/>
                  <a:cs typeface="Fira Sans Condensed"/>
                  <a:sym typeface="Fira Sans Condensed"/>
                </a:rPr>
                <a:t>coronaria</a:t>
              </a:r>
              <a:r>
                <a:rPr lang="es-AR" sz="1450" dirty="0">
                  <a:solidFill>
                    <a:srgbClr val="1E1E1E"/>
                  </a:solidFill>
                  <a:latin typeface="Fira Sans Condensed"/>
                  <a:ea typeface="Fira Sans Condensed"/>
                  <a:cs typeface="Fira Sans Condensed"/>
                  <a:sym typeface="Fira Sans Condensed"/>
                </a:rPr>
                <a:t>, </a:t>
              </a:r>
              <a:r>
                <a:rPr lang="es-AR" sz="1450" b="1" dirty="0">
                  <a:solidFill>
                    <a:srgbClr val="1E1E1E"/>
                  </a:solidFill>
                  <a:latin typeface="Fira Sans Condensed"/>
                  <a:ea typeface="Fira Sans Condensed"/>
                  <a:cs typeface="Fira Sans Condensed"/>
                  <a:sym typeface="Fira Sans Condensed"/>
                </a:rPr>
                <a:t>cerebrovascular</a:t>
              </a:r>
              <a:r>
                <a:rPr lang="es-AR" sz="1450" dirty="0">
                  <a:solidFill>
                    <a:srgbClr val="1E1E1E"/>
                  </a:solidFill>
                  <a:latin typeface="Fira Sans Condensed"/>
                  <a:ea typeface="Fira Sans Condensed"/>
                  <a:cs typeface="Fira Sans Condensed"/>
                  <a:sym typeface="Fira Sans Condensed"/>
                </a:rPr>
                <a:t> y </a:t>
              </a:r>
              <a:r>
                <a:rPr lang="es-AR" sz="1450" b="1" dirty="0">
                  <a:solidFill>
                    <a:srgbClr val="1E1E1E"/>
                  </a:solidFill>
                  <a:latin typeface="Fira Sans Condensed"/>
                  <a:ea typeface="Fira Sans Condensed"/>
                  <a:cs typeface="Fira Sans Condensed"/>
                  <a:sym typeface="Fira Sans Condensed"/>
                </a:rPr>
                <a:t>arterial periférica</a:t>
              </a:r>
              <a:r>
                <a:rPr lang="es-AR" sz="1450" dirty="0">
                  <a:solidFill>
                    <a:srgbClr val="1E1E1E"/>
                  </a:solidFill>
                  <a:latin typeface="Fira Sans Condensed"/>
                  <a:ea typeface="Fira Sans Condensed"/>
                  <a:cs typeface="Fira Sans Condensed"/>
                  <a:sym typeface="Fira Sans Condensed"/>
                </a:rPr>
                <a:t>. La aterosclerosis surge de la hiperglucemia </a:t>
              </a:r>
              <a:r>
                <a:rPr lang="es-AR" sz="1450" b="1" dirty="0">
                  <a:solidFill>
                    <a:srgbClr val="1E1E1E"/>
                  </a:solidFill>
                  <a:latin typeface="Fira Sans Condensed"/>
                  <a:ea typeface="Fira Sans Condensed"/>
                  <a:cs typeface="Fira Sans Condensed"/>
                  <a:sym typeface="Fira Sans Condensed"/>
                </a:rPr>
                <a:t>y</a:t>
              </a:r>
              <a:r>
                <a:rPr lang="es-AR" sz="1450" dirty="0">
                  <a:solidFill>
                    <a:srgbClr val="1E1E1E"/>
                  </a:solidFill>
                  <a:latin typeface="Fira Sans Condensed"/>
                  <a:ea typeface="Fira Sans Condensed"/>
                  <a:cs typeface="Fira Sans Condensed"/>
                  <a:sym typeface="Fira Sans Condensed"/>
                </a:rPr>
                <a:t> de factores acompañantes: LDL, HTA, inflamación, tabaquismo.</a:t>
              </a:r>
              <a:endParaRPr lang="es-AR" sz="1450" dirty="0">
                <a:latin typeface="Fira Sans Condensed"/>
              </a:endParaRPr>
            </a:p>
          </p:txBody>
        </p:sp>
        <p:sp>
          <p:nvSpPr>
            <p:cNvPr id="12" name="Forma 11"/>
            <p:cNvSpPr/>
            <p:nvPr/>
          </p:nvSpPr>
          <p:spPr>
            <a:xfrm>
              <a:off x="365760" y="5303520"/>
              <a:ext cx="5577840" cy="10058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Otras: pie diabético, infecciones, periodontitis, esteatosis hepática, complicaciones sexuales.</a:t>
              </a:r>
              <a:endParaRPr lang="es-AR" sz="1400" dirty="0">
                <a:latin typeface="Fira Sans Condensed"/>
              </a:endParaRPr>
            </a:p>
          </p:txBody>
        </p:sp>
      </p:grpSp>
      <p:grpSp>
        <p:nvGrpSpPr>
          <p:cNvPr id="13" name="Agudo"/>
          <p:cNvGrpSpPr/>
          <p:nvPr/>
        </p:nvGrpSpPr>
        <p:grpSpPr>
          <a:xfrm>
            <a:off x="6263640" y="1097280"/>
            <a:ext cx="5577840" cy="5212080"/>
            <a:chOff x="6263640" y="1097280"/>
            <a:chExt cx="5577840" cy="5212080"/>
          </a:xfrm>
        </p:grpSpPr>
        <p:sp>
          <p:nvSpPr>
            <p:cNvPr id="14" name="Recuadro CORTO PLAZO"/>
            <p:cNvSpPr/>
            <p:nvPr/>
          </p:nvSpPr>
          <p:spPr>
            <a:xfrm>
              <a:off x="6263640" y="1097280"/>
              <a:ext cx="557784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CORTO PLAZO</a:t>
              </a:r>
              <a:endParaRPr lang="es-AR" sz="1500" dirty="0">
                <a:latin typeface="Fira Sans Condensed"/>
              </a:endParaRPr>
            </a:p>
          </p:txBody>
        </p:sp>
        <p:grpSp>
          <p:nvGrpSpPr>
            <p:cNvPr id="15" name="Paso 1"/>
            <p:cNvGrpSpPr/>
            <p:nvPr/>
          </p:nvGrpSpPr>
          <p:grpSpPr>
            <a:xfrm>
              <a:off x="6263640" y="1737360"/>
              <a:ext cx="5577840" cy="457200"/>
              <a:chOff x="6263640" y="1737360"/>
              <a:chExt cx="5577840" cy="457200"/>
            </a:xfrm>
          </p:grpSpPr>
          <p:sp>
            <p:nvSpPr>
              <p:cNvPr id="16" name="Forma 15"/>
              <p:cNvSpPr/>
              <p:nvPr/>
            </p:nvSpPr>
            <p:spPr>
              <a:xfrm>
                <a:off x="6263640" y="1737360"/>
                <a:ext cx="557784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Poliuria y deshidratación por glucosuria; trastornos de Na⁺/K⁺.</a:t>
                </a:r>
                <a:endParaRPr lang="es-AR" sz="1400" dirty="0">
                  <a:latin typeface="Fira Sans Condensed"/>
                </a:endParaRPr>
              </a:p>
            </p:txBody>
          </p:sp>
          <p:sp>
            <p:nvSpPr>
              <p:cNvPr id="17" name="Forma 16"/>
              <p:cNvSpPr/>
              <p:nvPr/>
            </p:nvSpPr>
            <p:spPr>
              <a:xfrm>
                <a:off x="6355080" y="17922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8" name="Paso 2"/>
            <p:cNvGrpSpPr/>
            <p:nvPr/>
          </p:nvGrpSpPr>
          <p:grpSpPr>
            <a:xfrm>
              <a:off x="6263640" y="2286000"/>
              <a:ext cx="5577840" cy="457200"/>
              <a:chOff x="6263640" y="2286000"/>
              <a:chExt cx="5577840" cy="457200"/>
            </a:xfrm>
          </p:grpSpPr>
          <p:sp>
            <p:nvSpPr>
              <p:cNvPr id="19" name="Forma 18"/>
              <p:cNvSpPr/>
              <p:nvPr/>
            </p:nvSpPr>
            <p:spPr>
              <a:xfrm>
                <a:off x="6263640" y="2286000"/>
                <a:ext cx="557784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Hipotensión, lesión renal prerrenal; CAD, EHH o formas mixtas.</a:t>
                </a:r>
                <a:endParaRPr lang="es-AR" sz="1400" dirty="0">
                  <a:latin typeface="Fira Sans Condensed"/>
                </a:endParaRPr>
              </a:p>
            </p:txBody>
          </p:sp>
          <p:sp>
            <p:nvSpPr>
              <p:cNvPr id="20" name="Forma 19"/>
              <p:cNvSpPr/>
              <p:nvPr/>
            </p:nvSpPr>
            <p:spPr>
              <a:xfrm>
                <a:off x="6355080" y="234086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21" name="Paso 3"/>
            <p:cNvGrpSpPr/>
            <p:nvPr/>
          </p:nvGrpSpPr>
          <p:grpSpPr>
            <a:xfrm>
              <a:off x="6263640" y="2834640"/>
              <a:ext cx="5577840" cy="457200"/>
              <a:chOff x="6263640" y="2834640"/>
              <a:chExt cx="5577840" cy="457200"/>
            </a:xfrm>
          </p:grpSpPr>
          <p:sp>
            <p:nvSpPr>
              <p:cNvPr id="22" name="Forma 21"/>
              <p:cNvSpPr/>
              <p:nvPr/>
            </p:nvSpPr>
            <p:spPr>
              <a:xfrm>
                <a:off x="6263640" y="2834640"/>
                <a:ext cx="557784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Alteración del sensorio; trombosis por hemoconcentración.</a:t>
                </a:r>
                <a:endParaRPr lang="es-AR" sz="1400" dirty="0">
                  <a:latin typeface="Fira Sans Condensed"/>
                </a:endParaRPr>
              </a:p>
            </p:txBody>
          </p:sp>
          <p:sp>
            <p:nvSpPr>
              <p:cNvPr id="23" name="Forma 22"/>
              <p:cNvSpPr/>
              <p:nvPr/>
            </p:nvSpPr>
            <p:spPr>
              <a:xfrm>
                <a:off x="6355080" y="288950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24" name="Paso 4"/>
            <p:cNvGrpSpPr/>
            <p:nvPr/>
          </p:nvGrpSpPr>
          <p:grpSpPr>
            <a:xfrm>
              <a:off x="6263640" y="3383280"/>
              <a:ext cx="5577840" cy="591312"/>
              <a:chOff x="6263640" y="3383280"/>
              <a:chExt cx="5577840" cy="591312"/>
            </a:xfrm>
          </p:grpSpPr>
          <p:sp>
            <p:nvSpPr>
              <p:cNvPr id="25" name="Forma 24"/>
              <p:cNvSpPr/>
              <p:nvPr/>
            </p:nvSpPr>
            <p:spPr>
              <a:xfrm>
                <a:off x="6263640" y="3383280"/>
                <a:ext cx="5577840" cy="5913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00" dirty="0">
                    <a:solidFill>
                      <a:srgbClr val="1E1E1E"/>
                    </a:solidFill>
                    <a:latin typeface="Fira Sans Condensed"/>
                    <a:ea typeface="Fira Sans Condensed"/>
                    <a:cs typeface="Fira Sans Condensed"/>
                    <a:sym typeface="Fira Sans Condensed"/>
                  </a:rPr>
                  <a:t>Visión borrosa por cambios osmóticos del cristalino; infecciones y mala cicatrización.</a:t>
                </a:r>
                <a:endParaRPr lang="es-AR" sz="1400" dirty="0">
                  <a:latin typeface="Fira Sans Condensed"/>
                </a:endParaRPr>
              </a:p>
            </p:txBody>
          </p:sp>
          <p:sp>
            <p:nvSpPr>
              <p:cNvPr id="26" name="Forma 25"/>
              <p:cNvSpPr/>
              <p:nvPr/>
            </p:nvSpPr>
            <p:spPr>
              <a:xfrm>
                <a:off x="6355080" y="350520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27" name="Perla clínica"/>
            <p:cNvSpPr/>
            <p:nvPr/>
          </p:nvSpPr>
          <p:spPr>
            <a:xfrm>
              <a:off x="6263640" y="5394960"/>
              <a:ext cx="5577840" cy="9144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No todo coma en diabetes es hiperglucémico: evaluar </a:t>
              </a:r>
              <a:r>
                <a:rPr lang="es-AR" sz="1400" b="1" dirty="0">
                  <a:solidFill>
                    <a:srgbClr val="FFFFFF"/>
                  </a:solidFill>
                  <a:latin typeface="Fira Sans Condensed"/>
                  <a:ea typeface="Fira Sans Condensed"/>
                  <a:cs typeface="Fira Sans Condensed"/>
                  <a:sym typeface="Fira Sans Condensed"/>
                </a:rPr>
                <a:t>hipoglucemia, sepsis, ACV</a:t>
              </a:r>
              <a:r>
                <a:rPr lang="es-AR" sz="1400" dirty="0">
                  <a:solidFill>
                    <a:srgbClr val="FFFFFF"/>
                  </a:solidFill>
                  <a:latin typeface="Fira Sans Condensed"/>
                  <a:ea typeface="Fira Sans Condensed"/>
                  <a:cs typeface="Fira Sans Condensed"/>
                  <a:sym typeface="Fira Sans Condensed"/>
                </a:rPr>
                <a:t> y causas tóxico-metabólicas.</a:t>
              </a:r>
              <a:endParaRPr lang="es-AR" sz="1400" dirty="0">
                <a:latin typeface="Fira Sans Condensed"/>
              </a:endParaRPr>
            </a:p>
          </p:txBody>
        </p:sp>
      </p:gr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MACROANGIOPATÍA Y DAÑO AGUDO POR HIPERGLUCEMIA</a:t>
            </a:r>
            <a:endParaRPr lang="es-AR" sz="2800" dirty="0">
              <a:latin typeface="Permanent Marker"/>
            </a:endParaRPr>
          </a:p>
        </p:txBody>
      </p:sp>
      <p:sp>
        <p:nvSpPr>
          <p:cNvPr id="5" name="Etiqueta sección"/>
          <p:cNvSpPr/>
          <p:nvPr/>
        </p:nvSpPr>
        <p:spPr>
          <a:xfrm>
            <a:off x="164592" y="6510528"/>
            <a:ext cx="190438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 · BASES BIOQUÍMICAS</a:t>
            </a:r>
            <a:endParaRPr lang="es-AR" sz="950" dirty="0">
              <a:latin typeface="Fira Sans Condensed"/>
            </a:endParaRPr>
          </a:p>
        </p:txBody>
      </p:sp>
      <p:sp>
        <p:nvSpPr>
          <p:cNvPr id="2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II</a:t>
            </a:r>
            <a:endParaRPr lang="es-AR" sz="2000" dirty="0">
              <a:latin typeface="Fira Sans Condensed"/>
            </a:endParaRPr>
          </a:p>
        </p:txBody>
      </p:sp>
      <p:sp>
        <p:nvSpPr>
          <p:cNvPr id="6" name="Título unidad"/>
          <p:cNvSpPr txBox="1"/>
          <p:nvPr/>
        </p:nvSpPr>
        <p:spPr>
          <a:xfrm>
            <a:off x="2468880" y="960120"/>
            <a:ext cx="7223760" cy="14965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4200" dirty="0">
                <a:solidFill>
                  <a:srgbClr val="1E1E1E"/>
                </a:solidFill>
                <a:effectLst>
                  <a:glow rad="101600">
                    <a:srgbClr val="FFFFFF">
                      <a:alpha val="70000"/>
                    </a:srgbClr>
                  </a:glow>
                </a:effectLst>
                <a:latin typeface="Permanent Marker"/>
                <a:ea typeface="Permanent Marker"/>
                <a:cs typeface="Permanent Marker"/>
                <a:sym typeface="Permanent Marker"/>
              </a:rPr>
              <a:t>CASO 11: CETOACIDOSIS</a:t>
            </a:r>
            <a:endParaRPr lang="es-AR" sz="4200" dirty="0">
              <a:latin typeface="Permanent Marker"/>
            </a:endParaRPr>
          </a:p>
          <a:p>
            <a:pPr algn="ctr">
              <a:lnSpc>
                <a:spcPct val="920"/>
              </a:lnSpc>
              <a:spcAft>
                <a:spcPts val="300"/>
              </a:spcAft>
              <a:buNone/>
            </a:pPr>
            <a:r>
              <a:rPr lang="es-AR" sz="4200" dirty="0">
                <a:solidFill>
                  <a:srgbClr val="1E1E1E"/>
                </a:solidFill>
                <a:effectLst>
                  <a:glow rad="101600">
                    <a:srgbClr val="FFFFFF">
                      <a:alpha val="70000"/>
                    </a:srgbClr>
                  </a:glow>
                </a:effectLst>
                <a:latin typeface="Permanent Marker"/>
                <a:ea typeface="Permanent Marker"/>
                <a:cs typeface="Permanent Marker"/>
                <a:sym typeface="Permanent Marker"/>
              </a:rPr>
              <a:t>DIABÉTICA Y NEUMONÍA</a:t>
            </a:r>
            <a:endParaRPr lang="es-AR" sz="42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Insulinopenia + estrés infeccioso = catabolismo extremo</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Presentación y datos del caso</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Vías metabólicas en insulinopenia</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Secuencia C: de la lipólisis a la acidemia</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Riñón: SGLT2, glucosuria y diuresis osmótica</a:t>
            </a:r>
            <a:endParaRPr lang="es-AR" sz="13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Potasio, infección y circuito integrado</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Verificación de la gasometría</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Evolución a 24 h y tratamiento conceptual</a:t>
            </a:r>
            <a:endParaRPr lang="es-AR" sz="1350" dirty="0">
              <a:latin typeface="Fira Sans Condensed"/>
            </a:endParaRPr>
          </a:p>
        </p:txBody>
      </p:sp>
      <p:pic>
        <p:nvPicPr>
          <p:cNvPr id="15" name="Pulmón" descr="Ilustración biomédica (Servier Medical Art, CC BY)"/>
          <p:cNvPicPr>
            <a:picLocks noChangeAspect="1"/>
          </p:cNvPicPr>
          <p:nvPr/>
        </p:nvPicPr>
        <p:blipFill>
          <a:blip r:embed="rId2"/>
          <a:stretch>
            <a:fillRect/>
          </a:stretch>
        </p:blipFill>
        <p:spPr>
          <a:xfrm>
            <a:off x="9738360" y="457200"/>
            <a:ext cx="2286000" cy="2614706"/>
          </a:xfrm>
          <a:prstGeom prst="rect">
            <a:avLst/>
          </a:prstGeom>
        </p:spPr>
      </p:pic>
      <p:grpSp>
        <p:nvGrpSpPr>
          <p:cNvPr id="16" name="β-OHB 3D"/>
          <p:cNvGrpSpPr/>
          <p:nvPr/>
        </p:nvGrpSpPr>
        <p:grpSpPr>
          <a:xfrm>
            <a:off x="10119536" y="3442808"/>
            <a:ext cx="1562164" cy="1067180"/>
            <a:chOff x="10119536" y="3442808"/>
            <a:chExt cx="1562164" cy="1067180"/>
          </a:xfrm>
        </p:grpSpPr>
        <p:sp>
          <p:nvSpPr>
            <p:cNvPr id="17" name="Átomo H"/>
            <p:cNvSpPr/>
            <p:nvPr/>
          </p:nvSpPr>
          <p:spPr>
            <a:xfrm>
              <a:off x="10780415" y="3927671"/>
              <a:ext cx="137917" cy="13791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8" name="Flecha 17_2"/>
            <p:cNvSpPr/>
            <p:nvPr/>
          </p:nvSpPr>
          <p:spPr>
            <a:xfrm>
              <a:off x="10849374" y="3996629"/>
              <a:ext cx="98637" cy="140314"/>
            </a:xfrm>
            <a:custGeom>
              <a:avLst/>
              <a:gdLst/>
              <a:ahLst/>
              <a:cxnLst/>
              <a:rect l="0" t="0" r="r" b="b"/>
              <a:pathLst>
                <a:path w="107" h="153" fill="none">
                  <a:moveTo>
                    <a:pt x="107" y="153"/>
                  </a:moveTo>
                  <a:lnTo>
                    <a:pt x="0" y="0"/>
                  </a:lnTo>
                </a:path>
              </a:pathLst>
            </a:custGeom>
            <a:noFill/>
            <a:ln w="35215" cap="rnd">
              <a:solidFill>
                <a:srgbClr val="9A9A9A"/>
              </a:solidFill>
              <a:round/>
            </a:ln>
          </p:spPr>
        </p:sp>
        <p:sp>
          <p:nvSpPr>
            <p:cNvPr id="19" name="Átomo O"/>
            <p:cNvSpPr/>
            <p:nvPr/>
          </p:nvSpPr>
          <p:spPr>
            <a:xfrm>
              <a:off x="11459065" y="4247499"/>
              <a:ext cx="222635" cy="22263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0" name="Flecha 20_2"/>
            <p:cNvSpPr/>
            <p:nvPr/>
          </p:nvSpPr>
          <p:spPr>
            <a:xfrm>
              <a:off x="11373251" y="4079265"/>
              <a:ext cx="197132" cy="279552"/>
            </a:xfrm>
            <a:custGeom>
              <a:avLst/>
              <a:gdLst/>
              <a:ahLst/>
              <a:cxnLst/>
              <a:rect l="0" t="0" r="r" b="b"/>
              <a:pathLst>
                <a:path w="215" h="305" fill="none">
                  <a:moveTo>
                    <a:pt x="0" y="0"/>
                  </a:moveTo>
                  <a:lnTo>
                    <a:pt x="215" y="305"/>
                  </a:lnTo>
                </a:path>
              </a:pathLst>
            </a:custGeom>
            <a:noFill/>
            <a:ln w="35215" cap="rnd">
              <a:solidFill>
                <a:srgbClr val="9A9A9A"/>
              </a:solidFill>
              <a:round/>
            </a:ln>
          </p:spPr>
        </p:sp>
        <p:sp>
          <p:nvSpPr>
            <p:cNvPr id="21" name="Átomo H_2"/>
            <p:cNvSpPr/>
            <p:nvPr/>
          </p:nvSpPr>
          <p:spPr>
            <a:xfrm>
              <a:off x="10815332" y="4367372"/>
              <a:ext cx="142616" cy="14261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2" name="Flecha 23_2"/>
            <p:cNvSpPr/>
            <p:nvPr/>
          </p:nvSpPr>
          <p:spPr>
            <a:xfrm>
              <a:off x="10886640" y="4136943"/>
              <a:ext cx="61371" cy="301737"/>
            </a:xfrm>
            <a:custGeom>
              <a:avLst/>
              <a:gdLst/>
              <a:ahLst/>
              <a:cxnLst/>
              <a:rect l="0" t="0" r="r" b="b"/>
              <a:pathLst>
                <a:path w="67" h="329" fill="none">
                  <a:moveTo>
                    <a:pt x="67" y="0"/>
                  </a:moveTo>
                  <a:lnTo>
                    <a:pt x="0" y="329"/>
                  </a:lnTo>
                </a:path>
              </a:pathLst>
            </a:custGeom>
            <a:noFill/>
            <a:ln w="35215" cap="rnd">
              <a:solidFill>
                <a:srgbClr val="9A9A9A"/>
              </a:solidFill>
              <a:round/>
            </a:ln>
          </p:spPr>
        </p:sp>
        <p:sp>
          <p:nvSpPr>
            <p:cNvPr id="23" name="Átomo C"/>
            <p:cNvSpPr/>
            <p:nvPr/>
          </p:nvSpPr>
          <p:spPr>
            <a:xfrm>
              <a:off x="10828780" y="4017712"/>
              <a:ext cx="238462" cy="2384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 name="Flecha 26_2"/>
            <p:cNvSpPr/>
            <p:nvPr/>
          </p:nvSpPr>
          <p:spPr>
            <a:xfrm>
              <a:off x="10948011" y="4079265"/>
              <a:ext cx="425240" cy="57678"/>
            </a:xfrm>
            <a:custGeom>
              <a:avLst/>
              <a:gdLst/>
              <a:ahLst/>
              <a:cxnLst/>
              <a:rect l="0" t="0" r="r" b="b"/>
              <a:pathLst>
                <a:path w="465" h="63" fill="none">
                  <a:moveTo>
                    <a:pt x="0" y="63"/>
                  </a:moveTo>
                  <a:lnTo>
                    <a:pt x="465" y="0"/>
                  </a:lnTo>
                </a:path>
              </a:pathLst>
            </a:custGeom>
            <a:noFill/>
            <a:ln w="35215" cap="rnd">
              <a:solidFill>
                <a:srgbClr val="9A9A9A"/>
              </a:solidFill>
              <a:round/>
            </a:ln>
          </p:spPr>
        </p:sp>
        <p:sp>
          <p:nvSpPr>
            <p:cNvPr id="25" name="Átomo C_2"/>
            <p:cNvSpPr/>
            <p:nvPr/>
          </p:nvSpPr>
          <p:spPr>
            <a:xfrm>
              <a:off x="11253574" y="3959588"/>
              <a:ext cx="239353" cy="23935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 name="Flecha 29_2"/>
            <p:cNvSpPr/>
            <p:nvPr/>
          </p:nvSpPr>
          <p:spPr>
            <a:xfrm>
              <a:off x="11397435" y="3763897"/>
              <a:ext cx="101679" cy="322981"/>
            </a:xfrm>
            <a:custGeom>
              <a:avLst/>
              <a:gdLst/>
              <a:ahLst/>
              <a:cxnLst/>
              <a:rect l="0" t="0" r="r" b="b"/>
              <a:pathLst>
                <a:path w="111" h="353" fill="none">
                  <a:moveTo>
                    <a:pt x="0" y="353"/>
                  </a:moveTo>
                  <a:lnTo>
                    <a:pt x="111" y="0"/>
                  </a:lnTo>
                </a:path>
              </a:pathLst>
            </a:custGeom>
            <a:noFill/>
            <a:ln w="28172" cap="rnd">
              <a:solidFill>
                <a:srgbClr val="9A9A9A"/>
              </a:solidFill>
              <a:round/>
            </a:ln>
          </p:spPr>
        </p:sp>
        <p:sp>
          <p:nvSpPr>
            <p:cNvPr id="27" name="Flecha 31_2"/>
            <p:cNvSpPr/>
            <p:nvPr/>
          </p:nvSpPr>
          <p:spPr>
            <a:xfrm>
              <a:off x="11349066" y="3748670"/>
              <a:ext cx="101679" cy="322981"/>
            </a:xfrm>
            <a:custGeom>
              <a:avLst/>
              <a:gdLst/>
              <a:ahLst/>
              <a:cxnLst/>
              <a:rect l="0" t="0" r="r" b="b"/>
              <a:pathLst>
                <a:path w="111" h="353" fill="none">
                  <a:moveTo>
                    <a:pt x="0" y="353"/>
                  </a:moveTo>
                  <a:lnTo>
                    <a:pt x="111" y="0"/>
                  </a:lnTo>
                </a:path>
              </a:pathLst>
            </a:custGeom>
            <a:noFill/>
            <a:ln w="28172" cap="rnd">
              <a:solidFill>
                <a:srgbClr val="9A9A9A"/>
              </a:solidFill>
              <a:round/>
            </a:ln>
          </p:spPr>
        </p:sp>
        <p:sp>
          <p:nvSpPr>
            <p:cNvPr id="28" name="Átomo H_3"/>
            <p:cNvSpPr/>
            <p:nvPr/>
          </p:nvSpPr>
          <p:spPr>
            <a:xfrm>
              <a:off x="10119536" y="3909285"/>
              <a:ext cx="145601" cy="14560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9" name="Átomo O_2"/>
            <p:cNvSpPr/>
            <p:nvPr/>
          </p:nvSpPr>
          <p:spPr>
            <a:xfrm>
              <a:off x="11360309" y="3641663"/>
              <a:ext cx="229241" cy="2292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0" name="Flecha 35_2"/>
            <p:cNvSpPr/>
            <p:nvPr/>
          </p:nvSpPr>
          <p:spPr>
            <a:xfrm>
              <a:off x="10761517" y="3971101"/>
              <a:ext cx="186494" cy="165842"/>
            </a:xfrm>
            <a:custGeom>
              <a:avLst/>
              <a:gdLst/>
              <a:ahLst/>
              <a:cxnLst/>
              <a:rect l="0" t="0" r="r" b="b"/>
              <a:pathLst>
                <a:path w="203" h="181" fill="none">
                  <a:moveTo>
                    <a:pt x="0" y="0"/>
                  </a:moveTo>
                  <a:lnTo>
                    <a:pt x="203" y="181"/>
                  </a:lnTo>
                </a:path>
              </a:pathLst>
            </a:custGeom>
            <a:noFill/>
            <a:ln w="35215" cap="rnd">
              <a:solidFill>
                <a:srgbClr val="9A9A9A"/>
              </a:solidFill>
              <a:round/>
            </a:ln>
          </p:spPr>
        </p:sp>
        <p:sp>
          <p:nvSpPr>
            <p:cNvPr id="31" name="Flecha 37_2"/>
            <p:cNvSpPr/>
            <p:nvPr/>
          </p:nvSpPr>
          <p:spPr>
            <a:xfrm>
              <a:off x="10192337" y="3982085"/>
              <a:ext cx="155888" cy="100988"/>
            </a:xfrm>
            <a:custGeom>
              <a:avLst/>
              <a:gdLst/>
              <a:ahLst/>
              <a:cxnLst/>
              <a:rect l="0" t="0" r="r" b="b"/>
              <a:pathLst>
                <a:path w="170" h="110" fill="none">
                  <a:moveTo>
                    <a:pt x="170" y="110"/>
                  </a:moveTo>
                  <a:lnTo>
                    <a:pt x="0" y="0"/>
                  </a:lnTo>
                </a:path>
              </a:pathLst>
            </a:custGeom>
            <a:noFill/>
            <a:ln w="35215" cap="rnd">
              <a:solidFill>
                <a:srgbClr val="9A9A9A"/>
              </a:solidFill>
              <a:round/>
            </a:ln>
          </p:spPr>
        </p:sp>
        <p:sp>
          <p:nvSpPr>
            <p:cNvPr id="32" name="Átomo H_4"/>
            <p:cNvSpPr/>
            <p:nvPr/>
          </p:nvSpPr>
          <p:spPr>
            <a:xfrm>
              <a:off x="10972103" y="3442808"/>
              <a:ext cx="148818" cy="14881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3" name="Flecha 40_2"/>
            <p:cNvSpPr/>
            <p:nvPr/>
          </p:nvSpPr>
          <p:spPr>
            <a:xfrm>
              <a:off x="10776455" y="3517217"/>
              <a:ext cx="270056" cy="51216"/>
            </a:xfrm>
            <a:custGeom>
              <a:avLst/>
              <a:gdLst/>
              <a:ahLst/>
              <a:cxnLst/>
              <a:rect l="0" t="0" r="r" b="b"/>
              <a:pathLst>
                <a:path w="295" h="56" fill="none">
                  <a:moveTo>
                    <a:pt x="0" y="56"/>
                  </a:moveTo>
                  <a:lnTo>
                    <a:pt x="295" y="0"/>
                  </a:lnTo>
                </a:path>
              </a:pathLst>
            </a:custGeom>
            <a:noFill/>
            <a:ln w="35215" cap="rnd">
              <a:solidFill>
                <a:srgbClr val="9A9A9A"/>
              </a:solidFill>
              <a:round/>
            </a:ln>
          </p:spPr>
        </p:sp>
        <p:sp>
          <p:nvSpPr>
            <p:cNvPr id="34" name="Átomo O_3"/>
            <p:cNvSpPr/>
            <p:nvPr/>
          </p:nvSpPr>
          <p:spPr>
            <a:xfrm>
              <a:off x="10658717" y="3450695"/>
              <a:ext cx="235476" cy="23547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5" name="Flecha 43_2"/>
            <p:cNvSpPr/>
            <p:nvPr/>
          </p:nvSpPr>
          <p:spPr>
            <a:xfrm>
              <a:off x="10761517" y="3568433"/>
              <a:ext cx="14939" cy="402668"/>
            </a:xfrm>
            <a:custGeom>
              <a:avLst/>
              <a:gdLst/>
              <a:ahLst/>
              <a:cxnLst/>
              <a:rect l="0" t="0" r="r" b="b"/>
              <a:pathLst>
                <a:path w="16" h="440" fill="none">
                  <a:moveTo>
                    <a:pt x="0" y="440"/>
                  </a:moveTo>
                  <a:lnTo>
                    <a:pt x="16" y="0"/>
                  </a:lnTo>
                </a:path>
              </a:pathLst>
            </a:custGeom>
            <a:noFill/>
            <a:ln w="35215" cap="rnd">
              <a:solidFill>
                <a:srgbClr val="9A9A9A"/>
              </a:solidFill>
              <a:round/>
            </a:ln>
          </p:spPr>
        </p:sp>
        <p:sp>
          <p:nvSpPr>
            <p:cNvPr id="36" name="Átomo C_3"/>
            <p:cNvSpPr/>
            <p:nvPr/>
          </p:nvSpPr>
          <p:spPr>
            <a:xfrm>
              <a:off x="10636441" y="3846026"/>
              <a:ext cx="250150" cy="25015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Flecha 46_2"/>
            <p:cNvSpPr/>
            <p:nvPr/>
          </p:nvSpPr>
          <p:spPr>
            <a:xfrm>
              <a:off x="10348225" y="3971101"/>
              <a:ext cx="413292" cy="111973"/>
            </a:xfrm>
            <a:custGeom>
              <a:avLst/>
              <a:gdLst/>
              <a:ahLst/>
              <a:cxnLst/>
              <a:rect l="0" t="0" r="r" b="b"/>
              <a:pathLst>
                <a:path w="451" h="122" fill="none">
                  <a:moveTo>
                    <a:pt x="0" y="122"/>
                  </a:moveTo>
                  <a:lnTo>
                    <a:pt x="451" y="0"/>
                  </a:lnTo>
                </a:path>
              </a:pathLst>
            </a:custGeom>
            <a:noFill/>
            <a:ln w="35215" cap="rnd">
              <a:solidFill>
                <a:srgbClr val="9A9A9A"/>
              </a:solidFill>
              <a:round/>
            </a:ln>
          </p:spPr>
        </p:sp>
        <p:sp>
          <p:nvSpPr>
            <p:cNvPr id="38" name="Átomo C_4"/>
            <p:cNvSpPr/>
            <p:nvPr/>
          </p:nvSpPr>
          <p:spPr>
            <a:xfrm>
              <a:off x="10222762" y="3957611"/>
              <a:ext cx="250926" cy="2509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Flecha 49_2"/>
            <p:cNvSpPr/>
            <p:nvPr/>
          </p:nvSpPr>
          <p:spPr>
            <a:xfrm>
              <a:off x="10315671" y="4083074"/>
              <a:ext cx="32554" cy="305941"/>
            </a:xfrm>
            <a:custGeom>
              <a:avLst/>
              <a:gdLst/>
              <a:ahLst/>
              <a:cxnLst/>
              <a:rect l="0" t="0" r="r" b="b"/>
              <a:pathLst>
                <a:path w="35" h="334" fill="none">
                  <a:moveTo>
                    <a:pt x="35" y="0"/>
                  </a:moveTo>
                  <a:lnTo>
                    <a:pt x="0" y="334"/>
                  </a:lnTo>
                </a:path>
              </a:pathLst>
            </a:custGeom>
            <a:noFill/>
            <a:ln w="35215" cap="rnd">
              <a:solidFill>
                <a:srgbClr val="9A9A9A"/>
              </a:solidFill>
              <a:round/>
            </a:ln>
          </p:spPr>
        </p:sp>
        <p:sp>
          <p:nvSpPr>
            <p:cNvPr id="40" name="Átomo H_5"/>
            <p:cNvSpPr/>
            <p:nvPr/>
          </p:nvSpPr>
          <p:spPr>
            <a:xfrm>
              <a:off x="10240201" y="4313545"/>
              <a:ext cx="150941" cy="15094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1" name="Flecha 52_2"/>
            <p:cNvSpPr/>
            <p:nvPr/>
          </p:nvSpPr>
          <p:spPr>
            <a:xfrm>
              <a:off x="10761517" y="3971101"/>
              <a:ext cx="144368" cy="91577"/>
            </a:xfrm>
            <a:custGeom>
              <a:avLst/>
              <a:gdLst/>
              <a:ahLst/>
              <a:cxnLst/>
              <a:rect l="0" t="0" r="r" b="b"/>
              <a:pathLst>
                <a:path w="157" h="100" fill="none">
                  <a:moveTo>
                    <a:pt x="0" y="0"/>
                  </a:moveTo>
                  <a:lnTo>
                    <a:pt x="157" y="100"/>
                  </a:lnTo>
                </a:path>
              </a:pathLst>
            </a:custGeom>
            <a:noFill/>
            <a:ln w="35215" cap="rnd">
              <a:solidFill>
                <a:srgbClr val="9A9A9A"/>
              </a:solidFill>
              <a:round/>
            </a:ln>
          </p:spPr>
        </p:sp>
        <p:sp>
          <p:nvSpPr>
            <p:cNvPr id="42" name="Flecha 54_2"/>
            <p:cNvSpPr/>
            <p:nvPr/>
          </p:nvSpPr>
          <p:spPr>
            <a:xfrm>
              <a:off x="10215562" y="3954594"/>
              <a:ext cx="132663" cy="128480"/>
            </a:xfrm>
            <a:custGeom>
              <a:avLst/>
              <a:gdLst/>
              <a:ahLst/>
              <a:cxnLst/>
              <a:rect l="0" t="0" r="r" b="b"/>
              <a:pathLst>
                <a:path w="145" h="140" fill="none">
                  <a:moveTo>
                    <a:pt x="145" y="140"/>
                  </a:moveTo>
                  <a:lnTo>
                    <a:pt x="0" y="0"/>
                  </a:lnTo>
                </a:path>
              </a:pathLst>
            </a:custGeom>
            <a:noFill/>
            <a:ln w="35215" cap="rnd">
              <a:solidFill>
                <a:srgbClr val="9A9A9A"/>
              </a:solidFill>
              <a:round/>
            </a:ln>
          </p:spPr>
        </p:sp>
        <p:sp>
          <p:nvSpPr>
            <p:cNvPr id="43" name="Átomo H_6"/>
            <p:cNvSpPr/>
            <p:nvPr/>
          </p:nvSpPr>
          <p:spPr>
            <a:xfrm>
              <a:off x="10828255" y="3985048"/>
              <a:ext cx="155259" cy="1552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4" name="Átomo H_7"/>
            <p:cNvSpPr/>
            <p:nvPr/>
          </p:nvSpPr>
          <p:spPr>
            <a:xfrm>
              <a:off x="10137800" y="3876832"/>
              <a:ext cx="155524" cy="15552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45" name="AcAc 3D"/>
          <p:cNvGrpSpPr/>
          <p:nvPr/>
        </p:nvGrpSpPr>
        <p:grpSpPr>
          <a:xfrm>
            <a:off x="-91440" y="1323738"/>
            <a:ext cx="2560320" cy="2068635"/>
            <a:chOff x="-91440" y="1323738"/>
            <a:chExt cx="2560320" cy="2068635"/>
          </a:xfrm>
        </p:grpSpPr>
        <p:sp>
          <p:nvSpPr>
            <p:cNvPr id="46" name="Átomo O_4"/>
            <p:cNvSpPr/>
            <p:nvPr/>
          </p:nvSpPr>
          <p:spPr>
            <a:xfrm>
              <a:off x="1563986" y="2105015"/>
              <a:ext cx="281068" cy="28106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7" name="Flecha 60_2"/>
            <p:cNvSpPr/>
            <p:nvPr/>
          </p:nvSpPr>
          <p:spPr>
            <a:xfrm>
              <a:off x="1732176" y="2227761"/>
              <a:ext cx="74901" cy="116451"/>
            </a:xfrm>
            <a:custGeom>
              <a:avLst/>
              <a:gdLst/>
              <a:ahLst/>
              <a:cxnLst/>
              <a:rect l="0" t="0" r="r" b="b"/>
              <a:pathLst>
                <a:path w="81" h="127" fill="none">
                  <a:moveTo>
                    <a:pt x="81" y="127"/>
                  </a:moveTo>
                  <a:lnTo>
                    <a:pt x="0" y="0"/>
                  </a:lnTo>
                </a:path>
              </a:pathLst>
            </a:custGeom>
            <a:noFill/>
            <a:ln w="36535" cap="rnd">
              <a:solidFill>
                <a:srgbClr val="9A9A9A"/>
              </a:solidFill>
              <a:round/>
            </a:ln>
          </p:spPr>
        </p:sp>
        <p:sp>
          <p:nvSpPr>
            <p:cNvPr id="48" name="Flecha 62_2"/>
            <p:cNvSpPr/>
            <p:nvPr/>
          </p:nvSpPr>
          <p:spPr>
            <a:xfrm>
              <a:off x="1676865" y="2263337"/>
              <a:ext cx="74901" cy="116451"/>
            </a:xfrm>
            <a:custGeom>
              <a:avLst/>
              <a:gdLst/>
              <a:ahLst/>
              <a:cxnLst/>
              <a:rect l="0" t="0" r="r" b="b"/>
              <a:pathLst>
                <a:path w="81" h="127" fill="none">
                  <a:moveTo>
                    <a:pt x="81" y="127"/>
                  </a:moveTo>
                  <a:lnTo>
                    <a:pt x="0" y="0"/>
                  </a:lnTo>
                </a:path>
              </a:pathLst>
            </a:custGeom>
            <a:noFill/>
            <a:ln w="36535" cap="rnd">
              <a:solidFill>
                <a:srgbClr val="9A9A9A"/>
              </a:solidFill>
              <a:round/>
            </a:ln>
          </p:spPr>
        </p:sp>
        <p:sp>
          <p:nvSpPr>
            <p:cNvPr id="49" name="Átomo C_5"/>
            <p:cNvSpPr/>
            <p:nvPr/>
          </p:nvSpPr>
          <p:spPr>
            <a:xfrm>
              <a:off x="1623094" y="2205672"/>
              <a:ext cx="312655" cy="3126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Átomo H_8"/>
            <p:cNvSpPr/>
            <p:nvPr/>
          </p:nvSpPr>
          <p:spPr>
            <a:xfrm>
              <a:off x="696295" y="2324098"/>
              <a:ext cx="188823" cy="18882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1" name="Flecha 66_2"/>
            <p:cNvSpPr/>
            <p:nvPr/>
          </p:nvSpPr>
          <p:spPr>
            <a:xfrm>
              <a:off x="1779421" y="2362000"/>
              <a:ext cx="116821" cy="408903"/>
            </a:xfrm>
            <a:custGeom>
              <a:avLst/>
              <a:gdLst/>
              <a:ahLst/>
              <a:cxnLst/>
              <a:rect l="0" t="0" r="r" b="b"/>
              <a:pathLst>
                <a:path w="127" h="447" fill="none">
                  <a:moveTo>
                    <a:pt x="0" y="0"/>
                  </a:moveTo>
                  <a:lnTo>
                    <a:pt x="127" y="447"/>
                  </a:lnTo>
                </a:path>
              </a:pathLst>
            </a:custGeom>
            <a:noFill/>
            <a:ln w="45669" cap="rnd">
              <a:solidFill>
                <a:srgbClr val="9A9A9A"/>
              </a:solidFill>
              <a:round/>
            </a:ln>
          </p:spPr>
        </p:sp>
        <p:sp>
          <p:nvSpPr>
            <p:cNvPr id="52" name="Átomo O_5"/>
            <p:cNvSpPr/>
            <p:nvPr/>
          </p:nvSpPr>
          <p:spPr>
            <a:xfrm>
              <a:off x="1746051" y="2620712"/>
              <a:ext cx="300382" cy="30038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3" name="Flecha 69_2"/>
            <p:cNvSpPr/>
            <p:nvPr/>
          </p:nvSpPr>
          <p:spPr>
            <a:xfrm>
              <a:off x="1713735" y="1956117"/>
              <a:ext cx="65686" cy="405883"/>
            </a:xfrm>
            <a:custGeom>
              <a:avLst/>
              <a:gdLst/>
              <a:ahLst/>
              <a:cxnLst/>
              <a:rect l="0" t="0" r="r" b="b"/>
              <a:pathLst>
                <a:path w="71" h="443" fill="none">
                  <a:moveTo>
                    <a:pt x="0" y="0"/>
                  </a:moveTo>
                  <a:lnTo>
                    <a:pt x="71" y="443"/>
                  </a:lnTo>
                </a:path>
              </a:pathLst>
            </a:custGeom>
            <a:noFill/>
            <a:ln w="45669" cap="rnd">
              <a:solidFill>
                <a:srgbClr val="9A9A9A"/>
              </a:solidFill>
              <a:round/>
            </a:ln>
          </p:spPr>
        </p:sp>
        <p:sp>
          <p:nvSpPr>
            <p:cNvPr id="54" name="Átomo H_9"/>
            <p:cNvSpPr/>
            <p:nvPr/>
          </p:nvSpPr>
          <p:spPr>
            <a:xfrm>
              <a:off x="1771000" y="1520771"/>
              <a:ext cx="191994" cy="19199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5" name="Flecha 72_2"/>
            <p:cNvSpPr/>
            <p:nvPr/>
          </p:nvSpPr>
          <p:spPr>
            <a:xfrm>
              <a:off x="790706" y="2305997"/>
              <a:ext cx="43018" cy="112512"/>
            </a:xfrm>
            <a:custGeom>
              <a:avLst/>
              <a:gdLst/>
              <a:ahLst/>
              <a:cxnLst/>
              <a:rect l="0" t="0" r="r" b="b"/>
              <a:pathLst>
                <a:path w="47" h="123" fill="none">
                  <a:moveTo>
                    <a:pt x="47" y="0"/>
                  </a:moveTo>
                  <a:lnTo>
                    <a:pt x="0" y="123"/>
                  </a:lnTo>
                </a:path>
              </a:pathLst>
            </a:custGeom>
            <a:noFill/>
            <a:ln w="45669" cap="rnd">
              <a:solidFill>
                <a:srgbClr val="9A9A9A"/>
              </a:solidFill>
              <a:round/>
            </a:ln>
          </p:spPr>
        </p:sp>
        <p:sp>
          <p:nvSpPr>
            <p:cNvPr id="56" name="Flecha 74_2"/>
            <p:cNvSpPr/>
            <p:nvPr/>
          </p:nvSpPr>
          <p:spPr>
            <a:xfrm>
              <a:off x="1713735" y="1616768"/>
              <a:ext cx="153262" cy="339349"/>
            </a:xfrm>
            <a:custGeom>
              <a:avLst/>
              <a:gdLst/>
              <a:ahLst/>
              <a:cxnLst/>
              <a:rect l="0" t="0" r="r" b="b"/>
              <a:pathLst>
                <a:path w="167" h="371" fill="none">
                  <a:moveTo>
                    <a:pt x="0" y="371"/>
                  </a:moveTo>
                  <a:lnTo>
                    <a:pt x="167" y="0"/>
                  </a:lnTo>
                </a:path>
              </a:pathLst>
            </a:custGeom>
            <a:noFill/>
            <a:ln w="45669" cap="rnd">
              <a:solidFill>
                <a:srgbClr val="9A9A9A"/>
              </a:solidFill>
              <a:round/>
            </a:ln>
          </p:spPr>
        </p:sp>
        <p:sp>
          <p:nvSpPr>
            <p:cNvPr id="57" name="Átomo C_6"/>
            <p:cNvSpPr/>
            <p:nvPr/>
          </p:nvSpPr>
          <p:spPr>
            <a:xfrm>
              <a:off x="1551315" y="1793696"/>
              <a:ext cx="324841" cy="32484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8" name="Flecha 77_2"/>
            <p:cNvSpPr/>
            <p:nvPr/>
          </p:nvSpPr>
          <p:spPr>
            <a:xfrm>
              <a:off x="1181474" y="1879846"/>
              <a:ext cx="532261" cy="76271"/>
            </a:xfrm>
            <a:custGeom>
              <a:avLst/>
              <a:gdLst/>
              <a:ahLst/>
              <a:cxnLst/>
              <a:rect l="0" t="0" r="r" b="b"/>
              <a:pathLst>
                <a:path w="582" h="83" fill="none">
                  <a:moveTo>
                    <a:pt x="0" y="0"/>
                  </a:moveTo>
                  <a:lnTo>
                    <a:pt x="582" y="83"/>
                  </a:lnTo>
                </a:path>
              </a:pathLst>
            </a:custGeom>
            <a:noFill/>
            <a:ln w="45669" cap="rnd">
              <a:solidFill>
                <a:srgbClr val="9A9A9A"/>
              </a:solidFill>
              <a:round/>
            </a:ln>
          </p:spPr>
        </p:sp>
        <p:sp>
          <p:nvSpPr>
            <p:cNvPr id="59" name="Átomo C_7"/>
            <p:cNvSpPr/>
            <p:nvPr/>
          </p:nvSpPr>
          <p:spPr>
            <a:xfrm>
              <a:off x="670075" y="2142348"/>
              <a:ext cx="327298" cy="32729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0" name="Flecha 80_2"/>
            <p:cNvSpPr/>
            <p:nvPr/>
          </p:nvSpPr>
          <p:spPr>
            <a:xfrm>
              <a:off x="833724" y="1879846"/>
              <a:ext cx="347751" cy="426151"/>
            </a:xfrm>
            <a:custGeom>
              <a:avLst/>
              <a:gdLst/>
              <a:ahLst/>
              <a:cxnLst/>
              <a:rect l="0" t="0" r="r" b="b"/>
              <a:pathLst>
                <a:path w="380" h="466" fill="none">
                  <a:moveTo>
                    <a:pt x="0" y="466"/>
                  </a:moveTo>
                  <a:lnTo>
                    <a:pt x="380" y="0"/>
                  </a:lnTo>
                </a:path>
              </a:pathLst>
            </a:custGeom>
            <a:noFill/>
            <a:ln w="45669" cap="rnd">
              <a:solidFill>
                <a:srgbClr val="9A9A9A"/>
              </a:solidFill>
              <a:round/>
            </a:ln>
          </p:spPr>
        </p:sp>
        <p:sp>
          <p:nvSpPr>
            <p:cNvPr id="61" name="Átomo C_8"/>
            <p:cNvSpPr/>
            <p:nvPr/>
          </p:nvSpPr>
          <p:spPr>
            <a:xfrm>
              <a:off x="1017228" y="1715600"/>
              <a:ext cx="328492" cy="32849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2" name="Flecha 83_2"/>
            <p:cNvSpPr/>
            <p:nvPr/>
          </p:nvSpPr>
          <p:spPr>
            <a:xfrm>
              <a:off x="475166" y="2196431"/>
              <a:ext cx="358558" cy="109566"/>
            </a:xfrm>
            <a:custGeom>
              <a:avLst/>
              <a:gdLst/>
              <a:ahLst/>
              <a:cxnLst/>
              <a:rect l="0" t="0" r="r" b="b"/>
              <a:pathLst>
                <a:path w="392" h="119" fill="none">
                  <a:moveTo>
                    <a:pt x="392" y="119"/>
                  </a:moveTo>
                  <a:lnTo>
                    <a:pt x="0" y="0"/>
                  </a:lnTo>
                </a:path>
              </a:pathLst>
            </a:custGeom>
            <a:noFill/>
            <a:ln w="45669" cap="rnd">
              <a:solidFill>
                <a:srgbClr val="9A9A9A"/>
              </a:solidFill>
              <a:round/>
            </a:ln>
          </p:spPr>
        </p:sp>
        <p:sp>
          <p:nvSpPr>
            <p:cNvPr id="63" name="Flecha 85_2"/>
            <p:cNvSpPr/>
            <p:nvPr/>
          </p:nvSpPr>
          <p:spPr>
            <a:xfrm>
              <a:off x="1713735" y="1956117"/>
              <a:ext cx="188539" cy="87343"/>
            </a:xfrm>
            <a:custGeom>
              <a:avLst/>
              <a:gdLst/>
              <a:ahLst/>
              <a:cxnLst/>
              <a:rect l="0" t="0" r="r" b="b"/>
              <a:pathLst>
                <a:path w="206" h="95" fill="none">
                  <a:moveTo>
                    <a:pt x="0" y="0"/>
                  </a:moveTo>
                  <a:lnTo>
                    <a:pt x="206" y="95"/>
                  </a:lnTo>
                </a:path>
              </a:pathLst>
            </a:custGeom>
            <a:noFill/>
            <a:ln w="45669" cap="rnd">
              <a:solidFill>
                <a:srgbClr val="9A9A9A"/>
              </a:solidFill>
              <a:round/>
            </a:ln>
          </p:spPr>
        </p:sp>
        <p:sp>
          <p:nvSpPr>
            <p:cNvPr id="64" name="Flecha 87_2"/>
            <p:cNvSpPr/>
            <p:nvPr/>
          </p:nvSpPr>
          <p:spPr>
            <a:xfrm>
              <a:off x="833724" y="2305997"/>
              <a:ext cx="133167" cy="303201"/>
            </a:xfrm>
            <a:custGeom>
              <a:avLst/>
              <a:gdLst/>
              <a:ahLst/>
              <a:cxnLst/>
              <a:rect l="0" t="0" r="r" b="b"/>
              <a:pathLst>
                <a:path w="145" h="331" fill="none">
                  <a:moveTo>
                    <a:pt x="0" y="0"/>
                  </a:moveTo>
                  <a:lnTo>
                    <a:pt x="145" y="331"/>
                  </a:lnTo>
                </a:path>
              </a:pathLst>
            </a:custGeom>
            <a:noFill/>
            <a:ln w="45669" cap="rnd">
              <a:solidFill>
                <a:srgbClr val="9A9A9A"/>
              </a:solidFill>
              <a:round/>
            </a:ln>
          </p:spPr>
        </p:sp>
        <p:sp>
          <p:nvSpPr>
            <p:cNvPr id="65" name="Flecha 89_2"/>
            <p:cNvSpPr/>
            <p:nvPr/>
          </p:nvSpPr>
          <p:spPr>
            <a:xfrm>
              <a:off x="1064604" y="1469586"/>
              <a:ext cx="147706" cy="398840"/>
            </a:xfrm>
            <a:custGeom>
              <a:avLst/>
              <a:gdLst/>
              <a:ahLst/>
              <a:cxnLst/>
              <a:rect l="0" t="0" r="r" b="b"/>
              <a:pathLst>
                <a:path w="161" h="436" fill="none">
                  <a:moveTo>
                    <a:pt x="161" y="436"/>
                  </a:moveTo>
                  <a:lnTo>
                    <a:pt x="0" y="0"/>
                  </a:lnTo>
                </a:path>
              </a:pathLst>
            </a:custGeom>
            <a:noFill/>
            <a:ln w="36535" cap="rnd">
              <a:solidFill>
                <a:srgbClr val="9A9A9A"/>
              </a:solidFill>
              <a:round/>
            </a:ln>
          </p:spPr>
        </p:sp>
        <p:sp>
          <p:nvSpPr>
            <p:cNvPr id="66" name="Flecha 91_2"/>
            <p:cNvSpPr/>
            <p:nvPr/>
          </p:nvSpPr>
          <p:spPr>
            <a:xfrm>
              <a:off x="1002933" y="1492426"/>
              <a:ext cx="147706" cy="398840"/>
            </a:xfrm>
            <a:custGeom>
              <a:avLst/>
              <a:gdLst/>
              <a:ahLst/>
              <a:cxnLst/>
              <a:rect l="0" t="0" r="r" b="b"/>
              <a:pathLst>
                <a:path w="161" h="436" fill="none">
                  <a:moveTo>
                    <a:pt x="161" y="436"/>
                  </a:moveTo>
                  <a:lnTo>
                    <a:pt x="0" y="0"/>
                  </a:lnTo>
                </a:path>
              </a:pathLst>
            </a:custGeom>
            <a:noFill/>
            <a:ln w="36535" cap="rnd">
              <a:solidFill>
                <a:srgbClr val="9A9A9A"/>
              </a:solidFill>
              <a:round/>
            </a:ln>
          </p:spPr>
        </p:sp>
        <p:sp>
          <p:nvSpPr>
            <p:cNvPr id="67" name="Átomo H_10"/>
            <p:cNvSpPr/>
            <p:nvPr/>
          </p:nvSpPr>
          <p:spPr>
            <a:xfrm>
              <a:off x="375598" y="2096863"/>
              <a:ext cx="199136" cy="19913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8" name="Átomo O_6"/>
            <p:cNvSpPr/>
            <p:nvPr/>
          </p:nvSpPr>
          <p:spPr>
            <a:xfrm>
              <a:off x="876500" y="1323738"/>
              <a:ext cx="314536" cy="31453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9" name="Átomo H_11"/>
            <p:cNvSpPr/>
            <p:nvPr/>
          </p:nvSpPr>
          <p:spPr>
            <a:xfrm>
              <a:off x="866487" y="2508794"/>
              <a:ext cx="200808" cy="2008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0" name="Átomo H_12"/>
            <p:cNvSpPr/>
            <p:nvPr/>
          </p:nvSpPr>
          <p:spPr>
            <a:xfrm>
              <a:off x="1801427" y="1942612"/>
              <a:ext cx="201695" cy="20169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1" name="Forma 97"/>
            <p:cNvSpPr txBox="1"/>
            <p:nvPr/>
          </p:nvSpPr>
          <p:spPr>
            <a:xfrm>
              <a:off x="-91440" y="3081477"/>
              <a:ext cx="256032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Acetoacetato</a:t>
              </a:r>
              <a:endParaRPr lang="es-AR" sz="1300" dirty="0">
                <a:latin typeface="Fira Sans Condensed"/>
              </a:endParaRPr>
            </a:p>
          </p:txBody>
        </p:sp>
      </p:grpSp>
      <p:pic>
        <p:nvPicPr>
          <p:cNvPr id="72" name="Adipocitos" descr="Ilustración biomédica (Servier Medical Art, CC BY)"/>
          <p:cNvPicPr>
            <a:picLocks noChangeAspect="1"/>
          </p:cNvPicPr>
          <p:nvPr/>
        </p:nvPicPr>
        <p:blipFill>
          <a:blip r:embed="rId3"/>
          <a:stretch>
            <a:fillRect/>
          </a:stretch>
        </p:blipFill>
        <p:spPr>
          <a:xfrm>
            <a:off x="91440" y="4480560"/>
            <a:ext cx="2011680" cy="2051240"/>
          </a:xfrm>
          <a:prstGeom prst="rect">
            <a:avLst/>
          </a:prstGeom>
        </p:spPr>
      </p:pic>
      <p:sp>
        <p:nvSpPr>
          <p:cNvPr id="7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Paciente caso 11" descr="Ilustración biomédica (Servier Medical Art, CC BY)"/>
          <p:cNvPicPr>
            <a:picLocks noChangeAspect="1"/>
          </p:cNvPicPr>
          <p:nvPr/>
        </p:nvPicPr>
        <p:blipFill>
          <a:blip r:embed="rId2"/>
          <a:stretch>
            <a:fillRect/>
          </a:stretch>
        </p:blipFill>
        <p:spPr>
          <a:xfrm>
            <a:off x="457200" y="1051560"/>
            <a:ext cx="1723709" cy="5212080"/>
          </a:xfrm>
          <a:prstGeom prst="rect">
            <a:avLst/>
          </a:prstGeom>
        </p:spPr>
      </p:pic>
      <p:pic>
        <p:nvPicPr>
          <p:cNvPr id="7" name="Pulmón caso 11" descr="Ilustración biomédica (Servier Medical Art, CC BY)"/>
          <p:cNvPicPr>
            <a:picLocks noChangeAspect="1"/>
          </p:cNvPicPr>
          <p:nvPr/>
        </p:nvPicPr>
        <p:blipFill>
          <a:blip r:embed="rId3"/>
          <a:stretch>
            <a:fillRect/>
          </a:stretch>
        </p:blipFill>
        <p:spPr>
          <a:xfrm>
            <a:off x="2377440" y="1188720"/>
            <a:ext cx="2377440" cy="2719294"/>
          </a:xfrm>
          <a:prstGeom prst="rect">
            <a:avLst/>
          </a:prstGeom>
        </p:spPr>
      </p:pic>
      <p:sp>
        <p:nvSpPr>
          <p:cNvPr id="8" name="Consolidación basal derecha"/>
          <p:cNvSpPr/>
          <p:nvPr/>
        </p:nvSpPr>
        <p:spPr>
          <a:xfrm>
            <a:off x="3749040" y="2651760"/>
            <a:ext cx="777240" cy="685800"/>
          </a:xfrm>
          <a:prstGeom prst="ellipse">
            <a:avLst/>
          </a:prstGeom>
          <a:solidFill>
            <a:srgbClr val="FFFFFF">
              <a:alpha val="55000"/>
            </a:srgbClr>
          </a:solidFill>
          <a:ln w="38100" cap="rnd">
            <a:solidFill>
              <a:srgbClr val="C00000"/>
            </a:solidFill>
            <a:round/>
          </a:ln>
        </p:spPr>
      </p:sp>
      <p:sp>
        <p:nvSpPr>
          <p:cNvPr id="9" name="Forma 8"/>
          <p:cNvSpPr txBox="1"/>
          <p:nvPr/>
        </p:nvSpPr>
        <p:spPr>
          <a:xfrm>
            <a:off x="2240280" y="3657600"/>
            <a:ext cx="2743200" cy="5486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Consolidación basal</a:t>
            </a:r>
            <a:endParaRPr lang="es-AR" sz="1250" dirty="0">
              <a:latin typeface="Fira Sans Condensed"/>
            </a:endParaRPr>
          </a:p>
          <a:p>
            <a:pPr algn="ctr">
              <a:spcAft>
                <a:spcPts val="300"/>
              </a:spcAft>
              <a:buNone/>
            </a:pPr>
            <a:r>
              <a:rPr lang="es-AR" sz="125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derecha (Rx)</a:t>
            </a:r>
            <a:endParaRPr lang="es-AR" sz="1250" dirty="0">
              <a:latin typeface="Fira Sans Condensed"/>
            </a:endParaRPr>
          </a:p>
        </p:txBody>
      </p:sp>
      <p:grpSp>
        <p:nvGrpSpPr>
          <p:cNvPr id="10" name="Dato PERSONA DE 24 AÑOS CON DM1"/>
          <p:cNvGrpSpPr/>
          <p:nvPr/>
        </p:nvGrpSpPr>
        <p:grpSpPr>
          <a:xfrm>
            <a:off x="5120640" y="1097280"/>
            <a:ext cx="6675120" cy="1161288"/>
            <a:chOff x="5120640" y="1097280"/>
            <a:chExt cx="6675120" cy="1161288"/>
          </a:xfrm>
        </p:grpSpPr>
        <p:sp>
          <p:nvSpPr>
            <p:cNvPr id="11" name="Recuadro PERSONA DE 24 AÑOS CON"/>
            <p:cNvSpPr/>
            <p:nvPr/>
          </p:nvSpPr>
          <p:spPr>
            <a:xfrm>
              <a:off x="5120640" y="1097280"/>
              <a:ext cx="6675120" cy="43891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PERSONA DE 24 AÑOS CON DM1</a:t>
              </a:r>
              <a:endParaRPr lang="es-AR" sz="1400" dirty="0">
                <a:latin typeface="Fira Sans Condensed"/>
              </a:endParaRPr>
            </a:p>
          </p:txBody>
        </p:sp>
        <p:sp>
          <p:nvSpPr>
            <p:cNvPr id="12" name="Forma 11"/>
            <p:cNvSpPr/>
            <p:nvPr/>
          </p:nvSpPr>
          <p:spPr>
            <a:xfrm>
              <a:off x="5120640" y="1572768"/>
              <a:ext cx="667512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NPH </a:t>
              </a:r>
              <a:r>
                <a:rPr lang="es-AR" sz="1500" b="1" dirty="0">
                  <a:solidFill>
                    <a:srgbClr val="1E1E1E"/>
                  </a:solidFill>
                  <a:latin typeface="Fira Sans Condensed"/>
                  <a:ea typeface="Fira Sans Condensed"/>
                  <a:cs typeface="Fira Sans Condensed"/>
                  <a:sym typeface="Fira Sans Condensed"/>
                </a:rPr>
                <a:t>35 UI</a:t>
              </a:r>
              <a:r>
                <a:rPr lang="es-AR" sz="1500" dirty="0">
                  <a:solidFill>
                    <a:srgbClr val="1E1E1E"/>
                  </a:solidFill>
                  <a:latin typeface="Fira Sans Condensed"/>
                  <a:ea typeface="Fira Sans Condensed"/>
                  <a:cs typeface="Fira Sans Condensed"/>
                  <a:sym typeface="Fira Sans Condensed"/>
                </a:rPr>
                <a:t> matinales y </a:t>
              </a:r>
              <a:r>
                <a:rPr lang="es-AR" sz="1500" b="1" dirty="0">
                  <a:solidFill>
                    <a:srgbClr val="1E1E1E"/>
                  </a:solidFill>
                  <a:latin typeface="Fira Sans Condensed"/>
                  <a:ea typeface="Fira Sans Condensed"/>
                  <a:cs typeface="Fira Sans Condensed"/>
                  <a:sym typeface="Fira Sans Condensed"/>
                </a:rPr>
                <a:t>10 UI</a:t>
              </a:r>
              <a:r>
                <a:rPr lang="es-AR" sz="1500" dirty="0">
                  <a:solidFill>
                    <a:srgbClr val="1E1E1E"/>
                  </a:solidFill>
                  <a:latin typeface="Fira Sans Condensed"/>
                  <a:ea typeface="Fira Sans Condensed"/>
                  <a:cs typeface="Fira Sans Condensed"/>
                  <a:sym typeface="Fira Sans Condensed"/>
                </a:rPr>
                <a:t> nocturnas · HbA1c </a:t>
              </a:r>
              <a:r>
                <a:rPr lang="es-AR" sz="1500" b="1" dirty="0">
                  <a:solidFill>
                    <a:srgbClr val="1E1E1E"/>
                  </a:solidFill>
                  <a:latin typeface="Fira Sans Condensed"/>
                  <a:ea typeface="Fira Sans Condensed"/>
                  <a:cs typeface="Fira Sans Condensed"/>
                  <a:sym typeface="Fira Sans Condensed"/>
                </a:rPr>
                <a:t>12 %</a:t>
              </a:r>
              <a:endParaRPr lang="es-AR" sz="1500" dirty="0">
                <a:latin typeface="Fira Sans Condensed"/>
              </a:endParaRPr>
            </a:p>
          </p:txBody>
        </p:sp>
      </p:grpSp>
      <p:grpSp>
        <p:nvGrpSpPr>
          <p:cNvPr id="13" name="Dato SÍNTOMAS"/>
          <p:cNvGrpSpPr/>
          <p:nvPr/>
        </p:nvGrpSpPr>
        <p:grpSpPr>
          <a:xfrm>
            <a:off x="5120640" y="2395728"/>
            <a:ext cx="6675120" cy="1161288"/>
            <a:chOff x="5120640" y="2395728"/>
            <a:chExt cx="6675120" cy="1161288"/>
          </a:xfrm>
        </p:grpSpPr>
        <p:sp>
          <p:nvSpPr>
            <p:cNvPr id="14" name="Recuadro SÍNTOMAS"/>
            <p:cNvSpPr/>
            <p:nvPr/>
          </p:nvSpPr>
          <p:spPr>
            <a:xfrm>
              <a:off x="5120640" y="2395728"/>
              <a:ext cx="6675120" cy="438912"/>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SÍNTOMAS</a:t>
              </a:r>
              <a:endParaRPr lang="es-AR" sz="1400" dirty="0">
                <a:latin typeface="Fira Sans Condensed"/>
              </a:endParaRPr>
            </a:p>
          </p:txBody>
        </p:sp>
        <p:sp>
          <p:nvSpPr>
            <p:cNvPr id="15" name="Forma 14"/>
            <p:cNvSpPr/>
            <p:nvPr/>
          </p:nvSpPr>
          <p:spPr>
            <a:xfrm>
              <a:off x="5120640" y="2871216"/>
              <a:ext cx="667512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Náuseas, vómitos, tos productiva, </a:t>
              </a:r>
              <a:r>
                <a:rPr lang="es-AR" sz="1500" b="1" dirty="0">
                  <a:solidFill>
                    <a:srgbClr val="1E1E1E"/>
                  </a:solidFill>
                  <a:latin typeface="Fira Sans Condensed"/>
                  <a:ea typeface="Fira Sans Condensed"/>
                  <a:cs typeface="Fira Sans Condensed"/>
                  <a:sym typeface="Fira Sans Condensed"/>
                </a:rPr>
                <a:t>fiebre 38,7 °C</a:t>
              </a:r>
              <a:endParaRPr lang="es-AR" sz="1500" dirty="0">
                <a:latin typeface="Fira Sans Condensed"/>
              </a:endParaRPr>
            </a:p>
          </p:txBody>
        </p:sp>
      </p:grpSp>
      <p:grpSp>
        <p:nvGrpSpPr>
          <p:cNvPr id="16" name="Dato SIGNOS"/>
          <p:cNvGrpSpPr/>
          <p:nvPr/>
        </p:nvGrpSpPr>
        <p:grpSpPr>
          <a:xfrm>
            <a:off x="5120640" y="3694176"/>
            <a:ext cx="6675120" cy="1161288"/>
            <a:chOff x="5120640" y="3694176"/>
            <a:chExt cx="6675120" cy="1161288"/>
          </a:xfrm>
        </p:grpSpPr>
        <p:sp>
          <p:nvSpPr>
            <p:cNvPr id="17" name="Recuadro SIGNOS"/>
            <p:cNvSpPr/>
            <p:nvPr/>
          </p:nvSpPr>
          <p:spPr>
            <a:xfrm>
              <a:off x="5120640" y="3694176"/>
              <a:ext cx="6675120" cy="438912"/>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SIGNOS</a:t>
              </a:r>
              <a:endParaRPr lang="es-AR" sz="1400" dirty="0">
                <a:latin typeface="Fira Sans Condensed"/>
              </a:endParaRPr>
            </a:p>
          </p:txBody>
        </p:sp>
        <p:sp>
          <p:nvSpPr>
            <p:cNvPr id="18" name="Forma 17"/>
            <p:cNvSpPr/>
            <p:nvPr/>
          </p:nvSpPr>
          <p:spPr>
            <a:xfrm>
              <a:off x="5120640" y="4169664"/>
              <a:ext cx="667512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b="1" dirty="0">
                  <a:solidFill>
                    <a:srgbClr val="1E1E1E"/>
                  </a:solidFill>
                  <a:latin typeface="Fira Sans Condensed"/>
                  <a:ea typeface="Fira Sans Condensed"/>
                  <a:cs typeface="Fira Sans Condensed"/>
                  <a:sym typeface="Fira Sans Condensed"/>
                </a:rPr>
                <a:t>Hipotensión</a:t>
              </a:r>
              <a:r>
                <a:rPr lang="es-AR" sz="1500" dirty="0">
                  <a:solidFill>
                    <a:srgbClr val="1E1E1E"/>
                  </a:solidFill>
                  <a:latin typeface="Fira Sans Condensed"/>
                  <a:ea typeface="Fira Sans Condensed"/>
                  <a:cs typeface="Fira Sans Condensed"/>
                  <a:sym typeface="Fira Sans Condensed"/>
                </a:rPr>
                <a:t> 90/50 · </a:t>
              </a:r>
              <a:r>
                <a:rPr lang="es-AR" sz="1500" b="1" dirty="0">
                  <a:solidFill>
                    <a:srgbClr val="1E1E1E"/>
                  </a:solidFill>
                  <a:latin typeface="Fira Sans Condensed"/>
                  <a:ea typeface="Fira Sans Condensed"/>
                  <a:cs typeface="Fira Sans Condensed"/>
                  <a:sym typeface="Fira Sans Condensed"/>
                </a:rPr>
                <a:t>taquicardia</a:t>
              </a:r>
              <a:r>
                <a:rPr lang="es-AR" sz="1500" dirty="0">
                  <a:solidFill>
                    <a:srgbClr val="1E1E1E"/>
                  </a:solidFill>
                  <a:latin typeface="Fira Sans Condensed"/>
                  <a:ea typeface="Fira Sans Condensed"/>
                  <a:cs typeface="Fira Sans Condensed"/>
                  <a:sym typeface="Fira Sans Condensed"/>
                </a:rPr>
                <a:t> 120 · </a:t>
              </a:r>
              <a:r>
                <a:rPr lang="es-AR" sz="1500" b="1" dirty="0">
                  <a:solidFill>
                    <a:srgbClr val="1E1E1E"/>
                  </a:solidFill>
                  <a:latin typeface="Fira Sans Condensed"/>
                  <a:ea typeface="Fira Sans Condensed"/>
                  <a:cs typeface="Fira Sans Condensed"/>
                  <a:sym typeface="Fira Sans Condensed"/>
                </a:rPr>
                <a:t>taquipnea</a:t>
              </a:r>
              <a:r>
                <a:rPr lang="es-AR" sz="1500" dirty="0">
                  <a:solidFill>
                    <a:srgbClr val="1E1E1E"/>
                  </a:solidFill>
                  <a:latin typeface="Fira Sans Condensed"/>
                  <a:ea typeface="Fira Sans Condensed"/>
                  <a:cs typeface="Fira Sans Condensed"/>
                  <a:sym typeface="Fira Sans Condensed"/>
                </a:rPr>
                <a:t> 32 · somnolencia y desorientación</a:t>
              </a:r>
              <a:endParaRPr lang="es-AR" sz="1500" dirty="0">
                <a:latin typeface="Fira Sans Condensed"/>
              </a:endParaRPr>
            </a:p>
          </p:txBody>
        </p:sp>
      </p:grpSp>
      <p:grpSp>
        <p:nvGrpSpPr>
          <p:cNvPr id="19" name="Dato MICROBIOLOGÍA"/>
          <p:cNvGrpSpPr/>
          <p:nvPr/>
        </p:nvGrpSpPr>
        <p:grpSpPr>
          <a:xfrm>
            <a:off x="5120640" y="4992624"/>
            <a:ext cx="6675120" cy="1161288"/>
            <a:chOff x="5120640" y="4992624"/>
            <a:chExt cx="6675120" cy="1161288"/>
          </a:xfrm>
        </p:grpSpPr>
        <p:sp>
          <p:nvSpPr>
            <p:cNvPr id="20" name="Recuadro MICROBIOLOGÍA"/>
            <p:cNvSpPr/>
            <p:nvPr/>
          </p:nvSpPr>
          <p:spPr>
            <a:xfrm>
              <a:off x="5120640" y="4992624"/>
              <a:ext cx="6675120" cy="438912"/>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MICROBIOLOGÍA</a:t>
              </a:r>
              <a:endParaRPr lang="es-AR" sz="1400" dirty="0">
                <a:latin typeface="Fira Sans Condensed"/>
              </a:endParaRPr>
            </a:p>
          </p:txBody>
        </p:sp>
        <p:sp>
          <p:nvSpPr>
            <p:cNvPr id="21" name="Forma 20"/>
            <p:cNvSpPr/>
            <p:nvPr/>
          </p:nvSpPr>
          <p:spPr>
            <a:xfrm>
              <a:off x="5120640" y="5468112"/>
              <a:ext cx="667512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Hemocultivos positivos para </a:t>
              </a:r>
              <a:r>
                <a:rPr lang="es-AR" sz="1500" b="1" dirty="0">
                  <a:solidFill>
                    <a:srgbClr val="1E1E1E"/>
                  </a:solidFill>
                  <a:latin typeface="Fira Sans Condensed"/>
                  <a:ea typeface="Fira Sans Condensed"/>
                  <a:cs typeface="Fira Sans Condensed"/>
                  <a:sym typeface="Fira Sans Condensed"/>
                </a:rPr>
                <a:t>neumococo</a:t>
              </a:r>
              <a:r>
                <a:rPr lang="es-AR" sz="1500" dirty="0">
                  <a:solidFill>
                    <a:srgbClr val="1E1E1E"/>
                  </a:solidFill>
                  <a:latin typeface="Fira Sans Condensed"/>
                  <a:ea typeface="Fira Sans Condensed"/>
                  <a:cs typeface="Fira Sans Condensed"/>
                  <a:sym typeface="Fira Sans Condensed"/>
                </a:rPr>
                <a:t> (Streptococcus pneumoniae)</a:t>
              </a:r>
              <a:endParaRPr lang="es-AR" sz="15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CASO 11 · PRESENTACIÓN CLÍNICA</a:t>
            </a:r>
            <a:endParaRPr lang="es-AR" sz="3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aphicFrame>
        <p:nvGraphicFramePr>
          <p:cNvPr id="7" name="Tabla caso 11"/>
          <p:cNvGraphicFramePr>
            <a:graphicFrameLocks noGrp="1"/>
          </p:cNvGraphicFramePr>
          <p:nvPr/>
        </p:nvGraphicFramePr>
        <p:xfrm>
          <a:off x="365760" y="1051560"/>
          <a:ext cx="7589520" cy="4425696"/>
        </p:xfrm>
        <a:graphic>
          <a:graphicData uri="http://schemas.openxmlformats.org/drawingml/2006/table">
            <a:tbl>
              <a:tblPr firstRow="1" bandRow="1"/>
              <a:tblGrid>
                <a:gridCol w="1463040"/>
                <a:gridCol w="1645920"/>
                <a:gridCol w="4480560"/>
              </a:tblGrid>
              <a:tr h="402336">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Variable</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Resultado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Lectura inicial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Glucosa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390 mg/dL</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Hiperglucemia marcada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pH</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7,15</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Acidemia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HCO₃⁻</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13 mEq/L</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Disminuido: componente metabólico ácido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pCO₂</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24 mmHg</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Hipocapnia: hiperventilación</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Cetonemia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Producción importante de cuerpos cetónicos, no cuantificada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Cetonuria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Excreción de cetonas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Base excess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−8</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Déficit de base: acidosis metabólica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Leucocitos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15.000/mm³</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Leucocitosis: inflamación/infección probable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TA / FC / FR</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90/50 · 120 · 32</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Hipovolemia/hipoperfusión, estrés y compensación ventilatoria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Temperatura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38,7 °C</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Síndrome febril con neumonía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8" name="Marco tríada"/>
          <p:cNvSpPr/>
          <p:nvPr/>
        </p:nvSpPr>
        <p:spPr>
          <a:xfrm>
            <a:off x="329184" y="1810512"/>
            <a:ext cx="7662672" cy="1243584"/>
          </a:xfrm>
          <a:prstGeom prst="rect">
            <a:avLst/>
          </a:prstGeom>
          <a:noFill/>
          <a:ln w="50800" cap="rnd">
            <a:solidFill>
              <a:srgbClr val="C00000"/>
            </a:solidFill>
            <a:round/>
          </a:ln>
        </p:spPr>
      </p:sp>
      <p:sp>
        <p:nvSpPr>
          <p:cNvPr id="9" name="Perla clínica"/>
          <p:cNvSpPr/>
          <p:nvPr/>
        </p:nvSpPr>
        <p:spPr>
          <a:xfrm>
            <a:off x="8229600" y="1097280"/>
            <a:ext cx="3611880" cy="21031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b="1" dirty="0">
                <a:solidFill>
                  <a:srgbClr val="FFFFFF"/>
                </a:solidFill>
                <a:latin typeface="Fira Sans Condensed"/>
                <a:ea typeface="Fira Sans Condensed"/>
                <a:cs typeface="Fira Sans Condensed"/>
                <a:sym typeface="Fira Sans Condensed"/>
              </a:rPr>
              <a:t>Alerta de calidad analítica</a:t>
            </a:r>
            <a:r>
              <a:rPr lang="es-AR" sz="1450" dirty="0">
                <a:solidFill>
                  <a:srgbClr val="FFFFFF"/>
                </a:solidFill>
                <a:latin typeface="Fira Sans Condensed"/>
                <a:ea typeface="Fira Sans Condensed"/>
                <a:cs typeface="Fira Sans Condensed"/>
                <a:sym typeface="Fira Sans Condensed"/>
              </a:rPr>
              <a:t>: el trío pH 7,15 – HCO₃⁻ 13 – pCO₂ 24 </a:t>
            </a:r>
            <a:r>
              <a:rPr lang="es-AR" sz="1450" b="1" dirty="0">
                <a:solidFill>
                  <a:srgbClr val="FFFFFF"/>
                </a:solidFill>
                <a:latin typeface="Fira Sans Condensed"/>
                <a:ea typeface="Fira Sans Condensed"/>
                <a:cs typeface="Fira Sans Condensed"/>
                <a:sym typeface="Fira Sans Condensed"/>
              </a:rPr>
              <a:t>no es internamente consistente</a:t>
            </a:r>
            <a:r>
              <a:rPr lang="es-AR" sz="1450" dirty="0">
                <a:solidFill>
                  <a:srgbClr val="FFFFFF"/>
                </a:solidFill>
                <a:latin typeface="Fira Sans Condensed"/>
                <a:ea typeface="Fira Sans Condensed"/>
                <a:cs typeface="Fira Sans Condensed"/>
                <a:sym typeface="Fira Sans Condensed"/>
              </a:rPr>
              <a:t>. Se verifica más adelante con Henderson–Hasselbalch.</a:t>
            </a:r>
            <a:endParaRPr lang="es-AR" sz="1450" dirty="0">
              <a:latin typeface="Fira Sans Condensed"/>
            </a:endParaRPr>
          </a:p>
        </p:txBody>
      </p:sp>
      <p:grpSp>
        <p:nvGrpSpPr>
          <p:cNvPr id="10" name="Cuadro Datos no aportados"/>
          <p:cNvGrpSpPr/>
          <p:nvPr/>
        </p:nvGrpSpPr>
        <p:grpSpPr>
          <a:xfrm>
            <a:off x="8229600" y="3429000"/>
            <a:ext cx="3611880" cy="2880360"/>
            <a:chOff x="8229600" y="3429000"/>
            <a:chExt cx="3611880" cy="2880360"/>
          </a:xfrm>
        </p:grpSpPr>
        <p:sp>
          <p:nvSpPr>
            <p:cNvPr id="11" name="Forma 10"/>
            <p:cNvSpPr/>
            <p:nvPr/>
          </p:nvSpPr>
          <p:spPr>
            <a:xfrm>
              <a:off x="8229600" y="3630168"/>
              <a:ext cx="3611880" cy="26791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Na⁺, K⁺, Cl⁻ · urea · creatinina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Mg²⁺ · fósforo · lactato</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β-hidroxibutirato</a:t>
              </a:r>
              <a:r>
                <a:rPr lang="es-AR" sz="1450" dirty="0">
                  <a:solidFill>
                    <a:srgbClr val="1E1E1E"/>
                  </a:solidFill>
                  <a:latin typeface="Fira Sans Condensed"/>
                  <a:ea typeface="Fira Sans Condensed"/>
                  <a:cs typeface="Fira Sans Condensed"/>
                  <a:sym typeface="Fira Sans Condensed"/>
                </a:rPr>
                <a:t> cuantitativo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Osmolalidad · anion gap</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ECG · diuresis · cultivos</a:t>
              </a:r>
              <a:endParaRPr lang="es-AR" sz="1450" dirty="0">
                <a:latin typeface="Fira Sans Condensed"/>
              </a:endParaRPr>
            </a:p>
          </p:txBody>
        </p:sp>
        <p:sp>
          <p:nvSpPr>
            <p:cNvPr id="12" name="Forma 11"/>
            <p:cNvSpPr/>
            <p:nvPr/>
          </p:nvSpPr>
          <p:spPr>
            <a:xfrm>
              <a:off x="8366760" y="3429000"/>
              <a:ext cx="213749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DATOS NO APORTADOS</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CASO 11 · LABORATORIO AL INGRESO</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8" fill="hold">
                      <p:stCondLst>
                        <p:cond delay="indefinite"/>
                      </p:stCondLst>
                      <p:childTnLst>
                        <p:par>
                          <p:cTn id="1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sp>
        <p:nvSpPr>
          <p:cNvPr id="7" name="Flecha ins→phg"/>
          <p:cNvSpPr/>
          <p:nvPr/>
        </p:nvSpPr>
        <p:spPr>
          <a:xfrm>
            <a:off x="3511296" y="1463040"/>
            <a:ext cx="658368" cy="9144"/>
          </a:xfrm>
          <a:custGeom>
            <a:avLst/>
            <a:gdLst/>
            <a:ahLst/>
            <a:cxnLst/>
            <a:rect l="0" t="0" r="r" b="b"/>
            <a:pathLst>
              <a:path w="719" h="10" fill="none">
                <a:moveTo>
                  <a:pt x="0" y="0"/>
                </a:moveTo>
                <a:lnTo>
                  <a:pt x="719" y="0"/>
                </a:lnTo>
              </a:path>
            </a:pathLst>
          </a:custGeom>
          <a:noFill/>
          <a:ln w="28575" cap="rnd">
            <a:solidFill>
              <a:srgbClr val="1E1E1E"/>
            </a:solidFill>
            <a:round/>
            <a:tailEnd type="triangle" w="med" len="med"/>
          </a:ln>
        </p:spPr>
      </p:sp>
      <p:sp>
        <p:nvSpPr>
          <p:cNvPr id="8" name="Flecha ins→cap"/>
          <p:cNvSpPr/>
          <p:nvPr/>
        </p:nvSpPr>
        <p:spPr>
          <a:xfrm>
            <a:off x="3520440" y="1600200"/>
            <a:ext cx="640080" cy="914400"/>
          </a:xfrm>
          <a:custGeom>
            <a:avLst/>
            <a:gdLst/>
            <a:ahLst/>
            <a:cxnLst/>
            <a:rect l="0" t="0" r="r" b="b"/>
            <a:pathLst>
              <a:path w="699" h="1000" fill="none">
                <a:moveTo>
                  <a:pt x="0" y="0"/>
                </a:moveTo>
                <a:lnTo>
                  <a:pt x="699" y="1000"/>
                </a:lnTo>
              </a:path>
            </a:pathLst>
          </a:custGeom>
          <a:noFill/>
          <a:ln w="28575" cap="rnd">
            <a:solidFill>
              <a:srgbClr val="1E1E1E"/>
            </a:solidFill>
            <a:round/>
            <a:tailEnd type="triangle" w="med" len="med"/>
          </a:ln>
        </p:spPr>
      </p:sp>
      <p:sp>
        <p:nvSpPr>
          <p:cNvPr id="9" name="Flecha st→phg"/>
          <p:cNvSpPr/>
          <p:nvPr/>
        </p:nvSpPr>
        <p:spPr>
          <a:xfrm>
            <a:off x="3520440" y="1600200"/>
            <a:ext cx="640080" cy="822960"/>
          </a:xfrm>
          <a:custGeom>
            <a:avLst/>
            <a:gdLst/>
            <a:ahLst/>
            <a:cxnLst/>
            <a:rect l="0" t="0" r="r" b="b"/>
            <a:pathLst>
              <a:path w="699" h="899" fill="none">
                <a:moveTo>
                  <a:pt x="0" y="899"/>
                </a:moveTo>
                <a:lnTo>
                  <a:pt x="699" y="0"/>
                </a:lnTo>
              </a:path>
            </a:pathLst>
          </a:custGeom>
          <a:noFill/>
          <a:ln w="28575" cap="rnd">
            <a:solidFill>
              <a:srgbClr val="1E1E1E"/>
            </a:solidFill>
            <a:round/>
            <a:tailEnd type="triangle" w="med" len="med"/>
          </a:ln>
        </p:spPr>
      </p:sp>
      <p:sp>
        <p:nvSpPr>
          <p:cNvPr id="10" name="Flecha st→cap"/>
          <p:cNvSpPr/>
          <p:nvPr/>
        </p:nvSpPr>
        <p:spPr>
          <a:xfrm>
            <a:off x="3511296" y="2583180"/>
            <a:ext cx="658368" cy="22860"/>
          </a:xfrm>
          <a:custGeom>
            <a:avLst/>
            <a:gdLst/>
            <a:ahLst/>
            <a:cxnLst/>
            <a:rect l="0" t="0" r="r" b="b"/>
            <a:pathLst>
              <a:path w="719" h="24" fill="none">
                <a:moveTo>
                  <a:pt x="0" y="0"/>
                </a:moveTo>
                <a:lnTo>
                  <a:pt x="719" y="24"/>
                </a:lnTo>
              </a:path>
            </a:pathLst>
          </a:custGeom>
          <a:noFill/>
          <a:ln w="28575" cap="rnd">
            <a:solidFill>
              <a:srgbClr val="1E1E1E"/>
            </a:solidFill>
            <a:round/>
            <a:tailEnd type="triangle" w="med" len="med"/>
          </a:ln>
        </p:spPr>
      </p:sp>
      <p:sp>
        <p:nvSpPr>
          <p:cNvPr id="11" name="Flecha phg→g"/>
          <p:cNvSpPr/>
          <p:nvPr/>
        </p:nvSpPr>
        <p:spPr>
          <a:xfrm>
            <a:off x="7534656" y="1463040"/>
            <a:ext cx="658368" cy="640080"/>
          </a:xfrm>
          <a:custGeom>
            <a:avLst/>
            <a:gdLst/>
            <a:ahLst/>
            <a:cxnLst/>
            <a:rect l="0" t="0" r="r" b="b"/>
            <a:pathLst>
              <a:path w="720" h="700" fill="none">
                <a:moveTo>
                  <a:pt x="0" y="0"/>
                </a:moveTo>
                <a:lnTo>
                  <a:pt x="720" y="700"/>
                </a:lnTo>
              </a:path>
            </a:pathLst>
          </a:custGeom>
          <a:noFill/>
          <a:ln w="28575" cap="rnd">
            <a:solidFill>
              <a:srgbClr val="1E1E1E"/>
            </a:solidFill>
            <a:round/>
            <a:tailEnd type="triangle" w="med" len="med"/>
          </a:ln>
        </p:spPr>
      </p:sp>
      <p:sp>
        <p:nvSpPr>
          <p:cNvPr id="12" name="Flecha cap→g"/>
          <p:cNvSpPr/>
          <p:nvPr/>
        </p:nvSpPr>
        <p:spPr>
          <a:xfrm>
            <a:off x="7534656" y="2103120"/>
            <a:ext cx="658368" cy="502920"/>
          </a:xfrm>
          <a:custGeom>
            <a:avLst/>
            <a:gdLst/>
            <a:ahLst/>
            <a:cxnLst/>
            <a:rect l="0" t="0" r="r" b="b"/>
            <a:pathLst>
              <a:path w="720" h="549" fill="none">
                <a:moveTo>
                  <a:pt x="0" y="549"/>
                </a:moveTo>
                <a:lnTo>
                  <a:pt x="720" y="0"/>
                </a:lnTo>
              </a:path>
            </a:pathLst>
          </a:custGeom>
          <a:noFill/>
          <a:ln w="28575" cap="rnd">
            <a:solidFill>
              <a:srgbClr val="1E1E1E"/>
            </a:solidFill>
            <a:round/>
            <a:tailEnd type="triangle" w="med" len="med"/>
          </a:ln>
        </p:spPr>
      </p:sp>
      <p:sp>
        <p:nvSpPr>
          <p:cNvPr id="13" name="Nodo ins"/>
          <p:cNvSpPr/>
          <p:nvPr/>
        </p:nvSpPr>
        <p:spPr>
          <a:xfrm>
            <a:off x="457200" y="1188720"/>
            <a:ext cx="301752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Insulinopenia (DM1)</a:t>
            </a:r>
            <a:endParaRPr lang="es-AR" sz="1500" dirty="0">
              <a:latin typeface="Fira Sans Condensed"/>
            </a:endParaRPr>
          </a:p>
        </p:txBody>
      </p:sp>
      <p:sp>
        <p:nvSpPr>
          <p:cNvPr id="14" name="Nodo st"/>
          <p:cNvSpPr/>
          <p:nvPr/>
        </p:nvSpPr>
        <p:spPr>
          <a:xfrm>
            <a:off x="457200" y="2194560"/>
            <a:ext cx="3017520" cy="7772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Estrés: catecolaminas · cortisol</a:t>
            </a:r>
            <a:endParaRPr lang="es-AR" sz="1300" dirty="0">
              <a:latin typeface="Fira Sans Condensed"/>
            </a:endParaRPr>
          </a:p>
          <a:p>
            <a:pPr algn="ctr">
              <a:spcAft>
                <a:spcPts val="200"/>
              </a:spcAft>
              <a:buNone/>
            </a:pPr>
            <a:r>
              <a:rPr lang="es-AR" sz="1300" b="1" dirty="0">
                <a:solidFill>
                  <a:srgbClr val="1E1E1E"/>
                </a:solidFill>
                <a:latin typeface="Fira Sans Condensed"/>
                <a:ea typeface="Fira Sans Condensed"/>
                <a:cs typeface="Fira Sans Condensed"/>
                <a:sym typeface="Fira Sans Condensed"/>
              </a:rPr>
              <a:t>glucagón · citocinas</a:t>
            </a:r>
            <a:endParaRPr lang="es-AR" sz="1300" dirty="0">
              <a:latin typeface="Fira Sans Condensed"/>
            </a:endParaRPr>
          </a:p>
        </p:txBody>
      </p:sp>
      <p:sp>
        <p:nvSpPr>
          <p:cNvPr id="15" name="Nodo phg"/>
          <p:cNvSpPr/>
          <p:nvPr/>
        </p:nvSpPr>
        <p:spPr>
          <a:xfrm>
            <a:off x="4206240" y="118872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Producción hepática de glucosa ↑</a:t>
            </a:r>
            <a:endParaRPr lang="es-AR" sz="1400" dirty="0">
              <a:latin typeface="Fira Sans Condensed"/>
            </a:endParaRPr>
          </a:p>
        </p:txBody>
      </p:sp>
      <p:sp>
        <p:nvSpPr>
          <p:cNvPr id="16" name="Nodo cap"/>
          <p:cNvSpPr/>
          <p:nvPr/>
        </p:nvSpPr>
        <p:spPr>
          <a:xfrm>
            <a:off x="4206240" y="233172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Captación periférica ↓ (GLUT4)</a:t>
            </a:r>
            <a:endParaRPr lang="es-AR" sz="1400" dirty="0">
              <a:latin typeface="Fira Sans Condensed"/>
            </a:endParaRPr>
          </a:p>
        </p:txBody>
      </p:sp>
      <p:sp>
        <p:nvSpPr>
          <p:cNvPr id="17" name="Nodo g"/>
          <p:cNvSpPr/>
          <p:nvPr/>
        </p:nvSpPr>
        <p:spPr>
          <a:xfrm>
            <a:off x="8229600" y="1691640"/>
            <a:ext cx="3566160" cy="8229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000" b="1" dirty="0">
                <a:solidFill>
                  <a:srgbClr val="C00000"/>
                </a:solidFill>
                <a:latin typeface="Fira Sans Condensed"/>
                <a:ea typeface="Fira Sans Condensed"/>
                <a:cs typeface="Fira Sans Condensed"/>
                <a:sym typeface="Fira Sans Condensed"/>
              </a:rPr>
              <a:t>GLUCEMIA 390 mg/dL</a:t>
            </a:r>
            <a:endParaRPr lang="es-AR" sz="2000" dirty="0">
              <a:latin typeface="Fira Sans Condensed"/>
            </a:endParaRPr>
          </a:p>
        </p:txBody>
      </p:sp>
      <p:grpSp>
        <p:nvGrpSpPr>
          <p:cNvPr id="18" name="Cuadro Gravedad"/>
          <p:cNvGrpSpPr/>
          <p:nvPr/>
        </p:nvGrpSpPr>
        <p:grpSpPr>
          <a:xfrm>
            <a:off x="457200" y="3429000"/>
            <a:ext cx="5577840" cy="2057400"/>
            <a:chOff x="457200" y="3429000"/>
            <a:chExt cx="5577840" cy="2057400"/>
          </a:xfrm>
        </p:grpSpPr>
        <p:sp>
          <p:nvSpPr>
            <p:cNvPr id="19" name="Forma 18"/>
            <p:cNvSpPr/>
            <p:nvPr/>
          </p:nvSpPr>
          <p:spPr>
            <a:xfrm>
              <a:off x="457200" y="3630168"/>
              <a:ext cx="5577840" cy="18562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50" dirty="0">
                  <a:solidFill>
                    <a:srgbClr val="1E1E1E"/>
                  </a:solidFill>
                  <a:latin typeface="Fira Sans Condensed"/>
                  <a:ea typeface="Fira Sans Condensed"/>
                  <a:cs typeface="Fira Sans Condensed"/>
                  <a:sym typeface="Fira Sans Condensed"/>
                </a:rPr>
                <a:t>La glucosa </a:t>
              </a:r>
              <a:r>
                <a:rPr lang="es-AR" sz="1550" b="1" dirty="0">
                  <a:solidFill>
                    <a:srgbClr val="1E1E1E"/>
                  </a:solidFill>
                  <a:latin typeface="Fira Sans Condensed"/>
                  <a:ea typeface="Fira Sans Condensed"/>
                  <a:cs typeface="Fira Sans Condensed"/>
                  <a:sym typeface="Fira Sans Condensed"/>
                </a:rPr>
                <a:t>por sí sola no determina la gravedad</a:t>
              </a:r>
              <a:r>
                <a:rPr lang="es-AR" sz="1550" dirty="0">
                  <a:solidFill>
                    <a:srgbClr val="1E1E1E"/>
                  </a:solidFill>
                  <a:latin typeface="Fira Sans Condensed"/>
                  <a:ea typeface="Fira Sans Condensed"/>
                  <a:cs typeface="Fira Sans Condensed"/>
                  <a:sym typeface="Fira Sans Condensed"/>
                </a:rPr>
                <a:t> de la CAD: son imprescindibles </a:t>
              </a:r>
              <a:r>
                <a:rPr lang="es-AR" sz="1550" b="1" dirty="0">
                  <a:solidFill>
                    <a:srgbClr val="1E1E1E"/>
                  </a:solidFill>
                  <a:latin typeface="Fira Sans Condensed"/>
                  <a:ea typeface="Fira Sans Condensed"/>
                  <a:cs typeface="Fira Sans Condensed"/>
                  <a:sym typeface="Fira Sans Condensed"/>
                </a:rPr>
                <a:t>pH, β-hidroxibutirato, bicarbonato, osmolalidad, hidratación y estado de conciencia</a:t>
              </a:r>
              <a:r>
                <a:rPr lang="es-AR" sz="1550" dirty="0">
                  <a:solidFill>
                    <a:srgbClr val="1E1E1E"/>
                  </a:solidFill>
                  <a:latin typeface="Fira Sans Condensed"/>
                  <a:ea typeface="Fira Sans Condensed"/>
                  <a:cs typeface="Fira Sans Condensed"/>
                  <a:sym typeface="Fira Sans Condensed"/>
                </a:rPr>
                <a:t>.</a:t>
              </a:r>
              <a:endParaRPr lang="es-AR" sz="1550" dirty="0">
                <a:latin typeface="Fira Sans Condensed"/>
              </a:endParaRPr>
            </a:p>
          </p:txBody>
        </p:sp>
        <p:sp>
          <p:nvSpPr>
            <p:cNvPr id="20" name="Forma 19"/>
            <p:cNvSpPr/>
            <p:nvPr/>
          </p:nvSpPr>
          <p:spPr>
            <a:xfrm>
              <a:off x="594360" y="3429000"/>
              <a:ext cx="120263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GRAVEDAD</a:t>
              </a:r>
              <a:endParaRPr lang="es-AR" sz="1400" dirty="0">
                <a:latin typeface="Fira Sans Condensed"/>
              </a:endParaRPr>
            </a:p>
          </p:txBody>
        </p:sp>
      </p:grpSp>
      <p:grpSp>
        <p:nvGrpSpPr>
          <p:cNvPr id="21" name="Cuadro CAD euglucémica"/>
          <p:cNvGrpSpPr/>
          <p:nvPr/>
        </p:nvGrpSpPr>
        <p:grpSpPr>
          <a:xfrm>
            <a:off x="6263640" y="3429000"/>
            <a:ext cx="5532120" cy="2057400"/>
            <a:chOff x="6263640" y="3429000"/>
            <a:chExt cx="5532120" cy="2057400"/>
          </a:xfrm>
        </p:grpSpPr>
        <p:sp>
          <p:nvSpPr>
            <p:cNvPr id="22" name="Forma 21"/>
            <p:cNvSpPr/>
            <p:nvPr/>
          </p:nvSpPr>
          <p:spPr>
            <a:xfrm>
              <a:off x="6263640" y="3630168"/>
              <a:ext cx="5532120" cy="18562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50" dirty="0">
                  <a:solidFill>
                    <a:srgbClr val="1E1E1E"/>
                  </a:solidFill>
                  <a:latin typeface="Fira Sans Condensed"/>
                  <a:ea typeface="Fira Sans Condensed"/>
                  <a:cs typeface="Fira Sans Condensed"/>
                  <a:sym typeface="Fira Sans Condensed"/>
                </a:rPr>
                <a:t>Puede existir </a:t>
              </a:r>
              <a:r>
                <a:rPr lang="es-AR" sz="1550" b="1" dirty="0">
                  <a:solidFill>
                    <a:srgbClr val="1E1E1E"/>
                  </a:solidFill>
                  <a:latin typeface="Fira Sans Condensed"/>
                  <a:ea typeface="Fira Sans Condensed"/>
                  <a:cs typeface="Fira Sans Condensed"/>
                  <a:sym typeface="Fira Sans Condensed"/>
                </a:rPr>
                <a:t>CAD euglucémica</a:t>
              </a:r>
              <a:r>
                <a:rPr lang="es-AR" sz="1550" dirty="0">
                  <a:solidFill>
                    <a:srgbClr val="1E1E1E"/>
                  </a:solidFill>
                  <a:latin typeface="Fira Sans Condensed"/>
                  <a:ea typeface="Fira Sans Condensed"/>
                  <a:cs typeface="Fira Sans Condensed"/>
                  <a:sym typeface="Fira Sans Condensed"/>
                </a:rPr>
                <a:t>: por ejemplo con </a:t>
              </a:r>
              <a:r>
                <a:rPr lang="es-AR" sz="1550" b="1" dirty="0">
                  <a:solidFill>
                    <a:srgbClr val="1E1E1E"/>
                  </a:solidFill>
                  <a:latin typeface="Fira Sans Condensed"/>
                  <a:ea typeface="Fira Sans Condensed"/>
                  <a:cs typeface="Fira Sans Condensed"/>
                  <a:sym typeface="Fira Sans Condensed"/>
                </a:rPr>
                <a:t>inhibidores SGLT2</a:t>
              </a:r>
              <a:r>
                <a:rPr lang="es-AR" sz="1550" dirty="0">
                  <a:solidFill>
                    <a:srgbClr val="1E1E1E"/>
                  </a:solidFill>
                  <a:latin typeface="Fira Sans Condensed"/>
                  <a:ea typeface="Fira Sans Condensed"/>
                  <a:cs typeface="Fira Sans Condensed"/>
                  <a:sym typeface="Fira Sans Condensed"/>
                </a:rPr>
                <a:t> o en el </a:t>
              </a:r>
              <a:r>
                <a:rPr lang="es-AR" sz="1550" b="1" dirty="0">
                  <a:solidFill>
                    <a:srgbClr val="1E1E1E"/>
                  </a:solidFill>
                  <a:latin typeface="Fira Sans Condensed"/>
                  <a:ea typeface="Fira Sans Condensed"/>
                  <a:cs typeface="Fira Sans Condensed"/>
                  <a:sym typeface="Fira Sans Condensed"/>
                </a:rPr>
                <a:t>embarazo</a:t>
              </a:r>
              <a:r>
                <a:rPr lang="es-AR" sz="1550" dirty="0">
                  <a:solidFill>
                    <a:srgbClr val="1E1E1E"/>
                  </a:solidFill>
                  <a:latin typeface="Fira Sans Condensed"/>
                  <a:ea typeface="Fira Sans Condensed"/>
                  <a:cs typeface="Fira Sans Condensed"/>
                  <a:sym typeface="Fira Sans Condensed"/>
                </a:rPr>
                <a:t>. Glucemia «no tan alta» no descarta cetoacidosis.</a:t>
              </a:r>
              <a:endParaRPr lang="es-AR" sz="1550" dirty="0">
                <a:latin typeface="Fira Sans Condensed"/>
              </a:endParaRPr>
            </a:p>
          </p:txBody>
        </p:sp>
        <p:sp>
          <p:nvSpPr>
            <p:cNvPr id="23" name="Forma 22"/>
            <p:cNvSpPr/>
            <p:nvPr/>
          </p:nvSpPr>
          <p:spPr>
            <a:xfrm>
              <a:off x="6400800" y="3429000"/>
              <a:ext cx="181294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CAD EUGLUCÉMICA</a:t>
              </a:r>
              <a:endParaRPr lang="es-AR" sz="1400" dirty="0">
                <a:latin typeface="Fira Sans Condensed"/>
              </a:endParaRPr>
            </a:p>
          </p:txBody>
        </p:sp>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PREGUNTA 1A · ¿QUÉ SIGNIFICA UNA GLUCEMIA DE 390 mg/dL?</a:t>
            </a:r>
            <a:endParaRPr lang="es-AR" sz="26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59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par>
                          <p:cTn id="10"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36" fill="hold">
                      <p:stCondLst>
                        <p:cond delay="indefinite"/>
                      </p:stCondLst>
                      <p:childTnLst>
                        <p:par>
                          <p:cTn id="15"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9"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23"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par>
                          <p:cTn id="27" fill="hold">
                            <p:stCondLst>
                              <p:cond delay="140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31" fill="hold">
                            <p:stCondLst>
                              <p:cond delay="19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5" fill="hold">
                            <p:stCondLst>
                              <p:cond delay="2400"/>
                            </p:stCondLst>
                            <p:childTnLst>
                              <p:par>
                                <p:cTn id="32" presetID="10"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9" fill="hold">
                      <p:stCondLst>
                        <p:cond delay="indefinite"/>
                      </p:stCondLst>
                      <p:childTnLst>
                        <p:par>
                          <p:cTn id="40"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4"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par>
                          <p:cTn id="48"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childTnLst>
                          </p:cTn>
                        </p:par>
                      </p:childTnLst>
                    </p:cTn>
                  </p:par>
                  <p:par>
                    <p:cTn id="54" fill="hold">
                      <p:stCondLst>
                        <p:cond delay="indefinite"/>
                      </p:stCondLst>
                      <p:childTnLst>
                        <p:par>
                          <p:cTn id="5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9" fill="hold">
                      <p:stCondLst>
                        <p:cond delay="indefinite"/>
                      </p:stCondLst>
                      <p:childTnLst>
                        <p:par>
                          <p:cTn id="58"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7" grpId="0" animBg="1"/>
      <p:bldP spid="9" grpId="0" animBg="1"/>
      <p:bldP spid="15" grpId="0" animBg="1"/>
      <p:bldP spid="8" grpId="0" animBg="1"/>
      <p:bldP spid="10" grpId="0" animBg="1"/>
      <p:bldP spid="16" grpId="0" animBg="1"/>
      <p:bldP spid="11" grpId="0" animBg="1"/>
      <p:bldP spid="12" grpId="0" animBg="1"/>
      <p:bldP spid="17"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Recuadro INSULINOPENIA"/>
          <p:cNvSpPr/>
          <p:nvPr/>
        </p:nvSpPr>
        <p:spPr>
          <a:xfrm>
            <a:off x="4023360" y="1051560"/>
            <a:ext cx="411480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2200" b="1" dirty="0">
                <a:solidFill>
                  <a:srgbClr val="C00000"/>
                </a:solidFill>
                <a:latin typeface="Fira Sans Condensed"/>
                <a:ea typeface="Fira Sans Condensed"/>
                <a:cs typeface="Fira Sans Condensed"/>
                <a:sym typeface="Fira Sans Condensed"/>
              </a:rPr>
              <a:t>INSULINOPENIA</a:t>
            </a:r>
            <a:endParaRPr lang="es-AR" sz="2200" dirty="0">
              <a:latin typeface="Fira Sans Condensed"/>
            </a:endParaRPr>
          </a:p>
        </p:txBody>
      </p:sp>
      <p:grpSp>
        <p:nvGrpSpPr>
          <p:cNvPr id="8" name="Vía 1"/>
          <p:cNvGrpSpPr/>
          <p:nvPr/>
        </p:nvGrpSpPr>
        <p:grpSpPr>
          <a:xfrm>
            <a:off x="365760" y="1874520"/>
            <a:ext cx="3657600" cy="1371600"/>
            <a:chOff x="365760" y="1874520"/>
            <a:chExt cx="3657600" cy="1371600"/>
          </a:xfrm>
        </p:grpSpPr>
        <p:sp>
          <p:nvSpPr>
            <p:cNvPr id="9" name="Forma 8"/>
            <p:cNvSpPr/>
            <p:nvPr/>
          </p:nvSpPr>
          <p:spPr>
            <a:xfrm>
              <a:off x="365760" y="187452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0" name="Forma 9"/>
            <p:cNvSpPr/>
            <p:nvPr/>
          </p:nvSpPr>
          <p:spPr>
            <a:xfrm>
              <a:off x="438912" y="194767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sp>
          <p:nvSpPr>
            <p:cNvPr id="11" name="Forma 10"/>
            <p:cNvSpPr txBox="1"/>
            <p:nvPr/>
          </p:nvSpPr>
          <p:spPr>
            <a:xfrm>
              <a:off x="914400" y="192024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Captación de glucosa ↓</a:t>
              </a:r>
              <a:endParaRPr lang="es-AR" sz="1450" dirty="0">
                <a:latin typeface="Fira Sans Condensed"/>
              </a:endParaRPr>
            </a:p>
          </p:txBody>
        </p:sp>
        <p:sp>
          <p:nvSpPr>
            <p:cNvPr id="12" name="Forma 11"/>
            <p:cNvSpPr txBox="1"/>
            <p:nvPr/>
          </p:nvSpPr>
          <p:spPr>
            <a:xfrm>
              <a:off x="502920" y="242316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GLUT4 muscular/adiposo en membrana ↓ → glucemia ↑</a:t>
              </a:r>
              <a:endParaRPr lang="es-AR" sz="1300" dirty="0">
                <a:latin typeface="Fira Sans Condensed"/>
              </a:endParaRPr>
            </a:p>
          </p:txBody>
        </p:sp>
        <p:pic>
          <p:nvPicPr>
            <p:cNvPr id="13" name="Imagen muscle-fiber" descr="Ilustración biomédica (Servier Medical Art, CC BY)"/>
            <p:cNvPicPr>
              <a:picLocks noChangeAspect="1"/>
            </p:cNvPicPr>
            <p:nvPr/>
          </p:nvPicPr>
          <p:blipFill>
            <a:blip r:embed="rId2"/>
            <a:stretch>
              <a:fillRect/>
            </a:stretch>
          </p:blipFill>
          <p:spPr>
            <a:xfrm>
              <a:off x="3154680" y="2617633"/>
              <a:ext cx="777240" cy="360861"/>
            </a:xfrm>
            <a:prstGeom prst="rect">
              <a:avLst/>
            </a:prstGeom>
          </p:spPr>
        </p:pic>
      </p:grpSp>
      <p:grpSp>
        <p:nvGrpSpPr>
          <p:cNvPr id="14" name="Vía 2"/>
          <p:cNvGrpSpPr/>
          <p:nvPr/>
        </p:nvGrpSpPr>
        <p:grpSpPr>
          <a:xfrm>
            <a:off x="4206240" y="1874520"/>
            <a:ext cx="3657600" cy="1371600"/>
            <a:chOff x="4206240" y="1874520"/>
            <a:chExt cx="3657600" cy="1371600"/>
          </a:xfrm>
        </p:grpSpPr>
        <p:sp>
          <p:nvSpPr>
            <p:cNvPr id="15" name="Forma 14"/>
            <p:cNvSpPr/>
            <p:nvPr/>
          </p:nvSpPr>
          <p:spPr>
            <a:xfrm>
              <a:off x="4206240" y="187452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6" name="Forma 15"/>
            <p:cNvSpPr/>
            <p:nvPr/>
          </p:nvSpPr>
          <p:spPr>
            <a:xfrm>
              <a:off x="4279392" y="194767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sp>
          <p:nvSpPr>
            <p:cNvPr id="17" name="Forma 16"/>
            <p:cNvSpPr txBox="1"/>
            <p:nvPr/>
          </p:nvSpPr>
          <p:spPr>
            <a:xfrm>
              <a:off x="4754880" y="192024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Producción hepática de glucosa ↑</a:t>
              </a:r>
              <a:endParaRPr lang="es-AR" sz="1450" dirty="0">
                <a:latin typeface="Fira Sans Condensed"/>
              </a:endParaRPr>
            </a:p>
          </p:txBody>
        </p:sp>
        <p:sp>
          <p:nvSpPr>
            <p:cNvPr id="18" name="Forma 17"/>
            <p:cNvSpPr txBox="1"/>
            <p:nvPr/>
          </p:nvSpPr>
          <p:spPr>
            <a:xfrm>
              <a:off x="4343400" y="242316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Glucogenólisis y gluconeogénesis (lactato, alanina, glicerol)</a:t>
              </a:r>
              <a:endParaRPr lang="es-AR" sz="1300" dirty="0">
                <a:latin typeface="Fira Sans Condensed"/>
              </a:endParaRPr>
            </a:p>
          </p:txBody>
        </p:sp>
        <p:pic>
          <p:nvPicPr>
            <p:cNvPr id="19" name="Imagen healthy_liver" descr="Ilustración biomédica (Servier Medical Art, CC BY)"/>
            <p:cNvPicPr>
              <a:picLocks noChangeAspect="1"/>
            </p:cNvPicPr>
            <p:nvPr/>
          </p:nvPicPr>
          <p:blipFill>
            <a:blip r:embed="rId3"/>
            <a:stretch>
              <a:fillRect/>
            </a:stretch>
          </p:blipFill>
          <p:spPr>
            <a:xfrm>
              <a:off x="6995160" y="2516078"/>
              <a:ext cx="777240" cy="563973"/>
            </a:xfrm>
            <a:prstGeom prst="rect">
              <a:avLst/>
            </a:prstGeom>
          </p:spPr>
        </p:pic>
      </p:grpSp>
      <p:grpSp>
        <p:nvGrpSpPr>
          <p:cNvPr id="20" name="Vía 3"/>
          <p:cNvGrpSpPr/>
          <p:nvPr/>
        </p:nvGrpSpPr>
        <p:grpSpPr>
          <a:xfrm>
            <a:off x="8046720" y="1874520"/>
            <a:ext cx="3657600" cy="1371600"/>
            <a:chOff x="8046720" y="1874520"/>
            <a:chExt cx="3657600" cy="1371600"/>
          </a:xfrm>
        </p:grpSpPr>
        <p:sp>
          <p:nvSpPr>
            <p:cNvPr id="21" name="Forma 20"/>
            <p:cNvSpPr/>
            <p:nvPr/>
          </p:nvSpPr>
          <p:spPr>
            <a:xfrm>
              <a:off x="8046720" y="187452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2" name="Forma 21"/>
            <p:cNvSpPr/>
            <p:nvPr/>
          </p:nvSpPr>
          <p:spPr>
            <a:xfrm>
              <a:off x="8119872" y="194767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sp>
          <p:nvSpPr>
            <p:cNvPr id="23" name="Forma 22"/>
            <p:cNvSpPr txBox="1"/>
            <p:nvPr/>
          </p:nvSpPr>
          <p:spPr>
            <a:xfrm>
              <a:off x="8595360" y="192024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Lipólisis ↑</a:t>
              </a:r>
              <a:endParaRPr lang="es-AR" sz="1450" dirty="0">
                <a:latin typeface="Fira Sans Condensed"/>
              </a:endParaRPr>
            </a:p>
          </p:txBody>
        </p:sp>
        <p:sp>
          <p:nvSpPr>
            <p:cNvPr id="24" name="Forma 23"/>
            <p:cNvSpPr txBox="1"/>
            <p:nvPr/>
          </p:nvSpPr>
          <p:spPr>
            <a:xfrm>
              <a:off x="8183880" y="242316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Catecolaminas/PKA, perilipina, ATGL y HSL → AGNE y glicerol</a:t>
              </a:r>
              <a:endParaRPr lang="es-AR" sz="1300" dirty="0">
                <a:latin typeface="Fira Sans Condensed"/>
              </a:endParaRPr>
            </a:p>
          </p:txBody>
        </p:sp>
        <p:pic>
          <p:nvPicPr>
            <p:cNvPr id="25" name="Imagen adipocyte-1" descr="Ilustración biomédica (Servier Medical Art, CC BY)"/>
            <p:cNvPicPr>
              <a:picLocks noChangeAspect="1"/>
            </p:cNvPicPr>
            <p:nvPr/>
          </p:nvPicPr>
          <p:blipFill>
            <a:blip r:embed="rId4"/>
            <a:stretch>
              <a:fillRect/>
            </a:stretch>
          </p:blipFill>
          <p:spPr>
            <a:xfrm>
              <a:off x="10856586" y="2423160"/>
              <a:ext cx="735347" cy="749808"/>
            </a:xfrm>
            <a:prstGeom prst="rect">
              <a:avLst/>
            </a:prstGeom>
          </p:spPr>
        </p:pic>
      </p:grpSp>
      <p:grpSp>
        <p:nvGrpSpPr>
          <p:cNvPr id="26" name="Vía 4"/>
          <p:cNvGrpSpPr/>
          <p:nvPr/>
        </p:nvGrpSpPr>
        <p:grpSpPr>
          <a:xfrm>
            <a:off x="365760" y="3383280"/>
            <a:ext cx="3657600" cy="1371600"/>
            <a:chOff x="365760" y="3383280"/>
            <a:chExt cx="3657600" cy="1371600"/>
          </a:xfrm>
        </p:grpSpPr>
        <p:sp>
          <p:nvSpPr>
            <p:cNvPr id="27" name="Forma 26"/>
            <p:cNvSpPr/>
            <p:nvPr/>
          </p:nvSpPr>
          <p:spPr>
            <a:xfrm>
              <a:off x="365760" y="338328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8" name="Forma 27"/>
            <p:cNvSpPr/>
            <p:nvPr/>
          </p:nvSpPr>
          <p:spPr>
            <a:xfrm>
              <a:off x="438912" y="345643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sp>
          <p:nvSpPr>
            <p:cNvPr id="29" name="Forma 28"/>
            <p:cNvSpPr txBox="1"/>
            <p:nvPr/>
          </p:nvSpPr>
          <p:spPr>
            <a:xfrm>
              <a:off x="914400" y="342900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β-oxidación ↑</a:t>
              </a:r>
              <a:endParaRPr lang="es-AR" sz="1450" dirty="0">
                <a:latin typeface="Fira Sans Condensed"/>
              </a:endParaRPr>
            </a:p>
          </p:txBody>
        </p:sp>
        <p:sp>
          <p:nvSpPr>
            <p:cNvPr id="30" name="Forma 29"/>
            <p:cNvSpPr txBox="1"/>
            <p:nvPr/>
          </p:nvSpPr>
          <p:spPr>
            <a:xfrm>
              <a:off x="502920" y="393192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CPT1 menos restringida por malonil-CoA; alto flujo de AGNE</a:t>
              </a:r>
              <a:endParaRPr lang="es-AR" sz="1300" dirty="0">
                <a:latin typeface="Fira Sans Condensed"/>
              </a:endParaRPr>
            </a:p>
          </p:txBody>
        </p:sp>
        <p:pic>
          <p:nvPicPr>
            <p:cNvPr id="31" name="Imagen mitochondrium-1" descr="Ilustración biomédica (Servier Medical Art, CC BY)"/>
            <p:cNvPicPr>
              <a:picLocks noChangeAspect="1"/>
            </p:cNvPicPr>
            <p:nvPr/>
          </p:nvPicPr>
          <p:blipFill>
            <a:blip r:embed="rId5"/>
            <a:stretch>
              <a:fillRect/>
            </a:stretch>
          </p:blipFill>
          <p:spPr>
            <a:xfrm>
              <a:off x="3154680" y="4117788"/>
              <a:ext cx="777240" cy="378072"/>
            </a:xfrm>
            <a:prstGeom prst="rect">
              <a:avLst/>
            </a:prstGeom>
          </p:spPr>
        </p:pic>
      </p:grpSp>
      <p:grpSp>
        <p:nvGrpSpPr>
          <p:cNvPr id="32" name="Vía 5"/>
          <p:cNvGrpSpPr/>
          <p:nvPr/>
        </p:nvGrpSpPr>
        <p:grpSpPr>
          <a:xfrm>
            <a:off x="4206240" y="3383280"/>
            <a:ext cx="3657600" cy="1371600"/>
            <a:chOff x="4206240" y="3383280"/>
            <a:chExt cx="3657600" cy="1371600"/>
          </a:xfrm>
        </p:grpSpPr>
        <p:sp>
          <p:nvSpPr>
            <p:cNvPr id="33" name="Forma 32"/>
            <p:cNvSpPr/>
            <p:nvPr/>
          </p:nvSpPr>
          <p:spPr>
            <a:xfrm>
              <a:off x="4206240" y="338328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4" name="Forma 33"/>
            <p:cNvSpPr/>
            <p:nvPr/>
          </p:nvSpPr>
          <p:spPr>
            <a:xfrm>
              <a:off x="4279392" y="345643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5</a:t>
              </a:r>
              <a:endParaRPr lang="es-AR" sz="1300" dirty="0">
                <a:latin typeface="Fira Sans Condensed"/>
              </a:endParaRPr>
            </a:p>
          </p:txBody>
        </p:sp>
        <p:sp>
          <p:nvSpPr>
            <p:cNvPr id="35" name="Forma 34"/>
            <p:cNvSpPr txBox="1"/>
            <p:nvPr/>
          </p:nvSpPr>
          <p:spPr>
            <a:xfrm>
              <a:off x="4754880" y="342900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Cetogénesis ↑</a:t>
              </a:r>
              <a:endParaRPr lang="es-AR" sz="1450" dirty="0">
                <a:latin typeface="Fira Sans Condensed"/>
              </a:endParaRPr>
            </a:p>
          </p:txBody>
        </p:sp>
        <p:sp>
          <p:nvSpPr>
            <p:cNvPr id="36" name="Forma 35"/>
            <p:cNvSpPr txBox="1"/>
            <p:nvPr/>
          </p:nvSpPr>
          <p:spPr>
            <a:xfrm>
              <a:off x="4343400" y="3931920"/>
              <a:ext cx="338328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HMGCS2 → acetoacetato y β-hidroxibutirato</a:t>
              </a:r>
              <a:endParaRPr lang="es-AR" sz="1300" dirty="0">
                <a:latin typeface="Fira Sans Condensed"/>
              </a:endParaRPr>
            </a:p>
          </p:txBody>
        </p:sp>
      </p:grpSp>
      <p:grpSp>
        <p:nvGrpSpPr>
          <p:cNvPr id="37" name="Vía 6"/>
          <p:cNvGrpSpPr/>
          <p:nvPr/>
        </p:nvGrpSpPr>
        <p:grpSpPr>
          <a:xfrm>
            <a:off x="8046720" y="3383280"/>
            <a:ext cx="3657600" cy="1371600"/>
            <a:chOff x="8046720" y="3383280"/>
            <a:chExt cx="3657600" cy="1371600"/>
          </a:xfrm>
        </p:grpSpPr>
        <p:sp>
          <p:nvSpPr>
            <p:cNvPr id="38" name="Forma 37"/>
            <p:cNvSpPr/>
            <p:nvPr/>
          </p:nvSpPr>
          <p:spPr>
            <a:xfrm>
              <a:off x="8046720" y="338328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9" name="Forma 38"/>
            <p:cNvSpPr/>
            <p:nvPr/>
          </p:nvSpPr>
          <p:spPr>
            <a:xfrm>
              <a:off x="8119872" y="345643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6</a:t>
              </a:r>
              <a:endParaRPr lang="es-AR" sz="1300" dirty="0">
                <a:latin typeface="Fira Sans Condensed"/>
              </a:endParaRPr>
            </a:p>
          </p:txBody>
        </p:sp>
        <p:sp>
          <p:nvSpPr>
            <p:cNvPr id="40" name="Forma 39"/>
            <p:cNvSpPr txBox="1"/>
            <p:nvPr/>
          </p:nvSpPr>
          <p:spPr>
            <a:xfrm>
              <a:off x="8595360" y="342900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Lipogénesis y esterificación ↓</a:t>
              </a:r>
              <a:endParaRPr lang="es-AR" sz="1450" dirty="0">
                <a:latin typeface="Fira Sans Condensed"/>
              </a:endParaRPr>
            </a:p>
          </p:txBody>
        </p:sp>
        <p:sp>
          <p:nvSpPr>
            <p:cNvPr id="41" name="Forma 40"/>
            <p:cNvSpPr txBox="1"/>
            <p:nvPr/>
          </p:nvSpPr>
          <p:spPr>
            <a:xfrm>
              <a:off x="8183880" y="3931920"/>
              <a:ext cx="338328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Se pierde la señal anabólica; distribución de TAG alterada</a:t>
              </a:r>
              <a:endParaRPr lang="es-AR" sz="1300" dirty="0">
                <a:latin typeface="Fira Sans Condensed"/>
              </a:endParaRPr>
            </a:p>
          </p:txBody>
        </p:sp>
      </p:grpSp>
      <p:grpSp>
        <p:nvGrpSpPr>
          <p:cNvPr id="42" name="Vía 7"/>
          <p:cNvGrpSpPr/>
          <p:nvPr/>
        </p:nvGrpSpPr>
        <p:grpSpPr>
          <a:xfrm>
            <a:off x="365760" y="4892040"/>
            <a:ext cx="3657600" cy="1371600"/>
            <a:chOff x="365760" y="4892040"/>
            <a:chExt cx="3657600" cy="1371600"/>
          </a:xfrm>
        </p:grpSpPr>
        <p:sp>
          <p:nvSpPr>
            <p:cNvPr id="43" name="Forma 42"/>
            <p:cNvSpPr/>
            <p:nvPr/>
          </p:nvSpPr>
          <p:spPr>
            <a:xfrm>
              <a:off x="365760" y="489204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4" name="Forma 43"/>
            <p:cNvSpPr/>
            <p:nvPr/>
          </p:nvSpPr>
          <p:spPr>
            <a:xfrm>
              <a:off x="438912" y="496519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7</a:t>
              </a:r>
              <a:endParaRPr lang="es-AR" sz="1300" dirty="0">
                <a:latin typeface="Fira Sans Condensed"/>
              </a:endParaRPr>
            </a:p>
          </p:txBody>
        </p:sp>
        <p:sp>
          <p:nvSpPr>
            <p:cNvPr id="45" name="Forma 44"/>
            <p:cNvSpPr txBox="1"/>
            <p:nvPr/>
          </p:nvSpPr>
          <p:spPr>
            <a:xfrm>
              <a:off x="914400" y="493776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Proteólisis ↑</a:t>
              </a:r>
              <a:endParaRPr lang="es-AR" sz="1450" dirty="0">
                <a:latin typeface="Fira Sans Condensed"/>
              </a:endParaRPr>
            </a:p>
          </p:txBody>
        </p:sp>
        <p:sp>
          <p:nvSpPr>
            <p:cNvPr id="46" name="Forma 45"/>
            <p:cNvSpPr txBox="1"/>
            <p:nvPr/>
          </p:nvSpPr>
          <p:spPr>
            <a:xfrm>
              <a:off x="502920" y="544068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Aminoácidos para gluconeogénesis; pérdida de masa muscular</a:t>
              </a:r>
              <a:endParaRPr lang="es-AR" sz="1300" dirty="0">
                <a:latin typeface="Fira Sans Condensed"/>
              </a:endParaRPr>
            </a:p>
          </p:txBody>
        </p:sp>
        <p:pic>
          <p:nvPicPr>
            <p:cNvPr id="47" name="Imagen muscle-1" descr="Ilustración biomédica (Servier Medical Art, CC BY)"/>
            <p:cNvPicPr>
              <a:picLocks noChangeAspect="1"/>
            </p:cNvPicPr>
            <p:nvPr/>
          </p:nvPicPr>
          <p:blipFill>
            <a:blip r:embed="rId6"/>
            <a:stretch>
              <a:fillRect/>
            </a:stretch>
          </p:blipFill>
          <p:spPr>
            <a:xfrm>
              <a:off x="3478227" y="5440680"/>
              <a:ext cx="130145" cy="749808"/>
            </a:xfrm>
            <a:prstGeom prst="rect">
              <a:avLst/>
            </a:prstGeom>
          </p:spPr>
        </p:pic>
      </p:grpSp>
      <p:grpSp>
        <p:nvGrpSpPr>
          <p:cNvPr id="48" name="Vía 8"/>
          <p:cNvGrpSpPr/>
          <p:nvPr/>
        </p:nvGrpSpPr>
        <p:grpSpPr>
          <a:xfrm>
            <a:off x="4206240" y="4892040"/>
            <a:ext cx="3657600" cy="1371600"/>
            <a:chOff x="4206240" y="4892040"/>
            <a:chExt cx="3657600" cy="1371600"/>
          </a:xfrm>
        </p:grpSpPr>
        <p:sp>
          <p:nvSpPr>
            <p:cNvPr id="49" name="Forma 48"/>
            <p:cNvSpPr/>
            <p:nvPr/>
          </p:nvSpPr>
          <p:spPr>
            <a:xfrm>
              <a:off x="4206240" y="489204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50" name="Forma 49"/>
            <p:cNvSpPr/>
            <p:nvPr/>
          </p:nvSpPr>
          <p:spPr>
            <a:xfrm>
              <a:off x="4279392" y="496519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8</a:t>
              </a:r>
              <a:endParaRPr lang="es-AR" sz="1300" dirty="0">
                <a:latin typeface="Fira Sans Condensed"/>
              </a:endParaRPr>
            </a:p>
          </p:txBody>
        </p:sp>
        <p:sp>
          <p:nvSpPr>
            <p:cNvPr id="51" name="Forma 50"/>
            <p:cNvSpPr txBox="1"/>
            <p:nvPr/>
          </p:nvSpPr>
          <p:spPr>
            <a:xfrm>
              <a:off x="4754880" y="493776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Glucogenosíntesis ↓</a:t>
              </a:r>
              <a:endParaRPr lang="es-AR" sz="1450" dirty="0">
                <a:latin typeface="Fira Sans Condensed"/>
              </a:endParaRPr>
            </a:p>
          </p:txBody>
        </p:sp>
        <p:sp>
          <p:nvSpPr>
            <p:cNvPr id="52" name="Forma 51"/>
            <p:cNvSpPr txBox="1"/>
            <p:nvPr/>
          </p:nvSpPr>
          <p:spPr>
            <a:xfrm>
              <a:off x="4343400" y="5440680"/>
              <a:ext cx="338328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La glucosa no se deposita eficientemente</a:t>
              </a:r>
              <a:endParaRPr lang="es-AR" sz="1300" dirty="0">
                <a:latin typeface="Fira Sans Condensed"/>
              </a:endParaRPr>
            </a:p>
          </p:txBody>
        </p:sp>
      </p:grpSp>
      <p:grpSp>
        <p:nvGrpSpPr>
          <p:cNvPr id="53" name="Vía 9"/>
          <p:cNvGrpSpPr/>
          <p:nvPr/>
        </p:nvGrpSpPr>
        <p:grpSpPr>
          <a:xfrm>
            <a:off x="8046720" y="4892040"/>
            <a:ext cx="3657600" cy="1371600"/>
            <a:chOff x="8046720" y="4892040"/>
            <a:chExt cx="3657600" cy="1371600"/>
          </a:xfrm>
        </p:grpSpPr>
        <p:sp>
          <p:nvSpPr>
            <p:cNvPr id="54" name="Forma 53"/>
            <p:cNvSpPr/>
            <p:nvPr/>
          </p:nvSpPr>
          <p:spPr>
            <a:xfrm>
              <a:off x="8046720" y="4892040"/>
              <a:ext cx="365760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55" name="Forma 54"/>
            <p:cNvSpPr/>
            <p:nvPr/>
          </p:nvSpPr>
          <p:spPr>
            <a:xfrm>
              <a:off x="8119872" y="4965192"/>
              <a:ext cx="384048" cy="384048"/>
            </a:xfrm>
            <a:prstGeom prst="ellipse">
              <a:avLst/>
            </a:prstGeom>
            <a:solidFill>
              <a:srgbClr val="FFC000"/>
            </a:solidFill>
            <a:ln w="1524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9</a:t>
              </a:r>
              <a:endParaRPr lang="es-AR" sz="1300" dirty="0">
                <a:latin typeface="Fira Sans Condensed"/>
              </a:endParaRPr>
            </a:p>
          </p:txBody>
        </p:sp>
        <p:sp>
          <p:nvSpPr>
            <p:cNvPr id="56" name="Forma 55"/>
            <p:cNvSpPr txBox="1"/>
            <p:nvPr/>
          </p:nvSpPr>
          <p:spPr>
            <a:xfrm>
              <a:off x="8595360" y="4937760"/>
              <a:ext cx="3017520" cy="457200"/>
            </a:xfrm>
            <a:prstGeom prst="rect">
              <a:avLst/>
            </a:prstGeom>
            <a:noFill/>
            <a:ln>
              <a:noFill/>
            </a:ln>
          </p:spPr>
          <p:txBody>
            <a:bodyPr wrap="square" lIns="0" tIns="0" rIns="0" bIns="0" anchor="ctr" rtlCol="0">
              <a:noAutofit/>
            </a:bodyPr>
            <a:lstStyle/>
            <a:p>
              <a:pPr algn="l">
                <a:spcAft>
                  <a:spcPts val="300"/>
                </a:spcAft>
                <a:buNone/>
              </a:pPr>
              <a:r>
                <a:rPr lang="es-AR" sz="1450" b="1" dirty="0">
                  <a:solidFill>
                    <a:srgbClr val="C00000"/>
                  </a:solidFill>
                  <a:latin typeface="Fira Sans Condensed"/>
                  <a:ea typeface="Fira Sans Condensed"/>
                  <a:cs typeface="Fira Sans Condensed"/>
                  <a:sym typeface="Fira Sans Condensed"/>
                </a:rPr>
                <a:t>Balance hidroelectrolítico alterado</a:t>
              </a:r>
              <a:endParaRPr lang="es-AR" sz="1450" dirty="0">
                <a:latin typeface="Fira Sans Condensed"/>
              </a:endParaRPr>
            </a:p>
          </p:txBody>
        </p:sp>
        <p:sp>
          <p:nvSpPr>
            <p:cNvPr id="57" name="Forma 56"/>
            <p:cNvSpPr txBox="1"/>
            <p:nvPr/>
          </p:nvSpPr>
          <p:spPr>
            <a:xfrm>
              <a:off x="8183880" y="5440680"/>
              <a:ext cx="2606040" cy="777240"/>
            </a:xfrm>
            <a:prstGeom prst="rect">
              <a:avLst/>
            </a:prstGeom>
            <a:noFill/>
            <a:ln>
              <a:noFill/>
            </a:ln>
          </p:spPr>
          <p:txBody>
            <a:bodyPr wrap="square" lIns="0" tIns="0" rIns="0" bIns="0" anchor="t"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Glucosuria, natriuresis y kaliuresis</a:t>
              </a:r>
              <a:endParaRPr lang="es-AR" sz="1300" dirty="0">
                <a:latin typeface="Fira Sans Condensed"/>
              </a:endParaRPr>
            </a:p>
          </p:txBody>
        </p:sp>
        <p:pic>
          <p:nvPicPr>
            <p:cNvPr id="58" name="Imagen kidney-1" descr="Ilustración biomédica (Servier Medical Art, CC BY)"/>
            <p:cNvPicPr>
              <a:picLocks noChangeAspect="1"/>
            </p:cNvPicPr>
            <p:nvPr/>
          </p:nvPicPr>
          <p:blipFill>
            <a:blip r:embed="rId7"/>
            <a:stretch>
              <a:fillRect/>
            </a:stretch>
          </p:blipFill>
          <p:spPr>
            <a:xfrm>
              <a:off x="11012439" y="5440680"/>
              <a:ext cx="423642" cy="749808"/>
            </a:xfrm>
            <a:prstGeom prst="rect">
              <a:avLst/>
            </a:prstGeom>
          </p:spPr>
        </p:pic>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PREGUNTA 3 · VÍAS COMPROMETIDAS POR LA INSULINOPENIA</a:t>
            </a:r>
            <a:endParaRPr lang="es-AR" sz="26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5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par>
                    <p:cTn id="22"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par>
                          <p:cTn id="17" fill="hold">
                            <p:stCondLst>
                              <p:cond delay="300"/>
                            </p:stCondLst>
                            <p:childTnLst>
                              <p:par>
                                <p:cTn id="14" presetID="10"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300"/>
                                        <p:tgtEl>
                                          <p:spTgt spid="14"/>
                                        </p:tgtEl>
                                      </p:cBhvr>
                                    </p:animEffect>
                                  </p:childTnLst>
                                </p:cTn>
                              </p:par>
                            </p:childTnLst>
                          </p:cTn>
                        </p:par>
                        <p:par>
                          <p:cTn id="21" fill="hold">
                            <p:stCondLst>
                              <p:cond delay="600"/>
                            </p:stCondLst>
                            <p:childTnLst>
                              <p:par>
                                <p:cTn id="18" presetID="10"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300"/>
                                        <p:tgtEl>
                                          <p:spTgt spid="20"/>
                                        </p:tgtEl>
                                      </p:cBhvr>
                                    </p:animEffect>
                                  </p:childTnLst>
                                </p:cTn>
                              </p:par>
                            </p:childTnLst>
                          </p:cTn>
                        </p:par>
                      </p:childTnLst>
                    </p:cTn>
                  </p:par>
                  <p:par>
                    <p:cTn id="35"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300"/>
                                        <p:tgtEl>
                                          <p:spTgt spid="26"/>
                                        </p:tgtEl>
                                      </p:cBhvr>
                                    </p:animEffect>
                                  </p:childTnLst>
                                </p:cTn>
                              </p:par>
                            </p:childTnLst>
                          </p:cTn>
                        </p:par>
                        <p:par>
                          <p:cTn id="30" fill="hold">
                            <p:stCondLst>
                              <p:cond delay="300"/>
                            </p:stCondLst>
                            <p:childTnLst>
                              <p:par>
                                <p:cTn id="27" presetID="10" presetClass="entr" presetSubtype="0"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300"/>
                                        <p:tgtEl>
                                          <p:spTgt spid="32"/>
                                        </p:tgtEl>
                                      </p:cBhvr>
                                    </p:animEffect>
                                  </p:childTnLst>
                                </p:cTn>
                              </p:par>
                            </p:childTnLst>
                          </p:cTn>
                        </p:par>
                        <p:par>
                          <p:cTn id="34" fill="hold">
                            <p:stCondLst>
                              <p:cond delay="600"/>
                            </p:stCondLst>
                            <p:childTnLst>
                              <p:par>
                                <p:cTn id="31" presetID="10" presetClass="entr" presetSubtype="0" fill="hold" grpId="0" nodeType="after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300"/>
                                        <p:tgtEl>
                                          <p:spTgt spid="37"/>
                                        </p:tgtEl>
                                      </p:cBhvr>
                                    </p:animEffect>
                                  </p:childTnLst>
                                </p:cTn>
                              </p:par>
                            </p:childTnLst>
                          </p:cTn>
                        </p:par>
                      </p:childTnLst>
                    </p:cTn>
                  </p:par>
                  <p:par>
                    <p:cTn id="48" fill="hold">
                      <p:stCondLst>
                        <p:cond delay="indefinite"/>
                      </p:stCondLst>
                      <p:childTnLst>
                        <p:par>
                          <p:cTn id="39"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300"/>
                                        <p:tgtEl>
                                          <p:spTgt spid="42"/>
                                        </p:tgtEl>
                                      </p:cBhvr>
                                    </p:animEffect>
                                  </p:childTnLst>
                                </p:cTn>
                              </p:par>
                            </p:childTnLst>
                          </p:cTn>
                        </p:par>
                        <p:par>
                          <p:cTn id="43" fill="hold">
                            <p:stCondLst>
                              <p:cond delay="300"/>
                            </p:stCondLst>
                            <p:childTnLst>
                              <p:par>
                                <p:cTn id="40" presetID="10" presetClass="entr" presetSubtype="0" fill="hold" grpId="0" nodeType="after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300"/>
                                        <p:tgtEl>
                                          <p:spTgt spid="48"/>
                                        </p:tgtEl>
                                      </p:cBhvr>
                                    </p:animEffect>
                                  </p:childTnLst>
                                </p:cTn>
                              </p:par>
                            </p:childTnLst>
                          </p:cTn>
                        </p:par>
                        <p:par>
                          <p:cTn id="47" fill="hold">
                            <p:stCondLst>
                              <p:cond delay="600"/>
                            </p:stCondLst>
                            <p:childTnLst>
                              <p:par>
                                <p:cTn id="44" presetID="10" presetClass="entr" presetSubtype="0" fill="hold" grpId="0" nodeType="after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fade">
                                      <p:cBhvr>
                                        <p:cTn id="46" dur="3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PÁNCREAS" descr="Ilustración biomédica (Servier Medical Art, CC BY)"/>
          <p:cNvPicPr>
            <a:picLocks noChangeAspect="1"/>
          </p:cNvPicPr>
          <p:nvPr/>
        </p:nvPicPr>
        <p:blipFill>
          <a:blip r:embed="rId2"/>
          <a:stretch>
            <a:fillRect/>
          </a:stretch>
        </p:blipFill>
        <p:spPr>
          <a:xfrm>
            <a:off x="4343400" y="960120"/>
            <a:ext cx="2103120" cy="872795"/>
          </a:xfrm>
          <a:prstGeom prst="rect">
            <a:avLst/>
          </a:prstGeom>
        </p:spPr>
      </p:pic>
      <p:sp>
        <p:nvSpPr>
          <p:cNvPr id="7" name="!!Rótulo órgano PÁNCREAS"/>
          <p:cNvSpPr/>
          <p:nvPr/>
        </p:nvSpPr>
        <p:spPr>
          <a:xfrm>
            <a:off x="4800600" y="182880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2743200"/>
            <a:ext cx="2286000" cy="1658744"/>
          </a:xfrm>
          <a:prstGeom prst="rect">
            <a:avLst/>
          </a:prstGeom>
        </p:spPr>
      </p:pic>
      <p:sp>
        <p:nvSpPr>
          <p:cNvPr id="9" name="!!Rótulo órgano HÍGADO"/>
          <p:cNvSpPr/>
          <p:nvPr/>
        </p:nvSpPr>
        <p:spPr>
          <a:xfrm>
            <a:off x="777240" y="44348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ADIPOSO" descr="Ilustración biomédica (Servier Medical Art, CC BY)"/>
          <p:cNvPicPr>
            <a:picLocks noChangeAspect="1"/>
          </p:cNvPicPr>
          <p:nvPr/>
        </p:nvPicPr>
        <p:blipFill>
          <a:blip r:embed="rId4"/>
          <a:stretch>
            <a:fillRect/>
          </a:stretch>
        </p:blipFill>
        <p:spPr>
          <a:xfrm>
            <a:off x="9966960" y="960120"/>
            <a:ext cx="1645920" cy="1678287"/>
          </a:xfrm>
          <a:prstGeom prst="rect">
            <a:avLst/>
          </a:prstGeom>
        </p:spPr>
      </p:pic>
      <p:sp>
        <p:nvSpPr>
          <p:cNvPr id="11" name="!!Rótulo órgano ADIPOSO"/>
          <p:cNvSpPr/>
          <p:nvPr/>
        </p:nvSpPr>
        <p:spPr>
          <a:xfrm>
            <a:off x="10058400" y="265176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9601200" y="3291840"/>
            <a:ext cx="2194560" cy="1018903"/>
          </a:xfrm>
          <a:prstGeom prst="rect">
            <a:avLst/>
          </a:prstGeom>
        </p:spPr>
      </p:pic>
      <p:sp>
        <p:nvSpPr>
          <p:cNvPr id="13" name="!!Rótulo órgano MÚSCULO"/>
          <p:cNvSpPr/>
          <p:nvPr/>
        </p:nvSpPr>
        <p:spPr>
          <a:xfrm>
            <a:off x="10058400" y="434340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RIÑÓN" descr="Ilustración biomédica (Servier Medical Art, CC BY)"/>
          <p:cNvPicPr>
            <a:picLocks noChangeAspect="1"/>
          </p:cNvPicPr>
          <p:nvPr/>
        </p:nvPicPr>
        <p:blipFill>
          <a:blip r:embed="rId6"/>
          <a:stretch>
            <a:fillRect/>
          </a:stretch>
        </p:blipFill>
        <p:spPr>
          <a:xfrm>
            <a:off x="4800600" y="3931920"/>
            <a:ext cx="777240" cy="1375646"/>
          </a:xfrm>
          <a:prstGeom prst="rect">
            <a:avLst/>
          </a:prstGeom>
        </p:spPr>
      </p:pic>
      <p:sp>
        <p:nvSpPr>
          <p:cNvPr id="15" name="!!Rótulo órgano RIÑÓN"/>
          <p:cNvSpPr/>
          <p:nvPr/>
        </p:nvSpPr>
        <p:spPr>
          <a:xfrm>
            <a:off x="4709160" y="534924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6" name="!!Órgano PULMÓN" descr="Ilustración biomédica (Servier Medical Art, CC BY)"/>
          <p:cNvPicPr>
            <a:picLocks noChangeAspect="1"/>
          </p:cNvPicPr>
          <p:nvPr/>
        </p:nvPicPr>
        <p:blipFill>
          <a:blip r:embed="rId7"/>
          <a:stretch>
            <a:fillRect/>
          </a:stretch>
        </p:blipFill>
        <p:spPr>
          <a:xfrm>
            <a:off x="502920" y="868680"/>
            <a:ext cx="1463040" cy="1673412"/>
          </a:xfrm>
          <a:prstGeom prst="rect">
            <a:avLst/>
          </a:prstGeom>
        </p:spPr>
      </p:pic>
      <p:sp>
        <p:nvSpPr>
          <p:cNvPr id="17" name="!!Rótulo órgano PULMÓN"/>
          <p:cNvSpPr/>
          <p:nvPr/>
        </p:nvSpPr>
        <p:spPr>
          <a:xfrm>
            <a:off x="548640" y="2240280"/>
            <a:ext cx="89137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PULMÓN</a:t>
            </a:r>
            <a:endParaRPr lang="es-AR" sz="1250" dirty="0">
              <a:latin typeface="Fira Sans Condensed"/>
            </a:endParaRPr>
          </a:p>
        </p:txBody>
      </p:sp>
      <p:sp>
        <p:nvSpPr>
          <p:cNvPr id="18" name="!!Mapa elemento 0"/>
          <p:cNvSpPr/>
          <p:nvPr/>
        </p:nvSpPr>
        <p:spPr>
          <a:xfrm>
            <a:off x="6766560" y="1143000"/>
            <a:ext cx="2926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INSULINA ≈ 0 · glucagón ↑ · estrés ↑</a:t>
            </a:r>
            <a:endParaRPr lang="es-AR" sz="1200" dirty="0">
              <a:latin typeface="Fira Sans Condensed"/>
            </a:endParaRPr>
          </a:p>
        </p:txBody>
      </p:sp>
      <p:grpSp>
        <p:nvGrpSpPr>
          <p:cNvPr id="19" name="!!Mapa elemento 1"/>
          <p:cNvGrpSpPr/>
          <p:nvPr/>
        </p:nvGrpSpPr>
        <p:grpSpPr>
          <a:xfrm>
            <a:off x="2697480" y="1645920"/>
            <a:ext cx="7223760" cy="1417320"/>
            <a:chOff x="2697480" y="1645920"/>
            <a:chExt cx="7223760" cy="1417320"/>
          </a:xfrm>
        </p:grpSpPr>
        <p:sp>
          <p:nvSpPr>
            <p:cNvPr id="20" name="Flecha 19_2"/>
            <p:cNvSpPr/>
            <p:nvPr/>
          </p:nvSpPr>
          <p:spPr>
            <a:xfrm>
              <a:off x="2697480" y="1645920"/>
              <a:ext cx="7223760" cy="1417320"/>
            </a:xfrm>
            <a:custGeom>
              <a:avLst/>
              <a:gdLst/>
              <a:ahLst/>
              <a:cxnLst/>
              <a:rect l="0" t="0" r="r" b="b"/>
              <a:pathLst>
                <a:path w="7899" h="1550" fill="none">
                  <a:moveTo>
                    <a:pt x="7899" y="0"/>
                  </a:moveTo>
                  <a:lnTo>
                    <a:pt x="0" y="1550"/>
                  </a:lnTo>
                </a:path>
              </a:pathLst>
            </a:custGeom>
            <a:noFill/>
            <a:ln w="38100" cap="rnd">
              <a:solidFill>
                <a:srgbClr val="2563B0"/>
              </a:solidFill>
              <a:prstDash val="dash"/>
              <a:round/>
              <a:tailEnd type="triangle" w="med" len="med"/>
            </a:ln>
          </p:spPr>
        </p:sp>
        <p:sp>
          <p:nvSpPr>
            <p:cNvPr id="21" name="Rótulo AGNE · glicerol"/>
            <p:cNvSpPr/>
            <p:nvPr/>
          </p:nvSpPr>
          <p:spPr>
            <a:xfrm>
              <a:off x="5486400" y="2057400"/>
              <a:ext cx="114739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22" name="!!Mapa elemento 2"/>
          <p:cNvGrpSpPr/>
          <p:nvPr/>
        </p:nvGrpSpPr>
        <p:grpSpPr>
          <a:xfrm>
            <a:off x="2697480" y="3337560"/>
            <a:ext cx="6858000" cy="502920"/>
            <a:chOff x="2697480" y="3337560"/>
            <a:chExt cx="6858000" cy="502920"/>
          </a:xfrm>
        </p:grpSpPr>
        <p:sp>
          <p:nvSpPr>
            <p:cNvPr id="23" name="Flecha 23_2"/>
            <p:cNvSpPr/>
            <p:nvPr/>
          </p:nvSpPr>
          <p:spPr>
            <a:xfrm>
              <a:off x="2697480" y="3566160"/>
              <a:ext cx="6858000" cy="274320"/>
            </a:xfrm>
            <a:custGeom>
              <a:avLst/>
              <a:gdLst/>
              <a:ahLst/>
              <a:cxnLst/>
              <a:rect l="0" t="0" r="r" b="b"/>
              <a:pathLst>
                <a:path w="7499" h="300" fill="none">
                  <a:moveTo>
                    <a:pt x="7499" y="300"/>
                  </a:moveTo>
                  <a:lnTo>
                    <a:pt x="0" y="0"/>
                  </a:lnTo>
                </a:path>
              </a:pathLst>
            </a:custGeom>
            <a:noFill/>
            <a:ln w="38100" cap="rnd">
              <a:solidFill>
                <a:srgbClr val="2563B0"/>
              </a:solidFill>
              <a:prstDash val="dash"/>
              <a:round/>
              <a:tailEnd type="triangle" w="med" len="med"/>
            </a:ln>
          </p:spPr>
        </p:sp>
        <p:sp>
          <p:nvSpPr>
            <p:cNvPr id="24" name="Rótulo alanina"/>
            <p:cNvSpPr/>
            <p:nvPr/>
          </p:nvSpPr>
          <p:spPr>
            <a:xfrm>
              <a:off x="6309360" y="3337560"/>
              <a:ext cx="6970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alanina</a:t>
              </a:r>
              <a:endParaRPr lang="es-AR" sz="1150" dirty="0">
                <a:latin typeface="Fira Sans Condensed"/>
              </a:endParaRPr>
            </a:p>
          </p:txBody>
        </p:sp>
      </p:grpSp>
      <p:sp>
        <p:nvSpPr>
          <p:cNvPr id="25" name="!!Mapa elemento 3"/>
          <p:cNvSpPr/>
          <p:nvPr/>
        </p:nvSpPr>
        <p:spPr>
          <a:xfrm>
            <a:off x="2834640" y="2788920"/>
            <a:ext cx="182880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Glucosa ↑↑ · cetonas ↑↑</a:t>
            </a:r>
            <a:endParaRPr lang="es-AR" sz="1250" dirty="0">
              <a:latin typeface="Fira Sans Condensed"/>
            </a:endParaRPr>
          </a:p>
        </p:txBody>
      </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MAPA 3 · DM1 DESCOMPENSADA · SUSTRATOS HACIA EL HÍGADO</a:t>
            </a:r>
            <a:endParaRPr lang="es-AR" sz="26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 calcmode="lin" valueType="num">
                                      <p:cBhvr>
                                        <p:cTn id="5" dur="500" fill="hold"/>
                                        <p:tgtEl>
                                          <p:spTgt spid="18"/>
                                        </p:tgtEl>
                                        <p:attrNameLst>
                                          <p:attrName>ppt_w</p:attrName>
                                        </p:attrNameLst>
                                      </p:cBhvr>
                                      <p:tavLst>
                                        <p:tav tm="0">
                                          <p:val>
                                            <p:fltVal val="0"/>
                                          </p:val>
                                        </p:tav>
                                        <p:tav tm="100000">
                                          <p:val>
                                            <p:strVal val="#ppt_w"/>
                                          </p:val>
                                        </p:tav>
                                      </p:tavLst>
                                    </p:anim>
                                    <p:anim calcmode="lin" valueType="num">
                                      <p:cBhvr>
                                        <p:cTn id="6" dur="500" fill="hold"/>
                                        <p:tgtEl>
                                          <p:spTgt spid="18"/>
                                        </p:tgtEl>
                                        <p:attrNameLst>
                                          <p:attrName>ppt_h</p:attrName>
                                        </p:attrNameLst>
                                      </p:cBhvr>
                                      <p:tavLst>
                                        <p:tav tm="0">
                                          <p:val>
                                            <p:fltVal val="0"/>
                                          </p:val>
                                        </p:tav>
                                        <p:tav tm="100000">
                                          <p:val>
                                            <p:strVal val="#ppt_h"/>
                                          </p:val>
                                        </p:tav>
                                      </p:tavLst>
                                    </p:anim>
                                    <p:animEffect transition="in" filter="fade">
                                      <p:cBhvr>
                                        <p:cTn id="7" dur="500"/>
                                        <p:tgtEl>
                                          <p:spTgt spid="18"/>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26" fill="hold">
                      <p:stCondLst>
                        <p:cond delay="indefinite"/>
                      </p:stCondLst>
                      <p:childTnLst>
                        <p:par>
                          <p:cTn id="25"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5"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PÁNCREAS" descr="Ilustración biomédica (Servier Medical Art, CC BY)"/>
          <p:cNvPicPr>
            <a:picLocks noChangeAspect="1"/>
          </p:cNvPicPr>
          <p:nvPr/>
        </p:nvPicPr>
        <p:blipFill>
          <a:blip r:embed="rId2"/>
          <a:stretch>
            <a:fillRect/>
          </a:stretch>
        </p:blipFill>
        <p:spPr>
          <a:xfrm>
            <a:off x="4343400" y="960120"/>
            <a:ext cx="2103120" cy="872795"/>
          </a:xfrm>
          <a:prstGeom prst="rect">
            <a:avLst/>
          </a:prstGeom>
        </p:spPr>
      </p:pic>
      <p:sp>
        <p:nvSpPr>
          <p:cNvPr id="7" name="!!Rótulo órgano PÁNCREAS"/>
          <p:cNvSpPr/>
          <p:nvPr/>
        </p:nvSpPr>
        <p:spPr>
          <a:xfrm>
            <a:off x="4800600" y="182880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2743200"/>
            <a:ext cx="2286000" cy="1658744"/>
          </a:xfrm>
          <a:prstGeom prst="rect">
            <a:avLst/>
          </a:prstGeom>
        </p:spPr>
      </p:pic>
      <p:sp>
        <p:nvSpPr>
          <p:cNvPr id="9" name="!!Rótulo órgano HÍGADO"/>
          <p:cNvSpPr/>
          <p:nvPr/>
        </p:nvSpPr>
        <p:spPr>
          <a:xfrm>
            <a:off x="777240" y="44348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ADIPOSO" descr="Ilustración biomédica (Servier Medical Art, CC BY)"/>
          <p:cNvPicPr>
            <a:picLocks noChangeAspect="1"/>
          </p:cNvPicPr>
          <p:nvPr/>
        </p:nvPicPr>
        <p:blipFill>
          <a:blip r:embed="rId4"/>
          <a:stretch>
            <a:fillRect/>
          </a:stretch>
        </p:blipFill>
        <p:spPr>
          <a:xfrm>
            <a:off x="9966960" y="960120"/>
            <a:ext cx="1645920" cy="1678287"/>
          </a:xfrm>
          <a:prstGeom prst="rect">
            <a:avLst/>
          </a:prstGeom>
        </p:spPr>
      </p:pic>
      <p:sp>
        <p:nvSpPr>
          <p:cNvPr id="11" name="!!Rótulo órgano ADIPOSO"/>
          <p:cNvSpPr/>
          <p:nvPr/>
        </p:nvSpPr>
        <p:spPr>
          <a:xfrm>
            <a:off x="10058400" y="265176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9601200" y="3291840"/>
            <a:ext cx="2194560" cy="1018903"/>
          </a:xfrm>
          <a:prstGeom prst="rect">
            <a:avLst/>
          </a:prstGeom>
        </p:spPr>
      </p:pic>
      <p:sp>
        <p:nvSpPr>
          <p:cNvPr id="13" name="!!Rótulo órgano MÚSCULO"/>
          <p:cNvSpPr/>
          <p:nvPr/>
        </p:nvSpPr>
        <p:spPr>
          <a:xfrm>
            <a:off x="10058400" y="434340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RIÑÓN" descr="Ilustración biomédica (Servier Medical Art, CC BY)"/>
          <p:cNvPicPr>
            <a:picLocks noChangeAspect="1"/>
          </p:cNvPicPr>
          <p:nvPr/>
        </p:nvPicPr>
        <p:blipFill>
          <a:blip r:embed="rId6"/>
          <a:stretch>
            <a:fillRect/>
          </a:stretch>
        </p:blipFill>
        <p:spPr>
          <a:xfrm>
            <a:off x="4800600" y="3931920"/>
            <a:ext cx="777240" cy="1375646"/>
          </a:xfrm>
          <a:prstGeom prst="rect">
            <a:avLst/>
          </a:prstGeom>
        </p:spPr>
      </p:pic>
      <p:sp>
        <p:nvSpPr>
          <p:cNvPr id="15" name="!!Rótulo órgano RIÑÓN"/>
          <p:cNvSpPr/>
          <p:nvPr/>
        </p:nvSpPr>
        <p:spPr>
          <a:xfrm>
            <a:off x="4709160" y="534924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6" name="!!Órgano PULMÓN" descr="Ilustración biomédica (Servier Medical Art, CC BY)"/>
          <p:cNvPicPr>
            <a:picLocks noChangeAspect="1"/>
          </p:cNvPicPr>
          <p:nvPr/>
        </p:nvPicPr>
        <p:blipFill>
          <a:blip r:embed="rId7"/>
          <a:stretch>
            <a:fillRect/>
          </a:stretch>
        </p:blipFill>
        <p:spPr>
          <a:xfrm>
            <a:off x="502920" y="868680"/>
            <a:ext cx="1463040" cy="1673412"/>
          </a:xfrm>
          <a:prstGeom prst="rect">
            <a:avLst/>
          </a:prstGeom>
        </p:spPr>
      </p:pic>
      <p:sp>
        <p:nvSpPr>
          <p:cNvPr id="17" name="!!Rótulo órgano PULMÓN"/>
          <p:cNvSpPr/>
          <p:nvPr/>
        </p:nvSpPr>
        <p:spPr>
          <a:xfrm>
            <a:off x="548640" y="2240280"/>
            <a:ext cx="89137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PULMÓN</a:t>
            </a:r>
            <a:endParaRPr lang="es-AR" sz="1250" dirty="0">
              <a:latin typeface="Fira Sans Condensed"/>
            </a:endParaRPr>
          </a:p>
        </p:txBody>
      </p:sp>
      <p:sp>
        <p:nvSpPr>
          <p:cNvPr id="18" name="!!Mapa elemento 0"/>
          <p:cNvSpPr/>
          <p:nvPr/>
        </p:nvSpPr>
        <p:spPr>
          <a:xfrm>
            <a:off x="6766560" y="1143000"/>
            <a:ext cx="2926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INSULINA ≈ 0 · glucagón ↑ · estrés ↑</a:t>
            </a:r>
            <a:endParaRPr lang="es-AR" sz="1200" dirty="0">
              <a:latin typeface="Fira Sans Condensed"/>
            </a:endParaRPr>
          </a:p>
        </p:txBody>
      </p:sp>
      <p:grpSp>
        <p:nvGrpSpPr>
          <p:cNvPr id="19" name="!!Mapa elemento 1"/>
          <p:cNvGrpSpPr/>
          <p:nvPr/>
        </p:nvGrpSpPr>
        <p:grpSpPr>
          <a:xfrm>
            <a:off x="2697480" y="1645920"/>
            <a:ext cx="7223760" cy="1417320"/>
            <a:chOff x="2697480" y="1645920"/>
            <a:chExt cx="7223760" cy="1417320"/>
          </a:xfrm>
        </p:grpSpPr>
        <p:sp>
          <p:nvSpPr>
            <p:cNvPr id="20" name="Flecha 19_2"/>
            <p:cNvSpPr/>
            <p:nvPr/>
          </p:nvSpPr>
          <p:spPr>
            <a:xfrm>
              <a:off x="2697480" y="1645920"/>
              <a:ext cx="7223760" cy="1417320"/>
            </a:xfrm>
            <a:custGeom>
              <a:avLst/>
              <a:gdLst/>
              <a:ahLst/>
              <a:cxnLst/>
              <a:rect l="0" t="0" r="r" b="b"/>
              <a:pathLst>
                <a:path w="7899" h="1550" fill="none">
                  <a:moveTo>
                    <a:pt x="7899" y="0"/>
                  </a:moveTo>
                  <a:lnTo>
                    <a:pt x="0" y="1550"/>
                  </a:lnTo>
                </a:path>
              </a:pathLst>
            </a:custGeom>
            <a:noFill/>
            <a:ln w="38100" cap="rnd">
              <a:solidFill>
                <a:srgbClr val="2563B0"/>
              </a:solidFill>
              <a:prstDash val="dash"/>
              <a:round/>
              <a:tailEnd type="triangle" w="med" len="med"/>
            </a:ln>
          </p:spPr>
        </p:sp>
        <p:sp>
          <p:nvSpPr>
            <p:cNvPr id="21" name="Rótulo AGNE · glicerol"/>
            <p:cNvSpPr/>
            <p:nvPr/>
          </p:nvSpPr>
          <p:spPr>
            <a:xfrm>
              <a:off x="5486400" y="2057400"/>
              <a:ext cx="114739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22" name="!!Mapa elemento 2"/>
          <p:cNvGrpSpPr/>
          <p:nvPr/>
        </p:nvGrpSpPr>
        <p:grpSpPr>
          <a:xfrm>
            <a:off x="2697480" y="3337560"/>
            <a:ext cx="6858000" cy="502920"/>
            <a:chOff x="2697480" y="3337560"/>
            <a:chExt cx="6858000" cy="502920"/>
          </a:xfrm>
        </p:grpSpPr>
        <p:sp>
          <p:nvSpPr>
            <p:cNvPr id="23" name="Flecha 23_2"/>
            <p:cNvSpPr/>
            <p:nvPr/>
          </p:nvSpPr>
          <p:spPr>
            <a:xfrm>
              <a:off x="2697480" y="3566160"/>
              <a:ext cx="6858000" cy="274320"/>
            </a:xfrm>
            <a:custGeom>
              <a:avLst/>
              <a:gdLst/>
              <a:ahLst/>
              <a:cxnLst/>
              <a:rect l="0" t="0" r="r" b="b"/>
              <a:pathLst>
                <a:path w="7499" h="300" fill="none">
                  <a:moveTo>
                    <a:pt x="7499" y="300"/>
                  </a:moveTo>
                  <a:lnTo>
                    <a:pt x="0" y="0"/>
                  </a:lnTo>
                </a:path>
              </a:pathLst>
            </a:custGeom>
            <a:noFill/>
            <a:ln w="38100" cap="rnd">
              <a:solidFill>
                <a:srgbClr val="2563B0"/>
              </a:solidFill>
              <a:prstDash val="dash"/>
              <a:round/>
              <a:tailEnd type="triangle" w="med" len="med"/>
            </a:ln>
          </p:spPr>
        </p:sp>
        <p:sp>
          <p:nvSpPr>
            <p:cNvPr id="24" name="Rótulo alanina"/>
            <p:cNvSpPr/>
            <p:nvPr/>
          </p:nvSpPr>
          <p:spPr>
            <a:xfrm>
              <a:off x="6309360" y="3337560"/>
              <a:ext cx="6970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alanina</a:t>
              </a:r>
              <a:endParaRPr lang="es-AR" sz="1150" dirty="0">
                <a:latin typeface="Fira Sans Condensed"/>
              </a:endParaRPr>
            </a:p>
          </p:txBody>
        </p:sp>
      </p:grpSp>
      <p:sp>
        <p:nvSpPr>
          <p:cNvPr id="25" name="!!Mapa elemento 3"/>
          <p:cNvSpPr/>
          <p:nvPr/>
        </p:nvSpPr>
        <p:spPr>
          <a:xfrm>
            <a:off x="2834640" y="2788920"/>
            <a:ext cx="182880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Glucosa ↑↑ · cetonas ↑↑</a:t>
            </a:r>
            <a:endParaRPr lang="es-AR" sz="1250" dirty="0">
              <a:latin typeface="Fira Sans Condensed"/>
            </a:endParaRPr>
          </a:p>
        </p:txBody>
      </p:sp>
      <p:grpSp>
        <p:nvGrpSpPr>
          <p:cNvPr id="26" name="!!Mapa elemento 4"/>
          <p:cNvGrpSpPr/>
          <p:nvPr/>
        </p:nvGrpSpPr>
        <p:grpSpPr>
          <a:xfrm>
            <a:off x="2651760" y="3840480"/>
            <a:ext cx="2103120" cy="502920"/>
            <a:chOff x="2651760" y="3840480"/>
            <a:chExt cx="2103120" cy="502920"/>
          </a:xfrm>
        </p:grpSpPr>
        <p:sp>
          <p:nvSpPr>
            <p:cNvPr id="27" name="Flecha 28_2"/>
            <p:cNvSpPr/>
            <p:nvPr/>
          </p:nvSpPr>
          <p:spPr>
            <a:xfrm>
              <a:off x="2651760" y="3840480"/>
              <a:ext cx="2103120" cy="502920"/>
            </a:xfrm>
            <a:custGeom>
              <a:avLst/>
              <a:gdLst/>
              <a:ahLst/>
              <a:cxnLst/>
              <a:rect l="0" t="0" r="r" b="b"/>
              <a:pathLst>
                <a:path w="2300" h="549" fill="none">
                  <a:moveTo>
                    <a:pt x="0" y="0"/>
                  </a:moveTo>
                  <a:lnTo>
                    <a:pt x="2300" y="549"/>
                  </a:lnTo>
                </a:path>
              </a:pathLst>
            </a:custGeom>
            <a:noFill/>
            <a:ln w="38100" cap="rnd">
              <a:solidFill>
                <a:srgbClr val="1E1E1E"/>
              </a:solidFill>
              <a:round/>
              <a:tailEnd type="triangle" w="med" len="med"/>
            </a:ln>
          </p:spPr>
        </p:sp>
        <p:sp>
          <p:nvSpPr>
            <p:cNvPr id="28" name="Rótulo glucosa · cetonas"/>
            <p:cNvSpPr/>
            <p:nvPr/>
          </p:nvSpPr>
          <p:spPr>
            <a:xfrm>
              <a:off x="3042006" y="3954780"/>
              <a:ext cx="1322628"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cetonas</a:t>
              </a:r>
              <a:endParaRPr lang="es-AR" sz="1150" dirty="0">
                <a:latin typeface="Fira Sans Condensed"/>
              </a:endParaRPr>
            </a:p>
          </p:txBody>
        </p:sp>
      </p:grpSp>
      <p:sp>
        <p:nvSpPr>
          <p:cNvPr id="29" name="!!Mapa elemento 5"/>
          <p:cNvSpPr/>
          <p:nvPr/>
        </p:nvSpPr>
        <p:spPr>
          <a:xfrm>
            <a:off x="5806440" y="3931920"/>
            <a:ext cx="3291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Glucosuria → diuresis osmótica</a:t>
            </a:r>
            <a:r>
              <a:rPr lang="es-AR" sz="1250" dirty="0">
                <a:solidFill>
                  <a:srgbClr val="1E1E1E"/>
                </a:solidFill>
                <a:latin typeface="Fira Sans Condensed"/>
                <a:ea typeface="Fira Sans Condensed"/>
                <a:cs typeface="Fira Sans Condensed"/>
                <a:sym typeface="Fira Sans Condensed"/>
              </a:rPr>
              <a:t>: pérdida de agua, Na⁺, K⁺ → hipovolemia</a:t>
            </a:r>
            <a:endParaRPr lang="es-AR" sz="1250" dirty="0">
              <a:latin typeface="Fira Sans Condensed"/>
            </a:endParaRPr>
          </a:p>
        </p:txBody>
      </p:sp>
      <p:sp>
        <p:nvSpPr>
          <p:cNvPr id="30" name="!!Mapa elemento 6"/>
          <p:cNvSpPr/>
          <p:nvPr/>
        </p:nvSpPr>
        <p:spPr>
          <a:xfrm>
            <a:off x="2057400" y="914400"/>
            <a:ext cx="21945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Kussmaul</a:t>
            </a:r>
            <a:r>
              <a:rPr lang="es-AR" sz="1250" dirty="0">
                <a:solidFill>
                  <a:srgbClr val="1E1E1E"/>
                </a:solidFill>
                <a:latin typeface="Fira Sans Condensed"/>
                <a:ea typeface="Fira Sans Condensed"/>
                <a:cs typeface="Fira Sans Condensed"/>
                <a:sym typeface="Fira Sans Condensed"/>
              </a:rPr>
              <a:t>: CO₂ ↓ compensa la acidemia</a:t>
            </a:r>
            <a:endParaRPr lang="es-AR" sz="1250" dirty="0">
              <a:latin typeface="Fira Sans Condensed"/>
            </a:endParaRPr>
          </a:p>
        </p:txBody>
      </p:sp>
      <p:sp>
        <p:nvSpPr>
          <p:cNvPr id="31" name="!!Mapa elemento 7"/>
          <p:cNvSpPr/>
          <p:nvPr/>
        </p:nvSpPr>
        <p:spPr>
          <a:xfrm>
            <a:off x="365760" y="5029200"/>
            <a:ext cx="402336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CETOÁCIDOS + H⁺ consumen HCO₃⁻ → ACIDEMIA</a:t>
            </a:r>
            <a:endParaRPr lang="es-AR" sz="1250" dirty="0">
              <a:latin typeface="Fira Sans Condensed"/>
            </a:endParaRPr>
          </a:p>
        </p:txBody>
      </p:sp>
      <p:sp>
        <p:nvSpPr>
          <p:cNvPr id="32" name="!!Mapa elemento 8"/>
          <p:cNvSpPr/>
          <p:nvPr/>
        </p:nvSpPr>
        <p:spPr>
          <a:xfrm>
            <a:off x="5806440" y="4983480"/>
            <a:ext cx="3291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K⁺ sale de la célula · K⁺ total ↓</a:t>
            </a:r>
            <a:endParaRPr lang="es-AR" sz="1250" dirty="0">
              <a:latin typeface="Fira Sans Condensed"/>
            </a:endParaRPr>
          </a:p>
        </p:txBody>
      </p:sp>
      <p:sp>
        <p:nvSpPr>
          <p:cNvPr id="4"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MAPA 3 · DM1 DESCOMPENSADA · RIÑÓN, PULMÓN Y ELECTROLITOS</a:t>
            </a:r>
            <a:endParaRPr lang="es-AR" sz="2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62</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500"/>
                                        <p:tgtEl>
                                          <p:spTgt spid="26"/>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p:cTn id="10" dur="500" fill="hold"/>
                                        <p:tgtEl>
                                          <p:spTgt spid="29"/>
                                        </p:tgtEl>
                                        <p:attrNameLst>
                                          <p:attrName>ppt_w</p:attrName>
                                        </p:attrNameLst>
                                      </p:cBhvr>
                                      <p:tavLst>
                                        <p:tav tm="0">
                                          <p:val>
                                            <p:fltVal val="0"/>
                                          </p:val>
                                        </p:tav>
                                        <p:tav tm="100000">
                                          <p:val>
                                            <p:strVal val="#ppt_w"/>
                                          </p:val>
                                        </p:tav>
                                      </p:tavLst>
                                    </p:anim>
                                    <p:anim calcmode="lin" valueType="num">
                                      <p:cBhvr>
                                        <p:cTn id="11" dur="500" fill="hold"/>
                                        <p:tgtEl>
                                          <p:spTgt spid="29"/>
                                        </p:tgtEl>
                                        <p:attrNameLst>
                                          <p:attrName>ppt_h</p:attrName>
                                        </p:attrNameLst>
                                      </p:cBhvr>
                                      <p:tavLst>
                                        <p:tav tm="0">
                                          <p:val>
                                            <p:fltVal val="0"/>
                                          </p:val>
                                        </p:tav>
                                        <p:tav tm="100000">
                                          <p:val>
                                            <p:strVal val="#ppt_h"/>
                                          </p:val>
                                        </p:tav>
                                      </p:tavLst>
                                    </p:anim>
                                    <p:animEffect transition="in" filter="fade">
                                      <p:cBhvr>
                                        <p:cTn id="12" dur="500"/>
                                        <p:tgtEl>
                                          <p:spTgt spid="29"/>
                                        </p:tgtEl>
                                      </p:cBhvr>
                                    </p:animEffect>
                                  </p:childTnLst>
                                </p:cTn>
                              </p:par>
                            </p:childTnLst>
                          </p:cTn>
                        </p:par>
                      </p:childTnLst>
                    </p:cTn>
                  </p:par>
                  <p:par>
                    <p:cTn id="21" fill="hold">
                      <p:stCondLst>
                        <p:cond delay="indefinite"/>
                      </p:stCondLst>
                      <p:childTnLst>
                        <p:par>
                          <p:cTn id="20"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childTnLst>
                          </p:cTn>
                        </p:par>
                      </p:childTnLst>
                    </p:cTn>
                  </p:par>
                  <p:par>
                    <p:cTn id="28" fill="hold">
                      <p:stCondLst>
                        <p:cond delay="indefinite"/>
                      </p:stCondLst>
                      <p:childTnLst>
                        <p:par>
                          <p:cTn id="27"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childTnLst>
                          </p:cTn>
                        </p:par>
                      </p:childTnLst>
                    </p:cTn>
                  </p:par>
                  <p:par>
                    <p:cTn id="35" fill="hold">
                      <p:stCondLst>
                        <p:cond delay="indefinite"/>
                      </p:stCondLst>
                      <p:childTnLst>
                        <p:par>
                          <p:cTn id="34"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p:cTn id="31" dur="500" fill="hold"/>
                                        <p:tgtEl>
                                          <p:spTgt spid="32"/>
                                        </p:tgtEl>
                                        <p:attrNameLst>
                                          <p:attrName>ppt_w</p:attrName>
                                        </p:attrNameLst>
                                      </p:cBhvr>
                                      <p:tavLst>
                                        <p:tav tm="0">
                                          <p:val>
                                            <p:fltVal val="0"/>
                                          </p:val>
                                        </p:tav>
                                        <p:tav tm="100000">
                                          <p:val>
                                            <p:strVal val="#ppt_w"/>
                                          </p:val>
                                        </p:tav>
                                      </p:tavLst>
                                    </p:anim>
                                    <p:anim calcmode="lin" valueType="num">
                                      <p:cBhvr>
                                        <p:cTn id="32" dur="500" fill="hold"/>
                                        <p:tgtEl>
                                          <p:spTgt spid="32"/>
                                        </p:tgtEl>
                                        <p:attrNameLst>
                                          <p:attrName>ppt_h</p:attrName>
                                        </p:attrNameLst>
                                      </p:cBhvr>
                                      <p:tavLst>
                                        <p:tav tm="0">
                                          <p:val>
                                            <p:fltVal val="0"/>
                                          </p:val>
                                        </p:tav>
                                        <p:tav tm="100000">
                                          <p:val>
                                            <p:strVal val="#ppt_h"/>
                                          </p:val>
                                        </p:tav>
                                      </p:tavLst>
                                    </p:anim>
                                    <p:animEffect transition="in" filter="fade">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PÁNCREAS" descr="Ilustración biomédica (Servier Medical Art, CC BY)"/>
          <p:cNvPicPr>
            <a:picLocks noChangeAspect="1"/>
          </p:cNvPicPr>
          <p:nvPr/>
        </p:nvPicPr>
        <p:blipFill>
          <a:blip r:embed="rId2"/>
          <a:stretch>
            <a:fillRect/>
          </a:stretch>
        </p:blipFill>
        <p:spPr>
          <a:xfrm>
            <a:off x="4343400" y="960120"/>
            <a:ext cx="2103120" cy="872795"/>
          </a:xfrm>
          <a:prstGeom prst="rect">
            <a:avLst/>
          </a:prstGeom>
        </p:spPr>
      </p:pic>
      <p:sp>
        <p:nvSpPr>
          <p:cNvPr id="7" name="!!Rótulo órgano PÁNCREAS"/>
          <p:cNvSpPr/>
          <p:nvPr/>
        </p:nvSpPr>
        <p:spPr>
          <a:xfrm>
            <a:off x="4800600" y="182880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2743200"/>
            <a:ext cx="2286000" cy="1658744"/>
          </a:xfrm>
          <a:prstGeom prst="rect">
            <a:avLst/>
          </a:prstGeom>
        </p:spPr>
      </p:pic>
      <p:sp>
        <p:nvSpPr>
          <p:cNvPr id="9" name="!!Rótulo órgano HÍGADO"/>
          <p:cNvSpPr/>
          <p:nvPr/>
        </p:nvSpPr>
        <p:spPr>
          <a:xfrm>
            <a:off x="777240" y="44348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ADIPOSO" descr="Ilustración biomédica (Servier Medical Art, CC BY)"/>
          <p:cNvPicPr>
            <a:picLocks noChangeAspect="1"/>
          </p:cNvPicPr>
          <p:nvPr/>
        </p:nvPicPr>
        <p:blipFill>
          <a:blip r:embed="rId4"/>
          <a:stretch>
            <a:fillRect/>
          </a:stretch>
        </p:blipFill>
        <p:spPr>
          <a:xfrm>
            <a:off x="9966960" y="960120"/>
            <a:ext cx="1645920" cy="1678287"/>
          </a:xfrm>
          <a:prstGeom prst="rect">
            <a:avLst/>
          </a:prstGeom>
        </p:spPr>
      </p:pic>
      <p:sp>
        <p:nvSpPr>
          <p:cNvPr id="11" name="!!Rótulo órgano ADIPOSO"/>
          <p:cNvSpPr/>
          <p:nvPr/>
        </p:nvSpPr>
        <p:spPr>
          <a:xfrm>
            <a:off x="10058400" y="265176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2" name="!!Órgano MÚSCULO" descr="Ilustración biomédica (Servier Medical Art, CC BY)"/>
          <p:cNvPicPr>
            <a:picLocks noChangeAspect="1"/>
          </p:cNvPicPr>
          <p:nvPr/>
        </p:nvPicPr>
        <p:blipFill>
          <a:blip r:embed="rId5"/>
          <a:stretch>
            <a:fillRect/>
          </a:stretch>
        </p:blipFill>
        <p:spPr>
          <a:xfrm>
            <a:off x="9601200" y="3291840"/>
            <a:ext cx="2194560" cy="1018903"/>
          </a:xfrm>
          <a:prstGeom prst="rect">
            <a:avLst/>
          </a:prstGeom>
        </p:spPr>
      </p:pic>
      <p:sp>
        <p:nvSpPr>
          <p:cNvPr id="13" name="!!Rótulo órgano MÚSCULO"/>
          <p:cNvSpPr/>
          <p:nvPr/>
        </p:nvSpPr>
        <p:spPr>
          <a:xfrm>
            <a:off x="10058400" y="434340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4" name="!!Órgano RIÑÓN" descr="Ilustración biomédica (Servier Medical Art, CC BY)"/>
          <p:cNvPicPr>
            <a:picLocks noChangeAspect="1"/>
          </p:cNvPicPr>
          <p:nvPr/>
        </p:nvPicPr>
        <p:blipFill>
          <a:blip r:embed="rId6"/>
          <a:stretch>
            <a:fillRect/>
          </a:stretch>
        </p:blipFill>
        <p:spPr>
          <a:xfrm>
            <a:off x="4800600" y="3931920"/>
            <a:ext cx="777240" cy="1375646"/>
          </a:xfrm>
          <a:prstGeom prst="rect">
            <a:avLst/>
          </a:prstGeom>
        </p:spPr>
      </p:pic>
      <p:sp>
        <p:nvSpPr>
          <p:cNvPr id="15" name="!!Rótulo órgano RIÑÓN"/>
          <p:cNvSpPr/>
          <p:nvPr/>
        </p:nvSpPr>
        <p:spPr>
          <a:xfrm>
            <a:off x="4709160" y="534924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6" name="!!Órgano PULMÓN" descr="Ilustración biomédica (Servier Medical Art, CC BY)"/>
          <p:cNvPicPr>
            <a:picLocks noChangeAspect="1"/>
          </p:cNvPicPr>
          <p:nvPr/>
        </p:nvPicPr>
        <p:blipFill>
          <a:blip r:embed="rId7"/>
          <a:stretch>
            <a:fillRect/>
          </a:stretch>
        </p:blipFill>
        <p:spPr>
          <a:xfrm>
            <a:off x="502920" y="868680"/>
            <a:ext cx="1463040" cy="1673412"/>
          </a:xfrm>
          <a:prstGeom prst="rect">
            <a:avLst/>
          </a:prstGeom>
        </p:spPr>
      </p:pic>
      <p:sp>
        <p:nvSpPr>
          <p:cNvPr id="17" name="!!Rótulo órgano PULMÓN"/>
          <p:cNvSpPr/>
          <p:nvPr/>
        </p:nvSpPr>
        <p:spPr>
          <a:xfrm>
            <a:off x="548640" y="2240280"/>
            <a:ext cx="89137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PULMÓN</a:t>
            </a:r>
            <a:endParaRPr lang="es-AR" sz="1250" dirty="0">
              <a:latin typeface="Fira Sans Condensed"/>
            </a:endParaRPr>
          </a:p>
        </p:txBody>
      </p:sp>
      <p:sp>
        <p:nvSpPr>
          <p:cNvPr id="18" name="!!Mapa elemento 0"/>
          <p:cNvSpPr/>
          <p:nvPr/>
        </p:nvSpPr>
        <p:spPr>
          <a:xfrm>
            <a:off x="6766560" y="1143000"/>
            <a:ext cx="2926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INSULINA ≈ 0 · glucagón ↑ · estrés ↑</a:t>
            </a:r>
            <a:endParaRPr lang="es-AR" sz="1200" dirty="0">
              <a:latin typeface="Fira Sans Condensed"/>
            </a:endParaRPr>
          </a:p>
        </p:txBody>
      </p:sp>
      <p:grpSp>
        <p:nvGrpSpPr>
          <p:cNvPr id="19" name="!!Mapa elemento 1"/>
          <p:cNvGrpSpPr/>
          <p:nvPr/>
        </p:nvGrpSpPr>
        <p:grpSpPr>
          <a:xfrm>
            <a:off x="2697480" y="1645920"/>
            <a:ext cx="7223760" cy="1417320"/>
            <a:chOff x="2697480" y="1645920"/>
            <a:chExt cx="7223760" cy="1417320"/>
          </a:xfrm>
        </p:grpSpPr>
        <p:sp>
          <p:nvSpPr>
            <p:cNvPr id="20" name="Flecha 19_2"/>
            <p:cNvSpPr/>
            <p:nvPr/>
          </p:nvSpPr>
          <p:spPr>
            <a:xfrm>
              <a:off x="2697480" y="1645920"/>
              <a:ext cx="7223760" cy="1417320"/>
            </a:xfrm>
            <a:custGeom>
              <a:avLst/>
              <a:gdLst/>
              <a:ahLst/>
              <a:cxnLst/>
              <a:rect l="0" t="0" r="r" b="b"/>
              <a:pathLst>
                <a:path w="7899" h="1550" fill="none">
                  <a:moveTo>
                    <a:pt x="7899" y="0"/>
                  </a:moveTo>
                  <a:lnTo>
                    <a:pt x="0" y="1550"/>
                  </a:lnTo>
                </a:path>
              </a:pathLst>
            </a:custGeom>
            <a:noFill/>
            <a:ln w="38100" cap="rnd">
              <a:solidFill>
                <a:srgbClr val="2563B0"/>
              </a:solidFill>
              <a:prstDash val="dash"/>
              <a:round/>
              <a:tailEnd type="triangle" w="med" len="med"/>
            </a:ln>
          </p:spPr>
        </p:sp>
        <p:sp>
          <p:nvSpPr>
            <p:cNvPr id="21" name="Rótulo AGNE · glicerol"/>
            <p:cNvSpPr/>
            <p:nvPr/>
          </p:nvSpPr>
          <p:spPr>
            <a:xfrm>
              <a:off x="5486400" y="2057400"/>
              <a:ext cx="114739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glicerol</a:t>
              </a:r>
              <a:endParaRPr lang="es-AR" sz="1150" dirty="0">
                <a:latin typeface="Fira Sans Condensed"/>
              </a:endParaRPr>
            </a:p>
          </p:txBody>
        </p:sp>
      </p:grpSp>
      <p:grpSp>
        <p:nvGrpSpPr>
          <p:cNvPr id="22" name="!!Mapa elemento 2"/>
          <p:cNvGrpSpPr/>
          <p:nvPr/>
        </p:nvGrpSpPr>
        <p:grpSpPr>
          <a:xfrm>
            <a:off x="2697480" y="3337560"/>
            <a:ext cx="6858000" cy="502920"/>
            <a:chOff x="2697480" y="3337560"/>
            <a:chExt cx="6858000" cy="502920"/>
          </a:xfrm>
        </p:grpSpPr>
        <p:sp>
          <p:nvSpPr>
            <p:cNvPr id="23" name="Flecha 23_2"/>
            <p:cNvSpPr/>
            <p:nvPr/>
          </p:nvSpPr>
          <p:spPr>
            <a:xfrm>
              <a:off x="2697480" y="3566160"/>
              <a:ext cx="6858000" cy="274320"/>
            </a:xfrm>
            <a:custGeom>
              <a:avLst/>
              <a:gdLst/>
              <a:ahLst/>
              <a:cxnLst/>
              <a:rect l="0" t="0" r="r" b="b"/>
              <a:pathLst>
                <a:path w="7499" h="300" fill="none">
                  <a:moveTo>
                    <a:pt x="7499" y="300"/>
                  </a:moveTo>
                  <a:lnTo>
                    <a:pt x="0" y="0"/>
                  </a:lnTo>
                </a:path>
              </a:pathLst>
            </a:custGeom>
            <a:noFill/>
            <a:ln w="38100" cap="rnd">
              <a:solidFill>
                <a:srgbClr val="2563B0"/>
              </a:solidFill>
              <a:prstDash val="dash"/>
              <a:round/>
              <a:tailEnd type="triangle" w="med" len="med"/>
            </a:ln>
          </p:spPr>
        </p:sp>
        <p:sp>
          <p:nvSpPr>
            <p:cNvPr id="24" name="Rótulo alanina"/>
            <p:cNvSpPr/>
            <p:nvPr/>
          </p:nvSpPr>
          <p:spPr>
            <a:xfrm>
              <a:off x="6309360" y="3337560"/>
              <a:ext cx="69702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alanina</a:t>
              </a:r>
              <a:endParaRPr lang="es-AR" sz="1150" dirty="0">
                <a:latin typeface="Fira Sans Condensed"/>
              </a:endParaRPr>
            </a:p>
          </p:txBody>
        </p:sp>
      </p:grpSp>
      <p:sp>
        <p:nvSpPr>
          <p:cNvPr id="25" name="!!Mapa elemento 3"/>
          <p:cNvSpPr/>
          <p:nvPr/>
        </p:nvSpPr>
        <p:spPr>
          <a:xfrm>
            <a:off x="2834640" y="2788920"/>
            <a:ext cx="182880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Glucosa ↑↑ · cetonas ↑↑</a:t>
            </a:r>
            <a:endParaRPr lang="es-AR" sz="1250" dirty="0">
              <a:latin typeface="Fira Sans Condensed"/>
            </a:endParaRPr>
          </a:p>
        </p:txBody>
      </p:sp>
      <p:grpSp>
        <p:nvGrpSpPr>
          <p:cNvPr id="26" name="!!Mapa elemento 4"/>
          <p:cNvGrpSpPr/>
          <p:nvPr/>
        </p:nvGrpSpPr>
        <p:grpSpPr>
          <a:xfrm>
            <a:off x="2651760" y="3840480"/>
            <a:ext cx="2103120" cy="502920"/>
            <a:chOff x="2651760" y="3840480"/>
            <a:chExt cx="2103120" cy="502920"/>
          </a:xfrm>
        </p:grpSpPr>
        <p:sp>
          <p:nvSpPr>
            <p:cNvPr id="27" name="Flecha 28_2"/>
            <p:cNvSpPr/>
            <p:nvPr/>
          </p:nvSpPr>
          <p:spPr>
            <a:xfrm>
              <a:off x="2651760" y="3840480"/>
              <a:ext cx="2103120" cy="502920"/>
            </a:xfrm>
            <a:custGeom>
              <a:avLst/>
              <a:gdLst/>
              <a:ahLst/>
              <a:cxnLst/>
              <a:rect l="0" t="0" r="r" b="b"/>
              <a:pathLst>
                <a:path w="2300" h="549" fill="none">
                  <a:moveTo>
                    <a:pt x="0" y="0"/>
                  </a:moveTo>
                  <a:lnTo>
                    <a:pt x="2300" y="549"/>
                  </a:lnTo>
                </a:path>
              </a:pathLst>
            </a:custGeom>
            <a:noFill/>
            <a:ln w="38100" cap="rnd">
              <a:solidFill>
                <a:srgbClr val="1E1E1E"/>
              </a:solidFill>
              <a:round/>
              <a:tailEnd type="triangle" w="med" len="med"/>
            </a:ln>
          </p:spPr>
        </p:sp>
        <p:sp>
          <p:nvSpPr>
            <p:cNvPr id="28" name="Rótulo glucosa · cetonas"/>
            <p:cNvSpPr/>
            <p:nvPr/>
          </p:nvSpPr>
          <p:spPr>
            <a:xfrm>
              <a:off x="3042006" y="3954780"/>
              <a:ext cx="1322628"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glucosa · cetonas</a:t>
              </a:r>
              <a:endParaRPr lang="es-AR" sz="1150" dirty="0">
                <a:latin typeface="Fira Sans Condensed"/>
              </a:endParaRPr>
            </a:p>
          </p:txBody>
        </p:sp>
      </p:grpSp>
      <p:sp>
        <p:nvSpPr>
          <p:cNvPr id="29" name="!!Mapa elemento 5"/>
          <p:cNvSpPr/>
          <p:nvPr/>
        </p:nvSpPr>
        <p:spPr>
          <a:xfrm>
            <a:off x="5806440" y="3931920"/>
            <a:ext cx="32918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Glucosuria → diuresis osmótica</a:t>
            </a:r>
            <a:r>
              <a:rPr lang="es-AR" sz="1250" dirty="0">
                <a:solidFill>
                  <a:srgbClr val="1E1E1E"/>
                </a:solidFill>
                <a:latin typeface="Fira Sans Condensed"/>
                <a:ea typeface="Fira Sans Condensed"/>
                <a:cs typeface="Fira Sans Condensed"/>
                <a:sym typeface="Fira Sans Condensed"/>
              </a:rPr>
              <a:t>: pérdida de agua, Na⁺, K⁺ → hipovolemia</a:t>
            </a:r>
            <a:endParaRPr lang="es-AR" sz="1250" dirty="0">
              <a:latin typeface="Fira Sans Condensed"/>
            </a:endParaRPr>
          </a:p>
        </p:txBody>
      </p:sp>
      <p:sp>
        <p:nvSpPr>
          <p:cNvPr id="30" name="!!Mapa elemento 6"/>
          <p:cNvSpPr/>
          <p:nvPr/>
        </p:nvSpPr>
        <p:spPr>
          <a:xfrm>
            <a:off x="2057400" y="914400"/>
            <a:ext cx="21945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Kussmaul</a:t>
            </a:r>
            <a:r>
              <a:rPr lang="es-AR" sz="1250" dirty="0">
                <a:solidFill>
                  <a:srgbClr val="1E1E1E"/>
                </a:solidFill>
                <a:latin typeface="Fira Sans Condensed"/>
                <a:ea typeface="Fira Sans Condensed"/>
                <a:cs typeface="Fira Sans Condensed"/>
                <a:sym typeface="Fira Sans Condensed"/>
              </a:rPr>
              <a:t>: CO₂ ↓ compensa la acidemia</a:t>
            </a:r>
            <a:endParaRPr lang="es-AR" sz="1250" dirty="0">
              <a:latin typeface="Fira Sans Condensed"/>
            </a:endParaRPr>
          </a:p>
        </p:txBody>
      </p:sp>
      <p:sp>
        <p:nvSpPr>
          <p:cNvPr id="31" name="!!Mapa elemento 7"/>
          <p:cNvSpPr/>
          <p:nvPr/>
        </p:nvSpPr>
        <p:spPr>
          <a:xfrm>
            <a:off x="365760" y="5029200"/>
            <a:ext cx="402336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CETOÁCIDOS + H⁺ consumen HCO₃⁻ → ACIDEMIA</a:t>
            </a:r>
            <a:endParaRPr lang="es-AR" sz="1250" dirty="0">
              <a:latin typeface="Fira Sans Condensed"/>
            </a:endParaRPr>
          </a:p>
        </p:txBody>
      </p:sp>
      <p:sp>
        <p:nvSpPr>
          <p:cNvPr id="32" name="!!Mapa elemento 8"/>
          <p:cNvSpPr/>
          <p:nvPr/>
        </p:nvSpPr>
        <p:spPr>
          <a:xfrm>
            <a:off x="5806440" y="4983480"/>
            <a:ext cx="329184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K⁺ sale de la célula · K⁺ total ↓</a:t>
            </a:r>
            <a:endParaRPr lang="es-AR" sz="1250" dirty="0">
              <a:latin typeface="Fira Sans Condensed"/>
            </a:endParaRPr>
          </a:p>
        </p:txBody>
      </p:sp>
      <p:sp>
        <p:nvSpPr>
          <p:cNvPr id="33" name="!!Conclusión mapa"/>
          <p:cNvSpPr/>
          <p:nvPr/>
        </p:nvSpPr>
        <p:spPr>
          <a:xfrm>
            <a:off x="365760" y="5806440"/>
            <a:ext cx="1143000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Insulinopenia → </a:t>
            </a:r>
            <a:r>
              <a:rPr lang="es-AR" sz="1500" b="1" dirty="0">
                <a:solidFill>
                  <a:srgbClr val="FFFFFF"/>
                </a:solidFill>
                <a:latin typeface="Fira Sans Condensed"/>
                <a:ea typeface="Fira Sans Condensed"/>
                <a:cs typeface="Fira Sans Condensed"/>
                <a:sym typeface="Fira Sans Condensed"/>
              </a:rPr>
              <a:t>hiperglucemia + cetogénesis</a:t>
            </a:r>
            <a:r>
              <a:rPr lang="es-AR" sz="1500" dirty="0">
                <a:solidFill>
                  <a:srgbClr val="FFFFFF"/>
                </a:solidFill>
                <a:latin typeface="Fira Sans Condensed"/>
                <a:ea typeface="Fira Sans Condensed"/>
                <a:cs typeface="Fira Sans Condensed"/>
                <a:sym typeface="Fira Sans Condensed"/>
              </a:rPr>
              <a:t> → riñón, agua/electrolitos y ácido-base.</a:t>
            </a:r>
            <a:endParaRPr lang="es-AR" sz="1500" dirty="0">
              <a:latin typeface="Fira Sans Condensed"/>
            </a:endParaRPr>
          </a:p>
        </p:txBody>
      </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MAPA 3 · DM1 DESCOMPENSADA · SISTEMA COMPLETO</a:t>
            </a:r>
            <a:endParaRPr lang="es-AR" sz="30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3"/>
                                        </p:tgtEl>
                                        <p:attrNameLst>
                                          <p:attrName>style.visibility</p:attrName>
                                        </p:attrNameLst>
                                      </p:cBhvr>
                                      <p:to>
                                        <p:strVal val="visible"/>
                                      </p:to>
                                    </p:set>
                                    <p:anim calcmode="lin" valueType="num">
                                      <p:cBhvr>
                                        <p:cTn id="5" dur="500" fill="hold"/>
                                        <p:tgtEl>
                                          <p:spTgt spid="33"/>
                                        </p:tgtEl>
                                        <p:attrNameLst>
                                          <p:attrName>ppt_w</p:attrName>
                                        </p:attrNameLst>
                                      </p:cBhvr>
                                      <p:tavLst>
                                        <p:tav tm="0">
                                          <p:val>
                                            <p:fltVal val="0"/>
                                          </p:val>
                                        </p:tav>
                                        <p:tav tm="100000">
                                          <p:val>
                                            <p:strVal val="#ppt_w"/>
                                          </p:val>
                                        </p:tav>
                                      </p:tavLst>
                                    </p:anim>
                                    <p:anim calcmode="lin" valueType="num">
                                      <p:cBhvr>
                                        <p:cTn id="6" dur="500" fill="hold"/>
                                        <p:tgtEl>
                                          <p:spTgt spid="33"/>
                                        </p:tgtEl>
                                        <p:attrNameLst>
                                          <p:attrName>ppt_h</p:attrName>
                                        </p:attrNameLst>
                                      </p:cBhvr>
                                      <p:tavLst>
                                        <p:tav tm="0">
                                          <p:val>
                                            <p:fltVal val="0"/>
                                          </p:val>
                                        </p:tav>
                                        <p:tav tm="100000">
                                          <p:val>
                                            <p:strVal val="#ppt_h"/>
                                          </p:val>
                                        </p:tav>
                                      </p:tavLst>
                                    </p:anim>
                                    <p:animEffect transition="in" filter="fad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480060" y="1303020"/>
            <a:ext cx="2331720" cy="233172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Sin insulina, </a:t>
              </a:r>
              <a:r>
                <a:rPr lang="es-AR" sz="1350" b="1" dirty="0">
                  <a:solidFill>
                    <a:srgbClr val="1E1E1E"/>
                  </a:solidFill>
                  <a:latin typeface="Fira Sans Condensed"/>
                  <a:ea typeface="Fira Sans Condensed"/>
                  <a:cs typeface="Fira Sans Condensed"/>
                  <a:sym typeface="Fira Sans Condensed"/>
                </a:rPr>
                <a:t>PKA</a:t>
              </a:r>
              <a:r>
                <a:rPr lang="es-AR" sz="1350" dirty="0">
                  <a:solidFill>
                    <a:srgbClr val="1E1E1E"/>
                  </a:solidFill>
                  <a:latin typeface="Fira Sans Condensed"/>
                  <a:ea typeface="Fira Sans Condensed"/>
                  <a:cs typeface="Fira Sans Condensed"/>
                  <a:sym typeface="Fira Sans Condensed"/>
                </a:rPr>
                <a:t> activa (catecolaminas) fosforila </a:t>
              </a:r>
              <a:r>
                <a:rPr lang="es-AR" sz="1350" b="1" dirty="0">
                  <a:solidFill>
                    <a:srgbClr val="1E1E1E"/>
                  </a:solidFill>
                  <a:latin typeface="Fira Sans Condensed"/>
                  <a:ea typeface="Fira Sans Condensed"/>
                  <a:cs typeface="Fira Sans Condensed"/>
                  <a:sym typeface="Fira Sans Condensed"/>
                </a:rPr>
                <a:t>perilipina 1</a:t>
              </a:r>
              <a:r>
                <a:rPr lang="es-AR" sz="1350" dirty="0">
                  <a:solidFill>
                    <a:srgbClr val="1E1E1E"/>
                  </a:solidFill>
                  <a:latin typeface="Fira Sans Condensed"/>
                  <a:ea typeface="Fira Sans Condensed"/>
                  <a:cs typeface="Fira Sans Condensed"/>
                  <a:sym typeface="Fira Sans Condensed"/>
                </a:rPr>
                <a:t> y </a:t>
              </a:r>
              <a:r>
                <a:rPr lang="es-AR" sz="1350" b="1" dirty="0">
                  <a:solidFill>
                    <a:srgbClr val="1E1E1E"/>
                  </a:solidFill>
                  <a:latin typeface="Fira Sans Condensed"/>
                  <a:ea typeface="Fira Sans Condensed"/>
                  <a:cs typeface="Fira Sans Condensed"/>
                  <a:sym typeface="Fira Sans Condensed"/>
                </a:rPr>
                <a:t>HSL</a:t>
              </a:r>
              <a:r>
                <a:rPr lang="es-AR" sz="1350" dirty="0">
                  <a:solidFill>
                    <a:srgbClr val="1E1E1E"/>
                  </a:solidFill>
                  <a:latin typeface="Fira Sans Condensed"/>
                  <a:ea typeface="Fira Sans Condensed"/>
                  <a:cs typeface="Fira Sans Condensed"/>
                  <a:sym typeface="Fira Sans Condensed"/>
                </a:rPr>
                <a:t>; </a:t>
              </a:r>
              <a:r>
                <a:rPr lang="es-AR" sz="1350" b="1" dirty="0">
                  <a:solidFill>
                    <a:srgbClr val="1E1E1E"/>
                  </a:solidFill>
                  <a:latin typeface="Fira Sans Condensed"/>
                  <a:ea typeface="Fira Sans Condensed"/>
                  <a:cs typeface="Fira Sans Condensed"/>
                  <a:sym typeface="Fira Sans Condensed"/>
                </a:rPr>
                <a:t>ATGL</a:t>
              </a:r>
              <a:r>
                <a:rPr lang="es-AR" sz="1350" dirty="0">
                  <a:solidFill>
                    <a:srgbClr val="1E1E1E"/>
                  </a:solidFill>
                  <a:latin typeface="Fira Sans Condensed"/>
                  <a:ea typeface="Fira Sans Condensed"/>
                  <a:cs typeface="Fira Sans Condensed"/>
                  <a:sym typeface="Fira Sans Condensed"/>
                </a:rPr>
                <a:t> (con CGI-58) inicia la hidrólisis del TAG.</a:t>
              </a:r>
              <a:endParaRPr lang="es-AR" sz="1350" dirty="0">
                <a:latin typeface="Fira Sans Condensed"/>
              </a:endParaRPr>
            </a:p>
          </p:txBody>
        </p:sp>
        <p:sp>
          <p:nvSpPr>
            <p:cNvPr id="40" name="Forma 39"/>
            <p:cNvSpPr/>
            <p:nvPr/>
          </p:nvSpPr>
          <p:spPr>
            <a:xfrm>
              <a:off x="8046720" y="2788920"/>
              <a:ext cx="169958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FRENO LIBERADO</a:t>
              </a:r>
              <a:endParaRPr lang="es-AR" sz="1400" dirty="0">
                <a:latin typeface="Fira Sans Condensed"/>
              </a:endParaRPr>
            </a:p>
          </p:txBody>
        </p:sp>
      </p:grpSp>
      <p:sp>
        <p:nvSpPr>
          <p:cNvPr id="41" name="!!AG 0"/>
          <p:cNvSpPr/>
          <p:nvPr/>
        </p:nvSpPr>
        <p:spPr>
          <a:xfrm>
            <a:off x="914400" y="210312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2" name="!!AG 1"/>
          <p:cNvSpPr/>
          <p:nvPr/>
        </p:nvSpPr>
        <p:spPr>
          <a:xfrm>
            <a:off x="1325880" y="242316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3" name="!!AG 2"/>
          <p:cNvSpPr/>
          <p:nvPr/>
        </p:nvSpPr>
        <p:spPr>
          <a:xfrm>
            <a:off x="1737360" y="210312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4" name="!!AG 3"/>
          <p:cNvSpPr/>
          <p:nvPr/>
        </p:nvSpPr>
        <p:spPr>
          <a:xfrm>
            <a:off x="2148840" y="242316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5" name="!!Glicerol C"/>
          <p:cNvSpPr/>
          <p:nvPr/>
        </p:nvSpPr>
        <p:spPr>
          <a:xfrm>
            <a:off x="2103120" y="2926080"/>
            <a:ext cx="365760" cy="365760"/>
          </a:xfrm>
          <a:prstGeom prst="ellipse">
            <a:avLst/>
          </a:prstGeom>
          <a:gradFill rotWithShape="1">
            <a:gsLst>
              <a:gs pos="0">
                <a:srgbClr val="F6B473"/>
              </a:gs>
              <a:gs pos="55000">
                <a:srgbClr val="F28C28"/>
              </a:gs>
              <a:gs pos="100000">
                <a:srgbClr val="C17020"/>
              </a:gs>
            </a:gsLst>
            <a:path path="circle">
              <a:fillToRect l="32000" t="28000" r="68000" b="72000"/>
            </a:path>
          </a:gradFill>
          <a:ln w="12700" cap="rnd">
            <a:solidFill>
              <a:srgbClr val="854D16"/>
            </a:solidFill>
            <a:round/>
          </a:ln>
        </p:spPr>
        <p:txBody>
          <a:bodyPr wrap="square" lIns="0" tIns="0" rIns="0" bIns="0" anchor="ctr" rtlCol="0">
            <a:noAutofit/>
          </a:bodyPr>
          <a:lstStyle/>
          <a:p>
            <a:pPr algn="ctr">
              <a:spcAft>
                <a:spcPts val="300"/>
              </a:spcAft>
              <a:buNone/>
            </a:pPr>
            <a:r>
              <a:rPr lang="es-AR" sz="1040" b="1" dirty="0">
                <a:solidFill>
                  <a:srgbClr val="1E1E1E"/>
                </a:solidFill>
                <a:latin typeface="Fira Sans Condensed"/>
                <a:ea typeface="Fira Sans Condensed"/>
                <a:cs typeface="Fira Sans Condensed"/>
                <a:sym typeface="Fira Sans Condensed"/>
              </a:rPr>
              <a:t>Gli</a:t>
            </a:r>
            <a:endParaRPr lang="es-AR" sz="104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C · 1 · INSULINOPENIA Y LIPÓLISIS</a:t>
            </a:r>
            <a:endParaRPr lang="es-AR" sz="3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4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 calcmode="lin" valueType="num">
                                      <p:cBhvr>
                                        <p:cTn id="5" dur="250" fill="hold"/>
                                        <p:tgtEl>
                                          <p:spTgt spid="41"/>
                                        </p:tgtEl>
                                        <p:attrNameLst>
                                          <p:attrName>ppt_w</p:attrName>
                                        </p:attrNameLst>
                                      </p:cBhvr>
                                      <p:tavLst>
                                        <p:tav tm="0">
                                          <p:val>
                                            <p:fltVal val="0"/>
                                          </p:val>
                                        </p:tav>
                                        <p:tav tm="100000">
                                          <p:val>
                                            <p:strVal val="#ppt_w"/>
                                          </p:val>
                                        </p:tav>
                                      </p:tavLst>
                                    </p:anim>
                                    <p:anim calcmode="lin" valueType="num">
                                      <p:cBhvr>
                                        <p:cTn id="6" dur="250" fill="hold"/>
                                        <p:tgtEl>
                                          <p:spTgt spid="41"/>
                                        </p:tgtEl>
                                        <p:attrNameLst>
                                          <p:attrName>ppt_h</p:attrName>
                                        </p:attrNameLst>
                                      </p:cBhvr>
                                      <p:tavLst>
                                        <p:tav tm="0">
                                          <p:val>
                                            <p:fltVal val="0"/>
                                          </p:val>
                                        </p:tav>
                                        <p:tav tm="100000">
                                          <p:val>
                                            <p:strVal val="#ppt_h"/>
                                          </p:val>
                                        </p:tav>
                                      </p:tavLst>
                                    </p:anim>
                                    <p:animEffect transition="in" filter="fade">
                                      <p:cBhvr>
                                        <p:cTn id="7" dur="250"/>
                                        <p:tgtEl>
                                          <p:spTgt spid="41"/>
                                        </p:tgtEl>
                                      </p:cBhvr>
                                    </p:animEffect>
                                  </p:childTnLst>
                                </p:cTn>
                              </p:par>
                            </p:childTnLst>
                          </p:cTn>
                        </p:par>
                        <p:par>
                          <p:cTn id="14" fill="hold">
                            <p:stCondLst>
                              <p:cond delay="250"/>
                            </p:stCondLst>
                            <p:childTnLst>
                              <p:par>
                                <p:cTn id="9" presetID="53" presetClass="entr" presetSubtype="16"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p:cTn id="11" dur="250" fill="hold"/>
                                        <p:tgtEl>
                                          <p:spTgt spid="42"/>
                                        </p:tgtEl>
                                        <p:attrNameLst>
                                          <p:attrName>ppt_w</p:attrName>
                                        </p:attrNameLst>
                                      </p:cBhvr>
                                      <p:tavLst>
                                        <p:tav tm="0">
                                          <p:val>
                                            <p:fltVal val="0"/>
                                          </p:val>
                                        </p:tav>
                                        <p:tav tm="100000">
                                          <p:val>
                                            <p:strVal val="#ppt_w"/>
                                          </p:val>
                                        </p:tav>
                                      </p:tavLst>
                                    </p:anim>
                                    <p:anim calcmode="lin" valueType="num">
                                      <p:cBhvr>
                                        <p:cTn id="12" dur="250" fill="hold"/>
                                        <p:tgtEl>
                                          <p:spTgt spid="42"/>
                                        </p:tgtEl>
                                        <p:attrNameLst>
                                          <p:attrName>ppt_h</p:attrName>
                                        </p:attrNameLst>
                                      </p:cBhvr>
                                      <p:tavLst>
                                        <p:tav tm="0">
                                          <p:val>
                                            <p:fltVal val="0"/>
                                          </p:val>
                                        </p:tav>
                                        <p:tav tm="100000">
                                          <p:val>
                                            <p:strVal val="#ppt_h"/>
                                          </p:val>
                                        </p:tav>
                                      </p:tavLst>
                                    </p:anim>
                                    <p:animEffect transition="in" filter="fade">
                                      <p:cBhvr>
                                        <p:cTn id="13" dur="250"/>
                                        <p:tgtEl>
                                          <p:spTgt spid="42"/>
                                        </p:tgtEl>
                                      </p:cBhvr>
                                    </p:animEffect>
                                  </p:childTnLst>
                                </p:cTn>
                              </p:par>
                            </p:childTnLst>
                          </p:cTn>
                        </p:par>
                        <p:par>
                          <p:cTn id="20"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250" fill="hold"/>
                                        <p:tgtEl>
                                          <p:spTgt spid="43"/>
                                        </p:tgtEl>
                                        <p:attrNameLst>
                                          <p:attrName>ppt_w</p:attrName>
                                        </p:attrNameLst>
                                      </p:cBhvr>
                                      <p:tavLst>
                                        <p:tav tm="0">
                                          <p:val>
                                            <p:fltVal val="0"/>
                                          </p:val>
                                        </p:tav>
                                        <p:tav tm="100000">
                                          <p:val>
                                            <p:strVal val="#ppt_w"/>
                                          </p:val>
                                        </p:tav>
                                      </p:tavLst>
                                    </p:anim>
                                    <p:anim calcmode="lin" valueType="num">
                                      <p:cBhvr>
                                        <p:cTn id="18" dur="250" fill="hold"/>
                                        <p:tgtEl>
                                          <p:spTgt spid="43"/>
                                        </p:tgtEl>
                                        <p:attrNameLst>
                                          <p:attrName>ppt_h</p:attrName>
                                        </p:attrNameLst>
                                      </p:cBhvr>
                                      <p:tavLst>
                                        <p:tav tm="0">
                                          <p:val>
                                            <p:fltVal val="0"/>
                                          </p:val>
                                        </p:tav>
                                        <p:tav tm="100000">
                                          <p:val>
                                            <p:strVal val="#ppt_h"/>
                                          </p:val>
                                        </p:tav>
                                      </p:tavLst>
                                    </p:anim>
                                    <p:animEffect transition="in" filter="fade">
                                      <p:cBhvr>
                                        <p:cTn id="19" dur="250"/>
                                        <p:tgtEl>
                                          <p:spTgt spid="43"/>
                                        </p:tgtEl>
                                      </p:cBhvr>
                                    </p:animEffect>
                                  </p:childTnLst>
                                </p:cTn>
                              </p:par>
                            </p:childTnLst>
                          </p:cTn>
                        </p:par>
                        <p:par>
                          <p:cTn id="26" fill="hold">
                            <p:stCondLst>
                              <p:cond delay="750"/>
                            </p:stCondLst>
                            <p:childTnLst>
                              <p:par>
                                <p:cTn id="21" presetID="53" presetClass="entr" presetSubtype="16" fill="hold" grpId="0" nodeType="after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p:cTn id="23" dur="250" fill="hold"/>
                                        <p:tgtEl>
                                          <p:spTgt spid="44"/>
                                        </p:tgtEl>
                                        <p:attrNameLst>
                                          <p:attrName>ppt_w</p:attrName>
                                        </p:attrNameLst>
                                      </p:cBhvr>
                                      <p:tavLst>
                                        <p:tav tm="0">
                                          <p:val>
                                            <p:fltVal val="0"/>
                                          </p:val>
                                        </p:tav>
                                        <p:tav tm="100000">
                                          <p:val>
                                            <p:strVal val="#ppt_w"/>
                                          </p:val>
                                        </p:tav>
                                      </p:tavLst>
                                    </p:anim>
                                    <p:anim calcmode="lin" valueType="num">
                                      <p:cBhvr>
                                        <p:cTn id="24" dur="250" fill="hold"/>
                                        <p:tgtEl>
                                          <p:spTgt spid="44"/>
                                        </p:tgtEl>
                                        <p:attrNameLst>
                                          <p:attrName>ppt_h</p:attrName>
                                        </p:attrNameLst>
                                      </p:cBhvr>
                                      <p:tavLst>
                                        <p:tav tm="0">
                                          <p:val>
                                            <p:fltVal val="0"/>
                                          </p:val>
                                        </p:tav>
                                        <p:tav tm="100000">
                                          <p:val>
                                            <p:strVal val="#ppt_h"/>
                                          </p:val>
                                        </p:tav>
                                      </p:tavLst>
                                    </p:anim>
                                    <p:animEffect transition="in" filter="fade">
                                      <p:cBhvr>
                                        <p:cTn id="25" dur="250"/>
                                        <p:tgtEl>
                                          <p:spTgt spid="44"/>
                                        </p:tgtEl>
                                      </p:cBhvr>
                                    </p:animEffect>
                                  </p:childTnLst>
                                </p:cTn>
                              </p:par>
                            </p:childTnLst>
                          </p:cTn>
                        </p:par>
                        <p:par>
                          <p:cTn id="32"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p:cTn id="29" dur="500" fill="hold"/>
                                        <p:tgtEl>
                                          <p:spTgt spid="45"/>
                                        </p:tgtEl>
                                        <p:attrNameLst>
                                          <p:attrName>ppt_w</p:attrName>
                                        </p:attrNameLst>
                                      </p:cBhvr>
                                      <p:tavLst>
                                        <p:tav tm="0">
                                          <p:val>
                                            <p:fltVal val="0"/>
                                          </p:val>
                                        </p:tav>
                                        <p:tav tm="100000">
                                          <p:val>
                                            <p:strVal val="#ppt_w"/>
                                          </p:val>
                                        </p:tav>
                                      </p:tavLst>
                                    </p:anim>
                                    <p:anim calcmode="lin" valueType="num">
                                      <p:cBhvr>
                                        <p:cTn id="30" dur="500" fill="hold"/>
                                        <p:tgtEl>
                                          <p:spTgt spid="45"/>
                                        </p:tgtEl>
                                        <p:attrNameLst>
                                          <p:attrName>ppt_h</p:attrName>
                                        </p:attrNameLst>
                                      </p:cBhvr>
                                      <p:tavLst>
                                        <p:tav tm="0">
                                          <p:val>
                                            <p:fltVal val="0"/>
                                          </p:val>
                                        </p:tav>
                                        <p:tav tm="100000">
                                          <p:val>
                                            <p:strVal val="#ppt_h"/>
                                          </p:val>
                                        </p:tav>
                                      </p:tavLst>
                                    </p:anim>
                                    <p:animEffect transition="in" filter="fade">
                                      <p:cBhvr>
                                        <p:cTn id="3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640080" y="1463040"/>
            <a:ext cx="2011680" cy="201168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Los </a:t>
              </a:r>
              <a:r>
                <a:rPr lang="es-AR" sz="1350" b="1" dirty="0">
                  <a:solidFill>
                    <a:srgbClr val="1E1E1E"/>
                  </a:solidFill>
                  <a:latin typeface="Fira Sans Condensed"/>
                  <a:ea typeface="Fira Sans Condensed"/>
                  <a:cs typeface="Fira Sans Condensed"/>
                  <a:sym typeface="Fira Sans Condensed"/>
                </a:rPr>
                <a:t>AGNE</a:t>
              </a:r>
              <a:r>
                <a:rPr lang="es-AR" sz="1350" dirty="0">
                  <a:solidFill>
                    <a:srgbClr val="1E1E1E"/>
                  </a:solidFill>
                  <a:latin typeface="Fira Sans Condensed"/>
                  <a:ea typeface="Fira Sans Condensed"/>
                  <a:cs typeface="Fira Sans Condensed"/>
                  <a:sym typeface="Fira Sans Condensed"/>
                </a:rPr>
                <a:t> viajan unidos a </a:t>
              </a:r>
              <a:r>
                <a:rPr lang="es-AR" sz="1350" b="1" dirty="0">
                  <a:solidFill>
                    <a:srgbClr val="1E1E1E"/>
                  </a:solidFill>
                  <a:latin typeface="Fira Sans Condensed"/>
                  <a:ea typeface="Fira Sans Condensed"/>
                  <a:cs typeface="Fira Sans Condensed"/>
                  <a:sym typeface="Fira Sans Condensed"/>
                </a:rPr>
                <a:t>albúmina</a:t>
              </a:r>
              <a:r>
                <a:rPr lang="es-AR" sz="1350" dirty="0">
                  <a:solidFill>
                    <a:srgbClr val="1E1E1E"/>
                  </a:solidFill>
                  <a:latin typeface="Fira Sans Condensed"/>
                  <a:ea typeface="Fira Sans Condensed"/>
                  <a:cs typeface="Fira Sans Condensed"/>
                  <a:sym typeface="Fira Sans Condensed"/>
                </a:rPr>
                <a:t>; el </a:t>
              </a:r>
              <a:r>
                <a:rPr lang="es-AR" sz="1350" b="1" dirty="0">
                  <a:solidFill>
                    <a:srgbClr val="1E1E1E"/>
                  </a:solidFill>
                  <a:latin typeface="Fira Sans Condensed"/>
                  <a:ea typeface="Fira Sans Condensed"/>
                  <a:cs typeface="Fira Sans Condensed"/>
                  <a:sym typeface="Fira Sans Condensed"/>
                </a:rPr>
                <a:t>glicerol</a:t>
              </a:r>
              <a:r>
                <a:rPr lang="es-AR" sz="1350" dirty="0">
                  <a:solidFill>
                    <a:srgbClr val="1E1E1E"/>
                  </a:solidFill>
                  <a:latin typeface="Fira Sans Condensed"/>
                  <a:ea typeface="Fira Sans Condensed"/>
                  <a:cs typeface="Fira Sans Condensed"/>
                  <a:sym typeface="Fira Sans Condensed"/>
                </a:rPr>
                <a:t>, hidrosoluble, va al hígado como sustrato </a:t>
              </a:r>
              <a:r>
                <a:rPr lang="es-AR" sz="1350" b="1" dirty="0">
                  <a:solidFill>
                    <a:srgbClr val="1E1E1E"/>
                  </a:solidFill>
                  <a:latin typeface="Fira Sans Condensed"/>
                  <a:ea typeface="Fira Sans Condensed"/>
                  <a:cs typeface="Fira Sans Condensed"/>
                  <a:sym typeface="Fira Sans Condensed"/>
                </a:rPr>
                <a:t>gluconeogénico</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40" name="Forma 39"/>
            <p:cNvSpPr/>
            <p:nvPr/>
          </p:nvSpPr>
          <p:spPr>
            <a:xfrm>
              <a:off x="8046720" y="2788920"/>
              <a:ext cx="139175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TRANSPORTE</a:t>
              </a:r>
              <a:endParaRPr lang="es-AR" sz="1400" dirty="0">
                <a:latin typeface="Fira Sans Condensed"/>
              </a:endParaRPr>
            </a:p>
          </p:txBody>
        </p:sp>
      </p:grpSp>
      <p:sp>
        <p:nvSpPr>
          <p:cNvPr id="41" name="!!AG 0"/>
          <p:cNvSpPr/>
          <p:nvPr/>
        </p:nvSpPr>
        <p:spPr>
          <a:xfrm>
            <a:off x="1005840" y="48920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2" name="!!AG 1"/>
          <p:cNvSpPr/>
          <p:nvPr/>
        </p:nvSpPr>
        <p:spPr>
          <a:xfrm>
            <a:off x="1554480" y="48920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3" name="!!AG 2"/>
          <p:cNvSpPr/>
          <p:nvPr/>
        </p:nvSpPr>
        <p:spPr>
          <a:xfrm>
            <a:off x="2103120" y="48920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4" name="!!AG 3"/>
          <p:cNvSpPr/>
          <p:nvPr/>
        </p:nvSpPr>
        <p:spPr>
          <a:xfrm>
            <a:off x="2651760" y="48920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5" name="!!Albúmina 0"/>
          <p:cNvSpPr/>
          <p:nvPr/>
        </p:nvSpPr>
        <p:spPr>
          <a:xfrm>
            <a:off x="914400" y="5074920"/>
            <a:ext cx="502920" cy="274320"/>
          </a:xfrm>
          <a:prstGeom prst="roundRect">
            <a:avLst/>
          </a:prstGeom>
          <a:solidFill>
            <a:srgbClr val="D6EAF8"/>
          </a:solidFill>
          <a:ln w="12700" cap="rnd">
            <a:solidFill>
              <a:srgbClr val="2E86C1"/>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Alb</a:t>
            </a:r>
            <a:endParaRPr lang="es-AR" sz="900" dirty="0">
              <a:latin typeface="Fira Sans Condensed"/>
            </a:endParaRPr>
          </a:p>
        </p:txBody>
      </p:sp>
      <p:sp>
        <p:nvSpPr>
          <p:cNvPr id="46" name="!!Albúmina 1"/>
          <p:cNvSpPr/>
          <p:nvPr/>
        </p:nvSpPr>
        <p:spPr>
          <a:xfrm>
            <a:off x="1463040" y="5074920"/>
            <a:ext cx="502920" cy="274320"/>
          </a:xfrm>
          <a:prstGeom prst="roundRect">
            <a:avLst/>
          </a:prstGeom>
          <a:solidFill>
            <a:srgbClr val="D6EAF8"/>
          </a:solidFill>
          <a:ln w="12700" cap="rnd">
            <a:solidFill>
              <a:srgbClr val="2E86C1"/>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Alb</a:t>
            </a:r>
            <a:endParaRPr lang="es-AR" sz="900" dirty="0">
              <a:latin typeface="Fira Sans Condensed"/>
            </a:endParaRPr>
          </a:p>
        </p:txBody>
      </p:sp>
      <p:sp>
        <p:nvSpPr>
          <p:cNvPr id="47" name="!!Albúmina 2"/>
          <p:cNvSpPr/>
          <p:nvPr/>
        </p:nvSpPr>
        <p:spPr>
          <a:xfrm>
            <a:off x="2011680" y="5074920"/>
            <a:ext cx="502920" cy="274320"/>
          </a:xfrm>
          <a:prstGeom prst="roundRect">
            <a:avLst/>
          </a:prstGeom>
          <a:solidFill>
            <a:srgbClr val="D6EAF8"/>
          </a:solidFill>
          <a:ln w="12700" cap="rnd">
            <a:solidFill>
              <a:srgbClr val="2E86C1"/>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Alb</a:t>
            </a:r>
            <a:endParaRPr lang="es-AR" sz="900" dirty="0">
              <a:latin typeface="Fira Sans Condensed"/>
            </a:endParaRPr>
          </a:p>
        </p:txBody>
      </p:sp>
      <p:sp>
        <p:nvSpPr>
          <p:cNvPr id="48" name="!!Albúmina 3"/>
          <p:cNvSpPr/>
          <p:nvPr/>
        </p:nvSpPr>
        <p:spPr>
          <a:xfrm>
            <a:off x="2560320" y="5074920"/>
            <a:ext cx="502920" cy="274320"/>
          </a:xfrm>
          <a:prstGeom prst="roundRect">
            <a:avLst/>
          </a:prstGeom>
          <a:solidFill>
            <a:srgbClr val="D6EAF8"/>
          </a:solidFill>
          <a:ln w="12700" cap="rnd">
            <a:solidFill>
              <a:srgbClr val="2E86C1"/>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Alb</a:t>
            </a:r>
            <a:endParaRPr lang="es-AR" sz="900" dirty="0">
              <a:latin typeface="Fira Sans Condensed"/>
            </a:endParaRPr>
          </a:p>
        </p:txBody>
      </p:sp>
      <p:sp>
        <p:nvSpPr>
          <p:cNvPr id="49" name="!!Glicerol C"/>
          <p:cNvSpPr/>
          <p:nvPr/>
        </p:nvSpPr>
        <p:spPr>
          <a:xfrm>
            <a:off x="3291840" y="4846320"/>
            <a:ext cx="365760" cy="365760"/>
          </a:xfrm>
          <a:prstGeom prst="ellipse">
            <a:avLst/>
          </a:prstGeom>
          <a:gradFill rotWithShape="1">
            <a:gsLst>
              <a:gs pos="0">
                <a:srgbClr val="F6B473"/>
              </a:gs>
              <a:gs pos="55000">
                <a:srgbClr val="F28C28"/>
              </a:gs>
              <a:gs pos="100000">
                <a:srgbClr val="C17020"/>
              </a:gs>
            </a:gsLst>
            <a:path path="circle">
              <a:fillToRect l="32000" t="28000" r="68000" b="72000"/>
            </a:path>
          </a:gradFill>
          <a:ln w="12700" cap="rnd">
            <a:solidFill>
              <a:srgbClr val="854D16"/>
            </a:solidFill>
            <a:round/>
          </a:ln>
        </p:spPr>
        <p:txBody>
          <a:bodyPr wrap="square" lIns="0" tIns="0" rIns="0" bIns="0" anchor="ctr" rtlCol="0">
            <a:noAutofit/>
          </a:bodyPr>
          <a:lstStyle/>
          <a:p>
            <a:pPr algn="ctr">
              <a:spcAft>
                <a:spcPts val="300"/>
              </a:spcAft>
              <a:buNone/>
            </a:pPr>
            <a:r>
              <a:rPr lang="es-AR" sz="1040" b="1" dirty="0">
                <a:solidFill>
                  <a:srgbClr val="1E1E1E"/>
                </a:solidFill>
                <a:latin typeface="Fira Sans Condensed"/>
                <a:ea typeface="Fira Sans Condensed"/>
                <a:cs typeface="Fira Sans Condensed"/>
                <a:sym typeface="Fira Sans Condensed"/>
              </a:rPr>
              <a:t>Gli</a:t>
            </a:r>
            <a:endParaRPr lang="es-AR" sz="104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C · 2 · AGNE EN CIRCULACIÓN</a:t>
            </a:r>
            <a:endParaRPr lang="es-AR" sz="3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5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7" fill="hold">
                      <p:stCondLst>
                        <p:cond delay="indefinite"/>
                      </p:stCondLst>
                      <p:childTnLst>
                        <p:par>
                          <p:cTn id="5" fill="hold">
                            <p:stCondLst>
                              <p:cond delay="0"/>
                            </p:stCondLst>
                            <p:childTnLst>
                              <p:par>
                                <p:cTn id="3" presetID="0" presetClass="path" presetSubtype="0" accel="20000" decel="20000" fill="hold" grpId="0" nodeType="clickEffect">
                                  <p:stCondLst>
                                    <p:cond delay="0"/>
                                  </p:stCondLst>
                                  <p:childTnLst>
                                    <p:animMotion origin="layout" path="M 0 0 L 0.2250 0.0000 E" pathEditMode="relative" ptsTypes="">
                                      <p:cBhvr>
                                        <p:cTn id="4" dur="1500" fill="hold"/>
                                        <p:tgtEl>
                                          <p:spTgt spid="41"/>
                                        </p:tgtEl>
                                        <p:attrNameLst>
                                          <p:attrName>ppt_x</p:attrName>
                                          <p:attrName>ppt_y</p:attrName>
                                        </p:attrNameLst>
                                      </p:cBhvr>
                                      <p:rCtr x="11250" y="0"/>
                                    </p:animMotion>
                                  </p:childTnLst>
                                </p:cTn>
                              </p:par>
                            </p:childTnLst>
                          </p:cTn>
                        </p:par>
                        <p:par>
                          <p:cTn id="8" fill="hold">
                            <p:stCondLst>
                              <p:cond delay="150"/>
                            </p:stCondLst>
                            <p:childTnLst>
                              <p:par>
                                <p:cTn id="6" presetID="0" presetClass="path" presetSubtype="0" accel="20000" decel="20000" fill="hold" grpId="0" nodeType="afterEffect">
                                  <p:stCondLst>
                                    <p:cond delay="0"/>
                                  </p:stCondLst>
                                  <p:childTnLst>
                                    <p:animMotion origin="layout" path="M 0 0 L 0.2250 0.0000 E" pathEditMode="relative" ptsTypes="">
                                      <p:cBhvr>
                                        <p:cTn id="7" dur="1500" fill="hold"/>
                                        <p:tgtEl>
                                          <p:spTgt spid="42"/>
                                        </p:tgtEl>
                                        <p:attrNameLst>
                                          <p:attrName>ppt_x</p:attrName>
                                          <p:attrName>ppt_y</p:attrName>
                                        </p:attrNameLst>
                                      </p:cBhvr>
                                      <p:rCtr x="11250" y="0"/>
                                    </p:animMotion>
                                  </p:childTnLst>
                                </p:cTn>
                              </p:par>
                            </p:childTnLst>
                          </p:cTn>
                        </p:par>
                        <p:par>
                          <p:cTn id="11" fill="hold">
                            <p:stCondLst>
                              <p:cond delay="450"/>
                            </p:stCondLst>
                            <p:childTnLst>
                              <p:par>
                                <p:cTn id="9" presetID="0" presetClass="path" presetSubtype="0" accel="20000" decel="20000" fill="hold" grpId="0" nodeType="afterEffect">
                                  <p:stCondLst>
                                    <p:cond delay="0"/>
                                  </p:stCondLst>
                                  <p:childTnLst>
                                    <p:animMotion origin="layout" path="M 0 0 L 0.2250 0.0000 E" pathEditMode="relative" ptsTypes="">
                                      <p:cBhvr>
                                        <p:cTn id="10" dur="1500" fill="hold"/>
                                        <p:tgtEl>
                                          <p:spTgt spid="43"/>
                                        </p:tgtEl>
                                        <p:attrNameLst>
                                          <p:attrName>ppt_x</p:attrName>
                                          <p:attrName>ppt_y</p:attrName>
                                        </p:attrNameLst>
                                      </p:cBhvr>
                                      <p:rCtr x="11250" y="0"/>
                                    </p:animMotion>
                                  </p:childTnLst>
                                </p:cTn>
                              </p:par>
                            </p:childTnLst>
                          </p:cTn>
                        </p:par>
                        <p:par>
                          <p:cTn id="14" fill="hold">
                            <p:stCondLst>
                              <p:cond delay="900"/>
                            </p:stCondLst>
                            <p:childTnLst>
                              <p:par>
                                <p:cTn id="12" presetID="0" presetClass="path" presetSubtype="0" accel="20000" decel="20000" fill="hold" grpId="0" nodeType="afterEffect">
                                  <p:stCondLst>
                                    <p:cond delay="0"/>
                                  </p:stCondLst>
                                  <p:childTnLst>
                                    <p:animMotion origin="layout" path="M 0 0 L 0.2250 0.0000 E" pathEditMode="relative" ptsTypes="">
                                      <p:cBhvr>
                                        <p:cTn id="13" dur="1500" fill="hold"/>
                                        <p:tgtEl>
                                          <p:spTgt spid="44"/>
                                        </p:tgtEl>
                                        <p:attrNameLst>
                                          <p:attrName>ppt_x</p:attrName>
                                          <p:attrName>ppt_y</p:attrName>
                                        </p:attrNameLst>
                                      </p:cBhvr>
                                      <p:rCtr x="11250" y="0"/>
                                    </p:animMotion>
                                  </p:childTnLst>
                                </p:cTn>
                              </p:par>
                            </p:childTnLst>
                          </p:cTn>
                        </p:par>
                        <p:par>
                          <p:cTn id="17" fill="hold">
                            <p:stCondLst>
                              <p:cond delay="1500"/>
                            </p:stCondLst>
                            <p:childTnLst>
                              <p:par>
                                <p:cTn id="15" presetID="0" presetClass="path" presetSubtype="0" accel="20000" decel="20000" fill="hold" grpId="0" nodeType="afterEffect">
                                  <p:stCondLst>
                                    <p:cond delay="0"/>
                                  </p:stCondLst>
                                  <p:childTnLst>
                                    <p:animMotion origin="layout" path="M 0 0 L 0.2250 0.0000 E" pathEditMode="relative" ptsTypes="">
                                      <p:cBhvr>
                                        <p:cTn id="16" dur="1500" fill="hold"/>
                                        <p:tgtEl>
                                          <p:spTgt spid="45"/>
                                        </p:tgtEl>
                                        <p:attrNameLst>
                                          <p:attrName>ppt_x</p:attrName>
                                          <p:attrName>ppt_y</p:attrName>
                                        </p:attrNameLst>
                                      </p:cBhvr>
                                      <p:rCtr x="11250" y="0"/>
                                    </p:animMotion>
                                  </p:childTnLst>
                                </p:cTn>
                              </p:par>
                            </p:childTnLst>
                          </p:cTn>
                        </p:par>
                        <p:par>
                          <p:cTn id="20" fill="hold">
                            <p:stCondLst>
                              <p:cond delay="2250"/>
                            </p:stCondLst>
                            <p:childTnLst>
                              <p:par>
                                <p:cTn id="18" presetID="0" presetClass="path" presetSubtype="0" accel="20000" decel="20000" fill="hold" grpId="0" nodeType="afterEffect">
                                  <p:stCondLst>
                                    <p:cond delay="0"/>
                                  </p:stCondLst>
                                  <p:childTnLst>
                                    <p:animMotion origin="layout" path="M 0 0 L 0.2250 0.0000 E" pathEditMode="relative" ptsTypes="">
                                      <p:cBhvr>
                                        <p:cTn id="19" dur="1500" fill="hold"/>
                                        <p:tgtEl>
                                          <p:spTgt spid="46"/>
                                        </p:tgtEl>
                                        <p:attrNameLst>
                                          <p:attrName>ppt_x</p:attrName>
                                          <p:attrName>ppt_y</p:attrName>
                                        </p:attrNameLst>
                                      </p:cBhvr>
                                      <p:rCtr x="11250" y="0"/>
                                    </p:animMotion>
                                  </p:childTnLst>
                                </p:cTn>
                              </p:par>
                            </p:childTnLst>
                          </p:cTn>
                        </p:par>
                        <p:par>
                          <p:cTn id="23" fill="hold">
                            <p:stCondLst>
                              <p:cond delay="3150"/>
                            </p:stCondLst>
                            <p:childTnLst>
                              <p:par>
                                <p:cTn id="21" presetID="0" presetClass="path" presetSubtype="0" accel="20000" decel="20000" fill="hold" grpId="0" nodeType="afterEffect">
                                  <p:stCondLst>
                                    <p:cond delay="0"/>
                                  </p:stCondLst>
                                  <p:childTnLst>
                                    <p:animMotion origin="layout" path="M 0 0 L 0.2250 0.0000 E" pathEditMode="relative" ptsTypes="">
                                      <p:cBhvr>
                                        <p:cTn id="22" dur="1500" fill="hold"/>
                                        <p:tgtEl>
                                          <p:spTgt spid="47"/>
                                        </p:tgtEl>
                                        <p:attrNameLst>
                                          <p:attrName>ppt_x</p:attrName>
                                          <p:attrName>ppt_y</p:attrName>
                                        </p:attrNameLst>
                                      </p:cBhvr>
                                      <p:rCtr x="11250" y="0"/>
                                    </p:animMotion>
                                  </p:childTnLst>
                                </p:cTn>
                              </p:par>
                            </p:childTnLst>
                          </p:cTn>
                        </p:par>
                        <p:par>
                          <p:cTn id="26" fill="hold">
                            <p:stCondLst>
                              <p:cond delay="4200"/>
                            </p:stCondLst>
                            <p:childTnLst>
                              <p:par>
                                <p:cTn id="24" presetID="0" presetClass="path" presetSubtype="0" accel="20000" decel="20000" fill="hold" grpId="0" nodeType="afterEffect">
                                  <p:stCondLst>
                                    <p:cond delay="0"/>
                                  </p:stCondLst>
                                  <p:childTnLst>
                                    <p:animMotion origin="layout" path="M 0 0 L 0.2250 0.0000 E" pathEditMode="relative" ptsTypes="">
                                      <p:cBhvr>
                                        <p:cTn id="25" dur="1500" fill="hold"/>
                                        <p:tgtEl>
                                          <p:spTgt spid="48"/>
                                        </p:tgtEl>
                                        <p:attrNameLst>
                                          <p:attrName>ppt_x</p:attrName>
                                          <p:attrName>ppt_y</p:attrName>
                                        </p:attrNameLst>
                                      </p:cBhvr>
                                      <p:rCtr x="1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754380" y="1577340"/>
            <a:ext cx="1783080" cy="178308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Acil-CoA → </a:t>
              </a:r>
              <a:r>
                <a:rPr lang="es-AR" sz="1350" b="1" dirty="0">
                  <a:solidFill>
                    <a:srgbClr val="1E1E1E"/>
                  </a:solidFill>
                  <a:latin typeface="Fira Sans Condensed"/>
                  <a:ea typeface="Fira Sans Condensed"/>
                  <a:cs typeface="Fira Sans Condensed"/>
                  <a:sym typeface="Fira Sans Condensed"/>
                </a:rPr>
                <a:t>CPT1</a:t>
              </a:r>
              <a:r>
                <a:rPr lang="es-AR" sz="1350" dirty="0">
                  <a:solidFill>
                    <a:srgbClr val="1E1E1E"/>
                  </a:solidFill>
                  <a:latin typeface="Fira Sans Condensed"/>
                  <a:ea typeface="Fira Sans Condensed"/>
                  <a:cs typeface="Fira Sans Condensed"/>
                  <a:sym typeface="Fira Sans Condensed"/>
                </a:rPr>
                <a:t>: con malonil-CoA </a:t>
              </a:r>
              <a:r>
                <a:rPr lang="es-AR" sz="1350" b="1" dirty="0">
                  <a:solidFill>
                    <a:srgbClr val="1E1E1E"/>
                  </a:solidFill>
                  <a:latin typeface="Fira Sans Condensed"/>
                  <a:ea typeface="Fira Sans Condensed"/>
                  <a:cs typeface="Fira Sans Condensed"/>
                  <a:sym typeface="Fira Sans Condensed"/>
                </a:rPr>
                <a:t>bajo</a:t>
              </a:r>
              <a:r>
                <a:rPr lang="es-AR" sz="1350" dirty="0">
                  <a:solidFill>
                    <a:srgbClr val="1E1E1E"/>
                  </a:solidFill>
                  <a:latin typeface="Fira Sans Condensed"/>
                  <a:ea typeface="Fira Sans Condensed"/>
                  <a:cs typeface="Fira Sans Condensed"/>
                  <a:sym typeface="Fira Sans Condensed"/>
                </a:rPr>
                <a:t> (ACC poco activa sin insulina) la lanzadera de </a:t>
              </a:r>
              <a:r>
                <a:rPr lang="es-AR" sz="1350" b="1" dirty="0">
                  <a:solidFill>
                    <a:srgbClr val="1E1E1E"/>
                  </a:solidFill>
                  <a:latin typeface="Fira Sans Condensed"/>
                  <a:ea typeface="Fira Sans Condensed"/>
                  <a:cs typeface="Fira Sans Condensed"/>
                  <a:sym typeface="Fira Sans Condensed"/>
                </a:rPr>
                <a:t>carnitina</a:t>
              </a:r>
              <a:r>
                <a:rPr lang="es-AR" sz="1350" dirty="0">
                  <a:solidFill>
                    <a:srgbClr val="1E1E1E"/>
                  </a:solidFill>
                  <a:latin typeface="Fira Sans Condensed"/>
                  <a:ea typeface="Fira Sans Condensed"/>
                  <a:cs typeface="Fira Sans Condensed"/>
                  <a:sym typeface="Fira Sans Condensed"/>
                </a:rPr>
                <a:t> introduce los AG en la mitocondria.</a:t>
              </a:r>
              <a:endParaRPr lang="es-AR" sz="1350" dirty="0">
                <a:latin typeface="Fira Sans Condensed"/>
              </a:endParaRPr>
            </a:p>
          </p:txBody>
        </p:sp>
        <p:sp>
          <p:nvSpPr>
            <p:cNvPr id="40" name="Forma 39"/>
            <p:cNvSpPr/>
            <p:nvPr/>
          </p:nvSpPr>
          <p:spPr>
            <a:xfrm>
              <a:off x="8046720" y="2788920"/>
              <a:ext cx="164193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PUERTA ABIERTA</a:t>
              </a:r>
              <a:endParaRPr lang="es-AR" sz="1400" dirty="0">
                <a:latin typeface="Fira Sans Condensed"/>
              </a:endParaRPr>
            </a:p>
          </p:txBody>
        </p:sp>
      </p:grpSp>
      <p:sp>
        <p:nvSpPr>
          <p:cNvPr id="41" name="!!AG 0"/>
          <p:cNvSpPr/>
          <p:nvPr/>
        </p:nvSpPr>
        <p:spPr>
          <a:xfrm>
            <a:off x="3657600" y="16916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2" name="!!AG 1"/>
          <p:cNvSpPr/>
          <p:nvPr/>
        </p:nvSpPr>
        <p:spPr>
          <a:xfrm>
            <a:off x="4069080" y="169164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3" name="!!AG 2"/>
          <p:cNvSpPr/>
          <p:nvPr/>
        </p:nvSpPr>
        <p:spPr>
          <a:xfrm>
            <a:off x="3657600" y="205740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4" name="!!AG 3"/>
          <p:cNvSpPr/>
          <p:nvPr/>
        </p:nvSpPr>
        <p:spPr>
          <a:xfrm>
            <a:off x="4069080" y="2057400"/>
            <a:ext cx="347472" cy="347472"/>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108" b="1" dirty="0">
                <a:solidFill>
                  <a:srgbClr val="1E1E1E"/>
                </a:solidFill>
                <a:latin typeface="Fira Sans Condensed"/>
                <a:ea typeface="Fira Sans Condensed"/>
                <a:cs typeface="Fira Sans Condensed"/>
                <a:sym typeface="Fira Sans Condensed"/>
              </a:rPr>
              <a:t>AG</a:t>
            </a:r>
            <a:endParaRPr lang="es-AR" sz="1108" dirty="0">
              <a:latin typeface="Fira Sans Condensed"/>
            </a:endParaRPr>
          </a:p>
        </p:txBody>
      </p:sp>
      <p:sp>
        <p:nvSpPr>
          <p:cNvPr id="45" name="!!CPT1"/>
          <p:cNvSpPr/>
          <p:nvPr/>
        </p:nvSpPr>
        <p:spPr>
          <a:xfrm>
            <a:off x="4114800" y="2606040"/>
            <a:ext cx="822960" cy="384048"/>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CPT1</a:t>
            </a:r>
            <a:endParaRPr lang="es-AR" sz="1200" dirty="0">
              <a:latin typeface="Fira Sans Condensed"/>
            </a:endParaRPr>
          </a:p>
        </p:txBody>
      </p:sp>
      <p:sp>
        <p:nvSpPr>
          <p:cNvPr id="46" name="!!Malonil"/>
          <p:cNvSpPr/>
          <p:nvPr/>
        </p:nvSpPr>
        <p:spPr>
          <a:xfrm>
            <a:off x="5394960" y="1417320"/>
            <a:ext cx="1737360" cy="36576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Malonil-CoA ↓</a:t>
            </a:r>
            <a:endParaRPr lang="es-AR" sz="1200" dirty="0">
              <a:latin typeface="Fira Sans Condensed"/>
            </a:endParaRPr>
          </a:p>
        </p:txBody>
      </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SECUENCIA C · 3 · ENTRADA AL HEPATOCITO Y CPT1</a:t>
            </a:r>
            <a:endParaRPr lang="es-AR" sz="32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4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46"/>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45"/>
                                        </p:tgtEl>
                                      </p:cBhvr>
                                      <p:by x="112000" y="112000"/>
                                    </p:animScale>
                                  </p:childTnLst>
                                </p:cTn>
                              </p:par>
                            </p:childTnLst>
                          </p:cTn>
                        </p:par>
                      </p:childTnLst>
                    </p:cTn>
                  </p:par>
                  <p:par>
                    <p:cTn id="22" fill="hold">
                      <p:stCondLst>
                        <p:cond delay="indefinite"/>
                      </p:stCondLst>
                      <p:childTnLst>
                        <p:par>
                          <p:cTn id="12" fill="hold">
                            <p:stCondLst>
                              <p:cond delay="0"/>
                            </p:stCondLst>
                            <p:childTnLst>
                              <p:par>
                                <p:cTn id="10" presetID="0" presetClass="path" presetSubtype="0" accel="20000" decel="20000" fill="hold" grpId="0" nodeType="clickEffect">
                                  <p:stCondLst>
                                    <p:cond delay="0"/>
                                  </p:stCondLst>
                                  <p:childTnLst>
                                    <p:animMotion origin="layout" path="M 0 0 L 0.0825 0.1333 E" pathEditMode="relative" ptsTypes="">
                                      <p:cBhvr>
                                        <p:cTn id="11" dur="1200" fill="hold"/>
                                        <p:tgtEl>
                                          <p:spTgt spid="41"/>
                                        </p:tgtEl>
                                        <p:attrNameLst>
                                          <p:attrName>ppt_x</p:attrName>
                                          <p:attrName>ppt_y</p:attrName>
                                        </p:attrNameLst>
                                      </p:cBhvr>
                                      <p:rCtr x="4125" y="6666"/>
                                    </p:animMotion>
                                  </p:childTnLst>
                                </p:cTn>
                              </p:par>
                            </p:childTnLst>
                          </p:cTn>
                        </p:par>
                        <p:par>
                          <p:cTn id="15" fill="hold">
                            <p:stCondLst>
                              <p:cond delay="200"/>
                            </p:stCondLst>
                            <p:childTnLst>
                              <p:par>
                                <p:cTn id="13" presetID="0" presetClass="path" presetSubtype="0" accel="20000" decel="20000" fill="hold" grpId="0" nodeType="afterEffect">
                                  <p:stCondLst>
                                    <p:cond delay="0"/>
                                  </p:stCondLst>
                                  <p:childTnLst>
                                    <p:animMotion origin="layout" path="M 0 0 L 0.0600 0.1333 E" pathEditMode="relative" ptsTypes="">
                                      <p:cBhvr>
                                        <p:cTn id="14" dur="1200" fill="hold"/>
                                        <p:tgtEl>
                                          <p:spTgt spid="42"/>
                                        </p:tgtEl>
                                        <p:attrNameLst>
                                          <p:attrName>ppt_x</p:attrName>
                                          <p:attrName>ppt_y</p:attrName>
                                        </p:attrNameLst>
                                      </p:cBhvr>
                                      <p:rCtr x="3000" y="6666"/>
                                    </p:animMotion>
                                  </p:childTnLst>
                                </p:cTn>
                              </p:par>
                            </p:childTnLst>
                          </p:cTn>
                        </p:par>
                        <p:par>
                          <p:cTn id="18" fill="hold">
                            <p:stCondLst>
                              <p:cond delay="600"/>
                            </p:stCondLst>
                            <p:childTnLst>
                              <p:par>
                                <p:cTn id="16" presetID="0" presetClass="path" presetSubtype="0" accel="20000" decel="20000" fill="hold" grpId="0" nodeType="afterEffect">
                                  <p:stCondLst>
                                    <p:cond delay="0"/>
                                  </p:stCondLst>
                                  <p:childTnLst>
                                    <p:animMotion origin="layout" path="M 0 0 L 0.0825 0.1000 E" pathEditMode="relative" ptsTypes="">
                                      <p:cBhvr>
                                        <p:cTn id="17" dur="1200" fill="hold"/>
                                        <p:tgtEl>
                                          <p:spTgt spid="43"/>
                                        </p:tgtEl>
                                        <p:attrNameLst>
                                          <p:attrName>ppt_x</p:attrName>
                                          <p:attrName>ppt_y</p:attrName>
                                        </p:attrNameLst>
                                      </p:cBhvr>
                                      <p:rCtr x="4125" y="5000"/>
                                    </p:animMotion>
                                  </p:childTnLst>
                                </p:cTn>
                              </p:par>
                            </p:childTnLst>
                          </p:cTn>
                        </p:par>
                        <p:par>
                          <p:cTn id="21" fill="hold">
                            <p:stCondLst>
                              <p:cond delay="1200"/>
                            </p:stCondLst>
                            <p:childTnLst>
                              <p:par>
                                <p:cTn id="19" presetID="0" presetClass="path" presetSubtype="0" accel="20000" decel="20000" fill="hold" grpId="0" nodeType="afterEffect">
                                  <p:stCondLst>
                                    <p:cond delay="0"/>
                                  </p:stCondLst>
                                  <p:childTnLst>
                                    <p:animMotion origin="layout" path="M 0 0 L 0.0600 0.1000 E" pathEditMode="relative" ptsTypes="">
                                      <p:cBhvr>
                                        <p:cTn id="20" dur="1200" fill="hold"/>
                                        <p:tgtEl>
                                          <p:spTgt spid="44"/>
                                        </p:tgtEl>
                                        <p:attrNameLst>
                                          <p:attrName>ppt_x</p:attrName>
                                          <p:attrName>ppt_y</p:attrName>
                                        </p:attrNameLst>
                                      </p:cBhvr>
                                      <p:rCtr x="3000" y="5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41" grpId="0" animBg="1"/>
      <p:bldP spid="42" grpId="0" animBg="1"/>
      <p:bldP spid="43" grpId="0" animBg="1"/>
      <p:bldP spid="44"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822960" y="1645920"/>
            <a:ext cx="1645920" cy="164592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β-oxidación</a:t>
              </a:r>
              <a:r>
                <a:rPr lang="es-AR" sz="1350" dirty="0">
                  <a:solidFill>
                    <a:srgbClr val="1E1E1E"/>
                  </a:solidFill>
                  <a:latin typeface="Fira Sans Condensed"/>
                  <a:ea typeface="Fira Sans Condensed"/>
                  <a:cs typeface="Fira Sans Condensed"/>
                  <a:sym typeface="Fira Sans Condensed"/>
                </a:rPr>
                <a:t> → acetil-CoA + NADH ↑. El </a:t>
              </a:r>
              <a:r>
                <a:rPr lang="es-AR" sz="1350" b="1" dirty="0">
                  <a:solidFill>
                    <a:srgbClr val="1E1E1E"/>
                  </a:solidFill>
                  <a:latin typeface="Fira Sans Condensed"/>
                  <a:ea typeface="Fira Sans Condensed"/>
                  <a:cs typeface="Fira Sans Condensed"/>
                  <a:sym typeface="Fira Sans Condensed"/>
                </a:rPr>
                <a:t>oxalacetato</a:t>
              </a:r>
              <a:r>
                <a:rPr lang="es-AR" sz="1350" dirty="0">
                  <a:solidFill>
                    <a:srgbClr val="1E1E1E"/>
                  </a:solidFill>
                  <a:latin typeface="Fira Sans Condensed"/>
                  <a:ea typeface="Fira Sans Condensed"/>
                  <a:cs typeface="Fira Sans Condensed"/>
                  <a:sym typeface="Fira Sans Condensed"/>
                </a:rPr>
                <a:t> se desvía a </a:t>
              </a:r>
              <a:r>
                <a:rPr lang="es-AR" sz="1350" b="1" dirty="0">
                  <a:solidFill>
                    <a:srgbClr val="1E1E1E"/>
                  </a:solidFill>
                  <a:latin typeface="Fira Sans Condensed"/>
                  <a:ea typeface="Fira Sans Condensed"/>
                  <a:cs typeface="Fira Sans Condensed"/>
                  <a:sym typeface="Fira Sans Condensed"/>
                </a:rPr>
                <a:t>gluconeogénesis</a:t>
              </a:r>
              <a:r>
                <a:rPr lang="es-AR" sz="1350" dirty="0">
                  <a:solidFill>
                    <a:srgbClr val="1E1E1E"/>
                  </a:solidFill>
                  <a:latin typeface="Fira Sans Condensed"/>
                  <a:ea typeface="Fira Sans Condensed"/>
                  <a:cs typeface="Fira Sans Condensed"/>
                  <a:sym typeface="Fira Sans Condensed"/>
                </a:rPr>
                <a:t>: el ciclo de Krebs no puede absorber toda la acetil-CoA.</a:t>
              </a:r>
              <a:endParaRPr lang="es-AR" sz="1350" dirty="0">
                <a:latin typeface="Fira Sans Condensed"/>
              </a:endParaRPr>
            </a:p>
          </p:txBody>
        </p:sp>
        <p:sp>
          <p:nvSpPr>
            <p:cNvPr id="40" name="Forma 39"/>
            <p:cNvSpPr/>
            <p:nvPr/>
          </p:nvSpPr>
          <p:spPr>
            <a:xfrm>
              <a:off x="8046720" y="2788920"/>
              <a:ext cx="211961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EXCESO DE ACETIL-CoA</a:t>
              </a:r>
              <a:endParaRPr lang="es-AR" sz="1400" dirty="0">
                <a:latin typeface="Fira Sans Condensed"/>
              </a:endParaRPr>
            </a:p>
          </p:txBody>
        </p:sp>
      </p:grpSp>
      <p:sp>
        <p:nvSpPr>
          <p:cNvPr id="41" name="!!AcCoA 0"/>
          <p:cNvSpPr/>
          <p:nvPr/>
        </p:nvSpPr>
        <p:spPr>
          <a:xfrm>
            <a:off x="4572000" y="242316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2" name="!!AcCoA 1"/>
          <p:cNvSpPr/>
          <p:nvPr/>
        </p:nvSpPr>
        <p:spPr>
          <a:xfrm>
            <a:off x="5166360" y="242316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3" name="!!AcCoA 2"/>
          <p:cNvSpPr/>
          <p:nvPr/>
        </p:nvSpPr>
        <p:spPr>
          <a:xfrm>
            <a:off x="5760720" y="242316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4" name="!!AcCoA 3"/>
          <p:cNvSpPr/>
          <p:nvPr/>
        </p:nvSpPr>
        <p:spPr>
          <a:xfrm>
            <a:off x="6355080" y="242316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5" name="!!AcCoA 4"/>
          <p:cNvSpPr/>
          <p:nvPr/>
        </p:nvSpPr>
        <p:spPr>
          <a:xfrm>
            <a:off x="4572000" y="292608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6" name="!!AcCoA 5"/>
          <p:cNvSpPr/>
          <p:nvPr/>
        </p:nvSpPr>
        <p:spPr>
          <a:xfrm>
            <a:off x="5166360" y="292608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7" name="!!AcCoA 6"/>
          <p:cNvSpPr/>
          <p:nvPr/>
        </p:nvSpPr>
        <p:spPr>
          <a:xfrm>
            <a:off x="5760720" y="292608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8" name="!!AcCoA 7"/>
          <p:cNvSpPr/>
          <p:nvPr/>
        </p:nvSpPr>
        <p:spPr>
          <a:xfrm>
            <a:off x="6355080" y="2926080"/>
            <a:ext cx="548640" cy="365760"/>
          </a:xfrm>
          <a:prstGeom prst="roundRect">
            <a:avLst/>
          </a:prstGeom>
          <a:solidFill>
            <a:srgbClr val="B7950B"/>
          </a:solidFill>
          <a:ln w="12700" cap="rnd">
            <a:solidFill>
              <a:srgbClr val="7D6608"/>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Ac-CoA</a:t>
            </a:r>
            <a:endParaRPr lang="es-AR" sz="950" dirty="0">
              <a:latin typeface="Fira Sans Condensed"/>
            </a:endParaRPr>
          </a:p>
        </p:txBody>
      </p:sp>
      <p:sp>
        <p:nvSpPr>
          <p:cNvPr id="49" name="!!OAA"/>
          <p:cNvSpPr/>
          <p:nvPr/>
        </p:nvSpPr>
        <p:spPr>
          <a:xfrm>
            <a:off x="3520440" y="3520440"/>
            <a:ext cx="1097280" cy="36576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OAA →</a:t>
            </a:r>
            <a:endParaRPr lang="es-AR" sz="1150" dirty="0">
              <a:latin typeface="Fira Sans Condensed"/>
            </a:endParaRPr>
          </a:p>
        </p:txBody>
      </p:sp>
      <p:sp>
        <p:nvSpPr>
          <p:cNvPr id="50" name="!!GNG"/>
          <p:cNvSpPr/>
          <p:nvPr/>
        </p:nvSpPr>
        <p:spPr>
          <a:xfrm>
            <a:off x="3520440" y="1645920"/>
            <a:ext cx="146304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00" b="1" dirty="0">
                <a:solidFill>
                  <a:srgbClr val="1E1E1E"/>
                </a:solidFill>
                <a:latin typeface="Fira Sans Condensed"/>
                <a:ea typeface="Fira Sans Condensed"/>
                <a:cs typeface="Fira Sans Condensed"/>
                <a:sym typeface="Fira Sans Condensed"/>
              </a:rPr>
              <a:t>Gluconeogénesis</a:t>
            </a:r>
            <a:endParaRPr lang="es-AR" sz="11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C · 4 ·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-OXIDACIÓN Y ACETIL-COA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endParaRPr lang="es-AR" sz="3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5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1"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 calcmode="lin" valueType="num">
                                      <p:cBhvr>
                                        <p:cTn id="5" dur="180" fill="hold"/>
                                        <p:tgtEl>
                                          <p:spTgt spid="41"/>
                                        </p:tgtEl>
                                        <p:attrNameLst>
                                          <p:attrName>ppt_w</p:attrName>
                                        </p:attrNameLst>
                                      </p:cBhvr>
                                      <p:tavLst>
                                        <p:tav tm="0">
                                          <p:val>
                                            <p:fltVal val="0"/>
                                          </p:val>
                                        </p:tav>
                                        <p:tav tm="100000">
                                          <p:val>
                                            <p:strVal val="#ppt_w"/>
                                          </p:val>
                                        </p:tav>
                                      </p:tavLst>
                                    </p:anim>
                                    <p:anim calcmode="lin" valueType="num">
                                      <p:cBhvr>
                                        <p:cTn id="6" dur="180" fill="hold"/>
                                        <p:tgtEl>
                                          <p:spTgt spid="41"/>
                                        </p:tgtEl>
                                        <p:attrNameLst>
                                          <p:attrName>ppt_h</p:attrName>
                                        </p:attrNameLst>
                                      </p:cBhvr>
                                      <p:tavLst>
                                        <p:tav tm="0">
                                          <p:val>
                                            <p:fltVal val="0"/>
                                          </p:val>
                                        </p:tav>
                                        <p:tav tm="100000">
                                          <p:val>
                                            <p:strVal val="#ppt_h"/>
                                          </p:val>
                                        </p:tav>
                                      </p:tavLst>
                                    </p:anim>
                                    <p:animEffect transition="in" filter="fade">
                                      <p:cBhvr>
                                        <p:cTn id="7" dur="180"/>
                                        <p:tgtEl>
                                          <p:spTgt spid="41"/>
                                        </p:tgtEl>
                                      </p:cBhvr>
                                    </p:animEffect>
                                  </p:childTnLst>
                                </p:cTn>
                              </p:par>
                            </p:childTnLst>
                          </p:cTn>
                        </p:par>
                        <p:par>
                          <p:cTn id="14" fill="hold">
                            <p:stCondLst>
                              <p:cond delay="180"/>
                            </p:stCondLst>
                            <p:childTnLst>
                              <p:par>
                                <p:cTn id="9" presetID="53" presetClass="entr" presetSubtype="16"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p:cTn id="11" dur="180" fill="hold"/>
                                        <p:tgtEl>
                                          <p:spTgt spid="42"/>
                                        </p:tgtEl>
                                        <p:attrNameLst>
                                          <p:attrName>ppt_w</p:attrName>
                                        </p:attrNameLst>
                                      </p:cBhvr>
                                      <p:tavLst>
                                        <p:tav tm="0">
                                          <p:val>
                                            <p:fltVal val="0"/>
                                          </p:val>
                                        </p:tav>
                                        <p:tav tm="100000">
                                          <p:val>
                                            <p:strVal val="#ppt_w"/>
                                          </p:val>
                                        </p:tav>
                                      </p:tavLst>
                                    </p:anim>
                                    <p:anim calcmode="lin" valueType="num">
                                      <p:cBhvr>
                                        <p:cTn id="12" dur="180" fill="hold"/>
                                        <p:tgtEl>
                                          <p:spTgt spid="42"/>
                                        </p:tgtEl>
                                        <p:attrNameLst>
                                          <p:attrName>ppt_h</p:attrName>
                                        </p:attrNameLst>
                                      </p:cBhvr>
                                      <p:tavLst>
                                        <p:tav tm="0">
                                          <p:val>
                                            <p:fltVal val="0"/>
                                          </p:val>
                                        </p:tav>
                                        <p:tav tm="100000">
                                          <p:val>
                                            <p:strVal val="#ppt_h"/>
                                          </p:val>
                                        </p:tav>
                                      </p:tavLst>
                                    </p:anim>
                                    <p:animEffect transition="in" filter="fade">
                                      <p:cBhvr>
                                        <p:cTn id="13" dur="180"/>
                                        <p:tgtEl>
                                          <p:spTgt spid="42"/>
                                        </p:tgtEl>
                                      </p:cBhvr>
                                    </p:animEffect>
                                  </p:childTnLst>
                                </p:cTn>
                              </p:par>
                            </p:childTnLst>
                          </p:cTn>
                        </p:par>
                        <p:par>
                          <p:cTn id="20" fill="hold">
                            <p:stCondLst>
                              <p:cond delay="360"/>
                            </p:stCondLst>
                            <p:childTnLst>
                              <p:par>
                                <p:cTn id="15" presetID="53" presetClass="entr" presetSubtype="16" fill="hold" grpId="0" nodeType="after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180" fill="hold"/>
                                        <p:tgtEl>
                                          <p:spTgt spid="43"/>
                                        </p:tgtEl>
                                        <p:attrNameLst>
                                          <p:attrName>ppt_w</p:attrName>
                                        </p:attrNameLst>
                                      </p:cBhvr>
                                      <p:tavLst>
                                        <p:tav tm="0">
                                          <p:val>
                                            <p:fltVal val="0"/>
                                          </p:val>
                                        </p:tav>
                                        <p:tav tm="100000">
                                          <p:val>
                                            <p:strVal val="#ppt_w"/>
                                          </p:val>
                                        </p:tav>
                                      </p:tavLst>
                                    </p:anim>
                                    <p:anim calcmode="lin" valueType="num">
                                      <p:cBhvr>
                                        <p:cTn id="18" dur="180" fill="hold"/>
                                        <p:tgtEl>
                                          <p:spTgt spid="43"/>
                                        </p:tgtEl>
                                        <p:attrNameLst>
                                          <p:attrName>ppt_h</p:attrName>
                                        </p:attrNameLst>
                                      </p:cBhvr>
                                      <p:tavLst>
                                        <p:tav tm="0">
                                          <p:val>
                                            <p:fltVal val="0"/>
                                          </p:val>
                                        </p:tav>
                                        <p:tav tm="100000">
                                          <p:val>
                                            <p:strVal val="#ppt_h"/>
                                          </p:val>
                                        </p:tav>
                                      </p:tavLst>
                                    </p:anim>
                                    <p:animEffect transition="in" filter="fade">
                                      <p:cBhvr>
                                        <p:cTn id="19" dur="180"/>
                                        <p:tgtEl>
                                          <p:spTgt spid="43"/>
                                        </p:tgtEl>
                                      </p:cBhvr>
                                    </p:animEffect>
                                  </p:childTnLst>
                                </p:cTn>
                              </p:par>
                            </p:childTnLst>
                          </p:cTn>
                        </p:par>
                        <p:par>
                          <p:cTn id="26" fill="hold">
                            <p:stCondLst>
                              <p:cond delay="540"/>
                            </p:stCondLst>
                            <p:childTnLst>
                              <p:par>
                                <p:cTn id="21" presetID="53" presetClass="entr" presetSubtype="16" fill="hold" grpId="0" nodeType="after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p:cTn id="23" dur="180" fill="hold"/>
                                        <p:tgtEl>
                                          <p:spTgt spid="44"/>
                                        </p:tgtEl>
                                        <p:attrNameLst>
                                          <p:attrName>ppt_w</p:attrName>
                                        </p:attrNameLst>
                                      </p:cBhvr>
                                      <p:tavLst>
                                        <p:tav tm="0">
                                          <p:val>
                                            <p:fltVal val="0"/>
                                          </p:val>
                                        </p:tav>
                                        <p:tav tm="100000">
                                          <p:val>
                                            <p:strVal val="#ppt_w"/>
                                          </p:val>
                                        </p:tav>
                                      </p:tavLst>
                                    </p:anim>
                                    <p:anim calcmode="lin" valueType="num">
                                      <p:cBhvr>
                                        <p:cTn id="24" dur="180" fill="hold"/>
                                        <p:tgtEl>
                                          <p:spTgt spid="44"/>
                                        </p:tgtEl>
                                        <p:attrNameLst>
                                          <p:attrName>ppt_h</p:attrName>
                                        </p:attrNameLst>
                                      </p:cBhvr>
                                      <p:tavLst>
                                        <p:tav tm="0">
                                          <p:val>
                                            <p:fltVal val="0"/>
                                          </p:val>
                                        </p:tav>
                                        <p:tav tm="100000">
                                          <p:val>
                                            <p:strVal val="#ppt_h"/>
                                          </p:val>
                                        </p:tav>
                                      </p:tavLst>
                                    </p:anim>
                                    <p:animEffect transition="in" filter="fade">
                                      <p:cBhvr>
                                        <p:cTn id="25" dur="180"/>
                                        <p:tgtEl>
                                          <p:spTgt spid="44"/>
                                        </p:tgtEl>
                                      </p:cBhvr>
                                    </p:animEffect>
                                  </p:childTnLst>
                                </p:cTn>
                              </p:par>
                            </p:childTnLst>
                          </p:cTn>
                        </p:par>
                        <p:par>
                          <p:cTn id="32" fill="hold">
                            <p:stCondLst>
                              <p:cond delay="720"/>
                            </p:stCondLst>
                            <p:childTnLst>
                              <p:par>
                                <p:cTn id="27" presetID="53" presetClass="entr" presetSubtype="16" fill="hold" grpId="0" nodeType="after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p:cTn id="29" dur="180" fill="hold"/>
                                        <p:tgtEl>
                                          <p:spTgt spid="45"/>
                                        </p:tgtEl>
                                        <p:attrNameLst>
                                          <p:attrName>ppt_w</p:attrName>
                                        </p:attrNameLst>
                                      </p:cBhvr>
                                      <p:tavLst>
                                        <p:tav tm="0">
                                          <p:val>
                                            <p:fltVal val="0"/>
                                          </p:val>
                                        </p:tav>
                                        <p:tav tm="100000">
                                          <p:val>
                                            <p:strVal val="#ppt_w"/>
                                          </p:val>
                                        </p:tav>
                                      </p:tavLst>
                                    </p:anim>
                                    <p:anim calcmode="lin" valueType="num">
                                      <p:cBhvr>
                                        <p:cTn id="30" dur="180" fill="hold"/>
                                        <p:tgtEl>
                                          <p:spTgt spid="45"/>
                                        </p:tgtEl>
                                        <p:attrNameLst>
                                          <p:attrName>ppt_h</p:attrName>
                                        </p:attrNameLst>
                                      </p:cBhvr>
                                      <p:tavLst>
                                        <p:tav tm="0">
                                          <p:val>
                                            <p:fltVal val="0"/>
                                          </p:val>
                                        </p:tav>
                                        <p:tav tm="100000">
                                          <p:val>
                                            <p:strVal val="#ppt_h"/>
                                          </p:val>
                                        </p:tav>
                                      </p:tavLst>
                                    </p:anim>
                                    <p:animEffect transition="in" filter="fade">
                                      <p:cBhvr>
                                        <p:cTn id="31" dur="180"/>
                                        <p:tgtEl>
                                          <p:spTgt spid="45"/>
                                        </p:tgtEl>
                                      </p:cBhvr>
                                    </p:animEffect>
                                  </p:childTnLst>
                                </p:cTn>
                              </p:par>
                            </p:childTnLst>
                          </p:cTn>
                        </p:par>
                        <p:par>
                          <p:cTn id="38" fill="hold">
                            <p:stCondLst>
                              <p:cond delay="900"/>
                            </p:stCondLst>
                            <p:childTnLst>
                              <p:par>
                                <p:cTn id="33" presetID="53" presetClass="entr" presetSubtype="16"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 calcmode="lin" valueType="num">
                                      <p:cBhvr>
                                        <p:cTn id="35" dur="180" fill="hold"/>
                                        <p:tgtEl>
                                          <p:spTgt spid="46"/>
                                        </p:tgtEl>
                                        <p:attrNameLst>
                                          <p:attrName>ppt_w</p:attrName>
                                        </p:attrNameLst>
                                      </p:cBhvr>
                                      <p:tavLst>
                                        <p:tav tm="0">
                                          <p:val>
                                            <p:fltVal val="0"/>
                                          </p:val>
                                        </p:tav>
                                        <p:tav tm="100000">
                                          <p:val>
                                            <p:strVal val="#ppt_w"/>
                                          </p:val>
                                        </p:tav>
                                      </p:tavLst>
                                    </p:anim>
                                    <p:anim calcmode="lin" valueType="num">
                                      <p:cBhvr>
                                        <p:cTn id="36" dur="180" fill="hold"/>
                                        <p:tgtEl>
                                          <p:spTgt spid="46"/>
                                        </p:tgtEl>
                                        <p:attrNameLst>
                                          <p:attrName>ppt_h</p:attrName>
                                        </p:attrNameLst>
                                      </p:cBhvr>
                                      <p:tavLst>
                                        <p:tav tm="0">
                                          <p:val>
                                            <p:fltVal val="0"/>
                                          </p:val>
                                        </p:tav>
                                        <p:tav tm="100000">
                                          <p:val>
                                            <p:strVal val="#ppt_h"/>
                                          </p:val>
                                        </p:tav>
                                      </p:tavLst>
                                    </p:anim>
                                    <p:animEffect transition="in" filter="fade">
                                      <p:cBhvr>
                                        <p:cTn id="37" dur="180"/>
                                        <p:tgtEl>
                                          <p:spTgt spid="46"/>
                                        </p:tgtEl>
                                      </p:cBhvr>
                                    </p:animEffect>
                                  </p:childTnLst>
                                </p:cTn>
                              </p:par>
                            </p:childTnLst>
                          </p:cTn>
                        </p:par>
                        <p:par>
                          <p:cTn id="44" fill="hold">
                            <p:stCondLst>
                              <p:cond delay="1080"/>
                            </p:stCondLst>
                            <p:childTnLst>
                              <p:par>
                                <p:cTn id="39" presetID="53" presetClass="entr" presetSubtype="16" fill="hold" grpId="0" nodeType="after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p:cTn id="41" dur="180" fill="hold"/>
                                        <p:tgtEl>
                                          <p:spTgt spid="47"/>
                                        </p:tgtEl>
                                        <p:attrNameLst>
                                          <p:attrName>ppt_w</p:attrName>
                                        </p:attrNameLst>
                                      </p:cBhvr>
                                      <p:tavLst>
                                        <p:tav tm="0">
                                          <p:val>
                                            <p:fltVal val="0"/>
                                          </p:val>
                                        </p:tav>
                                        <p:tav tm="100000">
                                          <p:val>
                                            <p:strVal val="#ppt_w"/>
                                          </p:val>
                                        </p:tav>
                                      </p:tavLst>
                                    </p:anim>
                                    <p:anim calcmode="lin" valueType="num">
                                      <p:cBhvr>
                                        <p:cTn id="42" dur="180" fill="hold"/>
                                        <p:tgtEl>
                                          <p:spTgt spid="47"/>
                                        </p:tgtEl>
                                        <p:attrNameLst>
                                          <p:attrName>ppt_h</p:attrName>
                                        </p:attrNameLst>
                                      </p:cBhvr>
                                      <p:tavLst>
                                        <p:tav tm="0">
                                          <p:val>
                                            <p:fltVal val="0"/>
                                          </p:val>
                                        </p:tav>
                                        <p:tav tm="100000">
                                          <p:val>
                                            <p:strVal val="#ppt_h"/>
                                          </p:val>
                                        </p:tav>
                                      </p:tavLst>
                                    </p:anim>
                                    <p:animEffect transition="in" filter="fade">
                                      <p:cBhvr>
                                        <p:cTn id="43" dur="180"/>
                                        <p:tgtEl>
                                          <p:spTgt spid="47"/>
                                        </p:tgtEl>
                                      </p:cBhvr>
                                    </p:animEffect>
                                  </p:childTnLst>
                                </p:cTn>
                              </p:par>
                            </p:childTnLst>
                          </p:cTn>
                        </p:par>
                        <p:par>
                          <p:cTn id="50" fill="hold">
                            <p:stCondLst>
                              <p:cond delay="1260"/>
                            </p:stCondLst>
                            <p:childTnLst>
                              <p:par>
                                <p:cTn id="45" presetID="53" presetClass="entr" presetSubtype="16"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 calcmode="lin" valueType="num">
                                      <p:cBhvr>
                                        <p:cTn id="47" dur="180" fill="hold"/>
                                        <p:tgtEl>
                                          <p:spTgt spid="48"/>
                                        </p:tgtEl>
                                        <p:attrNameLst>
                                          <p:attrName>ppt_w</p:attrName>
                                        </p:attrNameLst>
                                      </p:cBhvr>
                                      <p:tavLst>
                                        <p:tav tm="0">
                                          <p:val>
                                            <p:fltVal val="0"/>
                                          </p:val>
                                        </p:tav>
                                        <p:tav tm="100000">
                                          <p:val>
                                            <p:strVal val="#ppt_w"/>
                                          </p:val>
                                        </p:tav>
                                      </p:tavLst>
                                    </p:anim>
                                    <p:anim calcmode="lin" valueType="num">
                                      <p:cBhvr>
                                        <p:cTn id="48" dur="180" fill="hold"/>
                                        <p:tgtEl>
                                          <p:spTgt spid="48"/>
                                        </p:tgtEl>
                                        <p:attrNameLst>
                                          <p:attrName>ppt_h</p:attrName>
                                        </p:attrNameLst>
                                      </p:cBhvr>
                                      <p:tavLst>
                                        <p:tav tm="0">
                                          <p:val>
                                            <p:fltVal val="0"/>
                                          </p:val>
                                        </p:tav>
                                        <p:tav tm="100000">
                                          <p:val>
                                            <p:strVal val="#ppt_h"/>
                                          </p:val>
                                        </p:tav>
                                      </p:tavLst>
                                    </p:anim>
                                    <p:animEffect transition="in" filter="fade">
                                      <p:cBhvr>
                                        <p:cTn id="49" dur="180"/>
                                        <p:tgtEl>
                                          <p:spTgt spid="48"/>
                                        </p:tgtEl>
                                      </p:cBhvr>
                                    </p:animEffect>
                                  </p:childTnLst>
                                </p:cTn>
                              </p:par>
                            </p:childTnLst>
                          </p:cTn>
                        </p:par>
                      </p:childTnLst>
                    </p:cTn>
                  </p:par>
                  <p:par>
                    <p:cTn id="62" fill="hold">
                      <p:stCondLst>
                        <p:cond delay="indefinite"/>
                      </p:stCondLst>
                      <p:childTnLst>
                        <p:par>
                          <p:cTn id="57"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500"/>
                                        <p:tgtEl>
                                          <p:spTgt spid="49"/>
                                        </p:tgtEl>
                                      </p:cBhvr>
                                    </p:animEffect>
                                  </p:childTnLst>
                                </p:cTn>
                              </p:par>
                              <p:par>
                                <p:cTn id="55" presetID="0" presetClass="path" presetSubtype="0" accel="20000" decel="20000" fill="hold" grpId="0" nodeType="withEffect">
                                  <p:stCondLst>
                                    <p:cond delay="0"/>
                                  </p:stCondLst>
                                  <p:childTnLst>
                                    <p:animMotion origin="layout" path="M 0 0 L 0.0000 -0.2000 E" pathEditMode="relative" ptsTypes="">
                                      <p:cBhvr>
                                        <p:cTn id="56" dur="1000" fill="hold"/>
                                        <p:tgtEl>
                                          <p:spTgt spid="49"/>
                                        </p:tgtEl>
                                        <p:attrNameLst>
                                          <p:attrName>ppt_x</p:attrName>
                                          <p:attrName>ppt_y</p:attrName>
                                        </p:attrNameLst>
                                      </p:cBhvr>
                                      <p:rCtr x="0" y="-10000"/>
                                    </p:animMotion>
                                  </p:childTnLst>
                                </p:cTn>
                              </p:par>
                            </p:childTnLst>
                          </p:cTn>
                        </p:par>
                        <p:par>
                          <p:cTn id="61" fill="hold">
                            <p:stCondLst>
                              <p:cond delay="1000"/>
                            </p:stCondLst>
                            <p:childTnLst>
                              <p:par>
                                <p:cTn id="58" presetID="10" presetClass="entr" presetSubtype="0" fill="hold" grpId="0"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868680" y="1691640"/>
            <a:ext cx="1554480" cy="155448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2 Ac-CoA → acetoacetil-CoA → </a:t>
              </a:r>
              <a:r>
                <a:rPr lang="es-AR" sz="1350" b="1" dirty="0">
                  <a:solidFill>
                    <a:srgbClr val="1E1E1E"/>
                  </a:solidFill>
                  <a:latin typeface="Fira Sans Condensed"/>
                  <a:ea typeface="Fira Sans Condensed"/>
                  <a:cs typeface="Fira Sans Condensed"/>
                  <a:sym typeface="Fira Sans Condensed"/>
                </a:rPr>
                <a:t>HMGCS2</a:t>
              </a:r>
              <a:r>
                <a:rPr lang="es-AR" sz="1350" dirty="0">
                  <a:solidFill>
                    <a:srgbClr val="1E1E1E"/>
                  </a:solidFill>
                  <a:latin typeface="Fira Sans Condensed"/>
                  <a:ea typeface="Fira Sans Condensed"/>
                  <a:cs typeface="Fira Sans Condensed"/>
                  <a:sym typeface="Fira Sans Condensed"/>
                </a:rPr>
                <a:t> → HMG-CoA → liasa → </a:t>
              </a:r>
              <a:r>
                <a:rPr lang="es-AR" sz="1350" b="1" dirty="0">
                  <a:solidFill>
                    <a:srgbClr val="1E1E1E"/>
                  </a:solidFill>
                  <a:latin typeface="Fira Sans Condensed"/>
                  <a:ea typeface="Fira Sans Condensed"/>
                  <a:cs typeface="Fira Sans Condensed"/>
                  <a:sym typeface="Fira Sans Condensed"/>
                </a:rPr>
                <a:t>acetoacetato</a:t>
              </a:r>
              <a:r>
                <a:rPr lang="es-AR" sz="1350" dirty="0">
                  <a:solidFill>
                    <a:srgbClr val="1E1E1E"/>
                  </a:solidFill>
                  <a:latin typeface="Fira Sans Condensed"/>
                  <a:ea typeface="Fira Sans Condensed"/>
                  <a:cs typeface="Fira Sans Condensed"/>
                  <a:sym typeface="Fira Sans Condensed"/>
                </a:rPr>
                <a:t>. El NADH/NAD⁺ alto favorece </a:t>
              </a:r>
              <a:r>
                <a:rPr lang="es-AR" sz="1350" b="1" dirty="0">
                  <a:solidFill>
                    <a:srgbClr val="1E1E1E"/>
                  </a:solidFill>
                  <a:latin typeface="Fira Sans Condensed"/>
                  <a:ea typeface="Fira Sans Condensed"/>
                  <a:cs typeface="Fira Sans Condensed"/>
                  <a:sym typeface="Fira Sans Condensed"/>
                </a:rPr>
                <a:t>β-hidroxibutirato</a:t>
              </a:r>
              <a:r>
                <a:rPr lang="es-AR" sz="1350" dirty="0">
                  <a:solidFill>
                    <a:srgbClr val="1E1E1E"/>
                  </a:solidFill>
                  <a:latin typeface="Fira Sans Condensed"/>
                  <a:ea typeface="Fira Sans Condensed"/>
                  <a:cs typeface="Fira Sans Condensed"/>
                  <a:sym typeface="Fira Sans Condensed"/>
                </a:rPr>
                <a:t>. El hígado </a:t>
              </a:r>
              <a:r>
                <a:rPr lang="es-AR" sz="1350" b="1" dirty="0">
                  <a:solidFill>
                    <a:srgbClr val="1E1E1E"/>
                  </a:solidFill>
                  <a:latin typeface="Fira Sans Condensed"/>
                  <a:ea typeface="Fira Sans Condensed"/>
                  <a:cs typeface="Fira Sans Condensed"/>
                  <a:sym typeface="Fira Sans Condensed"/>
                </a:rPr>
                <a:t>no</a:t>
              </a:r>
              <a:r>
                <a:rPr lang="es-AR" sz="1350" dirty="0">
                  <a:solidFill>
                    <a:srgbClr val="1E1E1E"/>
                  </a:solidFill>
                  <a:latin typeface="Fira Sans Condensed"/>
                  <a:ea typeface="Fira Sans Condensed"/>
                  <a:cs typeface="Fira Sans Condensed"/>
                  <a:sym typeface="Fira Sans Condensed"/>
                </a:rPr>
                <a:t> los oxida (sin SCOT).</a:t>
              </a:r>
              <a:endParaRPr lang="es-AR" sz="1350" dirty="0">
                <a:latin typeface="Fira Sans Condensed"/>
              </a:endParaRPr>
            </a:p>
          </p:txBody>
        </p:sp>
        <p:sp>
          <p:nvSpPr>
            <p:cNvPr id="40" name="Forma 39"/>
            <p:cNvSpPr/>
            <p:nvPr/>
          </p:nvSpPr>
          <p:spPr>
            <a:xfrm>
              <a:off x="8046720" y="2788920"/>
              <a:ext cx="141529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CETOGÉNESIS</a:t>
              </a:r>
              <a:endParaRPr lang="es-AR" sz="1400" dirty="0">
                <a:latin typeface="Fira Sans Condensed"/>
              </a:endParaRPr>
            </a:p>
          </p:txBody>
        </p:sp>
      </p:grpSp>
      <p:sp>
        <p:nvSpPr>
          <p:cNvPr id="41" name="!!HMG"/>
          <p:cNvSpPr/>
          <p:nvPr/>
        </p:nvSpPr>
        <p:spPr>
          <a:xfrm>
            <a:off x="4526280" y="2743200"/>
            <a:ext cx="1188720" cy="38404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HMG-CoA</a:t>
            </a:r>
            <a:endParaRPr lang="es-AR" sz="1200" dirty="0">
              <a:latin typeface="Fira Sans Condensed"/>
            </a:endParaRPr>
          </a:p>
        </p:txBody>
      </p:sp>
      <p:grpSp>
        <p:nvGrpSpPr>
          <p:cNvPr id="42" name="!!AcAc 3D"/>
          <p:cNvGrpSpPr/>
          <p:nvPr/>
        </p:nvGrpSpPr>
        <p:grpSpPr>
          <a:xfrm>
            <a:off x="5715000" y="2179835"/>
            <a:ext cx="1691640" cy="1317508"/>
            <a:chOff x="5715000" y="2179835"/>
            <a:chExt cx="1691640" cy="1317508"/>
          </a:xfrm>
        </p:grpSpPr>
        <p:sp>
          <p:nvSpPr>
            <p:cNvPr id="43" name="Átomo O"/>
            <p:cNvSpPr/>
            <p:nvPr/>
          </p:nvSpPr>
          <p:spPr>
            <a:xfrm>
              <a:off x="6774040" y="2623742"/>
              <a:ext cx="159698" cy="15969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4" name="Flecha 43_2"/>
            <p:cNvSpPr/>
            <p:nvPr/>
          </p:nvSpPr>
          <p:spPr>
            <a:xfrm>
              <a:off x="6869602" y="2693484"/>
              <a:ext cx="42557" cy="66165"/>
            </a:xfrm>
            <a:custGeom>
              <a:avLst/>
              <a:gdLst/>
              <a:ahLst/>
              <a:cxnLst/>
              <a:rect l="0" t="0" r="r" b="b"/>
              <a:pathLst>
                <a:path w="46" h="72" fill="none">
                  <a:moveTo>
                    <a:pt x="46" y="72"/>
                  </a:moveTo>
                  <a:lnTo>
                    <a:pt x="0" y="0"/>
                  </a:lnTo>
                </a:path>
              </a:pathLst>
            </a:custGeom>
            <a:noFill/>
            <a:ln w="20758" cap="rnd">
              <a:solidFill>
                <a:srgbClr val="9A9A9A"/>
              </a:solidFill>
              <a:round/>
            </a:ln>
          </p:spPr>
        </p:sp>
        <p:sp>
          <p:nvSpPr>
            <p:cNvPr id="45" name="Flecha 45_2"/>
            <p:cNvSpPr/>
            <p:nvPr/>
          </p:nvSpPr>
          <p:spPr>
            <a:xfrm>
              <a:off x="6838175" y="2713698"/>
              <a:ext cx="42557" cy="66165"/>
            </a:xfrm>
            <a:custGeom>
              <a:avLst/>
              <a:gdLst/>
              <a:ahLst/>
              <a:cxnLst/>
              <a:rect l="0" t="0" r="r" b="b"/>
              <a:pathLst>
                <a:path w="46" h="72" fill="none">
                  <a:moveTo>
                    <a:pt x="46" y="72"/>
                  </a:moveTo>
                  <a:lnTo>
                    <a:pt x="0" y="0"/>
                  </a:lnTo>
                </a:path>
              </a:pathLst>
            </a:custGeom>
            <a:noFill/>
            <a:ln w="20758" cap="rnd">
              <a:solidFill>
                <a:srgbClr val="9A9A9A"/>
              </a:solidFill>
              <a:round/>
            </a:ln>
          </p:spPr>
        </p:sp>
        <p:sp>
          <p:nvSpPr>
            <p:cNvPr id="46" name="Átomo C"/>
            <p:cNvSpPr/>
            <p:nvPr/>
          </p:nvSpPr>
          <p:spPr>
            <a:xfrm>
              <a:off x="6807623" y="2680934"/>
              <a:ext cx="177645" cy="1776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7" name="Átomo H"/>
            <p:cNvSpPr/>
            <p:nvPr/>
          </p:nvSpPr>
          <p:spPr>
            <a:xfrm>
              <a:off x="6281033" y="2748221"/>
              <a:ext cx="107286" cy="1072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8" name="Flecha 49_2"/>
            <p:cNvSpPr/>
            <p:nvPr/>
          </p:nvSpPr>
          <p:spPr>
            <a:xfrm>
              <a:off x="6896446" y="2769756"/>
              <a:ext cx="66376" cy="232331"/>
            </a:xfrm>
            <a:custGeom>
              <a:avLst/>
              <a:gdLst/>
              <a:ahLst/>
              <a:cxnLst/>
              <a:rect l="0" t="0" r="r" b="b"/>
              <a:pathLst>
                <a:path w="72" h="254" fill="none">
                  <a:moveTo>
                    <a:pt x="0" y="0"/>
                  </a:moveTo>
                  <a:lnTo>
                    <a:pt x="72" y="254"/>
                  </a:lnTo>
                </a:path>
              </a:pathLst>
            </a:custGeom>
            <a:noFill/>
            <a:ln w="25948" cap="rnd">
              <a:solidFill>
                <a:srgbClr val="9A9A9A"/>
              </a:solidFill>
              <a:round/>
            </a:ln>
          </p:spPr>
        </p:sp>
        <p:sp>
          <p:nvSpPr>
            <p:cNvPr id="49" name="Átomo O_2"/>
            <p:cNvSpPr/>
            <p:nvPr/>
          </p:nvSpPr>
          <p:spPr>
            <a:xfrm>
              <a:off x="6877486" y="2916752"/>
              <a:ext cx="170672" cy="17067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0" name="Flecha 52_2"/>
            <p:cNvSpPr/>
            <p:nvPr/>
          </p:nvSpPr>
          <p:spPr>
            <a:xfrm>
              <a:off x="6859124" y="2539141"/>
              <a:ext cx="37321" cy="230615"/>
            </a:xfrm>
            <a:custGeom>
              <a:avLst/>
              <a:gdLst/>
              <a:ahLst/>
              <a:cxnLst/>
              <a:rect l="0" t="0" r="r" b="b"/>
              <a:pathLst>
                <a:path w="40" h="252" fill="none">
                  <a:moveTo>
                    <a:pt x="0" y="0"/>
                  </a:moveTo>
                  <a:lnTo>
                    <a:pt x="40" y="252"/>
                  </a:lnTo>
                </a:path>
              </a:pathLst>
            </a:custGeom>
            <a:noFill/>
            <a:ln w="25948" cap="rnd">
              <a:solidFill>
                <a:srgbClr val="9A9A9A"/>
              </a:solidFill>
              <a:round/>
            </a:ln>
          </p:spPr>
        </p:sp>
        <p:sp>
          <p:nvSpPr>
            <p:cNvPr id="51" name="Átomo H_2"/>
            <p:cNvSpPr/>
            <p:nvPr/>
          </p:nvSpPr>
          <p:spPr>
            <a:xfrm>
              <a:off x="6891661" y="2291786"/>
              <a:ext cx="109088" cy="10908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2" name="Flecha 55_2"/>
            <p:cNvSpPr/>
            <p:nvPr/>
          </p:nvSpPr>
          <p:spPr>
            <a:xfrm>
              <a:off x="6334676" y="2737936"/>
              <a:ext cx="24442" cy="63927"/>
            </a:xfrm>
            <a:custGeom>
              <a:avLst/>
              <a:gdLst/>
              <a:ahLst/>
              <a:cxnLst/>
              <a:rect l="0" t="0" r="r" b="b"/>
              <a:pathLst>
                <a:path w="26" h="69" fill="none">
                  <a:moveTo>
                    <a:pt x="26" y="0"/>
                  </a:moveTo>
                  <a:lnTo>
                    <a:pt x="0" y="69"/>
                  </a:lnTo>
                </a:path>
              </a:pathLst>
            </a:custGeom>
            <a:noFill/>
            <a:ln w="25948" cap="rnd">
              <a:solidFill>
                <a:srgbClr val="9A9A9A"/>
              </a:solidFill>
              <a:round/>
            </a:ln>
          </p:spPr>
        </p:sp>
        <p:sp>
          <p:nvSpPr>
            <p:cNvPr id="53" name="Flecha 57_2"/>
            <p:cNvSpPr/>
            <p:nvPr/>
          </p:nvSpPr>
          <p:spPr>
            <a:xfrm>
              <a:off x="6859124" y="2346329"/>
              <a:ext cx="87081" cy="192812"/>
            </a:xfrm>
            <a:custGeom>
              <a:avLst/>
              <a:gdLst/>
              <a:ahLst/>
              <a:cxnLst/>
              <a:rect l="0" t="0" r="r" b="b"/>
              <a:pathLst>
                <a:path w="95" h="210" fill="none">
                  <a:moveTo>
                    <a:pt x="0" y="210"/>
                  </a:moveTo>
                  <a:lnTo>
                    <a:pt x="95" y="0"/>
                  </a:lnTo>
                </a:path>
              </a:pathLst>
            </a:custGeom>
            <a:noFill/>
            <a:ln w="25948" cap="rnd">
              <a:solidFill>
                <a:srgbClr val="9A9A9A"/>
              </a:solidFill>
              <a:round/>
            </a:ln>
          </p:spPr>
        </p:sp>
        <p:sp>
          <p:nvSpPr>
            <p:cNvPr id="54" name="Átomo C_2"/>
            <p:cNvSpPr/>
            <p:nvPr/>
          </p:nvSpPr>
          <p:spPr>
            <a:xfrm>
              <a:off x="6766840" y="2446857"/>
              <a:ext cx="184569" cy="1845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5" name="Flecha 60_2"/>
            <p:cNvSpPr/>
            <p:nvPr/>
          </p:nvSpPr>
          <p:spPr>
            <a:xfrm>
              <a:off x="6556703" y="2495805"/>
              <a:ext cx="302421" cy="43336"/>
            </a:xfrm>
            <a:custGeom>
              <a:avLst/>
              <a:gdLst/>
              <a:ahLst/>
              <a:cxnLst/>
              <a:rect l="0" t="0" r="r" b="b"/>
              <a:pathLst>
                <a:path w="330" h="47" fill="none">
                  <a:moveTo>
                    <a:pt x="0" y="0"/>
                  </a:moveTo>
                  <a:lnTo>
                    <a:pt x="330" y="47"/>
                  </a:lnTo>
                </a:path>
              </a:pathLst>
            </a:custGeom>
            <a:noFill/>
            <a:ln w="25948" cap="rnd">
              <a:solidFill>
                <a:srgbClr val="9A9A9A"/>
              </a:solidFill>
              <a:round/>
            </a:ln>
          </p:spPr>
        </p:sp>
        <p:sp>
          <p:nvSpPr>
            <p:cNvPr id="56" name="Átomo C_3"/>
            <p:cNvSpPr/>
            <p:nvPr/>
          </p:nvSpPr>
          <p:spPr>
            <a:xfrm>
              <a:off x="6266135" y="2644954"/>
              <a:ext cx="185965" cy="18596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7" name="Flecha 63_2"/>
            <p:cNvSpPr/>
            <p:nvPr/>
          </p:nvSpPr>
          <p:spPr>
            <a:xfrm>
              <a:off x="6359118" y="2495805"/>
              <a:ext cx="197586" cy="242131"/>
            </a:xfrm>
            <a:custGeom>
              <a:avLst/>
              <a:gdLst/>
              <a:ahLst/>
              <a:cxnLst/>
              <a:rect l="0" t="0" r="r" b="b"/>
              <a:pathLst>
                <a:path w="216" h="264" fill="none">
                  <a:moveTo>
                    <a:pt x="0" y="264"/>
                  </a:moveTo>
                  <a:lnTo>
                    <a:pt x="216" y="0"/>
                  </a:lnTo>
                </a:path>
              </a:pathLst>
            </a:custGeom>
            <a:noFill/>
            <a:ln w="25948" cap="rnd">
              <a:solidFill>
                <a:srgbClr val="9A9A9A"/>
              </a:solidFill>
              <a:round/>
            </a:ln>
          </p:spPr>
        </p:sp>
        <p:sp>
          <p:nvSpPr>
            <p:cNvPr id="58" name="Átomo C_4"/>
            <p:cNvSpPr/>
            <p:nvPr/>
          </p:nvSpPr>
          <p:spPr>
            <a:xfrm>
              <a:off x="6463382" y="2402484"/>
              <a:ext cx="186643" cy="1866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9" name="Flecha 66_2"/>
            <p:cNvSpPr/>
            <p:nvPr/>
          </p:nvSpPr>
          <p:spPr>
            <a:xfrm>
              <a:off x="6155392" y="2675683"/>
              <a:ext cx="203726" cy="62254"/>
            </a:xfrm>
            <a:custGeom>
              <a:avLst/>
              <a:gdLst/>
              <a:ahLst/>
              <a:cxnLst/>
              <a:rect l="0" t="0" r="r" b="b"/>
              <a:pathLst>
                <a:path w="222" h="68" fill="none">
                  <a:moveTo>
                    <a:pt x="222" y="68"/>
                  </a:moveTo>
                  <a:lnTo>
                    <a:pt x="0" y="0"/>
                  </a:lnTo>
                </a:path>
              </a:pathLst>
            </a:custGeom>
            <a:noFill/>
            <a:ln w="25948" cap="rnd">
              <a:solidFill>
                <a:srgbClr val="9A9A9A"/>
              </a:solidFill>
              <a:round/>
            </a:ln>
          </p:spPr>
        </p:sp>
        <p:sp>
          <p:nvSpPr>
            <p:cNvPr id="60" name="Flecha 68_2"/>
            <p:cNvSpPr/>
            <p:nvPr/>
          </p:nvSpPr>
          <p:spPr>
            <a:xfrm>
              <a:off x="6859124" y="2539141"/>
              <a:ext cx="107124" cy="49627"/>
            </a:xfrm>
            <a:custGeom>
              <a:avLst/>
              <a:gdLst/>
              <a:ahLst/>
              <a:cxnLst/>
              <a:rect l="0" t="0" r="r" b="b"/>
              <a:pathLst>
                <a:path w="117" h="54" fill="none">
                  <a:moveTo>
                    <a:pt x="0" y="0"/>
                  </a:moveTo>
                  <a:lnTo>
                    <a:pt x="117" y="54"/>
                  </a:lnTo>
                </a:path>
              </a:pathLst>
            </a:custGeom>
            <a:noFill/>
            <a:ln w="25948" cap="rnd">
              <a:solidFill>
                <a:srgbClr val="9A9A9A"/>
              </a:solidFill>
              <a:round/>
            </a:ln>
          </p:spPr>
        </p:sp>
        <p:sp>
          <p:nvSpPr>
            <p:cNvPr id="61" name="Flecha 70_2"/>
            <p:cNvSpPr/>
            <p:nvPr/>
          </p:nvSpPr>
          <p:spPr>
            <a:xfrm>
              <a:off x="6359118" y="2737936"/>
              <a:ext cx="75663" cy="172273"/>
            </a:xfrm>
            <a:custGeom>
              <a:avLst/>
              <a:gdLst/>
              <a:ahLst/>
              <a:cxnLst/>
              <a:rect l="0" t="0" r="r" b="b"/>
              <a:pathLst>
                <a:path w="82" h="188" fill="none">
                  <a:moveTo>
                    <a:pt x="0" y="0"/>
                  </a:moveTo>
                  <a:lnTo>
                    <a:pt x="82" y="188"/>
                  </a:lnTo>
                </a:path>
              </a:pathLst>
            </a:custGeom>
            <a:noFill/>
            <a:ln w="25948" cap="rnd">
              <a:solidFill>
                <a:srgbClr val="9A9A9A"/>
              </a:solidFill>
              <a:round/>
            </a:ln>
          </p:spPr>
        </p:sp>
        <p:sp>
          <p:nvSpPr>
            <p:cNvPr id="62" name="Flecha 72_2"/>
            <p:cNvSpPr/>
            <p:nvPr/>
          </p:nvSpPr>
          <p:spPr>
            <a:xfrm>
              <a:off x="6490299" y="2262703"/>
              <a:ext cx="83924" cy="226614"/>
            </a:xfrm>
            <a:custGeom>
              <a:avLst/>
              <a:gdLst/>
              <a:ahLst/>
              <a:cxnLst/>
              <a:rect l="0" t="0" r="r" b="b"/>
              <a:pathLst>
                <a:path w="91" h="247" fill="none">
                  <a:moveTo>
                    <a:pt x="91" y="247"/>
                  </a:moveTo>
                  <a:lnTo>
                    <a:pt x="0" y="0"/>
                  </a:lnTo>
                </a:path>
              </a:pathLst>
            </a:custGeom>
            <a:noFill/>
            <a:ln w="20758" cap="rnd">
              <a:solidFill>
                <a:srgbClr val="9A9A9A"/>
              </a:solidFill>
              <a:round/>
            </a:ln>
          </p:spPr>
        </p:sp>
        <p:sp>
          <p:nvSpPr>
            <p:cNvPr id="63" name="Flecha 74_2"/>
            <p:cNvSpPr/>
            <p:nvPr/>
          </p:nvSpPr>
          <p:spPr>
            <a:xfrm>
              <a:off x="6455259" y="2275680"/>
              <a:ext cx="83924" cy="226614"/>
            </a:xfrm>
            <a:custGeom>
              <a:avLst/>
              <a:gdLst/>
              <a:ahLst/>
              <a:cxnLst/>
              <a:rect l="0" t="0" r="r" b="b"/>
              <a:pathLst>
                <a:path w="91" h="247" fill="none">
                  <a:moveTo>
                    <a:pt x="91" y="247"/>
                  </a:moveTo>
                  <a:lnTo>
                    <a:pt x="0" y="0"/>
                  </a:lnTo>
                </a:path>
              </a:pathLst>
            </a:custGeom>
            <a:noFill/>
            <a:ln w="20758" cap="rnd">
              <a:solidFill>
                <a:srgbClr val="9A9A9A"/>
              </a:solidFill>
              <a:round/>
            </a:ln>
          </p:spPr>
        </p:sp>
        <p:sp>
          <p:nvSpPr>
            <p:cNvPr id="64" name="Átomo H_3"/>
            <p:cNvSpPr/>
            <p:nvPr/>
          </p:nvSpPr>
          <p:spPr>
            <a:xfrm>
              <a:off x="6098819" y="2619110"/>
              <a:ext cx="113146" cy="11314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5" name="Átomo O_3"/>
            <p:cNvSpPr/>
            <p:nvPr/>
          </p:nvSpPr>
          <p:spPr>
            <a:xfrm>
              <a:off x="6383422" y="2179835"/>
              <a:ext cx="178713" cy="17871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6" name="Átomo H_4"/>
            <p:cNvSpPr/>
            <p:nvPr/>
          </p:nvSpPr>
          <p:spPr>
            <a:xfrm>
              <a:off x="6377733" y="2853162"/>
              <a:ext cx="114096" cy="11409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7" name="Átomo H_5"/>
            <p:cNvSpPr/>
            <p:nvPr/>
          </p:nvSpPr>
          <p:spPr>
            <a:xfrm>
              <a:off x="6908949" y="2531468"/>
              <a:ext cx="114599" cy="11459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8" name="Forma 80"/>
            <p:cNvSpPr txBox="1"/>
            <p:nvPr/>
          </p:nvSpPr>
          <p:spPr>
            <a:xfrm>
              <a:off x="5715000" y="3186447"/>
              <a:ext cx="1691640" cy="310896"/>
            </a:xfrm>
            <a:prstGeom prst="rect">
              <a:avLst/>
            </a:prstGeom>
            <a:noFill/>
            <a:ln>
              <a:noFill/>
            </a:ln>
          </p:spPr>
          <p:txBody>
            <a:bodyPr wrap="square" lIns="0" tIns="0" rIns="0" bIns="0" anchor="t"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AcAc</a:t>
              </a:r>
              <a:endParaRPr lang="es-AR" sz="1000" dirty="0">
                <a:latin typeface="Fira Sans Condensed"/>
              </a:endParaRPr>
            </a:p>
          </p:txBody>
        </p:sp>
      </p:grpSp>
      <p:grpSp>
        <p:nvGrpSpPr>
          <p:cNvPr id="69" name="!!BHB 3D"/>
          <p:cNvGrpSpPr/>
          <p:nvPr/>
        </p:nvGrpSpPr>
        <p:grpSpPr>
          <a:xfrm>
            <a:off x="5715000" y="3066155"/>
            <a:ext cx="1691640" cy="1092464"/>
            <a:chOff x="5715000" y="3066155"/>
            <a:chExt cx="1691640" cy="1092464"/>
          </a:xfrm>
        </p:grpSpPr>
        <p:sp>
          <p:nvSpPr>
            <p:cNvPr id="70" name="Átomo H_6"/>
            <p:cNvSpPr/>
            <p:nvPr/>
          </p:nvSpPr>
          <p:spPr>
            <a:xfrm>
              <a:off x="6497730" y="3369194"/>
              <a:ext cx="86198" cy="8619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1" name="Flecha 83_2"/>
            <p:cNvSpPr/>
            <p:nvPr/>
          </p:nvSpPr>
          <p:spPr>
            <a:xfrm>
              <a:off x="6540829" y="3412293"/>
              <a:ext cx="61648" cy="87696"/>
            </a:xfrm>
            <a:custGeom>
              <a:avLst/>
              <a:gdLst/>
              <a:ahLst/>
              <a:cxnLst/>
              <a:rect l="0" t="0" r="r" b="b"/>
              <a:pathLst>
                <a:path w="67" h="95" fill="none">
                  <a:moveTo>
                    <a:pt x="67" y="95"/>
                  </a:moveTo>
                  <a:lnTo>
                    <a:pt x="0" y="0"/>
                  </a:lnTo>
                </a:path>
              </a:pathLst>
            </a:custGeom>
            <a:noFill/>
            <a:ln w="22009" cap="rnd">
              <a:solidFill>
                <a:srgbClr val="9A9A9A"/>
              </a:solidFill>
              <a:round/>
            </a:ln>
          </p:spPr>
        </p:sp>
        <p:sp>
          <p:nvSpPr>
            <p:cNvPr id="72" name="Átomo O_4"/>
            <p:cNvSpPr/>
            <p:nvPr/>
          </p:nvSpPr>
          <p:spPr>
            <a:xfrm>
              <a:off x="6921886" y="3569087"/>
              <a:ext cx="139147" cy="13914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3" name="Flecha 86_2"/>
            <p:cNvSpPr/>
            <p:nvPr/>
          </p:nvSpPr>
          <p:spPr>
            <a:xfrm>
              <a:off x="6868252" y="3463940"/>
              <a:ext cx="123208" cy="174720"/>
            </a:xfrm>
            <a:custGeom>
              <a:avLst/>
              <a:gdLst/>
              <a:ahLst/>
              <a:cxnLst/>
              <a:rect l="0" t="0" r="r" b="b"/>
              <a:pathLst>
                <a:path w="134" h="191" fill="none">
                  <a:moveTo>
                    <a:pt x="0" y="0"/>
                  </a:moveTo>
                  <a:lnTo>
                    <a:pt x="134" y="191"/>
                  </a:lnTo>
                </a:path>
              </a:pathLst>
            </a:custGeom>
            <a:noFill/>
            <a:ln w="22009" cap="rnd">
              <a:solidFill>
                <a:srgbClr val="9A9A9A"/>
              </a:solidFill>
              <a:round/>
            </a:ln>
          </p:spPr>
        </p:sp>
        <p:sp>
          <p:nvSpPr>
            <p:cNvPr id="74" name="Átomo H_7"/>
            <p:cNvSpPr/>
            <p:nvPr/>
          </p:nvSpPr>
          <p:spPr>
            <a:xfrm>
              <a:off x="6519552" y="3644007"/>
              <a:ext cx="89135" cy="8913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5" name="Flecha 89_2"/>
            <p:cNvSpPr/>
            <p:nvPr/>
          </p:nvSpPr>
          <p:spPr>
            <a:xfrm>
              <a:off x="6564120" y="3499989"/>
              <a:ext cx="38357" cy="188586"/>
            </a:xfrm>
            <a:custGeom>
              <a:avLst/>
              <a:gdLst/>
              <a:ahLst/>
              <a:cxnLst/>
              <a:rect l="0" t="0" r="r" b="b"/>
              <a:pathLst>
                <a:path w="41" h="206" fill="none">
                  <a:moveTo>
                    <a:pt x="41" y="0"/>
                  </a:moveTo>
                  <a:lnTo>
                    <a:pt x="0" y="206"/>
                  </a:lnTo>
                </a:path>
              </a:pathLst>
            </a:custGeom>
            <a:noFill/>
            <a:ln w="22009" cap="rnd">
              <a:solidFill>
                <a:srgbClr val="9A9A9A"/>
              </a:solidFill>
              <a:round/>
            </a:ln>
          </p:spPr>
        </p:sp>
        <p:sp>
          <p:nvSpPr>
            <p:cNvPr id="76" name="Átomo C_5"/>
            <p:cNvSpPr/>
            <p:nvPr/>
          </p:nvSpPr>
          <p:spPr>
            <a:xfrm>
              <a:off x="6527958" y="3425470"/>
              <a:ext cx="149039" cy="1490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7" name="Flecha 92_2"/>
            <p:cNvSpPr/>
            <p:nvPr/>
          </p:nvSpPr>
          <p:spPr>
            <a:xfrm>
              <a:off x="6602477" y="3463940"/>
              <a:ext cx="265775" cy="36049"/>
            </a:xfrm>
            <a:custGeom>
              <a:avLst/>
              <a:gdLst/>
              <a:ahLst/>
              <a:cxnLst/>
              <a:rect l="0" t="0" r="r" b="b"/>
              <a:pathLst>
                <a:path w="290" h="39" fill="none">
                  <a:moveTo>
                    <a:pt x="0" y="39"/>
                  </a:moveTo>
                  <a:lnTo>
                    <a:pt x="290" y="0"/>
                  </a:lnTo>
                </a:path>
              </a:pathLst>
            </a:custGeom>
            <a:noFill/>
            <a:ln w="22009" cap="rnd">
              <a:solidFill>
                <a:srgbClr val="9A9A9A"/>
              </a:solidFill>
              <a:round/>
            </a:ln>
          </p:spPr>
        </p:sp>
        <p:sp>
          <p:nvSpPr>
            <p:cNvPr id="78" name="Átomo C_6"/>
            <p:cNvSpPr/>
            <p:nvPr/>
          </p:nvSpPr>
          <p:spPr>
            <a:xfrm>
              <a:off x="6793454" y="3389143"/>
              <a:ext cx="149596" cy="14959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Flecha 95_2"/>
            <p:cNvSpPr/>
            <p:nvPr/>
          </p:nvSpPr>
          <p:spPr>
            <a:xfrm>
              <a:off x="6883367" y="3266836"/>
              <a:ext cx="63549" cy="201863"/>
            </a:xfrm>
            <a:custGeom>
              <a:avLst/>
              <a:gdLst/>
              <a:ahLst/>
              <a:cxnLst/>
              <a:rect l="0" t="0" r="r" b="b"/>
              <a:pathLst>
                <a:path w="69" h="220" fill="none">
                  <a:moveTo>
                    <a:pt x="0" y="220"/>
                  </a:moveTo>
                  <a:lnTo>
                    <a:pt x="69" y="0"/>
                  </a:lnTo>
                </a:path>
              </a:pathLst>
            </a:custGeom>
            <a:noFill/>
            <a:ln w="17607" cap="rnd">
              <a:solidFill>
                <a:srgbClr val="9A9A9A"/>
              </a:solidFill>
              <a:round/>
            </a:ln>
          </p:spPr>
        </p:sp>
        <p:sp>
          <p:nvSpPr>
            <p:cNvPr id="80" name="Flecha 97_2"/>
            <p:cNvSpPr/>
            <p:nvPr/>
          </p:nvSpPr>
          <p:spPr>
            <a:xfrm>
              <a:off x="6853136" y="3257319"/>
              <a:ext cx="63549" cy="201863"/>
            </a:xfrm>
            <a:custGeom>
              <a:avLst/>
              <a:gdLst/>
              <a:ahLst/>
              <a:cxnLst/>
              <a:rect l="0" t="0" r="r" b="b"/>
              <a:pathLst>
                <a:path w="69" h="220" fill="none">
                  <a:moveTo>
                    <a:pt x="0" y="220"/>
                  </a:moveTo>
                  <a:lnTo>
                    <a:pt x="69" y="0"/>
                  </a:lnTo>
                </a:path>
              </a:pathLst>
            </a:custGeom>
            <a:noFill/>
            <a:ln w="17607" cap="rnd">
              <a:solidFill>
                <a:srgbClr val="9A9A9A"/>
              </a:solidFill>
              <a:round/>
            </a:ln>
          </p:spPr>
        </p:sp>
        <p:sp>
          <p:nvSpPr>
            <p:cNvPr id="81" name="Átomo H_8"/>
            <p:cNvSpPr/>
            <p:nvPr/>
          </p:nvSpPr>
          <p:spPr>
            <a:xfrm>
              <a:off x="6084680" y="3357703"/>
              <a:ext cx="91001" cy="9100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2" name="Átomo O_5"/>
            <p:cNvSpPr/>
            <p:nvPr/>
          </p:nvSpPr>
          <p:spPr>
            <a:xfrm>
              <a:off x="6860163" y="3190439"/>
              <a:ext cx="143276" cy="14327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3" name="Flecha 101_2"/>
            <p:cNvSpPr/>
            <p:nvPr/>
          </p:nvSpPr>
          <p:spPr>
            <a:xfrm>
              <a:off x="6485918" y="3396338"/>
              <a:ext cx="116559" cy="103651"/>
            </a:xfrm>
            <a:custGeom>
              <a:avLst/>
              <a:gdLst/>
              <a:ahLst/>
              <a:cxnLst/>
              <a:rect l="0" t="0" r="r" b="b"/>
              <a:pathLst>
                <a:path w="127" h="113" fill="none">
                  <a:moveTo>
                    <a:pt x="0" y="0"/>
                  </a:moveTo>
                  <a:lnTo>
                    <a:pt x="127" y="113"/>
                  </a:lnTo>
                </a:path>
              </a:pathLst>
            </a:custGeom>
            <a:noFill/>
            <a:ln w="22009" cap="rnd">
              <a:solidFill>
                <a:srgbClr val="9A9A9A"/>
              </a:solidFill>
              <a:round/>
            </a:ln>
          </p:spPr>
        </p:sp>
        <p:sp>
          <p:nvSpPr>
            <p:cNvPr id="84" name="Flecha 103_2"/>
            <p:cNvSpPr/>
            <p:nvPr/>
          </p:nvSpPr>
          <p:spPr>
            <a:xfrm>
              <a:off x="6130181" y="3403203"/>
              <a:ext cx="97430" cy="63118"/>
            </a:xfrm>
            <a:custGeom>
              <a:avLst/>
              <a:gdLst/>
              <a:ahLst/>
              <a:cxnLst/>
              <a:rect l="0" t="0" r="r" b="b"/>
              <a:pathLst>
                <a:path w="106" h="69" fill="none">
                  <a:moveTo>
                    <a:pt x="106" y="69"/>
                  </a:moveTo>
                  <a:lnTo>
                    <a:pt x="0" y="0"/>
                  </a:lnTo>
                </a:path>
              </a:pathLst>
            </a:custGeom>
            <a:noFill/>
            <a:ln w="22009" cap="rnd">
              <a:solidFill>
                <a:srgbClr val="9A9A9A"/>
              </a:solidFill>
              <a:round/>
            </a:ln>
          </p:spPr>
        </p:sp>
        <p:sp>
          <p:nvSpPr>
            <p:cNvPr id="85" name="Átomo H_9"/>
            <p:cNvSpPr/>
            <p:nvPr/>
          </p:nvSpPr>
          <p:spPr>
            <a:xfrm>
              <a:off x="6617534" y="3066155"/>
              <a:ext cx="93011" cy="9301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6" name="Flecha 106_2"/>
            <p:cNvSpPr/>
            <p:nvPr/>
          </p:nvSpPr>
          <p:spPr>
            <a:xfrm>
              <a:off x="6495255" y="3112661"/>
              <a:ext cx="168785" cy="32010"/>
            </a:xfrm>
            <a:custGeom>
              <a:avLst/>
              <a:gdLst/>
              <a:ahLst/>
              <a:cxnLst/>
              <a:rect l="0" t="0" r="r" b="b"/>
              <a:pathLst>
                <a:path w="184" h="35" fill="none">
                  <a:moveTo>
                    <a:pt x="0" y="35"/>
                  </a:moveTo>
                  <a:lnTo>
                    <a:pt x="184" y="0"/>
                  </a:lnTo>
                </a:path>
              </a:pathLst>
            </a:custGeom>
            <a:noFill/>
            <a:ln w="22009" cap="rnd">
              <a:solidFill>
                <a:srgbClr val="9A9A9A"/>
              </a:solidFill>
              <a:round/>
            </a:ln>
          </p:spPr>
        </p:sp>
        <p:sp>
          <p:nvSpPr>
            <p:cNvPr id="87" name="Átomo O_6"/>
            <p:cNvSpPr/>
            <p:nvPr/>
          </p:nvSpPr>
          <p:spPr>
            <a:xfrm>
              <a:off x="6421668" y="3071085"/>
              <a:ext cx="147172" cy="14717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8" name="Flecha 109_2"/>
            <p:cNvSpPr/>
            <p:nvPr/>
          </p:nvSpPr>
          <p:spPr>
            <a:xfrm>
              <a:off x="6485918" y="3144671"/>
              <a:ext cx="9337" cy="251667"/>
            </a:xfrm>
            <a:custGeom>
              <a:avLst/>
              <a:gdLst/>
              <a:ahLst/>
              <a:cxnLst/>
              <a:rect l="0" t="0" r="r" b="b"/>
              <a:pathLst>
                <a:path w="10" h="275" fill="none">
                  <a:moveTo>
                    <a:pt x="0" y="275"/>
                  </a:moveTo>
                  <a:lnTo>
                    <a:pt x="10" y="0"/>
                  </a:lnTo>
                </a:path>
              </a:pathLst>
            </a:custGeom>
            <a:noFill/>
            <a:ln w="22009" cap="rnd">
              <a:solidFill>
                <a:srgbClr val="9A9A9A"/>
              </a:solidFill>
              <a:round/>
            </a:ln>
          </p:spPr>
        </p:sp>
        <p:sp>
          <p:nvSpPr>
            <p:cNvPr id="89" name="Átomo C_7"/>
            <p:cNvSpPr/>
            <p:nvPr/>
          </p:nvSpPr>
          <p:spPr>
            <a:xfrm>
              <a:off x="6407746" y="3318166"/>
              <a:ext cx="156344" cy="1563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0" name="Flecha 112_2"/>
            <p:cNvSpPr/>
            <p:nvPr/>
          </p:nvSpPr>
          <p:spPr>
            <a:xfrm>
              <a:off x="6227610" y="3396338"/>
              <a:ext cx="258307" cy="69983"/>
            </a:xfrm>
            <a:custGeom>
              <a:avLst/>
              <a:gdLst/>
              <a:ahLst/>
              <a:cxnLst/>
              <a:rect l="0" t="0" r="r" b="b"/>
              <a:pathLst>
                <a:path w="282" h="76" fill="none">
                  <a:moveTo>
                    <a:pt x="0" y="76"/>
                  </a:moveTo>
                  <a:lnTo>
                    <a:pt x="282" y="0"/>
                  </a:lnTo>
                </a:path>
              </a:pathLst>
            </a:custGeom>
            <a:noFill/>
            <a:ln w="22009" cap="rnd">
              <a:solidFill>
                <a:srgbClr val="9A9A9A"/>
              </a:solidFill>
              <a:round/>
            </a:ln>
          </p:spPr>
        </p:sp>
        <p:sp>
          <p:nvSpPr>
            <p:cNvPr id="91" name="Átomo C_8"/>
            <p:cNvSpPr/>
            <p:nvPr/>
          </p:nvSpPr>
          <p:spPr>
            <a:xfrm>
              <a:off x="6149196" y="3387907"/>
              <a:ext cx="156828" cy="1568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2" name="Flecha 115_2"/>
            <p:cNvSpPr/>
            <p:nvPr/>
          </p:nvSpPr>
          <p:spPr>
            <a:xfrm>
              <a:off x="6207264" y="3466321"/>
              <a:ext cx="20346" cy="191213"/>
            </a:xfrm>
            <a:custGeom>
              <a:avLst/>
              <a:gdLst/>
              <a:ahLst/>
              <a:cxnLst/>
              <a:rect l="0" t="0" r="r" b="b"/>
              <a:pathLst>
                <a:path w="22" h="209" fill="none">
                  <a:moveTo>
                    <a:pt x="22" y="0"/>
                  </a:moveTo>
                  <a:lnTo>
                    <a:pt x="0" y="209"/>
                  </a:lnTo>
                </a:path>
              </a:pathLst>
            </a:custGeom>
            <a:noFill/>
            <a:ln w="22009" cap="rnd">
              <a:solidFill>
                <a:srgbClr val="9A9A9A"/>
              </a:solidFill>
              <a:round/>
            </a:ln>
          </p:spPr>
        </p:sp>
        <p:sp>
          <p:nvSpPr>
            <p:cNvPr id="93" name="Átomo H_10"/>
            <p:cNvSpPr/>
            <p:nvPr/>
          </p:nvSpPr>
          <p:spPr>
            <a:xfrm>
              <a:off x="6160096" y="3610366"/>
              <a:ext cx="94338" cy="9433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4" name="Flecha 118_2"/>
            <p:cNvSpPr/>
            <p:nvPr/>
          </p:nvSpPr>
          <p:spPr>
            <a:xfrm>
              <a:off x="6485918" y="3396338"/>
              <a:ext cx="90230" cy="57236"/>
            </a:xfrm>
            <a:custGeom>
              <a:avLst/>
              <a:gdLst/>
              <a:ahLst/>
              <a:cxnLst/>
              <a:rect l="0" t="0" r="r" b="b"/>
              <a:pathLst>
                <a:path w="98" h="62" fill="none">
                  <a:moveTo>
                    <a:pt x="0" y="0"/>
                  </a:moveTo>
                  <a:lnTo>
                    <a:pt x="98" y="62"/>
                  </a:lnTo>
                </a:path>
              </a:pathLst>
            </a:custGeom>
            <a:noFill/>
            <a:ln w="22009" cap="rnd">
              <a:solidFill>
                <a:srgbClr val="9A9A9A"/>
              </a:solidFill>
              <a:round/>
            </a:ln>
          </p:spPr>
        </p:sp>
        <p:sp>
          <p:nvSpPr>
            <p:cNvPr id="95" name="Flecha 120_2"/>
            <p:cNvSpPr/>
            <p:nvPr/>
          </p:nvSpPr>
          <p:spPr>
            <a:xfrm>
              <a:off x="6144696" y="3386021"/>
              <a:ext cx="82914" cy="80300"/>
            </a:xfrm>
            <a:custGeom>
              <a:avLst/>
              <a:gdLst/>
              <a:ahLst/>
              <a:cxnLst/>
              <a:rect l="0" t="0" r="r" b="b"/>
              <a:pathLst>
                <a:path w="90" h="87" fill="none">
                  <a:moveTo>
                    <a:pt x="90" y="87"/>
                  </a:moveTo>
                  <a:lnTo>
                    <a:pt x="0" y="0"/>
                  </a:lnTo>
                </a:path>
              </a:pathLst>
            </a:custGeom>
            <a:noFill/>
            <a:ln w="22009" cap="rnd">
              <a:solidFill>
                <a:srgbClr val="9A9A9A"/>
              </a:solidFill>
              <a:round/>
            </a:ln>
          </p:spPr>
        </p:sp>
        <p:sp>
          <p:nvSpPr>
            <p:cNvPr id="96" name="Átomo H_11"/>
            <p:cNvSpPr/>
            <p:nvPr/>
          </p:nvSpPr>
          <p:spPr>
            <a:xfrm>
              <a:off x="6527629" y="3405055"/>
              <a:ext cx="97037" cy="9703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7" name="Átomo H_12"/>
            <p:cNvSpPr/>
            <p:nvPr/>
          </p:nvSpPr>
          <p:spPr>
            <a:xfrm>
              <a:off x="6096095" y="3337420"/>
              <a:ext cx="97202" cy="9720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8" name="Forma 124"/>
            <p:cNvSpPr txBox="1"/>
            <p:nvPr/>
          </p:nvSpPr>
          <p:spPr>
            <a:xfrm>
              <a:off x="5715000" y="3847723"/>
              <a:ext cx="1691640" cy="310896"/>
            </a:xfrm>
            <a:prstGeom prst="rect">
              <a:avLst/>
            </a:prstGeom>
            <a:noFill/>
            <a:ln>
              <a:noFill/>
            </a:ln>
          </p:spPr>
          <p:txBody>
            <a:bodyPr wrap="square" lIns="0" tIns="0" rIns="0" bIns="0" anchor="t"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β-OHB</a:t>
              </a:r>
              <a:endParaRPr lang="es-AR" sz="1000" dirty="0">
                <a:latin typeface="Fira Sans Condensed"/>
              </a:endParaRPr>
            </a:p>
          </p:txBody>
        </p:sp>
      </p:grpSp>
      <p:sp>
        <p:nvSpPr>
          <p:cNvPr id="99" name="!!CC 0"/>
          <p:cNvSpPr/>
          <p:nvPr/>
        </p:nvSpPr>
        <p:spPr>
          <a:xfrm>
            <a:off x="4023360" y="434340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100" name="!!CC 1"/>
          <p:cNvSpPr/>
          <p:nvPr/>
        </p:nvSpPr>
        <p:spPr>
          <a:xfrm>
            <a:off x="4709160" y="434340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101" name="!!CC 2"/>
          <p:cNvSpPr/>
          <p:nvPr/>
        </p:nvSpPr>
        <p:spPr>
          <a:xfrm>
            <a:off x="5394960" y="434340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102" name="!!CC 3"/>
          <p:cNvSpPr/>
          <p:nvPr/>
        </p:nvSpPr>
        <p:spPr>
          <a:xfrm>
            <a:off x="6080760" y="434340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103" name="!!CC 4"/>
          <p:cNvSpPr/>
          <p:nvPr/>
        </p:nvSpPr>
        <p:spPr>
          <a:xfrm>
            <a:off x="6766560" y="434340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SECUENCIA C · 5 · HMGCS2 </a:t>
            </a:r>
            <a:r>
              <a:rPr lang="es-AR" sz="24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 ACETOACETATO </a:t>
            </a:r>
            <a:r>
              <a:rPr lang="es-AR" sz="24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 </a:t>
            </a:r>
            <a:r>
              <a:rPr lang="es-AR" sz="2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-HIDROXIBUTIRATO</a:t>
            </a:r>
            <a:endParaRPr lang="es-AR" sz="2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0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7"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 calcmode="lin" valueType="num">
                                      <p:cBhvr>
                                        <p:cTn id="5" dur="500" fill="hold"/>
                                        <p:tgtEl>
                                          <p:spTgt spid="41"/>
                                        </p:tgtEl>
                                        <p:attrNameLst>
                                          <p:attrName>ppt_w</p:attrName>
                                        </p:attrNameLst>
                                      </p:cBhvr>
                                      <p:tavLst>
                                        <p:tav tm="0">
                                          <p:val>
                                            <p:fltVal val="0"/>
                                          </p:val>
                                        </p:tav>
                                        <p:tav tm="100000">
                                          <p:val>
                                            <p:strVal val="#ppt_w"/>
                                          </p:val>
                                        </p:tav>
                                      </p:tavLst>
                                    </p:anim>
                                    <p:anim calcmode="lin" valueType="num">
                                      <p:cBhvr>
                                        <p:cTn id="6" dur="500" fill="hold"/>
                                        <p:tgtEl>
                                          <p:spTgt spid="41"/>
                                        </p:tgtEl>
                                        <p:attrNameLst>
                                          <p:attrName>ppt_h</p:attrName>
                                        </p:attrNameLst>
                                      </p:cBhvr>
                                      <p:tavLst>
                                        <p:tav tm="0">
                                          <p:val>
                                            <p:fltVal val="0"/>
                                          </p:val>
                                        </p:tav>
                                        <p:tav tm="100000">
                                          <p:val>
                                            <p:strVal val="#ppt_h"/>
                                          </p:val>
                                        </p:tav>
                                      </p:tavLst>
                                    </p:anim>
                                    <p:animEffect transition="in" filter="fade">
                                      <p:cBhvr>
                                        <p:cTn id="7" dur="500"/>
                                        <p:tgtEl>
                                          <p:spTgt spid="41"/>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6"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500"/>
                                        <p:tgtEl>
                                          <p:spTgt spid="69"/>
                                        </p:tgtEl>
                                      </p:cBhvr>
                                    </p:animEffect>
                                  </p:childTnLst>
                                </p:cTn>
                              </p:par>
                            </p:childTnLst>
                          </p:cTn>
                        </p:par>
                      </p:childTnLst>
                    </p:cTn>
                  </p:par>
                  <p:par>
                    <p:cTn id="38"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fade">
                                      <p:cBhvr>
                                        <p:cTn id="20" dur="150"/>
                                        <p:tgtEl>
                                          <p:spTgt spid="99"/>
                                        </p:tgtEl>
                                      </p:cBhvr>
                                    </p:animEffect>
                                  </p:childTnLst>
                                </p:cTn>
                              </p:par>
                            </p:childTnLst>
                          </p:cTn>
                        </p:par>
                        <p:par>
                          <p:cTn id="25" fill="hold">
                            <p:stCondLst>
                              <p:cond delay="150"/>
                            </p:stCondLst>
                            <p:childTnLst>
                              <p:par>
                                <p:cTn id="22" presetID="10" presetClass="entr" presetSubtype="0" fill="hold" grpId="0" nodeType="afterEffect">
                                  <p:stCondLst>
                                    <p:cond delay="0"/>
                                  </p:stCondLst>
                                  <p:childTnLst>
                                    <p:set>
                                      <p:cBhvr>
                                        <p:cTn id="23" dur="1" fill="hold">
                                          <p:stCondLst>
                                            <p:cond delay="0"/>
                                          </p:stCondLst>
                                        </p:cTn>
                                        <p:tgtEl>
                                          <p:spTgt spid="100"/>
                                        </p:tgtEl>
                                        <p:attrNameLst>
                                          <p:attrName>style.visibility</p:attrName>
                                        </p:attrNameLst>
                                      </p:cBhvr>
                                      <p:to>
                                        <p:strVal val="visible"/>
                                      </p:to>
                                    </p:set>
                                    <p:animEffect transition="in" filter="fade">
                                      <p:cBhvr>
                                        <p:cTn id="24" dur="150"/>
                                        <p:tgtEl>
                                          <p:spTgt spid="100"/>
                                        </p:tgtEl>
                                      </p:cBhvr>
                                    </p:animEffect>
                                  </p:childTnLst>
                                </p:cTn>
                              </p:par>
                            </p:childTnLst>
                          </p:cTn>
                        </p:par>
                        <p:par>
                          <p:cTn id="29" fill="hold">
                            <p:stCondLst>
                              <p:cond delay="300"/>
                            </p:stCondLst>
                            <p:childTnLst>
                              <p:par>
                                <p:cTn id="26" presetID="10" presetClass="entr" presetSubtype="0" fill="hold" grpId="0" nodeType="after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fade">
                                      <p:cBhvr>
                                        <p:cTn id="28" dur="150"/>
                                        <p:tgtEl>
                                          <p:spTgt spid="101"/>
                                        </p:tgtEl>
                                      </p:cBhvr>
                                    </p:animEffect>
                                  </p:childTnLst>
                                </p:cTn>
                              </p:par>
                            </p:childTnLst>
                          </p:cTn>
                        </p:par>
                        <p:par>
                          <p:cTn id="33" fill="hold">
                            <p:stCondLst>
                              <p:cond delay="450"/>
                            </p:stCondLst>
                            <p:childTnLst>
                              <p:par>
                                <p:cTn id="30" presetID="10" presetClass="entr" presetSubtype="0" fill="hold" grpId="0" nodeType="afterEffect">
                                  <p:stCondLst>
                                    <p:cond delay="0"/>
                                  </p:stCondLst>
                                  <p:childTnLst>
                                    <p:set>
                                      <p:cBhvr>
                                        <p:cTn id="31" dur="1" fill="hold">
                                          <p:stCondLst>
                                            <p:cond delay="0"/>
                                          </p:stCondLst>
                                        </p:cTn>
                                        <p:tgtEl>
                                          <p:spTgt spid="102"/>
                                        </p:tgtEl>
                                        <p:attrNameLst>
                                          <p:attrName>style.visibility</p:attrName>
                                        </p:attrNameLst>
                                      </p:cBhvr>
                                      <p:to>
                                        <p:strVal val="visible"/>
                                      </p:to>
                                    </p:set>
                                    <p:animEffect transition="in" filter="fade">
                                      <p:cBhvr>
                                        <p:cTn id="32" dur="150"/>
                                        <p:tgtEl>
                                          <p:spTgt spid="102"/>
                                        </p:tgtEl>
                                      </p:cBhvr>
                                    </p:animEffect>
                                  </p:childTnLst>
                                </p:cTn>
                              </p:par>
                            </p:childTnLst>
                          </p:cTn>
                        </p:par>
                        <p:par>
                          <p:cTn id="37" fill="hold">
                            <p:stCondLst>
                              <p:cond delay="600"/>
                            </p:stCondLst>
                            <p:childTnLst>
                              <p:par>
                                <p:cTn id="34" presetID="10" presetClass="entr" presetSubtype="0" fill="hold" grpId="0" nodeType="afterEffect">
                                  <p:stCondLst>
                                    <p:cond delay="0"/>
                                  </p:stCondLst>
                                  <p:childTnLst>
                                    <p:set>
                                      <p:cBhvr>
                                        <p:cTn id="35" dur="1" fill="hold">
                                          <p:stCondLst>
                                            <p:cond delay="0"/>
                                          </p:stCondLst>
                                        </p:cTn>
                                        <p:tgtEl>
                                          <p:spTgt spid="103"/>
                                        </p:tgtEl>
                                        <p:attrNameLst>
                                          <p:attrName>style.visibility</p:attrName>
                                        </p:attrNameLst>
                                      </p:cBhvr>
                                      <p:to>
                                        <p:strVal val="visible"/>
                                      </p:to>
                                    </p:set>
                                    <p:animEffect transition="in" filter="fade">
                                      <p:cBhvr>
                                        <p:cTn id="36" dur="150"/>
                                        <p:tgtEl>
                                          <p:spTgt spid="103"/>
                                        </p:tgtEl>
                                      </p:cBhvr>
                                    </p:animEffect>
                                  </p:childTnLst>
                                </p:cTn>
                              </p:par>
                            </p:childTnLst>
                          </p:cTn>
                        </p:par>
                      </p:childTnLst>
                    </p:cTn>
                  </p:par>
                  <p:par>
                    <p:cTn id="54" fill="hold">
                      <p:stCondLst>
                        <p:cond delay="indefinite"/>
                      </p:stCondLst>
                      <p:childTnLst>
                        <p:par>
                          <p:cTn id="41" fill="hold">
                            <p:stCondLst>
                              <p:cond delay="0"/>
                            </p:stCondLst>
                            <p:childTnLst>
                              <p:par>
                                <p:cTn id="39" presetID="0" presetClass="path" presetSubtype="0" accel="20000" decel="20000" fill="hold" grpId="0" nodeType="clickEffect">
                                  <p:stCondLst>
                                    <p:cond delay="0"/>
                                  </p:stCondLst>
                                  <p:childTnLst>
                                    <p:animMotion origin="layout" path="M 0 0 L 0.0300 0.0933 E" pathEditMode="relative" ptsTypes="">
                                      <p:cBhvr>
                                        <p:cTn id="40" dur="1100" fill="hold"/>
                                        <p:tgtEl>
                                          <p:spTgt spid="99"/>
                                        </p:tgtEl>
                                        <p:attrNameLst>
                                          <p:attrName>ppt_x</p:attrName>
                                          <p:attrName>ppt_y</p:attrName>
                                        </p:attrNameLst>
                                      </p:cBhvr>
                                      <p:rCtr x="1500" y="4666"/>
                                    </p:animMotion>
                                  </p:childTnLst>
                                </p:cTn>
                              </p:par>
                            </p:childTnLst>
                          </p:cTn>
                        </p:par>
                        <p:par>
                          <p:cTn id="44" fill="hold">
                            <p:stCondLst>
                              <p:cond delay="150"/>
                            </p:stCondLst>
                            <p:childTnLst>
                              <p:par>
                                <p:cTn id="42" presetID="0" presetClass="path" presetSubtype="0" accel="20000" decel="20000" fill="hold" grpId="0" nodeType="afterEffect">
                                  <p:stCondLst>
                                    <p:cond delay="0"/>
                                  </p:stCondLst>
                                  <p:childTnLst>
                                    <p:animMotion origin="layout" path="M 0 0 L 0.0525 0.0933 E" pathEditMode="relative" ptsTypes="">
                                      <p:cBhvr>
                                        <p:cTn id="43" dur="1100" fill="hold"/>
                                        <p:tgtEl>
                                          <p:spTgt spid="100"/>
                                        </p:tgtEl>
                                        <p:attrNameLst>
                                          <p:attrName>ppt_x</p:attrName>
                                          <p:attrName>ppt_y</p:attrName>
                                        </p:attrNameLst>
                                      </p:cBhvr>
                                      <p:rCtr x="2625" y="4666"/>
                                    </p:animMotion>
                                  </p:childTnLst>
                                </p:cTn>
                              </p:par>
                            </p:childTnLst>
                          </p:cTn>
                        </p:par>
                        <p:par>
                          <p:cTn id="47" fill="hold">
                            <p:stCondLst>
                              <p:cond delay="450"/>
                            </p:stCondLst>
                            <p:childTnLst>
                              <p:par>
                                <p:cTn id="45" presetID="0" presetClass="path" presetSubtype="0" accel="20000" decel="20000" fill="hold" grpId="0" nodeType="afterEffect">
                                  <p:stCondLst>
                                    <p:cond delay="0"/>
                                  </p:stCondLst>
                                  <p:childTnLst>
                                    <p:animMotion origin="layout" path="M 0 0 L 0.0750 0.0933 E" pathEditMode="relative" ptsTypes="">
                                      <p:cBhvr>
                                        <p:cTn id="46" dur="1100" fill="hold"/>
                                        <p:tgtEl>
                                          <p:spTgt spid="101"/>
                                        </p:tgtEl>
                                        <p:attrNameLst>
                                          <p:attrName>ppt_x</p:attrName>
                                          <p:attrName>ppt_y</p:attrName>
                                        </p:attrNameLst>
                                      </p:cBhvr>
                                      <p:rCtr x="3750" y="4666"/>
                                    </p:animMotion>
                                  </p:childTnLst>
                                </p:cTn>
                              </p:par>
                            </p:childTnLst>
                          </p:cTn>
                        </p:par>
                        <p:par>
                          <p:cTn id="50" fill="hold">
                            <p:stCondLst>
                              <p:cond delay="900"/>
                            </p:stCondLst>
                            <p:childTnLst>
                              <p:par>
                                <p:cTn id="48" presetID="0" presetClass="path" presetSubtype="0" accel="20000" decel="20000" fill="hold" grpId="0" nodeType="afterEffect">
                                  <p:stCondLst>
                                    <p:cond delay="0"/>
                                  </p:stCondLst>
                                  <p:childTnLst>
                                    <p:animMotion origin="layout" path="M 0 0 L 0.0975 0.0933 E" pathEditMode="relative" ptsTypes="">
                                      <p:cBhvr>
                                        <p:cTn id="49" dur="1100" fill="hold"/>
                                        <p:tgtEl>
                                          <p:spTgt spid="102"/>
                                        </p:tgtEl>
                                        <p:attrNameLst>
                                          <p:attrName>ppt_x</p:attrName>
                                          <p:attrName>ppt_y</p:attrName>
                                        </p:attrNameLst>
                                      </p:cBhvr>
                                      <p:rCtr x="4875" y="4666"/>
                                    </p:animMotion>
                                  </p:childTnLst>
                                </p:cTn>
                              </p:par>
                            </p:childTnLst>
                          </p:cTn>
                        </p:par>
                        <p:par>
                          <p:cTn id="53" fill="hold">
                            <p:stCondLst>
                              <p:cond delay="1500"/>
                            </p:stCondLst>
                            <p:childTnLst>
                              <p:par>
                                <p:cTn id="51" presetID="0" presetClass="path" presetSubtype="0" accel="20000" decel="20000" fill="hold" grpId="0" nodeType="afterEffect">
                                  <p:stCondLst>
                                    <p:cond delay="0"/>
                                  </p:stCondLst>
                                  <p:childTnLst>
                                    <p:animMotion origin="layout" path="M 0 0 L 0.1200 0.0933 E" pathEditMode="relative" ptsTypes="">
                                      <p:cBhvr>
                                        <p:cTn id="52" dur="1100" fill="hold"/>
                                        <p:tgtEl>
                                          <p:spTgt spid="103"/>
                                        </p:tgtEl>
                                        <p:attrNameLst>
                                          <p:attrName>ppt_x</p:attrName>
                                          <p:attrName>ppt_y</p:attrName>
                                        </p:attrNameLst>
                                      </p:cBhvr>
                                      <p:rCtr x="6000" y="46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99" grpId="0" animBg="1"/>
      <p:bldP spid="100" grpId="0" animBg="1"/>
      <p:bldP spid="101" grpId="0" animBg="1"/>
      <p:bldP spid="102" grpId="0" animBg="1"/>
      <p:bldP spid="103"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Adipocito C"/>
          <p:cNvSpPr/>
          <p:nvPr/>
        </p:nvSpPr>
        <p:spPr>
          <a:xfrm>
            <a:off x="320040" y="1143000"/>
            <a:ext cx="2651760" cy="265176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7" name="!!Gota lipídica C"/>
          <p:cNvSpPr/>
          <p:nvPr/>
        </p:nvSpPr>
        <p:spPr>
          <a:xfrm>
            <a:off x="891540" y="1714500"/>
            <a:ext cx="1508760" cy="150876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8" name="!!Rótulo adipocito C"/>
          <p:cNvSpPr/>
          <p:nvPr/>
        </p:nvSpPr>
        <p:spPr>
          <a:xfrm>
            <a:off x="548640" y="3886200"/>
            <a:ext cx="21945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ADIPOCITO</a:t>
            </a:r>
            <a:endParaRPr lang="es-AR" sz="1250" dirty="0">
              <a:latin typeface="Fira Sans Condensed"/>
            </a:endParaRPr>
          </a:p>
        </p:txBody>
      </p:sp>
      <p:sp>
        <p:nvSpPr>
          <p:cNvPr id="9" name="!!Hepatocito C"/>
          <p:cNvSpPr/>
          <p:nvPr/>
        </p:nvSpPr>
        <p:spPr>
          <a:xfrm>
            <a:off x="3337560" y="1051560"/>
            <a:ext cx="4343400" cy="3246120"/>
          </a:xfrm>
          <a:prstGeom prst="roundRect">
            <a:avLst>
              <a:gd name="adj" fmla="val 20000"/>
            </a:avLst>
          </a:prstGeom>
          <a:gradFill rotWithShape="1">
            <a:gsLst>
              <a:gs pos="0">
                <a:srgbClr val="F2CABE"/>
              </a:gs>
              <a:gs pos="55000">
                <a:srgbClr val="E8A08A"/>
              </a:gs>
              <a:gs pos="100000">
                <a:srgbClr val="AE7867"/>
              </a:gs>
            </a:gsLst>
            <a:path path="circle">
              <a:fillToRect l="32000" t="28000" r="68000" b="72000"/>
            </a:path>
          </a:gradFill>
          <a:ln w="25400" cap="rnd">
            <a:solidFill>
              <a:srgbClr val="8E3B2A"/>
            </a:solidFill>
            <a:round/>
          </a:ln>
          <a:effectLst>
            <a:outerShdw blurRad="63500" dist="38100" dir="2700000" algn="tl" rotWithShape="0">
              <a:srgbClr val="000000">
                <a:alpha val="32000"/>
              </a:srgbClr>
            </a:outerShdw>
          </a:effectLst>
        </p:spPr>
      </p:sp>
      <p:sp>
        <p:nvSpPr>
          <p:cNvPr id="10" name="!!Rótulo hepatocito C"/>
          <p:cNvSpPr/>
          <p:nvPr/>
        </p:nvSpPr>
        <p:spPr>
          <a:xfrm>
            <a:off x="3520440" y="1188720"/>
            <a:ext cx="17373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HEPATOCITO</a:t>
            </a:r>
            <a:endParaRPr lang="es-AR" sz="1250" dirty="0">
              <a:latin typeface="Fira Sans Condensed"/>
            </a:endParaRPr>
          </a:p>
        </p:txBody>
      </p:sp>
      <p:grpSp>
        <p:nvGrpSpPr>
          <p:cNvPr id="11" name="!!Mitocondria C"/>
          <p:cNvGrpSpPr/>
          <p:nvPr/>
        </p:nvGrpSpPr>
        <p:grpSpPr>
          <a:xfrm>
            <a:off x="4206240" y="2011680"/>
            <a:ext cx="3246120" cy="1920240"/>
            <a:chOff x="4206240" y="2011680"/>
            <a:chExt cx="3246120" cy="1920240"/>
          </a:xfrm>
        </p:grpSpPr>
        <p:sp>
          <p:nvSpPr>
            <p:cNvPr id="12" name="Forma 11"/>
            <p:cNvSpPr/>
            <p:nvPr/>
          </p:nvSpPr>
          <p:spPr>
            <a:xfrm>
              <a:off x="4206240" y="2011680"/>
              <a:ext cx="3246120" cy="19202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a:off x="4433468" y="2280514"/>
              <a:ext cx="2791663" cy="1382573"/>
            </a:xfrm>
            <a:prstGeom prst="ellipse">
              <a:avLst/>
            </a:prstGeom>
            <a:solidFill>
              <a:srgbClr val="F8D8B4"/>
            </a:solidFill>
            <a:ln w="9525" cap="rnd">
              <a:solidFill>
                <a:srgbClr val="B2732B"/>
              </a:solidFill>
              <a:round/>
            </a:ln>
          </p:spPr>
        </p:sp>
        <p:sp>
          <p:nvSpPr>
            <p:cNvPr id="14" name="Forma 13"/>
            <p:cNvSpPr/>
            <p:nvPr/>
          </p:nvSpPr>
          <p:spPr>
            <a:xfrm>
              <a:off x="4433468" y="2280514"/>
              <a:ext cx="2791663" cy="1382573"/>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sp>
        <p:nvSpPr>
          <p:cNvPr id="15" name="!!Rótulo mito C"/>
          <p:cNvSpPr txBox="1"/>
          <p:nvPr/>
        </p:nvSpPr>
        <p:spPr>
          <a:xfrm>
            <a:off x="4937760" y="3931920"/>
            <a:ext cx="1828800" cy="27432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MITOCONDRIA</a:t>
            </a:r>
            <a:endParaRPr lang="es-AR" sz="1150" dirty="0">
              <a:latin typeface="Fira Sans Condensed"/>
            </a:endParaRPr>
          </a:p>
        </p:txBody>
      </p:sp>
      <p:grpSp>
        <p:nvGrpSpPr>
          <p:cNvPr id="16" name="!!Sangre C"/>
          <p:cNvGrpSpPr/>
          <p:nvPr/>
        </p:nvGrpSpPr>
        <p:grpSpPr>
          <a:xfrm>
            <a:off x="274320" y="4572000"/>
            <a:ext cx="11612880" cy="1051560"/>
            <a:chOff x="274320" y="4572000"/>
            <a:chExt cx="11612880" cy="1051560"/>
          </a:xfrm>
        </p:grpSpPr>
        <p:sp>
          <p:nvSpPr>
            <p:cNvPr id="17" name="Forma 16"/>
            <p:cNvSpPr/>
            <p:nvPr/>
          </p:nvSpPr>
          <p:spPr>
            <a:xfrm>
              <a:off x="274320" y="4572000"/>
              <a:ext cx="11612880" cy="105156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18" name="Forma 17"/>
            <p:cNvSpPr/>
            <p:nvPr/>
          </p:nvSpPr>
          <p:spPr>
            <a:xfrm>
              <a:off x="432054" y="4761281"/>
              <a:ext cx="11297412" cy="67299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9" name="Eritrocito"/>
            <p:cNvSpPr/>
            <p:nvPr/>
          </p:nvSpPr>
          <p:spPr>
            <a:xfrm>
              <a:off x="1001710" y="5084064"/>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2"/>
            <p:cNvSpPr/>
            <p:nvPr/>
          </p:nvSpPr>
          <p:spPr>
            <a:xfrm>
              <a:off x="1691317" y="485720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3"/>
            <p:cNvSpPr/>
            <p:nvPr/>
          </p:nvSpPr>
          <p:spPr>
            <a:xfrm>
              <a:off x="3104102" y="502836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2" name="Eritrocito_4"/>
            <p:cNvSpPr/>
            <p:nvPr/>
          </p:nvSpPr>
          <p:spPr>
            <a:xfrm>
              <a:off x="4109841" y="491589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3" name="Eritrocito_5"/>
            <p:cNvSpPr/>
            <p:nvPr/>
          </p:nvSpPr>
          <p:spPr>
            <a:xfrm>
              <a:off x="5159521" y="4994412"/>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4" name="Eritrocito_6"/>
            <p:cNvSpPr/>
            <p:nvPr/>
          </p:nvSpPr>
          <p:spPr>
            <a:xfrm>
              <a:off x="6226025" y="4876527"/>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5" name="Eritrocito_7"/>
            <p:cNvSpPr/>
            <p:nvPr/>
          </p:nvSpPr>
          <p:spPr>
            <a:xfrm>
              <a:off x="7238328" y="4938346"/>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6" name="Eritrocito_8"/>
            <p:cNvSpPr/>
            <p:nvPr/>
          </p:nvSpPr>
          <p:spPr>
            <a:xfrm>
              <a:off x="8441451" y="509641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7" name="Eritrocito_9"/>
            <p:cNvSpPr/>
            <p:nvPr/>
          </p:nvSpPr>
          <p:spPr>
            <a:xfrm>
              <a:off x="9616155" y="4977949"/>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8" name="Eritrocito_10"/>
            <p:cNvSpPr/>
            <p:nvPr/>
          </p:nvSpPr>
          <p:spPr>
            <a:xfrm>
              <a:off x="10475929" y="4905408"/>
              <a:ext cx="441655" cy="441655"/>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9" name="!!Rótulo sangre C"/>
          <p:cNvSpPr/>
          <p:nvPr/>
        </p:nvSpPr>
        <p:spPr>
          <a:xfrm>
            <a:off x="365760" y="5715000"/>
            <a:ext cx="1280160" cy="3657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SANGRE</a:t>
            </a:r>
            <a:endParaRPr lang="es-AR" sz="1250" dirty="0">
              <a:latin typeface="Fira Sans Condensed"/>
            </a:endParaRPr>
          </a:p>
        </p:txBody>
      </p:sp>
      <p:pic>
        <p:nvPicPr>
          <p:cNvPr id="30" name="!!Pulmón C" descr="Ilustración biomédica (Servier Medical Art, CC BY)"/>
          <p:cNvPicPr>
            <a:picLocks noChangeAspect="1"/>
          </p:cNvPicPr>
          <p:nvPr/>
        </p:nvPicPr>
        <p:blipFill>
          <a:blip r:embed="rId2"/>
          <a:stretch>
            <a:fillRect/>
          </a:stretch>
        </p:blipFill>
        <p:spPr>
          <a:xfrm>
            <a:off x="9921240" y="914400"/>
            <a:ext cx="1737360" cy="1987176"/>
          </a:xfrm>
          <a:prstGeom prst="rect">
            <a:avLst/>
          </a:prstGeom>
        </p:spPr>
      </p:pic>
      <p:grpSp>
        <p:nvGrpSpPr>
          <p:cNvPr id="31" name="!!Progreso C"/>
          <p:cNvGrpSpPr/>
          <p:nvPr/>
        </p:nvGrpSpPr>
        <p:grpSpPr>
          <a:xfrm>
            <a:off x="1874520" y="5760720"/>
            <a:ext cx="8458200" cy="384048"/>
            <a:chOff x="1874520" y="5760720"/>
            <a:chExt cx="8458200" cy="384048"/>
          </a:xfrm>
        </p:grpSpPr>
        <p:sp>
          <p:nvSpPr>
            <p:cNvPr id="32" name="Forma 31"/>
            <p:cNvSpPr/>
            <p:nvPr/>
          </p:nvSpPr>
          <p:spPr>
            <a:xfrm>
              <a:off x="187452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Lipólisis</a:t>
              </a:r>
              <a:endParaRPr lang="es-AR" sz="1150" dirty="0">
                <a:latin typeface="Fira Sans Condensed"/>
              </a:endParaRPr>
            </a:p>
          </p:txBody>
        </p:sp>
        <p:sp>
          <p:nvSpPr>
            <p:cNvPr id="33" name="Forma 32"/>
            <p:cNvSpPr/>
            <p:nvPr/>
          </p:nvSpPr>
          <p:spPr>
            <a:xfrm>
              <a:off x="329184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en sangre</a:t>
              </a:r>
              <a:endParaRPr lang="es-AR" sz="1150" dirty="0">
                <a:latin typeface="Fira Sans Condensed"/>
              </a:endParaRPr>
            </a:p>
          </p:txBody>
        </p:sp>
        <p:sp>
          <p:nvSpPr>
            <p:cNvPr id="34" name="Forma 33"/>
            <p:cNvSpPr/>
            <p:nvPr/>
          </p:nvSpPr>
          <p:spPr>
            <a:xfrm>
              <a:off x="470916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Hepatocito</a:t>
              </a:r>
              <a:endParaRPr lang="es-AR" sz="1150" dirty="0">
                <a:latin typeface="Fira Sans Condensed"/>
              </a:endParaRPr>
            </a:p>
          </p:txBody>
        </p:sp>
        <p:sp>
          <p:nvSpPr>
            <p:cNvPr id="35" name="Forma 34"/>
            <p:cNvSpPr/>
            <p:nvPr/>
          </p:nvSpPr>
          <p:spPr>
            <a:xfrm>
              <a:off x="612648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Mitocondria</a:t>
              </a:r>
              <a:endParaRPr lang="es-AR" sz="1150" dirty="0">
                <a:latin typeface="Fira Sans Condensed"/>
              </a:endParaRPr>
            </a:p>
          </p:txBody>
        </p:sp>
        <p:sp>
          <p:nvSpPr>
            <p:cNvPr id="36" name="Forma 35"/>
            <p:cNvSpPr/>
            <p:nvPr/>
          </p:nvSpPr>
          <p:spPr>
            <a:xfrm>
              <a:off x="7543800" y="5760720"/>
              <a:ext cx="1371600" cy="384048"/>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Cetogénesis</a:t>
              </a:r>
              <a:endParaRPr lang="es-AR" sz="1150" dirty="0">
                <a:latin typeface="Fira Sans Condensed"/>
              </a:endParaRPr>
            </a:p>
          </p:txBody>
        </p:sp>
        <p:sp>
          <p:nvSpPr>
            <p:cNvPr id="37" name="Forma 36"/>
            <p:cNvSpPr/>
            <p:nvPr/>
          </p:nvSpPr>
          <p:spPr>
            <a:xfrm>
              <a:off x="8961120" y="5760720"/>
              <a:ext cx="1371600" cy="384048"/>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Ácido-base</a:t>
              </a:r>
              <a:endParaRPr lang="es-AR" sz="1150" dirty="0">
                <a:latin typeface="Fira Sans Condensed"/>
              </a:endParaRPr>
            </a:p>
          </p:txBody>
        </p:sp>
      </p:grpSp>
      <p:grpSp>
        <p:nvGrpSpPr>
          <p:cNvPr id="38" name="!!Panel C"/>
          <p:cNvGrpSpPr/>
          <p:nvPr/>
        </p:nvGrpSpPr>
        <p:grpSpPr>
          <a:xfrm>
            <a:off x="7909560" y="2788920"/>
            <a:ext cx="3931920" cy="1691640"/>
            <a:chOff x="7909560" y="2788920"/>
            <a:chExt cx="3931920" cy="1691640"/>
          </a:xfrm>
        </p:grpSpPr>
        <p:sp>
          <p:nvSpPr>
            <p:cNvPr id="39" name="Forma 38"/>
            <p:cNvSpPr/>
            <p:nvPr/>
          </p:nvSpPr>
          <p:spPr>
            <a:xfrm>
              <a:off x="7909560" y="2990088"/>
              <a:ext cx="393192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H⁺ + HCO₃⁻ </a:t>
              </a:r>
              <a:r>
                <a:rPr lang="es-AR" sz="1350" dirty="0">
                  <a:solidFill>
                    <a:srgbClr val="1E1E1E"/>
                  </a:solidFill>
                  <a:latin typeface="Cambria Math"/>
                  <a:ea typeface="Cambria Math"/>
                  <a:cs typeface="Cambria Math"/>
                  <a:sym typeface="Cambria Math"/>
                </a:rPr>
                <a:t>⇌</a:t>
              </a:r>
              <a:r>
                <a:rPr lang="es-AR" sz="1350" dirty="0">
                  <a:solidFill>
                    <a:srgbClr val="1E1E1E"/>
                  </a:solidFill>
                  <a:latin typeface="Fira Sans Condensed"/>
                  <a:ea typeface="Fira Sans Condensed"/>
                  <a:cs typeface="Fira Sans Condensed"/>
                  <a:sym typeface="Fira Sans Condensed"/>
                </a:rPr>
                <a:t> H₂CO₃ </a:t>
              </a:r>
              <a:r>
                <a:rPr lang="es-AR" sz="1350" dirty="0">
                  <a:solidFill>
                    <a:srgbClr val="1E1E1E"/>
                  </a:solidFill>
                  <a:latin typeface="Cambria Math"/>
                  <a:ea typeface="Cambria Math"/>
                  <a:cs typeface="Cambria Math"/>
                  <a:sym typeface="Cambria Math"/>
                </a:rPr>
                <a:t>⇌</a:t>
              </a:r>
              <a:r>
                <a:rPr lang="es-AR" sz="1350" dirty="0">
                  <a:solidFill>
                    <a:srgbClr val="1E1E1E"/>
                  </a:solidFill>
                  <a:latin typeface="Fira Sans Condensed"/>
                  <a:ea typeface="Fira Sans Condensed"/>
                  <a:cs typeface="Fira Sans Condensed"/>
                  <a:sym typeface="Fira Sans Condensed"/>
                </a:rPr>
                <a:t> CO₂ + H₂O. El </a:t>
              </a:r>
              <a:r>
                <a:rPr lang="es-AR" sz="1350" b="1" dirty="0">
                  <a:solidFill>
                    <a:srgbClr val="1E1E1E"/>
                  </a:solidFill>
                  <a:latin typeface="Fira Sans Condensed"/>
                  <a:ea typeface="Fira Sans Condensed"/>
                  <a:cs typeface="Fira Sans Condensed"/>
                  <a:sym typeface="Fira Sans Condensed"/>
                </a:rPr>
                <a:t>HCO₃⁻ se consume</a:t>
              </a:r>
              <a:r>
                <a:rPr lang="es-AR" sz="1350" dirty="0">
                  <a:solidFill>
                    <a:srgbClr val="1E1E1E"/>
                  </a:solidFill>
                  <a:latin typeface="Fira Sans Condensed"/>
                  <a:ea typeface="Fira Sans Condensed"/>
                  <a:cs typeface="Fira Sans Condensed"/>
                  <a:sym typeface="Fira Sans Condensed"/>
                </a:rPr>
                <a:t>; el </a:t>
              </a:r>
              <a:r>
                <a:rPr lang="es-AR" sz="1350" b="1" dirty="0">
                  <a:solidFill>
                    <a:srgbClr val="1E1E1E"/>
                  </a:solidFill>
                  <a:latin typeface="Fira Sans Condensed"/>
                  <a:ea typeface="Fira Sans Condensed"/>
                  <a:cs typeface="Fira Sans Condensed"/>
                  <a:sym typeface="Fira Sans Condensed"/>
                </a:rPr>
                <a:t>CO₂</a:t>
              </a:r>
              <a:r>
                <a:rPr lang="es-AR" sz="1350" dirty="0">
                  <a:solidFill>
                    <a:srgbClr val="1E1E1E"/>
                  </a:solidFill>
                  <a:latin typeface="Fira Sans Condensed"/>
                  <a:ea typeface="Fira Sans Condensed"/>
                  <a:cs typeface="Fira Sans Condensed"/>
                  <a:sym typeface="Fira Sans Condensed"/>
                </a:rPr>
                <a:t> se elimina por </a:t>
              </a:r>
              <a:r>
                <a:rPr lang="es-AR" sz="1350" b="1" dirty="0">
                  <a:solidFill>
                    <a:srgbClr val="1E1E1E"/>
                  </a:solidFill>
                  <a:latin typeface="Fira Sans Condensed"/>
                  <a:ea typeface="Fira Sans Condensed"/>
                  <a:cs typeface="Fira Sans Condensed"/>
                  <a:sym typeface="Fira Sans Condensed"/>
                </a:rPr>
                <a:t>hiperventilación</a:t>
              </a:r>
              <a:r>
                <a:rPr lang="es-AR" sz="1350" dirty="0">
                  <a:solidFill>
                    <a:srgbClr val="1E1E1E"/>
                  </a:solidFill>
                  <a:latin typeface="Fira Sans Condensed"/>
                  <a:ea typeface="Fira Sans Condensed"/>
                  <a:cs typeface="Fira Sans Condensed"/>
                  <a:sym typeface="Fira Sans Condensed"/>
                </a:rPr>
                <a:t> (Kussmaul) para limitar la caída del pH.</a:t>
              </a:r>
              <a:endParaRPr lang="es-AR" sz="1350" dirty="0">
                <a:latin typeface="Fira Sans Condensed"/>
              </a:endParaRPr>
            </a:p>
          </p:txBody>
        </p:sp>
        <p:sp>
          <p:nvSpPr>
            <p:cNvPr id="40" name="Forma 39"/>
            <p:cNvSpPr/>
            <p:nvPr/>
          </p:nvSpPr>
          <p:spPr>
            <a:xfrm>
              <a:off x="8046720" y="2788920"/>
              <a:ext cx="217441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TAMPÓN BICARBONATO</a:t>
              </a:r>
              <a:endParaRPr lang="es-AR" sz="1400" dirty="0">
                <a:latin typeface="Fira Sans Condensed"/>
              </a:endParaRPr>
            </a:p>
          </p:txBody>
        </p:sp>
      </p:grpSp>
      <p:sp>
        <p:nvSpPr>
          <p:cNvPr id="41" name="!!CC 0"/>
          <p:cNvSpPr/>
          <p:nvPr/>
        </p:nvSpPr>
        <p:spPr>
          <a:xfrm>
            <a:off x="4754880" y="498348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2" name="!!CC 1"/>
          <p:cNvSpPr/>
          <p:nvPr/>
        </p:nvSpPr>
        <p:spPr>
          <a:xfrm>
            <a:off x="5715000" y="498348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3" name="!!CC 2"/>
          <p:cNvSpPr/>
          <p:nvPr/>
        </p:nvSpPr>
        <p:spPr>
          <a:xfrm>
            <a:off x="6675120" y="498348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4" name="!!CC 3"/>
          <p:cNvSpPr/>
          <p:nvPr/>
        </p:nvSpPr>
        <p:spPr>
          <a:xfrm>
            <a:off x="7635240" y="498348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5" name="!!CC 4"/>
          <p:cNvSpPr/>
          <p:nvPr/>
        </p:nvSpPr>
        <p:spPr>
          <a:xfrm>
            <a:off x="8595360" y="4983480"/>
            <a:ext cx="365760" cy="36576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CC</a:t>
            </a:r>
            <a:endParaRPr lang="es-AR" sz="1160" dirty="0">
              <a:latin typeface="Fira Sans Condensed"/>
            </a:endParaRPr>
          </a:p>
        </p:txBody>
      </p:sp>
      <p:sp>
        <p:nvSpPr>
          <p:cNvPr id="46" name="H 0"/>
          <p:cNvSpPr/>
          <p:nvPr/>
        </p:nvSpPr>
        <p:spPr>
          <a:xfrm>
            <a:off x="4206240" y="470916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47" name="H 1"/>
          <p:cNvSpPr/>
          <p:nvPr/>
        </p:nvSpPr>
        <p:spPr>
          <a:xfrm>
            <a:off x="5394960" y="470916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48" name="H 2"/>
          <p:cNvSpPr/>
          <p:nvPr/>
        </p:nvSpPr>
        <p:spPr>
          <a:xfrm>
            <a:off x="6583680" y="470916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49" name="H 3"/>
          <p:cNvSpPr/>
          <p:nvPr/>
        </p:nvSpPr>
        <p:spPr>
          <a:xfrm>
            <a:off x="7772400" y="470916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50" name="HCO3 0"/>
          <p:cNvSpPr/>
          <p:nvPr/>
        </p:nvSpPr>
        <p:spPr>
          <a:xfrm>
            <a:off x="4480560" y="5120640"/>
            <a:ext cx="566928" cy="329184"/>
          </a:xfrm>
          <a:prstGeom prst="roundRect">
            <a:avLst/>
          </a:prstGeom>
          <a:solidFill>
            <a:srgbClr val="9DC3E6"/>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HCO₃⁻</a:t>
            </a:r>
            <a:endParaRPr lang="es-AR" sz="950" dirty="0">
              <a:latin typeface="Fira Sans Condensed"/>
            </a:endParaRPr>
          </a:p>
        </p:txBody>
      </p:sp>
      <p:sp>
        <p:nvSpPr>
          <p:cNvPr id="51" name="HCO3 1"/>
          <p:cNvSpPr/>
          <p:nvPr/>
        </p:nvSpPr>
        <p:spPr>
          <a:xfrm>
            <a:off x="5669280" y="5120640"/>
            <a:ext cx="566928" cy="329184"/>
          </a:xfrm>
          <a:prstGeom prst="roundRect">
            <a:avLst/>
          </a:prstGeom>
          <a:solidFill>
            <a:srgbClr val="9DC3E6"/>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HCO₃⁻</a:t>
            </a:r>
            <a:endParaRPr lang="es-AR" sz="950" dirty="0">
              <a:latin typeface="Fira Sans Condensed"/>
            </a:endParaRPr>
          </a:p>
        </p:txBody>
      </p:sp>
      <p:sp>
        <p:nvSpPr>
          <p:cNvPr id="52" name="HCO3 2"/>
          <p:cNvSpPr/>
          <p:nvPr/>
        </p:nvSpPr>
        <p:spPr>
          <a:xfrm>
            <a:off x="6858000" y="5120640"/>
            <a:ext cx="566928" cy="329184"/>
          </a:xfrm>
          <a:prstGeom prst="roundRect">
            <a:avLst/>
          </a:prstGeom>
          <a:solidFill>
            <a:srgbClr val="9DC3E6"/>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HCO₃⁻</a:t>
            </a:r>
            <a:endParaRPr lang="es-AR" sz="950" dirty="0">
              <a:latin typeface="Fira Sans Condensed"/>
            </a:endParaRPr>
          </a:p>
        </p:txBody>
      </p:sp>
      <p:sp>
        <p:nvSpPr>
          <p:cNvPr id="53" name="HCO3 3"/>
          <p:cNvSpPr/>
          <p:nvPr/>
        </p:nvSpPr>
        <p:spPr>
          <a:xfrm>
            <a:off x="8046720" y="5120640"/>
            <a:ext cx="566928" cy="329184"/>
          </a:xfrm>
          <a:prstGeom prst="roundRect">
            <a:avLst/>
          </a:prstGeom>
          <a:solidFill>
            <a:srgbClr val="9DC3E6"/>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HCO₃⁻</a:t>
            </a:r>
            <a:endParaRPr lang="es-AR" sz="950" dirty="0">
              <a:latin typeface="Fira Sans Condensed"/>
            </a:endParaRPr>
          </a:p>
        </p:txBody>
      </p:sp>
      <p:sp>
        <p:nvSpPr>
          <p:cNvPr id="54" name="CO2 0"/>
          <p:cNvSpPr/>
          <p:nvPr/>
        </p:nvSpPr>
        <p:spPr>
          <a:xfrm>
            <a:off x="8229600" y="4754880"/>
            <a:ext cx="384048" cy="384048"/>
          </a:xfrm>
          <a:prstGeom prst="ellipse">
            <a:avLst/>
          </a:prstGeom>
          <a:gradFill rotWithShape="1">
            <a:gsLst>
              <a:gs pos="0">
                <a:srgbClr val="BAC4C5"/>
              </a:gs>
              <a:gs pos="55000">
                <a:srgbClr val="95A5A6"/>
              </a:gs>
              <a:gs pos="100000">
                <a:srgbClr val="778484"/>
              </a:gs>
            </a:gsLst>
            <a:path path="circle">
              <a:fillToRect l="32000" t="28000" r="68000" b="72000"/>
            </a:path>
          </a:gradFill>
          <a:ln w="12700" cap="rnd">
            <a:solidFill>
              <a:srgbClr val="515A5B"/>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CO</a:t>
            </a:r>
            <a:r>
              <a:rPr lang="es-AR" sz="1092" b="1" baseline="-25000" dirty="0">
                <a:solidFill>
                  <a:srgbClr val="1E1E1E"/>
                </a:solidFill>
                <a:latin typeface="Fira Sans Condensed"/>
                <a:ea typeface="Fira Sans Condensed"/>
                <a:cs typeface="Fira Sans Condensed"/>
                <a:sym typeface="Fira Sans Condensed"/>
              </a:rPr>
              <a:t>2</a:t>
            </a:r>
            <a:endParaRPr lang="es-AR" sz="1092" dirty="0">
              <a:latin typeface="Fira Sans Condensed"/>
            </a:endParaRPr>
          </a:p>
        </p:txBody>
      </p:sp>
      <p:sp>
        <p:nvSpPr>
          <p:cNvPr id="55" name="CO2 1"/>
          <p:cNvSpPr/>
          <p:nvPr/>
        </p:nvSpPr>
        <p:spPr>
          <a:xfrm>
            <a:off x="8686800" y="4754880"/>
            <a:ext cx="384048" cy="384048"/>
          </a:xfrm>
          <a:prstGeom prst="ellipse">
            <a:avLst/>
          </a:prstGeom>
          <a:gradFill rotWithShape="1">
            <a:gsLst>
              <a:gs pos="0">
                <a:srgbClr val="BAC4C5"/>
              </a:gs>
              <a:gs pos="55000">
                <a:srgbClr val="95A5A6"/>
              </a:gs>
              <a:gs pos="100000">
                <a:srgbClr val="778484"/>
              </a:gs>
            </a:gsLst>
            <a:path path="circle">
              <a:fillToRect l="32000" t="28000" r="68000" b="72000"/>
            </a:path>
          </a:gradFill>
          <a:ln w="12700" cap="rnd">
            <a:solidFill>
              <a:srgbClr val="515A5B"/>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CO</a:t>
            </a:r>
            <a:r>
              <a:rPr lang="es-AR" sz="1092" b="1" baseline="-25000" dirty="0">
                <a:solidFill>
                  <a:srgbClr val="1E1E1E"/>
                </a:solidFill>
                <a:latin typeface="Fira Sans Condensed"/>
                <a:ea typeface="Fira Sans Condensed"/>
                <a:cs typeface="Fira Sans Condensed"/>
                <a:sym typeface="Fira Sans Condensed"/>
              </a:rPr>
              <a:t>2</a:t>
            </a:r>
            <a:endParaRPr lang="es-AR" sz="1092" dirty="0">
              <a:latin typeface="Fira Sans Condensed"/>
            </a:endParaRPr>
          </a:p>
        </p:txBody>
      </p:sp>
      <p:sp>
        <p:nvSpPr>
          <p:cNvPr id="56" name="CO2 2"/>
          <p:cNvSpPr/>
          <p:nvPr/>
        </p:nvSpPr>
        <p:spPr>
          <a:xfrm>
            <a:off x="9144000" y="4754880"/>
            <a:ext cx="384048" cy="384048"/>
          </a:xfrm>
          <a:prstGeom prst="ellipse">
            <a:avLst/>
          </a:prstGeom>
          <a:gradFill rotWithShape="1">
            <a:gsLst>
              <a:gs pos="0">
                <a:srgbClr val="BAC4C5"/>
              </a:gs>
              <a:gs pos="55000">
                <a:srgbClr val="95A5A6"/>
              </a:gs>
              <a:gs pos="100000">
                <a:srgbClr val="778484"/>
              </a:gs>
            </a:gsLst>
            <a:path path="circle">
              <a:fillToRect l="32000" t="28000" r="68000" b="72000"/>
            </a:path>
          </a:gradFill>
          <a:ln w="12700" cap="rnd">
            <a:solidFill>
              <a:srgbClr val="515A5B"/>
            </a:solidFill>
            <a:round/>
          </a:ln>
        </p:spPr>
        <p:txBody>
          <a:bodyPr wrap="square" lIns="0" tIns="0" rIns="0" bIns="0" anchor="ctr" rtlCol="0">
            <a:noAutofit/>
          </a:bodyPr>
          <a:lstStyle/>
          <a:p>
            <a:pPr algn="ctr">
              <a:spcAft>
                <a:spcPts val="300"/>
              </a:spcAft>
              <a:buNone/>
            </a:pPr>
            <a:r>
              <a:rPr lang="es-AR" sz="1092" b="1" dirty="0">
                <a:solidFill>
                  <a:srgbClr val="1E1E1E"/>
                </a:solidFill>
                <a:latin typeface="Fira Sans Condensed"/>
                <a:ea typeface="Fira Sans Condensed"/>
                <a:cs typeface="Fira Sans Condensed"/>
                <a:sym typeface="Fira Sans Condensed"/>
              </a:rPr>
              <a:t>CO</a:t>
            </a:r>
            <a:r>
              <a:rPr lang="es-AR" sz="1092" b="1" baseline="-25000" dirty="0">
                <a:solidFill>
                  <a:srgbClr val="1E1E1E"/>
                </a:solidFill>
                <a:latin typeface="Fira Sans Condensed"/>
                <a:ea typeface="Fira Sans Condensed"/>
                <a:cs typeface="Fira Sans Condensed"/>
                <a:sym typeface="Fira Sans Condensed"/>
              </a:rPr>
              <a:t>2</a:t>
            </a:r>
            <a:endParaRPr lang="es-AR" sz="1092"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SECUENCIA C · 6 · CETOÁCIDOS, BICARBONATO Y KUSSMAUL</a:t>
            </a:r>
            <a:endParaRPr lang="es-AR" sz="28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5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69</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7"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46"/>
                                        </p:tgtEl>
                                        <p:attrNameLst>
                                          <p:attrName>style.visibility</p:attrName>
                                        </p:attrNameLst>
                                      </p:cBhvr>
                                      <p:to>
                                        <p:strVal val="visible"/>
                                      </p:to>
                                    </p:set>
                                    <p:anim calcmode="lin" valueType="num">
                                      <p:cBhvr>
                                        <p:cTn id="5" dur="200" fill="hold"/>
                                        <p:tgtEl>
                                          <p:spTgt spid="46"/>
                                        </p:tgtEl>
                                        <p:attrNameLst>
                                          <p:attrName>ppt_w</p:attrName>
                                        </p:attrNameLst>
                                      </p:cBhvr>
                                      <p:tavLst>
                                        <p:tav tm="0">
                                          <p:val>
                                            <p:fltVal val="0"/>
                                          </p:val>
                                        </p:tav>
                                        <p:tav tm="100000">
                                          <p:val>
                                            <p:strVal val="#ppt_w"/>
                                          </p:val>
                                        </p:tav>
                                      </p:tavLst>
                                    </p:anim>
                                    <p:anim calcmode="lin" valueType="num">
                                      <p:cBhvr>
                                        <p:cTn id="6" dur="200" fill="hold"/>
                                        <p:tgtEl>
                                          <p:spTgt spid="46"/>
                                        </p:tgtEl>
                                        <p:attrNameLst>
                                          <p:attrName>ppt_h</p:attrName>
                                        </p:attrNameLst>
                                      </p:cBhvr>
                                      <p:tavLst>
                                        <p:tav tm="0">
                                          <p:val>
                                            <p:fltVal val="0"/>
                                          </p:val>
                                        </p:tav>
                                        <p:tav tm="100000">
                                          <p:val>
                                            <p:strVal val="#ppt_h"/>
                                          </p:val>
                                        </p:tav>
                                      </p:tavLst>
                                    </p:anim>
                                    <p:animEffect transition="in" filter="fade">
                                      <p:cBhvr>
                                        <p:cTn id="7" dur="200"/>
                                        <p:tgtEl>
                                          <p:spTgt spid="46"/>
                                        </p:tgtEl>
                                      </p:cBhvr>
                                    </p:animEffect>
                                  </p:childTnLst>
                                </p:cTn>
                              </p:par>
                            </p:childTnLst>
                          </p:cTn>
                        </p:par>
                        <p:par>
                          <p:cTn id="14" fill="hold">
                            <p:stCondLst>
                              <p:cond delay="200"/>
                            </p:stCondLst>
                            <p:childTnLst>
                              <p:par>
                                <p:cTn id="9" presetID="53" presetClass="entr" presetSubtype="16"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200" fill="hold"/>
                                        <p:tgtEl>
                                          <p:spTgt spid="47"/>
                                        </p:tgtEl>
                                        <p:attrNameLst>
                                          <p:attrName>ppt_w</p:attrName>
                                        </p:attrNameLst>
                                      </p:cBhvr>
                                      <p:tavLst>
                                        <p:tav tm="0">
                                          <p:val>
                                            <p:fltVal val="0"/>
                                          </p:val>
                                        </p:tav>
                                        <p:tav tm="100000">
                                          <p:val>
                                            <p:strVal val="#ppt_w"/>
                                          </p:val>
                                        </p:tav>
                                      </p:tavLst>
                                    </p:anim>
                                    <p:anim calcmode="lin" valueType="num">
                                      <p:cBhvr>
                                        <p:cTn id="12" dur="200" fill="hold"/>
                                        <p:tgtEl>
                                          <p:spTgt spid="47"/>
                                        </p:tgtEl>
                                        <p:attrNameLst>
                                          <p:attrName>ppt_h</p:attrName>
                                        </p:attrNameLst>
                                      </p:cBhvr>
                                      <p:tavLst>
                                        <p:tav tm="0">
                                          <p:val>
                                            <p:fltVal val="0"/>
                                          </p:val>
                                        </p:tav>
                                        <p:tav tm="100000">
                                          <p:val>
                                            <p:strVal val="#ppt_h"/>
                                          </p:val>
                                        </p:tav>
                                      </p:tavLst>
                                    </p:anim>
                                    <p:animEffect transition="in" filter="fade">
                                      <p:cBhvr>
                                        <p:cTn id="13" dur="200"/>
                                        <p:tgtEl>
                                          <p:spTgt spid="47"/>
                                        </p:tgtEl>
                                      </p:cBhvr>
                                    </p:animEffect>
                                  </p:childTnLst>
                                </p:cTn>
                              </p:par>
                            </p:childTnLst>
                          </p:cTn>
                        </p:par>
                        <p:par>
                          <p:cTn id="20" fill="hold">
                            <p:stCondLst>
                              <p:cond delay="400"/>
                            </p:stCondLst>
                            <p:childTnLst>
                              <p:par>
                                <p:cTn id="15" presetID="53" presetClass="entr" presetSubtype="16" fill="hold" grpId="0" nodeType="afterEffect">
                                  <p:stCondLst>
                                    <p:cond delay="0"/>
                                  </p:stCondLst>
                                  <p:childTnLst>
                                    <p:set>
                                      <p:cBhvr>
                                        <p:cTn id="16" dur="1" fill="hold">
                                          <p:stCondLst>
                                            <p:cond delay="0"/>
                                          </p:stCondLst>
                                        </p:cTn>
                                        <p:tgtEl>
                                          <p:spTgt spid="48"/>
                                        </p:tgtEl>
                                        <p:attrNameLst>
                                          <p:attrName>style.visibility</p:attrName>
                                        </p:attrNameLst>
                                      </p:cBhvr>
                                      <p:to>
                                        <p:strVal val="visible"/>
                                      </p:to>
                                    </p:set>
                                    <p:anim calcmode="lin" valueType="num">
                                      <p:cBhvr>
                                        <p:cTn id="17" dur="200" fill="hold"/>
                                        <p:tgtEl>
                                          <p:spTgt spid="48"/>
                                        </p:tgtEl>
                                        <p:attrNameLst>
                                          <p:attrName>ppt_w</p:attrName>
                                        </p:attrNameLst>
                                      </p:cBhvr>
                                      <p:tavLst>
                                        <p:tav tm="0">
                                          <p:val>
                                            <p:fltVal val="0"/>
                                          </p:val>
                                        </p:tav>
                                        <p:tav tm="100000">
                                          <p:val>
                                            <p:strVal val="#ppt_w"/>
                                          </p:val>
                                        </p:tav>
                                      </p:tavLst>
                                    </p:anim>
                                    <p:anim calcmode="lin" valueType="num">
                                      <p:cBhvr>
                                        <p:cTn id="18" dur="200" fill="hold"/>
                                        <p:tgtEl>
                                          <p:spTgt spid="48"/>
                                        </p:tgtEl>
                                        <p:attrNameLst>
                                          <p:attrName>ppt_h</p:attrName>
                                        </p:attrNameLst>
                                      </p:cBhvr>
                                      <p:tavLst>
                                        <p:tav tm="0">
                                          <p:val>
                                            <p:fltVal val="0"/>
                                          </p:val>
                                        </p:tav>
                                        <p:tav tm="100000">
                                          <p:val>
                                            <p:strVal val="#ppt_h"/>
                                          </p:val>
                                        </p:tav>
                                      </p:tavLst>
                                    </p:anim>
                                    <p:animEffect transition="in" filter="fade">
                                      <p:cBhvr>
                                        <p:cTn id="19" dur="200"/>
                                        <p:tgtEl>
                                          <p:spTgt spid="48"/>
                                        </p:tgtEl>
                                      </p:cBhvr>
                                    </p:animEffect>
                                  </p:childTnLst>
                                </p:cTn>
                              </p:par>
                            </p:childTnLst>
                          </p:cTn>
                        </p:par>
                        <p:par>
                          <p:cTn id="26" fill="hold">
                            <p:stCondLst>
                              <p:cond delay="600"/>
                            </p:stCondLst>
                            <p:childTnLst>
                              <p:par>
                                <p:cTn id="21" presetID="53" presetClass="entr" presetSubtype="16"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p:cTn id="23" dur="200" fill="hold"/>
                                        <p:tgtEl>
                                          <p:spTgt spid="49"/>
                                        </p:tgtEl>
                                        <p:attrNameLst>
                                          <p:attrName>ppt_w</p:attrName>
                                        </p:attrNameLst>
                                      </p:cBhvr>
                                      <p:tavLst>
                                        <p:tav tm="0">
                                          <p:val>
                                            <p:fltVal val="0"/>
                                          </p:val>
                                        </p:tav>
                                        <p:tav tm="100000">
                                          <p:val>
                                            <p:strVal val="#ppt_w"/>
                                          </p:val>
                                        </p:tav>
                                      </p:tavLst>
                                    </p:anim>
                                    <p:anim calcmode="lin" valueType="num">
                                      <p:cBhvr>
                                        <p:cTn id="24" dur="200" fill="hold"/>
                                        <p:tgtEl>
                                          <p:spTgt spid="49"/>
                                        </p:tgtEl>
                                        <p:attrNameLst>
                                          <p:attrName>ppt_h</p:attrName>
                                        </p:attrNameLst>
                                      </p:cBhvr>
                                      <p:tavLst>
                                        <p:tav tm="0">
                                          <p:val>
                                            <p:fltVal val="0"/>
                                          </p:val>
                                        </p:tav>
                                        <p:tav tm="100000">
                                          <p:val>
                                            <p:strVal val="#ppt_h"/>
                                          </p:val>
                                        </p:tav>
                                      </p:tavLst>
                                    </p:anim>
                                    <p:animEffect transition="in" filter="fade">
                                      <p:cBhvr>
                                        <p:cTn id="25" dur="200"/>
                                        <p:tgtEl>
                                          <p:spTgt spid="49"/>
                                        </p:tgtEl>
                                      </p:cBhvr>
                                    </p:animEffect>
                                  </p:childTnLst>
                                </p:cTn>
                              </p:par>
                            </p:childTnLst>
                          </p:cTn>
                        </p:par>
                      </p:childTnLst>
                    </p:cTn>
                  </p:par>
                  <p:par>
                    <p:cTn id="53" fill="hold">
                      <p:stCondLst>
                        <p:cond delay="indefinite"/>
                      </p:stCondLst>
                      <p:childTnLst>
                        <p:par>
                          <p:cTn id="52" fill="hold">
                            <p:stCondLst>
                              <p:cond delay="0"/>
                            </p:stCondLst>
                            <p:childTnLst>
                              <p:par>
                                <p:cTn id="28" presetID="10" presetClass="exit" presetSubtype="0" fill="hold" grpId="0" nodeType="clickEffect">
                                  <p:stCondLst>
                                    <p:cond delay="0"/>
                                  </p:stCondLst>
                                  <p:childTnLst>
                                    <p:animEffect transition="out" filter="fade">
                                      <p:cBhvr>
                                        <p:cTn id="29" dur="300"/>
                                        <p:tgtEl>
                                          <p:spTgt spid="46"/>
                                        </p:tgtEl>
                                      </p:cBhvr>
                                    </p:animEffect>
                                    <p:set>
                                      <p:cBhvr>
                                        <p:cTn id="30" dur="1" fill="hold">
                                          <p:stCondLst>
                                            <p:cond delay="299"/>
                                          </p:stCondLst>
                                        </p:cTn>
                                        <p:tgtEl>
                                          <p:spTgt spid="46"/>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300"/>
                                        <p:tgtEl>
                                          <p:spTgt spid="47"/>
                                        </p:tgtEl>
                                      </p:cBhvr>
                                    </p:animEffect>
                                    <p:set>
                                      <p:cBhvr>
                                        <p:cTn id="33" dur="1" fill="hold">
                                          <p:stCondLst>
                                            <p:cond delay="299"/>
                                          </p:stCondLst>
                                        </p:cTn>
                                        <p:tgtEl>
                                          <p:spTgt spid="47"/>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300"/>
                                        <p:tgtEl>
                                          <p:spTgt spid="48"/>
                                        </p:tgtEl>
                                      </p:cBhvr>
                                    </p:animEffect>
                                    <p:set>
                                      <p:cBhvr>
                                        <p:cTn id="36" dur="1" fill="hold">
                                          <p:stCondLst>
                                            <p:cond delay="299"/>
                                          </p:stCondLst>
                                        </p:cTn>
                                        <p:tgtEl>
                                          <p:spTgt spid="48"/>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300"/>
                                        <p:tgtEl>
                                          <p:spTgt spid="49"/>
                                        </p:tgtEl>
                                      </p:cBhvr>
                                    </p:animEffect>
                                    <p:set>
                                      <p:cBhvr>
                                        <p:cTn id="39" dur="1" fill="hold">
                                          <p:stCondLst>
                                            <p:cond delay="299"/>
                                          </p:stCondLst>
                                        </p:cTn>
                                        <p:tgtEl>
                                          <p:spTgt spid="49"/>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300"/>
                                        <p:tgtEl>
                                          <p:spTgt spid="50"/>
                                        </p:tgtEl>
                                      </p:cBhvr>
                                    </p:animEffect>
                                    <p:set>
                                      <p:cBhvr>
                                        <p:cTn id="42" dur="1" fill="hold">
                                          <p:stCondLst>
                                            <p:cond delay="299"/>
                                          </p:stCondLst>
                                        </p:cTn>
                                        <p:tgtEl>
                                          <p:spTgt spid="50"/>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300"/>
                                        <p:tgtEl>
                                          <p:spTgt spid="51"/>
                                        </p:tgtEl>
                                      </p:cBhvr>
                                    </p:animEffect>
                                    <p:set>
                                      <p:cBhvr>
                                        <p:cTn id="45" dur="1" fill="hold">
                                          <p:stCondLst>
                                            <p:cond delay="299"/>
                                          </p:stCondLst>
                                        </p:cTn>
                                        <p:tgtEl>
                                          <p:spTgt spid="51"/>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300"/>
                                        <p:tgtEl>
                                          <p:spTgt spid="52"/>
                                        </p:tgtEl>
                                      </p:cBhvr>
                                    </p:animEffect>
                                    <p:set>
                                      <p:cBhvr>
                                        <p:cTn id="48" dur="1" fill="hold">
                                          <p:stCondLst>
                                            <p:cond delay="299"/>
                                          </p:stCondLst>
                                        </p:cTn>
                                        <p:tgtEl>
                                          <p:spTgt spid="52"/>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300"/>
                                        <p:tgtEl>
                                          <p:spTgt spid="53"/>
                                        </p:tgtEl>
                                      </p:cBhvr>
                                    </p:animEffect>
                                    <p:set>
                                      <p:cBhvr>
                                        <p:cTn id="51" dur="1" fill="hold">
                                          <p:stCondLst>
                                            <p:cond delay="299"/>
                                          </p:stCondLst>
                                        </p:cTn>
                                        <p:tgtEl>
                                          <p:spTgt spid="53"/>
                                        </p:tgtEl>
                                        <p:attrNameLst>
                                          <p:attrName>style.visibility</p:attrName>
                                        </p:attrNameLst>
                                      </p:cBhvr>
                                      <p:to>
                                        <p:strVal val="hidden"/>
                                      </p:to>
                                    </p:set>
                                  </p:childTnLst>
                                </p:cTn>
                              </p:par>
                            </p:childTnLst>
                          </p:cTn>
                        </p:par>
                      </p:childTnLst>
                    </p:cTn>
                  </p:par>
                  <p:par>
                    <p:cTn id="66" fill="hold">
                      <p:stCondLst>
                        <p:cond delay="indefinite"/>
                      </p:stCondLst>
                      <p:childTnLst>
                        <p:par>
                          <p:cTn id="57"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fade">
                                      <p:cBhvr>
                                        <p:cTn id="56" dur="150"/>
                                        <p:tgtEl>
                                          <p:spTgt spid="54"/>
                                        </p:tgtEl>
                                      </p:cBhvr>
                                    </p:animEffect>
                                  </p:childTnLst>
                                </p:cTn>
                              </p:par>
                            </p:childTnLst>
                          </p:cTn>
                        </p:par>
                        <p:par>
                          <p:cTn id="61" fill="hold">
                            <p:stCondLst>
                              <p:cond delay="150"/>
                            </p:stCondLst>
                            <p:childTnLst>
                              <p:par>
                                <p:cTn id="58" presetID="10" presetClass="entr" presetSubtype="0" fill="hold" grpId="0" nodeType="after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150"/>
                                        <p:tgtEl>
                                          <p:spTgt spid="55"/>
                                        </p:tgtEl>
                                      </p:cBhvr>
                                    </p:animEffect>
                                  </p:childTnLst>
                                </p:cTn>
                              </p:par>
                            </p:childTnLst>
                          </p:cTn>
                        </p:par>
                        <p:par>
                          <p:cTn id="65" fill="hold">
                            <p:stCondLst>
                              <p:cond delay="300"/>
                            </p:stCondLst>
                            <p:childTnLst>
                              <p:par>
                                <p:cTn id="62" presetID="10" presetClass="entr" presetSubtype="0" fill="hold" grpId="0" nodeType="afterEffect">
                                  <p:stCondLst>
                                    <p:cond delay="0"/>
                                  </p:stCondLst>
                                  <p:childTnLst>
                                    <p:set>
                                      <p:cBhvr>
                                        <p:cTn id="63" dur="1" fill="hold">
                                          <p:stCondLst>
                                            <p:cond delay="0"/>
                                          </p:stCondLst>
                                        </p:cTn>
                                        <p:tgtEl>
                                          <p:spTgt spid="56"/>
                                        </p:tgtEl>
                                        <p:attrNameLst>
                                          <p:attrName>style.visibility</p:attrName>
                                        </p:attrNameLst>
                                      </p:cBhvr>
                                      <p:to>
                                        <p:strVal val="visible"/>
                                      </p:to>
                                    </p:set>
                                    <p:animEffect transition="in" filter="fade">
                                      <p:cBhvr>
                                        <p:cTn id="64" dur="150"/>
                                        <p:tgtEl>
                                          <p:spTgt spid="56"/>
                                        </p:tgtEl>
                                      </p:cBhvr>
                                    </p:animEffect>
                                  </p:childTnLst>
                                </p:cTn>
                              </p:par>
                            </p:childTnLst>
                          </p:cTn>
                        </p:par>
                      </p:childTnLst>
                    </p:cTn>
                  </p:par>
                  <p:par>
                    <p:cTn id="76" fill="hold">
                      <p:stCondLst>
                        <p:cond delay="indefinite"/>
                      </p:stCondLst>
                      <p:childTnLst>
                        <p:par>
                          <p:cTn id="69" fill="hold">
                            <p:stCondLst>
                              <p:cond delay="0"/>
                            </p:stCondLst>
                            <p:childTnLst>
                              <p:par>
                                <p:cTn id="67" presetID="0" presetClass="path" presetSubtype="0" accel="20000" decel="20000" fill="hold" grpId="0" nodeType="clickEffect">
                                  <p:stCondLst>
                                    <p:cond delay="0"/>
                                  </p:stCondLst>
                                  <p:childTnLst>
                                    <p:animMotion origin="layout" path="M 0 0 L 0.1650 -0.4267 E" pathEditMode="relative" ptsTypes="">
                                      <p:cBhvr>
                                        <p:cTn id="68" dur="1500" fill="hold"/>
                                        <p:tgtEl>
                                          <p:spTgt spid="54"/>
                                        </p:tgtEl>
                                        <p:attrNameLst>
                                          <p:attrName>ppt_x</p:attrName>
                                          <p:attrName>ppt_y</p:attrName>
                                        </p:attrNameLst>
                                      </p:cBhvr>
                                      <p:rCtr x="8250" y="-21333"/>
                                    </p:animMotion>
                                  </p:childTnLst>
                                </p:cTn>
                              </p:par>
                            </p:childTnLst>
                          </p:cTn>
                        </p:par>
                        <p:par>
                          <p:cTn id="72" fill="hold">
                            <p:stCondLst>
                              <p:cond delay="200"/>
                            </p:stCondLst>
                            <p:childTnLst>
                              <p:par>
                                <p:cTn id="70" presetID="0" presetClass="path" presetSubtype="0" accel="20000" decel="20000" fill="hold" grpId="0" nodeType="afterEffect">
                                  <p:stCondLst>
                                    <p:cond delay="0"/>
                                  </p:stCondLst>
                                  <p:childTnLst>
                                    <p:animMotion origin="layout" path="M 0 0 L 0.1350 -0.4267 E" pathEditMode="relative" ptsTypes="">
                                      <p:cBhvr>
                                        <p:cTn id="71" dur="1500" fill="hold"/>
                                        <p:tgtEl>
                                          <p:spTgt spid="55"/>
                                        </p:tgtEl>
                                        <p:attrNameLst>
                                          <p:attrName>ppt_x</p:attrName>
                                          <p:attrName>ppt_y</p:attrName>
                                        </p:attrNameLst>
                                      </p:cBhvr>
                                      <p:rCtr x="6750" y="-21333"/>
                                    </p:animMotion>
                                  </p:childTnLst>
                                </p:cTn>
                              </p:par>
                            </p:childTnLst>
                          </p:cTn>
                        </p:par>
                        <p:par>
                          <p:cTn id="75" fill="hold">
                            <p:stCondLst>
                              <p:cond delay="600"/>
                            </p:stCondLst>
                            <p:childTnLst>
                              <p:par>
                                <p:cTn id="73" presetID="0" presetClass="path" presetSubtype="0" accel="20000" decel="20000" fill="hold" grpId="0" nodeType="afterEffect">
                                  <p:stCondLst>
                                    <p:cond delay="0"/>
                                  </p:stCondLst>
                                  <p:childTnLst>
                                    <p:animMotion origin="layout" path="M 0 0 L 0.1050 -0.4267 E" pathEditMode="relative" ptsTypes="">
                                      <p:cBhvr>
                                        <p:cTn id="74" dur="1500" fill="hold"/>
                                        <p:tgtEl>
                                          <p:spTgt spid="56"/>
                                        </p:tgtEl>
                                        <p:attrNameLst>
                                          <p:attrName>ppt_x</p:attrName>
                                          <p:attrName>ppt_y</p:attrName>
                                        </p:attrNameLst>
                                      </p:cBhvr>
                                      <p:rCtr x="5250" y="-213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Aorta D"/>
          <p:cNvGrpSpPr/>
          <p:nvPr/>
        </p:nvGrpSpPr>
        <p:grpSpPr>
          <a:xfrm>
            <a:off x="274320" y="1143000"/>
            <a:ext cx="11612880" cy="914400"/>
            <a:chOff x="274320" y="1143000"/>
            <a:chExt cx="11612880" cy="914400"/>
          </a:xfrm>
        </p:grpSpPr>
        <p:sp>
          <p:nvSpPr>
            <p:cNvPr id="8" name="Forma 7"/>
            <p:cNvSpPr/>
            <p:nvPr/>
          </p:nvSpPr>
          <p:spPr>
            <a:xfrm>
              <a:off x="274320" y="1143000"/>
              <a:ext cx="11612880" cy="91440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9" name="Forma 8"/>
            <p:cNvSpPr/>
            <p:nvPr/>
          </p:nvSpPr>
          <p:spPr>
            <a:xfrm>
              <a:off x="411480" y="1307592"/>
              <a:ext cx="11338560" cy="585216"/>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0" name="Eritrocito"/>
            <p:cNvSpPr/>
            <p:nvPr/>
          </p:nvSpPr>
          <p:spPr>
            <a:xfrm>
              <a:off x="895405" y="1588273"/>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Eritrocito_2"/>
            <p:cNvSpPr/>
            <p:nvPr/>
          </p:nvSpPr>
          <p:spPr>
            <a:xfrm>
              <a:off x="1475932" y="1391002"/>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Eritrocito_3"/>
            <p:cNvSpPr/>
            <p:nvPr/>
          </p:nvSpPr>
          <p:spPr>
            <a:xfrm>
              <a:off x="2665245" y="1539843"/>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Eritrocito_4"/>
            <p:cNvSpPr/>
            <p:nvPr/>
          </p:nvSpPr>
          <p:spPr>
            <a:xfrm>
              <a:off x="3511899" y="1442040"/>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Eritrocito_5"/>
            <p:cNvSpPr/>
            <p:nvPr/>
          </p:nvSpPr>
          <p:spPr>
            <a:xfrm>
              <a:off x="4395543" y="1510315"/>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ritrocito_6"/>
            <p:cNvSpPr/>
            <p:nvPr/>
          </p:nvSpPr>
          <p:spPr>
            <a:xfrm>
              <a:off x="5293350" y="1407806"/>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6" name="Eritrocito_7"/>
            <p:cNvSpPr/>
            <p:nvPr/>
          </p:nvSpPr>
          <p:spPr>
            <a:xfrm>
              <a:off x="6145529" y="1461561"/>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7" name="Eritrocito_8"/>
            <p:cNvSpPr/>
            <p:nvPr/>
          </p:nvSpPr>
          <p:spPr>
            <a:xfrm>
              <a:off x="7158345" y="1599016"/>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8" name="Eritrocito_9"/>
            <p:cNvSpPr/>
            <p:nvPr/>
          </p:nvSpPr>
          <p:spPr>
            <a:xfrm>
              <a:off x="8147237" y="1495999"/>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9" name="Eritrocito_10"/>
            <p:cNvSpPr/>
            <p:nvPr/>
          </p:nvSpPr>
          <p:spPr>
            <a:xfrm>
              <a:off x="8871014" y="1432920"/>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0" name="Eritrocito_11"/>
            <p:cNvSpPr/>
            <p:nvPr/>
          </p:nvSpPr>
          <p:spPr>
            <a:xfrm>
              <a:off x="9629470" y="1377874"/>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21" name="Eritrocito_12"/>
            <p:cNvSpPr/>
            <p:nvPr/>
          </p:nvSpPr>
          <p:spPr>
            <a:xfrm>
              <a:off x="10691843" y="1444401"/>
              <a:ext cx="384048" cy="384048"/>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2" name="Forma 21"/>
          <p:cNvSpPr txBox="1"/>
          <p:nvPr/>
        </p:nvSpPr>
        <p:spPr>
          <a:xfrm>
            <a:off x="411480" y="210312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AORTA ABDOMINAL</a:t>
            </a:r>
            <a:endParaRPr lang="es-AR" sz="1250" dirty="0">
              <a:latin typeface="Fira Sans Condensed"/>
            </a:endParaRPr>
          </a:p>
        </p:txBody>
      </p:sp>
      <p:sp>
        <p:nvSpPr>
          <p:cNvPr id="23" name="!!Arteria renal"/>
          <p:cNvSpPr/>
          <p:nvPr/>
        </p:nvSpPr>
        <p:spPr>
          <a:xfrm>
            <a:off x="5943600" y="2057400"/>
            <a:ext cx="9144" cy="822960"/>
          </a:xfrm>
          <a:custGeom>
            <a:avLst/>
            <a:gdLst/>
            <a:ahLst/>
            <a:cxnLst/>
            <a:rect l="0" t="0" r="r" b="b"/>
            <a:pathLst>
              <a:path w="10" h="899" fill="none">
                <a:moveTo>
                  <a:pt x="0" y="0"/>
                </a:moveTo>
                <a:lnTo>
                  <a:pt x="0" y="899"/>
                </a:lnTo>
              </a:path>
            </a:pathLst>
          </a:custGeom>
          <a:noFill/>
          <a:ln w="114300" cap="rnd">
            <a:solidFill>
              <a:srgbClr val="C0392B"/>
            </a:solidFill>
            <a:round/>
            <a:tailEnd type="triangle" w="med" len="med"/>
          </a:ln>
        </p:spPr>
      </p:sp>
      <p:sp>
        <p:nvSpPr>
          <p:cNvPr id="24" name="Forma 23"/>
          <p:cNvSpPr txBox="1"/>
          <p:nvPr/>
        </p:nvSpPr>
        <p:spPr>
          <a:xfrm>
            <a:off x="6126480" y="2240280"/>
            <a:ext cx="18288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ARTERIA RENAL</a:t>
            </a:r>
            <a:endParaRPr lang="es-AR" sz="1250" dirty="0">
              <a:latin typeface="Fira Sans Condensed"/>
            </a:endParaRPr>
          </a:p>
        </p:txBody>
      </p:sp>
      <p:pic>
        <p:nvPicPr>
          <p:cNvPr id="25" name="!!Riñón D" descr="Ilustración biomédica (Servier Medical Art, CC BY)"/>
          <p:cNvPicPr>
            <a:picLocks noChangeAspect="1"/>
          </p:cNvPicPr>
          <p:nvPr/>
        </p:nvPicPr>
        <p:blipFill>
          <a:blip r:embed="rId2"/>
          <a:stretch>
            <a:fillRect/>
          </a:stretch>
        </p:blipFill>
        <p:spPr>
          <a:xfrm>
            <a:off x="4937760" y="2880360"/>
            <a:ext cx="2011680" cy="2927601"/>
          </a:xfrm>
          <a:prstGeom prst="rect">
            <a:avLst/>
          </a:prstGeom>
        </p:spPr>
      </p:pic>
      <p:sp>
        <p:nvSpPr>
          <p:cNvPr id="26" name="Glc sangre 0"/>
          <p:cNvSpPr/>
          <p:nvPr/>
        </p:nvSpPr>
        <p:spPr>
          <a:xfrm>
            <a:off x="7315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27" name="Glc sangre 1"/>
          <p:cNvSpPr/>
          <p:nvPr/>
        </p:nvSpPr>
        <p:spPr>
          <a:xfrm>
            <a:off x="14173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28" name="Glc sangre 2"/>
          <p:cNvSpPr/>
          <p:nvPr/>
        </p:nvSpPr>
        <p:spPr>
          <a:xfrm>
            <a:off x="21031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29" name="Glc sangre 3"/>
          <p:cNvSpPr/>
          <p:nvPr/>
        </p:nvSpPr>
        <p:spPr>
          <a:xfrm>
            <a:off x="27889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30" name="Glc sangre 4"/>
          <p:cNvSpPr/>
          <p:nvPr/>
        </p:nvSpPr>
        <p:spPr>
          <a:xfrm>
            <a:off x="34747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31" name="Glc sangre 5"/>
          <p:cNvSpPr/>
          <p:nvPr/>
        </p:nvSpPr>
        <p:spPr>
          <a:xfrm>
            <a:off x="41605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sp>
        <p:nvSpPr>
          <p:cNvPr id="32" name="Glc sangre 6"/>
          <p:cNvSpPr/>
          <p:nvPr/>
        </p:nvSpPr>
        <p:spPr>
          <a:xfrm>
            <a:off x="4846320" y="1371600"/>
            <a:ext cx="411480" cy="41148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170" b="1" dirty="0">
                <a:solidFill>
                  <a:srgbClr val="FFFFFF"/>
                </a:solidFill>
                <a:latin typeface="Fira Sans Condensed"/>
                <a:ea typeface="Fira Sans Condensed"/>
                <a:cs typeface="Fira Sans Condensed"/>
                <a:sym typeface="Fira Sans Condensed"/>
              </a:rPr>
              <a:t>Glc</a:t>
            </a:r>
            <a:endParaRPr lang="es-AR" sz="1170" dirty="0">
              <a:latin typeface="Fira Sans Condensed"/>
            </a:endParaRPr>
          </a:p>
        </p:txBody>
      </p:sp>
      <p:grpSp>
        <p:nvGrpSpPr>
          <p:cNvPr id="33" name="Cuadro Llegada al riñón"/>
          <p:cNvGrpSpPr/>
          <p:nvPr/>
        </p:nvGrpSpPr>
        <p:grpSpPr>
          <a:xfrm>
            <a:off x="7863840" y="2926080"/>
            <a:ext cx="3977640" cy="2560320"/>
            <a:chOff x="7863840" y="2926080"/>
            <a:chExt cx="3977640" cy="2560320"/>
          </a:xfrm>
        </p:grpSpPr>
        <p:sp>
          <p:nvSpPr>
            <p:cNvPr id="34" name="Forma 33"/>
            <p:cNvSpPr/>
            <p:nvPr/>
          </p:nvSpPr>
          <p:spPr>
            <a:xfrm>
              <a:off x="7863840" y="3127248"/>
              <a:ext cx="3977640" cy="2359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riñón recibe ~20 % del gasto cardíaco. Con glucemia de </a:t>
              </a:r>
              <a:r>
                <a:rPr lang="es-AR" sz="1500" b="1" dirty="0">
                  <a:solidFill>
                    <a:srgbClr val="1E1E1E"/>
                  </a:solidFill>
                  <a:latin typeface="Fira Sans Condensed"/>
                  <a:ea typeface="Fira Sans Condensed"/>
                  <a:cs typeface="Fira Sans Condensed"/>
                  <a:sym typeface="Fira Sans Condensed"/>
                </a:rPr>
                <a:t>390 mg/dL</a:t>
              </a:r>
              <a:r>
                <a:rPr lang="es-AR" sz="1500" dirty="0">
                  <a:solidFill>
                    <a:srgbClr val="1E1E1E"/>
                  </a:solidFill>
                  <a:latin typeface="Fira Sans Condensed"/>
                  <a:ea typeface="Fira Sans Condensed"/>
                  <a:cs typeface="Fira Sans Condensed"/>
                  <a:sym typeface="Fira Sans Condensed"/>
                </a:rPr>
                <a:t> cada mililitro de plasma filtrado lleva más del doble de glucosa que en ayunas normal.</a:t>
              </a:r>
              <a:endParaRPr lang="es-AR" sz="1500" dirty="0">
                <a:latin typeface="Fira Sans Condensed"/>
              </a:endParaRPr>
            </a:p>
          </p:txBody>
        </p:sp>
        <p:sp>
          <p:nvSpPr>
            <p:cNvPr id="35" name="Forma 34"/>
            <p:cNvSpPr/>
            <p:nvPr/>
          </p:nvSpPr>
          <p:spPr>
            <a:xfrm>
              <a:off x="8001000" y="2926080"/>
              <a:ext cx="183708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LLEGADA AL RIÑÓN</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D · 1 · SANGRE Y ARTERIA RENAL</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150"/>
                                        <p:tgtEl>
                                          <p:spTgt spid="26"/>
                                        </p:tgtEl>
                                      </p:cBhvr>
                                    </p:animEffect>
                                  </p:childTnLst>
                                </p:cTn>
                              </p:par>
                            </p:childTnLst>
                          </p:cTn>
                        </p:par>
                        <p:par>
                          <p:cTn id="10" fill="hold">
                            <p:stCondLst>
                              <p:cond delay="150"/>
                            </p:stCondLst>
                            <p:childTnLst>
                              <p:par>
                                <p:cTn id="7" presetID="10" presetClass="entr" presetSubtype="0" fill="hold" grpId="0" nodeType="afterEffect">
                                  <p:stCondLst>
                                    <p:cond delay="0"/>
                                  </p:stCondLst>
                                  <p:childTnLst>
                                    <p:set>
                                      <p:cBhvr>
                                        <p:cTn id="8" dur="1" fill="hold">
                                          <p:stCondLst>
                                            <p:cond delay="0"/>
                                          </p:stCondLst>
                                        </p:cTn>
                                        <p:tgtEl>
                                          <p:spTgt spid="27"/>
                                        </p:tgtEl>
                                        <p:attrNameLst>
                                          <p:attrName>style.visibility</p:attrName>
                                        </p:attrNameLst>
                                      </p:cBhvr>
                                      <p:to>
                                        <p:strVal val="visible"/>
                                      </p:to>
                                    </p:set>
                                    <p:animEffect transition="in" filter="fade">
                                      <p:cBhvr>
                                        <p:cTn id="9" dur="150"/>
                                        <p:tgtEl>
                                          <p:spTgt spid="27"/>
                                        </p:tgtEl>
                                      </p:cBhvr>
                                    </p:animEffect>
                                  </p:childTnLst>
                                </p:cTn>
                              </p:par>
                            </p:childTnLst>
                          </p:cTn>
                        </p:par>
                        <p:par>
                          <p:cTn id="14" fill="hold">
                            <p:stCondLst>
                              <p:cond delay="300"/>
                            </p:stCondLst>
                            <p:childTnLst>
                              <p:par>
                                <p:cTn id="11" presetID="10"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150"/>
                                        <p:tgtEl>
                                          <p:spTgt spid="28"/>
                                        </p:tgtEl>
                                      </p:cBhvr>
                                    </p:animEffect>
                                  </p:childTnLst>
                                </p:cTn>
                              </p:par>
                            </p:childTnLst>
                          </p:cTn>
                        </p:par>
                        <p:par>
                          <p:cTn id="18"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50"/>
                                        <p:tgtEl>
                                          <p:spTgt spid="29"/>
                                        </p:tgtEl>
                                      </p:cBhvr>
                                    </p:animEffect>
                                  </p:childTnLst>
                                </p:cTn>
                              </p:par>
                            </p:childTnLst>
                          </p:cTn>
                        </p:par>
                        <p:par>
                          <p:cTn id="22" fill="hold">
                            <p:stCondLst>
                              <p:cond delay="600"/>
                            </p:stCondLst>
                            <p:childTnLst>
                              <p:par>
                                <p:cTn id="19" presetID="10"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50"/>
                                        <p:tgtEl>
                                          <p:spTgt spid="30"/>
                                        </p:tgtEl>
                                      </p:cBhvr>
                                    </p:animEffect>
                                  </p:childTnLst>
                                </p:cTn>
                              </p:par>
                            </p:childTnLst>
                          </p:cTn>
                        </p:par>
                        <p:par>
                          <p:cTn id="26" fill="hold">
                            <p:stCondLst>
                              <p:cond delay="750"/>
                            </p:stCondLst>
                            <p:childTnLst>
                              <p:par>
                                <p:cTn id="23" presetID="10" presetClass="entr" presetSubtype="0"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150"/>
                                        <p:tgtEl>
                                          <p:spTgt spid="31"/>
                                        </p:tgtEl>
                                      </p:cBhvr>
                                    </p:animEffect>
                                  </p:childTnLst>
                                </p:cTn>
                              </p:par>
                            </p:childTnLst>
                          </p:cTn>
                        </p:par>
                        <p:par>
                          <p:cTn id="30" fill="hold">
                            <p:stCondLst>
                              <p:cond delay="900"/>
                            </p:stCondLst>
                            <p:childTnLst>
                              <p:par>
                                <p:cTn id="27" presetID="10" presetClass="entr" presetSubtype="0"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150"/>
                                        <p:tgtEl>
                                          <p:spTgt spid="32"/>
                                        </p:tgtEl>
                                      </p:cBhvr>
                                    </p:animEffect>
                                  </p:childTnLst>
                                </p:cTn>
                              </p:par>
                            </p:childTnLst>
                          </p:cTn>
                        </p:par>
                      </p:childTnLst>
                    </p:cTn>
                  </p:par>
                  <p:par>
                    <p:cTn id="44" fill="hold">
                      <p:stCondLst>
                        <p:cond delay="indefinite"/>
                      </p:stCondLst>
                      <p:childTnLst>
                        <p:par>
                          <p:cTn id="34" fill="hold">
                            <p:stCondLst>
                              <p:cond delay="0"/>
                            </p:stCondLst>
                            <p:childTnLst>
                              <p:par>
                                <p:cTn id="32" presetID="0" presetClass="path" presetSubtype="0" accel="20000" decel="20000" fill="hold" grpId="0" nodeType="clickEffect">
                                  <p:stCondLst>
                                    <p:cond delay="0"/>
                                  </p:stCondLst>
                                  <p:childTnLst>
                                    <p:animMotion origin="layout" path="M 0 0 L 0.4125 0.0000 E" pathEditMode="relative" ptsTypes="">
                                      <p:cBhvr>
                                        <p:cTn id="33" dur="1300" fill="hold"/>
                                        <p:tgtEl>
                                          <p:spTgt spid="26"/>
                                        </p:tgtEl>
                                        <p:attrNameLst>
                                          <p:attrName>ppt_x</p:attrName>
                                          <p:attrName>ppt_y</p:attrName>
                                        </p:attrNameLst>
                                      </p:cBhvr>
                                      <p:rCtr x="20625" y="0"/>
                                    </p:animMotion>
                                  </p:childTnLst>
                                </p:cTn>
                              </p:par>
                            </p:childTnLst>
                          </p:cTn>
                        </p:par>
                        <p:par>
                          <p:cTn id="37" fill="hold">
                            <p:stCondLst>
                              <p:cond delay="120"/>
                            </p:stCondLst>
                            <p:childTnLst>
                              <p:par>
                                <p:cTn id="35" presetID="0" presetClass="path" presetSubtype="0" accel="20000" decel="20000" fill="hold" grpId="0" nodeType="afterEffect">
                                  <p:stCondLst>
                                    <p:cond delay="0"/>
                                  </p:stCondLst>
                                  <p:childTnLst>
                                    <p:animMotion origin="layout" path="M 0 0 L 0.3563 0.0000 E" pathEditMode="relative" ptsTypes="">
                                      <p:cBhvr>
                                        <p:cTn id="36" dur="1300" fill="hold"/>
                                        <p:tgtEl>
                                          <p:spTgt spid="27"/>
                                        </p:tgtEl>
                                        <p:attrNameLst>
                                          <p:attrName>ppt_x</p:attrName>
                                          <p:attrName>ppt_y</p:attrName>
                                        </p:attrNameLst>
                                      </p:cBhvr>
                                      <p:rCtr x="17812" y="0"/>
                                    </p:animMotion>
                                  </p:childTnLst>
                                </p:cTn>
                              </p:par>
                            </p:childTnLst>
                          </p:cTn>
                        </p:par>
                        <p:par>
                          <p:cTn id="40" fill="hold">
                            <p:stCondLst>
                              <p:cond delay="360"/>
                            </p:stCondLst>
                            <p:childTnLst>
                              <p:par>
                                <p:cTn id="38" presetID="0" presetClass="path" presetSubtype="0" accel="20000" decel="20000" fill="hold" grpId="0" nodeType="afterEffect">
                                  <p:stCondLst>
                                    <p:cond delay="0"/>
                                  </p:stCondLst>
                                  <p:childTnLst>
                                    <p:animMotion origin="layout" path="M 0 0 L 0.3000 0.0000 E" pathEditMode="relative" ptsTypes="">
                                      <p:cBhvr>
                                        <p:cTn id="39" dur="1300" fill="hold"/>
                                        <p:tgtEl>
                                          <p:spTgt spid="28"/>
                                        </p:tgtEl>
                                        <p:attrNameLst>
                                          <p:attrName>ppt_x</p:attrName>
                                          <p:attrName>ppt_y</p:attrName>
                                        </p:attrNameLst>
                                      </p:cBhvr>
                                      <p:rCtr x="15000" y="0"/>
                                    </p:animMotion>
                                  </p:childTnLst>
                                </p:cTn>
                              </p:par>
                            </p:childTnLst>
                          </p:cTn>
                        </p:par>
                        <p:par>
                          <p:cTn id="43" fill="hold">
                            <p:stCondLst>
                              <p:cond delay="720"/>
                            </p:stCondLst>
                            <p:childTnLst>
                              <p:par>
                                <p:cTn id="41" presetID="0" presetClass="path" presetSubtype="0" accel="20000" decel="20000" fill="hold" grpId="0" nodeType="afterEffect">
                                  <p:stCondLst>
                                    <p:cond delay="0"/>
                                  </p:stCondLst>
                                  <p:childTnLst>
                                    <p:animMotion origin="layout" path="M 0 0 L 0.2438 0.0000 E" pathEditMode="relative" ptsTypes="">
                                      <p:cBhvr>
                                        <p:cTn id="42" dur="1300" fill="hold"/>
                                        <p:tgtEl>
                                          <p:spTgt spid="29"/>
                                        </p:tgtEl>
                                        <p:attrNameLst>
                                          <p:attrName>ppt_x</p:attrName>
                                          <p:attrName>ppt_y</p:attrName>
                                        </p:attrNameLst>
                                      </p:cBhvr>
                                      <p:rCtr x="12187" y="0"/>
                                    </p:animMotion>
                                  </p:childTnLst>
                                </p:cTn>
                              </p:par>
                            </p:childTnLst>
                          </p:cTn>
                        </p:par>
                      </p:childTnLst>
                    </p:cTn>
                  </p:par>
                  <p:par>
                    <p:cTn id="49" fill="hold">
                      <p:stCondLst>
                        <p:cond delay="indefinite"/>
                      </p:stCondLst>
                      <p:childTnLst>
                        <p:par>
                          <p:cTn id="4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pic>
        <p:nvPicPr>
          <p:cNvPr id="7" name="!!Riñón D" descr="Ilustración biomédica (Servier Medical Art, CC BY)"/>
          <p:cNvPicPr>
            <a:picLocks noChangeAspect="1"/>
          </p:cNvPicPr>
          <p:nvPr/>
        </p:nvPicPr>
        <p:blipFill>
          <a:blip r:embed="rId2"/>
          <a:stretch>
            <a:fillRect/>
          </a:stretch>
        </p:blipFill>
        <p:spPr>
          <a:xfrm>
            <a:off x="3246120" y="4343400"/>
            <a:ext cx="868680" cy="1264191"/>
          </a:xfrm>
          <a:prstGeom prst="rect">
            <a:avLst/>
          </a:prstGeom>
        </p:spPr>
      </p:pic>
      <p:pic>
        <p:nvPicPr>
          <p:cNvPr id="8" name="!!Nefrona D" descr="Ilustración biomédica (Servier Medical Art, CC BY)"/>
          <p:cNvPicPr>
            <a:picLocks noChangeAspect="1"/>
          </p:cNvPicPr>
          <p:nvPr/>
        </p:nvPicPr>
        <p:blipFill>
          <a:blip r:embed="rId3"/>
          <a:stretch>
            <a:fillRect/>
          </a:stretch>
        </p:blipFill>
        <p:spPr>
          <a:xfrm>
            <a:off x="548640" y="1005840"/>
            <a:ext cx="3447288" cy="5303520"/>
          </a:xfrm>
          <a:prstGeom prst="rect">
            <a:avLst/>
          </a:prstGeom>
        </p:spPr>
      </p:pic>
      <p:sp>
        <p:nvSpPr>
          <p:cNvPr id="9" name="!!Lupa glomérulo"/>
          <p:cNvSpPr/>
          <p:nvPr/>
        </p:nvSpPr>
        <p:spPr>
          <a:xfrm>
            <a:off x="1143000" y="1325880"/>
            <a:ext cx="1234440" cy="1097280"/>
          </a:xfrm>
          <a:prstGeom prst="ellipse">
            <a:avLst/>
          </a:prstGeom>
          <a:noFill/>
          <a:ln w="44450" cap="rnd">
            <a:solidFill>
              <a:srgbClr val="C00000"/>
            </a:solidFill>
            <a:round/>
          </a:ln>
        </p:spPr>
      </p:sp>
      <p:sp>
        <p:nvSpPr>
          <p:cNvPr id="10" name="Forma 9"/>
          <p:cNvSpPr txBox="1"/>
          <p:nvPr/>
        </p:nvSpPr>
        <p:spPr>
          <a:xfrm>
            <a:off x="365760" y="5989320"/>
            <a:ext cx="365760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NEFRONA (esquema)</a:t>
            </a:r>
            <a:endParaRPr lang="es-AR" sz="1200" dirty="0">
              <a:latin typeface="Fira Sans Condensed"/>
            </a:endParaRPr>
          </a:p>
        </p:txBody>
      </p:sp>
      <p:sp>
        <p:nvSpPr>
          <p:cNvPr id="11" name="Fórmula"/>
          <p:cNvSpPr/>
          <p:nvPr/>
        </p:nvSpPr>
        <p:spPr>
          <a:xfrm>
            <a:off x="4572000" y="1188720"/>
            <a:ext cx="7223760" cy="82296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200" b="1" dirty="0">
                <a:solidFill>
                  <a:srgbClr val="1E1E1E"/>
                </a:solidFill>
                <a:latin typeface="Fira Sans Condensed"/>
                <a:ea typeface="Fira Sans Condensed"/>
                <a:cs typeface="Fira Sans Condensed"/>
                <a:sym typeface="Fira Sans Condensed"/>
              </a:rPr>
              <a:t>Carga filtrada de glucosa = FG × glucemia</a:t>
            </a:r>
            <a:endParaRPr lang="es-AR" sz="2200" dirty="0">
              <a:latin typeface="Fira Sans Condensed"/>
            </a:endParaRPr>
          </a:p>
        </p:txBody>
      </p:sp>
      <p:grpSp>
        <p:nvGrpSpPr>
          <p:cNvPr id="12" name="Cuadro Cálculo"/>
          <p:cNvGrpSpPr/>
          <p:nvPr/>
        </p:nvGrpSpPr>
        <p:grpSpPr>
          <a:xfrm>
            <a:off x="4572000" y="2240280"/>
            <a:ext cx="7223760" cy="1508760"/>
            <a:chOff x="4572000" y="2240280"/>
            <a:chExt cx="7223760" cy="1508760"/>
          </a:xfrm>
        </p:grpSpPr>
        <p:sp>
          <p:nvSpPr>
            <p:cNvPr id="13" name="Forma 12"/>
            <p:cNvSpPr/>
            <p:nvPr/>
          </p:nvSpPr>
          <p:spPr>
            <a:xfrm>
              <a:off x="4572000" y="2441448"/>
              <a:ext cx="7223760" cy="13075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Requiere </a:t>
              </a:r>
              <a:r>
                <a:rPr lang="es-AR" sz="1450" b="1" dirty="0">
                  <a:solidFill>
                    <a:srgbClr val="1E1E1E"/>
                  </a:solidFill>
                  <a:latin typeface="Fira Sans Condensed"/>
                  <a:ea typeface="Fira Sans Condensed"/>
                  <a:cs typeface="Fira Sans Condensed"/>
                  <a:sym typeface="Fira Sans Condensed"/>
                </a:rPr>
                <a:t>unidades compatibles</a:t>
              </a:r>
              <a:r>
                <a:rPr lang="es-AR" sz="1450" dirty="0">
                  <a:solidFill>
                    <a:srgbClr val="1E1E1E"/>
                  </a:solidFill>
                  <a:latin typeface="Fira Sans Condensed"/>
                  <a:ea typeface="Fira Sans Condensed"/>
                  <a:cs typeface="Fira Sans Condensed"/>
                  <a:sym typeface="Fira Sans Condensed"/>
                </a:rPr>
                <a:t> (mg/mL × mL/min = mg/min). Ejemplo didáctico con un FG </a:t>
              </a:r>
              <a:r>
                <a:rPr lang="es-AR" sz="1450" b="1" dirty="0">
                  <a:solidFill>
                    <a:srgbClr val="1E1E1E"/>
                  </a:solidFill>
                  <a:latin typeface="Fira Sans Condensed"/>
                  <a:ea typeface="Fira Sans Condensed"/>
                  <a:cs typeface="Fira Sans Condensed"/>
                  <a:sym typeface="Fira Sans Condensed"/>
                </a:rPr>
                <a:t>supuesto</a:t>
              </a:r>
              <a:r>
                <a:rPr lang="es-AR" sz="1450" dirty="0">
                  <a:solidFill>
                    <a:srgbClr val="1E1E1E"/>
                  </a:solidFill>
                  <a:latin typeface="Fira Sans Condensed"/>
                  <a:ea typeface="Fira Sans Condensed"/>
                  <a:cs typeface="Fira Sans Condensed"/>
                  <a:sym typeface="Fira Sans Condensed"/>
                </a:rPr>
                <a:t> de 120 mL/min (el FG del paciente no se informó): 390 mg/dL = 3,9 mg/mL → 3,9 × 120 ≈ </a:t>
              </a:r>
              <a:r>
                <a:rPr lang="es-AR" sz="1450" b="1" dirty="0">
                  <a:solidFill>
                    <a:srgbClr val="1E1E1E"/>
                  </a:solidFill>
                  <a:latin typeface="Fira Sans Condensed"/>
                  <a:ea typeface="Fira Sans Condensed"/>
                  <a:cs typeface="Fira Sans Condensed"/>
                  <a:sym typeface="Fira Sans Condensed"/>
                </a:rPr>
                <a:t>468 mg/min</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14" name="Forma 13"/>
            <p:cNvSpPr/>
            <p:nvPr/>
          </p:nvSpPr>
          <p:spPr>
            <a:xfrm>
              <a:off x="4709160" y="2240280"/>
              <a:ext cx="105901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CÁLCULO</a:t>
              </a:r>
              <a:endParaRPr lang="es-AR" sz="1400" dirty="0">
                <a:latin typeface="Fira Sans Condensed"/>
              </a:endParaRPr>
            </a:p>
          </p:txBody>
        </p:sp>
      </p:grpSp>
      <p:grpSp>
        <p:nvGrpSpPr>
          <p:cNvPr id="15" name="Cuadro Idea clave"/>
          <p:cNvGrpSpPr/>
          <p:nvPr/>
        </p:nvGrpSpPr>
        <p:grpSpPr>
          <a:xfrm>
            <a:off x="4572000" y="3977640"/>
            <a:ext cx="7223760" cy="1417320"/>
            <a:chOff x="4572000" y="3977640"/>
            <a:chExt cx="7223760" cy="1417320"/>
          </a:xfrm>
        </p:grpSpPr>
        <p:sp>
          <p:nvSpPr>
            <p:cNvPr id="16" name="Forma 15"/>
            <p:cNvSpPr/>
            <p:nvPr/>
          </p:nvSpPr>
          <p:spPr>
            <a:xfrm>
              <a:off x="4572000" y="4178808"/>
              <a:ext cx="722376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glucosa filtra libremente en el glomérulo: la carga filtrada </a:t>
              </a:r>
              <a:r>
                <a:rPr lang="es-AR" sz="1500" b="1" dirty="0">
                  <a:solidFill>
                    <a:srgbClr val="1E1E1E"/>
                  </a:solidFill>
                  <a:latin typeface="Fira Sans Condensed"/>
                  <a:ea typeface="Fira Sans Condensed"/>
                  <a:cs typeface="Fira Sans Condensed"/>
                  <a:sym typeface="Fira Sans Condensed"/>
                </a:rPr>
                <a:t>crece linealmente</a:t>
              </a:r>
              <a:r>
                <a:rPr lang="es-AR" sz="1500" dirty="0">
                  <a:solidFill>
                    <a:srgbClr val="1E1E1E"/>
                  </a:solidFill>
                  <a:latin typeface="Fira Sans Condensed"/>
                  <a:ea typeface="Fira Sans Condensed"/>
                  <a:cs typeface="Fira Sans Condensed"/>
                  <a:sym typeface="Fira Sans Condensed"/>
                </a:rPr>
                <a:t> con la glucemia. La reabsorción, en cambio, tiene </a:t>
              </a:r>
              <a:r>
                <a:rPr lang="es-AR" sz="1500" b="1" dirty="0">
                  <a:solidFill>
                    <a:srgbClr val="1E1E1E"/>
                  </a:solidFill>
                  <a:latin typeface="Fira Sans Condensed"/>
                  <a:ea typeface="Fira Sans Condensed"/>
                  <a:cs typeface="Fira Sans Condensed"/>
                  <a:sym typeface="Fira Sans Condensed"/>
                </a:rPr>
                <a:t>capacidad máxima</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17" name="Forma 16"/>
            <p:cNvSpPr/>
            <p:nvPr/>
          </p:nvSpPr>
          <p:spPr>
            <a:xfrm>
              <a:off x="4709160" y="3977640"/>
              <a:ext cx="124125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IDEA CLAVE</a:t>
              </a:r>
              <a:endParaRPr lang="es-AR" sz="14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SECUENCIA D · 2 · GLOMÉRULO Y CARGA FILTRADA</a:t>
            </a:r>
            <a:endParaRPr lang="es-AR" sz="32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71</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 calcmode="lin" valueType="num">
                                      <p:cBhvr>
                                        <p:cTn id="5" dur="500" fill="hold"/>
                                        <p:tgtEl>
                                          <p:spTgt spid="9"/>
                                        </p:tgtEl>
                                        <p:attrNameLst>
                                          <p:attrName>ppt_w</p:attrName>
                                        </p:attrNameLst>
                                      </p:cBhvr>
                                      <p:tavLst>
                                        <p:tav tm="0">
                                          <p:val>
                                            <p:fltVal val="0"/>
                                          </p:val>
                                        </p:tav>
                                        <p:tav tm="100000">
                                          <p:val>
                                            <p:strVal val="#ppt_w"/>
                                          </p:val>
                                        </p:tav>
                                      </p:tavLst>
                                    </p:anim>
                                    <p:anim calcmode="lin" valueType="num">
                                      <p:cBhvr>
                                        <p:cTn id="6" dur="500" fill="hold"/>
                                        <p:tgtEl>
                                          <p:spTgt spid="9"/>
                                        </p:tgtEl>
                                        <p:attrNameLst>
                                          <p:attrName>ppt_h</p:attrName>
                                        </p:attrNameLst>
                                      </p:cBhvr>
                                      <p:tavLst>
                                        <p:tav tm="0">
                                          <p:val>
                                            <p:fltVal val="0"/>
                                          </p:val>
                                        </p:tav>
                                        <p:tav tm="100000">
                                          <p:val>
                                            <p:strVal val="#ppt_h"/>
                                          </p:val>
                                        </p:tav>
                                      </p:tavLst>
                                    </p:anim>
                                    <p:animEffect transition="in" filter="fade">
                                      <p:cBhvr>
                                        <p:cTn id="7" dur="500"/>
                                        <p:tgtEl>
                                          <p:spTgt spid="9"/>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sp>
        <p:nvSpPr>
          <p:cNvPr id="7" name="!!Luz tubular"/>
          <p:cNvSpPr/>
          <p:nvPr/>
        </p:nvSpPr>
        <p:spPr>
          <a:xfrm>
            <a:off x="320040" y="1051560"/>
            <a:ext cx="7315200" cy="960120"/>
          </a:xfrm>
          <a:prstGeom prst="rect">
            <a:avLst/>
          </a:prstGeom>
          <a:gradFill rotWithShape="1">
            <a:gsLst>
              <a:gs pos="0">
                <a:srgbClr val="FFF9E1"/>
              </a:gs>
              <a:gs pos="100000">
                <a:srgbClr val="FCE9A8"/>
              </a:gs>
            </a:gsLst>
            <a:lin ang="5400000" scaled="0"/>
          </a:gradFill>
          <a:ln w="12700" cap="rnd">
            <a:solidFill>
              <a:srgbClr val="1E1E1E"/>
            </a:solidFill>
            <a:round/>
          </a:ln>
        </p:spPr>
      </p:sp>
      <p:sp>
        <p:nvSpPr>
          <p:cNvPr id="8" name="!!Rótulo luz"/>
          <p:cNvSpPr txBox="1"/>
          <p:nvPr/>
        </p:nvSpPr>
        <p:spPr>
          <a:xfrm>
            <a:off x="411480" y="1078992"/>
            <a:ext cx="27432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TUBULAR (ORINA PRIMARIA)</a:t>
            </a:r>
            <a:endParaRPr lang="es-AR" sz="1200" dirty="0">
              <a:latin typeface="Fira Sans Condensed"/>
            </a:endParaRPr>
          </a:p>
        </p:txBody>
      </p:sp>
      <p:grpSp>
        <p:nvGrpSpPr>
          <p:cNvPr id="9" name="!!Célula TP 1"/>
          <p:cNvGrpSpPr/>
          <p:nvPr/>
        </p:nvGrpSpPr>
        <p:grpSpPr>
          <a:xfrm>
            <a:off x="320040" y="1874520"/>
            <a:ext cx="3566160" cy="2651760"/>
            <a:chOff x="320040" y="1874520"/>
            <a:chExt cx="3566160" cy="2651760"/>
          </a:xfrm>
        </p:grpSpPr>
        <p:sp>
          <p:nvSpPr>
            <p:cNvPr id="10" name="Forma 9"/>
            <p:cNvSpPr/>
            <p:nvPr/>
          </p:nvSpPr>
          <p:spPr>
            <a:xfrm>
              <a:off x="32004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11" name="Forma 10"/>
            <p:cNvSpPr/>
            <p:nvPr/>
          </p:nvSpPr>
          <p:spPr>
            <a:xfrm>
              <a:off x="32004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12" name="Núcleo"/>
            <p:cNvGrpSpPr/>
            <p:nvPr/>
          </p:nvGrpSpPr>
          <p:grpSpPr>
            <a:xfrm>
              <a:off x="605333" y="3412541"/>
              <a:ext cx="641909" cy="577718"/>
              <a:chOff x="605333" y="3412541"/>
              <a:chExt cx="641909" cy="577718"/>
            </a:xfrm>
          </p:grpSpPr>
          <p:sp>
            <p:nvSpPr>
              <p:cNvPr id="13" name="Forma 12"/>
              <p:cNvSpPr/>
              <p:nvPr/>
            </p:nvSpPr>
            <p:spPr>
              <a:xfrm>
                <a:off x="60533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4" name="Forma 13"/>
              <p:cNvSpPr/>
              <p:nvPr/>
            </p:nvSpPr>
            <p:spPr>
              <a:xfrm>
                <a:off x="939125" y="3605113"/>
                <a:ext cx="141220" cy="128382"/>
              </a:xfrm>
              <a:prstGeom prst="ellipse">
                <a:avLst/>
              </a:prstGeom>
              <a:solidFill>
                <a:srgbClr val="513B6B"/>
              </a:solidFill>
              <a:ln>
                <a:noFill/>
              </a:ln>
            </p:spPr>
          </p:sp>
        </p:grpSp>
        <p:grpSp>
          <p:nvGrpSpPr>
            <p:cNvPr id="15" name="Mitocondria"/>
            <p:cNvGrpSpPr/>
            <p:nvPr/>
          </p:nvGrpSpPr>
          <p:grpSpPr>
            <a:xfrm>
              <a:off x="2887675" y="3730752"/>
              <a:ext cx="463601" cy="231800"/>
              <a:chOff x="2887675" y="3730752"/>
              <a:chExt cx="463601" cy="231800"/>
            </a:xfrm>
          </p:grpSpPr>
          <p:sp>
            <p:nvSpPr>
              <p:cNvPr id="16" name="Forma 15"/>
              <p:cNvSpPr/>
              <p:nvPr/>
            </p:nvSpPr>
            <p:spPr>
              <a:xfrm rot="4800000">
                <a:off x="288767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7" name="Forma 16"/>
              <p:cNvSpPr/>
              <p:nvPr/>
            </p:nvSpPr>
            <p:spPr>
              <a:xfrm rot="4800000">
                <a:off x="2920127" y="3763204"/>
                <a:ext cx="398697" cy="166896"/>
              </a:xfrm>
              <a:prstGeom prst="ellipse">
                <a:avLst/>
              </a:prstGeom>
              <a:solidFill>
                <a:srgbClr val="F8D8B4"/>
              </a:solidFill>
              <a:ln w="9525" cap="rnd">
                <a:solidFill>
                  <a:srgbClr val="B2732B"/>
                </a:solidFill>
                <a:round/>
              </a:ln>
            </p:spPr>
          </p:sp>
          <p:sp>
            <p:nvSpPr>
              <p:cNvPr id="18" name="Forma 17"/>
              <p:cNvSpPr/>
              <p:nvPr/>
            </p:nvSpPr>
            <p:spPr>
              <a:xfrm rot="4800000">
                <a:off x="292012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19" name="Mitocondria_2"/>
            <p:cNvGrpSpPr/>
            <p:nvPr/>
          </p:nvGrpSpPr>
          <p:grpSpPr>
            <a:xfrm>
              <a:off x="3244291" y="3677717"/>
              <a:ext cx="463601" cy="231800"/>
              <a:chOff x="3244291" y="3677717"/>
              <a:chExt cx="463601" cy="231800"/>
            </a:xfrm>
          </p:grpSpPr>
          <p:sp>
            <p:nvSpPr>
              <p:cNvPr id="20" name="Forma 19"/>
              <p:cNvSpPr/>
              <p:nvPr/>
            </p:nvSpPr>
            <p:spPr>
              <a:xfrm rot="5100000">
                <a:off x="324429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5100000">
                <a:off x="3276743" y="3710169"/>
                <a:ext cx="398697" cy="166896"/>
              </a:xfrm>
              <a:prstGeom prst="ellipse">
                <a:avLst/>
              </a:prstGeom>
              <a:solidFill>
                <a:srgbClr val="F8D8B4"/>
              </a:solidFill>
              <a:ln w="9525" cap="rnd">
                <a:solidFill>
                  <a:srgbClr val="B2732B"/>
                </a:solidFill>
                <a:round/>
              </a:ln>
            </p:spPr>
          </p:sp>
          <p:sp>
            <p:nvSpPr>
              <p:cNvPr id="22" name="Forma 21"/>
              <p:cNvSpPr/>
              <p:nvPr/>
            </p:nvSpPr>
            <p:spPr>
              <a:xfrm rot="5100000">
                <a:off x="327674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3" name="Mitocondria_3"/>
            <p:cNvGrpSpPr/>
            <p:nvPr/>
          </p:nvGrpSpPr>
          <p:grpSpPr>
            <a:xfrm>
              <a:off x="2531059" y="3783787"/>
              <a:ext cx="463601" cy="231800"/>
              <a:chOff x="2531059" y="3783787"/>
              <a:chExt cx="463601" cy="231800"/>
            </a:xfrm>
          </p:grpSpPr>
          <p:sp>
            <p:nvSpPr>
              <p:cNvPr id="24" name="Forma 23"/>
              <p:cNvSpPr/>
              <p:nvPr/>
            </p:nvSpPr>
            <p:spPr>
              <a:xfrm rot="5700000">
                <a:off x="253105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5" name="Forma 24"/>
              <p:cNvSpPr/>
              <p:nvPr/>
            </p:nvSpPr>
            <p:spPr>
              <a:xfrm rot="5700000">
                <a:off x="2563511" y="3816239"/>
                <a:ext cx="398697" cy="166896"/>
              </a:xfrm>
              <a:prstGeom prst="ellipse">
                <a:avLst/>
              </a:prstGeom>
              <a:solidFill>
                <a:srgbClr val="F8D8B4"/>
              </a:solidFill>
              <a:ln w="9525" cap="rnd">
                <a:solidFill>
                  <a:srgbClr val="B2732B"/>
                </a:solidFill>
                <a:round/>
              </a:ln>
            </p:spPr>
          </p:sp>
          <p:sp>
            <p:nvSpPr>
              <p:cNvPr id="26" name="Forma 25"/>
              <p:cNvSpPr/>
              <p:nvPr/>
            </p:nvSpPr>
            <p:spPr>
              <a:xfrm rot="5700000">
                <a:off x="256351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7" name="Mitocondria_4"/>
            <p:cNvGrpSpPr/>
            <p:nvPr/>
          </p:nvGrpSpPr>
          <p:grpSpPr>
            <a:xfrm>
              <a:off x="1389888" y="2670048"/>
              <a:ext cx="463601" cy="231800"/>
              <a:chOff x="1389888" y="2670048"/>
              <a:chExt cx="463601" cy="231800"/>
            </a:xfrm>
          </p:grpSpPr>
          <p:sp>
            <p:nvSpPr>
              <p:cNvPr id="28" name="Forma 27"/>
              <p:cNvSpPr/>
              <p:nvPr/>
            </p:nvSpPr>
            <p:spPr>
              <a:xfrm rot="600000">
                <a:off x="138988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600000">
                <a:off x="1422340" y="2702500"/>
                <a:ext cx="398697" cy="166896"/>
              </a:xfrm>
              <a:prstGeom prst="ellipse">
                <a:avLst/>
              </a:prstGeom>
              <a:solidFill>
                <a:srgbClr val="F8D8B4"/>
              </a:solidFill>
              <a:ln w="9525" cap="rnd">
                <a:solidFill>
                  <a:srgbClr val="B2732B"/>
                </a:solidFill>
                <a:round/>
              </a:ln>
            </p:spPr>
          </p:sp>
          <p:sp>
            <p:nvSpPr>
              <p:cNvPr id="30" name="Forma 29"/>
              <p:cNvSpPr/>
              <p:nvPr/>
            </p:nvSpPr>
            <p:spPr>
              <a:xfrm rot="600000">
                <a:off x="142234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Célula TP 2"/>
          <p:cNvGrpSpPr/>
          <p:nvPr/>
        </p:nvGrpSpPr>
        <p:grpSpPr>
          <a:xfrm>
            <a:off x="4069080" y="1874520"/>
            <a:ext cx="3566160" cy="2651760"/>
            <a:chOff x="4069080" y="1874520"/>
            <a:chExt cx="3566160" cy="2651760"/>
          </a:xfrm>
        </p:grpSpPr>
        <p:sp>
          <p:nvSpPr>
            <p:cNvPr id="32" name="Forma 31"/>
            <p:cNvSpPr/>
            <p:nvPr/>
          </p:nvSpPr>
          <p:spPr>
            <a:xfrm>
              <a:off x="406908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33" name="Forma 32"/>
            <p:cNvSpPr/>
            <p:nvPr/>
          </p:nvSpPr>
          <p:spPr>
            <a:xfrm>
              <a:off x="406908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34" name="Núcleo_2"/>
            <p:cNvGrpSpPr/>
            <p:nvPr/>
          </p:nvGrpSpPr>
          <p:grpSpPr>
            <a:xfrm>
              <a:off x="4354373" y="3412541"/>
              <a:ext cx="641909" cy="577718"/>
              <a:chOff x="4354373" y="3412541"/>
              <a:chExt cx="641909" cy="577718"/>
            </a:xfrm>
          </p:grpSpPr>
          <p:sp>
            <p:nvSpPr>
              <p:cNvPr id="35" name="Forma 34"/>
              <p:cNvSpPr/>
              <p:nvPr/>
            </p:nvSpPr>
            <p:spPr>
              <a:xfrm>
                <a:off x="435437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36" name="Forma 35"/>
              <p:cNvSpPr/>
              <p:nvPr/>
            </p:nvSpPr>
            <p:spPr>
              <a:xfrm>
                <a:off x="4688165" y="3605113"/>
                <a:ext cx="141220" cy="128382"/>
              </a:xfrm>
              <a:prstGeom prst="ellipse">
                <a:avLst/>
              </a:prstGeom>
              <a:solidFill>
                <a:srgbClr val="513B6B"/>
              </a:solidFill>
              <a:ln>
                <a:noFill/>
              </a:ln>
            </p:spPr>
          </p:sp>
        </p:grpSp>
        <p:grpSp>
          <p:nvGrpSpPr>
            <p:cNvPr id="37" name="Mitocondria_5"/>
            <p:cNvGrpSpPr/>
            <p:nvPr/>
          </p:nvGrpSpPr>
          <p:grpSpPr>
            <a:xfrm>
              <a:off x="6636715" y="3730752"/>
              <a:ext cx="463601" cy="231800"/>
              <a:chOff x="6636715" y="3730752"/>
              <a:chExt cx="463601" cy="231800"/>
            </a:xfrm>
          </p:grpSpPr>
          <p:sp>
            <p:nvSpPr>
              <p:cNvPr id="38" name="Forma 37"/>
              <p:cNvSpPr/>
              <p:nvPr/>
            </p:nvSpPr>
            <p:spPr>
              <a:xfrm rot="4800000">
                <a:off x="663671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rot="4800000">
                <a:off x="6669167" y="3763204"/>
                <a:ext cx="398697" cy="166896"/>
              </a:xfrm>
              <a:prstGeom prst="ellipse">
                <a:avLst/>
              </a:prstGeom>
              <a:solidFill>
                <a:srgbClr val="F8D8B4"/>
              </a:solidFill>
              <a:ln w="9525" cap="rnd">
                <a:solidFill>
                  <a:srgbClr val="B2732B"/>
                </a:solidFill>
                <a:round/>
              </a:ln>
            </p:spPr>
          </p:sp>
          <p:sp>
            <p:nvSpPr>
              <p:cNvPr id="40" name="Forma 39"/>
              <p:cNvSpPr/>
              <p:nvPr/>
            </p:nvSpPr>
            <p:spPr>
              <a:xfrm rot="4800000">
                <a:off x="666916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Mitocondria_6"/>
            <p:cNvGrpSpPr/>
            <p:nvPr/>
          </p:nvGrpSpPr>
          <p:grpSpPr>
            <a:xfrm>
              <a:off x="6993331" y="3677717"/>
              <a:ext cx="463601" cy="231800"/>
              <a:chOff x="6993331" y="3677717"/>
              <a:chExt cx="463601" cy="231800"/>
            </a:xfrm>
          </p:grpSpPr>
          <p:sp>
            <p:nvSpPr>
              <p:cNvPr id="42" name="Forma 41"/>
              <p:cNvSpPr/>
              <p:nvPr/>
            </p:nvSpPr>
            <p:spPr>
              <a:xfrm rot="5100000">
                <a:off x="699333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3" name="Forma 42"/>
              <p:cNvSpPr/>
              <p:nvPr/>
            </p:nvSpPr>
            <p:spPr>
              <a:xfrm rot="5100000">
                <a:off x="7025783" y="3710169"/>
                <a:ext cx="398697" cy="166896"/>
              </a:xfrm>
              <a:prstGeom prst="ellipse">
                <a:avLst/>
              </a:prstGeom>
              <a:solidFill>
                <a:srgbClr val="F8D8B4"/>
              </a:solidFill>
              <a:ln w="9525" cap="rnd">
                <a:solidFill>
                  <a:srgbClr val="B2732B"/>
                </a:solidFill>
                <a:round/>
              </a:ln>
            </p:spPr>
          </p:sp>
          <p:sp>
            <p:nvSpPr>
              <p:cNvPr id="44" name="Forma 43"/>
              <p:cNvSpPr/>
              <p:nvPr/>
            </p:nvSpPr>
            <p:spPr>
              <a:xfrm rot="5100000">
                <a:off x="702578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5" name="Mitocondria_7"/>
            <p:cNvGrpSpPr/>
            <p:nvPr/>
          </p:nvGrpSpPr>
          <p:grpSpPr>
            <a:xfrm>
              <a:off x="6280099" y="3783787"/>
              <a:ext cx="463601" cy="231800"/>
              <a:chOff x="6280099" y="3783787"/>
              <a:chExt cx="463601" cy="231800"/>
            </a:xfrm>
          </p:grpSpPr>
          <p:sp>
            <p:nvSpPr>
              <p:cNvPr id="46" name="Forma 45"/>
              <p:cNvSpPr/>
              <p:nvPr/>
            </p:nvSpPr>
            <p:spPr>
              <a:xfrm rot="5700000">
                <a:off x="628009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7" name="Forma 46"/>
              <p:cNvSpPr/>
              <p:nvPr/>
            </p:nvSpPr>
            <p:spPr>
              <a:xfrm rot="5700000">
                <a:off x="6312551" y="3816239"/>
                <a:ext cx="398697" cy="166896"/>
              </a:xfrm>
              <a:prstGeom prst="ellipse">
                <a:avLst/>
              </a:prstGeom>
              <a:solidFill>
                <a:srgbClr val="F8D8B4"/>
              </a:solidFill>
              <a:ln w="9525" cap="rnd">
                <a:solidFill>
                  <a:srgbClr val="B2732B"/>
                </a:solidFill>
                <a:round/>
              </a:ln>
            </p:spPr>
          </p:sp>
          <p:sp>
            <p:nvSpPr>
              <p:cNvPr id="48" name="Forma 47"/>
              <p:cNvSpPr/>
              <p:nvPr/>
            </p:nvSpPr>
            <p:spPr>
              <a:xfrm rot="5700000">
                <a:off x="631255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9" name="Mitocondria_8"/>
            <p:cNvGrpSpPr/>
            <p:nvPr/>
          </p:nvGrpSpPr>
          <p:grpSpPr>
            <a:xfrm>
              <a:off x="5138928" y="2670048"/>
              <a:ext cx="463601" cy="231800"/>
              <a:chOff x="5138928" y="2670048"/>
              <a:chExt cx="463601" cy="231800"/>
            </a:xfrm>
          </p:grpSpPr>
          <p:sp>
            <p:nvSpPr>
              <p:cNvPr id="50" name="Forma 49"/>
              <p:cNvSpPr/>
              <p:nvPr/>
            </p:nvSpPr>
            <p:spPr>
              <a:xfrm rot="600000">
                <a:off x="513892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1" name="Forma 50"/>
              <p:cNvSpPr/>
              <p:nvPr/>
            </p:nvSpPr>
            <p:spPr>
              <a:xfrm rot="600000">
                <a:off x="5171380" y="2702500"/>
                <a:ext cx="398697" cy="166896"/>
              </a:xfrm>
              <a:prstGeom prst="ellipse">
                <a:avLst/>
              </a:prstGeom>
              <a:solidFill>
                <a:srgbClr val="F8D8B4"/>
              </a:solidFill>
              <a:ln w="9525" cap="rnd">
                <a:solidFill>
                  <a:srgbClr val="B2732B"/>
                </a:solidFill>
                <a:round/>
              </a:ln>
            </p:spPr>
          </p:sp>
          <p:sp>
            <p:nvSpPr>
              <p:cNvPr id="52" name="Forma 51"/>
              <p:cNvSpPr/>
              <p:nvPr/>
            </p:nvSpPr>
            <p:spPr>
              <a:xfrm rot="600000">
                <a:off x="517138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3" name="!!Capilar peritubular"/>
          <p:cNvGrpSpPr/>
          <p:nvPr/>
        </p:nvGrpSpPr>
        <p:grpSpPr>
          <a:xfrm>
            <a:off x="320040" y="4846320"/>
            <a:ext cx="7315200" cy="777240"/>
            <a:chOff x="320040" y="4846320"/>
            <a:chExt cx="7315200" cy="777240"/>
          </a:xfrm>
        </p:grpSpPr>
        <p:sp>
          <p:nvSpPr>
            <p:cNvPr id="54" name="Forma 53"/>
            <p:cNvSpPr/>
            <p:nvPr/>
          </p:nvSpPr>
          <p:spPr>
            <a:xfrm>
              <a:off x="320040" y="4846320"/>
              <a:ext cx="7315200" cy="77724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5" name="Forma 54"/>
            <p:cNvSpPr/>
            <p:nvPr/>
          </p:nvSpPr>
          <p:spPr>
            <a:xfrm>
              <a:off x="436626" y="4986223"/>
              <a:ext cx="7082028" cy="497434"/>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6" name="Eritrocito"/>
            <p:cNvSpPr/>
            <p:nvPr/>
          </p:nvSpPr>
          <p:spPr>
            <a:xfrm>
              <a:off x="791460" y="518476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7" name="Eritrocito_2"/>
            <p:cNvSpPr/>
            <p:nvPr/>
          </p:nvSpPr>
          <p:spPr>
            <a:xfrm>
              <a:off x="1813559" y="5223758"/>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8" name="Eritrocito_3"/>
            <p:cNvSpPr/>
            <p:nvPr/>
          </p:nvSpPr>
          <p:spPr>
            <a:xfrm>
              <a:off x="2748611" y="521984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4"/>
            <p:cNvSpPr/>
            <p:nvPr/>
          </p:nvSpPr>
          <p:spPr>
            <a:xfrm>
              <a:off x="3432909" y="5131105"/>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5"/>
            <p:cNvSpPr/>
            <p:nvPr/>
          </p:nvSpPr>
          <p:spPr>
            <a:xfrm>
              <a:off x="4738832" y="516673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6"/>
            <p:cNvSpPr/>
            <p:nvPr/>
          </p:nvSpPr>
          <p:spPr>
            <a:xfrm>
              <a:off x="5678795" y="506262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7"/>
            <p:cNvSpPr/>
            <p:nvPr/>
          </p:nvSpPr>
          <p:spPr>
            <a:xfrm>
              <a:off x="6469829" y="508854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3" name="!!SGLT2"/>
          <p:cNvGrpSpPr/>
          <p:nvPr/>
        </p:nvGrpSpPr>
        <p:grpSpPr>
          <a:xfrm>
            <a:off x="1097280" y="1883664"/>
            <a:ext cx="1153973" cy="758952"/>
            <a:chOff x="1097280" y="1883664"/>
            <a:chExt cx="1153973" cy="758952"/>
          </a:xfrm>
        </p:grpSpPr>
        <p:sp>
          <p:nvSpPr>
            <p:cNvPr id="64" name="Forma 63"/>
            <p:cNvSpPr/>
            <p:nvPr/>
          </p:nvSpPr>
          <p:spPr>
            <a:xfrm>
              <a:off x="1463040"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5" name="Forma 64"/>
            <p:cNvSpPr/>
            <p:nvPr/>
          </p:nvSpPr>
          <p:spPr>
            <a:xfrm>
              <a:off x="1704442"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6" name="Forma 65"/>
            <p:cNvSpPr txBox="1"/>
            <p:nvPr/>
          </p:nvSpPr>
          <p:spPr>
            <a:xfrm>
              <a:off x="109728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7380F"/>
                  </a:solidFill>
                  <a:latin typeface="Fira Sans Condensed"/>
                  <a:ea typeface="Fira Sans Condensed"/>
                  <a:cs typeface="Fira Sans Condensed"/>
                  <a:sym typeface="Fira Sans Condensed"/>
                </a:rPr>
                <a:t>SGLT2 · S1–S2</a:t>
              </a:r>
              <a:endParaRPr lang="es-AR" sz="1150" dirty="0">
                <a:latin typeface="Fira Sans Condensed"/>
              </a:endParaRPr>
            </a:p>
          </p:txBody>
        </p:sp>
      </p:grpSp>
      <p:grpSp>
        <p:nvGrpSpPr>
          <p:cNvPr id="67" name="!!SGLT1"/>
          <p:cNvGrpSpPr/>
          <p:nvPr/>
        </p:nvGrpSpPr>
        <p:grpSpPr>
          <a:xfrm>
            <a:off x="5120640" y="1883664"/>
            <a:ext cx="1153973" cy="758952"/>
            <a:chOff x="5120640" y="1883664"/>
            <a:chExt cx="1153973" cy="758952"/>
          </a:xfrm>
        </p:grpSpPr>
        <p:sp>
          <p:nvSpPr>
            <p:cNvPr id="68" name="Forma 67"/>
            <p:cNvSpPr/>
            <p:nvPr/>
          </p:nvSpPr>
          <p:spPr>
            <a:xfrm>
              <a:off x="5486400"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69" name="Forma 68"/>
            <p:cNvSpPr/>
            <p:nvPr/>
          </p:nvSpPr>
          <p:spPr>
            <a:xfrm>
              <a:off x="5727802"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70" name="Forma 69"/>
            <p:cNvSpPr txBox="1"/>
            <p:nvPr/>
          </p:nvSpPr>
          <p:spPr>
            <a:xfrm>
              <a:off x="512064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5E2500"/>
                  </a:solidFill>
                  <a:latin typeface="Fira Sans Condensed"/>
                  <a:ea typeface="Fira Sans Condensed"/>
                  <a:cs typeface="Fira Sans Condensed"/>
                  <a:sym typeface="Fira Sans Condensed"/>
                </a:rPr>
                <a:t>SGLT1 · S3</a:t>
              </a:r>
              <a:endParaRPr lang="es-AR" sz="1150" dirty="0">
                <a:latin typeface="Fira Sans Condensed"/>
              </a:endParaRPr>
            </a:p>
          </p:txBody>
        </p:sp>
      </p:grpSp>
      <p:grpSp>
        <p:nvGrpSpPr>
          <p:cNvPr id="71" name="!!GLUT2 baso"/>
          <p:cNvGrpSpPr/>
          <p:nvPr/>
        </p:nvGrpSpPr>
        <p:grpSpPr>
          <a:xfrm>
            <a:off x="2194560" y="4206240"/>
            <a:ext cx="384048" cy="457200"/>
            <a:chOff x="2194560" y="4206240"/>
            <a:chExt cx="384048" cy="457200"/>
          </a:xfrm>
        </p:grpSpPr>
        <p:sp>
          <p:nvSpPr>
            <p:cNvPr id="72" name="Forma 71"/>
            <p:cNvSpPr/>
            <p:nvPr/>
          </p:nvSpPr>
          <p:spPr>
            <a:xfrm>
              <a:off x="2194560"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73" name="Forma 72"/>
            <p:cNvSpPr/>
            <p:nvPr/>
          </p:nvSpPr>
          <p:spPr>
            <a:xfrm>
              <a:off x="2414016"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grpSp>
      <p:sp>
        <p:nvSpPr>
          <p:cNvPr id="74" name="!!Rótulo GLUT2"/>
          <p:cNvSpPr txBox="1"/>
          <p:nvPr/>
        </p:nvSpPr>
        <p:spPr>
          <a:xfrm>
            <a:off x="2697480" y="4224528"/>
            <a:ext cx="914400" cy="274320"/>
          </a:xfrm>
          <a:prstGeom prst="rect">
            <a:avLst/>
          </a:prstGeom>
          <a:noFill/>
          <a:ln>
            <a:noFill/>
          </a:ln>
        </p:spPr>
        <p:txBody>
          <a:bodyPr wrap="square" lIns="0" tIns="0" rIns="0" bIns="0" anchor="ctr" rtlCol="0">
            <a:noAutofit/>
          </a:bodyPr>
          <a:lstStyle/>
          <a:p>
            <a:pPr algn="ctr">
              <a:spcAft>
                <a:spcPts val="300"/>
              </a:spcAft>
              <a:buNone/>
            </a:pPr>
            <a:r>
              <a:rPr lang="es-AR" sz="11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GLUT2</a:t>
            </a:r>
            <a:endParaRPr lang="es-AR" sz="1100" dirty="0">
              <a:latin typeface="Fira Sans Condensed"/>
            </a:endParaRPr>
          </a:p>
        </p:txBody>
      </p:sp>
      <p:sp>
        <p:nvSpPr>
          <p:cNvPr id="75" name="!!Bomba NaK"/>
          <p:cNvSpPr/>
          <p:nvPr/>
        </p:nvSpPr>
        <p:spPr>
          <a:xfrm>
            <a:off x="5029200" y="4160520"/>
            <a:ext cx="594360" cy="384048"/>
          </a:xfrm>
          <a:prstGeom prst="roundRect">
            <a:avLst/>
          </a:prstGeom>
          <a:gradFill rotWithShape="1">
            <a:gsLst>
              <a:gs pos="0">
                <a:srgbClr val="9AE6BA"/>
              </a:gs>
              <a:gs pos="55000">
                <a:srgbClr val="58D68D"/>
              </a:gs>
              <a:gs pos="100000">
                <a:srgbClr val="3D9562"/>
              </a:gs>
            </a:gsLst>
            <a:path path="circle">
              <a:fillToRect l="32000" t="28000" r="68000" b="72000"/>
            </a:path>
          </a:gradFill>
          <a:ln w="15240" cap="rnd">
            <a:solidFill>
              <a:srgbClr val="1D8348"/>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Na⁺/K⁺</a:t>
            </a:r>
            <a:endParaRPr lang="es-AR" sz="950" dirty="0">
              <a:latin typeface="Fira Sans Condensed"/>
            </a:endParaRPr>
          </a:p>
        </p:txBody>
      </p:sp>
      <p:grpSp>
        <p:nvGrpSpPr>
          <p:cNvPr id="76" name="Cuadro Reabsorción normal"/>
          <p:cNvGrpSpPr/>
          <p:nvPr/>
        </p:nvGrpSpPr>
        <p:grpSpPr>
          <a:xfrm>
            <a:off x="7909560" y="1051560"/>
            <a:ext cx="3931920" cy="4526280"/>
            <a:chOff x="7909560" y="1051560"/>
            <a:chExt cx="3931920" cy="4526280"/>
          </a:xfrm>
        </p:grpSpPr>
        <p:sp>
          <p:nvSpPr>
            <p:cNvPr id="77" name="Forma 76"/>
            <p:cNvSpPr/>
            <p:nvPr/>
          </p:nvSpPr>
          <p:spPr>
            <a:xfrm>
              <a:off x="7909560" y="1252728"/>
              <a:ext cx="3931920" cy="43251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SGLT2</a:t>
              </a:r>
              <a:r>
                <a:rPr lang="es-AR" sz="1450" dirty="0">
                  <a:solidFill>
                    <a:srgbClr val="1E1E1E"/>
                  </a:solidFill>
                  <a:latin typeface="Fira Sans Condensed"/>
                  <a:ea typeface="Fira Sans Condensed"/>
                  <a:cs typeface="Fira Sans Condensed"/>
                  <a:sym typeface="Fira Sans Condensed"/>
                </a:rPr>
                <a:t> (segmentos iniciales): reabsorbe la mayor parte, acoplado a Na⁺.</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SGLT1</a:t>
              </a:r>
              <a:r>
                <a:rPr lang="es-AR" sz="1450" dirty="0">
                  <a:solidFill>
                    <a:srgbClr val="1E1E1E"/>
                  </a:solidFill>
                  <a:latin typeface="Fira Sans Condensed"/>
                  <a:ea typeface="Fira Sans Condensed"/>
                  <a:cs typeface="Fira Sans Condensed"/>
                  <a:sym typeface="Fira Sans Condensed"/>
                </a:rPr>
                <a:t> (porción más distal): completa la reabsorción.</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Salida </a:t>
              </a:r>
              <a:r>
                <a:rPr lang="es-AR" sz="1450" b="1" dirty="0">
                  <a:solidFill>
                    <a:srgbClr val="1E1E1E"/>
                  </a:solidFill>
                  <a:latin typeface="Fira Sans Condensed"/>
                  <a:ea typeface="Fira Sans Condensed"/>
                  <a:cs typeface="Fira Sans Condensed"/>
                  <a:sym typeface="Fira Sans Condensed"/>
                </a:rPr>
                <a:t>basolateral</a:t>
              </a:r>
              <a:r>
                <a:rPr lang="es-AR" sz="1450" dirty="0">
                  <a:solidFill>
                    <a:srgbClr val="1E1E1E"/>
                  </a:solidFill>
                  <a:latin typeface="Fira Sans Condensed"/>
                  <a:ea typeface="Fira Sans Condensed"/>
                  <a:cs typeface="Fira Sans Condensed"/>
                  <a:sym typeface="Fira Sans Condensed"/>
                </a:rPr>
                <a:t> por </a:t>
              </a:r>
              <a:r>
                <a:rPr lang="es-AR" sz="1450" b="1" dirty="0">
                  <a:solidFill>
                    <a:srgbClr val="1E1E1E"/>
                  </a:solidFill>
                  <a:latin typeface="Fira Sans Condensed"/>
                  <a:ea typeface="Fira Sans Condensed"/>
                  <a:cs typeface="Fira Sans Condensed"/>
                  <a:sym typeface="Fira Sans Condensed"/>
                </a:rPr>
                <a:t>GLUT</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a:t>
              </a:r>
              <a:r>
                <a:rPr lang="es-AR" sz="1450" b="1" dirty="0">
                  <a:solidFill>
                    <a:srgbClr val="1E1E1E"/>
                  </a:solidFill>
                  <a:latin typeface="Fira Sans Condensed"/>
                  <a:ea typeface="Fira Sans Condensed"/>
                  <a:cs typeface="Fira Sans Condensed"/>
                  <a:sym typeface="Fira Sans Condensed"/>
                </a:rPr>
                <a:t>Na⁺/K⁺-ATPasa</a:t>
              </a:r>
              <a:r>
                <a:rPr lang="es-AR" sz="1450" dirty="0">
                  <a:solidFill>
                    <a:srgbClr val="1E1E1E"/>
                  </a:solidFill>
                  <a:latin typeface="Fira Sans Condensed"/>
                  <a:ea typeface="Fira Sans Condensed"/>
                  <a:cs typeface="Fira Sans Condensed"/>
                  <a:sym typeface="Fira Sans Condensed"/>
                </a:rPr>
                <a:t> mantiene el gradiente de Na⁺ que impulsa el cotransporte.</a:t>
              </a:r>
              <a:endParaRPr lang="es-AR" sz="1450" dirty="0">
                <a:latin typeface="Fira Sans Condensed"/>
              </a:endParaRPr>
            </a:p>
          </p:txBody>
        </p:sp>
        <p:sp>
          <p:nvSpPr>
            <p:cNvPr id="78" name="Forma 77"/>
            <p:cNvSpPr/>
            <p:nvPr/>
          </p:nvSpPr>
          <p:spPr>
            <a:xfrm>
              <a:off x="8046720" y="1051560"/>
              <a:ext cx="218549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REABSORCIÓN NORMAL</a:t>
              </a:r>
              <a:endParaRPr lang="es-AR" sz="1400" dirty="0">
                <a:latin typeface="Fira Sans Condensed"/>
              </a:endParaRPr>
            </a:p>
          </p:txBody>
        </p:sp>
      </p:grpSp>
      <p:sp>
        <p:nvSpPr>
          <p:cNvPr id="79" name="Glc luz 0"/>
          <p:cNvSpPr/>
          <p:nvPr/>
        </p:nvSpPr>
        <p:spPr>
          <a:xfrm>
            <a:off x="91440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0" name="Glc luz 1"/>
          <p:cNvSpPr/>
          <p:nvPr/>
        </p:nvSpPr>
        <p:spPr>
          <a:xfrm>
            <a:off x="146304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1" name="Glc luz 2"/>
          <p:cNvSpPr/>
          <p:nvPr/>
        </p:nvSpPr>
        <p:spPr>
          <a:xfrm>
            <a:off x="201168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2" name="Glc luz 3"/>
          <p:cNvSpPr/>
          <p:nvPr/>
        </p:nvSpPr>
        <p:spPr>
          <a:xfrm>
            <a:off x="25603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SECUENCIA D · 3 · TÚBULO PROXIMAL: SGLT2 Y SGLT1</a:t>
            </a:r>
            <a:endParaRPr lang="es-AR" sz="31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8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72</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9"/>
                                        </p:tgtEl>
                                        <p:attrNameLst>
                                          <p:attrName>style.visibility</p:attrName>
                                        </p:attrNameLst>
                                      </p:cBhvr>
                                      <p:to>
                                        <p:strVal val="visible"/>
                                      </p:to>
                                    </p:set>
                                    <p:animEffect transition="in" filter="fade">
                                      <p:cBhvr>
                                        <p:cTn id="5" dur="150"/>
                                        <p:tgtEl>
                                          <p:spTgt spid="79"/>
                                        </p:tgtEl>
                                      </p:cBhvr>
                                    </p:animEffect>
                                  </p:childTnLst>
                                </p:cTn>
                              </p:par>
                            </p:childTnLst>
                          </p:cTn>
                        </p:par>
                        <p:par>
                          <p:cTn id="10" fill="hold">
                            <p:stCondLst>
                              <p:cond delay="150"/>
                            </p:stCondLst>
                            <p:childTnLst>
                              <p:par>
                                <p:cTn id="7" presetID="10" presetClass="entr" presetSubtype="0" fill="hold" grpId="0" nodeType="afterEffect">
                                  <p:stCondLst>
                                    <p:cond delay="0"/>
                                  </p:stCondLst>
                                  <p:childTnLst>
                                    <p:set>
                                      <p:cBhvr>
                                        <p:cTn id="8" dur="1" fill="hold">
                                          <p:stCondLst>
                                            <p:cond delay="0"/>
                                          </p:stCondLst>
                                        </p:cTn>
                                        <p:tgtEl>
                                          <p:spTgt spid="80"/>
                                        </p:tgtEl>
                                        <p:attrNameLst>
                                          <p:attrName>style.visibility</p:attrName>
                                        </p:attrNameLst>
                                      </p:cBhvr>
                                      <p:to>
                                        <p:strVal val="visible"/>
                                      </p:to>
                                    </p:set>
                                    <p:animEffect transition="in" filter="fade">
                                      <p:cBhvr>
                                        <p:cTn id="9" dur="150"/>
                                        <p:tgtEl>
                                          <p:spTgt spid="80"/>
                                        </p:tgtEl>
                                      </p:cBhvr>
                                    </p:animEffect>
                                  </p:childTnLst>
                                </p:cTn>
                              </p:par>
                            </p:childTnLst>
                          </p:cTn>
                        </p:par>
                        <p:par>
                          <p:cTn id="14" fill="hold">
                            <p:stCondLst>
                              <p:cond delay="300"/>
                            </p:stCondLst>
                            <p:childTnLst>
                              <p:par>
                                <p:cTn id="11" presetID="10" presetClass="entr" presetSubtype="0" fill="hold" grpId="0" nodeType="after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150"/>
                                        <p:tgtEl>
                                          <p:spTgt spid="81"/>
                                        </p:tgtEl>
                                      </p:cBhvr>
                                    </p:animEffect>
                                  </p:childTnLst>
                                </p:cTn>
                              </p:par>
                            </p:childTnLst>
                          </p:cTn>
                        </p:par>
                        <p:par>
                          <p:cTn id="18" fill="hold">
                            <p:stCondLst>
                              <p:cond delay="450"/>
                            </p:stCondLst>
                            <p:childTnLst>
                              <p:par>
                                <p:cTn id="15" presetID="10" presetClass="entr" presetSubtype="0" fill="hold" grpId="0" nodeType="after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fade">
                                      <p:cBhvr>
                                        <p:cTn id="17" dur="150"/>
                                        <p:tgtEl>
                                          <p:spTgt spid="82"/>
                                        </p:tgtEl>
                                      </p:cBhvr>
                                    </p:animEffect>
                                  </p:childTnLst>
                                </p:cTn>
                              </p:par>
                            </p:childTnLst>
                          </p:cTn>
                        </p:par>
                      </p:childTnLst>
                    </p:cTn>
                  </p:par>
                  <p:par>
                    <p:cTn id="32" fill="hold">
                      <p:stCondLst>
                        <p:cond delay="indefinite"/>
                      </p:stCondLst>
                      <p:childTnLst>
                        <p:par>
                          <p:cTn id="22" fill="hold">
                            <p:stCondLst>
                              <p:cond delay="0"/>
                            </p:stCondLst>
                            <p:childTnLst>
                              <p:par>
                                <p:cTn id="20" presetID="0" presetClass="path" presetSubtype="0" accel="20000" decel="20000" fill="hold" grpId="0" nodeType="clickEffect">
                                  <p:stCondLst>
                                    <p:cond delay="0"/>
                                  </p:stCondLst>
                                  <p:childTnLst>
                                    <p:animMotion origin="layout" path="M 0 0 L 0.0563 0.0933 L 0.1163 0.4267 L 0.0563 0.5333 E" pathEditMode="relative" ptsTypes="">
                                      <p:cBhvr>
                                        <p:cTn id="21" dur="2200" fill="hold"/>
                                        <p:tgtEl>
                                          <p:spTgt spid="79"/>
                                        </p:tgtEl>
                                        <p:attrNameLst>
                                          <p:attrName>ppt_x</p:attrName>
                                          <p:attrName>ppt_y</p:attrName>
                                        </p:attrNameLst>
                                      </p:cBhvr>
                                      <p:rCtr x="2812" y="26666"/>
                                    </p:animMotion>
                                  </p:childTnLst>
                                </p:cTn>
                              </p:par>
                            </p:childTnLst>
                          </p:cTn>
                        </p:par>
                        <p:par>
                          <p:cTn id="25" fill="hold">
                            <p:stCondLst>
                              <p:cond delay="300"/>
                            </p:stCondLst>
                            <p:childTnLst>
                              <p:par>
                                <p:cTn id="23" presetID="0" presetClass="path" presetSubtype="0" accel="20000" decel="20000" fill="hold" grpId="0" nodeType="afterEffect">
                                  <p:stCondLst>
                                    <p:cond delay="0"/>
                                  </p:stCondLst>
                                  <p:childTnLst>
                                    <p:animMotion origin="layout" path="M 0 0 L 0.0113 0.0933 L 0.0713 0.4267 L 0.0113 0.5333 E" pathEditMode="relative" ptsTypes="">
                                      <p:cBhvr>
                                        <p:cTn id="24" dur="2200" fill="hold"/>
                                        <p:tgtEl>
                                          <p:spTgt spid="80"/>
                                        </p:tgtEl>
                                        <p:attrNameLst>
                                          <p:attrName>ppt_x</p:attrName>
                                          <p:attrName>ppt_y</p:attrName>
                                        </p:attrNameLst>
                                      </p:cBhvr>
                                      <p:rCtr x="562" y="26666"/>
                                    </p:animMotion>
                                  </p:childTnLst>
                                </p:cTn>
                              </p:par>
                            </p:childTnLst>
                          </p:cTn>
                        </p:par>
                        <p:par>
                          <p:cTn id="28" fill="hold">
                            <p:stCondLst>
                              <p:cond delay="900"/>
                            </p:stCondLst>
                            <p:childTnLst>
                              <p:par>
                                <p:cTn id="26" presetID="0" presetClass="path" presetSubtype="0" accel="20000" decel="20000" fill="hold" grpId="0" nodeType="afterEffect">
                                  <p:stCondLst>
                                    <p:cond delay="0"/>
                                  </p:stCondLst>
                                  <p:childTnLst>
                                    <p:animMotion origin="layout" path="M 0 0 L -0.0338 0.0933 L 0.0263 0.4267 L -0.0338 0.5333 E" pathEditMode="relative" ptsTypes="">
                                      <p:cBhvr>
                                        <p:cTn id="27" dur="2200" fill="hold"/>
                                        <p:tgtEl>
                                          <p:spTgt spid="81"/>
                                        </p:tgtEl>
                                        <p:attrNameLst>
                                          <p:attrName>ppt_x</p:attrName>
                                          <p:attrName>ppt_y</p:attrName>
                                        </p:attrNameLst>
                                      </p:cBhvr>
                                      <p:rCtr x="-1687" y="26666"/>
                                    </p:animMotion>
                                  </p:childTnLst>
                                </p:cTn>
                              </p:par>
                            </p:childTnLst>
                          </p:cTn>
                        </p:par>
                        <p:par>
                          <p:cTn id="31" fill="hold">
                            <p:stCondLst>
                              <p:cond delay="1800"/>
                            </p:stCondLst>
                            <p:childTnLst>
                              <p:par>
                                <p:cTn id="29" presetID="0" presetClass="path" presetSubtype="0" accel="20000" decel="20000" fill="hold" grpId="0" nodeType="afterEffect">
                                  <p:stCondLst>
                                    <p:cond delay="0"/>
                                  </p:stCondLst>
                                  <p:childTnLst>
                                    <p:animMotion origin="layout" path="M 0 0 L -0.0788 0.0933 L -0.0188 0.4267 L -0.0788 0.5333 E" pathEditMode="relative" ptsTypes="">
                                      <p:cBhvr>
                                        <p:cTn id="30" dur="2200" fill="hold"/>
                                        <p:tgtEl>
                                          <p:spTgt spid="82"/>
                                        </p:tgtEl>
                                        <p:attrNameLst>
                                          <p:attrName>ppt_x</p:attrName>
                                          <p:attrName>ppt_y</p:attrName>
                                        </p:attrNameLst>
                                      </p:cBhvr>
                                      <p:rCtr x="-3937" y="266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81" grpId="0" animBg="1"/>
      <p:bldP spid="82"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sp>
        <p:nvSpPr>
          <p:cNvPr id="7" name="!!Luz tubular"/>
          <p:cNvSpPr/>
          <p:nvPr/>
        </p:nvSpPr>
        <p:spPr>
          <a:xfrm>
            <a:off x="320040" y="1051560"/>
            <a:ext cx="7315200" cy="960120"/>
          </a:xfrm>
          <a:prstGeom prst="rect">
            <a:avLst/>
          </a:prstGeom>
          <a:gradFill rotWithShape="1">
            <a:gsLst>
              <a:gs pos="0">
                <a:srgbClr val="FFF9E1"/>
              </a:gs>
              <a:gs pos="100000">
                <a:srgbClr val="FCE9A8"/>
              </a:gs>
            </a:gsLst>
            <a:lin ang="5400000" scaled="0"/>
          </a:gradFill>
          <a:ln w="12700" cap="rnd">
            <a:solidFill>
              <a:srgbClr val="1E1E1E"/>
            </a:solidFill>
            <a:round/>
          </a:ln>
        </p:spPr>
      </p:sp>
      <p:sp>
        <p:nvSpPr>
          <p:cNvPr id="8" name="!!Rótulo luz"/>
          <p:cNvSpPr txBox="1"/>
          <p:nvPr/>
        </p:nvSpPr>
        <p:spPr>
          <a:xfrm>
            <a:off x="411480" y="1078992"/>
            <a:ext cx="27432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TUBULAR (ORINA PRIMARIA)</a:t>
            </a:r>
            <a:endParaRPr lang="es-AR" sz="1200" dirty="0">
              <a:latin typeface="Fira Sans Condensed"/>
            </a:endParaRPr>
          </a:p>
        </p:txBody>
      </p:sp>
      <p:grpSp>
        <p:nvGrpSpPr>
          <p:cNvPr id="9" name="!!Célula TP 1"/>
          <p:cNvGrpSpPr/>
          <p:nvPr/>
        </p:nvGrpSpPr>
        <p:grpSpPr>
          <a:xfrm>
            <a:off x="320040" y="1874520"/>
            <a:ext cx="3566160" cy="2651760"/>
            <a:chOff x="320040" y="1874520"/>
            <a:chExt cx="3566160" cy="2651760"/>
          </a:xfrm>
        </p:grpSpPr>
        <p:sp>
          <p:nvSpPr>
            <p:cNvPr id="10" name="Forma 9"/>
            <p:cNvSpPr/>
            <p:nvPr/>
          </p:nvSpPr>
          <p:spPr>
            <a:xfrm>
              <a:off x="32004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11" name="Forma 10"/>
            <p:cNvSpPr/>
            <p:nvPr/>
          </p:nvSpPr>
          <p:spPr>
            <a:xfrm>
              <a:off x="32004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12" name="Núcleo"/>
            <p:cNvGrpSpPr/>
            <p:nvPr/>
          </p:nvGrpSpPr>
          <p:grpSpPr>
            <a:xfrm>
              <a:off x="605333" y="3412541"/>
              <a:ext cx="641909" cy="577718"/>
              <a:chOff x="605333" y="3412541"/>
              <a:chExt cx="641909" cy="577718"/>
            </a:xfrm>
          </p:grpSpPr>
          <p:sp>
            <p:nvSpPr>
              <p:cNvPr id="13" name="Forma 12"/>
              <p:cNvSpPr/>
              <p:nvPr/>
            </p:nvSpPr>
            <p:spPr>
              <a:xfrm>
                <a:off x="60533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4" name="Forma 13"/>
              <p:cNvSpPr/>
              <p:nvPr/>
            </p:nvSpPr>
            <p:spPr>
              <a:xfrm>
                <a:off x="939125" y="3605113"/>
                <a:ext cx="141220" cy="128382"/>
              </a:xfrm>
              <a:prstGeom prst="ellipse">
                <a:avLst/>
              </a:prstGeom>
              <a:solidFill>
                <a:srgbClr val="513B6B"/>
              </a:solidFill>
              <a:ln>
                <a:noFill/>
              </a:ln>
            </p:spPr>
          </p:sp>
        </p:grpSp>
        <p:grpSp>
          <p:nvGrpSpPr>
            <p:cNvPr id="15" name="Mitocondria"/>
            <p:cNvGrpSpPr/>
            <p:nvPr/>
          </p:nvGrpSpPr>
          <p:grpSpPr>
            <a:xfrm>
              <a:off x="2887675" y="3730752"/>
              <a:ext cx="463601" cy="231800"/>
              <a:chOff x="2887675" y="3730752"/>
              <a:chExt cx="463601" cy="231800"/>
            </a:xfrm>
          </p:grpSpPr>
          <p:sp>
            <p:nvSpPr>
              <p:cNvPr id="16" name="Forma 15"/>
              <p:cNvSpPr/>
              <p:nvPr/>
            </p:nvSpPr>
            <p:spPr>
              <a:xfrm rot="4800000">
                <a:off x="288767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7" name="Forma 16"/>
              <p:cNvSpPr/>
              <p:nvPr/>
            </p:nvSpPr>
            <p:spPr>
              <a:xfrm rot="4800000">
                <a:off x="2920127" y="3763204"/>
                <a:ext cx="398697" cy="166896"/>
              </a:xfrm>
              <a:prstGeom prst="ellipse">
                <a:avLst/>
              </a:prstGeom>
              <a:solidFill>
                <a:srgbClr val="F8D8B4"/>
              </a:solidFill>
              <a:ln w="9525" cap="rnd">
                <a:solidFill>
                  <a:srgbClr val="B2732B"/>
                </a:solidFill>
                <a:round/>
              </a:ln>
            </p:spPr>
          </p:sp>
          <p:sp>
            <p:nvSpPr>
              <p:cNvPr id="18" name="Forma 17"/>
              <p:cNvSpPr/>
              <p:nvPr/>
            </p:nvSpPr>
            <p:spPr>
              <a:xfrm rot="4800000">
                <a:off x="292012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19" name="Mitocondria_2"/>
            <p:cNvGrpSpPr/>
            <p:nvPr/>
          </p:nvGrpSpPr>
          <p:grpSpPr>
            <a:xfrm>
              <a:off x="3244291" y="3677717"/>
              <a:ext cx="463601" cy="231800"/>
              <a:chOff x="3244291" y="3677717"/>
              <a:chExt cx="463601" cy="231800"/>
            </a:xfrm>
          </p:grpSpPr>
          <p:sp>
            <p:nvSpPr>
              <p:cNvPr id="20" name="Forma 19"/>
              <p:cNvSpPr/>
              <p:nvPr/>
            </p:nvSpPr>
            <p:spPr>
              <a:xfrm rot="5100000">
                <a:off x="324429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5100000">
                <a:off x="3276743" y="3710169"/>
                <a:ext cx="398697" cy="166896"/>
              </a:xfrm>
              <a:prstGeom prst="ellipse">
                <a:avLst/>
              </a:prstGeom>
              <a:solidFill>
                <a:srgbClr val="F8D8B4"/>
              </a:solidFill>
              <a:ln w="9525" cap="rnd">
                <a:solidFill>
                  <a:srgbClr val="B2732B"/>
                </a:solidFill>
                <a:round/>
              </a:ln>
            </p:spPr>
          </p:sp>
          <p:sp>
            <p:nvSpPr>
              <p:cNvPr id="22" name="Forma 21"/>
              <p:cNvSpPr/>
              <p:nvPr/>
            </p:nvSpPr>
            <p:spPr>
              <a:xfrm rot="5100000">
                <a:off x="327674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3" name="Mitocondria_3"/>
            <p:cNvGrpSpPr/>
            <p:nvPr/>
          </p:nvGrpSpPr>
          <p:grpSpPr>
            <a:xfrm>
              <a:off x="2531059" y="3783787"/>
              <a:ext cx="463601" cy="231800"/>
              <a:chOff x="2531059" y="3783787"/>
              <a:chExt cx="463601" cy="231800"/>
            </a:xfrm>
          </p:grpSpPr>
          <p:sp>
            <p:nvSpPr>
              <p:cNvPr id="24" name="Forma 23"/>
              <p:cNvSpPr/>
              <p:nvPr/>
            </p:nvSpPr>
            <p:spPr>
              <a:xfrm rot="5700000">
                <a:off x="253105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5" name="Forma 24"/>
              <p:cNvSpPr/>
              <p:nvPr/>
            </p:nvSpPr>
            <p:spPr>
              <a:xfrm rot="5700000">
                <a:off x="2563511" y="3816239"/>
                <a:ext cx="398697" cy="166896"/>
              </a:xfrm>
              <a:prstGeom prst="ellipse">
                <a:avLst/>
              </a:prstGeom>
              <a:solidFill>
                <a:srgbClr val="F8D8B4"/>
              </a:solidFill>
              <a:ln w="9525" cap="rnd">
                <a:solidFill>
                  <a:srgbClr val="B2732B"/>
                </a:solidFill>
                <a:round/>
              </a:ln>
            </p:spPr>
          </p:sp>
          <p:sp>
            <p:nvSpPr>
              <p:cNvPr id="26" name="Forma 25"/>
              <p:cNvSpPr/>
              <p:nvPr/>
            </p:nvSpPr>
            <p:spPr>
              <a:xfrm rot="5700000">
                <a:off x="256351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7" name="Mitocondria_4"/>
            <p:cNvGrpSpPr/>
            <p:nvPr/>
          </p:nvGrpSpPr>
          <p:grpSpPr>
            <a:xfrm>
              <a:off x="1389888" y="2670048"/>
              <a:ext cx="463601" cy="231800"/>
              <a:chOff x="1389888" y="2670048"/>
              <a:chExt cx="463601" cy="231800"/>
            </a:xfrm>
          </p:grpSpPr>
          <p:sp>
            <p:nvSpPr>
              <p:cNvPr id="28" name="Forma 27"/>
              <p:cNvSpPr/>
              <p:nvPr/>
            </p:nvSpPr>
            <p:spPr>
              <a:xfrm rot="600000">
                <a:off x="138988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600000">
                <a:off x="1422340" y="2702500"/>
                <a:ext cx="398697" cy="166896"/>
              </a:xfrm>
              <a:prstGeom prst="ellipse">
                <a:avLst/>
              </a:prstGeom>
              <a:solidFill>
                <a:srgbClr val="F8D8B4"/>
              </a:solidFill>
              <a:ln w="9525" cap="rnd">
                <a:solidFill>
                  <a:srgbClr val="B2732B"/>
                </a:solidFill>
                <a:round/>
              </a:ln>
            </p:spPr>
          </p:sp>
          <p:sp>
            <p:nvSpPr>
              <p:cNvPr id="30" name="Forma 29"/>
              <p:cNvSpPr/>
              <p:nvPr/>
            </p:nvSpPr>
            <p:spPr>
              <a:xfrm rot="600000">
                <a:off x="142234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Célula TP 2"/>
          <p:cNvGrpSpPr/>
          <p:nvPr/>
        </p:nvGrpSpPr>
        <p:grpSpPr>
          <a:xfrm>
            <a:off x="4069080" y="1874520"/>
            <a:ext cx="3566160" cy="2651760"/>
            <a:chOff x="4069080" y="1874520"/>
            <a:chExt cx="3566160" cy="2651760"/>
          </a:xfrm>
        </p:grpSpPr>
        <p:sp>
          <p:nvSpPr>
            <p:cNvPr id="32" name="Forma 31"/>
            <p:cNvSpPr/>
            <p:nvPr/>
          </p:nvSpPr>
          <p:spPr>
            <a:xfrm>
              <a:off x="406908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33" name="Forma 32"/>
            <p:cNvSpPr/>
            <p:nvPr/>
          </p:nvSpPr>
          <p:spPr>
            <a:xfrm>
              <a:off x="406908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34" name="Núcleo_2"/>
            <p:cNvGrpSpPr/>
            <p:nvPr/>
          </p:nvGrpSpPr>
          <p:grpSpPr>
            <a:xfrm>
              <a:off x="4354373" y="3412541"/>
              <a:ext cx="641909" cy="577718"/>
              <a:chOff x="4354373" y="3412541"/>
              <a:chExt cx="641909" cy="577718"/>
            </a:xfrm>
          </p:grpSpPr>
          <p:sp>
            <p:nvSpPr>
              <p:cNvPr id="35" name="Forma 34"/>
              <p:cNvSpPr/>
              <p:nvPr/>
            </p:nvSpPr>
            <p:spPr>
              <a:xfrm>
                <a:off x="435437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36" name="Forma 35"/>
              <p:cNvSpPr/>
              <p:nvPr/>
            </p:nvSpPr>
            <p:spPr>
              <a:xfrm>
                <a:off x="4688165" y="3605113"/>
                <a:ext cx="141220" cy="128382"/>
              </a:xfrm>
              <a:prstGeom prst="ellipse">
                <a:avLst/>
              </a:prstGeom>
              <a:solidFill>
                <a:srgbClr val="513B6B"/>
              </a:solidFill>
              <a:ln>
                <a:noFill/>
              </a:ln>
            </p:spPr>
          </p:sp>
        </p:grpSp>
        <p:grpSp>
          <p:nvGrpSpPr>
            <p:cNvPr id="37" name="Mitocondria_5"/>
            <p:cNvGrpSpPr/>
            <p:nvPr/>
          </p:nvGrpSpPr>
          <p:grpSpPr>
            <a:xfrm>
              <a:off x="6636715" y="3730752"/>
              <a:ext cx="463601" cy="231800"/>
              <a:chOff x="6636715" y="3730752"/>
              <a:chExt cx="463601" cy="231800"/>
            </a:xfrm>
          </p:grpSpPr>
          <p:sp>
            <p:nvSpPr>
              <p:cNvPr id="38" name="Forma 37"/>
              <p:cNvSpPr/>
              <p:nvPr/>
            </p:nvSpPr>
            <p:spPr>
              <a:xfrm rot="4800000">
                <a:off x="663671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rot="4800000">
                <a:off x="6669167" y="3763204"/>
                <a:ext cx="398697" cy="166896"/>
              </a:xfrm>
              <a:prstGeom prst="ellipse">
                <a:avLst/>
              </a:prstGeom>
              <a:solidFill>
                <a:srgbClr val="F8D8B4"/>
              </a:solidFill>
              <a:ln w="9525" cap="rnd">
                <a:solidFill>
                  <a:srgbClr val="B2732B"/>
                </a:solidFill>
                <a:round/>
              </a:ln>
            </p:spPr>
          </p:sp>
          <p:sp>
            <p:nvSpPr>
              <p:cNvPr id="40" name="Forma 39"/>
              <p:cNvSpPr/>
              <p:nvPr/>
            </p:nvSpPr>
            <p:spPr>
              <a:xfrm rot="4800000">
                <a:off x="666916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Mitocondria_6"/>
            <p:cNvGrpSpPr/>
            <p:nvPr/>
          </p:nvGrpSpPr>
          <p:grpSpPr>
            <a:xfrm>
              <a:off x="6993331" y="3677717"/>
              <a:ext cx="463601" cy="231800"/>
              <a:chOff x="6993331" y="3677717"/>
              <a:chExt cx="463601" cy="231800"/>
            </a:xfrm>
          </p:grpSpPr>
          <p:sp>
            <p:nvSpPr>
              <p:cNvPr id="42" name="Forma 41"/>
              <p:cNvSpPr/>
              <p:nvPr/>
            </p:nvSpPr>
            <p:spPr>
              <a:xfrm rot="5100000">
                <a:off x="699333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3" name="Forma 42"/>
              <p:cNvSpPr/>
              <p:nvPr/>
            </p:nvSpPr>
            <p:spPr>
              <a:xfrm rot="5100000">
                <a:off x="7025783" y="3710169"/>
                <a:ext cx="398697" cy="166896"/>
              </a:xfrm>
              <a:prstGeom prst="ellipse">
                <a:avLst/>
              </a:prstGeom>
              <a:solidFill>
                <a:srgbClr val="F8D8B4"/>
              </a:solidFill>
              <a:ln w="9525" cap="rnd">
                <a:solidFill>
                  <a:srgbClr val="B2732B"/>
                </a:solidFill>
                <a:round/>
              </a:ln>
            </p:spPr>
          </p:sp>
          <p:sp>
            <p:nvSpPr>
              <p:cNvPr id="44" name="Forma 43"/>
              <p:cNvSpPr/>
              <p:nvPr/>
            </p:nvSpPr>
            <p:spPr>
              <a:xfrm rot="5100000">
                <a:off x="702578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5" name="Mitocondria_7"/>
            <p:cNvGrpSpPr/>
            <p:nvPr/>
          </p:nvGrpSpPr>
          <p:grpSpPr>
            <a:xfrm>
              <a:off x="6280099" y="3783787"/>
              <a:ext cx="463601" cy="231800"/>
              <a:chOff x="6280099" y="3783787"/>
              <a:chExt cx="463601" cy="231800"/>
            </a:xfrm>
          </p:grpSpPr>
          <p:sp>
            <p:nvSpPr>
              <p:cNvPr id="46" name="Forma 45"/>
              <p:cNvSpPr/>
              <p:nvPr/>
            </p:nvSpPr>
            <p:spPr>
              <a:xfrm rot="5700000">
                <a:off x="628009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7" name="Forma 46"/>
              <p:cNvSpPr/>
              <p:nvPr/>
            </p:nvSpPr>
            <p:spPr>
              <a:xfrm rot="5700000">
                <a:off x="6312551" y="3816239"/>
                <a:ext cx="398697" cy="166896"/>
              </a:xfrm>
              <a:prstGeom prst="ellipse">
                <a:avLst/>
              </a:prstGeom>
              <a:solidFill>
                <a:srgbClr val="F8D8B4"/>
              </a:solidFill>
              <a:ln w="9525" cap="rnd">
                <a:solidFill>
                  <a:srgbClr val="B2732B"/>
                </a:solidFill>
                <a:round/>
              </a:ln>
            </p:spPr>
          </p:sp>
          <p:sp>
            <p:nvSpPr>
              <p:cNvPr id="48" name="Forma 47"/>
              <p:cNvSpPr/>
              <p:nvPr/>
            </p:nvSpPr>
            <p:spPr>
              <a:xfrm rot="5700000">
                <a:off x="631255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9" name="Mitocondria_8"/>
            <p:cNvGrpSpPr/>
            <p:nvPr/>
          </p:nvGrpSpPr>
          <p:grpSpPr>
            <a:xfrm>
              <a:off x="5138928" y="2670048"/>
              <a:ext cx="463601" cy="231800"/>
              <a:chOff x="5138928" y="2670048"/>
              <a:chExt cx="463601" cy="231800"/>
            </a:xfrm>
          </p:grpSpPr>
          <p:sp>
            <p:nvSpPr>
              <p:cNvPr id="50" name="Forma 49"/>
              <p:cNvSpPr/>
              <p:nvPr/>
            </p:nvSpPr>
            <p:spPr>
              <a:xfrm rot="600000">
                <a:off x="513892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1" name="Forma 50"/>
              <p:cNvSpPr/>
              <p:nvPr/>
            </p:nvSpPr>
            <p:spPr>
              <a:xfrm rot="600000">
                <a:off x="5171380" y="2702500"/>
                <a:ext cx="398697" cy="166896"/>
              </a:xfrm>
              <a:prstGeom prst="ellipse">
                <a:avLst/>
              </a:prstGeom>
              <a:solidFill>
                <a:srgbClr val="F8D8B4"/>
              </a:solidFill>
              <a:ln w="9525" cap="rnd">
                <a:solidFill>
                  <a:srgbClr val="B2732B"/>
                </a:solidFill>
                <a:round/>
              </a:ln>
            </p:spPr>
          </p:sp>
          <p:sp>
            <p:nvSpPr>
              <p:cNvPr id="52" name="Forma 51"/>
              <p:cNvSpPr/>
              <p:nvPr/>
            </p:nvSpPr>
            <p:spPr>
              <a:xfrm rot="600000">
                <a:off x="517138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3" name="!!Capilar peritubular"/>
          <p:cNvGrpSpPr/>
          <p:nvPr/>
        </p:nvGrpSpPr>
        <p:grpSpPr>
          <a:xfrm>
            <a:off x="320040" y="4846320"/>
            <a:ext cx="7315200" cy="777240"/>
            <a:chOff x="320040" y="4846320"/>
            <a:chExt cx="7315200" cy="777240"/>
          </a:xfrm>
        </p:grpSpPr>
        <p:sp>
          <p:nvSpPr>
            <p:cNvPr id="54" name="Forma 53"/>
            <p:cNvSpPr/>
            <p:nvPr/>
          </p:nvSpPr>
          <p:spPr>
            <a:xfrm>
              <a:off x="320040" y="4846320"/>
              <a:ext cx="7315200" cy="77724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5" name="Forma 54"/>
            <p:cNvSpPr/>
            <p:nvPr/>
          </p:nvSpPr>
          <p:spPr>
            <a:xfrm>
              <a:off x="436626" y="4986223"/>
              <a:ext cx="7082028" cy="497434"/>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6" name="Eritrocito"/>
            <p:cNvSpPr/>
            <p:nvPr/>
          </p:nvSpPr>
          <p:spPr>
            <a:xfrm>
              <a:off x="791460" y="518476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7" name="Eritrocito_2"/>
            <p:cNvSpPr/>
            <p:nvPr/>
          </p:nvSpPr>
          <p:spPr>
            <a:xfrm>
              <a:off x="1813559" y="5223758"/>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8" name="Eritrocito_3"/>
            <p:cNvSpPr/>
            <p:nvPr/>
          </p:nvSpPr>
          <p:spPr>
            <a:xfrm>
              <a:off x="2748611" y="521984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4"/>
            <p:cNvSpPr/>
            <p:nvPr/>
          </p:nvSpPr>
          <p:spPr>
            <a:xfrm>
              <a:off x="3432909" y="5131105"/>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5"/>
            <p:cNvSpPr/>
            <p:nvPr/>
          </p:nvSpPr>
          <p:spPr>
            <a:xfrm>
              <a:off x="4738832" y="516673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6"/>
            <p:cNvSpPr/>
            <p:nvPr/>
          </p:nvSpPr>
          <p:spPr>
            <a:xfrm>
              <a:off x="5678795" y="506262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7"/>
            <p:cNvSpPr/>
            <p:nvPr/>
          </p:nvSpPr>
          <p:spPr>
            <a:xfrm>
              <a:off x="6469829" y="508854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3" name="!!SGLT2"/>
          <p:cNvGrpSpPr/>
          <p:nvPr/>
        </p:nvGrpSpPr>
        <p:grpSpPr>
          <a:xfrm>
            <a:off x="1097280" y="1883664"/>
            <a:ext cx="1153973" cy="758952"/>
            <a:chOff x="1097280" y="1883664"/>
            <a:chExt cx="1153973" cy="758952"/>
          </a:xfrm>
        </p:grpSpPr>
        <p:sp>
          <p:nvSpPr>
            <p:cNvPr id="64" name="Forma 63"/>
            <p:cNvSpPr/>
            <p:nvPr/>
          </p:nvSpPr>
          <p:spPr>
            <a:xfrm>
              <a:off x="1463040"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5" name="Forma 64"/>
            <p:cNvSpPr/>
            <p:nvPr/>
          </p:nvSpPr>
          <p:spPr>
            <a:xfrm>
              <a:off x="1704442"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6" name="Forma 65"/>
            <p:cNvSpPr txBox="1"/>
            <p:nvPr/>
          </p:nvSpPr>
          <p:spPr>
            <a:xfrm>
              <a:off x="109728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7380F"/>
                  </a:solidFill>
                  <a:latin typeface="Fira Sans Condensed"/>
                  <a:ea typeface="Fira Sans Condensed"/>
                  <a:cs typeface="Fira Sans Condensed"/>
                  <a:sym typeface="Fira Sans Condensed"/>
                </a:rPr>
                <a:t>SGLT2 · S1–S2</a:t>
              </a:r>
              <a:endParaRPr lang="es-AR" sz="1150" dirty="0">
                <a:latin typeface="Fira Sans Condensed"/>
              </a:endParaRPr>
            </a:p>
          </p:txBody>
        </p:sp>
      </p:grpSp>
      <p:grpSp>
        <p:nvGrpSpPr>
          <p:cNvPr id="67" name="!!SGLT1"/>
          <p:cNvGrpSpPr/>
          <p:nvPr/>
        </p:nvGrpSpPr>
        <p:grpSpPr>
          <a:xfrm>
            <a:off x="5120640" y="1883664"/>
            <a:ext cx="1153973" cy="758952"/>
            <a:chOff x="5120640" y="1883664"/>
            <a:chExt cx="1153973" cy="758952"/>
          </a:xfrm>
        </p:grpSpPr>
        <p:sp>
          <p:nvSpPr>
            <p:cNvPr id="68" name="Forma 67"/>
            <p:cNvSpPr/>
            <p:nvPr/>
          </p:nvSpPr>
          <p:spPr>
            <a:xfrm>
              <a:off x="5486400"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69" name="Forma 68"/>
            <p:cNvSpPr/>
            <p:nvPr/>
          </p:nvSpPr>
          <p:spPr>
            <a:xfrm>
              <a:off x="5727802"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70" name="Forma 69"/>
            <p:cNvSpPr txBox="1"/>
            <p:nvPr/>
          </p:nvSpPr>
          <p:spPr>
            <a:xfrm>
              <a:off x="512064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5E2500"/>
                  </a:solidFill>
                  <a:latin typeface="Fira Sans Condensed"/>
                  <a:ea typeface="Fira Sans Condensed"/>
                  <a:cs typeface="Fira Sans Condensed"/>
                  <a:sym typeface="Fira Sans Condensed"/>
                </a:rPr>
                <a:t>SGLT1 · S3</a:t>
              </a:r>
              <a:endParaRPr lang="es-AR" sz="1150" dirty="0">
                <a:latin typeface="Fira Sans Condensed"/>
              </a:endParaRPr>
            </a:p>
          </p:txBody>
        </p:sp>
      </p:grpSp>
      <p:grpSp>
        <p:nvGrpSpPr>
          <p:cNvPr id="71" name="!!GLUT2 baso"/>
          <p:cNvGrpSpPr/>
          <p:nvPr/>
        </p:nvGrpSpPr>
        <p:grpSpPr>
          <a:xfrm>
            <a:off x="2194560" y="4206240"/>
            <a:ext cx="384048" cy="457200"/>
            <a:chOff x="2194560" y="4206240"/>
            <a:chExt cx="384048" cy="457200"/>
          </a:xfrm>
        </p:grpSpPr>
        <p:sp>
          <p:nvSpPr>
            <p:cNvPr id="72" name="Forma 71"/>
            <p:cNvSpPr/>
            <p:nvPr/>
          </p:nvSpPr>
          <p:spPr>
            <a:xfrm>
              <a:off x="2194560"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73" name="Forma 72"/>
            <p:cNvSpPr/>
            <p:nvPr/>
          </p:nvSpPr>
          <p:spPr>
            <a:xfrm>
              <a:off x="2414016"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grpSp>
      <p:sp>
        <p:nvSpPr>
          <p:cNvPr id="74" name="!!Rótulo GLUT2"/>
          <p:cNvSpPr txBox="1"/>
          <p:nvPr/>
        </p:nvSpPr>
        <p:spPr>
          <a:xfrm>
            <a:off x="2697480" y="4224528"/>
            <a:ext cx="914400" cy="274320"/>
          </a:xfrm>
          <a:prstGeom prst="rect">
            <a:avLst/>
          </a:prstGeom>
          <a:noFill/>
          <a:ln>
            <a:noFill/>
          </a:ln>
        </p:spPr>
        <p:txBody>
          <a:bodyPr wrap="square" lIns="0" tIns="0" rIns="0" bIns="0" anchor="ctr" rtlCol="0">
            <a:noAutofit/>
          </a:bodyPr>
          <a:lstStyle/>
          <a:p>
            <a:pPr algn="ctr">
              <a:spcAft>
                <a:spcPts val="300"/>
              </a:spcAft>
              <a:buNone/>
            </a:pPr>
            <a:r>
              <a:rPr lang="es-AR" sz="11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GLUT2</a:t>
            </a:r>
            <a:endParaRPr lang="es-AR" sz="1100" dirty="0">
              <a:latin typeface="Fira Sans Condensed"/>
            </a:endParaRPr>
          </a:p>
        </p:txBody>
      </p:sp>
      <p:sp>
        <p:nvSpPr>
          <p:cNvPr id="75" name="!!Bomba NaK"/>
          <p:cNvSpPr/>
          <p:nvPr/>
        </p:nvSpPr>
        <p:spPr>
          <a:xfrm>
            <a:off x="5029200" y="4160520"/>
            <a:ext cx="594360" cy="384048"/>
          </a:xfrm>
          <a:prstGeom prst="roundRect">
            <a:avLst/>
          </a:prstGeom>
          <a:gradFill rotWithShape="1">
            <a:gsLst>
              <a:gs pos="0">
                <a:srgbClr val="9AE6BA"/>
              </a:gs>
              <a:gs pos="55000">
                <a:srgbClr val="58D68D"/>
              </a:gs>
              <a:gs pos="100000">
                <a:srgbClr val="3D9562"/>
              </a:gs>
            </a:gsLst>
            <a:path path="circle">
              <a:fillToRect l="32000" t="28000" r="68000" b="72000"/>
            </a:path>
          </a:gradFill>
          <a:ln w="15240" cap="rnd">
            <a:solidFill>
              <a:srgbClr val="1D8348"/>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Na⁺/K⁺</a:t>
            </a:r>
            <a:endParaRPr lang="es-AR" sz="950" dirty="0">
              <a:latin typeface="Fira Sans Condensed"/>
            </a:endParaRPr>
          </a:p>
        </p:txBody>
      </p:sp>
      <p:graphicFrame>
        <p:nvGraphicFramePr>
          <p:cNvPr id="76" name="Curva de titulación"/>
          <p:cNvGraphicFramePr>
            <a:graphicFrameLocks noGrp="1"/>
          </p:cNvGraphicFramePr>
          <p:nvPr/>
        </p:nvGraphicFramePr>
        <p:xfrm>
          <a:off x="7863840" y="1005840"/>
          <a:ext cx="4023360" cy="3108960"/>
        </p:xfrm>
        <a:graphic>
          <a:graphicData uri="http://schemas.openxmlformats.org/drawingml/2006/chart">
            <c:chart xmlns:c="http://schemas.openxmlformats.org/drawingml/2006/chart" r:id="rId2"/>
          </a:graphicData>
        </a:graphic>
      </p:graphicFrame>
      <p:sp>
        <p:nvSpPr>
          <p:cNvPr id="77" name="Glc exceso 0"/>
          <p:cNvSpPr/>
          <p:nvPr/>
        </p:nvSpPr>
        <p:spPr>
          <a:xfrm>
            <a:off x="7315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78" name="Glc exceso 1"/>
          <p:cNvSpPr/>
          <p:nvPr/>
        </p:nvSpPr>
        <p:spPr>
          <a:xfrm>
            <a:off x="123444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79" name="Glc exceso 2"/>
          <p:cNvSpPr/>
          <p:nvPr/>
        </p:nvSpPr>
        <p:spPr>
          <a:xfrm>
            <a:off x="173736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0" name="Glc exceso 3"/>
          <p:cNvSpPr/>
          <p:nvPr/>
        </p:nvSpPr>
        <p:spPr>
          <a:xfrm>
            <a:off x="224028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1" name="Glc exceso 4"/>
          <p:cNvSpPr/>
          <p:nvPr/>
        </p:nvSpPr>
        <p:spPr>
          <a:xfrm>
            <a:off x="274320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2" name="Glc exceso 5"/>
          <p:cNvSpPr/>
          <p:nvPr/>
        </p:nvSpPr>
        <p:spPr>
          <a:xfrm>
            <a:off x="32461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3" name="Glc exceso 6"/>
          <p:cNvSpPr/>
          <p:nvPr/>
        </p:nvSpPr>
        <p:spPr>
          <a:xfrm>
            <a:off x="374904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4" name="Glc exceso 7"/>
          <p:cNvSpPr/>
          <p:nvPr/>
        </p:nvSpPr>
        <p:spPr>
          <a:xfrm>
            <a:off x="425196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5" name="Glc exceso 8"/>
          <p:cNvSpPr/>
          <p:nvPr/>
        </p:nvSpPr>
        <p:spPr>
          <a:xfrm>
            <a:off x="475488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6" name="Glc exceso 9"/>
          <p:cNvSpPr/>
          <p:nvPr/>
        </p:nvSpPr>
        <p:spPr>
          <a:xfrm>
            <a:off x="525780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7" name="Forma 85"/>
          <p:cNvSpPr/>
          <p:nvPr/>
        </p:nvSpPr>
        <p:spPr>
          <a:xfrm>
            <a:off x="7863840" y="4251960"/>
            <a:ext cx="3977640" cy="14630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Umbral clínico aproximado </a:t>
            </a:r>
            <a:r>
              <a:rPr lang="es-AR" sz="1250" b="1" dirty="0">
                <a:solidFill>
                  <a:srgbClr val="1E1E1E"/>
                </a:solidFill>
                <a:latin typeface="Fira Sans Condensed"/>
                <a:ea typeface="Fira Sans Condensed"/>
                <a:cs typeface="Fira Sans Condensed"/>
                <a:sym typeface="Fira Sans Condensed"/>
              </a:rPr>
              <a:t>~180 mg/dL</a:t>
            </a:r>
            <a:r>
              <a:rPr lang="es-AR" sz="1250" dirty="0">
                <a:solidFill>
                  <a:srgbClr val="1E1E1E"/>
                </a:solidFill>
                <a:latin typeface="Fira Sans Condensed"/>
                <a:ea typeface="Fira Sans Condensed"/>
                <a:cs typeface="Fira Sans Condensed"/>
                <a:sym typeface="Fira Sans Condensed"/>
              </a:rPr>
              <a:t>, con gran variación (embarazo, función renal, diabetes crónica, iSGLT2). Con 390 la glucosuria es </a:t>
            </a:r>
            <a:r>
              <a:rPr lang="es-AR" sz="1250" b="1" dirty="0">
                <a:solidFill>
                  <a:srgbClr val="1E1E1E"/>
                </a:solidFill>
                <a:latin typeface="Fira Sans Condensed"/>
                <a:ea typeface="Fira Sans Condensed"/>
                <a:cs typeface="Fira Sans Condensed"/>
                <a:sym typeface="Fira Sans Condensed"/>
              </a:rPr>
              <a:t>muy esperable</a:t>
            </a:r>
            <a:r>
              <a:rPr lang="es-AR" sz="1250" dirty="0">
                <a:solidFill>
                  <a:srgbClr val="1E1E1E"/>
                </a:solidFill>
                <a:latin typeface="Fira Sans Condensed"/>
                <a:ea typeface="Fira Sans Condensed"/>
                <a:cs typeface="Fira Sans Condensed"/>
                <a:sym typeface="Fira Sans Condensed"/>
              </a:rPr>
              <a:t>, aunque </a:t>
            </a:r>
            <a:r>
              <a:rPr lang="es-AR" sz="1250" b="1" dirty="0">
                <a:solidFill>
                  <a:srgbClr val="1E1E1E"/>
                </a:solidFill>
                <a:latin typeface="Fira Sans Condensed"/>
                <a:ea typeface="Fira Sans Condensed"/>
                <a:cs typeface="Fira Sans Condensed"/>
                <a:sym typeface="Fira Sans Condensed"/>
              </a:rPr>
              <a:t>no fue informada</a:t>
            </a:r>
            <a:r>
              <a:rPr lang="es-AR" sz="1250" dirty="0">
                <a:solidFill>
                  <a:srgbClr val="1E1E1E"/>
                </a:solidFill>
                <a:latin typeface="Fira Sans Condensed"/>
                <a:ea typeface="Fira Sans Condensed"/>
                <a:cs typeface="Fira Sans Condensed"/>
                <a:sym typeface="Fira Sans Condensed"/>
              </a:rPr>
              <a:t> en el caso 11.</a:t>
            </a:r>
            <a:endParaRPr lang="es-AR" sz="12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D · 4 · SATURACIÓN Y GLUCOSURIA</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8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7"/>
                                        </p:tgtEl>
                                        <p:attrNameLst>
                                          <p:attrName>style.visibility</p:attrName>
                                        </p:attrNameLst>
                                      </p:cBhvr>
                                      <p:to>
                                        <p:strVal val="visible"/>
                                      </p:to>
                                    </p:set>
                                    <p:animEffect transition="in" filter="fade">
                                      <p:cBhvr>
                                        <p:cTn id="5" dur="100"/>
                                        <p:tgtEl>
                                          <p:spTgt spid="77"/>
                                        </p:tgtEl>
                                      </p:cBhvr>
                                    </p:animEffect>
                                  </p:childTnLst>
                                </p:cTn>
                              </p:par>
                            </p:childTnLst>
                          </p:cTn>
                        </p:par>
                        <p:par>
                          <p:cTn id="10" fill="hold">
                            <p:stCondLst>
                              <p:cond delay="100"/>
                            </p:stCondLst>
                            <p:childTnLst>
                              <p:par>
                                <p:cTn id="7" presetID="10" presetClass="entr" presetSubtype="0" fill="hold" grpId="0" nodeType="afterEffect">
                                  <p:stCondLst>
                                    <p:cond delay="0"/>
                                  </p:stCondLst>
                                  <p:childTnLst>
                                    <p:set>
                                      <p:cBhvr>
                                        <p:cTn id="8" dur="1" fill="hold">
                                          <p:stCondLst>
                                            <p:cond delay="0"/>
                                          </p:stCondLst>
                                        </p:cTn>
                                        <p:tgtEl>
                                          <p:spTgt spid="78"/>
                                        </p:tgtEl>
                                        <p:attrNameLst>
                                          <p:attrName>style.visibility</p:attrName>
                                        </p:attrNameLst>
                                      </p:cBhvr>
                                      <p:to>
                                        <p:strVal val="visible"/>
                                      </p:to>
                                    </p:set>
                                    <p:animEffect transition="in" filter="fade">
                                      <p:cBhvr>
                                        <p:cTn id="9" dur="100"/>
                                        <p:tgtEl>
                                          <p:spTgt spid="78"/>
                                        </p:tgtEl>
                                      </p:cBhvr>
                                    </p:animEffect>
                                  </p:childTnLst>
                                </p:cTn>
                              </p:par>
                            </p:childTnLst>
                          </p:cTn>
                        </p:par>
                        <p:par>
                          <p:cTn id="14" fill="hold">
                            <p:stCondLst>
                              <p:cond delay="200"/>
                            </p:stCondLst>
                            <p:childTnLst>
                              <p:par>
                                <p:cTn id="11" presetID="10" presetClass="entr" presetSubtype="0" fill="hold" grpId="0"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
                                        <p:tgtEl>
                                          <p:spTgt spid="79"/>
                                        </p:tgtEl>
                                      </p:cBhvr>
                                    </p:animEffect>
                                  </p:childTnLst>
                                </p:cTn>
                              </p:par>
                            </p:childTnLst>
                          </p:cTn>
                        </p:par>
                        <p:par>
                          <p:cTn id="18" fill="hold">
                            <p:stCondLst>
                              <p:cond delay="300"/>
                            </p:stCondLst>
                            <p:childTnLst>
                              <p:par>
                                <p:cTn id="15" presetID="10" presetClass="entr" presetSubtype="0" fill="hold" grpId="0" nodeType="after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100"/>
                                        <p:tgtEl>
                                          <p:spTgt spid="80"/>
                                        </p:tgtEl>
                                      </p:cBhvr>
                                    </p:animEffect>
                                  </p:childTnLst>
                                </p:cTn>
                              </p:par>
                            </p:childTnLst>
                          </p:cTn>
                        </p:par>
                        <p:par>
                          <p:cTn id="22" fill="hold">
                            <p:stCondLst>
                              <p:cond delay="400"/>
                            </p:stCondLst>
                            <p:childTnLst>
                              <p:par>
                                <p:cTn id="19" presetID="10" presetClass="entr" presetSubtype="0" fill="hold" grpId="0" nodeType="afterEffect">
                                  <p:stCondLst>
                                    <p:cond delay="0"/>
                                  </p:stCondLst>
                                  <p:childTnLst>
                                    <p:set>
                                      <p:cBhvr>
                                        <p:cTn id="20" dur="1" fill="hold">
                                          <p:stCondLst>
                                            <p:cond delay="0"/>
                                          </p:stCondLst>
                                        </p:cTn>
                                        <p:tgtEl>
                                          <p:spTgt spid="81"/>
                                        </p:tgtEl>
                                        <p:attrNameLst>
                                          <p:attrName>style.visibility</p:attrName>
                                        </p:attrNameLst>
                                      </p:cBhvr>
                                      <p:to>
                                        <p:strVal val="visible"/>
                                      </p:to>
                                    </p:set>
                                    <p:animEffect transition="in" filter="fade">
                                      <p:cBhvr>
                                        <p:cTn id="21" dur="100"/>
                                        <p:tgtEl>
                                          <p:spTgt spid="81"/>
                                        </p:tgtEl>
                                      </p:cBhvr>
                                    </p:animEffect>
                                  </p:childTnLst>
                                </p:cTn>
                              </p:par>
                            </p:childTnLst>
                          </p:cTn>
                        </p:par>
                        <p:par>
                          <p:cTn id="26"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82"/>
                                        </p:tgtEl>
                                        <p:attrNameLst>
                                          <p:attrName>style.visibility</p:attrName>
                                        </p:attrNameLst>
                                      </p:cBhvr>
                                      <p:to>
                                        <p:strVal val="visible"/>
                                      </p:to>
                                    </p:set>
                                    <p:animEffect transition="in" filter="fade">
                                      <p:cBhvr>
                                        <p:cTn id="25" dur="100"/>
                                        <p:tgtEl>
                                          <p:spTgt spid="82"/>
                                        </p:tgtEl>
                                      </p:cBhvr>
                                    </p:animEffect>
                                  </p:childTnLst>
                                </p:cTn>
                              </p:par>
                            </p:childTnLst>
                          </p:cTn>
                        </p:par>
                        <p:par>
                          <p:cTn id="30" fill="hold">
                            <p:stCondLst>
                              <p:cond delay="600"/>
                            </p:stCondLst>
                            <p:childTnLst>
                              <p:par>
                                <p:cTn id="27" presetID="10" presetClass="entr" presetSubtype="0" fill="hold" grpId="0" nodeType="afterEffect">
                                  <p:stCondLst>
                                    <p:cond delay="0"/>
                                  </p:stCondLst>
                                  <p:childTnLst>
                                    <p:set>
                                      <p:cBhvr>
                                        <p:cTn id="28" dur="1" fill="hold">
                                          <p:stCondLst>
                                            <p:cond delay="0"/>
                                          </p:stCondLst>
                                        </p:cTn>
                                        <p:tgtEl>
                                          <p:spTgt spid="83"/>
                                        </p:tgtEl>
                                        <p:attrNameLst>
                                          <p:attrName>style.visibility</p:attrName>
                                        </p:attrNameLst>
                                      </p:cBhvr>
                                      <p:to>
                                        <p:strVal val="visible"/>
                                      </p:to>
                                    </p:set>
                                    <p:animEffect transition="in" filter="fade">
                                      <p:cBhvr>
                                        <p:cTn id="29" dur="100"/>
                                        <p:tgtEl>
                                          <p:spTgt spid="83"/>
                                        </p:tgtEl>
                                      </p:cBhvr>
                                    </p:animEffect>
                                  </p:childTnLst>
                                </p:cTn>
                              </p:par>
                            </p:childTnLst>
                          </p:cTn>
                        </p:par>
                        <p:par>
                          <p:cTn id="34"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fade">
                                      <p:cBhvr>
                                        <p:cTn id="33" dur="100"/>
                                        <p:tgtEl>
                                          <p:spTgt spid="84"/>
                                        </p:tgtEl>
                                      </p:cBhvr>
                                    </p:animEffect>
                                  </p:childTnLst>
                                </p:cTn>
                              </p:par>
                            </p:childTnLst>
                          </p:cTn>
                        </p:par>
                        <p:par>
                          <p:cTn id="38" fill="hold">
                            <p:stCondLst>
                              <p:cond delay="800"/>
                            </p:stCondLst>
                            <p:childTnLst>
                              <p:par>
                                <p:cTn id="35" presetID="10" presetClass="entr" presetSubtype="0" fill="hold" grpId="0" nodeType="afterEffect">
                                  <p:stCondLst>
                                    <p:cond delay="0"/>
                                  </p:stCondLst>
                                  <p:childTnLst>
                                    <p:set>
                                      <p:cBhvr>
                                        <p:cTn id="36" dur="1" fill="hold">
                                          <p:stCondLst>
                                            <p:cond delay="0"/>
                                          </p:stCondLst>
                                        </p:cTn>
                                        <p:tgtEl>
                                          <p:spTgt spid="85"/>
                                        </p:tgtEl>
                                        <p:attrNameLst>
                                          <p:attrName>style.visibility</p:attrName>
                                        </p:attrNameLst>
                                      </p:cBhvr>
                                      <p:to>
                                        <p:strVal val="visible"/>
                                      </p:to>
                                    </p:set>
                                    <p:animEffect transition="in" filter="fade">
                                      <p:cBhvr>
                                        <p:cTn id="37" dur="100"/>
                                        <p:tgtEl>
                                          <p:spTgt spid="85"/>
                                        </p:tgtEl>
                                      </p:cBhvr>
                                    </p:animEffect>
                                  </p:childTnLst>
                                </p:cTn>
                              </p:par>
                            </p:childTnLst>
                          </p:cTn>
                        </p:par>
                        <p:par>
                          <p:cTn id="42" fill="hold">
                            <p:stCondLst>
                              <p:cond delay="900"/>
                            </p:stCondLst>
                            <p:childTnLst>
                              <p:par>
                                <p:cTn id="39" presetID="10" presetClass="entr" presetSubtype="0" fill="hold" grpId="0" nodeType="afterEffect">
                                  <p:stCondLst>
                                    <p:cond delay="0"/>
                                  </p:stCondLst>
                                  <p:childTnLst>
                                    <p:set>
                                      <p:cBhvr>
                                        <p:cTn id="40" dur="1" fill="hold">
                                          <p:stCondLst>
                                            <p:cond delay="0"/>
                                          </p:stCondLst>
                                        </p:cTn>
                                        <p:tgtEl>
                                          <p:spTgt spid="86"/>
                                        </p:tgtEl>
                                        <p:attrNameLst>
                                          <p:attrName>style.visibility</p:attrName>
                                        </p:attrNameLst>
                                      </p:cBhvr>
                                      <p:to>
                                        <p:strVal val="visible"/>
                                      </p:to>
                                    </p:set>
                                    <p:animEffect transition="in" filter="fade">
                                      <p:cBhvr>
                                        <p:cTn id="41" dur="100"/>
                                        <p:tgtEl>
                                          <p:spTgt spid="86"/>
                                        </p:tgtEl>
                                      </p:cBhvr>
                                    </p:animEffect>
                                  </p:childTnLst>
                                </p:cTn>
                              </p:par>
                            </p:childTnLst>
                          </p:cTn>
                        </p:par>
                      </p:childTnLst>
                    </p:cTn>
                  </p:par>
                  <p:par>
                    <p:cTn id="73" fill="hold">
                      <p:stCondLst>
                        <p:cond delay="indefinite"/>
                      </p:stCondLst>
                      <p:childTnLst>
                        <p:par>
                          <p:cTn id="48" fill="hold">
                            <p:stCondLst>
                              <p:cond delay="0"/>
                            </p:stCondLst>
                            <p:childTnLst>
                              <p:par>
                                <p:cTn id="44" presetID="0" presetClass="path" presetSubtype="0" accel="20000" decel="20000" fill="hold" grpId="0" nodeType="clickEffect">
                                  <p:stCondLst>
                                    <p:cond delay="0"/>
                                  </p:stCondLst>
                                  <p:childTnLst>
                                    <p:animMotion origin="layout" path="M 0 0 L 0.0225 0.0000 L 0.0000 0.0000 E" pathEditMode="relative" ptsTypes="">
                                      <p:cBhvr>
                                        <p:cTn id="45" dur="600" fill="hold"/>
                                        <p:tgtEl>
                                          <p:spTgt spid="77"/>
                                        </p:tgtEl>
                                        <p:attrNameLst>
                                          <p:attrName>ppt_x</p:attrName>
                                          <p:attrName>ppt_y</p:attrName>
                                        </p:attrNameLst>
                                      </p:cBhvr>
                                      <p:rCtr x="0" y="0"/>
                                    </p:animMotion>
                                  </p:childTnLst>
                                </p:cTn>
                              </p:par>
                              <p:par>
                                <p:cTn id="46" presetID="0" presetClass="path" presetSubtype="0" accel="20000" decel="20000" fill="hold" grpId="0" nodeType="withEffect">
                                  <p:stCondLst>
                                    <p:cond delay="0"/>
                                  </p:stCondLst>
                                  <p:childTnLst>
                                    <p:animMotion origin="layout" path="M 0 0 L 0.0225 0.0000 L 0.0000 0.0000 E" pathEditMode="relative" ptsTypes="">
                                      <p:cBhvr>
                                        <p:cTn id="47" dur="600" fill="hold"/>
                                        <p:tgtEl>
                                          <p:spTgt spid="78"/>
                                        </p:tgtEl>
                                        <p:attrNameLst>
                                          <p:attrName>ppt_x</p:attrName>
                                          <p:attrName>ppt_y</p:attrName>
                                        </p:attrNameLst>
                                      </p:cBhvr>
                                      <p:rCtr x="0" y="0"/>
                                    </p:animMotion>
                                  </p:childTnLst>
                                </p:cTn>
                              </p:par>
                            </p:childTnLst>
                          </p:cTn>
                        </p:par>
                        <p:par>
                          <p:cTn id="51" fill="hold">
                            <p:stCondLst>
                              <p:cond delay="300"/>
                            </p:stCondLst>
                            <p:childTnLst>
                              <p:par>
                                <p:cTn id="49" presetID="0" presetClass="path" presetSubtype="0" accel="20000" decel="20000" fill="hold" grpId="0" nodeType="afterEffect">
                                  <p:stCondLst>
                                    <p:cond delay="0"/>
                                  </p:stCondLst>
                                  <p:childTnLst>
                                    <p:animMotion origin="layout" path="M 0 0 L 0.3375 0.0000 E" pathEditMode="relative" ptsTypes="">
                                      <p:cBhvr>
                                        <p:cTn id="50" dur="1800" fill="hold"/>
                                        <p:tgtEl>
                                          <p:spTgt spid="79"/>
                                        </p:tgtEl>
                                        <p:attrNameLst>
                                          <p:attrName>ppt_x</p:attrName>
                                          <p:attrName>ppt_y</p:attrName>
                                        </p:attrNameLst>
                                      </p:cBhvr>
                                      <p:rCtr x="16875" y="0"/>
                                    </p:animMotion>
                                  </p:childTnLst>
                                </p:cTn>
                              </p:par>
                            </p:childTnLst>
                          </p:cTn>
                        </p:par>
                        <p:par>
                          <p:cTn id="54" fill="hold">
                            <p:stCondLst>
                              <p:cond delay="600"/>
                            </p:stCondLst>
                            <p:childTnLst>
                              <p:par>
                                <p:cTn id="52" presetID="0" presetClass="path" presetSubtype="0" accel="20000" decel="20000" fill="hold" grpId="0" nodeType="afterEffect">
                                  <p:stCondLst>
                                    <p:cond delay="0"/>
                                  </p:stCondLst>
                                  <p:childTnLst>
                                    <p:animMotion origin="layout" path="M 0 0 L 0.3375 0.0000 E" pathEditMode="relative" ptsTypes="">
                                      <p:cBhvr>
                                        <p:cTn id="53" dur="1800" fill="hold"/>
                                        <p:tgtEl>
                                          <p:spTgt spid="80"/>
                                        </p:tgtEl>
                                        <p:attrNameLst>
                                          <p:attrName>ppt_x</p:attrName>
                                          <p:attrName>ppt_y</p:attrName>
                                        </p:attrNameLst>
                                      </p:cBhvr>
                                      <p:rCtr x="16875" y="0"/>
                                    </p:animMotion>
                                  </p:childTnLst>
                                </p:cTn>
                              </p:par>
                            </p:childTnLst>
                          </p:cTn>
                        </p:par>
                        <p:par>
                          <p:cTn id="57" fill="hold">
                            <p:stCondLst>
                              <p:cond delay="900"/>
                            </p:stCondLst>
                            <p:childTnLst>
                              <p:par>
                                <p:cTn id="55" presetID="0" presetClass="path" presetSubtype="0" accel="20000" decel="20000" fill="hold" grpId="0" nodeType="afterEffect">
                                  <p:stCondLst>
                                    <p:cond delay="0"/>
                                  </p:stCondLst>
                                  <p:childTnLst>
                                    <p:animMotion origin="layout" path="M 0 0 L 0.3375 0.0000 E" pathEditMode="relative" ptsTypes="">
                                      <p:cBhvr>
                                        <p:cTn id="56" dur="1800" fill="hold"/>
                                        <p:tgtEl>
                                          <p:spTgt spid="81"/>
                                        </p:tgtEl>
                                        <p:attrNameLst>
                                          <p:attrName>ppt_x</p:attrName>
                                          <p:attrName>ppt_y</p:attrName>
                                        </p:attrNameLst>
                                      </p:cBhvr>
                                      <p:rCtr x="16875" y="0"/>
                                    </p:animMotion>
                                  </p:childTnLst>
                                </p:cTn>
                              </p:par>
                            </p:childTnLst>
                          </p:cTn>
                        </p:par>
                        <p:par>
                          <p:cTn id="60" fill="hold">
                            <p:stCondLst>
                              <p:cond delay="1200"/>
                            </p:stCondLst>
                            <p:childTnLst>
                              <p:par>
                                <p:cTn id="58" presetID="0" presetClass="path" presetSubtype="0" accel="20000" decel="20000" fill="hold" grpId="0" nodeType="afterEffect">
                                  <p:stCondLst>
                                    <p:cond delay="0"/>
                                  </p:stCondLst>
                                  <p:childTnLst>
                                    <p:animMotion origin="layout" path="M 0 0 L 0.3375 0.0000 E" pathEditMode="relative" ptsTypes="">
                                      <p:cBhvr>
                                        <p:cTn id="59" dur="1800" fill="hold"/>
                                        <p:tgtEl>
                                          <p:spTgt spid="82"/>
                                        </p:tgtEl>
                                        <p:attrNameLst>
                                          <p:attrName>ppt_x</p:attrName>
                                          <p:attrName>ppt_y</p:attrName>
                                        </p:attrNameLst>
                                      </p:cBhvr>
                                      <p:rCtr x="16875" y="0"/>
                                    </p:animMotion>
                                  </p:childTnLst>
                                </p:cTn>
                              </p:par>
                            </p:childTnLst>
                          </p:cTn>
                        </p:par>
                        <p:par>
                          <p:cTn id="63" fill="hold">
                            <p:stCondLst>
                              <p:cond delay="1500"/>
                            </p:stCondLst>
                            <p:childTnLst>
                              <p:par>
                                <p:cTn id="61" presetID="0" presetClass="path" presetSubtype="0" accel="20000" decel="20000" fill="hold" grpId="0" nodeType="afterEffect">
                                  <p:stCondLst>
                                    <p:cond delay="0"/>
                                  </p:stCondLst>
                                  <p:childTnLst>
                                    <p:animMotion origin="layout" path="M 0 0 L 0.3375 0.0000 E" pathEditMode="relative" ptsTypes="">
                                      <p:cBhvr>
                                        <p:cTn id="62" dur="1800" fill="hold"/>
                                        <p:tgtEl>
                                          <p:spTgt spid="83"/>
                                        </p:tgtEl>
                                        <p:attrNameLst>
                                          <p:attrName>ppt_x</p:attrName>
                                          <p:attrName>ppt_y</p:attrName>
                                        </p:attrNameLst>
                                      </p:cBhvr>
                                      <p:rCtr x="16875" y="0"/>
                                    </p:animMotion>
                                  </p:childTnLst>
                                </p:cTn>
                              </p:par>
                            </p:childTnLst>
                          </p:cTn>
                        </p:par>
                        <p:par>
                          <p:cTn id="66" fill="hold">
                            <p:stCondLst>
                              <p:cond delay="1800"/>
                            </p:stCondLst>
                            <p:childTnLst>
                              <p:par>
                                <p:cTn id="64" presetID="0" presetClass="path" presetSubtype="0" accel="20000" decel="20000" fill="hold" grpId="0" nodeType="afterEffect">
                                  <p:stCondLst>
                                    <p:cond delay="0"/>
                                  </p:stCondLst>
                                  <p:childTnLst>
                                    <p:animMotion origin="layout" path="M 0 0 L 0.3375 0.0000 E" pathEditMode="relative" ptsTypes="">
                                      <p:cBhvr>
                                        <p:cTn id="65" dur="1800" fill="hold"/>
                                        <p:tgtEl>
                                          <p:spTgt spid="84"/>
                                        </p:tgtEl>
                                        <p:attrNameLst>
                                          <p:attrName>ppt_x</p:attrName>
                                          <p:attrName>ppt_y</p:attrName>
                                        </p:attrNameLst>
                                      </p:cBhvr>
                                      <p:rCtr x="16875" y="0"/>
                                    </p:animMotion>
                                  </p:childTnLst>
                                </p:cTn>
                              </p:par>
                            </p:childTnLst>
                          </p:cTn>
                        </p:par>
                        <p:par>
                          <p:cTn id="69" fill="hold">
                            <p:stCondLst>
                              <p:cond delay="2100"/>
                            </p:stCondLst>
                            <p:childTnLst>
                              <p:par>
                                <p:cTn id="67" presetID="0" presetClass="path" presetSubtype="0" accel="20000" decel="20000" fill="hold" grpId="0" nodeType="afterEffect">
                                  <p:stCondLst>
                                    <p:cond delay="0"/>
                                  </p:stCondLst>
                                  <p:childTnLst>
                                    <p:animMotion origin="layout" path="M 0 0 L 0.3375 0.0000 E" pathEditMode="relative" ptsTypes="">
                                      <p:cBhvr>
                                        <p:cTn id="68" dur="1800" fill="hold"/>
                                        <p:tgtEl>
                                          <p:spTgt spid="85"/>
                                        </p:tgtEl>
                                        <p:attrNameLst>
                                          <p:attrName>ppt_x</p:attrName>
                                          <p:attrName>ppt_y</p:attrName>
                                        </p:attrNameLst>
                                      </p:cBhvr>
                                      <p:rCtr x="16875" y="0"/>
                                    </p:animMotion>
                                  </p:childTnLst>
                                </p:cTn>
                              </p:par>
                            </p:childTnLst>
                          </p:cTn>
                        </p:par>
                        <p:par>
                          <p:cTn id="72" fill="hold">
                            <p:stCondLst>
                              <p:cond delay="2400"/>
                            </p:stCondLst>
                            <p:childTnLst>
                              <p:par>
                                <p:cTn id="70" presetID="0" presetClass="path" presetSubtype="0" accel="20000" decel="20000" fill="hold" grpId="0" nodeType="afterEffect">
                                  <p:stCondLst>
                                    <p:cond delay="0"/>
                                  </p:stCondLst>
                                  <p:childTnLst>
                                    <p:animMotion origin="layout" path="M 0 0 L 0.3375 0.0000 E" pathEditMode="relative" ptsTypes="">
                                      <p:cBhvr>
                                        <p:cTn id="71" dur="1800" fill="hold"/>
                                        <p:tgtEl>
                                          <p:spTgt spid="86"/>
                                        </p:tgtEl>
                                        <p:attrNameLst>
                                          <p:attrName>ppt_x</p:attrName>
                                          <p:attrName>ppt_y</p:attrName>
                                        </p:attrNameLst>
                                      </p:cBhvr>
                                      <p:rCtr x="16875" y="0"/>
                                    </p:animMotion>
                                  </p:childTnLst>
                                </p:cTn>
                              </p:par>
                            </p:childTnLst>
                          </p:cTn>
                        </p:par>
                      </p:childTnLst>
                    </p:cTn>
                  </p:par>
                  <p:par>
                    <p:cTn id="78" fill="hold">
                      <p:stCondLst>
                        <p:cond delay="indefinite"/>
                      </p:stCondLst>
                      <p:childTnLst>
                        <p:par>
                          <p:cTn id="77"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7"/>
                                        </p:tgtEl>
                                        <p:attrNameLst>
                                          <p:attrName>style.visibility</p:attrName>
                                        </p:attrNameLst>
                                      </p:cBhvr>
                                      <p:to>
                                        <p:strVal val="visible"/>
                                      </p:to>
                                    </p:set>
                                    <p:animEffect transition="in" filter="fade">
                                      <p:cBhvr>
                                        <p:cTn id="76"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sp>
        <p:nvSpPr>
          <p:cNvPr id="7" name="!!Luz tubular"/>
          <p:cNvSpPr/>
          <p:nvPr/>
        </p:nvSpPr>
        <p:spPr>
          <a:xfrm>
            <a:off x="320040" y="1051560"/>
            <a:ext cx="7315200" cy="960120"/>
          </a:xfrm>
          <a:prstGeom prst="rect">
            <a:avLst/>
          </a:prstGeom>
          <a:gradFill rotWithShape="1">
            <a:gsLst>
              <a:gs pos="0">
                <a:srgbClr val="FFF9E1"/>
              </a:gs>
              <a:gs pos="100000">
                <a:srgbClr val="FCE9A8"/>
              </a:gs>
            </a:gsLst>
            <a:lin ang="5400000" scaled="0"/>
          </a:gradFill>
          <a:ln w="12700" cap="rnd">
            <a:solidFill>
              <a:srgbClr val="1E1E1E"/>
            </a:solidFill>
            <a:round/>
          </a:ln>
        </p:spPr>
      </p:sp>
      <p:sp>
        <p:nvSpPr>
          <p:cNvPr id="8" name="!!Rótulo luz"/>
          <p:cNvSpPr txBox="1"/>
          <p:nvPr/>
        </p:nvSpPr>
        <p:spPr>
          <a:xfrm>
            <a:off x="411480" y="1078992"/>
            <a:ext cx="27432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TUBULAR (ORINA PRIMARIA)</a:t>
            </a:r>
            <a:endParaRPr lang="es-AR" sz="1200" dirty="0">
              <a:latin typeface="Fira Sans Condensed"/>
            </a:endParaRPr>
          </a:p>
        </p:txBody>
      </p:sp>
      <p:grpSp>
        <p:nvGrpSpPr>
          <p:cNvPr id="9" name="!!Célula TP 1"/>
          <p:cNvGrpSpPr/>
          <p:nvPr/>
        </p:nvGrpSpPr>
        <p:grpSpPr>
          <a:xfrm>
            <a:off x="320040" y="1874520"/>
            <a:ext cx="3566160" cy="2651760"/>
            <a:chOff x="320040" y="1874520"/>
            <a:chExt cx="3566160" cy="2651760"/>
          </a:xfrm>
        </p:grpSpPr>
        <p:sp>
          <p:nvSpPr>
            <p:cNvPr id="10" name="Forma 9"/>
            <p:cNvSpPr/>
            <p:nvPr/>
          </p:nvSpPr>
          <p:spPr>
            <a:xfrm>
              <a:off x="32004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11" name="Forma 10"/>
            <p:cNvSpPr/>
            <p:nvPr/>
          </p:nvSpPr>
          <p:spPr>
            <a:xfrm>
              <a:off x="32004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12" name="Núcleo"/>
            <p:cNvGrpSpPr/>
            <p:nvPr/>
          </p:nvGrpSpPr>
          <p:grpSpPr>
            <a:xfrm>
              <a:off x="605333" y="3412541"/>
              <a:ext cx="641909" cy="577718"/>
              <a:chOff x="605333" y="3412541"/>
              <a:chExt cx="641909" cy="577718"/>
            </a:xfrm>
          </p:grpSpPr>
          <p:sp>
            <p:nvSpPr>
              <p:cNvPr id="13" name="Forma 12"/>
              <p:cNvSpPr/>
              <p:nvPr/>
            </p:nvSpPr>
            <p:spPr>
              <a:xfrm>
                <a:off x="60533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14" name="Forma 13"/>
              <p:cNvSpPr/>
              <p:nvPr/>
            </p:nvSpPr>
            <p:spPr>
              <a:xfrm>
                <a:off x="939125" y="3605113"/>
                <a:ext cx="141220" cy="128382"/>
              </a:xfrm>
              <a:prstGeom prst="ellipse">
                <a:avLst/>
              </a:prstGeom>
              <a:solidFill>
                <a:srgbClr val="513B6B"/>
              </a:solidFill>
              <a:ln>
                <a:noFill/>
              </a:ln>
            </p:spPr>
          </p:sp>
        </p:grpSp>
        <p:grpSp>
          <p:nvGrpSpPr>
            <p:cNvPr id="15" name="Mitocondria"/>
            <p:cNvGrpSpPr/>
            <p:nvPr/>
          </p:nvGrpSpPr>
          <p:grpSpPr>
            <a:xfrm>
              <a:off x="2887675" y="3730752"/>
              <a:ext cx="463601" cy="231800"/>
              <a:chOff x="2887675" y="3730752"/>
              <a:chExt cx="463601" cy="231800"/>
            </a:xfrm>
          </p:grpSpPr>
          <p:sp>
            <p:nvSpPr>
              <p:cNvPr id="16" name="Forma 15"/>
              <p:cNvSpPr/>
              <p:nvPr/>
            </p:nvSpPr>
            <p:spPr>
              <a:xfrm rot="4800000">
                <a:off x="288767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7" name="Forma 16"/>
              <p:cNvSpPr/>
              <p:nvPr/>
            </p:nvSpPr>
            <p:spPr>
              <a:xfrm rot="4800000">
                <a:off x="2920127" y="3763204"/>
                <a:ext cx="398697" cy="166896"/>
              </a:xfrm>
              <a:prstGeom prst="ellipse">
                <a:avLst/>
              </a:prstGeom>
              <a:solidFill>
                <a:srgbClr val="F8D8B4"/>
              </a:solidFill>
              <a:ln w="9525" cap="rnd">
                <a:solidFill>
                  <a:srgbClr val="B2732B"/>
                </a:solidFill>
                <a:round/>
              </a:ln>
            </p:spPr>
          </p:sp>
          <p:sp>
            <p:nvSpPr>
              <p:cNvPr id="18" name="Forma 17"/>
              <p:cNvSpPr/>
              <p:nvPr/>
            </p:nvSpPr>
            <p:spPr>
              <a:xfrm rot="4800000">
                <a:off x="292012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19" name="Mitocondria_2"/>
            <p:cNvGrpSpPr/>
            <p:nvPr/>
          </p:nvGrpSpPr>
          <p:grpSpPr>
            <a:xfrm>
              <a:off x="3244291" y="3677717"/>
              <a:ext cx="463601" cy="231800"/>
              <a:chOff x="3244291" y="3677717"/>
              <a:chExt cx="463601" cy="231800"/>
            </a:xfrm>
          </p:grpSpPr>
          <p:sp>
            <p:nvSpPr>
              <p:cNvPr id="20" name="Forma 19"/>
              <p:cNvSpPr/>
              <p:nvPr/>
            </p:nvSpPr>
            <p:spPr>
              <a:xfrm rot="5100000">
                <a:off x="324429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5100000">
                <a:off x="3276743" y="3710169"/>
                <a:ext cx="398697" cy="166896"/>
              </a:xfrm>
              <a:prstGeom prst="ellipse">
                <a:avLst/>
              </a:prstGeom>
              <a:solidFill>
                <a:srgbClr val="F8D8B4"/>
              </a:solidFill>
              <a:ln w="9525" cap="rnd">
                <a:solidFill>
                  <a:srgbClr val="B2732B"/>
                </a:solidFill>
                <a:round/>
              </a:ln>
            </p:spPr>
          </p:sp>
          <p:sp>
            <p:nvSpPr>
              <p:cNvPr id="22" name="Forma 21"/>
              <p:cNvSpPr/>
              <p:nvPr/>
            </p:nvSpPr>
            <p:spPr>
              <a:xfrm rot="5100000">
                <a:off x="327674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3" name="Mitocondria_3"/>
            <p:cNvGrpSpPr/>
            <p:nvPr/>
          </p:nvGrpSpPr>
          <p:grpSpPr>
            <a:xfrm>
              <a:off x="2531059" y="3783787"/>
              <a:ext cx="463601" cy="231800"/>
              <a:chOff x="2531059" y="3783787"/>
              <a:chExt cx="463601" cy="231800"/>
            </a:xfrm>
          </p:grpSpPr>
          <p:sp>
            <p:nvSpPr>
              <p:cNvPr id="24" name="Forma 23"/>
              <p:cNvSpPr/>
              <p:nvPr/>
            </p:nvSpPr>
            <p:spPr>
              <a:xfrm rot="5700000">
                <a:off x="253105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5" name="Forma 24"/>
              <p:cNvSpPr/>
              <p:nvPr/>
            </p:nvSpPr>
            <p:spPr>
              <a:xfrm rot="5700000">
                <a:off x="2563511" y="3816239"/>
                <a:ext cx="398697" cy="166896"/>
              </a:xfrm>
              <a:prstGeom prst="ellipse">
                <a:avLst/>
              </a:prstGeom>
              <a:solidFill>
                <a:srgbClr val="F8D8B4"/>
              </a:solidFill>
              <a:ln w="9525" cap="rnd">
                <a:solidFill>
                  <a:srgbClr val="B2732B"/>
                </a:solidFill>
                <a:round/>
              </a:ln>
            </p:spPr>
          </p:sp>
          <p:sp>
            <p:nvSpPr>
              <p:cNvPr id="26" name="Forma 25"/>
              <p:cNvSpPr/>
              <p:nvPr/>
            </p:nvSpPr>
            <p:spPr>
              <a:xfrm rot="5700000">
                <a:off x="256351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27" name="Mitocondria_4"/>
            <p:cNvGrpSpPr/>
            <p:nvPr/>
          </p:nvGrpSpPr>
          <p:grpSpPr>
            <a:xfrm>
              <a:off x="1389888" y="2670048"/>
              <a:ext cx="463601" cy="231800"/>
              <a:chOff x="1389888" y="2670048"/>
              <a:chExt cx="463601" cy="231800"/>
            </a:xfrm>
          </p:grpSpPr>
          <p:sp>
            <p:nvSpPr>
              <p:cNvPr id="28" name="Forma 27"/>
              <p:cNvSpPr/>
              <p:nvPr/>
            </p:nvSpPr>
            <p:spPr>
              <a:xfrm rot="600000">
                <a:off x="138988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600000">
                <a:off x="1422340" y="2702500"/>
                <a:ext cx="398697" cy="166896"/>
              </a:xfrm>
              <a:prstGeom prst="ellipse">
                <a:avLst/>
              </a:prstGeom>
              <a:solidFill>
                <a:srgbClr val="F8D8B4"/>
              </a:solidFill>
              <a:ln w="9525" cap="rnd">
                <a:solidFill>
                  <a:srgbClr val="B2732B"/>
                </a:solidFill>
                <a:round/>
              </a:ln>
            </p:spPr>
          </p:sp>
          <p:sp>
            <p:nvSpPr>
              <p:cNvPr id="30" name="Forma 29"/>
              <p:cNvSpPr/>
              <p:nvPr/>
            </p:nvSpPr>
            <p:spPr>
              <a:xfrm rot="600000">
                <a:off x="142234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Célula TP 2"/>
          <p:cNvGrpSpPr/>
          <p:nvPr/>
        </p:nvGrpSpPr>
        <p:grpSpPr>
          <a:xfrm>
            <a:off x="4069080" y="1874520"/>
            <a:ext cx="3566160" cy="2651760"/>
            <a:chOff x="4069080" y="1874520"/>
            <a:chExt cx="3566160" cy="2651760"/>
          </a:xfrm>
        </p:grpSpPr>
        <p:sp>
          <p:nvSpPr>
            <p:cNvPr id="32" name="Forma 31"/>
            <p:cNvSpPr/>
            <p:nvPr/>
          </p:nvSpPr>
          <p:spPr>
            <a:xfrm>
              <a:off x="4069080" y="2139696"/>
              <a:ext cx="3566160" cy="2386584"/>
            </a:xfrm>
            <a:prstGeom prst="roundRect">
              <a:avLst>
                <a:gd name="adj" fmla="val 8000"/>
              </a:avLst>
            </a:prstGeom>
            <a:gradFill rotWithShape="1">
              <a:gsLst>
                <a:gs pos="0">
                  <a:srgbClr val="F7DAC6"/>
                </a:gs>
                <a:gs pos="55000">
                  <a:srgbClr val="F3C2A0"/>
                </a:gs>
                <a:gs pos="100000">
                  <a:srgbClr val="C29B80"/>
                </a:gs>
              </a:gsLst>
              <a:path path="circle">
                <a:fillToRect l="32000" t="28000" r="68000" b="72000"/>
              </a:path>
            </a:gradFill>
            <a:ln w="22225" cap="rnd">
              <a:solidFill>
                <a:srgbClr val="6D5748"/>
              </a:solidFill>
              <a:round/>
            </a:ln>
            <a:effectLst>
              <a:outerShdw blurRad="101600" dist="50800" dir="2700000" algn="tl" rotWithShape="0">
                <a:srgbClr val="000000">
                  <a:alpha val="30000"/>
                </a:srgbClr>
              </a:outerShdw>
            </a:effectLst>
          </p:spPr>
        </p:sp>
        <p:sp>
          <p:nvSpPr>
            <p:cNvPr id="33" name="Forma 32"/>
            <p:cNvSpPr/>
            <p:nvPr/>
          </p:nvSpPr>
          <p:spPr>
            <a:xfrm>
              <a:off x="4069080" y="1874520"/>
              <a:ext cx="3566160" cy="274320"/>
            </a:xfrm>
            <a:custGeom>
              <a:avLst/>
              <a:gdLst/>
              <a:ahLst/>
              <a:cxnLst/>
              <a:rect l="0" t="0" r="r" b="b"/>
              <a:pathLst>
                <a:path w="1000" h="1000" fill="none">
                  <a:moveTo>
                    <a:pt x="11" y="0"/>
                  </a:moveTo>
                  <a:lnTo>
                    <a:pt x="11" y="100"/>
                  </a:lnTo>
                </a:path>
                <a:path w="1000" h="1000" fill="none">
                  <a:moveTo>
                    <a:pt x="34" y="0"/>
                  </a:moveTo>
                  <a:lnTo>
                    <a:pt x="34" y="100"/>
                  </a:lnTo>
                </a:path>
                <a:path w="1000" h="1000" fill="none">
                  <a:moveTo>
                    <a:pt x="58" y="0"/>
                  </a:moveTo>
                  <a:lnTo>
                    <a:pt x="58" y="100"/>
                  </a:lnTo>
                </a:path>
                <a:path w="1000" h="1000" fill="none">
                  <a:moveTo>
                    <a:pt x="81" y="0"/>
                  </a:moveTo>
                  <a:lnTo>
                    <a:pt x="81" y="100"/>
                  </a:lnTo>
                </a:path>
                <a:path w="1000" h="1000" fill="none">
                  <a:moveTo>
                    <a:pt x="104" y="0"/>
                  </a:moveTo>
                  <a:lnTo>
                    <a:pt x="104" y="100"/>
                  </a:lnTo>
                </a:path>
                <a:path w="1000" h="1000" fill="none">
                  <a:moveTo>
                    <a:pt x="127" y="0"/>
                  </a:moveTo>
                  <a:lnTo>
                    <a:pt x="127" y="100"/>
                  </a:lnTo>
                </a:path>
                <a:path w="1000" h="1000" fill="none">
                  <a:moveTo>
                    <a:pt x="151" y="0"/>
                  </a:moveTo>
                  <a:lnTo>
                    <a:pt x="151" y="100"/>
                  </a:lnTo>
                </a:path>
                <a:path w="1000" h="1000" fill="none">
                  <a:moveTo>
                    <a:pt x="174" y="0"/>
                  </a:moveTo>
                  <a:lnTo>
                    <a:pt x="174" y="100"/>
                  </a:lnTo>
                </a:path>
                <a:path w="1000" h="1000" fill="none">
                  <a:moveTo>
                    <a:pt x="197" y="0"/>
                  </a:moveTo>
                  <a:lnTo>
                    <a:pt x="197" y="100"/>
                  </a:lnTo>
                </a:path>
                <a:path w="1000" h="1000" fill="none">
                  <a:moveTo>
                    <a:pt x="220" y="0"/>
                  </a:moveTo>
                  <a:lnTo>
                    <a:pt x="220" y="100"/>
                  </a:lnTo>
                </a:path>
                <a:path w="1000" h="1000" fill="none">
                  <a:moveTo>
                    <a:pt x="244" y="0"/>
                  </a:moveTo>
                  <a:lnTo>
                    <a:pt x="244" y="100"/>
                  </a:lnTo>
                </a:path>
                <a:path w="1000" h="1000" fill="none">
                  <a:moveTo>
                    <a:pt x="267" y="0"/>
                  </a:moveTo>
                  <a:lnTo>
                    <a:pt x="267" y="100"/>
                  </a:lnTo>
                </a:path>
                <a:path w="1000" h="1000" fill="none">
                  <a:moveTo>
                    <a:pt x="290" y="0"/>
                  </a:moveTo>
                  <a:lnTo>
                    <a:pt x="290" y="100"/>
                  </a:lnTo>
                </a:path>
                <a:path w="1000" h="1000" fill="none">
                  <a:moveTo>
                    <a:pt x="313" y="0"/>
                  </a:moveTo>
                  <a:lnTo>
                    <a:pt x="313" y="100"/>
                  </a:lnTo>
                </a:path>
                <a:path w="1000" h="1000" fill="none">
                  <a:moveTo>
                    <a:pt x="337" y="0"/>
                  </a:moveTo>
                  <a:lnTo>
                    <a:pt x="337" y="100"/>
                  </a:lnTo>
                </a:path>
                <a:path w="1000" h="1000" fill="none">
                  <a:moveTo>
                    <a:pt x="360" y="0"/>
                  </a:moveTo>
                  <a:lnTo>
                    <a:pt x="360" y="100"/>
                  </a:lnTo>
                </a:path>
                <a:path w="1000" h="1000" fill="none">
                  <a:moveTo>
                    <a:pt x="383" y="0"/>
                  </a:moveTo>
                  <a:lnTo>
                    <a:pt x="383" y="100"/>
                  </a:lnTo>
                </a:path>
                <a:path w="1000" h="1000" fill="none">
                  <a:moveTo>
                    <a:pt x="406" y="0"/>
                  </a:moveTo>
                  <a:lnTo>
                    <a:pt x="406" y="100"/>
                  </a:lnTo>
                </a:path>
                <a:path w="1000" h="1000" fill="none">
                  <a:moveTo>
                    <a:pt x="430" y="0"/>
                  </a:moveTo>
                  <a:lnTo>
                    <a:pt x="430" y="100"/>
                  </a:lnTo>
                </a:path>
                <a:path w="1000" h="1000" fill="none">
                  <a:moveTo>
                    <a:pt x="453" y="0"/>
                  </a:moveTo>
                  <a:lnTo>
                    <a:pt x="453" y="100"/>
                  </a:lnTo>
                </a:path>
                <a:path w="1000" h="1000" fill="none">
                  <a:moveTo>
                    <a:pt x="476" y="0"/>
                  </a:moveTo>
                  <a:lnTo>
                    <a:pt x="476" y="100"/>
                  </a:lnTo>
                </a:path>
                <a:path w="1000" h="1000" fill="none">
                  <a:moveTo>
                    <a:pt x="500" y="0"/>
                  </a:moveTo>
                  <a:lnTo>
                    <a:pt x="500" y="100"/>
                  </a:lnTo>
                </a:path>
                <a:path w="1000" h="1000" fill="none">
                  <a:moveTo>
                    <a:pt x="523" y="0"/>
                  </a:moveTo>
                  <a:lnTo>
                    <a:pt x="523" y="100"/>
                  </a:lnTo>
                </a:path>
                <a:path w="1000" h="1000" fill="none">
                  <a:moveTo>
                    <a:pt x="546" y="0"/>
                  </a:moveTo>
                  <a:lnTo>
                    <a:pt x="546" y="100"/>
                  </a:lnTo>
                </a:path>
                <a:path w="1000" h="1000" fill="none">
                  <a:moveTo>
                    <a:pt x="569" y="0"/>
                  </a:moveTo>
                  <a:lnTo>
                    <a:pt x="569" y="100"/>
                  </a:lnTo>
                </a:path>
                <a:path w="1000" h="1000" fill="none">
                  <a:moveTo>
                    <a:pt x="593" y="0"/>
                  </a:moveTo>
                  <a:lnTo>
                    <a:pt x="593" y="100"/>
                  </a:lnTo>
                </a:path>
                <a:path w="1000" h="1000" fill="none">
                  <a:moveTo>
                    <a:pt x="616" y="0"/>
                  </a:moveTo>
                  <a:lnTo>
                    <a:pt x="616" y="100"/>
                  </a:lnTo>
                </a:path>
                <a:path w="1000" h="1000" fill="none">
                  <a:moveTo>
                    <a:pt x="639" y="0"/>
                  </a:moveTo>
                  <a:lnTo>
                    <a:pt x="639" y="100"/>
                  </a:lnTo>
                </a:path>
                <a:path w="1000" h="1000" fill="none">
                  <a:moveTo>
                    <a:pt x="662" y="0"/>
                  </a:moveTo>
                  <a:lnTo>
                    <a:pt x="662" y="100"/>
                  </a:lnTo>
                </a:path>
                <a:path w="1000" h="1000" fill="none">
                  <a:moveTo>
                    <a:pt x="686" y="0"/>
                  </a:moveTo>
                  <a:lnTo>
                    <a:pt x="686" y="100"/>
                  </a:lnTo>
                </a:path>
                <a:path w="1000" h="1000" fill="none">
                  <a:moveTo>
                    <a:pt x="709" y="0"/>
                  </a:moveTo>
                  <a:lnTo>
                    <a:pt x="709" y="100"/>
                  </a:lnTo>
                </a:path>
                <a:path w="1000" h="1000" fill="none">
                  <a:moveTo>
                    <a:pt x="732" y="0"/>
                  </a:moveTo>
                  <a:lnTo>
                    <a:pt x="732" y="100"/>
                  </a:lnTo>
                </a:path>
                <a:path w="1000" h="1000" fill="none">
                  <a:moveTo>
                    <a:pt x="755" y="0"/>
                  </a:moveTo>
                  <a:lnTo>
                    <a:pt x="755" y="100"/>
                  </a:lnTo>
                </a:path>
                <a:path w="1000" h="1000" fill="none">
                  <a:moveTo>
                    <a:pt x="779" y="0"/>
                  </a:moveTo>
                  <a:lnTo>
                    <a:pt x="779" y="100"/>
                  </a:lnTo>
                </a:path>
                <a:path w="1000" h="1000" fill="none">
                  <a:moveTo>
                    <a:pt x="802" y="0"/>
                  </a:moveTo>
                  <a:lnTo>
                    <a:pt x="802" y="100"/>
                  </a:lnTo>
                </a:path>
                <a:path w="1000" h="1000" fill="none">
                  <a:moveTo>
                    <a:pt x="825" y="0"/>
                  </a:moveTo>
                  <a:lnTo>
                    <a:pt x="825" y="100"/>
                  </a:lnTo>
                </a:path>
                <a:path w="1000" h="1000" fill="none">
                  <a:moveTo>
                    <a:pt x="848" y="0"/>
                  </a:moveTo>
                  <a:lnTo>
                    <a:pt x="848" y="100"/>
                  </a:lnTo>
                </a:path>
                <a:path w="1000" h="1000" fill="none">
                  <a:moveTo>
                    <a:pt x="872" y="0"/>
                  </a:moveTo>
                  <a:lnTo>
                    <a:pt x="872" y="100"/>
                  </a:lnTo>
                </a:path>
                <a:path w="1000" h="1000" fill="none">
                  <a:moveTo>
                    <a:pt x="895" y="0"/>
                  </a:moveTo>
                  <a:lnTo>
                    <a:pt x="895" y="100"/>
                  </a:lnTo>
                </a:path>
                <a:path w="1000" h="1000" fill="none">
                  <a:moveTo>
                    <a:pt x="918" y="0"/>
                  </a:moveTo>
                  <a:lnTo>
                    <a:pt x="918" y="100"/>
                  </a:lnTo>
                </a:path>
                <a:path w="1000" h="1000" fill="none">
                  <a:moveTo>
                    <a:pt x="941" y="0"/>
                  </a:moveTo>
                  <a:lnTo>
                    <a:pt x="941" y="100"/>
                  </a:lnTo>
                </a:path>
                <a:path w="1000" h="1000" fill="none">
                  <a:moveTo>
                    <a:pt x="965" y="0"/>
                  </a:moveTo>
                  <a:lnTo>
                    <a:pt x="965" y="100"/>
                  </a:lnTo>
                </a:path>
                <a:path w="1000" h="1000" fill="none">
                  <a:moveTo>
                    <a:pt x="988" y="0"/>
                  </a:moveTo>
                  <a:lnTo>
                    <a:pt x="988" y="100"/>
                  </a:lnTo>
                </a:path>
              </a:pathLst>
            </a:custGeom>
            <a:noFill/>
            <a:ln w="28575" cap="rnd">
              <a:solidFill>
                <a:srgbClr val="856A58"/>
              </a:solidFill>
              <a:round/>
            </a:ln>
          </p:spPr>
        </p:sp>
        <p:grpSp>
          <p:nvGrpSpPr>
            <p:cNvPr id="34" name="Núcleo_2"/>
            <p:cNvGrpSpPr/>
            <p:nvPr/>
          </p:nvGrpSpPr>
          <p:grpSpPr>
            <a:xfrm>
              <a:off x="4354373" y="3412541"/>
              <a:ext cx="641909" cy="577718"/>
              <a:chOff x="4354373" y="3412541"/>
              <a:chExt cx="641909" cy="577718"/>
            </a:xfrm>
          </p:grpSpPr>
          <p:sp>
            <p:nvSpPr>
              <p:cNvPr id="35" name="Forma 34"/>
              <p:cNvSpPr/>
              <p:nvPr/>
            </p:nvSpPr>
            <p:spPr>
              <a:xfrm>
                <a:off x="4354373" y="3412541"/>
                <a:ext cx="641909" cy="577718"/>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36" name="Forma 35"/>
              <p:cNvSpPr/>
              <p:nvPr/>
            </p:nvSpPr>
            <p:spPr>
              <a:xfrm>
                <a:off x="4688165" y="3605113"/>
                <a:ext cx="141220" cy="128382"/>
              </a:xfrm>
              <a:prstGeom prst="ellipse">
                <a:avLst/>
              </a:prstGeom>
              <a:solidFill>
                <a:srgbClr val="513B6B"/>
              </a:solidFill>
              <a:ln>
                <a:noFill/>
              </a:ln>
            </p:spPr>
          </p:sp>
        </p:grpSp>
        <p:grpSp>
          <p:nvGrpSpPr>
            <p:cNvPr id="37" name="Mitocondria_5"/>
            <p:cNvGrpSpPr/>
            <p:nvPr/>
          </p:nvGrpSpPr>
          <p:grpSpPr>
            <a:xfrm>
              <a:off x="6636715" y="3730752"/>
              <a:ext cx="463601" cy="231800"/>
              <a:chOff x="6636715" y="3730752"/>
              <a:chExt cx="463601" cy="231800"/>
            </a:xfrm>
          </p:grpSpPr>
          <p:sp>
            <p:nvSpPr>
              <p:cNvPr id="38" name="Forma 37"/>
              <p:cNvSpPr/>
              <p:nvPr/>
            </p:nvSpPr>
            <p:spPr>
              <a:xfrm rot="4800000">
                <a:off x="6636715" y="3730752"/>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9" name="Forma 38"/>
              <p:cNvSpPr/>
              <p:nvPr/>
            </p:nvSpPr>
            <p:spPr>
              <a:xfrm rot="4800000">
                <a:off x="6669167" y="3763204"/>
                <a:ext cx="398697" cy="166896"/>
              </a:xfrm>
              <a:prstGeom prst="ellipse">
                <a:avLst/>
              </a:prstGeom>
              <a:solidFill>
                <a:srgbClr val="F8D8B4"/>
              </a:solidFill>
              <a:ln w="9525" cap="rnd">
                <a:solidFill>
                  <a:srgbClr val="B2732B"/>
                </a:solidFill>
                <a:round/>
              </a:ln>
            </p:spPr>
          </p:sp>
          <p:sp>
            <p:nvSpPr>
              <p:cNvPr id="40" name="Forma 39"/>
              <p:cNvSpPr/>
              <p:nvPr/>
            </p:nvSpPr>
            <p:spPr>
              <a:xfrm rot="4800000">
                <a:off x="6669167" y="3763204"/>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1" name="Mitocondria_6"/>
            <p:cNvGrpSpPr/>
            <p:nvPr/>
          </p:nvGrpSpPr>
          <p:grpSpPr>
            <a:xfrm>
              <a:off x="6993331" y="3677717"/>
              <a:ext cx="463601" cy="231800"/>
              <a:chOff x="6993331" y="3677717"/>
              <a:chExt cx="463601" cy="231800"/>
            </a:xfrm>
          </p:grpSpPr>
          <p:sp>
            <p:nvSpPr>
              <p:cNvPr id="42" name="Forma 41"/>
              <p:cNvSpPr/>
              <p:nvPr/>
            </p:nvSpPr>
            <p:spPr>
              <a:xfrm rot="5100000">
                <a:off x="6993331" y="367771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3" name="Forma 42"/>
              <p:cNvSpPr/>
              <p:nvPr/>
            </p:nvSpPr>
            <p:spPr>
              <a:xfrm rot="5100000">
                <a:off x="7025783" y="3710169"/>
                <a:ext cx="398697" cy="166896"/>
              </a:xfrm>
              <a:prstGeom prst="ellipse">
                <a:avLst/>
              </a:prstGeom>
              <a:solidFill>
                <a:srgbClr val="F8D8B4"/>
              </a:solidFill>
              <a:ln w="9525" cap="rnd">
                <a:solidFill>
                  <a:srgbClr val="B2732B"/>
                </a:solidFill>
                <a:round/>
              </a:ln>
            </p:spPr>
          </p:sp>
          <p:sp>
            <p:nvSpPr>
              <p:cNvPr id="44" name="Forma 43"/>
              <p:cNvSpPr/>
              <p:nvPr/>
            </p:nvSpPr>
            <p:spPr>
              <a:xfrm rot="5100000">
                <a:off x="7025783" y="371016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5" name="Mitocondria_7"/>
            <p:cNvGrpSpPr/>
            <p:nvPr/>
          </p:nvGrpSpPr>
          <p:grpSpPr>
            <a:xfrm>
              <a:off x="6280099" y="3783787"/>
              <a:ext cx="463601" cy="231800"/>
              <a:chOff x="6280099" y="3783787"/>
              <a:chExt cx="463601" cy="231800"/>
            </a:xfrm>
          </p:grpSpPr>
          <p:sp>
            <p:nvSpPr>
              <p:cNvPr id="46" name="Forma 45"/>
              <p:cNvSpPr/>
              <p:nvPr/>
            </p:nvSpPr>
            <p:spPr>
              <a:xfrm rot="5700000">
                <a:off x="6280099" y="3783787"/>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7" name="Forma 46"/>
              <p:cNvSpPr/>
              <p:nvPr/>
            </p:nvSpPr>
            <p:spPr>
              <a:xfrm rot="5700000">
                <a:off x="6312551" y="3816239"/>
                <a:ext cx="398697" cy="166896"/>
              </a:xfrm>
              <a:prstGeom prst="ellipse">
                <a:avLst/>
              </a:prstGeom>
              <a:solidFill>
                <a:srgbClr val="F8D8B4"/>
              </a:solidFill>
              <a:ln w="9525" cap="rnd">
                <a:solidFill>
                  <a:srgbClr val="B2732B"/>
                </a:solidFill>
                <a:round/>
              </a:ln>
            </p:spPr>
          </p:sp>
          <p:sp>
            <p:nvSpPr>
              <p:cNvPr id="48" name="Forma 47"/>
              <p:cNvSpPr/>
              <p:nvPr/>
            </p:nvSpPr>
            <p:spPr>
              <a:xfrm rot="5700000">
                <a:off x="6312551" y="3816239"/>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nvGrpSpPr>
            <p:cNvPr id="49" name="Mitocondria_8"/>
            <p:cNvGrpSpPr/>
            <p:nvPr/>
          </p:nvGrpSpPr>
          <p:grpSpPr>
            <a:xfrm>
              <a:off x="5138928" y="2670048"/>
              <a:ext cx="463601" cy="231800"/>
              <a:chOff x="5138928" y="2670048"/>
              <a:chExt cx="463601" cy="231800"/>
            </a:xfrm>
          </p:grpSpPr>
          <p:sp>
            <p:nvSpPr>
              <p:cNvPr id="50" name="Forma 49"/>
              <p:cNvSpPr/>
              <p:nvPr/>
            </p:nvSpPr>
            <p:spPr>
              <a:xfrm rot="600000">
                <a:off x="5138928" y="2670048"/>
                <a:ext cx="463601" cy="23180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1" name="Forma 50"/>
              <p:cNvSpPr/>
              <p:nvPr/>
            </p:nvSpPr>
            <p:spPr>
              <a:xfrm rot="600000">
                <a:off x="5171380" y="2702500"/>
                <a:ext cx="398697" cy="166896"/>
              </a:xfrm>
              <a:prstGeom prst="ellipse">
                <a:avLst/>
              </a:prstGeom>
              <a:solidFill>
                <a:srgbClr val="F8D8B4"/>
              </a:solidFill>
              <a:ln w="9525" cap="rnd">
                <a:solidFill>
                  <a:srgbClr val="B2732B"/>
                </a:solidFill>
                <a:round/>
              </a:ln>
            </p:spPr>
          </p:sp>
          <p:sp>
            <p:nvSpPr>
              <p:cNvPr id="52" name="Forma 51"/>
              <p:cNvSpPr/>
              <p:nvPr/>
            </p:nvSpPr>
            <p:spPr>
              <a:xfrm rot="600000">
                <a:off x="5171380" y="2702500"/>
                <a:ext cx="398697" cy="16689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3" name="!!Capilar peritubular"/>
          <p:cNvGrpSpPr/>
          <p:nvPr/>
        </p:nvGrpSpPr>
        <p:grpSpPr>
          <a:xfrm>
            <a:off x="320040" y="4846320"/>
            <a:ext cx="7315200" cy="777240"/>
            <a:chOff x="320040" y="4846320"/>
            <a:chExt cx="7315200" cy="777240"/>
          </a:xfrm>
        </p:grpSpPr>
        <p:sp>
          <p:nvSpPr>
            <p:cNvPr id="54" name="Forma 53"/>
            <p:cNvSpPr/>
            <p:nvPr/>
          </p:nvSpPr>
          <p:spPr>
            <a:xfrm>
              <a:off x="320040" y="4846320"/>
              <a:ext cx="7315200" cy="77724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5" name="Forma 54"/>
            <p:cNvSpPr/>
            <p:nvPr/>
          </p:nvSpPr>
          <p:spPr>
            <a:xfrm>
              <a:off x="436626" y="4986223"/>
              <a:ext cx="7082028" cy="497434"/>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6" name="Eritrocito"/>
            <p:cNvSpPr/>
            <p:nvPr/>
          </p:nvSpPr>
          <p:spPr>
            <a:xfrm>
              <a:off x="791460" y="518476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7" name="Eritrocito_2"/>
            <p:cNvSpPr/>
            <p:nvPr/>
          </p:nvSpPr>
          <p:spPr>
            <a:xfrm>
              <a:off x="1813559" y="5223758"/>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8" name="Eritrocito_3"/>
            <p:cNvSpPr/>
            <p:nvPr/>
          </p:nvSpPr>
          <p:spPr>
            <a:xfrm>
              <a:off x="2748611" y="521984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4"/>
            <p:cNvSpPr/>
            <p:nvPr/>
          </p:nvSpPr>
          <p:spPr>
            <a:xfrm>
              <a:off x="3432909" y="5131105"/>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5"/>
            <p:cNvSpPr/>
            <p:nvPr/>
          </p:nvSpPr>
          <p:spPr>
            <a:xfrm>
              <a:off x="4738832" y="516673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6"/>
            <p:cNvSpPr/>
            <p:nvPr/>
          </p:nvSpPr>
          <p:spPr>
            <a:xfrm>
              <a:off x="5678795" y="5062627"/>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7"/>
            <p:cNvSpPr/>
            <p:nvPr/>
          </p:nvSpPr>
          <p:spPr>
            <a:xfrm>
              <a:off x="6469829" y="5088542"/>
              <a:ext cx="326441" cy="326441"/>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3" name="!!SGLT2"/>
          <p:cNvGrpSpPr/>
          <p:nvPr/>
        </p:nvGrpSpPr>
        <p:grpSpPr>
          <a:xfrm>
            <a:off x="1097280" y="1883664"/>
            <a:ext cx="1153973" cy="758952"/>
            <a:chOff x="1097280" y="1883664"/>
            <a:chExt cx="1153973" cy="758952"/>
          </a:xfrm>
        </p:grpSpPr>
        <p:sp>
          <p:nvSpPr>
            <p:cNvPr id="64" name="Forma 63"/>
            <p:cNvSpPr/>
            <p:nvPr/>
          </p:nvSpPr>
          <p:spPr>
            <a:xfrm>
              <a:off x="1463040"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5" name="Forma 64"/>
            <p:cNvSpPr/>
            <p:nvPr/>
          </p:nvSpPr>
          <p:spPr>
            <a:xfrm>
              <a:off x="1704442" y="1883664"/>
              <a:ext cx="181051" cy="502920"/>
            </a:xfrm>
            <a:prstGeom prst="roundRect">
              <a:avLst>
                <a:gd name="adj" fmla="val 45000"/>
              </a:avLst>
            </a:prstGeom>
            <a:gradFill rotWithShape="1">
              <a:gsLst>
                <a:gs pos="0">
                  <a:srgbClr val="A15817"/>
                </a:gs>
                <a:gs pos="30000">
                  <a:srgbClr val="EEAB6F"/>
                </a:gs>
                <a:gs pos="55000">
                  <a:srgbClr val="E67E22"/>
                </a:gs>
                <a:gs pos="100000">
                  <a:srgbClr val="A15817"/>
                </a:gs>
              </a:gsLst>
              <a:lin ang="5400000" scaled="0"/>
            </a:gradFill>
            <a:ln w="15875" cap="rnd">
              <a:solidFill>
                <a:srgbClr val="733F11"/>
              </a:solidFill>
              <a:round/>
            </a:ln>
          </p:spPr>
        </p:sp>
        <p:sp>
          <p:nvSpPr>
            <p:cNvPr id="66" name="Forma 65"/>
            <p:cNvSpPr txBox="1"/>
            <p:nvPr/>
          </p:nvSpPr>
          <p:spPr>
            <a:xfrm>
              <a:off x="109728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67380F"/>
                  </a:solidFill>
                  <a:latin typeface="Fira Sans Condensed"/>
                  <a:ea typeface="Fira Sans Condensed"/>
                  <a:cs typeface="Fira Sans Condensed"/>
                  <a:sym typeface="Fira Sans Condensed"/>
                </a:rPr>
                <a:t>SGLT2 · S1–S2</a:t>
              </a:r>
              <a:endParaRPr lang="es-AR" sz="1150" dirty="0">
                <a:latin typeface="Fira Sans Condensed"/>
              </a:endParaRPr>
            </a:p>
          </p:txBody>
        </p:sp>
      </p:grpSp>
      <p:grpSp>
        <p:nvGrpSpPr>
          <p:cNvPr id="67" name="!!SGLT1"/>
          <p:cNvGrpSpPr/>
          <p:nvPr/>
        </p:nvGrpSpPr>
        <p:grpSpPr>
          <a:xfrm>
            <a:off x="5120640" y="1883664"/>
            <a:ext cx="1153973" cy="758952"/>
            <a:chOff x="5120640" y="1883664"/>
            <a:chExt cx="1153973" cy="758952"/>
          </a:xfrm>
        </p:grpSpPr>
        <p:sp>
          <p:nvSpPr>
            <p:cNvPr id="68" name="Forma 67"/>
            <p:cNvSpPr/>
            <p:nvPr/>
          </p:nvSpPr>
          <p:spPr>
            <a:xfrm>
              <a:off x="5486400"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69" name="Forma 68"/>
            <p:cNvSpPr/>
            <p:nvPr/>
          </p:nvSpPr>
          <p:spPr>
            <a:xfrm>
              <a:off x="5727802" y="1883664"/>
              <a:ext cx="181051" cy="502920"/>
            </a:xfrm>
            <a:prstGeom prst="roundRect">
              <a:avLst>
                <a:gd name="adj" fmla="val 45000"/>
              </a:avLst>
            </a:prstGeom>
            <a:gradFill rotWithShape="1">
              <a:gsLst>
                <a:gs pos="0">
                  <a:srgbClr val="933A00"/>
                </a:gs>
                <a:gs pos="30000">
                  <a:srgbClr val="E28F59"/>
                </a:gs>
                <a:gs pos="55000">
                  <a:srgbClr val="D35400"/>
                </a:gs>
                <a:gs pos="100000">
                  <a:srgbClr val="933A00"/>
                </a:gs>
              </a:gsLst>
              <a:lin ang="5400000" scaled="0"/>
            </a:gradFill>
            <a:ln w="15875" cap="rnd">
              <a:solidFill>
                <a:srgbClr val="692A00"/>
              </a:solidFill>
              <a:round/>
            </a:ln>
          </p:spPr>
        </p:sp>
        <p:sp>
          <p:nvSpPr>
            <p:cNvPr id="70" name="Forma 69"/>
            <p:cNvSpPr txBox="1"/>
            <p:nvPr/>
          </p:nvSpPr>
          <p:spPr>
            <a:xfrm>
              <a:off x="5120640" y="2404872"/>
              <a:ext cx="1153973" cy="237744"/>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5E2500"/>
                  </a:solidFill>
                  <a:latin typeface="Fira Sans Condensed"/>
                  <a:ea typeface="Fira Sans Condensed"/>
                  <a:cs typeface="Fira Sans Condensed"/>
                  <a:sym typeface="Fira Sans Condensed"/>
                </a:rPr>
                <a:t>SGLT1 · S3</a:t>
              </a:r>
              <a:endParaRPr lang="es-AR" sz="1150" dirty="0">
                <a:latin typeface="Fira Sans Condensed"/>
              </a:endParaRPr>
            </a:p>
          </p:txBody>
        </p:sp>
      </p:grpSp>
      <p:grpSp>
        <p:nvGrpSpPr>
          <p:cNvPr id="71" name="!!GLUT2 baso"/>
          <p:cNvGrpSpPr/>
          <p:nvPr/>
        </p:nvGrpSpPr>
        <p:grpSpPr>
          <a:xfrm>
            <a:off x="2194560" y="4206240"/>
            <a:ext cx="384048" cy="457200"/>
            <a:chOff x="2194560" y="4206240"/>
            <a:chExt cx="384048" cy="457200"/>
          </a:xfrm>
        </p:grpSpPr>
        <p:sp>
          <p:nvSpPr>
            <p:cNvPr id="72" name="Forma 71"/>
            <p:cNvSpPr/>
            <p:nvPr/>
          </p:nvSpPr>
          <p:spPr>
            <a:xfrm>
              <a:off x="2194560"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sp>
          <p:nvSpPr>
            <p:cNvPr id="73" name="Forma 72"/>
            <p:cNvSpPr/>
            <p:nvPr/>
          </p:nvSpPr>
          <p:spPr>
            <a:xfrm>
              <a:off x="2414016" y="4206240"/>
              <a:ext cx="164592" cy="457200"/>
            </a:xfrm>
            <a:prstGeom prst="roundRect">
              <a:avLst>
                <a:gd name="adj" fmla="val 45000"/>
              </a:avLst>
            </a:prstGeom>
            <a:gradFill rotWithShape="1">
              <a:gsLst>
                <a:gs pos="0">
                  <a:srgbClr val="41799E"/>
                </a:gs>
                <a:gs pos="30000">
                  <a:srgbClr val="95C9EC"/>
                </a:gs>
                <a:gs pos="55000">
                  <a:srgbClr val="5DADE2"/>
                </a:gs>
                <a:gs pos="100000">
                  <a:srgbClr val="41799E"/>
                </a:gs>
              </a:gsLst>
              <a:lin ang="5400000" scaled="0"/>
            </a:gradFill>
            <a:ln w="15875" cap="rnd">
              <a:solidFill>
                <a:srgbClr val="2E5671"/>
              </a:solidFill>
              <a:round/>
            </a:ln>
          </p:spPr>
        </p:sp>
      </p:grpSp>
      <p:sp>
        <p:nvSpPr>
          <p:cNvPr id="74" name="!!Rótulo GLUT2"/>
          <p:cNvSpPr txBox="1"/>
          <p:nvPr/>
        </p:nvSpPr>
        <p:spPr>
          <a:xfrm>
            <a:off x="2697480" y="4224528"/>
            <a:ext cx="914400" cy="274320"/>
          </a:xfrm>
          <a:prstGeom prst="rect">
            <a:avLst/>
          </a:prstGeom>
          <a:noFill/>
          <a:ln>
            <a:noFill/>
          </a:ln>
        </p:spPr>
        <p:txBody>
          <a:bodyPr wrap="square" lIns="0" tIns="0" rIns="0" bIns="0" anchor="ctr" rtlCol="0">
            <a:noAutofit/>
          </a:bodyPr>
          <a:lstStyle/>
          <a:p>
            <a:pPr algn="ctr">
              <a:spcAft>
                <a:spcPts val="300"/>
              </a:spcAft>
              <a:buNone/>
            </a:pPr>
            <a:r>
              <a:rPr lang="es-AR" sz="11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GLUT2</a:t>
            </a:r>
            <a:endParaRPr lang="es-AR" sz="1100" dirty="0">
              <a:latin typeface="Fira Sans Condensed"/>
            </a:endParaRPr>
          </a:p>
        </p:txBody>
      </p:sp>
      <p:sp>
        <p:nvSpPr>
          <p:cNvPr id="75" name="!!Bomba NaK"/>
          <p:cNvSpPr/>
          <p:nvPr/>
        </p:nvSpPr>
        <p:spPr>
          <a:xfrm>
            <a:off x="5029200" y="4160520"/>
            <a:ext cx="594360" cy="384048"/>
          </a:xfrm>
          <a:prstGeom prst="roundRect">
            <a:avLst/>
          </a:prstGeom>
          <a:gradFill rotWithShape="1">
            <a:gsLst>
              <a:gs pos="0">
                <a:srgbClr val="9AE6BA"/>
              </a:gs>
              <a:gs pos="55000">
                <a:srgbClr val="58D68D"/>
              </a:gs>
              <a:gs pos="100000">
                <a:srgbClr val="3D9562"/>
              </a:gs>
            </a:gsLst>
            <a:path path="circle">
              <a:fillToRect l="32000" t="28000" r="68000" b="72000"/>
            </a:path>
          </a:gradFill>
          <a:ln w="15240" cap="rnd">
            <a:solidFill>
              <a:srgbClr val="1D8348"/>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Na⁺/K⁺</a:t>
            </a:r>
            <a:endParaRPr lang="es-AR" sz="950" dirty="0">
              <a:latin typeface="Fira Sans Condensed"/>
            </a:endParaRPr>
          </a:p>
        </p:txBody>
      </p:sp>
      <p:sp>
        <p:nvSpPr>
          <p:cNvPr id="76" name="Glc luz osm 0"/>
          <p:cNvSpPr/>
          <p:nvPr/>
        </p:nvSpPr>
        <p:spPr>
          <a:xfrm>
            <a:off x="7315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77" name="Glc luz osm 1"/>
          <p:cNvSpPr/>
          <p:nvPr/>
        </p:nvSpPr>
        <p:spPr>
          <a:xfrm>
            <a:off x="14173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78" name="Glc luz osm 2"/>
          <p:cNvSpPr/>
          <p:nvPr/>
        </p:nvSpPr>
        <p:spPr>
          <a:xfrm>
            <a:off x="21031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79" name="Glc luz osm 3"/>
          <p:cNvSpPr/>
          <p:nvPr/>
        </p:nvSpPr>
        <p:spPr>
          <a:xfrm>
            <a:off x="27889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0" name="Glc luz osm 4"/>
          <p:cNvSpPr/>
          <p:nvPr/>
        </p:nvSpPr>
        <p:spPr>
          <a:xfrm>
            <a:off x="34747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1" name="Glc luz osm 5"/>
          <p:cNvSpPr/>
          <p:nvPr/>
        </p:nvSpPr>
        <p:spPr>
          <a:xfrm>
            <a:off x="41605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2" name="Glc luz osm 6"/>
          <p:cNvSpPr/>
          <p:nvPr/>
        </p:nvSpPr>
        <p:spPr>
          <a:xfrm>
            <a:off x="48463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3" name="Glc luz osm 7"/>
          <p:cNvSpPr/>
          <p:nvPr/>
        </p:nvSpPr>
        <p:spPr>
          <a:xfrm>
            <a:off x="55321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4" name="Glc luz osm 8"/>
          <p:cNvSpPr/>
          <p:nvPr/>
        </p:nvSpPr>
        <p:spPr>
          <a:xfrm>
            <a:off x="62179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5" name="Glc luz osm 9"/>
          <p:cNvSpPr/>
          <p:nvPr/>
        </p:nvSpPr>
        <p:spPr>
          <a:xfrm>
            <a:off x="6903720" y="1371600"/>
            <a:ext cx="365760" cy="365760"/>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40" b="1" dirty="0">
                <a:solidFill>
                  <a:srgbClr val="FFFFFF"/>
                </a:solidFill>
                <a:latin typeface="Fira Sans Condensed"/>
                <a:ea typeface="Fira Sans Condensed"/>
                <a:cs typeface="Fira Sans Condensed"/>
                <a:sym typeface="Fira Sans Condensed"/>
              </a:rPr>
              <a:t>Glc</a:t>
            </a:r>
            <a:endParaRPr lang="es-AR" sz="1040" dirty="0">
              <a:latin typeface="Fira Sans Condensed"/>
            </a:endParaRPr>
          </a:p>
        </p:txBody>
      </p:sp>
      <p:sp>
        <p:nvSpPr>
          <p:cNvPr id="86" name="Agua 0"/>
          <p:cNvSpPr/>
          <p:nvPr/>
        </p:nvSpPr>
        <p:spPr>
          <a:xfrm>
            <a:off x="10058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87" name="Agua 1"/>
          <p:cNvSpPr/>
          <p:nvPr/>
        </p:nvSpPr>
        <p:spPr>
          <a:xfrm>
            <a:off x="16916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88" name="Agua 2"/>
          <p:cNvSpPr/>
          <p:nvPr/>
        </p:nvSpPr>
        <p:spPr>
          <a:xfrm>
            <a:off x="23774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89" name="Agua 3"/>
          <p:cNvSpPr/>
          <p:nvPr/>
        </p:nvSpPr>
        <p:spPr>
          <a:xfrm>
            <a:off x="30632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90" name="Agua 4"/>
          <p:cNvSpPr/>
          <p:nvPr/>
        </p:nvSpPr>
        <p:spPr>
          <a:xfrm>
            <a:off x="37490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91" name="Agua 5"/>
          <p:cNvSpPr/>
          <p:nvPr/>
        </p:nvSpPr>
        <p:spPr>
          <a:xfrm>
            <a:off x="44348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92" name="Agua 6"/>
          <p:cNvSpPr/>
          <p:nvPr/>
        </p:nvSpPr>
        <p:spPr>
          <a:xfrm>
            <a:off x="51206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93" name="Agua 7"/>
          <p:cNvSpPr/>
          <p:nvPr/>
        </p:nvSpPr>
        <p:spPr>
          <a:xfrm>
            <a:off x="58064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sp>
        <p:nvSpPr>
          <p:cNvPr id="94" name="Agua 8"/>
          <p:cNvSpPr/>
          <p:nvPr/>
        </p:nvSpPr>
        <p:spPr>
          <a:xfrm>
            <a:off x="6492240" y="1600200"/>
            <a:ext cx="310896" cy="310896"/>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750" b="1" dirty="0">
                <a:solidFill>
                  <a:srgbClr val="1E1E1E"/>
                </a:solidFill>
                <a:latin typeface="Fira Sans Condensed"/>
                <a:ea typeface="Fira Sans Condensed"/>
                <a:cs typeface="Fira Sans Condensed"/>
                <a:sym typeface="Fira Sans Condensed"/>
              </a:rPr>
              <a:t>H₂O</a:t>
            </a:r>
            <a:endParaRPr lang="es-AR" sz="750" dirty="0">
              <a:latin typeface="Fira Sans Condensed"/>
            </a:endParaRPr>
          </a:p>
        </p:txBody>
      </p:sp>
      <p:grpSp>
        <p:nvGrpSpPr>
          <p:cNvPr id="95" name="Electrolitos perdidos"/>
          <p:cNvGrpSpPr/>
          <p:nvPr/>
        </p:nvGrpSpPr>
        <p:grpSpPr>
          <a:xfrm>
            <a:off x="548640" y="1691640"/>
            <a:ext cx="3749040" cy="274320"/>
            <a:chOff x="548640" y="1691640"/>
            <a:chExt cx="3749040" cy="274320"/>
          </a:xfrm>
        </p:grpSpPr>
        <p:sp>
          <p:nvSpPr>
            <p:cNvPr id="96" name="Forma 95"/>
            <p:cNvSpPr/>
            <p:nvPr/>
          </p:nvSpPr>
          <p:spPr>
            <a:xfrm>
              <a:off x="548640" y="1691640"/>
              <a:ext cx="640080" cy="274320"/>
            </a:xfrm>
            <a:prstGeom prst="round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Na⁺</a:t>
              </a:r>
              <a:endParaRPr lang="es-AR" sz="950" dirty="0">
                <a:latin typeface="Fira Sans Condensed"/>
              </a:endParaRPr>
            </a:p>
          </p:txBody>
        </p:sp>
        <p:sp>
          <p:nvSpPr>
            <p:cNvPr id="97" name="Forma 96"/>
            <p:cNvSpPr/>
            <p:nvPr/>
          </p:nvSpPr>
          <p:spPr>
            <a:xfrm>
              <a:off x="1325880" y="1691640"/>
              <a:ext cx="640080" cy="274320"/>
            </a:xfrm>
            <a:prstGeom prst="round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K⁺</a:t>
              </a:r>
              <a:endParaRPr lang="es-AR" sz="950" dirty="0">
                <a:latin typeface="Fira Sans Condensed"/>
              </a:endParaRPr>
            </a:p>
          </p:txBody>
        </p:sp>
        <p:sp>
          <p:nvSpPr>
            <p:cNvPr id="98" name="Forma 97"/>
            <p:cNvSpPr/>
            <p:nvPr/>
          </p:nvSpPr>
          <p:spPr>
            <a:xfrm>
              <a:off x="2103120" y="1691640"/>
              <a:ext cx="640080" cy="274320"/>
            </a:xfrm>
            <a:prstGeom prst="round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Cl⁻</a:t>
              </a:r>
              <a:endParaRPr lang="es-AR" sz="950" dirty="0">
                <a:latin typeface="Fira Sans Condensed"/>
              </a:endParaRPr>
            </a:p>
          </p:txBody>
        </p:sp>
        <p:sp>
          <p:nvSpPr>
            <p:cNvPr id="99" name="Forma 98"/>
            <p:cNvSpPr/>
            <p:nvPr/>
          </p:nvSpPr>
          <p:spPr>
            <a:xfrm>
              <a:off x="2880360" y="1691640"/>
              <a:ext cx="640080" cy="274320"/>
            </a:xfrm>
            <a:prstGeom prst="round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Mg²⁺</a:t>
              </a:r>
              <a:endParaRPr lang="es-AR" sz="950" dirty="0">
                <a:latin typeface="Fira Sans Condensed"/>
              </a:endParaRPr>
            </a:p>
          </p:txBody>
        </p:sp>
        <p:sp>
          <p:nvSpPr>
            <p:cNvPr id="100" name="Forma 99"/>
            <p:cNvSpPr/>
            <p:nvPr/>
          </p:nvSpPr>
          <p:spPr>
            <a:xfrm>
              <a:off x="3657600" y="1691640"/>
              <a:ext cx="640080" cy="274320"/>
            </a:xfrm>
            <a:prstGeom prst="roundRect">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PO₄³⁻</a:t>
              </a:r>
              <a:endParaRPr lang="es-AR" sz="950" dirty="0">
                <a:latin typeface="Fira Sans Condensed"/>
              </a:endParaRPr>
            </a:p>
          </p:txBody>
        </p:sp>
      </p:grpSp>
      <p:grpSp>
        <p:nvGrpSpPr>
          <p:cNvPr id="101" name="Paso 1"/>
          <p:cNvGrpSpPr/>
          <p:nvPr/>
        </p:nvGrpSpPr>
        <p:grpSpPr>
          <a:xfrm>
            <a:off x="7863840" y="1051560"/>
            <a:ext cx="3977640" cy="576072"/>
            <a:chOff x="7863840" y="1051560"/>
            <a:chExt cx="3977640" cy="576072"/>
          </a:xfrm>
        </p:grpSpPr>
        <p:sp>
          <p:nvSpPr>
            <p:cNvPr id="102" name="Forma 101"/>
            <p:cNvSpPr/>
            <p:nvPr/>
          </p:nvSpPr>
          <p:spPr>
            <a:xfrm>
              <a:off x="7863840" y="1051560"/>
              <a:ext cx="397764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La glucosa en la luz </a:t>
              </a:r>
              <a:r>
                <a:rPr lang="es-AR" sz="1350" b="1" dirty="0">
                  <a:solidFill>
                    <a:srgbClr val="1E1E1E"/>
                  </a:solidFill>
                  <a:latin typeface="Fira Sans Condensed"/>
                  <a:ea typeface="Fira Sans Condensed"/>
                  <a:cs typeface="Fira Sans Condensed"/>
                  <a:sym typeface="Fira Sans Condensed"/>
                </a:rPr>
                <a:t>eleva los osmoles</a:t>
              </a:r>
              <a:r>
                <a:rPr lang="es-AR" sz="1350" dirty="0">
                  <a:solidFill>
                    <a:srgbClr val="1E1E1E"/>
                  </a:solidFill>
                  <a:latin typeface="Fira Sans Condensed"/>
                  <a:ea typeface="Fira Sans Condensed"/>
                  <a:cs typeface="Fira Sans Condensed"/>
                  <a:sym typeface="Fira Sans Condensed"/>
                </a:rPr>
                <a:t> y retiene agua.</a:t>
              </a:r>
              <a:endParaRPr lang="es-AR" sz="1350" dirty="0">
                <a:latin typeface="Fira Sans Condensed"/>
              </a:endParaRPr>
            </a:p>
          </p:txBody>
        </p:sp>
        <p:sp>
          <p:nvSpPr>
            <p:cNvPr id="103" name="Forma 102"/>
            <p:cNvSpPr/>
            <p:nvPr/>
          </p:nvSpPr>
          <p:spPr>
            <a:xfrm>
              <a:off x="7955280" y="116586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04" name="Paso 2"/>
          <p:cNvGrpSpPr/>
          <p:nvPr/>
        </p:nvGrpSpPr>
        <p:grpSpPr>
          <a:xfrm>
            <a:off x="7863840" y="1719072"/>
            <a:ext cx="3977640" cy="576072"/>
            <a:chOff x="7863840" y="1719072"/>
            <a:chExt cx="3977640" cy="576072"/>
          </a:xfrm>
        </p:grpSpPr>
        <p:sp>
          <p:nvSpPr>
            <p:cNvPr id="105" name="Forma 104"/>
            <p:cNvSpPr/>
            <p:nvPr/>
          </p:nvSpPr>
          <p:spPr>
            <a:xfrm>
              <a:off x="7863840" y="1719072"/>
              <a:ext cx="397764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Poliuria</a:t>
              </a:r>
              <a:r>
                <a:rPr lang="es-AR" sz="1350" dirty="0">
                  <a:solidFill>
                    <a:srgbClr val="1E1E1E"/>
                  </a:solidFill>
                  <a:latin typeface="Fira Sans Condensed"/>
                  <a:ea typeface="Fira Sans Condensed"/>
                  <a:cs typeface="Fira Sans Condensed"/>
                  <a:sym typeface="Fira Sans Condensed"/>
                </a:rPr>
                <a:t> con pérdida de Na⁺, K⁺, Cl⁻, Mg²⁺ y fosfato.</a:t>
              </a:r>
              <a:endParaRPr lang="es-AR" sz="1350" dirty="0">
                <a:latin typeface="Fira Sans Condensed"/>
              </a:endParaRPr>
            </a:p>
          </p:txBody>
        </p:sp>
        <p:sp>
          <p:nvSpPr>
            <p:cNvPr id="106" name="Forma 105"/>
            <p:cNvSpPr/>
            <p:nvPr/>
          </p:nvSpPr>
          <p:spPr>
            <a:xfrm>
              <a:off x="7955280" y="183337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07" name="Paso 3"/>
          <p:cNvGrpSpPr/>
          <p:nvPr/>
        </p:nvGrpSpPr>
        <p:grpSpPr>
          <a:xfrm>
            <a:off x="7863840" y="2386584"/>
            <a:ext cx="3977640" cy="576072"/>
            <a:chOff x="7863840" y="2386584"/>
            <a:chExt cx="3977640" cy="576072"/>
          </a:xfrm>
        </p:grpSpPr>
        <p:sp>
          <p:nvSpPr>
            <p:cNvPr id="108" name="Forma 107"/>
            <p:cNvSpPr/>
            <p:nvPr/>
          </p:nvSpPr>
          <p:spPr>
            <a:xfrm>
              <a:off x="7863840" y="2386584"/>
              <a:ext cx="397764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Deshidratación</a:t>
              </a:r>
              <a:r>
                <a:rPr lang="es-AR" sz="1350" dirty="0">
                  <a:solidFill>
                    <a:srgbClr val="1E1E1E"/>
                  </a:solidFill>
                  <a:latin typeface="Fira Sans Condensed"/>
                  <a:ea typeface="Fira Sans Condensed"/>
                  <a:cs typeface="Fira Sans Condensed"/>
                  <a:sym typeface="Fira Sans Condensed"/>
                </a:rPr>
                <a:t>: polidipsia, hipotensión, taquicardia.</a:t>
              </a:r>
              <a:endParaRPr lang="es-AR" sz="1350" dirty="0">
                <a:latin typeface="Fira Sans Condensed"/>
              </a:endParaRPr>
            </a:p>
          </p:txBody>
        </p:sp>
        <p:sp>
          <p:nvSpPr>
            <p:cNvPr id="109" name="Forma 108"/>
            <p:cNvSpPr/>
            <p:nvPr/>
          </p:nvSpPr>
          <p:spPr>
            <a:xfrm>
              <a:off x="7955280" y="250088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10" name="Paso 4"/>
          <p:cNvGrpSpPr/>
          <p:nvPr/>
        </p:nvGrpSpPr>
        <p:grpSpPr>
          <a:xfrm>
            <a:off x="7863840" y="3054096"/>
            <a:ext cx="3977640" cy="576072"/>
            <a:chOff x="7863840" y="3054096"/>
            <a:chExt cx="3977640" cy="576072"/>
          </a:xfrm>
        </p:grpSpPr>
        <p:sp>
          <p:nvSpPr>
            <p:cNvPr id="111" name="Forma 110"/>
            <p:cNvSpPr/>
            <p:nvPr/>
          </p:nvSpPr>
          <p:spPr>
            <a:xfrm>
              <a:off x="7863840" y="3054096"/>
              <a:ext cx="397764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FG ↓</a:t>
              </a:r>
              <a:r>
                <a:rPr lang="es-AR" sz="1350" dirty="0">
                  <a:solidFill>
                    <a:srgbClr val="1E1E1E"/>
                  </a:solidFill>
                  <a:latin typeface="Fira Sans Condensed"/>
                  <a:ea typeface="Fira Sans Condensed"/>
                  <a:cs typeface="Fira Sans Condensed"/>
                  <a:sym typeface="Fira Sans Condensed"/>
                </a:rPr>
                <a:t> → menor depuración de glucosa y cetonas: se agrava el cuadro.</a:t>
              </a:r>
              <a:endParaRPr lang="es-AR" sz="1350" dirty="0">
                <a:latin typeface="Fira Sans Condensed"/>
              </a:endParaRPr>
            </a:p>
          </p:txBody>
        </p:sp>
        <p:sp>
          <p:nvSpPr>
            <p:cNvPr id="112" name="Forma 111"/>
            <p:cNvSpPr/>
            <p:nvPr/>
          </p:nvSpPr>
          <p:spPr>
            <a:xfrm>
              <a:off x="7955280" y="316839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D · 5 · DIURESIS OSMÓTICA</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1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6"/>
                                        </p:tgtEl>
                                        <p:attrNameLst>
                                          <p:attrName>style.visibility</p:attrName>
                                        </p:attrNameLst>
                                      </p:cBhvr>
                                      <p:to>
                                        <p:strVal val="visible"/>
                                      </p:to>
                                    </p:set>
                                    <p:animEffect transition="in" filter="fade">
                                      <p:cBhvr>
                                        <p:cTn id="5" dur="80"/>
                                        <p:tgtEl>
                                          <p:spTgt spid="86"/>
                                        </p:tgtEl>
                                      </p:cBhvr>
                                    </p:animEffect>
                                  </p:childTnLst>
                                </p:cTn>
                              </p:par>
                            </p:childTnLst>
                          </p:cTn>
                        </p:par>
                        <p:par>
                          <p:cTn id="10" fill="hold">
                            <p:stCondLst>
                              <p:cond delay="80"/>
                            </p:stCondLst>
                            <p:childTnLst>
                              <p:par>
                                <p:cTn id="7" presetID="10" presetClass="entr" presetSubtype="0" fill="hold" grpId="0" nodeType="afterEffect">
                                  <p:stCondLst>
                                    <p:cond delay="0"/>
                                  </p:stCondLst>
                                  <p:childTnLst>
                                    <p:set>
                                      <p:cBhvr>
                                        <p:cTn id="8" dur="1" fill="hold">
                                          <p:stCondLst>
                                            <p:cond delay="0"/>
                                          </p:stCondLst>
                                        </p:cTn>
                                        <p:tgtEl>
                                          <p:spTgt spid="87"/>
                                        </p:tgtEl>
                                        <p:attrNameLst>
                                          <p:attrName>style.visibility</p:attrName>
                                        </p:attrNameLst>
                                      </p:cBhvr>
                                      <p:to>
                                        <p:strVal val="visible"/>
                                      </p:to>
                                    </p:set>
                                    <p:animEffect transition="in" filter="fade">
                                      <p:cBhvr>
                                        <p:cTn id="9" dur="80"/>
                                        <p:tgtEl>
                                          <p:spTgt spid="87"/>
                                        </p:tgtEl>
                                      </p:cBhvr>
                                    </p:animEffect>
                                  </p:childTnLst>
                                </p:cTn>
                              </p:par>
                            </p:childTnLst>
                          </p:cTn>
                        </p:par>
                        <p:par>
                          <p:cTn id="14" fill="hold">
                            <p:stCondLst>
                              <p:cond delay="160"/>
                            </p:stCondLst>
                            <p:childTnLst>
                              <p:par>
                                <p:cTn id="11" presetID="10" presetClass="entr" presetSubtype="0" fill="hold" grpId="0" nodeType="afterEffect">
                                  <p:stCondLst>
                                    <p:cond delay="0"/>
                                  </p:stCondLst>
                                  <p:childTnLst>
                                    <p:set>
                                      <p:cBhvr>
                                        <p:cTn id="12" dur="1" fill="hold">
                                          <p:stCondLst>
                                            <p:cond delay="0"/>
                                          </p:stCondLst>
                                        </p:cTn>
                                        <p:tgtEl>
                                          <p:spTgt spid="88"/>
                                        </p:tgtEl>
                                        <p:attrNameLst>
                                          <p:attrName>style.visibility</p:attrName>
                                        </p:attrNameLst>
                                      </p:cBhvr>
                                      <p:to>
                                        <p:strVal val="visible"/>
                                      </p:to>
                                    </p:set>
                                    <p:animEffect transition="in" filter="fade">
                                      <p:cBhvr>
                                        <p:cTn id="13" dur="80"/>
                                        <p:tgtEl>
                                          <p:spTgt spid="88"/>
                                        </p:tgtEl>
                                      </p:cBhvr>
                                    </p:animEffect>
                                  </p:childTnLst>
                                </p:cTn>
                              </p:par>
                            </p:childTnLst>
                          </p:cTn>
                        </p:par>
                        <p:par>
                          <p:cTn id="18" fill="hold">
                            <p:stCondLst>
                              <p:cond delay="240"/>
                            </p:stCondLst>
                            <p:childTnLst>
                              <p:par>
                                <p:cTn id="15" presetID="10" presetClass="entr" presetSubtype="0" fill="hold" grpId="0" nodeType="after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fade">
                                      <p:cBhvr>
                                        <p:cTn id="17" dur="80"/>
                                        <p:tgtEl>
                                          <p:spTgt spid="89"/>
                                        </p:tgtEl>
                                      </p:cBhvr>
                                    </p:animEffect>
                                  </p:childTnLst>
                                </p:cTn>
                              </p:par>
                            </p:childTnLst>
                          </p:cTn>
                        </p:par>
                        <p:par>
                          <p:cTn id="22" fill="hold">
                            <p:stCondLst>
                              <p:cond delay="320"/>
                            </p:stCondLst>
                            <p:childTnLst>
                              <p:par>
                                <p:cTn id="19" presetID="10" presetClass="entr" presetSubtype="0" fill="hold" grpId="0" nodeType="afterEffect">
                                  <p:stCondLst>
                                    <p:cond delay="0"/>
                                  </p:stCondLst>
                                  <p:childTnLst>
                                    <p:set>
                                      <p:cBhvr>
                                        <p:cTn id="20" dur="1" fill="hold">
                                          <p:stCondLst>
                                            <p:cond delay="0"/>
                                          </p:stCondLst>
                                        </p:cTn>
                                        <p:tgtEl>
                                          <p:spTgt spid="90"/>
                                        </p:tgtEl>
                                        <p:attrNameLst>
                                          <p:attrName>style.visibility</p:attrName>
                                        </p:attrNameLst>
                                      </p:cBhvr>
                                      <p:to>
                                        <p:strVal val="visible"/>
                                      </p:to>
                                    </p:set>
                                    <p:animEffect transition="in" filter="fade">
                                      <p:cBhvr>
                                        <p:cTn id="21" dur="80"/>
                                        <p:tgtEl>
                                          <p:spTgt spid="90"/>
                                        </p:tgtEl>
                                      </p:cBhvr>
                                    </p:animEffect>
                                  </p:childTnLst>
                                </p:cTn>
                              </p:par>
                            </p:childTnLst>
                          </p:cTn>
                        </p:par>
                        <p:par>
                          <p:cTn id="26" fill="hold">
                            <p:stCondLst>
                              <p:cond delay="400"/>
                            </p:stCondLst>
                            <p:childTnLst>
                              <p:par>
                                <p:cTn id="23" presetID="10" presetClass="entr" presetSubtype="0" fill="hold" grpId="0" nodeType="afterEffect">
                                  <p:stCondLst>
                                    <p:cond delay="0"/>
                                  </p:stCondLst>
                                  <p:childTnLst>
                                    <p:set>
                                      <p:cBhvr>
                                        <p:cTn id="24" dur="1" fill="hold">
                                          <p:stCondLst>
                                            <p:cond delay="0"/>
                                          </p:stCondLst>
                                        </p:cTn>
                                        <p:tgtEl>
                                          <p:spTgt spid="91"/>
                                        </p:tgtEl>
                                        <p:attrNameLst>
                                          <p:attrName>style.visibility</p:attrName>
                                        </p:attrNameLst>
                                      </p:cBhvr>
                                      <p:to>
                                        <p:strVal val="visible"/>
                                      </p:to>
                                    </p:set>
                                    <p:animEffect transition="in" filter="fade">
                                      <p:cBhvr>
                                        <p:cTn id="25" dur="80"/>
                                        <p:tgtEl>
                                          <p:spTgt spid="91"/>
                                        </p:tgtEl>
                                      </p:cBhvr>
                                    </p:animEffect>
                                  </p:childTnLst>
                                </p:cTn>
                              </p:par>
                            </p:childTnLst>
                          </p:cTn>
                        </p:par>
                        <p:par>
                          <p:cTn id="30" fill="hold">
                            <p:stCondLst>
                              <p:cond delay="480"/>
                            </p:stCondLst>
                            <p:childTnLst>
                              <p:par>
                                <p:cTn id="27" presetID="10" presetClass="entr" presetSubtype="0" fill="hold" grpId="0" nodeType="after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fade">
                                      <p:cBhvr>
                                        <p:cTn id="29" dur="80"/>
                                        <p:tgtEl>
                                          <p:spTgt spid="92"/>
                                        </p:tgtEl>
                                      </p:cBhvr>
                                    </p:animEffect>
                                  </p:childTnLst>
                                </p:cTn>
                              </p:par>
                            </p:childTnLst>
                          </p:cTn>
                        </p:par>
                        <p:par>
                          <p:cTn id="34" fill="hold">
                            <p:stCondLst>
                              <p:cond delay="560"/>
                            </p:stCondLst>
                            <p:childTnLst>
                              <p:par>
                                <p:cTn id="31" presetID="10" presetClass="entr" presetSubtype="0" fill="hold" grpId="0" nodeType="afterEffect">
                                  <p:stCondLst>
                                    <p:cond delay="0"/>
                                  </p:stCondLst>
                                  <p:childTnLst>
                                    <p:set>
                                      <p:cBhvr>
                                        <p:cTn id="32" dur="1" fill="hold">
                                          <p:stCondLst>
                                            <p:cond delay="0"/>
                                          </p:stCondLst>
                                        </p:cTn>
                                        <p:tgtEl>
                                          <p:spTgt spid="93"/>
                                        </p:tgtEl>
                                        <p:attrNameLst>
                                          <p:attrName>style.visibility</p:attrName>
                                        </p:attrNameLst>
                                      </p:cBhvr>
                                      <p:to>
                                        <p:strVal val="visible"/>
                                      </p:to>
                                    </p:set>
                                    <p:animEffect transition="in" filter="fade">
                                      <p:cBhvr>
                                        <p:cTn id="33" dur="80"/>
                                        <p:tgtEl>
                                          <p:spTgt spid="93"/>
                                        </p:tgtEl>
                                      </p:cBhvr>
                                    </p:animEffect>
                                  </p:childTnLst>
                                </p:cTn>
                              </p:par>
                            </p:childTnLst>
                          </p:cTn>
                        </p:par>
                        <p:par>
                          <p:cTn id="38" fill="hold">
                            <p:stCondLst>
                              <p:cond delay="640"/>
                            </p:stCondLst>
                            <p:childTnLst>
                              <p:par>
                                <p:cTn id="35" presetID="10" presetClass="entr" presetSubtype="0" fill="hold" grpId="0" nodeType="after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fade">
                                      <p:cBhvr>
                                        <p:cTn id="37" dur="80"/>
                                        <p:tgtEl>
                                          <p:spTgt spid="94"/>
                                        </p:tgtEl>
                                      </p:cBhvr>
                                    </p:animEffect>
                                  </p:childTnLst>
                                </p:cTn>
                              </p:par>
                            </p:childTnLst>
                          </p:cTn>
                        </p:par>
                        <p:par>
                          <p:cTn id="42" fill="hold">
                            <p:stCondLst>
                              <p:cond delay="720"/>
                            </p:stCondLst>
                            <p:childTnLst>
                              <p:par>
                                <p:cTn id="39" presetID="10" presetClass="entr" presetSubtype="0" fill="hold" grpId="0" nodeType="afterEffect">
                                  <p:stCondLst>
                                    <p:cond delay="0"/>
                                  </p:stCondLst>
                                  <p:childTnLst>
                                    <p:set>
                                      <p:cBhvr>
                                        <p:cTn id="40" dur="1" fill="hold">
                                          <p:stCondLst>
                                            <p:cond delay="0"/>
                                          </p:stCondLst>
                                        </p:cTn>
                                        <p:tgtEl>
                                          <p:spTgt spid="101"/>
                                        </p:tgtEl>
                                        <p:attrNameLst>
                                          <p:attrName>style.visibility</p:attrName>
                                        </p:attrNameLst>
                                      </p:cBhvr>
                                      <p:to>
                                        <p:strVal val="visible"/>
                                      </p:to>
                                    </p:set>
                                    <p:animEffect transition="in" filter="fade">
                                      <p:cBhvr>
                                        <p:cTn id="41" dur="500"/>
                                        <p:tgtEl>
                                          <p:spTgt spid="101"/>
                                        </p:tgtEl>
                                      </p:cBhvr>
                                    </p:animEffect>
                                  </p:childTnLst>
                                </p:cTn>
                              </p:par>
                            </p:childTnLst>
                          </p:cTn>
                        </p:par>
                      </p:childTnLst>
                    </p:cTn>
                  </p:par>
                  <p:par>
                    <p:cTn id="63" fill="hold">
                      <p:stCondLst>
                        <p:cond delay="indefinite"/>
                      </p:stCondLst>
                      <p:childTnLst>
                        <p:par>
                          <p:cTn id="54" fill="hold">
                            <p:stCondLst>
                              <p:cond delay="0"/>
                            </p:stCondLst>
                            <p:childTnLst>
                              <p:par>
                                <p:cTn id="44" presetID="0" presetClass="path" presetSubtype="0" accel="20000" decel="20000" fill="hold" grpId="0" nodeType="clickEffect">
                                  <p:stCondLst>
                                    <p:cond delay="0"/>
                                  </p:stCondLst>
                                  <p:childTnLst>
                                    <p:animMotion origin="layout" path="M 0 0 L 0.0000 0.6667 E" pathEditMode="relative" ptsTypes="">
                                      <p:cBhvr>
                                        <p:cTn id="45" dur="1500" fill="hold"/>
                                        <p:tgtEl>
                                          <p:spTgt spid="86"/>
                                        </p:tgtEl>
                                        <p:attrNameLst>
                                          <p:attrName>ppt_x</p:attrName>
                                          <p:attrName>ppt_y</p:attrName>
                                        </p:attrNameLst>
                                      </p:cBhvr>
                                      <p:rCtr x="0" y="33333"/>
                                    </p:animMotion>
                                  </p:childTnLst>
                                </p:cTn>
                              </p:par>
                              <p:par>
                                <p:cTn id="46" presetID="0" presetClass="path" presetSubtype="0" accel="20000" decel="20000" fill="hold" grpId="0" nodeType="withEffect">
                                  <p:stCondLst>
                                    <p:cond delay="0"/>
                                  </p:stCondLst>
                                  <p:childTnLst>
                                    <p:animMotion origin="layout" path="M 0 0 L 0.0000 0.6667 E" pathEditMode="relative" ptsTypes="">
                                      <p:cBhvr>
                                        <p:cTn id="47" dur="1500" fill="hold"/>
                                        <p:tgtEl>
                                          <p:spTgt spid="87"/>
                                        </p:tgtEl>
                                        <p:attrNameLst>
                                          <p:attrName>ppt_x</p:attrName>
                                          <p:attrName>ppt_y</p:attrName>
                                        </p:attrNameLst>
                                      </p:cBhvr>
                                      <p:rCtr x="0" y="33333"/>
                                    </p:animMotion>
                                  </p:childTnLst>
                                </p:cTn>
                              </p:par>
                              <p:par>
                                <p:cTn id="48" presetID="0" presetClass="path" presetSubtype="0" accel="20000" decel="20000" fill="hold" grpId="0" nodeType="withEffect">
                                  <p:stCondLst>
                                    <p:cond delay="0"/>
                                  </p:stCondLst>
                                  <p:childTnLst>
                                    <p:animMotion origin="layout" path="M 0 0 L 0.0000 0.6667 E" pathEditMode="relative" ptsTypes="">
                                      <p:cBhvr>
                                        <p:cTn id="49" dur="1500" fill="hold"/>
                                        <p:tgtEl>
                                          <p:spTgt spid="88"/>
                                        </p:tgtEl>
                                        <p:attrNameLst>
                                          <p:attrName>ppt_x</p:attrName>
                                          <p:attrName>ppt_y</p:attrName>
                                        </p:attrNameLst>
                                      </p:cBhvr>
                                      <p:rCtr x="0" y="33333"/>
                                    </p:animMotion>
                                  </p:childTnLst>
                                </p:cTn>
                              </p:par>
                              <p:par>
                                <p:cTn id="50" presetID="0" presetClass="path" presetSubtype="0" accel="20000" decel="20000" fill="hold" grpId="0" nodeType="withEffect">
                                  <p:stCondLst>
                                    <p:cond delay="0"/>
                                  </p:stCondLst>
                                  <p:childTnLst>
                                    <p:animMotion origin="layout" path="M 0 0 L 0.0000 0.6667 E" pathEditMode="relative" ptsTypes="">
                                      <p:cBhvr>
                                        <p:cTn id="51" dur="1500" fill="hold"/>
                                        <p:tgtEl>
                                          <p:spTgt spid="89"/>
                                        </p:tgtEl>
                                        <p:attrNameLst>
                                          <p:attrName>ppt_x</p:attrName>
                                          <p:attrName>ppt_y</p:attrName>
                                        </p:attrNameLst>
                                      </p:cBhvr>
                                      <p:rCtr x="0" y="33333"/>
                                    </p:animMotion>
                                  </p:childTnLst>
                                </p:cTn>
                              </p:par>
                              <p:par>
                                <p:cTn id="52" presetID="0" presetClass="path" presetSubtype="0" accel="20000" decel="20000" fill="hold" grpId="0" nodeType="withEffect">
                                  <p:stCondLst>
                                    <p:cond delay="0"/>
                                  </p:stCondLst>
                                  <p:childTnLst>
                                    <p:animMotion origin="layout" path="M 0 0 L 0.0000 0.6667 E" pathEditMode="relative" ptsTypes="">
                                      <p:cBhvr>
                                        <p:cTn id="53" dur="1500" fill="hold"/>
                                        <p:tgtEl>
                                          <p:spTgt spid="90"/>
                                        </p:tgtEl>
                                        <p:attrNameLst>
                                          <p:attrName>ppt_x</p:attrName>
                                          <p:attrName>ppt_y</p:attrName>
                                        </p:attrNameLst>
                                      </p:cBhvr>
                                      <p:rCtr x="0" y="33333"/>
                                    </p:animMotion>
                                  </p:childTnLst>
                                </p:cTn>
                              </p:par>
                            </p:childTnLst>
                          </p:cTn>
                        </p:par>
                        <p:par>
                          <p:cTn id="58" fill="hold">
                            <p:stCondLst>
                              <p:cond delay="1500"/>
                            </p:stCondLst>
                            <p:childTnLst>
                              <p:par>
                                <p:cTn id="55" presetID="10" presetClass="entr" presetSubtype="0" fill="hold" grpId="0" nodeType="afterEffect">
                                  <p:stCondLst>
                                    <p:cond delay="0"/>
                                  </p:stCondLst>
                                  <p:childTnLst>
                                    <p:set>
                                      <p:cBhvr>
                                        <p:cTn id="56" dur="1" fill="hold">
                                          <p:stCondLst>
                                            <p:cond delay="0"/>
                                          </p:stCondLst>
                                        </p:cTn>
                                        <p:tgtEl>
                                          <p:spTgt spid="95"/>
                                        </p:tgtEl>
                                        <p:attrNameLst>
                                          <p:attrName>style.visibility</p:attrName>
                                        </p:attrNameLst>
                                      </p:cBhvr>
                                      <p:to>
                                        <p:strVal val="visible"/>
                                      </p:to>
                                    </p:set>
                                    <p:animEffect transition="in" filter="fade">
                                      <p:cBhvr>
                                        <p:cTn id="57" dur="500"/>
                                        <p:tgtEl>
                                          <p:spTgt spid="95"/>
                                        </p:tgtEl>
                                      </p:cBhvr>
                                    </p:animEffect>
                                  </p:childTnLst>
                                </p:cTn>
                              </p:par>
                            </p:childTnLst>
                          </p:cTn>
                        </p:par>
                        <p:par>
                          <p:cTn id="62" fill="hold">
                            <p:stCondLst>
                              <p:cond delay="2000"/>
                            </p:stCondLst>
                            <p:childTnLst>
                              <p:par>
                                <p:cTn id="59" presetID="10" presetClass="entr" presetSubtype="0" fill="hold" grpId="0"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childTnLst>
                                </p:cTn>
                              </p:par>
                            </p:childTnLst>
                          </p:cTn>
                        </p:par>
                      </p:childTnLst>
                    </p:cTn>
                  </p:par>
                  <p:par>
                    <p:cTn id="68" fill="hold">
                      <p:stCondLst>
                        <p:cond delay="indefinite"/>
                      </p:stCondLst>
                      <p:childTnLst>
                        <p:par>
                          <p:cTn id="67"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07"/>
                                        </p:tgtEl>
                                        <p:attrNameLst>
                                          <p:attrName>style.visibility</p:attrName>
                                        </p:attrNameLst>
                                      </p:cBhvr>
                                      <p:to>
                                        <p:strVal val="visible"/>
                                      </p:to>
                                    </p:set>
                                    <p:animEffect transition="in" filter="fade">
                                      <p:cBhvr>
                                        <p:cTn id="66" dur="500"/>
                                        <p:tgtEl>
                                          <p:spTgt spid="107"/>
                                        </p:tgtEl>
                                      </p:cBhvr>
                                    </p:animEffect>
                                  </p:childTnLst>
                                </p:cTn>
                              </p:par>
                            </p:childTnLst>
                          </p:cTn>
                        </p:par>
                      </p:childTnLst>
                    </p:cTn>
                  </p:par>
                  <p:par>
                    <p:cTn id="73" fill="hold">
                      <p:stCondLst>
                        <p:cond delay="indefinite"/>
                      </p:stCondLst>
                      <p:childTnLst>
                        <p:par>
                          <p:cTn id="72"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10"/>
                                        </p:tgtEl>
                                        <p:attrNameLst>
                                          <p:attrName>style.visibility</p:attrName>
                                        </p:attrNameLst>
                                      </p:cBhvr>
                                      <p:to>
                                        <p:strVal val="visible"/>
                                      </p:to>
                                    </p:set>
                                    <p:animEffect transition="in" filter="fade">
                                      <p:cBhvr>
                                        <p:cTn id="71"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88" grpId="0" animBg="1"/>
      <p:bldP spid="89" grpId="0" animBg="1"/>
      <p:bldP spid="90" grpId="0" animBg="1"/>
      <p:bldP spid="91" grpId="0" animBg="1"/>
      <p:bldP spid="92" grpId="0" animBg="1"/>
      <p:bldP spid="93" grpId="0" animBg="1"/>
      <p:bldP spid="94"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Célula K"/>
          <p:cNvSpPr/>
          <p:nvPr/>
        </p:nvSpPr>
        <p:spPr>
          <a:xfrm>
            <a:off x="365760" y="1097280"/>
            <a:ext cx="5486400" cy="3931920"/>
          </a:xfrm>
          <a:prstGeom prst="roundRect">
            <a:avLst>
              <a:gd name="adj" fmla="val 10000"/>
            </a:avLst>
          </a:prstGeom>
          <a:gradFill rotWithShape="1">
            <a:gsLst>
              <a:gs pos="0">
                <a:srgbClr val="FDEDEC"/>
              </a:gs>
              <a:gs pos="100000">
                <a:srgbClr val="F5B7B1"/>
              </a:gs>
            </a:gsLst>
            <a:lin ang="5400000" scaled="0"/>
          </a:gradFill>
          <a:ln w="38100" cap="rnd">
            <a:solidFill>
              <a:srgbClr val="B03A2E"/>
            </a:solidFill>
            <a:round/>
          </a:ln>
          <a:effectLst>
            <a:outerShdw blurRad="63500" dist="38100" dir="2700000" algn="tl" rotWithShape="0">
              <a:srgbClr val="000000">
                <a:alpha val="32000"/>
              </a:srgbClr>
            </a:outerShdw>
          </a:effectLst>
        </p:spPr>
      </p:sp>
      <p:sp>
        <p:nvSpPr>
          <p:cNvPr id="7" name="Forma 6"/>
          <p:cNvSpPr txBox="1"/>
          <p:nvPr/>
        </p:nvSpPr>
        <p:spPr>
          <a:xfrm>
            <a:off x="548640" y="118872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INTRACELULAR (≈98 % del K⁺)</a:t>
            </a:r>
            <a:endParaRPr lang="es-AR" sz="1250" dirty="0">
              <a:latin typeface="Fira Sans Condensed"/>
            </a:endParaRPr>
          </a:p>
        </p:txBody>
      </p:sp>
      <p:sp>
        <p:nvSpPr>
          <p:cNvPr id="8" name="K intra 0"/>
          <p:cNvSpPr/>
          <p:nvPr/>
        </p:nvSpPr>
        <p:spPr>
          <a:xfrm>
            <a:off x="82296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9" name="K intra 1"/>
          <p:cNvSpPr/>
          <p:nvPr/>
        </p:nvSpPr>
        <p:spPr>
          <a:xfrm>
            <a:off x="160020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0" name="K intra 2"/>
          <p:cNvSpPr/>
          <p:nvPr/>
        </p:nvSpPr>
        <p:spPr>
          <a:xfrm>
            <a:off x="237744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1" name="K intra 3"/>
          <p:cNvSpPr/>
          <p:nvPr/>
        </p:nvSpPr>
        <p:spPr>
          <a:xfrm>
            <a:off x="315468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2" name="K intra 4"/>
          <p:cNvSpPr/>
          <p:nvPr/>
        </p:nvSpPr>
        <p:spPr>
          <a:xfrm>
            <a:off x="393192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3" name="K intra 5"/>
          <p:cNvSpPr/>
          <p:nvPr/>
        </p:nvSpPr>
        <p:spPr>
          <a:xfrm>
            <a:off x="4709160" y="182880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4" name="K intra 6"/>
          <p:cNvSpPr/>
          <p:nvPr/>
        </p:nvSpPr>
        <p:spPr>
          <a:xfrm>
            <a:off x="82296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5" name="K intra 7"/>
          <p:cNvSpPr/>
          <p:nvPr/>
        </p:nvSpPr>
        <p:spPr>
          <a:xfrm>
            <a:off x="160020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6" name="K intra 8"/>
          <p:cNvSpPr/>
          <p:nvPr/>
        </p:nvSpPr>
        <p:spPr>
          <a:xfrm>
            <a:off x="237744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7" name="K intra 9"/>
          <p:cNvSpPr/>
          <p:nvPr/>
        </p:nvSpPr>
        <p:spPr>
          <a:xfrm>
            <a:off x="315468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8" name="K intra 10"/>
          <p:cNvSpPr/>
          <p:nvPr/>
        </p:nvSpPr>
        <p:spPr>
          <a:xfrm>
            <a:off x="393192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19" name="K intra 11"/>
          <p:cNvSpPr/>
          <p:nvPr/>
        </p:nvSpPr>
        <p:spPr>
          <a:xfrm>
            <a:off x="4709160" y="237744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0" name="K intra 12"/>
          <p:cNvSpPr/>
          <p:nvPr/>
        </p:nvSpPr>
        <p:spPr>
          <a:xfrm>
            <a:off x="82296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1" name="K intra 13"/>
          <p:cNvSpPr/>
          <p:nvPr/>
        </p:nvSpPr>
        <p:spPr>
          <a:xfrm>
            <a:off x="160020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2" name="K intra 14"/>
          <p:cNvSpPr/>
          <p:nvPr/>
        </p:nvSpPr>
        <p:spPr>
          <a:xfrm>
            <a:off x="237744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3" name="K intra 15"/>
          <p:cNvSpPr/>
          <p:nvPr/>
        </p:nvSpPr>
        <p:spPr>
          <a:xfrm>
            <a:off x="315468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4" name="K intra 16"/>
          <p:cNvSpPr/>
          <p:nvPr/>
        </p:nvSpPr>
        <p:spPr>
          <a:xfrm>
            <a:off x="393192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sp>
        <p:nvSpPr>
          <p:cNvPr id="25" name="K intra 17"/>
          <p:cNvSpPr/>
          <p:nvPr/>
        </p:nvSpPr>
        <p:spPr>
          <a:xfrm>
            <a:off x="4709160" y="2926080"/>
            <a:ext cx="384048" cy="384048"/>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212" b="1" dirty="0">
                <a:solidFill>
                  <a:srgbClr val="FFFFFF"/>
                </a:solidFill>
                <a:latin typeface="Fira Sans Condensed"/>
                <a:ea typeface="Fira Sans Condensed"/>
                <a:cs typeface="Fira Sans Condensed"/>
                <a:sym typeface="Fira Sans Condensed"/>
              </a:rPr>
              <a:t>K</a:t>
            </a:r>
            <a:r>
              <a:rPr lang="es-AR" sz="1212" b="1" baseline="30000" dirty="0">
                <a:solidFill>
                  <a:srgbClr val="FFFFFF"/>
                </a:solidFill>
                <a:latin typeface="Fira Sans Condensed"/>
                <a:ea typeface="Fira Sans Condensed"/>
                <a:cs typeface="Fira Sans Condensed"/>
                <a:sym typeface="Fira Sans Condensed"/>
              </a:rPr>
              <a:t>+</a:t>
            </a:r>
            <a:endParaRPr lang="es-AR" sz="1212" dirty="0">
              <a:latin typeface="Fira Sans Condensed"/>
            </a:endParaRPr>
          </a:p>
        </p:txBody>
      </p:sp>
      <p:grpSp>
        <p:nvGrpSpPr>
          <p:cNvPr id="26" name="Causa Insulinopenia"/>
          <p:cNvGrpSpPr/>
          <p:nvPr/>
        </p:nvGrpSpPr>
        <p:grpSpPr>
          <a:xfrm>
            <a:off x="6172200" y="1051560"/>
            <a:ext cx="5669280" cy="502920"/>
            <a:chOff x="6172200" y="1051560"/>
            <a:chExt cx="5669280" cy="502920"/>
          </a:xfrm>
        </p:grpSpPr>
        <p:sp>
          <p:nvSpPr>
            <p:cNvPr id="27" name="Recuadro Insulinopenia"/>
            <p:cNvSpPr/>
            <p:nvPr/>
          </p:nvSpPr>
          <p:spPr>
            <a:xfrm>
              <a:off x="6172200" y="109728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Insulinopenia</a:t>
              </a:r>
              <a:endParaRPr lang="es-AR" sz="1350" dirty="0">
                <a:latin typeface="Fira Sans Condensed"/>
              </a:endParaRPr>
            </a:p>
          </p:txBody>
        </p:sp>
        <p:sp>
          <p:nvSpPr>
            <p:cNvPr id="28" name="Forma 27"/>
            <p:cNvSpPr txBox="1"/>
            <p:nvPr/>
          </p:nvSpPr>
          <p:spPr>
            <a:xfrm>
              <a:off x="8183880" y="1051560"/>
              <a:ext cx="3657600" cy="502920"/>
            </a:xfrm>
            <a:prstGeom prst="rect">
              <a:avLst/>
            </a:prstGeom>
            <a:noFill/>
            <a:ln>
              <a:noFill/>
            </a:ln>
          </p:spPr>
          <p:txBody>
            <a:bodyPr wrap="square" lIns="0" tIns="0" rIns="0" bIns="0"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Na⁺/K⁺-ATPasa menos estimulada</a:t>
              </a:r>
              <a:endParaRPr lang="es-AR" sz="1300" dirty="0">
                <a:latin typeface="Fira Sans Condensed"/>
              </a:endParaRPr>
            </a:p>
          </p:txBody>
        </p:sp>
      </p:grpSp>
      <p:grpSp>
        <p:nvGrpSpPr>
          <p:cNvPr id="29" name="Causa Acidosis"/>
          <p:cNvGrpSpPr/>
          <p:nvPr/>
        </p:nvGrpSpPr>
        <p:grpSpPr>
          <a:xfrm>
            <a:off x="6172200" y="1965960"/>
            <a:ext cx="5669280" cy="502920"/>
            <a:chOff x="6172200" y="1965960"/>
            <a:chExt cx="5669280" cy="502920"/>
          </a:xfrm>
        </p:grpSpPr>
        <p:sp>
          <p:nvSpPr>
            <p:cNvPr id="30" name="Recuadro Acidosis"/>
            <p:cNvSpPr/>
            <p:nvPr/>
          </p:nvSpPr>
          <p:spPr>
            <a:xfrm>
              <a:off x="6172200" y="201168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Acidosis</a:t>
              </a:r>
              <a:endParaRPr lang="es-AR" sz="1350" dirty="0">
                <a:latin typeface="Fira Sans Condensed"/>
              </a:endParaRPr>
            </a:p>
          </p:txBody>
        </p:sp>
        <p:sp>
          <p:nvSpPr>
            <p:cNvPr id="31" name="Forma 30"/>
            <p:cNvSpPr txBox="1"/>
            <p:nvPr/>
          </p:nvSpPr>
          <p:spPr>
            <a:xfrm>
              <a:off x="8183880" y="1965960"/>
              <a:ext cx="3657600" cy="502920"/>
            </a:xfrm>
            <a:prstGeom prst="rect">
              <a:avLst/>
            </a:prstGeom>
            <a:noFill/>
            <a:ln>
              <a:noFill/>
            </a:ln>
          </p:spPr>
          <p:txBody>
            <a:bodyPr wrap="square" lIns="0" tIns="0" rIns="0" bIns="0"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intercambio H⁺/K⁺ (más en acidosis mineral)</a:t>
              </a:r>
              <a:endParaRPr lang="es-AR" sz="1300" dirty="0">
                <a:latin typeface="Fira Sans Condensed"/>
              </a:endParaRPr>
            </a:p>
          </p:txBody>
        </p:sp>
      </p:grpSp>
      <p:grpSp>
        <p:nvGrpSpPr>
          <p:cNvPr id="32" name="Causa Hiperosmolalidad"/>
          <p:cNvGrpSpPr/>
          <p:nvPr/>
        </p:nvGrpSpPr>
        <p:grpSpPr>
          <a:xfrm>
            <a:off x="6172200" y="2880360"/>
            <a:ext cx="5669280" cy="502920"/>
            <a:chOff x="6172200" y="2880360"/>
            <a:chExt cx="5669280" cy="502920"/>
          </a:xfrm>
        </p:grpSpPr>
        <p:sp>
          <p:nvSpPr>
            <p:cNvPr id="33" name="Recuadro Hiperosmolalidad"/>
            <p:cNvSpPr/>
            <p:nvPr/>
          </p:nvSpPr>
          <p:spPr>
            <a:xfrm>
              <a:off x="6172200" y="2926080"/>
              <a:ext cx="19202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Hiperosmolalidad</a:t>
              </a:r>
              <a:endParaRPr lang="es-AR" sz="1350" dirty="0">
                <a:latin typeface="Fira Sans Condensed"/>
              </a:endParaRPr>
            </a:p>
          </p:txBody>
        </p:sp>
        <p:sp>
          <p:nvSpPr>
            <p:cNvPr id="34" name="Forma 33"/>
            <p:cNvSpPr txBox="1"/>
            <p:nvPr/>
          </p:nvSpPr>
          <p:spPr>
            <a:xfrm>
              <a:off x="8183880" y="2880360"/>
              <a:ext cx="3657600" cy="502920"/>
            </a:xfrm>
            <a:prstGeom prst="rect">
              <a:avLst/>
            </a:prstGeom>
            <a:noFill/>
            <a:ln>
              <a:noFill/>
            </a:ln>
          </p:spPr>
          <p:txBody>
            <a:bodyPr wrap="square" lIns="0" tIns="0" rIns="0" bIns="0"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salida de agua arrastra K⁺</a:t>
              </a:r>
              <a:endParaRPr lang="es-AR" sz="1300" dirty="0">
                <a:latin typeface="Fira Sans Condensed"/>
              </a:endParaRPr>
            </a:p>
          </p:txBody>
        </p:sp>
      </p:grpSp>
      <p:sp>
        <p:nvSpPr>
          <p:cNvPr id="35" name="Recuadro ORINA (diuresis osmóti"/>
          <p:cNvSpPr/>
          <p:nvPr/>
        </p:nvSpPr>
        <p:spPr>
          <a:xfrm>
            <a:off x="6172200" y="3886200"/>
            <a:ext cx="566928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ORINA (diuresis osmótica) + vómitos: K⁺ TOTAL ↓</a:t>
            </a:r>
            <a:endParaRPr lang="es-AR" sz="1400" dirty="0">
              <a:latin typeface="Fira Sans Condensed"/>
            </a:endParaRPr>
          </a:p>
        </p:txBody>
      </p:sp>
      <p:sp>
        <p:nvSpPr>
          <p:cNvPr id="36" name="Recuadro Al reponer insulina: K"/>
          <p:cNvSpPr/>
          <p:nvPr/>
        </p:nvSpPr>
        <p:spPr>
          <a:xfrm>
            <a:off x="365760" y="5257800"/>
            <a:ext cx="54864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Al reponer insulina: K⁺ ENTRA RÁPIDO A LA CÉLULA</a:t>
            </a:r>
            <a:endParaRPr lang="es-AR" sz="1400" dirty="0">
              <a:latin typeface="Fira Sans Condensed"/>
            </a:endParaRPr>
          </a:p>
        </p:txBody>
      </p:sp>
      <p:sp>
        <p:nvSpPr>
          <p:cNvPr id="37" name="Perla clínica"/>
          <p:cNvSpPr/>
          <p:nvPr/>
        </p:nvSpPr>
        <p:spPr>
          <a:xfrm>
            <a:off x="6172200" y="4663440"/>
            <a:ext cx="5669280" cy="11887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Riesgo de </a:t>
            </a:r>
            <a:r>
              <a:rPr lang="es-AR" sz="1400" b="1" dirty="0">
                <a:solidFill>
                  <a:srgbClr val="FFFFFF"/>
                </a:solidFill>
                <a:latin typeface="Fira Sans Condensed"/>
                <a:ea typeface="Fira Sans Condensed"/>
                <a:cs typeface="Fira Sans Condensed"/>
                <a:sym typeface="Fira Sans Condensed"/>
              </a:rPr>
              <a:t>hipopotasemia grave</a:t>
            </a:r>
            <a:r>
              <a:rPr lang="es-AR" sz="1400" dirty="0">
                <a:solidFill>
                  <a:srgbClr val="FFFFFF"/>
                </a:solidFill>
                <a:latin typeface="Fira Sans Condensed"/>
                <a:ea typeface="Fira Sans Condensed"/>
                <a:cs typeface="Fira Sans Condensed"/>
                <a:sym typeface="Fira Sans Condensed"/>
              </a:rPr>
              <a:t> y arritmias: el K⁺ sérico inicial puede ser </a:t>
            </a:r>
            <a:r>
              <a:rPr lang="es-AR" sz="1400" b="1" dirty="0">
                <a:solidFill>
                  <a:srgbClr val="FFFFFF"/>
                </a:solidFill>
                <a:latin typeface="Fira Sans Condensed"/>
                <a:ea typeface="Fira Sans Condensed"/>
                <a:cs typeface="Fira Sans Condensed"/>
                <a:sym typeface="Fira Sans Condensed"/>
              </a:rPr>
              <a:t>normal o alto</a:t>
            </a:r>
            <a:r>
              <a:rPr lang="es-AR" sz="1400" dirty="0">
                <a:solidFill>
                  <a:srgbClr val="FFFFFF"/>
                </a:solidFill>
                <a:latin typeface="Fira Sans Condensed"/>
                <a:ea typeface="Fira Sans Condensed"/>
                <a:cs typeface="Fira Sans Condensed"/>
                <a:sym typeface="Fira Sans Condensed"/>
              </a:rPr>
              <a:t> pese a un déficit corporal total importante.</a:t>
            </a:r>
            <a:endParaRPr lang="es-AR" sz="1400"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POTASIO: SÉRICO NORMAL </a:t>
            </a:r>
            <a:r>
              <a:rPr lang="es-AR" sz="28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 POTASIO CORPORAL NORMAL</a:t>
            </a:r>
            <a:endParaRPr lang="es-AR" sz="28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500"/>
                                        <p:tgtEl>
                                          <p:spTgt spid="26"/>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29"/>
                                        </p:tgtEl>
                                        <p:attrNameLst>
                                          <p:attrName>style.visibility</p:attrName>
                                        </p:attrNameLst>
                                      </p:cBhvr>
                                      <p:to>
                                        <p:strVal val="visible"/>
                                      </p:to>
                                    </p:set>
                                    <p:animEffect transition="in" filter="fade">
                                      <p:cBhvr>
                                        <p:cTn id="9" dur="500"/>
                                        <p:tgtEl>
                                          <p:spTgt spid="29"/>
                                        </p:tgtEl>
                                      </p:cBhvr>
                                    </p:animEffect>
                                  </p:childTnLst>
                                </p:cTn>
                              </p:par>
                            </p:childTnLst>
                          </p:cTn>
                        </p:par>
                        <p:par>
                          <p:cTn id="16"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0" presetClass="path" presetSubtype="0" accel="20000" decel="20000" fill="hold" grpId="0" nodeType="withEffect">
                                  <p:stCondLst>
                                    <p:cond delay="0"/>
                                  </p:stCondLst>
                                  <p:childTnLst>
                                    <p:animMotion origin="layout" path="M 0 0 L 0.4275 0.0000 E" pathEditMode="relative" ptsTypes="">
                                      <p:cBhvr>
                                        <p:cTn id="15" dur="1200" fill="hold"/>
                                        <p:tgtEl>
                                          <p:spTgt spid="8"/>
                                        </p:tgtEl>
                                        <p:attrNameLst>
                                          <p:attrName>ppt_x</p:attrName>
                                          <p:attrName>ppt_y</p:attrName>
                                        </p:attrNameLst>
                                      </p:cBhvr>
                                      <p:rCtr x="21375" y="0"/>
                                    </p:animMotion>
                                  </p:childTnLst>
                                </p:cTn>
                              </p:par>
                            </p:childTnLst>
                          </p:cTn>
                        </p:par>
                        <p:par>
                          <p:cTn id="19" fill="hold">
                            <p:stCondLst>
                              <p:cond delay="1120"/>
                            </p:stCondLst>
                            <p:childTnLst>
                              <p:par>
                                <p:cTn id="17" presetID="0" presetClass="path" presetSubtype="0" accel="20000" decel="20000" fill="hold" grpId="0" nodeType="afterEffect">
                                  <p:stCondLst>
                                    <p:cond delay="0"/>
                                  </p:stCondLst>
                                  <p:childTnLst>
                                    <p:animMotion origin="layout" path="M 0 0 L 0.3638 0.0000 E" pathEditMode="relative" ptsTypes="">
                                      <p:cBhvr>
                                        <p:cTn id="18" dur="1200" fill="hold"/>
                                        <p:tgtEl>
                                          <p:spTgt spid="9"/>
                                        </p:tgtEl>
                                        <p:attrNameLst>
                                          <p:attrName>ppt_x</p:attrName>
                                          <p:attrName>ppt_y</p:attrName>
                                        </p:attrNameLst>
                                      </p:cBhvr>
                                      <p:rCtr x="18187" y="0"/>
                                    </p:animMotion>
                                  </p:childTnLst>
                                </p:cTn>
                              </p:par>
                            </p:childTnLst>
                          </p:cTn>
                        </p:par>
                        <p:par>
                          <p:cTn id="22" fill="hold">
                            <p:stCondLst>
                              <p:cond delay="1360"/>
                            </p:stCondLst>
                            <p:childTnLst>
                              <p:par>
                                <p:cTn id="20" presetID="0" presetClass="path" presetSubtype="0" accel="20000" decel="20000" fill="hold" grpId="0" nodeType="afterEffect">
                                  <p:stCondLst>
                                    <p:cond delay="0"/>
                                  </p:stCondLst>
                                  <p:childTnLst>
                                    <p:animMotion origin="layout" path="M 0 0 L 0.3000 0.0000 E" pathEditMode="relative" ptsTypes="">
                                      <p:cBhvr>
                                        <p:cTn id="21" dur="1200" fill="hold"/>
                                        <p:tgtEl>
                                          <p:spTgt spid="10"/>
                                        </p:tgtEl>
                                        <p:attrNameLst>
                                          <p:attrName>ppt_x</p:attrName>
                                          <p:attrName>ppt_y</p:attrName>
                                        </p:attrNameLst>
                                      </p:cBhvr>
                                      <p:rCtr x="15000" y="0"/>
                                    </p:animMotion>
                                  </p:childTnLst>
                                </p:cTn>
                              </p:par>
                            </p:childTnLst>
                          </p:cTn>
                        </p:par>
                        <p:par>
                          <p:cTn id="25" fill="hold">
                            <p:stCondLst>
                              <p:cond delay="1720"/>
                            </p:stCondLst>
                            <p:childTnLst>
                              <p:par>
                                <p:cTn id="23" presetID="0" presetClass="path" presetSubtype="0" accel="20000" decel="20000" fill="hold" grpId="0" nodeType="afterEffect">
                                  <p:stCondLst>
                                    <p:cond delay="0"/>
                                  </p:stCondLst>
                                  <p:childTnLst>
                                    <p:animMotion origin="layout" path="M 0 0 L 0.2363 0.0000 E" pathEditMode="relative" ptsTypes="">
                                      <p:cBhvr>
                                        <p:cTn id="24" dur="1200" fill="hold"/>
                                        <p:tgtEl>
                                          <p:spTgt spid="11"/>
                                        </p:tgtEl>
                                        <p:attrNameLst>
                                          <p:attrName>ppt_x</p:attrName>
                                          <p:attrName>ppt_y</p:attrName>
                                        </p:attrNameLst>
                                      </p:cBhvr>
                                      <p:rCtr x="11812" y="0"/>
                                    </p:animMotion>
                                  </p:childTnLst>
                                </p:cTn>
                              </p:par>
                            </p:childTnLst>
                          </p:cTn>
                        </p:par>
                        <p:par>
                          <p:cTn id="28" fill="hold">
                            <p:stCondLst>
                              <p:cond delay="2200"/>
                            </p:stCondLst>
                            <p:childTnLst>
                              <p:par>
                                <p:cTn id="26" presetID="0" presetClass="path" presetSubtype="0" accel="20000" decel="20000" fill="hold" grpId="0" nodeType="afterEffect">
                                  <p:stCondLst>
                                    <p:cond delay="0"/>
                                  </p:stCondLst>
                                  <p:childTnLst>
                                    <p:animMotion origin="layout" path="M 0 0 L 0.1725 0.0000 E" pathEditMode="relative" ptsTypes="">
                                      <p:cBhvr>
                                        <p:cTn id="27" dur="1200" fill="hold"/>
                                        <p:tgtEl>
                                          <p:spTgt spid="12"/>
                                        </p:tgtEl>
                                        <p:attrNameLst>
                                          <p:attrName>ppt_x</p:attrName>
                                          <p:attrName>ppt_y</p:attrName>
                                        </p:attrNameLst>
                                      </p:cBhvr>
                                      <p:rCtr x="8625" y="0"/>
                                    </p:animMotion>
                                  </p:childTnLst>
                                </p:cTn>
                              </p:par>
                            </p:childTnLst>
                          </p:cTn>
                        </p:par>
                      </p:childTnLst>
                    </p:cTn>
                  </p:par>
                  <p:par>
                    <p:cTn id="51" fill="hold">
                      <p:stCondLst>
                        <p:cond delay="indefinite"/>
                      </p:stCondLst>
                      <p:childTnLst>
                        <p:par>
                          <p:cTn id="50"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 calcmode="lin" valueType="num">
                                      <p:cBhvr>
                                        <p:cTn id="32" dur="500" fill="hold"/>
                                        <p:tgtEl>
                                          <p:spTgt spid="35"/>
                                        </p:tgtEl>
                                        <p:attrNameLst>
                                          <p:attrName>ppt_w</p:attrName>
                                        </p:attrNameLst>
                                      </p:cBhvr>
                                      <p:tavLst>
                                        <p:tav tm="0">
                                          <p:val>
                                            <p:fltVal val="0"/>
                                          </p:val>
                                        </p:tav>
                                        <p:tav tm="100000">
                                          <p:val>
                                            <p:strVal val="#ppt_w"/>
                                          </p:val>
                                        </p:tav>
                                      </p:tavLst>
                                    </p:anim>
                                    <p:anim calcmode="lin" valueType="num">
                                      <p:cBhvr>
                                        <p:cTn id="33" dur="500" fill="hold"/>
                                        <p:tgtEl>
                                          <p:spTgt spid="35"/>
                                        </p:tgtEl>
                                        <p:attrNameLst>
                                          <p:attrName>ppt_h</p:attrName>
                                        </p:attrNameLst>
                                      </p:cBhvr>
                                      <p:tavLst>
                                        <p:tav tm="0">
                                          <p:val>
                                            <p:fltVal val="0"/>
                                          </p:val>
                                        </p:tav>
                                        <p:tav tm="100000">
                                          <p:val>
                                            <p:strVal val="#ppt_h"/>
                                          </p:val>
                                        </p:tav>
                                      </p:tavLst>
                                    </p:anim>
                                    <p:animEffect transition="in" filter="fade">
                                      <p:cBhvr>
                                        <p:cTn id="34" dur="500"/>
                                        <p:tgtEl>
                                          <p:spTgt spid="35"/>
                                        </p:tgtEl>
                                      </p:cBhvr>
                                    </p:animEffect>
                                  </p:childTnLst>
                                </p:cTn>
                              </p:par>
                              <p:par>
                                <p:cTn id="35" presetID="10" presetClass="exit" presetSubtype="0" fill="hold" grpId="0" nodeType="withEffect">
                                  <p:stCondLst>
                                    <p:cond delay="0"/>
                                  </p:stCondLst>
                                  <p:childTnLst>
                                    <p:animEffect transition="out" filter="fade">
                                      <p:cBhvr>
                                        <p:cTn id="36" dur="400"/>
                                        <p:tgtEl>
                                          <p:spTgt spid="8"/>
                                        </p:tgtEl>
                                      </p:cBhvr>
                                    </p:animEffect>
                                    <p:set>
                                      <p:cBhvr>
                                        <p:cTn id="37" dur="1" fill="hold">
                                          <p:stCondLst>
                                            <p:cond delay="399"/>
                                          </p:stCondLst>
                                        </p:cTn>
                                        <p:tgtEl>
                                          <p:spTgt spid="8"/>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400"/>
                                        <p:tgtEl>
                                          <p:spTgt spid="9"/>
                                        </p:tgtEl>
                                      </p:cBhvr>
                                    </p:animEffect>
                                    <p:set>
                                      <p:cBhvr>
                                        <p:cTn id="40" dur="1" fill="hold">
                                          <p:stCondLst>
                                            <p:cond delay="399"/>
                                          </p:stCondLst>
                                        </p:cTn>
                                        <p:tgtEl>
                                          <p:spTgt spid="9"/>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400"/>
                                        <p:tgtEl>
                                          <p:spTgt spid="10"/>
                                        </p:tgtEl>
                                      </p:cBhvr>
                                    </p:animEffect>
                                    <p:set>
                                      <p:cBhvr>
                                        <p:cTn id="43" dur="1" fill="hold">
                                          <p:stCondLst>
                                            <p:cond delay="399"/>
                                          </p:stCondLst>
                                        </p:cTn>
                                        <p:tgtEl>
                                          <p:spTgt spid="10"/>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400"/>
                                        <p:tgtEl>
                                          <p:spTgt spid="11"/>
                                        </p:tgtEl>
                                      </p:cBhvr>
                                    </p:animEffect>
                                    <p:set>
                                      <p:cBhvr>
                                        <p:cTn id="46" dur="1" fill="hold">
                                          <p:stCondLst>
                                            <p:cond delay="399"/>
                                          </p:stCondLst>
                                        </p:cTn>
                                        <p:tgtEl>
                                          <p:spTgt spid="11"/>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400"/>
                                        <p:tgtEl>
                                          <p:spTgt spid="12"/>
                                        </p:tgtEl>
                                      </p:cBhvr>
                                    </p:animEffect>
                                    <p:set>
                                      <p:cBhvr>
                                        <p:cTn id="49" dur="1" fill="hold">
                                          <p:stCondLst>
                                            <p:cond delay="399"/>
                                          </p:stCondLst>
                                        </p:cTn>
                                        <p:tgtEl>
                                          <p:spTgt spid="12"/>
                                        </p:tgtEl>
                                        <p:attrNameLst>
                                          <p:attrName>style.visibility</p:attrName>
                                        </p:attrNameLst>
                                      </p:cBhvr>
                                      <p:to>
                                        <p:strVal val="hidden"/>
                                      </p:to>
                                    </p:set>
                                  </p:childTnLst>
                                </p:cTn>
                              </p:par>
                            </p:childTnLst>
                          </p:cTn>
                        </p:par>
                      </p:childTnLst>
                    </p:cTn>
                  </p:par>
                  <p:par>
                    <p:cTn id="62" fill="hold">
                      <p:stCondLst>
                        <p:cond delay="indefinite"/>
                      </p:stCondLst>
                      <p:childTnLst>
                        <p:par>
                          <p:cTn id="6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0" presetClass="path" presetSubtype="0" accel="20000" decel="20000" fill="hold" grpId="0" nodeType="withEffect">
                                  <p:stCondLst>
                                    <p:cond delay="0"/>
                                  </p:stCondLst>
                                  <p:childTnLst>
                                    <p:animMotion origin="layout" path="M 0 0 L 0.0150 0.0000 L 0.0000 0.0000 E" pathEditMode="relative" ptsTypes="">
                                      <p:cBhvr>
                                        <p:cTn id="56" dur="300" fill="hold"/>
                                        <p:tgtEl>
                                          <p:spTgt spid="13"/>
                                        </p:tgtEl>
                                        <p:attrNameLst>
                                          <p:attrName>ppt_x</p:attrName>
                                          <p:attrName>ppt_y</p:attrName>
                                        </p:attrNameLst>
                                      </p:cBhvr>
                                      <p:rCtr x="0" y="0"/>
                                    </p:animMotion>
                                  </p:childTnLst>
                                </p:cTn>
                              </p:par>
                              <p:par>
                                <p:cTn id="57" presetID="0" presetClass="path" presetSubtype="0" accel="20000" decel="20000" fill="hold" grpId="0" nodeType="withEffect">
                                  <p:stCondLst>
                                    <p:cond delay="0"/>
                                  </p:stCondLst>
                                  <p:childTnLst>
                                    <p:animMotion origin="layout" path="M 0 0 L 0.0150 0.0000 L 0.0000 0.0000 E" pathEditMode="relative" ptsTypes="">
                                      <p:cBhvr>
                                        <p:cTn id="58" dur="300" fill="hold"/>
                                        <p:tgtEl>
                                          <p:spTgt spid="14"/>
                                        </p:tgtEl>
                                        <p:attrNameLst>
                                          <p:attrName>ppt_x</p:attrName>
                                          <p:attrName>ppt_y</p:attrName>
                                        </p:attrNameLst>
                                      </p:cBhvr>
                                      <p:rCtr x="0" y="0"/>
                                    </p:animMotion>
                                  </p:childTnLst>
                                </p:cTn>
                              </p:par>
                              <p:par>
                                <p:cTn id="59" presetID="0" presetClass="path" presetSubtype="0" accel="20000" decel="20000" fill="hold" grpId="0" nodeType="withEffect">
                                  <p:stCondLst>
                                    <p:cond delay="0"/>
                                  </p:stCondLst>
                                  <p:childTnLst>
                                    <p:animMotion origin="layout" path="M 0 0 L 0.0150 0.0000 L 0.0000 0.0000 E" pathEditMode="relative" ptsTypes="">
                                      <p:cBhvr>
                                        <p:cTn id="60" dur="300" fill="hold"/>
                                        <p:tgtEl>
                                          <p:spTgt spid="15"/>
                                        </p:tgtEl>
                                        <p:attrNameLst>
                                          <p:attrName>ppt_x</p:attrName>
                                          <p:attrName>ppt_y</p:attrName>
                                        </p:attrNameLst>
                                      </p:cBhvr>
                                      <p:rCtr x="0" y="0"/>
                                    </p:animMotion>
                                  </p:childTnLst>
                                </p:cTn>
                              </p:par>
                            </p:childTnLst>
                          </p:cTn>
                        </p:par>
                      </p:childTnLst>
                    </p:cTn>
                  </p:par>
                  <p:par>
                    <p:cTn id="69" fill="hold">
                      <p:stCondLst>
                        <p:cond delay="indefinite"/>
                      </p:stCondLst>
                      <p:childTnLst>
                        <p:par>
                          <p:cTn id="68"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p:cTn id="65" dur="500" fill="hold"/>
                                        <p:tgtEl>
                                          <p:spTgt spid="37"/>
                                        </p:tgtEl>
                                        <p:attrNameLst>
                                          <p:attrName>ppt_w</p:attrName>
                                        </p:attrNameLst>
                                      </p:cBhvr>
                                      <p:tavLst>
                                        <p:tav tm="0">
                                          <p:val>
                                            <p:fltVal val="0"/>
                                          </p:val>
                                        </p:tav>
                                        <p:tav tm="100000">
                                          <p:val>
                                            <p:strVal val="#ppt_w"/>
                                          </p:val>
                                        </p:tav>
                                      </p:tavLst>
                                    </p:anim>
                                    <p:anim calcmode="lin" valueType="num">
                                      <p:cBhvr>
                                        <p:cTn id="66" dur="500" fill="hold"/>
                                        <p:tgtEl>
                                          <p:spTgt spid="37"/>
                                        </p:tgtEl>
                                        <p:attrNameLst>
                                          <p:attrName>ppt_h</p:attrName>
                                        </p:attrNameLst>
                                      </p:cBhvr>
                                      <p:tavLst>
                                        <p:tav tm="0">
                                          <p:val>
                                            <p:fltVal val="0"/>
                                          </p:val>
                                        </p:tav>
                                        <p:tav tm="100000">
                                          <p:val>
                                            <p:strVal val="#ppt_h"/>
                                          </p:val>
                                        </p:tav>
                                      </p:tavLst>
                                    </p:anim>
                                    <p:animEffect transition="in" filter="fade">
                                      <p:cBhvr>
                                        <p:cTn id="6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35" grpId="0" animBg="1"/>
      <p:bldP spid="36" grpId="0" animBg="1"/>
      <p:bldP spid="13" grpId="0" animBg="1"/>
      <p:bldP spid="14" grpId="0" animBg="1"/>
      <p:bldP spid="15" grpId="0" animBg="1"/>
      <p:bldP spid="37" grpId="0" animBg="1"/>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pic>
        <p:nvPicPr>
          <p:cNvPr id="7" name="Pulmón infección" descr="Ilustración biomédica (Servier Medical Art, CC BY)"/>
          <p:cNvPicPr>
            <a:picLocks noChangeAspect="1"/>
          </p:cNvPicPr>
          <p:nvPr/>
        </p:nvPicPr>
        <p:blipFill>
          <a:blip r:embed="rId2"/>
          <a:stretch>
            <a:fillRect/>
          </a:stretch>
        </p:blipFill>
        <p:spPr>
          <a:xfrm>
            <a:off x="365760" y="1051560"/>
            <a:ext cx="2011680" cy="2300941"/>
          </a:xfrm>
          <a:prstGeom prst="rect">
            <a:avLst/>
          </a:prstGeom>
        </p:spPr>
      </p:pic>
      <p:pic>
        <p:nvPicPr>
          <p:cNvPr id="8" name="Macrófago" descr="Ilustración biomédica (Servier Medical Art, CC BY)"/>
          <p:cNvPicPr>
            <a:picLocks noChangeAspect="1"/>
          </p:cNvPicPr>
          <p:nvPr/>
        </p:nvPicPr>
        <p:blipFill>
          <a:blip r:embed="rId3"/>
          <a:stretch>
            <a:fillRect/>
          </a:stretch>
        </p:blipFill>
        <p:spPr>
          <a:xfrm>
            <a:off x="640080" y="3108960"/>
            <a:ext cx="1463040" cy="1584111"/>
          </a:xfrm>
          <a:prstGeom prst="rect">
            <a:avLst/>
          </a:prstGeom>
        </p:spPr>
      </p:pic>
      <p:sp>
        <p:nvSpPr>
          <p:cNvPr id="9" name="Flecha inf→cy"/>
          <p:cNvSpPr/>
          <p:nvPr/>
        </p:nvSpPr>
        <p:spPr>
          <a:xfrm>
            <a:off x="3977640" y="1773936"/>
            <a:ext cx="9144" cy="338328"/>
          </a:xfrm>
          <a:custGeom>
            <a:avLst/>
            <a:gdLst/>
            <a:ahLst/>
            <a:cxnLst/>
            <a:rect l="0" t="0" r="r" b="b"/>
            <a:pathLst>
              <a:path w="10" h="370" fill="none">
                <a:moveTo>
                  <a:pt x="0" y="0"/>
                </a:moveTo>
                <a:lnTo>
                  <a:pt x="0" y="370"/>
                </a:lnTo>
              </a:path>
            </a:pathLst>
          </a:custGeom>
          <a:noFill/>
          <a:ln w="28575" cap="rnd">
            <a:solidFill>
              <a:srgbClr val="1E1E1E"/>
            </a:solidFill>
            <a:round/>
            <a:tailEnd type="triangle" w="med" len="med"/>
          </a:ln>
        </p:spPr>
      </p:sp>
      <p:sp>
        <p:nvSpPr>
          <p:cNvPr id="10" name="Flecha cy→st"/>
          <p:cNvSpPr/>
          <p:nvPr/>
        </p:nvSpPr>
        <p:spPr>
          <a:xfrm>
            <a:off x="5349240" y="1828800"/>
            <a:ext cx="365760" cy="594360"/>
          </a:xfrm>
          <a:custGeom>
            <a:avLst/>
            <a:gdLst/>
            <a:ahLst/>
            <a:cxnLst/>
            <a:rect l="0" t="0" r="r" b="b"/>
            <a:pathLst>
              <a:path w="400" h="649" fill="none">
                <a:moveTo>
                  <a:pt x="0" y="649"/>
                </a:moveTo>
                <a:lnTo>
                  <a:pt x="400" y="0"/>
                </a:lnTo>
              </a:path>
            </a:pathLst>
          </a:custGeom>
          <a:noFill/>
          <a:ln w="28575" cap="rnd">
            <a:solidFill>
              <a:srgbClr val="1E1E1E"/>
            </a:solidFill>
            <a:round/>
            <a:tailEnd type="triangle" w="med" len="med"/>
          </a:ln>
        </p:spPr>
      </p:sp>
      <p:sp>
        <p:nvSpPr>
          <p:cNvPr id="11" name="Flecha st→ri"/>
          <p:cNvSpPr/>
          <p:nvPr/>
        </p:nvSpPr>
        <p:spPr>
          <a:xfrm>
            <a:off x="8549640" y="1463040"/>
            <a:ext cx="365760" cy="9144"/>
          </a:xfrm>
          <a:custGeom>
            <a:avLst/>
            <a:gdLst/>
            <a:ahLst/>
            <a:cxnLst/>
            <a:rect l="0" t="0" r="r" b="b"/>
            <a:pathLst>
              <a:path w="400" h="10" fill="none">
                <a:moveTo>
                  <a:pt x="0" y="0"/>
                </a:moveTo>
                <a:lnTo>
                  <a:pt x="400" y="0"/>
                </a:lnTo>
              </a:path>
            </a:pathLst>
          </a:custGeom>
          <a:noFill/>
          <a:ln w="28575" cap="rnd">
            <a:solidFill>
              <a:srgbClr val="1E1E1E"/>
            </a:solidFill>
            <a:round/>
            <a:tailEnd type="triangle" w="med" len="med"/>
          </a:ln>
        </p:spPr>
      </p:sp>
      <p:sp>
        <p:nvSpPr>
          <p:cNvPr id="12" name="Flecha st→phg"/>
          <p:cNvSpPr/>
          <p:nvPr/>
        </p:nvSpPr>
        <p:spPr>
          <a:xfrm>
            <a:off x="8549640" y="1737360"/>
            <a:ext cx="365760" cy="457200"/>
          </a:xfrm>
          <a:custGeom>
            <a:avLst/>
            <a:gdLst/>
            <a:ahLst/>
            <a:cxnLst/>
            <a:rect l="0" t="0" r="r" b="b"/>
            <a:pathLst>
              <a:path w="400" h="500" fill="none">
                <a:moveTo>
                  <a:pt x="0" y="0"/>
                </a:moveTo>
                <a:lnTo>
                  <a:pt x="400" y="500"/>
                </a:lnTo>
              </a:path>
            </a:pathLst>
          </a:custGeom>
          <a:noFill/>
          <a:ln w="28575" cap="rnd">
            <a:solidFill>
              <a:srgbClr val="1E1E1E"/>
            </a:solidFill>
            <a:round/>
            <a:tailEnd type="triangle" w="med" len="med"/>
          </a:ln>
        </p:spPr>
      </p:sp>
      <p:sp>
        <p:nvSpPr>
          <p:cNvPr id="13" name="Flecha st→lip"/>
          <p:cNvSpPr/>
          <p:nvPr/>
        </p:nvSpPr>
        <p:spPr>
          <a:xfrm>
            <a:off x="8549640" y="1920240"/>
            <a:ext cx="365760" cy="1005840"/>
          </a:xfrm>
          <a:custGeom>
            <a:avLst/>
            <a:gdLst/>
            <a:ahLst/>
            <a:cxnLst/>
            <a:rect l="0" t="0" r="r" b="b"/>
            <a:pathLst>
              <a:path w="400" h="1100" fill="none">
                <a:moveTo>
                  <a:pt x="0" y="0"/>
                </a:moveTo>
                <a:lnTo>
                  <a:pt x="400" y="1100"/>
                </a:lnTo>
              </a:path>
            </a:pathLst>
          </a:custGeom>
          <a:noFill/>
          <a:ln w="28575" cap="rnd">
            <a:solidFill>
              <a:srgbClr val="1E1E1E"/>
            </a:solidFill>
            <a:round/>
            <a:tailEnd type="triangle" w="med" len="med"/>
          </a:ln>
        </p:spPr>
      </p:sp>
      <p:sp>
        <p:nvSpPr>
          <p:cNvPr id="14" name="Flecha f→h"/>
          <p:cNvSpPr/>
          <p:nvPr/>
        </p:nvSpPr>
        <p:spPr>
          <a:xfrm>
            <a:off x="5349240" y="3520440"/>
            <a:ext cx="365760" cy="640080"/>
          </a:xfrm>
          <a:custGeom>
            <a:avLst/>
            <a:gdLst/>
            <a:ahLst/>
            <a:cxnLst/>
            <a:rect l="0" t="0" r="r" b="b"/>
            <a:pathLst>
              <a:path w="400" h="699" fill="none">
                <a:moveTo>
                  <a:pt x="0" y="0"/>
                </a:moveTo>
                <a:lnTo>
                  <a:pt x="400" y="699"/>
                </a:lnTo>
              </a:path>
            </a:pathLst>
          </a:custGeom>
          <a:noFill/>
          <a:ln w="28575" cap="rnd">
            <a:solidFill>
              <a:srgbClr val="1E1E1E"/>
            </a:solidFill>
            <a:round/>
            <a:tailEnd type="triangle" w="med" len="med"/>
          </a:ln>
        </p:spPr>
      </p:sp>
      <p:sp>
        <p:nvSpPr>
          <p:cNvPr id="15" name="Flecha v→h"/>
          <p:cNvSpPr/>
          <p:nvPr/>
        </p:nvSpPr>
        <p:spPr>
          <a:xfrm>
            <a:off x="5340096" y="4251960"/>
            <a:ext cx="384048" cy="68580"/>
          </a:xfrm>
          <a:custGeom>
            <a:avLst/>
            <a:gdLst/>
            <a:ahLst/>
            <a:cxnLst/>
            <a:rect l="0" t="0" r="r" b="b"/>
            <a:pathLst>
              <a:path w="419" h="75" fill="none">
                <a:moveTo>
                  <a:pt x="0" y="0"/>
                </a:moveTo>
                <a:lnTo>
                  <a:pt x="419" y="75"/>
                </a:lnTo>
              </a:path>
            </a:pathLst>
          </a:custGeom>
          <a:noFill/>
          <a:ln w="28575" cap="rnd">
            <a:solidFill>
              <a:srgbClr val="1E1E1E"/>
            </a:solidFill>
            <a:round/>
            <a:tailEnd type="triangle" w="med" len="med"/>
          </a:ln>
        </p:spPr>
      </p:sp>
      <p:sp>
        <p:nvSpPr>
          <p:cNvPr id="16" name="Flecha t→h"/>
          <p:cNvSpPr/>
          <p:nvPr/>
        </p:nvSpPr>
        <p:spPr>
          <a:xfrm>
            <a:off x="5349240" y="4480560"/>
            <a:ext cx="365760" cy="502920"/>
          </a:xfrm>
          <a:custGeom>
            <a:avLst/>
            <a:gdLst/>
            <a:ahLst/>
            <a:cxnLst/>
            <a:rect l="0" t="0" r="r" b="b"/>
            <a:pathLst>
              <a:path w="400" h="549" fill="none">
                <a:moveTo>
                  <a:pt x="0" y="549"/>
                </a:moveTo>
                <a:lnTo>
                  <a:pt x="400" y="0"/>
                </a:lnTo>
              </a:path>
            </a:pathLst>
          </a:custGeom>
          <a:noFill/>
          <a:ln w="28575" cap="rnd">
            <a:solidFill>
              <a:srgbClr val="1E1E1E"/>
            </a:solidFill>
            <a:round/>
            <a:tailEnd type="triangle" w="med" len="med"/>
          </a:ln>
        </p:spPr>
      </p:sp>
      <p:sp>
        <p:nvSpPr>
          <p:cNvPr id="17" name="Flecha ri→d"/>
          <p:cNvSpPr/>
          <p:nvPr/>
        </p:nvSpPr>
        <p:spPr>
          <a:xfrm>
            <a:off x="11841480" y="1463040"/>
            <a:ext cx="91440" cy="2834640"/>
          </a:xfrm>
          <a:custGeom>
            <a:avLst/>
            <a:gdLst/>
            <a:ahLst/>
            <a:cxnLst/>
            <a:rect l="0" t="0" r="r" b="b"/>
            <a:pathLst>
              <a:path w="100" h="3100" fill="none">
                <a:moveTo>
                  <a:pt x="0" y="0"/>
                </a:moveTo>
                <a:lnTo>
                  <a:pt x="100" y="0"/>
                </a:lnTo>
                <a:lnTo>
                  <a:pt x="100" y="3100"/>
                </a:lnTo>
                <a:lnTo>
                  <a:pt x="0" y="3100"/>
                </a:lnTo>
              </a:path>
            </a:pathLst>
          </a:custGeom>
          <a:noFill/>
          <a:ln w="28575" cap="rnd">
            <a:solidFill>
              <a:srgbClr val="1E1E1E"/>
            </a:solidFill>
            <a:round/>
            <a:tailEnd type="triangle" w="med" len="med"/>
          </a:ln>
        </p:spPr>
      </p:sp>
      <p:sp>
        <p:nvSpPr>
          <p:cNvPr id="18" name="Nodo inf"/>
          <p:cNvSpPr/>
          <p:nvPr/>
        </p:nvSpPr>
        <p:spPr>
          <a:xfrm>
            <a:off x="2651760" y="1188720"/>
            <a:ext cx="265176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Neumococo · inmunidad innata</a:t>
            </a:r>
            <a:endParaRPr lang="es-AR" sz="1350" dirty="0">
              <a:latin typeface="Fira Sans Condensed"/>
            </a:endParaRPr>
          </a:p>
        </p:txBody>
      </p:sp>
      <p:sp>
        <p:nvSpPr>
          <p:cNvPr id="19" name="Nodo cy"/>
          <p:cNvSpPr/>
          <p:nvPr/>
        </p:nvSpPr>
        <p:spPr>
          <a:xfrm>
            <a:off x="2651760" y="2148840"/>
            <a:ext cx="265176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IL-1 · IL-6 · TNF-α</a:t>
            </a:r>
            <a:endParaRPr lang="es-AR" sz="1500" dirty="0">
              <a:latin typeface="Fira Sans Condensed"/>
            </a:endParaRPr>
          </a:p>
        </p:txBody>
      </p:sp>
      <p:sp>
        <p:nvSpPr>
          <p:cNvPr id="20" name="Nodo st"/>
          <p:cNvSpPr/>
          <p:nvPr/>
        </p:nvSpPr>
        <p:spPr>
          <a:xfrm>
            <a:off x="5760720" y="1188720"/>
            <a:ext cx="274320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CATECOLAMINAS · CORTISOL</a:t>
            </a:r>
            <a:endParaRPr lang="es-AR" sz="1400" dirty="0">
              <a:latin typeface="Fira Sans Condensed"/>
            </a:endParaRPr>
          </a:p>
          <a:p>
            <a:pPr algn="ctr">
              <a:spcAft>
                <a:spcPts val="200"/>
              </a:spcAft>
              <a:buNone/>
            </a:pPr>
            <a:r>
              <a:rPr lang="es-AR" sz="1400" b="1" dirty="0">
                <a:solidFill>
                  <a:srgbClr val="C00000"/>
                </a:solidFill>
                <a:latin typeface="Fira Sans Condensed"/>
                <a:ea typeface="Fira Sans Condensed"/>
                <a:cs typeface="Fira Sans Condensed"/>
                <a:sym typeface="Fira Sans Condensed"/>
              </a:rPr>
              <a:t>GLUCAGÓN · GH</a:t>
            </a:r>
            <a:endParaRPr lang="es-AR" sz="1400" dirty="0">
              <a:latin typeface="Fira Sans Condensed"/>
            </a:endParaRPr>
          </a:p>
        </p:txBody>
      </p:sp>
      <p:sp>
        <p:nvSpPr>
          <p:cNvPr id="21" name="Nodo ri"/>
          <p:cNvSpPr/>
          <p:nvPr/>
        </p:nvSpPr>
        <p:spPr>
          <a:xfrm>
            <a:off x="8961120" y="118872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Resistencia insulínica ↑</a:t>
            </a:r>
            <a:endParaRPr lang="es-AR" sz="1400" dirty="0">
              <a:latin typeface="Fira Sans Condensed"/>
            </a:endParaRPr>
          </a:p>
        </p:txBody>
      </p:sp>
      <p:sp>
        <p:nvSpPr>
          <p:cNvPr id="22" name="Nodo phg"/>
          <p:cNvSpPr/>
          <p:nvPr/>
        </p:nvSpPr>
        <p:spPr>
          <a:xfrm>
            <a:off x="8961120" y="192024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Salida hepática de glucosa ↑</a:t>
            </a:r>
            <a:endParaRPr lang="es-AR" sz="1400" dirty="0">
              <a:latin typeface="Fira Sans Condensed"/>
            </a:endParaRPr>
          </a:p>
        </p:txBody>
      </p:sp>
      <p:sp>
        <p:nvSpPr>
          <p:cNvPr id="23" name="Nodo lip"/>
          <p:cNvSpPr/>
          <p:nvPr/>
        </p:nvSpPr>
        <p:spPr>
          <a:xfrm>
            <a:off x="8961120" y="265176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Lipólisis ↑ → cetogénesis ↑</a:t>
            </a:r>
            <a:endParaRPr lang="es-AR" sz="1400" dirty="0">
              <a:latin typeface="Fira Sans Condensed"/>
            </a:endParaRPr>
          </a:p>
        </p:txBody>
      </p:sp>
      <p:sp>
        <p:nvSpPr>
          <p:cNvPr id="24" name="Nodo f"/>
          <p:cNvSpPr/>
          <p:nvPr/>
        </p:nvSpPr>
        <p:spPr>
          <a:xfrm>
            <a:off x="2651760" y="3246120"/>
            <a:ext cx="265176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Fiebre: demanda metabólica ↑</a:t>
            </a:r>
            <a:endParaRPr lang="es-AR" sz="1350" dirty="0">
              <a:latin typeface="Fira Sans Condensed"/>
            </a:endParaRPr>
          </a:p>
        </p:txBody>
      </p:sp>
      <p:sp>
        <p:nvSpPr>
          <p:cNvPr id="25" name="Nodo v"/>
          <p:cNvSpPr/>
          <p:nvPr/>
        </p:nvSpPr>
        <p:spPr>
          <a:xfrm>
            <a:off x="2651760" y="3977640"/>
            <a:ext cx="265176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Vómitos · ingesta ↓</a:t>
            </a:r>
            <a:endParaRPr lang="es-AR" sz="1400" dirty="0">
              <a:latin typeface="Fira Sans Condensed"/>
            </a:endParaRPr>
          </a:p>
        </p:txBody>
      </p:sp>
      <p:sp>
        <p:nvSpPr>
          <p:cNvPr id="26" name="Nodo t"/>
          <p:cNvSpPr/>
          <p:nvPr/>
        </p:nvSpPr>
        <p:spPr>
          <a:xfrm>
            <a:off x="2651760" y="4709160"/>
            <a:ext cx="265176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Taquipnea: pérdidas insensibles</a:t>
            </a:r>
            <a:endParaRPr lang="es-AR" sz="1300" dirty="0">
              <a:latin typeface="Fira Sans Condensed"/>
            </a:endParaRPr>
          </a:p>
        </p:txBody>
      </p:sp>
      <p:sp>
        <p:nvSpPr>
          <p:cNvPr id="27" name="Nodo h"/>
          <p:cNvSpPr/>
          <p:nvPr/>
        </p:nvSpPr>
        <p:spPr>
          <a:xfrm>
            <a:off x="5760720" y="3977640"/>
            <a:ext cx="274320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Hidratación ↓ · volumen ↓</a:t>
            </a:r>
            <a:endParaRPr lang="es-AR" sz="1400" dirty="0">
              <a:latin typeface="Fira Sans Condensed"/>
            </a:endParaRPr>
          </a:p>
        </p:txBody>
      </p:sp>
      <p:sp>
        <p:nvSpPr>
          <p:cNvPr id="28" name="Nodo d"/>
          <p:cNvSpPr/>
          <p:nvPr/>
        </p:nvSpPr>
        <p:spPr>
          <a:xfrm>
            <a:off x="8961120" y="3977640"/>
            <a:ext cx="283464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Dosis habitual de insulina</a:t>
            </a:r>
            <a:endParaRPr lang="es-AR" sz="1300" dirty="0">
              <a:latin typeface="Fira Sans Condensed"/>
            </a:endParaRPr>
          </a:p>
          <a:p>
            <a:pPr algn="ctr">
              <a:spcAft>
                <a:spcPts val="200"/>
              </a:spcAft>
              <a:buNone/>
            </a:pPr>
            <a:r>
              <a:rPr lang="es-AR" sz="1300" b="1" dirty="0">
                <a:solidFill>
                  <a:srgbClr val="FFFFFF"/>
                </a:solidFill>
                <a:latin typeface="Fira Sans Condensed"/>
                <a:ea typeface="Fira Sans Condensed"/>
                <a:cs typeface="Fira Sans Condensed"/>
                <a:sym typeface="Fira Sans Condensed"/>
              </a:rPr>
              <a:t>se vuelve insuficiente</a:t>
            </a:r>
            <a:endParaRPr lang="es-AR" sz="1300" dirty="0">
              <a:latin typeface="Fira Sans Condensed"/>
            </a:endParaRPr>
          </a:p>
        </p:txBody>
      </p:sp>
      <p:sp>
        <p:nvSpPr>
          <p:cNvPr id="29" name="Forma 28"/>
          <p:cNvSpPr/>
          <p:nvPr/>
        </p:nvSpPr>
        <p:spPr>
          <a:xfrm>
            <a:off x="365760" y="5486400"/>
            <a:ext cx="11430000" cy="8229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La hiperglucemia a su vez </a:t>
            </a:r>
            <a:r>
              <a:rPr lang="es-AR" sz="1350" b="1" dirty="0">
                <a:solidFill>
                  <a:srgbClr val="1E1E1E"/>
                </a:solidFill>
                <a:latin typeface="Fira Sans Condensed"/>
                <a:ea typeface="Fira Sans Condensed"/>
                <a:cs typeface="Fira Sans Condensed"/>
                <a:sym typeface="Fira Sans Condensed"/>
              </a:rPr>
              <a:t>deteriora funciones inmunitarias</a:t>
            </a:r>
            <a:r>
              <a:rPr lang="es-AR" sz="1350" dirty="0">
                <a:solidFill>
                  <a:srgbClr val="1E1E1E"/>
                </a:solidFill>
                <a:latin typeface="Fira Sans Condensed"/>
                <a:ea typeface="Fira Sans Condensed"/>
                <a:cs typeface="Fira Sans Condensed"/>
                <a:sym typeface="Fira Sans Condensed"/>
              </a:rPr>
              <a:t> y la perfusión microvascular. Leucocitosis aislada no confirma infección; aquí la apoyan fiebre + consolidación + hemocultivos.</a:t>
            </a:r>
            <a:endParaRPr lang="es-AR" sz="1350" dirty="0">
              <a:latin typeface="Fira Sans Condensed"/>
            </a:endParaRPr>
          </a:p>
        </p:txBody>
      </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PREGUNTA 5 · NEUMONÍA, FIEBRE Y CETOACIDOSIS</a:t>
            </a:r>
            <a:endParaRPr lang="es-AR" sz="32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up)">
                                      <p:cBhvr>
                                        <p:cTn id="9" dur="500"/>
                                        <p:tgtEl>
                                          <p:spTgt spid="9"/>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childTnLst>
                          </p:cTn>
                        </p:par>
                      </p:childTnLst>
                    </p:cTn>
                  </p:par>
                  <p:par>
                    <p:cTn id="24" fill="hold">
                      <p:stCondLst>
                        <p:cond delay="indefinite"/>
                      </p:stCondLst>
                      <p:childTnLst>
                        <p:par>
                          <p:cTn id="19"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49"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childTnLst>
                          </p:cTn>
                        </p:par>
                        <p:par>
                          <p:cTn id="36" fill="hold">
                            <p:stCondLst>
                              <p:cond delay="900"/>
                            </p:stCondLst>
                            <p:childTnLst>
                              <p:par>
                                <p:cTn id="33" presetID="22" presetClass="entr" presetSubtype="8"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childTnLst>
                          </p:cTn>
                        </p:par>
                        <p:par>
                          <p:cTn id="44" fill="hold">
                            <p:stCondLst>
                              <p:cond delay="1800"/>
                            </p:stCondLst>
                            <p:childTnLst>
                              <p:par>
                                <p:cTn id="41" presetID="22" presetClass="entr" presetSubtype="8"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childTnLst>
                          </p:cTn>
                        </p:par>
                        <p:par>
                          <p:cTn id="48" fill="hold">
                            <p:stCondLst>
                              <p:cond delay="2300"/>
                            </p:stCondLst>
                            <p:childTnLst>
                              <p:par>
                                <p:cTn id="45" presetID="10"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par>
                    <p:cTn id="62" fill="hold">
                      <p:stCondLst>
                        <p:cond delay="indefinite"/>
                      </p:stCondLst>
                      <p:childTnLst>
                        <p:par>
                          <p:cTn id="5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childTnLst>
                          </p:cTn>
                        </p:par>
                        <p:par>
                          <p:cTn id="57" fill="hold">
                            <p:stCondLst>
                              <p:cond delay="400"/>
                            </p:stCondLst>
                            <p:childTnLst>
                              <p:par>
                                <p:cTn id="54" presetID="10" presetClass="entr" presetSubtype="0" fill="hold" grpId="0" nodeType="after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childTnLst>
                          </p:cTn>
                        </p:par>
                        <p:par>
                          <p:cTn id="61" fill="hold">
                            <p:stCondLst>
                              <p:cond delay="800"/>
                            </p:stCondLst>
                            <p:childTnLst>
                              <p:par>
                                <p:cTn id="58" presetID="10" presetClass="entr" presetSubtype="0" fill="hold" grpId="0" nodeType="after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00"/>
                                        <p:tgtEl>
                                          <p:spTgt spid="26"/>
                                        </p:tgtEl>
                                      </p:cBhvr>
                                    </p:animEffect>
                                  </p:childTnLst>
                                </p:cTn>
                              </p:par>
                            </p:childTnLst>
                          </p:cTn>
                        </p:par>
                      </p:childTnLst>
                    </p:cTn>
                  </p:par>
                  <p:par>
                    <p:cTn id="79" fill="hold">
                      <p:stCondLst>
                        <p:cond delay="indefinite"/>
                      </p:stCondLst>
                      <p:childTnLst>
                        <p:par>
                          <p:cTn id="66"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left)">
                                      <p:cBhvr>
                                        <p:cTn id="65" dur="500"/>
                                        <p:tgtEl>
                                          <p:spTgt spid="14"/>
                                        </p:tgtEl>
                                      </p:cBhvr>
                                    </p:animEffect>
                                  </p:childTnLst>
                                </p:cTn>
                              </p:par>
                            </p:childTnLst>
                          </p:cTn>
                        </p:par>
                        <p:par>
                          <p:cTn id="70"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left)">
                                      <p:cBhvr>
                                        <p:cTn id="69" dur="500"/>
                                        <p:tgtEl>
                                          <p:spTgt spid="15"/>
                                        </p:tgtEl>
                                      </p:cBhvr>
                                    </p:animEffect>
                                  </p:childTnLst>
                                </p:cTn>
                              </p:par>
                            </p:childTnLst>
                          </p:cTn>
                        </p:par>
                        <p:par>
                          <p:cTn id="74"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wipe(left)">
                                      <p:cBhvr>
                                        <p:cTn id="73" dur="500"/>
                                        <p:tgtEl>
                                          <p:spTgt spid="16"/>
                                        </p:tgtEl>
                                      </p:cBhvr>
                                    </p:animEffect>
                                  </p:childTnLst>
                                </p:cTn>
                              </p:par>
                            </p:childTnLst>
                          </p:cTn>
                        </p:par>
                        <p:par>
                          <p:cTn id="78" fill="hold">
                            <p:stCondLst>
                              <p:cond delay="1500"/>
                            </p:stCondLst>
                            <p:childTnLst>
                              <p:par>
                                <p:cTn id="75" presetID="10" presetClass="entr" presetSubtype="0" fill="hold" grpId="0" nodeType="after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00"/>
                                        <p:tgtEl>
                                          <p:spTgt spid="27"/>
                                        </p:tgtEl>
                                      </p:cBhvr>
                                    </p:animEffect>
                                  </p:childTnLst>
                                </p:cTn>
                              </p:par>
                            </p:childTnLst>
                          </p:cTn>
                        </p:par>
                      </p:childTnLst>
                    </p:cTn>
                  </p:par>
                  <p:par>
                    <p:cTn id="88" fill="hold">
                      <p:stCondLst>
                        <p:cond delay="indefinite"/>
                      </p:stCondLst>
                      <p:childTnLst>
                        <p:par>
                          <p:cTn id="83"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500"/>
                                        <p:tgtEl>
                                          <p:spTgt spid="17"/>
                                        </p:tgtEl>
                                      </p:cBhvr>
                                    </p:animEffect>
                                  </p:childTnLst>
                                </p:cTn>
                              </p:par>
                            </p:childTnLst>
                          </p:cTn>
                        </p:par>
                        <p:par>
                          <p:cTn id="87" fill="hold">
                            <p:stCondLst>
                              <p:cond delay="500"/>
                            </p:stCondLst>
                            <p:childTnLst>
                              <p:par>
                                <p:cTn id="84" presetID="10" presetClass="entr" presetSubtype="0" fill="hold" grpId="0"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par>
                    <p:cTn id="93" fill="hold">
                      <p:stCondLst>
                        <p:cond delay="indefinite"/>
                      </p:stCondLst>
                      <p:childTnLst>
                        <p:par>
                          <p:cTn id="92"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9" grpId="0" animBg="1"/>
      <p:bldP spid="19" grpId="0" animBg="1"/>
      <p:bldP spid="10" grpId="0" animBg="1"/>
      <p:bldP spid="20" grpId="0" animBg="1"/>
      <p:bldP spid="11" grpId="0" animBg="1"/>
      <p:bldP spid="21" grpId="0" animBg="1"/>
      <p:bldP spid="12" grpId="0" animBg="1"/>
      <p:bldP spid="22" grpId="0" animBg="1"/>
      <p:bldP spid="13" grpId="0" animBg="1"/>
      <p:bldP spid="23" grpId="0" animBg="1"/>
      <p:bldP spid="24" grpId="0" animBg="1"/>
      <p:bldP spid="25" grpId="0" animBg="1"/>
      <p:bldP spid="26" grpId="0" animBg="1"/>
      <p:bldP spid="14" grpId="0" animBg="1"/>
      <p:bldP spid="15" grpId="0" animBg="1"/>
      <p:bldP spid="16" grpId="0" animBg="1"/>
      <p:bldP spid="27" grpId="0" animBg="1"/>
      <p:bldP spid="17" grpId="0" animBg="1"/>
      <p:bldP spid="28" grpId="0" animBg="1"/>
      <p:bldP spid="29"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Flecha pn→ins"/>
          <p:cNvSpPr/>
          <p:nvPr/>
        </p:nvSpPr>
        <p:spPr>
          <a:xfrm>
            <a:off x="2779776" y="137160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8" name="Flecha ins→l"/>
          <p:cNvSpPr/>
          <p:nvPr/>
        </p:nvSpPr>
        <p:spPr>
          <a:xfrm>
            <a:off x="2377440" y="1664208"/>
            <a:ext cx="914400" cy="457200"/>
          </a:xfrm>
          <a:custGeom>
            <a:avLst/>
            <a:gdLst/>
            <a:ahLst/>
            <a:cxnLst/>
            <a:rect l="0" t="0" r="r" b="b"/>
            <a:pathLst>
              <a:path w="1000" h="499" fill="none">
                <a:moveTo>
                  <a:pt x="1000" y="0"/>
                </a:moveTo>
                <a:lnTo>
                  <a:pt x="0" y="499"/>
                </a:lnTo>
              </a:path>
            </a:pathLst>
          </a:custGeom>
          <a:noFill/>
          <a:ln w="28575" cap="rnd">
            <a:solidFill>
              <a:srgbClr val="1E1E1E"/>
            </a:solidFill>
            <a:round/>
            <a:tailEnd type="triangle" w="med" len="med"/>
          </a:ln>
        </p:spPr>
      </p:sp>
      <p:sp>
        <p:nvSpPr>
          <p:cNvPr id="9" name="Flecha l→a"/>
          <p:cNvSpPr/>
          <p:nvPr/>
        </p:nvSpPr>
        <p:spPr>
          <a:xfrm>
            <a:off x="1554480" y="26426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0" name="Flecha a→b"/>
          <p:cNvSpPr/>
          <p:nvPr/>
        </p:nvSpPr>
        <p:spPr>
          <a:xfrm>
            <a:off x="1554480" y="33284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1" name="Flecha b→k"/>
          <p:cNvSpPr/>
          <p:nvPr/>
        </p:nvSpPr>
        <p:spPr>
          <a:xfrm>
            <a:off x="1554480" y="40142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2" name="Flecha k→h"/>
          <p:cNvSpPr/>
          <p:nvPr/>
        </p:nvSpPr>
        <p:spPr>
          <a:xfrm>
            <a:off x="1554480" y="47000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3" name="Flecha h→kus"/>
          <p:cNvSpPr/>
          <p:nvPr/>
        </p:nvSpPr>
        <p:spPr>
          <a:xfrm>
            <a:off x="1554480" y="53858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4" name="Flecha ins→g"/>
          <p:cNvSpPr/>
          <p:nvPr/>
        </p:nvSpPr>
        <p:spPr>
          <a:xfrm>
            <a:off x="5852160" y="1664208"/>
            <a:ext cx="1097280" cy="457200"/>
          </a:xfrm>
          <a:custGeom>
            <a:avLst/>
            <a:gdLst/>
            <a:ahLst/>
            <a:cxnLst/>
            <a:rect l="0" t="0" r="r" b="b"/>
            <a:pathLst>
              <a:path w="1199" h="499" fill="none">
                <a:moveTo>
                  <a:pt x="0" y="0"/>
                </a:moveTo>
                <a:lnTo>
                  <a:pt x="1199" y="499"/>
                </a:lnTo>
              </a:path>
            </a:pathLst>
          </a:custGeom>
          <a:noFill/>
          <a:ln w="28575" cap="rnd">
            <a:solidFill>
              <a:srgbClr val="1E1E1E"/>
            </a:solidFill>
            <a:round/>
            <a:tailEnd type="triangle" w="med" len="med"/>
          </a:ln>
        </p:spPr>
      </p:sp>
      <p:sp>
        <p:nvSpPr>
          <p:cNvPr id="15" name="Flecha g→gu"/>
          <p:cNvSpPr/>
          <p:nvPr/>
        </p:nvSpPr>
        <p:spPr>
          <a:xfrm>
            <a:off x="7543800" y="26426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6" name="Flecha gu→do"/>
          <p:cNvSpPr/>
          <p:nvPr/>
        </p:nvSpPr>
        <p:spPr>
          <a:xfrm>
            <a:off x="7543800" y="33284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7" name="Flecha do→dh"/>
          <p:cNvSpPr/>
          <p:nvPr/>
        </p:nvSpPr>
        <p:spPr>
          <a:xfrm>
            <a:off x="7543800" y="40142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8" name="Flecha dh→pr"/>
          <p:cNvSpPr/>
          <p:nvPr/>
        </p:nvSpPr>
        <p:spPr>
          <a:xfrm>
            <a:off x="7543800" y="47000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9" name="Flecha pr→x"/>
          <p:cNvSpPr/>
          <p:nvPr/>
        </p:nvSpPr>
        <p:spPr>
          <a:xfrm>
            <a:off x="5486400" y="5120640"/>
            <a:ext cx="777240" cy="256032"/>
          </a:xfrm>
          <a:custGeom>
            <a:avLst/>
            <a:gdLst/>
            <a:ahLst/>
            <a:cxnLst/>
            <a:rect l="0" t="0" r="r" b="b"/>
            <a:pathLst>
              <a:path w="849" h="280" fill="none">
                <a:moveTo>
                  <a:pt x="849" y="0"/>
                </a:moveTo>
                <a:lnTo>
                  <a:pt x="0" y="280"/>
                </a:lnTo>
              </a:path>
            </a:pathLst>
          </a:custGeom>
          <a:noFill/>
          <a:ln w="28575" cap="rnd">
            <a:solidFill>
              <a:srgbClr val="1E1E1E"/>
            </a:solidFill>
            <a:round/>
            <a:tailEnd type="triangle" w="med" len="med"/>
          </a:ln>
        </p:spPr>
      </p:sp>
      <p:sp>
        <p:nvSpPr>
          <p:cNvPr id="20" name="Flecha h→x"/>
          <p:cNvSpPr/>
          <p:nvPr/>
        </p:nvSpPr>
        <p:spPr>
          <a:xfrm>
            <a:off x="2788920" y="5029200"/>
            <a:ext cx="457200" cy="91440"/>
          </a:xfrm>
          <a:custGeom>
            <a:avLst/>
            <a:gdLst/>
            <a:ahLst/>
            <a:cxnLst/>
            <a:rect l="0" t="0" r="r" b="b"/>
            <a:pathLst>
              <a:path w="500" h="99" fill="none">
                <a:moveTo>
                  <a:pt x="0" y="99"/>
                </a:moveTo>
                <a:lnTo>
                  <a:pt x="500" y="0"/>
                </a:lnTo>
              </a:path>
            </a:pathLst>
          </a:custGeom>
          <a:noFill/>
          <a:ln w="28575" cap="rnd">
            <a:solidFill>
              <a:srgbClr val="1E1E1E"/>
            </a:solidFill>
            <a:round/>
            <a:tailEnd type="triangle" w="med" len="med"/>
          </a:ln>
        </p:spPr>
      </p:sp>
      <p:sp>
        <p:nvSpPr>
          <p:cNvPr id="21" name="Flecha x→cl"/>
          <p:cNvSpPr/>
          <p:nvPr/>
        </p:nvSpPr>
        <p:spPr>
          <a:xfrm>
            <a:off x="4572000" y="3794760"/>
            <a:ext cx="4526280" cy="365760"/>
          </a:xfrm>
          <a:custGeom>
            <a:avLst/>
            <a:gdLst/>
            <a:ahLst/>
            <a:cxnLst/>
            <a:rect l="0" t="0" r="r" b="b"/>
            <a:pathLst>
              <a:path w="4949" h="399" fill="none">
                <a:moveTo>
                  <a:pt x="0" y="399"/>
                </a:moveTo>
                <a:lnTo>
                  <a:pt x="0" y="0"/>
                </a:lnTo>
                <a:lnTo>
                  <a:pt x="4949" y="0"/>
                </a:lnTo>
              </a:path>
            </a:pathLst>
          </a:custGeom>
          <a:noFill/>
          <a:ln w="28575" cap="rnd">
            <a:solidFill>
              <a:srgbClr val="C00000"/>
            </a:solidFill>
            <a:round/>
            <a:tailEnd type="triangle" w="med" len="med"/>
          </a:ln>
        </p:spPr>
      </p:sp>
      <p:sp>
        <p:nvSpPr>
          <p:cNvPr id="22" name="Flecha cl→ins"/>
          <p:cNvSpPr/>
          <p:nvPr/>
        </p:nvSpPr>
        <p:spPr>
          <a:xfrm>
            <a:off x="5989320" y="1371600"/>
            <a:ext cx="4526280" cy="1325880"/>
          </a:xfrm>
          <a:custGeom>
            <a:avLst/>
            <a:gdLst/>
            <a:ahLst/>
            <a:cxnLst/>
            <a:rect l="0" t="0" r="r" b="b"/>
            <a:pathLst>
              <a:path w="4950" h="1450" fill="none">
                <a:moveTo>
                  <a:pt x="4950" y="1450"/>
                </a:moveTo>
                <a:lnTo>
                  <a:pt x="4950" y="0"/>
                </a:lnTo>
                <a:lnTo>
                  <a:pt x="0" y="0"/>
                </a:lnTo>
              </a:path>
            </a:pathLst>
          </a:custGeom>
          <a:noFill/>
          <a:ln w="28575" cap="rnd">
            <a:solidFill>
              <a:srgbClr val="C00000"/>
            </a:solidFill>
            <a:prstDash val="dash"/>
            <a:round/>
            <a:tailEnd type="triangle" w="med" len="med"/>
          </a:ln>
        </p:spPr>
      </p:sp>
      <p:sp>
        <p:nvSpPr>
          <p:cNvPr id="23" name="Nodo pn"/>
          <p:cNvSpPr/>
          <p:nvPr/>
        </p:nvSpPr>
        <p:spPr>
          <a:xfrm>
            <a:off x="365760" y="1097280"/>
            <a:ext cx="23774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Neumonía · estrés</a:t>
            </a:r>
            <a:endParaRPr lang="es-AR" sz="1500" dirty="0">
              <a:latin typeface="Fira Sans Condensed"/>
            </a:endParaRPr>
          </a:p>
        </p:txBody>
      </p:sp>
      <p:sp>
        <p:nvSpPr>
          <p:cNvPr id="24" name="Nodo ins"/>
          <p:cNvSpPr/>
          <p:nvPr/>
        </p:nvSpPr>
        <p:spPr>
          <a:xfrm>
            <a:off x="3200400" y="109728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ACCIÓN INSULÍNICA ↓↓</a:t>
            </a:r>
            <a:endParaRPr lang="es-AR" sz="1500" dirty="0">
              <a:latin typeface="Fira Sans Condensed"/>
            </a:endParaRPr>
          </a:p>
        </p:txBody>
      </p:sp>
      <p:sp>
        <p:nvSpPr>
          <p:cNvPr id="25" name="Nodo l"/>
          <p:cNvSpPr/>
          <p:nvPr/>
        </p:nvSpPr>
        <p:spPr>
          <a:xfrm>
            <a:off x="365760" y="2148840"/>
            <a:ext cx="2377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Lipólisis adiposa ↑</a:t>
            </a:r>
            <a:endParaRPr lang="es-AR" sz="1300" dirty="0">
              <a:latin typeface="Fira Sans Condensed"/>
            </a:endParaRPr>
          </a:p>
        </p:txBody>
      </p:sp>
      <p:sp>
        <p:nvSpPr>
          <p:cNvPr id="26" name="Nodo a"/>
          <p:cNvSpPr/>
          <p:nvPr/>
        </p:nvSpPr>
        <p:spPr>
          <a:xfrm>
            <a:off x="365760" y="2834640"/>
            <a:ext cx="2377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AGNE → hígado</a:t>
            </a:r>
            <a:endParaRPr lang="es-AR" sz="1300" dirty="0">
              <a:latin typeface="Fira Sans Condensed"/>
            </a:endParaRPr>
          </a:p>
        </p:txBody>
      </p:sp>
      <p:sp>
        <p:nvSpPr>
          <p:cNvPr id="27" name="Nodo b"/>
          <p:cNvSpPr/>
          <p:nvPr/>
        </p:nvSpPr>
        <p:spPr>
          <a:xfrm>
            <a:off x="365760" y="3520440"/>
            <a:ext cx="2377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β-oxidación → acetil-CoA ↑</a:t>
            </a:r>
            <a:endParaRPr lang="es-AR" sz="1200" dirty="0">
              <a:latin typeface="Fira Sans Condensed"/>
            </a:endParaRPr>
          </a:p>
        </p:txBody>
      </p:sp>
      <p:sp>
        <p:nvSpPr>
          <p:cNvPr id="28" name="Nodo k"/>
          <p:cNvSpPr/>
          <p:nvPr/>
        </p:nvSpPr>
        <p:spPr>
          <a:xfrm>
            <a:off x="365760" y="4206240"/>
            <a:ext cx="2377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Cetogénesis: AcAc · β-OHB</a:t>
            </a:r>
            <a:endParaRPr lang="es-AR" sz="1200" dirty="0">
              <a:latin typeface="Fira Sans Condensed"/>
            </a:endParaRPr>
          </a:p>
        </p:txBody>
      </p:sp>
      <p:sp>
        <p:nvSpPr>
          <p:cNvPr id="29" name="Nodo h"/>
          <p:cNvSpPr/>
          <p:nvPr/>
        </p:nvSpPr>
        <p:spPr>
          <a:xfrm>
            <a:off x="365760" y="4892040"/>
            <a:ext cx="2377440" cy="457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FFFFFF"/>
                </a:solidFill>
                <a:latin typeface="Fira Sans Condensed"/>
                <a:ea typeface="Fira Sans Condensed"/>
                <a:cs typeface="Fira Sans Condensed"/>
                <a:sym typeface="Fira Sans Condensed"/>
              </a:rPr>
              <a:t>HCO₃⁻ consumido → acidemia</a:t>
            </a:r>
            <a:endParaRPr lang="es-AR" sz="1200" dirty="0">
              <a:latin typeface="Fira Sans Condensed"/>
            </a:endParaRPr>
          </a:p>
        </p:txBody>
      </p:sp>
      <p:sp>
        <p:nvSpPr>
          <p:cNvPr id="30" name="Nodo kus"/>
          <p:cNvSpPr/>
          <p:nvPr/>
        </p:nvSpPr>
        <p:spPr>
          <a:xfrm>
            <a:off x="365760" y="5577840"/>
            <a:ext cx="2377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Hiperventilación (Kussmaul)</a:t>
            </a:r>
            <a:endParaRPr lang="es-AR" sz="1200" dirty="0">
              <a:latin typeface="Fira Sans Condensed"/>
            </a:endParaRPr>
          </a:p>
        </p:txBody>
      </p:sp>
      <p:sp>
        <p:nvSpPr>
          <p:cNvPr id="31" name="Nodo g"/>
          <p:cNvSpPr/>
          <p:nvPr/>
        </p:nvSpPr>
        <p:spPr>
          <a:xfrm>
            <a:off x="6309360" y="2148840"/>
            <a:ext cx="24688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Hiperglucemia</a:t>
            </a:r>
            <a:endParaRPr lang="es-AR" sz="1300" dirty="0">
              <a:latin typeface="Fira Sans Condensed"/>
            </a:endParaRPr>
          </a:p>
        </p:txBody>
      </p:sp>
      <p:sp>
        <p:nvSpPr>
          <p:cNvPr id="32" name="Nodo gu"/>
          <p:cNvSpPr/>
          <p:nvPr/>
        </p:nvSpPr>
        <p:spPr>
          <a:xfrm>
            <a:off x="6309360" y="2834640"/>
            <a:ext cx="24688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Glucosuria</a:t>
            </a:r>
            <a:endParaRPr lang="es-AR" sz="1300" dirty="0">
              <a:latin typeface="Fira Sans Condensed"/>
            </a:endParaRPr>
          </a:p>
        </p:txBody>
      </p:sp>
      <p:sp>
        <p:nvSpPr>
          <p:cNvPr id="33" name="Nodo do"/>
          <p:cNvSpPr/>
          <p:nvPr/>
        </p:nvSpPr>
        <p:spPr>
          <a:xfrm>
            <a:off x="6309360" y="3520440"/>
            <a:ext cx="24688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Diuresis osmótica</a:t>
            </a:r>
            <a:endParaRPr lang="es-AR" sz="1300" dirty="0">
              <a:latin typeface="Fira Sans Condensed"/>
            </a:endParaRPr>
          </a:p>
        </p:txBody>
      </p:sp>
      <p:sp>
        <p:nvSpPr>
          <p:cNvPr id="34" name="Nodo dh"/>
          <p:cNvSpPr/>
          <p:nvPr/>
        </p:nvSpPr>
        <p:spPr>
          <a:xfrm>
            <a:off x="6309360" y="4206240"/>
            <a:ext cx="2468880" cy="457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FFFFFF"/>
                </a:solidFill>
                <a:latin typeface="Fira Sans Condensed"/>
                <a:ea typeface="Fira Sans Condensed"/>
                <a:cs typeface="Fira Sans Condensed"/>
                <a:sym typeface="Fira Sans Condensed"/>
              </a:rPr>
              <a:t>Deshidratación · hipovolemia</a:t>
            </a:r>
            <a:endParaRPr lang="es-AR" sz="1200" dirty="0">
              <a:latin typeface="Fira Sans Condensed"/>
            </a:endParaRPr>
          </a:p>
        </p:txBody>
      </p:sp>
      <p:sp>
        <p:nvSpPr>
          <p:cNvPr id="35" name="Nodo pr"/>
          <p:cNvSpPr/>
          <p:nvPr/>
        </p:nvSpPr>
        <p:spPr>
          <a:xfrm>
            <a:off x="6309360" y="4892040"/>
            <a:ext cx="2468880" cy="457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FFFFFF"/>
                </a:solidFill>
                <a:latin typeface="Fira Sans Condensed"/>
                <a:ea typeface="Fira Sans Condensed"/>
                <a:cs typeface="Fira Sans Condensed"/>
                <a:sym typeface="Fira Sans Condensed"/>
              </a:rPr>
              <a:t>Perfusión renal ↓ · FG ↓</a:t>
            </a:r>
            <a:endParaRPr lang="es-AR" sz="1200" dirty="0">
              <a:latin typeface="Fira Sans Condensed"/>
            </a:endParaRPr>
          </a:p>
        </p:txBody>
      </p:sp>
      <p:sp>
        <p:nvSpPr>
          <p:cNvPr id="36" name="Nodo x"/>
          <p:cNvSpPr/>
          <p:nvPr/>
        </p:nvSpPr>
        <p:spPr>
          <a:xfrm>
            <a:off x="3291840" y="4206240"/>
            <a:ext cx="2514600" cy="1143000"/>
          </a:xfrm>
          <a:prstGeom prst="rect">
            <a:avLst/>
          </a:prstGeom>
          <a:solidFill>
            <a:srgbClr val="26262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Menor eliminación de glucosa y cetonas · más hormonas de estrés</a:t>
            </a:r>
            <a:endParaRPr lang="es-AR" sz="1250" dirty="0">
              <a:latin typeface="Fira Sans Condensed"/>
            </a:endParaRPr>
          </a:p>
        </p:txBody>
      </p:sp>
      <p:sp>
        <p:nvSpPr>
          <p:cNvPr id="37" name="Nodo cl"/>
          <p:cNvSpPr/>
          <p:nvPr/>
        </p:nvSpPr>
        <p:spPr>
          <a:xfrm>
            <a:off x="9144000" y="2743200"/>
            <a:ext cx="2697480" cy="2194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EMPEORA EL ESTADO METABÓLICO</a:t>
            </a:r>
            <a:endParaRPr lang="es-AR" sz="1500" dirty="0">
              <a:latin typeface="Fira Sans Condensed"/>
            </a:endParaRPr>
          </a:p>
        </p:txBody>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CIRCUITO FISIOPATOLÓGICO INTEGRADO DE LA CAD</a:t>
            </a:r>
            <a:endParaRPr lang="es-AR" sz="31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childTnLst>
                          </p:cTn>
                        </p:par>
                      </p:childTnLst>
                    </p:cTn>
                  </p:par>
                  <p:par>
                    <p:cTn id="64" fill="hold">
                      <p:stCondLst>
                        <p:cond delay="indefinite"/>
                      </p:stCondLst>
                      <p:childTnLst>
                        <p:par>
                          <p:cTn id="19"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par>
                          <p:cTn id="27" fill="hold">
                            <p:stCondLst>
                              <p:cond delay="900"/>
                            </p:stCondLst>
                            <p:childTnLst>
                              <p:par>
                                <p:cTn id="24" presetID="22" presetClass="entr" presetSubtype="1"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500"/>
                                        <p:tgtEl>
                                          <p:spTgt spid="9"/>
                                        </p:tgtEl>
                                      </p:cBhvr>
                                    </p:animEffect>
                                  </p:childTnLst>
                                </p:cTn>
                              </p:par>
                            </p:childTnLst>
                          </p:cTn>
                        </p:par>
                        <p:par>
                          <p:cTn id="31" fill="hold">
                            <p:stCondLst>
                              <p:cond delay="1400"/>
                            </p:stCondLst>
                            <p:childTnLst>
                              <p:par>
                                <p:cTn id="28" presetID="10" presetClass="entr" presetSubtype="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par>
                          <p:cTn id="35" fill="hold">
                            <p:stCondLst>
                              <p:cond delay="1800"/>
                            </p:stCondLst>
                            <p:childTnLst>
                              <p:par>
                                <p:cTn id="32" presetID="22" presetClass="entr" presetSubtype="1"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childTnLst>
                          </p:cTn>
                        </p:par>
                        <p:par>
                          <p:cTn id="39" fill="hold">
                            <p:stCondLst>
                              <p:cond delay="2300"/>
                            </p:stCondLst>
                            <p:childTnLst>
                              <p:par>
                                <p:cTn id="36" presetID="10"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400"/>
                                        <p:tgtEl>
                                          <p:spTgt spid="27"/>
                                        </p:tgtEl>
                                      </p:cBhvr>
                                    </p:animEffect>
                                  </p:childTnLst>
                                </p:cTn>
                              </p:par>
                            </p:childTnLst>
                          </p:cTn>
                        </p:par>
                        <p:par>
                          <p:cTn id="43" fill="hold">
                            <p:stCondLst>
                              <p:cond delay="2700"/>
                            </p:stCondLst>
                            <p:childTnLst>
                              <p:par>
                                <p:cTn id="40" presetID="22" presetClass="entr" presetSubtype="1"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childTnLst>
                          </p:cTn>
                        </p:par>
                        <p:par>
                          <p:cTn id="47" fill="hold">
                            <p:stCondLst>
                              <p:cond delay="3200"/>
                            </p:stCondLst>
                            <p:childTnLst>
                              <p:par>
                                <p:cTn id="44" presetID="10"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400"/>
                                        <p:tgtEl>
                                          <p:spTgt spid="28"/>
                                        </p:tgtEl>
                                      </p:cBhvr>
                                    </p:animEffect>
                                  </p:childTnLst>
                                </p:cTn>
                              </p:par>
                            </p:childTnLst>
                          </p:cTn>
                        </p:par>
                        <p:par>
                          <p:cTn id="51" fill="hold">
                            <p:stCondLst>
                              <p:cond delay="3600"/>
                            </p:stCondLst>
                            <p:childTnLst>
                              <p:par>
                                <p:cTn id="48" presetID="22" presetClass="entr" presetSubtype="1"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5" fill="hold">
                            <p:stCondLst>
                              <p:cond delay="4100"/>
                            </p:stCondLst>
                            <p:childTnLst>
                              <p:par>
                                <p:cTn id="52" presetID="10" presetClass="entr" presetSubtype="0"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400"/>
                                        <p:tgtEl>
                                          <p:spTgt spid="29"/>
                                        </p:tgtEl>
                                      </p:cBhvr>
                                    </p:animEffect>
                                  </p:childTnLst>
                                </p:cTn>
                              </p:par>
                            </p:childTnLst>
                          </p:cTn>
                        </p:par>
                        <p:par>
                          <p:cTn id="59" fill="hold">
                            <p:stCondLst>
                              <p:cond delay="4500"/>
                            </p:stCondLst>
                            <p:childTnLst>
                              <p:par>
                                <p:cTn id="56" presetID="22" presetClass="entr" presetSubtype="1"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up)">
                                      <p:cBhvr>
                                        <p:cTn id="58" dur="500"/>
                                        <p:tgtEl>
                                          <p:spTgt spid="13"/>
                                        </p:tgtEl>
                                      </p:cBhvr>
                                    </p:animEffect>
                                  </p:childTnLst>
                                </p:cTn>
                              </p:par>
                            </p:childTnLst>
                          </p:cTn>
                        </p:par>
                        <p:par>
                          <p:cTn id="63" fill="hold">
                            <p:stCondLst>
                              <p:cond delay="5000"/>
                            </p:stCondLst>
                            <p:childTnLst>
                              <p:par>
                                <p:cTn id="60" presetID="10" presetClass="entr" presetSubtype="0" fill="hold" grpId="0" nodeType="after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childTnLst>
                          </p:cTn>
                        </p:par>
                      </p:childTnLst>
                    </p:cTn>
                  </p:par>
                  <p:par>
                    <p:cTn id="105" fill="hold">
                      <p:stCondLst>
                        <p:cond delay="indefinite"/>
                      </p:stCondLst>
                      <p:childTnLst>
                        <p:par>
                          <p:cTn id="68"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par>
                          <p:cTn id="72" fill="hold">
                            <p:stCondLst>
                              <p:cond delay="500"/>
                            </p:stCondLst>
                            <p:childTnLst>
                              <p:par>
                                <p:cTn id="69" presetID="10" presetClass="entr" presetSubtype="0" fill="hold" grpId="0"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400"/>
                                        <p:tgtEl>
                                          <p:spTgt spid="31"/>
                                        </p:tgtEl>
                                      </p:cBhvr>
                                    </p:animEffect>
                                  </p:childTnLst>
                                </p:cTn>
                              </p:par>
                            </p:childTnLst>
                          </p:cTn>
                        </p:par>
                        <p:par>
                          <p:cTn id="76" fill="hold">
                            <p:stCondLst>
                              <p:cond delay="900"/>
                            </p:stCondLst>
                            <p:childTnLst>
                              <p:par>
                                <p:cTn id="73" presetID="22" presetClass="entr" presetSubtype="1"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up)">
                                      <p:cBhvr>
                                        <p:cTn id="75" dur="500"/>
                                        <p:tgtEl>
                                          <p:spTgt spid="15"/>
                                        </p:tgtEl>
                                      </p:cBhvr>
                                    </p:animEffect>
                                  </p:childTnLst>
                                </p:cTn>
                              </p:par>
                            </p:childTnLst>
                          </p:cTn>
                        </p:par>
                        <p:par>
                          <p:cTn id="80" fill="hold">
                            <p:stCondLst>
                              <p:cond delay="1400"/>
                            </p:stCondLst>
                            <p:childTnLst>
                              <p:par>
                                <p:cTn id="77" presetID="10" presetClass="entr" presetSubtype="0" fill="hold" grpId="0"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childTnLst>
                          </p:cTn>
                        </p:par>
                        <p:par>
                          <p:cTn id="84" fill="hold">
                            <p:stCondLst>
                              <p:cond delay="1800"/>
                            </p:stCondLst>
                            <p:childTnLst>
                              <p:par>
                                <p:cTn id="81" presetID="22" presetClass="entr" presetSubtype="1" fill="hold" grpId="0" nodeType="after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up)">
                                      <p:cBhvr>
                                        <p:cTn id="83" dur="500"/>
                                        <p:tgtEl>
                                          <p:spTgt spid="16"/>
                                        </p:tgtEl>
                                      </p:cBhvr>
                                    </p:animEffect>
                                  </p:childTnLst>
                                </p:cTn>
                              </p:par>
                            </p:childTnLst>
                          </p:cTn>
                        </p:par>
                        <p:par>
                          <p:cTn id="88" fill="hold">
                            <p:stCondLst>
                              <p:cond delay="2300"/>
                            </p:stCondLst>
                            <p:childTnLst>
                              <p:par>
                                <p:cTn id="85" presetID="10" presetClass="entr" presetSubtype="0" fill="hold" grpId="0" nodeType="after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00"/>
                                        <p:tgtEl>
                                          <p:spTgt spid="33"/>
                                        </p:tgtEl>
                                      </p:cBhvr>
                                    </p:animEffect>
                                  </p:childTnLst>
                                </p:cTn>
                              </p:par>
                            </p:childTnLst>
                          </p:cTn>
                        </p:par>
                        <p:par>
                          <p:cTn id="92" fill="hold">
                            <p:stCondLst>
                              <p:cond delay="2700"/>
                            </p:stCondLst>
                            <p:childTnLst>
                              <p:par>
                                <p:cTn id="89" presetID="22" presetClass="entr" presetSubtype="1" fill="hold" grpId="0" nodeType="after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wipe(up)">
                                      <p:cBhvr>
                                        <p:cTn id="91" dur="500"/>
                                        <p:tgtEl>
                                          <p:spTgt spid="17"/>
                                        </p:tgtEl>
                                      </p:cBhvr>
                                    </p:animEffect>
                                  </p:childTnLst>
                                </p:cTn>
                              </p:par>
                            </p:childTnLst>
                          </p:cTn>
                        </p:par>
                        <p:par>
                          <p:cTn id="96" fill="hold">
                            <p:stCondLst>
                              <p:cond delay="3200"/>
                            </p:stCondLst>
                            <p:childTnLst>
                              <p:par>
                                <p:cTn id="93" presetID="10" presetClass="entr" presetSubtype="0" fill="hold" grpId="0" nodeType="after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00"/>
                                        <p:tgtEl>
                                          <p:spTgt spid="34"/>
                                        </p:tgtEl>
                                      </p:cBhvr>
                                    </p:animEffect>
                                  </p:childTnLst>
                                </p:cTn>
                              </p:par>
                            </p:childTnLst>
                          </p:cTn>
                        </p:par>
                        <p:par>
                          <p:cTn id="100" fill="hold">
                            <p:stCondLst>
                              <p:cond delay="3600"/>
                            </p:stCondLst>
                            <p:childTnLst>
                              <p:par>
                                <p:cTn id="97" presetID="22" presetClass="entr" presetSubtype="1" fill="hold" grpId="0" nodeType="afterEffect">
                                  <p:stCondLst>
                                    <p:cond delay="0"/>
                                  </p:stCondLst>
                                  <p:childTnLst>
                                    <p:set>
                                      <p:cBhvr>
                                        <p:cTn id="98" dur="1" fill="hold">
                                          <p:stCondLst>
                                            <p:cond delay="0"/>
                                          </p:stCondLst>
                                        </p:cTn>
                                        <p:tgtEl>
                                          <p:spTgt spid="18"/>
                                        </p:tgtEl>
                                        <p:attrNameLst>
                                          <p:attrName>style.visibility</p:attrName>
                                        </p:attrNameLst>
                                      </p:cBhvr>
                                      <p:to>
                                        <p:strVal val="visible"/>
                                      </p:to>
                                    </p:set>
                                    <p:animEffect transition="in" filter="wipe(up)">
                                      <p:cBhvr>
                                        <p:cTn id="99" dur="500"/>
                                        <p:tgtEl>
                                          <p:spTgt spid="18"/>
                                        </p:tgtEl>
                                      </p:cBhvr>
                                    </p:animEffect>
                                  </p:childTnLst>
                                </p:cTn>
                              </p:par>
                            </p:childTnLst>
                          </p:cTn>
                        </p:par>
                        <p:par>
                          <p:cTn id="104" fill="hold">
                            <p:stCondLst>
                              <p:cond delay="4100"/>
                            </p:stCondLst>
                            <p:childTnLst>
                              <p:par>
                                <p:cTn id="101" presetID="10" presetClass="entr" presetSubtype="0" fill="hold" grpId="0" nodeType="after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00"/>
                                        <p:tgtEl>
                                          <p:spTgt spid="35"/>
                                        </p:tgtEl>
                                      </p:cBhvr>
                                    </p:animEffect>
                                  </p:childTnLst>
                                </p:cTn>
                              </p:par>
                            </p:childTnLst>
                          </p:cTn>
                        </p:par>
                      </p:childTnLst>
                    </p:cTn>
                  </p:par>
                  <p:par>
                    <p:cTn id="118" fill="hold">
                      <p:stCondLst>
                        <p:cond delay="indefinite"/>
                      </p:stCondLst>
                      <p:childTnLst>
                        <p:par>
                          <p:cTn id="109"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wipe(left)">
                                      <p:cBhvr>
                                        <p:cTn id="108" dur="500"/>
                                        <p:tgtEl>
                                          <p:spTgt spid="19"/>
                                        </p:tgtEl>
                                      </p:cBhvr>
                                    </p:animEffect>
                                  </p:childTnLst>
                                </p:cTn>
                              </p:par>
                            </p:childTnLst>
                          </p:cTn>
                        </p:par>
                        <p:par>
                          <p:cTn id="113"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wipe(left)">
                                      <p:cBhvr>
                                        <p:cTn id="112" dur="500"/>
                                        <p:tgtEl>
                                          <p:spTgt spid="20"/>
                                        </p:tgtEl>
                                      </p:cBhvr>
                                    </p:animEffect>
                                  </p:childTnLst>
                                </p:cTn>
                              </p:par>
                            </p:childTnLst>
                          </p:cTn>
                        </p:par>
                        <p:par>
                          <p:cTn id="117" fill="hold">
                            <p:stCondLst>
                              <p:cond delay="1000"/>
                            </p:stCondLst>
                            <p:childTnLst>
                              <p:par>
                                <p:cTn id="114" presetID="10" presetClass="entr" presetSubtype="0" fill="hold" grpId="0" nodeType="afterEffect">
                                  <p:stCondLst>
                                    <p:cond delay="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400"/>
                                        <p:tgtEl>
                                          <p:spTgt spid="36"/>
                                        </p:tgtEl>
                                      </p:cBhvr>
                                    </p:animEffect>
                                  </p:childTnLst>
                                </p:cTn>
                              </p:par>
                            </p:childTnLst>
                          </p:cTn>
                        </p:par>
                      </p:childTnLst>
                    </p:cTn>
                  </p:par>
                  <p:par>
                    <p:cTn id="131" fill="hold">
                      <p:stCondLst>
                        <p:cond delay="indefinite"/>
                      </p:stCondLst>
                      <p:childTnLst>
                        <p:par>
                          <p:cTn id="122"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wipe(left)">
                                      <p:cBhvr>
                                        <p:cTn id="121" dur="500"/>
                                        <p:tgtEl>
                                          <p:spTgt spid="21"/>
                                        </p:tgtEl>
                                      </p:cBhvr>
                                    </p:animEffect>
                                  </p:childTnLst>
                                </p:cTn>
                              </p:par>
                            </p:childTnLst>
                          </p:cTn>
                        </p:par>
                        <p:par>
                          <p:cTn id="126" fill="hold">
                            <p:stCondLst>
                              <p:cond delay="500"/>
                            </p:stCondLst>
                            <p:childTnLst>
                              <p:par>
                                <p:cTn id="123" presetID="10" presetClass="entr" presetSubtype="0" fill="hold" grpId="0" nodeType="after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400"/>
                                        <p:tgtEl>
                                          <p:spTgt spid="37"/>
                                        </p:tgtEl>
                                      </p:cBhvr>
                                    </p:animEffect>
                                  </p:childTnLst>
                                </p:cTn>
                              </p:par>
                            </p:childTnLst>
                          </p:cTn>
                        </p:par>
                        <p:par>
                          <p:cTn id="130" fill="hold">
                            <p:stCondLst>
                              <p:cond delay="900"/>
                            </p:stCondLst>
                            <p:childTnLst>
                              <p:par>
                                <p:cTn id="127" presetID="22" presetClass="entr" presetSubtype="8" fill="hold" grpId="0" nodeType="afterEffect">
                                  <p:stCondLst>
                                    <p:cond delay="0"/>
                                  </p:stCondLst>
                                  <p:childTnLst>
                                    <p:set>
                                      <p:cBhvr>
                                        <p:cTn id="128" dur="1" fill="hold">
                                          <p:stCondLst>
                                            <p:cond delay="0"/>
                                          </p:stCondLst>
                                        </p:cTn>
                                        <p:tgtEl>
                                          <p:spTgt spid="22"/>
                                        </p:tgtEl>
                                        <p:attrNameLst>
                                          <p:attrName>style.visibility</p:attrName>
                                        </p:attrNameLst>
                                      </p:cBhvr>
                                      <p:to>
                                        <p:strVal val="visible"/>
                                      </p:to>
                                    </p:set>
                                    <p:animEffect transition="in" filter="wipe(left)">
                                      <p:cBhvr>
                                        <p:cTn id="12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7" grpId="0" animBg="1"/>
      <p:bldP spid="24" grpId="0" animBg="1"/>
      <p:bldP spid="8" grpId="0" animBg="1"/>
      <p:bldP spid="25" grpId="0" animBg="1"/>
      <p:bldP spid="9" grpId="0" animBg="1"/>
      <p:bldP spid="26" grpId="0" animBg="1"/>
      <p:bldP spid="10" grpId="0" animBg="1"/>
      <p:bldP spid="27" grpId="0" animBg="1"/>
      <p:bldP spid="11" grpId="0" animBg="1"/>
      <p:bldP spid="28" grpId="0" animBg="1"/>
      <p:bldP spid="12" grpId="0" animBg="1"/>
      <p:bldP spid="29" grpId="0" animBg="1"/>
      <p:bldP spid="13" grpId="0" animBg="1"/>
      <p:bldP spid="30" grpId="0" animBg="1"/>
      <p:bldP spid="14" grpId="0" animBg="1"/>
      <p:bldP spid="31" grpId="0" animBg="1"/>
      <p:bldP spid="15" grpId="0" animBg="1"/>
      <p:bldP spid="32" grpId="0" animBg="1"/>
      <p:bldP spid="16" grpId="0" animBg="1"/>
      <p:bldP spid="33" grpId="0" animBg="1"/>
      <p:bldP spid="17" grpId="0" animBg="1"/>
      <p:bldP spid="34" grpId="0" animBg="1"/>
      <p:bldP spid="18" grpId="0" animBg="1"/>
      <p:bldP spid="35" grpId="0" animBg="1"/>
      <p:bldP spid="19" grpId="0" animBg="1"/>
      <p:bldP spid="20" grpId="0" animBg="1"/>
      <p:bldP spid="36" grpId="0" animBg="1"/>
      <p:bldP spid="21" grpId="0" animBg="1"/>
      <p:bldP spid="37" grpId="0" animBg="1"/>
      <p:bldP spid="22" grpId="0" animBg="1"/>
    </p:bld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Modelo 3D bhb"/>
          <p:cNvGrpSpPr/>
          <p:nvPr/>
        </p:nvGrpSpPr>
        <p:grpSpPr>
          <a:xfrm>
            <a:off x="91440" y="1255796"/>
            <a:ext cx="2468880" cy="1611495"/>
            <a:chOff x="91440" y="1255796"/>
            <a:chExt cx="2468880" cy="1611495"/>
          </a:xfrm>
        </p:grpSpPr>
        <p:sp>
          <p:nvSpPr>
            <p:cNvPr id="8" name="Átomo H"/>
            <p:cNvSpPr/>
            <p:nvPr/>
          </p:nvSpPr>
          <p:spPr>
            <a:xfrm>
              <a:off x="1219888" y="1764902"/>
              <a:ext cx="144813" cy="14481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 name="Flecha 8_2"/>
            <p:cNvSpPr/>
            <p:nvPr/>
          </p:nvSpPr>
          <p:spPr>
            <a:xfrm>
              <a:off x="1292295" y="1837309"/>
              <a:ext cx="103569" cy="147329"/>
            </a:xfrm>
            <a:custGeom>
              <a:avLst/>
              <a:gdLst/>
              <a:ahLst/>
              <a:cxnLst/>
              <a:rect l="0" t="0" r="r" b="b"/>
              <a:pathLst>
                <a:path w="113" h="161" fill="none">
                  <a:moveTo>
                    <a:pt x="113" y="161"/>
                  </a:moveTo>
                  <a:lnTo>
                    <a:pt x="0" y="0"/>
                  </a:lnTo>
                </a:path>
              </a:pathLst>
            </a:custGeom>
            <a:noFill/>
            <a:ln w="36975" cap="rnd">
              <a:solidFill>
                <a:srgbClr val="9A9A9A"/>
              </a:solidFill>
              <a:round/>
            </a:ln>
          </p:spPr>
        </p:sp>
        <p:sp>
          <p:nvSpPr>
            <p:cNvPr id="10" name="Átomo O"/>
            <p:cNvSpPr/>
            <p:nvPr/>
          </p:nvSpPr>
          <p:spPr>
            <a:xfrm>
              <a:off x="1932471" y="2100722"/>
              <a:ext cx="233767" cy="23376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1" name="Flecha 11_2"/>
            <p:cNvSpPr/>
            <p:nvPr/>
          </p:nvSpPr>
          <p:spPr>
            <a:xfrm>
              <a:off x="1842365" y="1924076"/>
              <a:ext cx="206989" cy="293530"/>
            </a:xfrm>
            <a:custGeom>
              <a:avLst/>
              <a:gdLst/>
              <a:ahLst/>
              <a:cxnLst/>
              <a:rect l="0" t="0" r="r" b="b"/>
              <a:pathLst>
                <a:path w="226" h="321" fill="none">
                  <a:moveTo>
                    <a:pt x="0" y="0"/>
                  </a:moveTo>
                  <a:lnTo>
                    <a:pt x="226" y="321"/>
                  </a:lnTo>
                </a:path>
              </a:pathLst>
            </a:custGeom>
            <a:noFill/>
            <a:ln w="36975" cap="rnd">
              <a:solidFill>
                <a:srgbClr val="9A9A9A"/>
              </a:solidFill>
              <a:round/>
            </a:ln>
          </p:spPr>
        </p:sp>
        <p:sp>
          <p:nvSpPr>
            <p:cNvPr id="12" name="Átomo H_2"/>
            <p:cNvSpPr/>
            <p:nvPr/>
          </p:nvSpPr>
          <p:spPr>
            <a:xfrm>
              <a:off x="1256550" y="2226588"/>
              <a:ext cx="149747" cy="1497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 name="Flecha 14_2"/>
            <p:cNvSpPr/>
            <p:nvPr/>
          </p:nvSpPr>
          <p:spPr>
            <a:xfrm>
              <a:off x="1331424" y="1984638"/>
              <a:ext cx="64440" cy="316824"/>
            </a:xfrm>
            <a:custGeom>
              <a:avLst/>
              <a:gdLst/>
              <a:ahLst/>
              <a:cxnLst/>
              <a:rect l="0" t="0" r="r" b="b"/>
              <a:pathLst>
                <a:path w="70" h="346" fill="none">
                  <a:moveTo>
                    <a:pt x="70" y="0"/>
                  </a:moveTo>
                  <a:lnTo>
                    <a:pt x="0" y="346"/>
                  </a:lnTo>
                </a:path>
              </a:pathLst>
            </a:custGeom>
            <a:noFill/>
            <a:ln w="36975" cap="rnd">
              <a:solidFill>
                <a:srgbClr val="9A9A9A"/>
              </a:solidFill>
              <a:round/>
            </a:ln>
          </p:spPr>
        </p:sp>
        <p:sp>
          <p:nvSpPr>
            <p:cNvPr id="14" name="Átomo C"/>
            <p:cNvSpPr/>
            <p:nvPr/>
          </p:nvSpPr>
          <p:spPr>
            <a:xfrm>
              <a:off x="1270671" y="1859446"/>
              <a:ext cx="250385" cy="2503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5" name="Flecha 17_2"/>
            <p:cNvSpPr/>
            <p:nvPr/>
          </p:nvSpPr>
          <p:spPr>
            <a:xfrm>
              <a:off x="1395863" y="1924076"/>
              <a:ext cx="446502" cy="60562"/>
            </a:xfrm>
            <a:custGeom>
              <a:avLst/>
              <a:gdLst/>
              <a:ahLst/>
              <a:cxnLst/>
              <a:rect l="0" t="0" r="r" b="b"/>
              <a:pathLst>
                <a:path w="488" h="66" fill="none">
                  <a:moveTo>
                    <a:pt x="0" y="66"/>
                  </a:moveTo>
                  <a:lnTo>
                    <a:pt x="488" y="0"/>
                  </a:lnTo>
                </a:path>
              </a:pathLst>
            </a:custGeom>
            <a:noFill/>
            <a:ln w="36975" cap="rnd">
              <a:solidFill>
                <a:srgbClr val="9A9A9A"/>
              </a:solidFill>
              <a:round/>
            </a:ln>
          </p:spPr>
        </p:sp>
        <p:sp>
          <p:nvSpPr>
            <p:cNvPr id="16" name="Átomo C_2"/>
            <p:cNvSpPr/>
            <p:nvPr/>
          </p:nvSpPr>
          <p:spPr>
            <a:xfrm>
              <a:off x="1716705" y="1798416"/>
              <a:ext cx="251321" cy="25132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7" name="Flecha 20_2"/>
            <p:cNvSpPr/>
            <p:nvPr/>
          </p:nvSpPr>
          <p:spPr>
            <a:xfrm>
              <a:off x="1867759" y="1592940"/>
              <a:ext cx="106763" cy="339130"/>
            </a:xfrm>
            <a:custGeom>
              <a:avLst/>
              <a:gdLst/>
              <a:ahLst/>
              <a:cxnLst/>
              <a:rect l="0" t="0" r="r" b="b"/>
              <a:pathLst>
                <a:path w="116" h="370" fill="none">
                  <a:moveTo>
                    <a:pt x="0" y="370"/>
                  </a:moveTo>
                  <a:lnTo>
                    <a:pt x="116" y="0"/>
                  </a:lnTo>
                </a:path>
              </a:pathLst>
            </a:custGeom>
            <a:noFill/>
            <a:ln w="29580" cap="rnd">
              <a:solidFill>
                <a:srgbClr val="9A9A9A"/>
              </a:solidFill>
              <a:round/>
            </a:ln>
          </p:spPr>
        </p:sp>
        <p:sp>
          <p:nvSpPr>
            <p:cNvPr id="18" name="Flecha 22_2"/>
            <p:cNvSpPr/>
            <p:nvPr/>
          </p:nvSpPr>
          <p:spPr>
            <a:xfrm>
              <a:off x="1816971" y="1576951"/>
              <a:ext cx="106763" cy="339130"/>
            </a:xfrm>
            <a:custGeom>
              <a:avLst/>
              <a:gdLst/>
              <a:ahLst/>
              <a:cxnLst/>
              <a:rect l="0" t="0" r="r" b="b"/>
              <a:pathLst>
                <a:path w="116" h="370" fill="none">
                  <a:moveTo>
                    <a:pt x="0" y="370"/>
                  </a:moveTo>
                  <a:lnTo>
                    <a:pt x="116" y="0"/>
                  </a:lnTo>
                </a:path>
              </a:pathLst>
            </a:custGeom>
            <a:noFill/>
            <a:ln w="29580" cap="rnd">
              <a:solidFill>
                <a:srgbClr val="9A9A9A"/>
              </a:solidFill>
              <a:round/>
            </a:ln>
          </p:spPr>
        </p:sp>
        <p:sp>
          <p:nvSpPr>
            <p:cNvPr id="19" name="Átomo H_3"/>
            <p:cNvSpPr/>
            <p:nvPr/>
          </p:nvSpPr>
          <p:spPr>
            <a:xfrm>
              <a:off x="525965" y="1745597"/>
              <a:ext cx="152881" cy="15288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0" name="Átomo O_2"/>
            <p:cNvSpPr/>
            <p:nvPr/>
          </p:nvSpPr>
          <p:spPr>
            <a:xfrm>
              <a:off x="1828776" y="1464594"/>
              <a:ext cx="240704" cy="24070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1" name="Flecha 26_2"/>
            <p:cNvSpPr/>
            <p:nvPr/>
          </p:nvSpPr>
          <p:spPr>
            <a:xfrm>
              <a:off x="1200044" y="1810504"/>
              <a:ext cx="195819" cy="174134"/>
            </a:xfrm>
            <a:custGeom>
              <a:avLst/>
              <a:gdLst/>
              <a:ahLst/>
              <a:cxnLst/>
              <a:rect l="0" t="0" r="r" b="b"/>
              <a:pathLst>
                <a:path w="214" h="190" fill="none">
                  <a:moveTo>
                    <a:pt x="0" y="0"/>
                  </a:moveTo>
                  <a:lnTo>
                    <a:pt x="214" y="190"/>
                  </a:lnTo>
                </a:path>
              </a:pathLst>
            </a:custGeom>
            <a:noFill/>
            <a:ln w="36975" cap="rnd">
              <a:solidFill>
                <a:srgbClr val="9A9A9A"/>
              </a:solidFill>
              <a:round/>
            </a:ln>
          </p:spPr>
        </p:sp>
        <p:sp>
          <p:nvSpPr>
            <p:cNvPr id="22" name="Flecha 28_2"/>
            <p:cNvSpPr/>
            <p:nvPr/>
          </p:nvSpPr>
          <p:spPr>
            <a:xfrm>
              <a:off x="602406" y="1822038"/>
              <a:ext cx="163682" cy="106038"/>
            </a:xfrm>
            <a:custGeom>
              <a:avLst/>
              <a:gdLst/>
              <a:ahLst/>
              <a:cxnLst/>
              <a:rect l="0" t="0" r="r" b="b"/>
              <a:pathLst>
                <a:path w="179" h="115" fill="none">
                  <a:moveTo>
                    <a:pt x="179" y="115"/>
                  </a:moveTo>
                  <a:lnTo>
                    <a:pt x="0" y="0"/>
                  </a:lnTo>
                </a:path>
              </a:pathLst>
            </a:custGeom>
            <a:noFill/>
            <a:ln w="36975" cap="rnd">
              <a:solidFill>
                <a:srgbClr val="9A9A9A"/>
              </a:solidFill>
              <a:round/>
            </a:ln>
          </p:spPr>
        </p:sp>
        <p:sp>
          <p:nvSpPr>
            <p:cNvPr id="23" name="Átomo H_4"/>
            <p:cNvSpPr/>
            <p:nvPr/>
          </p:nvSpPr>
          <p:spPr>
            <a:xfrm>
              <a:off x="1421160" y="1255796"/>
              <a:ext cx="156259" cy="1562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4" name="Flecha 31_2"/>
            <p:cNvSpPr/>
            <p:nvPr/>
          </p:nvSpPr>
          <p:spPr>
            <a:xfrm>
              <a:off x="1215730" y="1333926"/>
              <a:ext cx="283559" cy="53777"/>
            </a:xfrm>
            <a:custGeom>
              <a:avLst/>
              <a:gdLst/>
              <a:ahLst/>
              <a:cxnLst/>
              <a:rect l="0" t="0" r="r" b="b"/>
              <a:pathLst>
                <a:path w="310" h="58" fill="none">
                  <a:moveTo>
                    <a:pt x="0" y="58"/>
                  </a:moveTo>
                  <a:lnTo>
                    <a:pt x="310" y="0"/>
                  </a:lnTo>
                </a:path>
              </a:pathLst>
            </a:custGeom>
            <a:noFill/>
            <a:ln w="36975" cap="rnd">
              <a:solidFill>
                <a:srgbClr val="9A9A9A"/>
              </a:solidFill>
              <a:round/>
            </a:ln>
          </p:spPr>
        </p:sp>
        <p:sp>
          <p:nvSpPr>
            <p:cNvPr id="25" name="Átomo O_3"/>
            <p:cNvSpPr/>
            <p:nvPr/>
          </p:nvSpPr>
          <p:spPr>
            <a:xfrm>
              <a:off x="1092105" y="1264078"/>
              <a:ext cx="247250" cy="24725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6" name="Flecha 34_2"/>
            <p:cNvSpPr/>
            <p:nvPr/>
          </p:nvSpPr>
          <p:spPr>
            <a:xfrm>
              <a:off x="1200044" y="1387703"/>
              <a:ext cx="15686" cy="422801"/>
            </a:xfrm>
            <a:custGeom>
              <a:avLst/>
              <a:gdLst/>
              <a:ahLst/>
              <a:cxnLst/>
              <a:rect l="0" t="0" r="r" b="b"/>
              <a:pathLst>
                <a:path w="17" h="462" fill="none">
                  <a:moveTo>
                    <a:pt x="0" y="462"/>
                  </a:moveTo>
                  <a:lnTo>
                    <a:pt x="17" y="0"/>
                  </a:lnTo>
                </a:path>
              </a:pathLst>
            </a:custGeom>
            <a:noFill/>
            <a:ln w="36975" cap="rnd">
              <a:solidFill>
                <a:srgbClr val="9A9A9A"/>
              </a:solidFill>
              <a:round/>
            </a:ln>
          </p:spPr>
        </p:sp>
        <p:sp>
          <p:nvSpPr>
            <p:cNvPr id="27" name="Átomo C_3"/>
            <p:cNvSpPr/>
            <p:nvPr/>
          </p:nvSpPr>
          <p:spPr>
            <a:xfrm>
              <a:off x="1068716" y="1679175"/>
              <a:ext cx="262658" cy="26265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7_2"/>
            <p:cNvSpPr/>
            <p:nvPr/>
          </p:nvSpPr>
          <p:spPr>
            <a:xfrm>
              <a:off x="766088" y="1810504"/>
              <a:ext cx="433956" cy="117571"/>
            </a:xfrm>
            <a:custGeom>
              <a:avLst/>
              <a:gdLst/>
              <a:ahLst/>
              <a:cxnLst/>
              <a:rect l="0" t="0" r="r" b="b"/>
              <a:pathLst>
                <a:path w="474" h="128" fill="none">
                  <a:moveTo>
                    <a:pt x="0" y="128"/>
                  </a:moveTo>
                  <a:lnTo>
                    <a:pt x="474" y="0"/>
                  </a:lnTo>
                </a:path>
              </a:pathLst>
            </a:custGeom>
            <a:noFill/>
            <a:ln w="36975" cap="rnd">
              <a:solidFill>
                <a:srgbClr val="9A9A9A"/>
              </a:solidFill>
              <a:round/>
            </a:ln>
          </p:spPr>
        </p:sp>
        <p:sp>
          <p:nvSpPr>
            <p:cNvPr id="29" name="Átomo C_4"/>
            <p:cNvSpPr/>
            <p:nvPr/>
          </p:nvSpPr>
          <p:spPr>
            <a:xfrm>
              <a:off x="634352" y="1796340"/>
              <a:ext cx="263472" cy="26347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Flecha 40_2"/>
            <p:cNvSpPr/>
            <p:nvPr/>
          </p:nvSpPr>
          <p:spPr>
            <a:xfrm>
              <a:off x="731907" y="1928075"/>
              <a:ext cx="34181" cy="321239"/>
            </a:xfrm>
            <a:custGeom>
              <a:avLst/>
              <a:gdLst/>
              <a:ahLst/>
              <a:cxnLst/>
              <a:rect l="0" t="0" r="r" b="b"/>
              <a:pathLst>
                <a:path w="37" h="351" fill="none">
                  <a:moveTo>
                    <a:pt x="37" y="0"/>
                  </a:moveTo>
                  <a:lnTo>
                    <a:pt x="0" y="351"/>
                  </a:lnTo>
                </a:path>
              </a:pathLst>
            </a:custGeom>
            <a:noFill/>
            <a:ln w="36975" cap="rnd">
              <a:solidFill>
                <a:srgbClr val="9A9A9A"/>
              </a:solidFill>
              <a:round/>
            </a:ln>
          </p:spPr>
        </p:sp>
        <p:sp>
          <p:nvSpPr>
            <p:cNvPr id="31" name="Átomo H_5"/>
            <p:cNvSpPr/>
            <p:nvPr/>
          </p:nvSpPr>
          <p:spPr>
            <a:xfrm>
              <a:off x="652663" y="2170070"/>
              <a:ext cx="158488" cy="15848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2" name="Flecha 43_2"/>
            <p:cNvSpPr/>
            <p:nvPr/>
          </p:nvSpPr>
          <p:spPr>
            <a:xfrm>
              <a:off x="1200044" y="1810504"/>
              <a:ext cx="151586" cy="96156"/>
            </a:xfrm>
            <a:custGeom>
              <a:avLst/>
              <a:gdLst/>
              <a:ahLst/>
              <a:cxnLst/>
              <a:rect l="0" t="0" r="r" b="b"/>
              <a:pathLst>
                <a:path w="165" h="105" fill="none">
                  <a:moveTo>
                    <a:pt x="0" y="0"/>
                  </a:moveTo>
                  <a:lnTo>
                    <a:pt x="165" y="105"/>
                  </a:lnTo>
                </a:path>
              </a:pathLst>
            </a:custGeom>
            <a:noFill/>
            <a:ln w="36975" cap="rnd">
              <a:solidFill>
                <a:srgbClr val="9A9A9A"/>
              </a:solidFill>
              <a:round/>
            </a:ln>
          </p:spPr>
        </p:sp>
        <p:sp>
          <p:nvSpPr>
            <p:cNvPr id="33" name="Flecha 45_2"/>
            <p:cNvSpPr/>
            <p:nvPr/>
          </p:nvSpPr>
          <p:spPr>
            <a:xfrm>
              <a:off x="626792" y="1793171"/>
              <a:ext cx="139296" cy="134904"/>
            </a:xfrm>
            <a:custGeom>
              <a:avLst/>
              <a:gdLst/>
              <a:ahLst/>
              <a:cxnLst/>
              <a:rect l="0" t="0" r="r" b="b"/>
              <a:pathLst>
                <a:path w="152" h="147" fill="none">
                  <a:moveTo>
                    <a:pt x="152" y="147"/>
                  </a:moveTo>
                  <a:lnTo>
                    <a:pt x="0" y="0"/>
                  </a:lnTo>
                </a:path>
              </a:pathLst>
            </a:custGeom>
            <a:noFill/>
            <a:ln w="36975" cap="rnd">
              <a:solidFill>
                <a:srgbClr val="9A9A9A"/>
              </a:solidFill>
              <a:round/>
            </a:ln>
          </p:spPr>
        </p:sp>
        <p:sp>
          <p:nvSpPr>
            <p:cNvPr id="34" name="Átomo H_6"/>
            <p:cNvSpPr/>
            <p:nvPr/>
          </p:nvSpPr>
          <p:spPr>
            <a:xfrm>
              <a:off x="1270119" y="1825149"/>
              <a:ext cx="163022" cy="16302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5" name="Átomo H_7"/>
            <p:cNvSpPr/>
            <p:nvPr/>
          </p:nvSpPr>
          <p:spPr>
            <a:xfrm>
              <a:off x="545142" y="1711521"/>
              <a:ext cx="163300" cy="16330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6" name="Forma 49"/>
            <p:cNvSpPr txBox="1"/>
            <p:nvPr/>
          </p:nvSpPr>
          <p:spPr>
            <a:xfrm>
              <a:off x="91440" y="2556396"/>
              <a:ext cx="246888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β-hidroxibutirato</a:t>
              </a:r>
              <a:endParaRPr lang="es-AR" sz="1300" dirty="0">
                <a:latin typeface="Fira Sans Condensed"/>
              </a:endParaRPr>
            </a:p>
          </p:txBody>
        </p:sp>
      </p:grpSp>
      <p:grpSp>
        <p:nvGrpSpPr>
          <p:cNvPr id="37" name="Modelo 3D acetoacetato"/>
          <p:cNvGrpSpPr/>
          <p:nvPr/>
        </p:nvGrpSpPr>
        <p:grpSpPr>
          <a:xfrm>
            <a:off x="2560320" y="1220024"/>
            <a:ext cx="2377440" cy="1910503"/>
            <a:chOff x="2560320" y="1220024"/>
            <a:chExt cx="2377440" cy="1910503"/>
          </a:xfrm>
        </p:grpSpPr>
        <p:sp>
          <p:nvSpPr>
            <p:cNvPr id="38" name="Átomo O_4"/>
            <p:cNvSpPr/>
            <p:nvPr/>
          </p:nvSpPr>
          <p:spPr>
            <a:xfrm>
              <a:off x="4090191" y="1930275"/>
              <a:ext cx="255516" cy="25551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9" name="Flecha 52_2"/>
            <p:cNvSpPr/>
            <p:nvPr/>
          </p:nvSpPr>
          <p:spPr>
            <a:xfrm>
              <a:off x="4243091" y="2041863"/>
              <a:ext cx="68092" cy="105864"/>
            </a:xfrm>
            <a:custGeom>
              <a:avLst/>
              <a:gdLst/>
              <a:ahLst/>
              <a:cxnLst/>
              <a:rect l="0" t="0" r="r" b="b"/>
              <a:pathLst>
                <a:path w="74" h="115" fill="none">
                  <a:moveTo>
                    <a:pt x="74" y="115"/>
                  </a:moveTo>
                  <a:lnTo>
                    <a:pt x="0" y="0"/>
                  </a:lnTo>
                </a:path>
              </a:pathLst>
            </a:custGeom>
            <a:noFill/>
            <a:ln w="33214" cap="rnd">
              <a:solidFill>
                <a:srgbClr val="9A9A9A"/>
              </a:solidFill>
              <a:round/>
            </a:ln>
          </p:spPr>
        </p:sp>
        <p:sp>
          <p:nvSpPr>
            <p:cNvPr id="40" name="Flecha 54_2"/>
            <p:cNvSpPr/>
            <p:nvPr/>
          </p:nvSpPr>
          <p:spPr>
            <a:xfrm>
              <a:off x="4192808" y="2074205"/>
              <a:ext cx="68092" cy="105864"/>
            </a:xfrm>
            <a:custGeom>
              <a:avLst/>
              <a:gdLst/>
              <a:ahLst/>
              <a:cxnLst/>
              <a:rect l="0" t="0" r="r" b="b"/>
              <a:pathLst>
                <a:path w="74" h="115" fill="none">
                  <a:moveTo>
                    <a:pt x="74" y="115"/>
                  </a:moveTo>
                  <a:lnTo>
                    <a:pt x="0" y="0"/>
                  </a:lnTo>
                </a:path>
              </a:pathLst>
            </a:custGeom>
            <a:noFill/>
            <a:ln w="33214" cap="rnd">
              <a:solidFill>
                <a:srgbClr val="9A9A9A"/>
              </a:solidFill>
              <a:round/>
            </a:ln>
          </p:spPr>
        </p:sp>
        <p:sp>
          <p:nvSpPr>
            <p:cNvPr id="41" name="Átomo C_5"/>
            <p:cNvSpPr/>
            <p:nvPr/>
          </p:nvSpPr>
          <p:spPr>
            <a:xfrm>
              <a:off x="4143925" y="2021782"/>
              <a:ext cx="284231" cy="28423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2" name="Átomo H_8"/>
            <p:cNvSpPr/>
            <p:nvPr/>
          </p:nvSpPr>
          <p:spPr>
            <a:xfrm>
              <a:off x="3301381" y="2129441"/>
              <a:ext cx="171657" cy="17165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3" name="Flecha 58_2"/>
            <p:cNvSpPr/>
            <p:nvPr/>
          </p:nvSpPr>
          <p:spPr>
            <a:xfrm>
              <a:off x="4286041" y="2163898"/>
              <a:ext cx="106201" cy="371730"/>
            </a:xfrm>
            <a:custGeom>
              <a:avLst/>
              <a:gdLst/>
              <a:ahLst/>
              <a:cxnLst/>
              <a:rect l="0" t="0" r="r" b="b"/>
              <a:pathLst>
                <a:path w="116" h="406" fill="none">
                  <a:moveTo>
                    <a:pt x="0" y="0"/>
                  </a:moveTo>
                  <a:lnTo>
                    <a:pt x="116" y="406"/>
                  </a:lnTo>
                </a:path>
              </a:pathLst>
            </a:custGeom>
            <a:noFill/>
            <a:ln w="41517" cap="rnd">
              <a:solidFill>
                <a:srgbClr val="9A9A9A"/>
              </a:solidFill>
              <a:round/>
            </a:ln>
          </p:spPr>
        </p:sp>
        <p:sp>
          <p:nvSpPr>
            <p:cNvPr id="44" name="Átomo O_5"/>
            <p:cNvSpPr/>
            <p:nvPr/>
          </p:nvSpPr>
          <p:spPr>
            <a:xfrm>
              <a:off x="4255705" y="2399091"/>
              <a:ext cx="273075" cy="27307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5" name="Flecha 61_2"/>
            <p:cNvSpPr/>
            <p:nvPr/>
          </p:nvSpPr>
          <p:spPr>
            <a:xfrm>
              <a:off x="4226327" y="1794914"/>
              <a:ext cx="59714" cy="368984"/>
            </a:xfrm>
            <a:custGeom>
              <a:avLst/>
              <a:gdLst/>
              <a:ahLst/>
              <a:cxnLst/>
              <a:rect l="0" t="0" r="r" b="b"/>
              <a:pathLst>
                <a:path w="65" h="403" fill="none">
                  <a:moveTo>
                    <a:pt x="0" y="0"/>
                  </a:moveTo>
                  <a:lnTo>
                    <a:pt x="65" y="403"/>
                  </a:lnTo>
                </a:path>
              </a:pathLst>
            </a:custGeom>
            <a:noFill/>
            <a:ln w="41517" cap="rnd">
              <a:solidFill>
                <a:srgbClr val="9A9A9A"/>
              </a:solidFill>
              <a:round/>
            </a:ln>
          </p:spPr>
        </p:sp>
        <p:sp>
          <p:nvSpPr>
            <p:cNvPr id="46" name="Átomo H_9"/>
            <p:cNvSpPr/>
            <p:nvPr/>
          </p:nvSpPr>
          <p:spPr>
            <a:xfrm>
              <a:off x="4278386" y="1399145"/>
              <a:ext cx="174540" cy="1745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7" name="Flecha 64_2"/>
            <p:cNvSpPr/>
            <p:nvPr/>
          </p:nvSpPr>
          <p:spPr>
            <a:xfrm>
              <a:off x="3387209" y="2112986"/>
              <a:ext cx="39107" cy="102284"/>
            </a:xfrm>
            <a:custGeom>
              <a:avLst/>
              <a:gdLst/>
              <a:ahLst/>
              <a:cxnLst/>
              <a:rect l="0" t="0" r="r" b="b"/>
              <a:pathLst>
                <a:path w="42" h="111" fill="none">
                  <a:moveTo>
                    <a:pt x="42" y="0"/>
                  </a:moveTo>
                  <a:lnTo>
                    <a:pt x="0" y="111"/>
                  </a:lnTo>
                </a:path>
              </a:pathLst>
            </a:custGeom>
            <a:noFill/>
            <a:ln w="41517" cap="rnd">
              <a:solidFill>
                <a:srgbClr val="9A9A9A"/>
              </a:solidFill>
              <a:round/>
            </a:ln>
          </p:spPr>
        </p:sp>
        <p:sp>
          <p:nvSpPr>
            <p:cNvPr id="48" name="Flecha 66_2"/>
            <p:cNvSpPr/>
            <p:nvPr/>
          </p:nvSpPr>
          <p:spPr>
            <a:xfrm>
              <a:off x="4226327" y="1486415"/>
              <a:ext cx="139329" cy="308499"/>
            </a:xfrm>
            <a:custGeom>
              <a:avLst/>
              <a:gdLst/>
              <a:ahLst/>
              <a:cxnLst/>
              <a:rect l="0" t="0" r="r" b="b"/>
              <a:pathLst>
                <a:path w="152" h="337" fill="none">
                  <a:moveTo>
                    <a:pt x="0" y="337"/>
                  </a:moveTo>
                  <a:lnTo>
                    <a:pt x="152" y="0"/>
                  </a:lnTo>
                </a:path>
              </a:pathLst>
            </a:custGeom>
            <a:noFill/>
            <a:ln w="41517" cap="rnd">
              <a:solidFill>
                <a:srgbClr val="9A9A9A"/>
              </a:solidFill>
              <a:round/>
            </a:ln>
          </p:spPr>
        </p:sp>
        <p:sp>
          <p:nvSpPr>
            <p:cNvPr id="49" name="Átomo C_6"/>
            <p:cNvSpPr/>
            <p:nvPr/>
          </p:nvSpPr>
          <p:spPr>
            <a:xfrm>
              <a:off x="4078671" y="1647258"/>
              <a:ext cx="295310" cy="29531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Flecha 69_2"/>
            <p:cNvSpPr/>
            <p:nvPr/>
          </p:nvSpPr>
          <p:spPr>
            <a:xfrm>
              <a:off x="3742453" y="1725576"/>
              <a:ext cx="483874" cy="69337"/>
            </a:xfrm>
            <a:custGeom>
              <a:avLst/>
              <a:gdLst/>
              <a:ahLst/>
              <a:cxnLst/>
              <a:rect l="0" t="0" r="r" b="b"/>
              <a:pathLst>
                <a:path w="529" h="75" fill="none">
                  <a:moveTo>
                    <a:pt x="0" y="0"/>
                  </a:moveTo>
                  <a:lnTo>
                    <a:pt x="529" y="75"/>
                  </a:lnTo>
                </a:path>
              </a:pathLst>
            </a:custGeom>
            <a:noFill/>
            <a:ln w="41517" cap="rnd">
              <a:solidFill>
                <a:srgbClr val="9A9A9A"/>
              </a:solidFill>
              <a:round/>
            </a:ln>
          </p:spPr>
        </p:sp>
        <p:sp>
          <p:nvSpPr>
            <p:cNvPr id="51" name="Átomo C_7"/>
            <p:cNvSpPr/>
            <p:nvPr/>
          </p:nvSpPr>
          <p:spPr>
            <a:xfrm>
              <a:off x="3277545" y="1964215"/>
              <a:ext cx="297544" cy="2975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2" name="Flecha 72_2"/>
            <p:cNvSpPr/>
            <p:nvPr/>
          </p:nvSpPr>
          <p:spPr>
            <a:xfrm>
              <a:off x="3426316" y="1725576"/>
              <a:ext cx="316137" cy="387410"/>
            </a:xfrm>
            <a:custGeom>
              <a:avLst/>
              <a:gdLst/>
              <a:ahLst/>
              <a:cxnLst/>
              <a:rect l="0" t="0" r="r" b="b"/>
              <a:pathLst>
                <a:path w="345" h="423" fill="none">
                  <a:moveTo>
                    <a:pt x="0" y="423"/>
                  </a:moveTo>
                  <a:lnTo>
                    <a:pt x="345" y="0"/>
                  </a:lnTo>
                </a:path>
              </a:pathLst>
            </a:custGeom>
            <a:noFill/>
            <a:ln w="41517" cap="rnd">
              <a:solidFill>
                <a:srgbClr val="9A9A9A"/>
              </a:solidFill>
              <a:round/>
            </a:ln>
          </p:spPr>
        </p:sp>
        <p:sp>
          <p:nvSpPr>
            <p:cNvPr id="53" name="Átomo C_8"/>
            <p:cNvSpPr/>
            <p:nvPr/>
          </p:nvSpPr>
          <p:spPr>
            <a:xfrm>
              <a:off x="3593139" y="1576262"/>
              <a:ext cx="298629" cy="2986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4" name="Flecha 75_2"/>
            <p:cNvSpPr/>
            <p:nvPr/>
          </p:nvSpPr>
          <p:spPr>
            <a:xfrm>
              <a:off x="3100355" y="2013381"/>
              <a:ext cx="325962" cy="99606"/>
            </a:xfrm>
            <a:custGeom>
              <a:avLst/>
              <a:gdLst/>
              <a:ahLst/>
              <a:cxnLst/>
              <a:rect l="0" t="0" r="r" b="b"/>
              <a:pathLst>
                <a:path w="356" h="108" fill="none">
                  <a:moveTo>
                    <a:pt x="356" y="108"/>
                  </a:moveTo>
                  <a:lnTo>
                    <a:pt x="0" y="0"/>
                  </a:lnTo>
                </a:path>
              </a:pathLst>
            </a:custGeom>
            <a:noFill/>
            <a:ln w="41517" cap="rnd">
              <a:solidFill>
                <a:srgbClr val="9A9A9A"/>
              </a:solidFill>
              <a:round/>
            </a:ln>
          </p:spPr>
        </p:sp>
        <p:sp>
          <p:nvSpPr>
            <p:cNvPr id="55" name="Flecha 77_2"/>
            <p:cNvSpPr/>
            <p:nvPr/>
          </p:nvSpPr>
          <p:spPr>
            <a:xfrm>
              <a:off x="4226327" y="1794914"/>
              <a:ext cx="171399" cy="79403"/>
            </a:xfrm>
            <a:custGeom>
              <a:avLst/>
              <a:gdLst/>
              <a:ahLst/>
              <a:cxnLst/>
              <a:rect l="0" t="0" r="r" b="b"/>
              <a:pathLst>
                <a:path w="187" h="86" fill="none">
                  <a:moveTo>
                    <a:pt x="0" y="0"/>
                  </a:moveTo>
                  <a:lnTo>
                    <a:pt x="187" y="86"/>
                  </a:lnTo>
                </a:path>
              </a:pathLst>
            </a:custGeom>
            <a:noFill/>
            <a:ln w="41517" cap="rnd">
              <a:solidFill>
                <a:srgbClr val="9A9A9A"/>
              </a:solidFill>
              <a:round/>
            </a:ln>
          </p:spPr>
        </p:sp>
        <p:sp>
          <p:nvSpPr>
            <p:cNvPr id="56" name="Flecha 79_2"/>
            <p:cNvSpPr/>
            <p:nvPr/>
          </p:nvSpPr>
          <p:spPr>
            <a:xfrm>
              <a:off x="3426316" y="2112986"/>
              <a:ext cx="121061" cy="275637"/>
            </a:xfrm>
            <a:custGeom>
              <a:avLst/>
              <a:gdLst/>
              <a:ahLst/>
              <a:cxnLst/>
              <a:rect l="0" t="0" r="r" b="b"/>
              <a:pathLst>
                <a:path w="132" h="301" fill="none">
                  <a:moveTo>
                    <a:pt x="0" y="0"/>
                  </a:moveTo>
                  <a:lnTo>
                    <a:pt x="132" y="301"/>
                  </a:lnTo>
                </a:path>
              </a:pathLst>
            </a:custGeom>
            <a:noFill/>
            <a:ln w="41517" cap="rnd">
              <a:solidFill>
                <a:srgbClr val="9A9A9A"/>
              </a:solidFill>
              <a:round/>
            </a:ln>
          </p:spPr>
        </p:sp>
        <p:sp>
          <p:nvSpPr>
            <p:cNvPr id="57" name="Flecha 81_2"/>
            <p:cNvSpPr/>
            <p:nvPr/>
          </p:nvSpPr>
          <p:spPr>
            <a:xfrm>
              <a:off x="3636207" y="1352613"/>
              <a:ext cx="134278" cy="362582"/>
            </a:xfrm>
            <a:custGeom>
              <a:avLst/>
              <a:gdLst/>
              <a:ahLst/>
              <a:cxnLst/>
              <a:rect l="0" t="0" r="r" b="b"/>
              <a:pathLst>
                <a:path w="146" h="396" fill="none">
                  <a:moveTo>
                    <a:pt x="146" y="396"/>
                  </a:moveTo>
                  <a:lnTo>
                    <a:pt x="0" y="0"/>
                  </a:lnTo>
                </a:path>
              </a:pathLst>
            </a:custGeom>
            <a:noFill/>
            <a:ln w="33214" cap="rnd">
              <a:solidFill>
                <a:srgbClr val="9A9A9A"/>
              </a:solidFill>
              <a:round/>
            </a:ln>
          </p:spPr>
        </p:sp>
        <p:sp>
          <p:nvSpPr>
            <p:cNvPr id="58" name="Flecha 83_2"/>
            <p:cNvSpPr/>
            <p:nvPr/>
          </p:nvSpPr>
          <p:spPr>
            <a:xfrm>
              <a:off x="3580142" y="1373376"/>
              <a:ext cx="134278" cy="362582"/>
            </a:xfrm>
            <a:custGeom>
              <a:avLst/>
              <a:gdLst/>
              <a:ahLst/>
              <a:cxnLst/>
              <a:rect l="0" t="0" r="r" b="b"/>
              <a:pathLst>
                <a:path w="146" h="396" fill="none">
                  <a:moveTo>
                    <a:pt x="146" y="396"/>
                  </a:moveTo>
                  <a:lnTo>
                    <a:pt x="0" y="0"/>
                  </a:lnTo>
                </a:path>
              </a:pathLst>
            </a:custGeom>
            <a:noFill/>
            <a:ln w="33214" cap="rnd">
              <a:solidFill>
                <a:srgbClr val="9A9A9A"/>
              </a:solidFill>
              <a:round/>
            </a:ln>
          </p:spPr>
        </p:sp>
        <p:sp>
          <p:nvSpPr>
            <p:cNvPr id="59" name="Átomo H_10"/>
            <p:cNvSpPr/>
            <p:nvPr/>
          </p:nvSpPr>
          <p:spPr>
            <a:xfrm>
              <a:off x="3009838" y="1922864"/>
              <a:ext cx="181033" cy="18103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0" name="Átomo O_6"/>
            <p:cNvSpPr/>
            <p:nvPr/>
          </p:nvSpPr>
          <p:spPr>
            <a:xfrm>
              <a:off x="3465204" y="1220024"/>
              <a:ext cx="285941" cy="2859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1" name="Átomo H_11"/>
            <p:cNvSpPr/>
            <p:nvPr/>
          </p:nvSpPr>
          <p:spPr>
            <a:xfrm>
              <a:off x="3456100" y="2297347"/>
              <a:ext cx="182553" cy="18255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2" name="Átomo H_12"/>
            <p:cNvSpPr/>
            <p:nvPr/>
          </p:nvSpPr>
          <p:spPr>
            <a:xfrm>
              <a:off x="4306046" y="1782637"/>
              <a:ext cx="183359" cy="1833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3" name="Forma 89"/>
            <p:cNvSpPr txBox="1"/>
            <p:nvPr/>
          </p:nvSpPr>
          <p:spPr>
            <a:xfrm>
              <a:off x="2560320" y="2819631"/>
              <a:ext cx="237744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Acetoacetato</a:t>
              </a:r>
              <a:endParaRPr lang="es-AR" sz="1300" dirty="0">
                <a:latin typeface="Fira Sans Condensed"/>
              </a:endParaRPr>
            </a:p>
          </p:txBody>
        </p:sp>
      </p:grpSp>
      <p:grpSp>
        <p:nvGrpSpPr>
          <p:cNvPr id="64" name="Modelo 3D acetona"/>
          <p:cNvGrpSpPr/>
          <p:nvPr/>
        </p:nvGrpSpPr>
        <p:grpSpPr>
          <a:xfrm>
            <a:off x="4937760" y="1370584"/>
            <a:ext cx="1920240" cy="1306818"/>
            <a:chOff x="4937760" y="1370584"/>
            <a:chExt cx="1920240" cy="1306818"/>
          </a:xfrm>
        </p:grpSpPr>
        <p:sp>
          <p:nvSpPr>
            <p:cNvPr id="65" name="Átomo H_13"/>
            <p:cNvSpPr/>
            <p:nvPr/>
          </p:nvSpPr>
          <p:spPr>
            <a:xfrm>
              <a:off x="6027530" y="1902258"/>
              <a:ext cx="119662" cy="11966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6" name="Flecha 92_2"/>
            <p:cNvSpPr/>
            <p:nvPr/>
          </p:nvSpPr>
          <p:spPr>
            <a:xfrm>
              <a:off x="6087361" y="1920161"/>
              <a:ext cx="79787" cy="41928"/>
            </a:xfrm>
            <a:custGeom>
              <a:avLst/>
              <a:gdLst/>
              <a:ahLst/>
              <a:cxnLst/>
              <a:rect l="0" t="0" r="r" b="b"/>
              <a:pathLst>
                <a:path w="87" h="45" fill="none">
                  <a:moveTo>
                    <a:pt x="87" y="0"/>
                  </a:moveTo>
                  <a:lnTo>
                    <a:pt x="0" y="45"/>
                  </a:lnTo>
                </a:path>
              </a:pathLst>
            </a:custGeom>
            <a:noFill/>
            <a:ln w="30553" cap="rnd">
              <a:solidFill>
                <a:srgbClr val="9A9A9A"/>
              </a:solidFill>
              <a:round/>
            </a:ln>
          </p:spPr>
        </p:sp>
        <p:sp>
          <p:nvSpPr>
            <p:cNvPr id="67" name="Átomo H_14"/>
            <p:cNvSpPr/>
            <p:nvPr/>
          </p:nvSpPr>
          <p:spPr>
            <a:xfrm>
              <a:off x="5415219" y="1899450"/>
              <a:ext cx="125271" cy="1252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8" name="Flecha 95_2"/>
            <p:cNvSpPr/>
            <p:nvPr/>
          </p:nvSpPr>
          <p:spPr>
            <a:xfrm>
              <a:off x="6167148" y="1769834"/>
              <a:ext cx="220987" cy="150327"/>
            </a:xfrm>
            <a:custGeom>
              <a:avLst/>
              <a:gdLst/>
              <a:ahLst/>
              <a:cxnLst/>
              <a:rect l="0" t="0" r="r" b="b"/>
              <a:pathLst>
                <a:path w="241" h="164" fill="none">
                  <a:moveTo>
                    <a:pt x="0" y="164"/>
                  </a:moveTo>
                  <a:lnTo>
                    <a:pt x="241" y="0"/>
                  </a:lnTo>
                </a:path>
              </a:pathLst>
            </a:custGeom>
            <a:noFill/>
            <a:ln w="30553" cap="rnd">
              <a:solidFill>
                <a:srgbClr val="9A9A9A"/>
              </a:solidFill>
              <a:round/>
            </a:ln>
          </p:spPr>
        </p:sp>
        <p:sp>
          <p:nvSpPr>
            <p:cNvPr id="69" name="Átomo H_15"/>
            <p:cNvSpPr/>
            <p:nvPr/>
          </p:nvSpPr>
          <p:spPr>
            <a:xfrm>
              <a:off x="6325177" y="1706876"/>
              <a:ext cx="125916" cy="12591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0" name="Átomo C_9"/>
            <p:cNvSpPr/>
            <p:nvPr/>
          </p:nvSpPr>
          <p:spPr>
            <a:xfrm>
              <a:off x="6062147" y="1815161"/>
              <a:ext cx="210001" cy="21000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99_2"/>
            <p:cNvSpPr/>
            <p:nvPr/>
          </p:nvSpPr>
          <p:spPr>
            <a:xfrm>
              <a:off x="6167148" y="1920161"/>
              <a:ext cx="55501" cy="232509"/>
            </a:xfrm>
            <a:custGeom>
              <a:avLst/>
              <a:gdLst/>
              <a:ahLst/>
              <a:cxnLst/>
              <a:rect l="0" t="0" r="r" b="b"/>
              <a:pathLst>
                <a:path w="60" h="254" fill="none">
                  <a:moveTo>
                    <a:pt x="0" y="0"/>
                  </a:moveTo>
                  <a:lnTo>
                    <a:pt x="60" y="254"/>
                  </a:lnTo>
                </a:path>
              </a:pathLst>
            </a:custGeom>
            <a:noFill/>
            <a:ln w="30553" cap="rnd">
              <a:solidFill>
                <a:srgbClr val="9A9A9A"/>
              </a:solidFill>
              <a:round/>
            </a:ln>
          </p:spPr>
        </p:sp>
        <p:sp>
          <p:nvSpPr>
            <p:cNvPr id="72" name="Flecha 101_2"/>
            <p:cNvSpPr/>
            <p:nvPr/>
          </p:nvSpPr>
          <p:spPr>
            <a:xfrm>
              <a:off x="5477854" y="1920161"/>
              <a:ext cx="100958" cy="41925"/>
            </a:xfrm>
            <a:custGeom>
              <a:avLst/>
              <a:gdLst/>
              <a:ahLst/>
              <a:cxnLst/>
              <a:rect l="0" t="0" r="r" b="b"/>
              <a:pathLst>
                <a:path w="110" h="45" fill="none">
                  <a:moveTo>
                    <a:pt x="110" y="0"/>
                  </a:moveTo>
                  <a:lnTo>
                    <a:pt x="0" y="45"/>
                  </a:lnTo>
                </a:path>
              </a:pathLst>
            </a:custGeom>
            <a:noFill/>
            <a:ln w="30553" cap="rnd">
              <a:solidFill>
                <a:srgbClr val="9A9A9A"/>
              </a:solidFill>
              <a:round/>
            </a:ln>
          </p:spPr>
        </p:sp>
        <p:sp>
          <p:nvSpPr>
            <p:cNvPr id="73" name="Flecha 103_2"/>
            <p:cNvSpPr/>
            <p:nvPr/>
          </p:nvSpPr>
          <p:spPr>
            <a:xfrm>
              <a:off x="5901755" y="1746440"/>
              <a:ext cx="265393" cy="173721"/>
            </a:xfrm>
            <a:custGeom>
              <a:avLst/>
              <a:gdLst/>
              <a:ahLst/>
              <a:cxnLst/>
              <a:rect l="0" t="0" r="r" b="b"/>
              <a:pathLst>
                <a:path w="290" h="189" fill="none">
                  <a:moveTo>
                    <a:pt x="0" y="0"/>
                  </a:moveTo>
                  <a:lnTo>
                    <a:pt x="290" y="189"/>
                  </a:lnTo>
                </a:path>
              </a:pathLst>
            </a:custGeom>
            <a:noFill/>
            <a:ln w="30553" cap="rnd">
              <a:solidFill>
                <a:srgbClr val="9A9A9A"/>
              </a:solidFill>
              <a:round/>
            </a:ln>
          </p:spPr>
        </p:sp>
        <p:sp>
          <p:nvSpPr>
            <p:cNvPr id="74" name="Átomo H_16"/>
            <p:cNvSpPr/>
            <p:nvPr/>
          </p:nvSpPr>
          <p:spPr>
            <a:xfrm>
              <a:off x="6158146" y="2088168"/>
              <a:ext cx="129005" cy="12900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5" name="Átomo C_10"/>
            <p:cNvSpPr/>
            <p:nvPr/>
          </p:nvSpPr>
          <p:spPr>
            <a:xfrm>
              <a:off x="5792843" y="1637528"/>
              <a:ext cx="217824" cy="2178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6" name="Flecha 107_2"/>
            <p:cNvSpPr/>
            <p:nvPr/>
          </p:nvSpPr>
          <p:spPr>
            <a:xfrm>
              <a:off x="5578812" y="1746440"/>
              <a:ext cx="322943" cy="173721"/>
            </a:xfrm>
            <a:custGeom>
              <a:avLst/>
              <a:gdLst/>
              <a:ahLst/>
              <a:cxnLst/>
              <a:rect l="0" t="0" r="r" b="b"/>
              <a:pathLst>
                <a:path w="353" h="189" fill="none">
                  <a:moveTo>
                    <a:pt x="0" y="189"/>
                  </a:moveTo>
                  <a:lnTo>
                    <a:pt x="353" y="0"/>
                  </a:lnTo>
                </a:path>
              </a:pathLst>
            </a:custGeom>
            <a:noFill/>
            <a:ln w="30553" cap="rnd">
              <a:solidFill>
                <a:srgbClr val="9A9A9A"/>
              </a:solidFill>
              <a:round/>
            </a:ln>
          </p:spPr>
        </p:sp>
        <p:sp>
          <p:nvSpPr>
            <p:cNvPr id="77" name="Átomo C_11"/>
            <p:cNvSpPr/>
            <p:nvPr/>
          </p:nvSpPr>
          <p:spPr>
            <a:xfrm>
              <a:off x="5469301" y="1810649"/>
              <a:ext cx="219024" cy="2190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8" name="Flecha 110_2"/>
            <p:cNvSpPr/>
            <p:nvPr/>
          </p:nvSpPr>
          <p:spPr>
            <a:xfrm>
              <a:off x="5923458" y="1479300"/>
              <a:ext cx="44844" cy="270734"/>
            </a:xfrm>
            <a:custGeom>
              <a:avLst/>
              <a:gdLst/>
              <a:ahLst/>
              <a:cxnLst/>
              <a:rect l="0" t="0" r="r" b="b"/>
              <a:pathLst>
                <a:path w="49" h="296" fill="none">
                  <a:moveTo>
                    <a:pt x="0" y="296"/>
                  </a:moveTo>
                  <a:lnTo>
                    <a:pt x="49" y="0"/>
                  </a:lnTo>
                </a:path>
              </a:pathLst>
            </a:custGeom>
            <a:noFill/>
            <a:ln w="24443" cap="rnd">
              <a:solidFill>
                <a:srgbClr val="9A9A9A"/>
              </a:solidFill>
              <a:round/>
            </a:ln>
          </p:spPr>
        </p:sp>
        <p:sp>
          <p:nvSpPr>
            <p:cNvPr id="79" name="Flecha 112_2"/>
            <p:cNvSpPr/>
            <p:nvPr/>
          </p:nvSpPr>
          <p:spPr>
            <a:xfrm>
              <a:off x="5880052" y="1472111"/>
              <a:ext cx="44844" cy="270734"/>
            </a:xfrm>
            <a:custGeom>
              <a:avLst/>
              <a:gdLst/>
              <a:ahLst/>
              <a:cxnLst/>
              <a:rect l="0" t="0" r="r" b="b"/>
              <a:pathLst>
                <a:path w="49" h="296" fill="none">
                  <a:moveTo>
                    <a:pt x="0" y="296"/>
                  </a:moveTo>
                  <a:lnTo>
                    <a:pt x="49" y="0"/>
                  </a:lnTo>
                </a:path>
              </a:pathLst>
            </a:custGeom>
            <a:noFill/>
            <a:ln w="24443" cap="rnd">
              <a:solidFill>
                <a:srgbClr val="9A9A9A"/>
              </a:solidFill>
              <a:round/>
            </a:ln>
          </p:spPr>
        </p:sp>
        <p:sp>
          <p:nvSpPr>
            <p:cNvPr id="80" name="Flecha 114_2"/>
            <p:cNvSpPr/>
            <p:nvPr/>
          </p:nvSpPr>
          <p:spPr>
            <a:xfrm>
              <a:off x="5578812" y="1920161"/>
              <a:ext cx="34330" cy="232511"/>
            </a:xfrm>
            <a:custGeom>
              <a:avLst/>
              <a:gdLst/>
              <a:ahLst/>
              <a:cxnLst/>
              <a:rect l="0" t="0" r="r" b="b"/>
              <a:pathLst>
                <a:path w="37" h="254" fill="none">
                  <a:moveTo>
                    <a:pt x="0" y="0"/>
                  </a:moveTo>
                  <a:lnTo>
                    <a:pt x="37" y="254"/>
                  </a:lnTo>
                </a:path>
              </a:pathLst>
            </a:custGeom>
            <a:noFill/>
            <a:ln w="30553" cap="rnd">
              <a:solidFill>
                <a:srgbClr val="9A9A9A"/>
              </a:solidFill>
              <a:round/>
            </a:ln>
          </p:spPr>
        </p:sp>
        <p:sp>
          <p:nvSpPr>
            <p:cNvPr id="81" name="Flecha 116_2"/>
            <p:cNvSpPr/>
            <p:nvPr/>
          </p:nvSpPr>
          <p:spPr>
            <a:xfrm>
              <a:off x="5407625" y="1769836"/>
              <a:ext cx="171187" cy="150325"/>
            </a:xfrm>
            <a:custGeom>
              <a:avLst/>
              <a:gdLst/>
              <a:ahLst/>
              <a:cxnLst/>
              <a:rect l="0" t="0" r="r" b="b"/>
              <a:pathLst>
                <a:path w="187" h="164" fill="none">
                  <a:moveTo>
                    <a:pt x="187" y="164"/>
                  </a:moveTo>
                  <a:lnTo>
                    <a:pt x="0" y="0"/>
                  </a:lnTo>
                </a:path>
              </a:pathLst>
            </a:custGeom>
            <a:noFill/>
            <a:ln w="30553" cap="rnd">
              <a:solidFill>
                <a:srgbClr val="9A9A9A"/>
              </a:solidFill>
              <a:round/>
            </a:ln>
          </p:spPr>
        </p:sp>
        <p:sp>
          <p:nvSpPr>
            <p:cNvPr id="82" name="Átomo O_7"/>
            <p:cNvSpPr/>
            <p:nvPr/>
          </p:nvSpPr>
          <p:spPr>
            <a:xfrm>
              <a:off x="5841477" y="1370584"/>
              <a:ext cx="210243" cy="21024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3" name="Átomo H_17"/>
            <p:cNvSpPr/>
            <p:nvPr/>
          </p:nvSpPr>
          <p:spPr>
            <a:xfrm>
              <a:off x="5545836" y="2085366"/>
              <a:ext cx="134613" cy="13461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4" name="Átomo H_18"/>
            <p:cNvSpPr/>
            <p:nvPr/>
          </p:nvSpPr>
          <p:spPr>
            <a:xfrm>
              <a:off x="5340156" y="1702367"/>
              <a:ext cx="134938" cy="13493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5" name="Forma 121"/>
            <p:cNvSpPr txBox="1"/>
            <p:nvPr/>
          </p:nvSpPr>
          <p:spPr>
            <a:xfrm>
              <a:off x="4937760" y="2366506"/>
              <a:ext cx="192024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Acetona</a:t>
              </a:r>
              <a:endParaRPr lang="es-AR" sz="1300" dirty="0">
                <a:latin typeface="Fira Sans Condensed"/>
              </a:endParaRPr>
            </a:p>
          </p:txBody>
        </p:sp>
      </p:grpSp>
      <p:grpSp>
        <p:nvGrpSpPr>
          <p:cNvPr id="86" name="Equilibrio"/>
          <p:cNvGrpSpPr/>
          <p:nvPr/>
        </p:nvGrpSpPr>
        <p:grpSpPr>
          <a:xfrm>
            <a:off x="2148840" y="1828800"/>
            <a:ext cx="3108960" cy="502920"/>
            <a:chOff x="2148840" y="1828800"/>
            <a:chExt cx="3108960" cy="502920"/>
          </a:xfrm>
        </p:grpSpPr>
        <p:sp>
          <p:nvSpPr>
            <p:cNvPr id="87" name="Flecha 123_2"/>
            <p:cNvSpPr/>
            <p:nvPr/>
          </p:nvSpPr>
          <p:spPr>
            <a:xfrm>
              <a:off x="2423160" y="1828800"/>
              <a:ext cx="320040" cy="9144"/>
            </a:xfrm>
            <a:custGeom>
              <a:avLst/>
              <a:gdLst/>
              <a:ahLst/>
              <a:cxnLst/>
              <a:rect l="0" t="0" r="r" b="b"/>
              <a:pathLst>
                <a:path w="350" h="10" fill="none">
                  <a:moveTo>
                    <a:pt x="0" y="0"/>
                  </a:moveTo>
                  <a:lnTo>
                    <a:pt x="350" y="0"/>
                  </a:lnTo>
                </a:path>
              </a:pathLst>
            </a:custGeom>
            <a:noFill/>
            <a:ln w="31750" cap="rnd">
              <a:solidFill>
                <a:srgbClr val="1E1E1E"/>
              </a:solidFill>
              <a:round/>
              <a:headEnd type="triangle" w="med" len="med"/>
              <a:tailEnd type="triangle" w="med" len="med"/>
            </a:ln>
          </p:spPr>
        </p:sp>
        <p:sp>
          <p:nvSpPr>
            <p:cNvPr id="88" name="Forma 125"/>
            <p:cNvSpPr txBox="1"/>
            <p:nvPr/>
          </p:nvSpPr>
          <p:spPr>
            <a:xfrm>
              <a:off x="2148840" y="2057400"/>
              <a:ext cx="914400" cy="274320"/>
            </a:xfrm>
            <a:prstGeom prst="rect">
              <a:avLst/>
            </a:prstGeom>
            <a:noFill/>
            <a:ln>
              <a:noFill/>
            </a:ln>
          </p:spPr>
          <p:txBody>
            <a:bodyPr wrap="square" lIns="0" tIns="0" rIns="0" bIns="0" anchor="ctr" rtlCol="0">
              <a:noAutofit/>
            </a:bodyPr>
            <a:lstStyle/>
            <a:p>
              <a:pPr algn="ctr">
                <a:spcAft>
                  <a:spcPts val="300"/>
                </a:spcAft>
                <a:buNone/>
              </a:pPr>
              <a:r>
                <a:rPr lang="es-AR" sz="10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NADH</a:t>
              </a:r>
              <a:endParaRPr lang="es-AR" sz="1050" dirty="0">
                <a:latin typeface="Fira Sans Condensed"/>
              </a:endParaRPr>
            </a:p>
          </p:txBody>
        </p:sp>
        <p:sp>
          <p:nvSpPr>
            <p:cNvPr id="89" name="Flecha 126_2"/>
            <p:cNvSpPr/>
            <p:nvPr/>
          </p:nvSpPr>
          <p:spPr>
            <a:xfrm>
              <a:off x="4937760" y="1828800"/>
              <a:ext cx="320040" cy="9144"/>
            </a:xfrm>
            <a:custGeom>
              <a:avLst/>
              <a:gdLst/>
              <a:ahLst/>
              <a:cxnLst/>
              <a:rect l="0" t="0" r="r" b="b"/>
              <a:pathLst>
                <a:path w="349" h="10" fill="none">
                  <a:moveTo>
                    <a:pt x="0" y="0"/>
                  </a:moveTo>
                  <a:lnTo>
                    <a:pt x="349" y="0"/>
                  </a:lnTo>
                </a:path>
              </a:pathLst>
            </a:custGeom>
            <a:noFill/>
            <a:ln w="31750" cap="rnd">
              <a:solidFill>
                <a:srgbClr val="1E1E1E"/>
              </a:solidFill>
              <a:round/>
              <a:tailEnd type="triangle" w="med" len="med"/>
            </a:ln>
          </p:spPr>
        </p:sp>
      </p:grpSp>
      <p:sp>
        <p:nvSpPr>
          <p:cNvPr id="90" name="Recuadro TIRA (NITROPRUSIATO): "/>
          <p:cNvSpPr/>
          <p:nvPr/>
        </p:nvSpPr>
        <p:spPr>
          <a:xfrm>
            <a:off x="2788920" y="3520440"/>
            <a:ext cx="37947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TIRA (NITROPRUSIATO): detecta AcAc (± acetona)</a:t>
            </a:r>
            <a:endParaRPr lang="es-AR" sz="1250" dirty="0">
              <a:latin typeface="Fira Sans Condensed"/>
            </a:endParaRPr>
          </a:p>
        </p:txBody>
      </p:sp>
      <p:sp>
        <p:nvSpPr>
          <p:cNvPr id="91" name="Recuadro NO detecta β-OHB"/>
          <p:cNvSpPr/>
          <p:nvPr/>
        </p:nvSpPr>
        <p:spPr>
          <a:xfrm>
            <a:off x="365760" y="3520440"/>
            <a:ext cx="224028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NO detecta β-OHB</a:t>
            </a:r>
            <a:endParaRPr lang="es-AR" sz="1300" dirty="0">
              <a:latin typeface="Fira Sans Condensed"/>
            </a:endParaRPr>
          </a:p>
        </p:txBody>
      </p:sp>
      <p:grpSp>
        <p:nvGrpSpPr>
          <p:cNvPr id="92" name="Recuperación"/>
          <p:cNvGrpSpPr/>
          <p:nvPr/>
        </p:nvGrpSpPr>
        <p:grpSpPr>
          <a:xfrm>
            <a:off x="6949440" y="1143000"/>
            <a:ext cx="4892040" cy="2697480"/>
            <a:chOff x="6949440" y="1143000"/>
            <a:chExt cx="4892040" cy="2697480"/>
          </a:xfrm>
        </p:grpSpPr>
        <p:sp>
          <p:nvSpPr>
            <p:cNvPr id="93" name="Recuadro DURANTE EL TRATAMIENTO"/>
            <p:cNvSpPr/>
            <p:nvPr/>
          </p:nvSpPr>
          <p:spPr>
            <a:xfrm>
              <a:off x="6949440" y="1143000"/>
              <a:ext cx="489204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DURANTE EL TRATAMIENTO</a:t>
              </a:r>
              <a:endParaRPr lang="es-AR" sz="1500" dirty="0">
                <a:latin typeface="Fira Sans Condensed"/>
              </a:endParaRPr>
            </a:p>
          </p:txBody>
        </p:sp>
        <p:sp>
          <p:nvSpPr>
            <p:cNvPr id="94" name="Forma 132"/>
            <p:cNvSpPr/>
            <p:nvPr/>
          </p:nvSpPr>
          <p:spPr>
            <a:xfrm>
              <a:off x="6949440" y="1737360"/>
              <a:ext cx="4892040" cy="2103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Al mejorar el estado redox el </a:t>
              </a:r>
              <a:r>
                <a:rPr lang="es-AR" sz="1500" b="1" dirty="0">
                  <a:solidFill>
                    <a:srgbClr val="1E1E1E"/>
                  </a:solidFill>
                  <a:latin typeface="Fira Sans Condensed"/>
                  <a:ea typeface="Fira Sans Condensed"/>
                  <a:cs typeface="Fira Sans Condensed"/>
                  <a:sym typeface="Fira Sans Condensed"/>
                </a:rPr>
                <a:t>β-OHB se oxida a acetoacetato</a:t>
              </a:r>
              <a:r>
                <a:rPr lang="es-AR" sz="1500" dirty="0">
                  <a:solidFill>
                    <a:srgbClr val="1E1E1E"/>
                  </a:solidFill>
                  <a:latin typeface="Fira Sans Condensed"/>
                  <a:ea typeface="Fira Sans Condensed"/>
                  <a:cs typeface="Fira Sans Condensed"/>
                  <a:sym typeface="Fira Sans Condensed"/>
                </a:rPr>
                <a:t> → la tira puede </a:t>
              </a:r>
              <a:r>
                <a:rPr lang="es-AR" sz="1500" b="1" dirty="0">
                  <a:solidFill>
                    <a:srgbClr val="1E1E1E"/>
                  </a:solidFill>
                  <a:latin typeface="Fira Sans Condensed"/>
                  <a:ea typeface="Fira Sans Condensed"/>
                  <a:cs typeface="Fira Sans Condensed"/>
                  <a:sym typeface="Fira Sans Condensed"/>
                </a:rPr>
                <a:t>permanecer positiva o intensificarse</a:t>
              </a:r>
              <a:r>
                <a:rPr lang="es-AR" sz="1500" dirty="0">
                  <a:solidFill>
                    <a:srgbClr val="1E1E1E"/>
                  </a:solidFill>
                  <a:latin typeface="Fira Sans Condensed"/>
                  <a:ea typeface="Fira Sans Condensed"/>
                  <a:cs typeface="Fira Sans Condensed"/>
                  <a:sym typeface="Fira Sans Condensed"/>
                </a:rPr>
                <a:t> aunque el paciente mejore (ejercicio 8).</a:t>
              </a:r>
              <a:endParaRPr lang="es-AR" sz="1500" dirty="0">
                <a:latin typeface="Fira Sans Condensed"/>
              </a:endParaRPr>
            </a:p>
          </p:txBody>
        </p:sp>
      </p:grpSp>
      <p:sp>
        <p:nvSpPr>
          <p:cNvPr id="95" name="Perla clínica"/>
          <p:cNvSpPr/>
          <p:nvPr/>
        </p:nvSpPr>
        <p:spPr>
          <a:xfrm>
            <a:off x="365760" y="4206240"/>
            <a:ext cx="11475720" cy="8686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Método preferible para diagnóstico y seguimiento: </a:t>
            </a:r>
            <a:r>
              <a:rPr lang="es-AR" sz="1600" b="1" dirty="0">
                <a:solidFill>
                  <a:srgbClr val="FFFFFF"/>
                </a:solidFill>
                <a:latin typeface="Fira Sans Condensed"/>
                <a:ea typeface="Fira Sans Condensed"/>
                <a:cs typeface="Fira Sans Condensed"/>
                <a:sym typeface="Fira Sans Condensed"/>
              </a:rPr>
              <a:t>β-hidroxibutirato sanguíneo cuantitativo</a:t>
            </a:r>
            <a:r>
              <a:rPr lang="es-AR" sz="1600" dirty="0">
                <a:solidFill>
                  <a:srgbClr val="FFFFFF"/>
                </a:solidFill>
                <a:latin typeface="Fira Sans Condensed"/>
                <a:ea typeface="Fira Sans Condensed"/>
                <a:cs typeface="Fira Sans Condensed"/>
                <a:sym typeface="Fira Sans Condensed"/>
              </a:rPr>
              <a:t>. La cetonuria puede </a:t>
            </a:r>
            <a:r>
              <a:rPr lang="es-AR" sz="1600" b="1" dirty="0">
                <a:solidFill>
                  <a:srgbClr val="FFFFFF"/>
                </a:solidFill>
                <a:latin typeface="Fira Sans Condensed"/>
                <a:ea typeface="Fira Sans Condensed"/>
                <a:cs typeface="Fira Sans Condensed"/>
                <a:sym typeface="Fira Sans Condensed"/>
              </a:rPr>
              <a:t>subestimar</a:t>
            </a:r>
            <a:r>
              <a:rPr lang="es-AR" sz="1600" dirty="0">
                <a:solidFill>
                  <a:srgbClr val="FFFFFF"/>
                </a:solidFill>
                <a:latin typeface="Fira Sans Condensed"/>
                <a:ea typeface="Fira Sans Condensed"/>
                <a:cs typeface="Fira Sans Condensed"/>
                <a:sym typeface="Fira Sans Condensed"/>
              </a:rPr>
              <a:t> la CAD al inicio.</a:t>
            </a:r>
            <a:endParaRPr lang="es-AR" sz="1600" dirty="0">
              <a:latin typeface="Fira Sans Condensed"/>
            </a:endParaRPr>
          </a:p>
        </p:txBody>
      </p:sp>
      <p:sp>
        <p:nvSpPr>
          <p:cNvPr id="96" name="Forma 134"/>
          <p:cNvSpPr/>
          <p:nvPr/>
        </p:nvSpPr>
        <p:spPr>
          <a:xfrm>
            <a:off x="365760" y="5257800"/>
            <a:ext cx="1147572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Cetosis </a:t>
            </a:r>
            <a:r>
              <a:rPr lang="es-AR" sz="1500" b="1" dirty="0">
                <a:solidFill>
                  <a:srgbClr val="1E1E1E"/>
                </a:solidFill>
                <a:latin typeface="Fira Sans Condensed"/>
                <a:ea typeface="Fira Sans Condensed"/>
                <a:cs typeface="Fira Sans Condensed"/>
                <a:sym typeface="Fira Sans Condensed"/>
              </a:rPr>
              <a:t>fisiológica</a:t>
            </a:r>
            <a:r>
              <a:rPr lang="es-AR" sz="1500" dirty="0">
                <a:solidFill>
                  <a:srgbClr val="1E1E1E"/>
                </a:solidFill>
                <a:latin typeface="Fira Sans Condensed"/>
                <a:ea typeface="Fira Sans Condensed"/>
                <a:cs typeface="Fira Sans Condensed"/>
                <a:sym typeface="Fira Sans Condensed"/>
              </a:rPr>
              <a:t> del ayuno: pH </a:t>
            </a:r>
            <a:r>
              <a:rPr lang="es-AR" sz="1500" b="1" dirty="0">
                <a:solidFill>
                  <a:srgbClr val="1E1E1E"/>
                </a:solidFill>
                <a:latin typeface="Fira Sans Condensed"/>
                <a:ea typeface="Fira Sans Condensed"/>
                <a:cs typeface="Fira Sans Condensed"/>
                <a:sym typeface="Fira Sans Condensed"/>
              </a:rPr>
              <a:t>conservado</a:t>
            </a:r>
            <a:r>
              <a:rPr lang="es-AR" sz="1500" dirty="0">
                <a:solidFill>
                  <a:srgbClr val="1E1E1E"/>
                </a:solidFill>
                <a:latin typeface="Fira Sans Condensed"/>
                <a:ea typeface="Fira Sans Condensed"/>
                <a:cs typeface="Fira Sans Condensed"/>
                <a:sym typeface="Fira Sans Condensed"/>
              </a:rPr>
              <a:t> · cetoacidosis </a:t>
            </a:r>
            <a:r>
              <a:rPr lang="es-AR" sz="1500" b="1" dirty="0">
                <a:solidFill>
                  <a:srgbClr val="1E1E1E"/>
                </a:solidFill>
                <a:latin typeface="Fira Sans Condensed"/>
                <a:ea typeface="Fira Sans Condensed"/>
                <a:cs typeface="Fira Sans Condensed"/>
                <a:sym typeface="Fira Sans Condensed"/>
              </a:rPr>
              <a:t>patológica</a:t>
            </a:r>
            <a:r>
              <a:rPr lang="es-AR" sz="1500" dirty="0">
                <a:solidFill>
                  <a:srgbClr val="1E1E1E"/>
                </a:solidFill>
                <a:latin typeface="Fira Sans Condensed"/>
                <a:ea typeface="Fira Sans Condensed"/>
                <a:cs typeface="Fira Sans Condensed"/>
                <a:sym typeface="Fira Sans Condensed"/>
              </a:rPr>
              <a:t>: producción que supera el uso y la amortiguación → </a:t>
            </a:r>
            <a:r>
              <a:rPr lang="es-AR" sz="1500" b="1" dirty="0">
                <a:solidFill>
                  <a:srgbClr val="1E1E1E"/>
                </a:solidFill>
                <a:latin typeface="Fira Sans Condensed"/>
                <a:ea typeface="Fira Sans Condensed"/>
                <a:cs typeface="Fira Sans Condensed"/>
                <a:sym typeface="Fira Sans Condensed"/>
              </a:rPr>
              <a:t>acidemia</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CETONEMIA FRENTE A CETONURIA: QUÉ DETECTA CADA PRUEBA</a:t>
            </a:r>
            <a:endParaRPr lang="es-AR" sz="26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9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6"/>
                                        </p:tgtEl>
                                        <p:attrNameLst>
                                          <p:attrName>style.visibility</p:attrName>
                                        </p:attrNameLst>
                                      </p:cBhvr>
                                      <p:to>
                                        <p:strVal val="visible"/>
                                      </p:to>
                                    </p:set>
                                    <p:animEffect transition="in" filter="fade">
                                      <p:cBhvr>
                                        <p:cTn id="5" dur="500"/>
                                        <p:tgtEl>
                                          <p:spTgt spid="86"/>
                                        </p:tgtEl>
                                      </p:cBhvr>
                                    </p:animEffect>
                                  </p:childTnLst>
                                </p:cTn>
                              </p:par>
                            </p:childTnLst>
                          </p:cTn>
                        </p:par>
                      </p:childTnLst>
                    </p:cTn>
                  </p:par>
                  <p:par>
                    <p:cTn id="16"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500"/>
                                        <p:tgtEl>
                                          <p:spTgt spid="90"/>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91"/>
                                        </p:tgtEl>
                                        <p:attrNameLst>
                                          <p:attrName>style.visibility</p:attrName>
                                        </p:attrNameLst>
                                      </p:cBhvr>
                                      <p:to>
                                        <p:strVal val="visible"/>
                                      </p:to>
                                    </p:set>
                                    <p:animEffect transition="in" filter="fade">
                                      <p:cBhvr>
                                        <p:cTn id="14" dur="500"/>
                                        <p:tgtEl>
                                          <p:spTgt spid="91"/>
                                        </p:tgtEl>
                                      </p:cBhvr>
                                    </p:animEffect>
                                  </p:childTnLst>
                                </p:cTn>
                              </p:par>
                            </p:childTnLst>
                          </p:cTn>
                        </p:par>
                      </p:childTnLst>
                    </p:cTn>
                  </p:par>
                  <p:par>
                    <p:cTn id="21" fill="hold">
                      <p:stCondLst>
                        <p:cond delay="indefinite"/>
                      </p:stCondLst>
                      <p:childTnLst>
                        <p:par>
                          <p:cTn id="2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fade">
                                      <p:cBhvr>
                                        <p:cTn id="19" dur="500"/>
                                        <p:tgtEl>
                                          <p:spTgt spid="92"/>
                                        </p:tgtEl>
                                      </p:cBhvr>
                                    </p:animEffect>
                                  </p:childTnLst>
                                </p:cTn>
                              </p:par>
                            </p:childTnLst>
                          </p:cTn>
                        </p:par>
                      </p:childTnLst>
                    </p:cTn>
                  </p:par>
                  <p:par>
                    <p:cTn id="28" fill="hold">
                      <p:stCondLst>
                        <p:cond delay="indefinite"/>
                      </p:stCondLst>
                      <p:childTnLst>
                        <p:par>
                          <p:cTn id="27"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95"/>
                                        </p:tgtEl>
                                        <p:attrNameLst>
                                          <p:attrName>style.visibility</p:attrName>
                                        </p:attrNameLst>
                                      </p:cBhvr>
                                      <p:to>
                                        <p:strVal val="visible"/>
                                      </p:to>
                                    </p:set>
                                    <p:anim calcmode="lin" valueType="num">
                                      <p:cBhvr>
                                        <p:cTn id="24" dur="500" fill="hold"/>
                                        <p:tgtEl>
                                          <p:spTgt spid="95"/>
                                        </p:tgtEl>
                                        <p:attrNameLst>
                                          <p:attrName>ppt_w</p:attrName>
                                        </p:attrNameLst>
                                      </p:cBhvr>
                                      <p:tavLst>
                                        <p:tav tm="0">
                                          <p:val>
                                            <p:fltVal val="0"/>
                                          </p:val>
                                        </p:tav>
                                        <p:tav tm="100000">
                                          <p:val>
                                            <p:strVal val="#ppt_w"/>
                                          </p:val>
                                        </p:tav>
                                      </p:tavLst>
                                    </p:anim>
                                    <p:anim calcmode="lin" valueType="num">
                                      <p:cBhvr>
                                        <p:cTn id="25" dur="500" fill="hold"/>
                                        <p:tgtEl>
                                          <p:spTgt spid="95"/>
                                        </p:tgtEl>
                                        <p:attrNameLst>
                                          <p:attrName>ppt_h</p:attrName>
                                        </p:attrNameLst>
                                      </p:cBhvr>
                                      <p:tavLst>
                                        <p:tav tm="0">
                                          <p:val>
                                            <p:fltVal val="0"/>
                                          </p:val>
                                        </p:tav>
                                        <p:tav tm="100000">
                                          <p:val>
                                            <p:strVal val="#ppt_h"/>
                                          </p:val>
                                        </p:tav>
                                      </p:tavLst>
                                    </p:anim>
                                    <p:animEffect transition="in" filter="fade">
                                      <p:cBhvr>
                                        <p:cTn id="26" dur="500"/>
                                        <p:tgtEl>
                                          <p:spTgt spid="95"/>
                                        </p:tgtEl>
                                      </p:cBhvr>
                                    </p:animEffect>
                                  </p:childTnLst>
                                </p:cTn>
                              </p:par>
                            </p:childTnLst>
                          </p:cTn>
                        </p:par>
                      </p:childTnLst>
                    </p:cTn>
                  </p:par>
                  <p:par>
                    <p:cTn id="33" fill="hold">
                      <p:stCondLst>
                        <p:cond delay="indefinite"/>
                      </p:stCondLst>
                      <p:childTnLst>
                        <p:par>
                          <p:cTn id="3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6"/>
                                        </p:tgtEl>
                                        <p:attrNameLst>
                                          <p:attrName>style.visibility</p:attrName>
                                        </p:attrNameLst>
                                      </p:cBhvr>
                                      <p:to>
                                        <p:strVal val="visible"/>
                                      </p:to>
                                    </p:set>
                                    <p:animEffect transition="in" filter="fade">
                                      <p:cBhvr>
                                        <p:cTn id="31"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5" grpId="0" animBg="1"/>
      <p:bldP spid="96"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Tríada"/>
          <p:cNvGrpSpPr/>
          <p:nvPr/>
        </p:nvGrpSpPr>
        <p:grpSpPr>
          <a:xfrm>
            <a:off x="548640" y="1188720"/>
            <a:ext cx="5715000" cy="1783080"/>
            <a:chOff x="548640" y="1188720"/>
            <a:chExt cx="5715000" cy="1783080"/>
          </a:xfrm>
        </p:grpSpPr>
        <p:sp>
          <p:nvSpPr>
            <p:cNvPr id="7" name="Forma 6"/>
            <p:cNvSpPr/>
            <p:nvPr/>
          </p:nvSpPr>
          <p:spPr>
            <a:xfrm>
              <a:off x="548640" y="1188720"/>
              <a:ext cx="1783080" cy="1783080"/>
            </a:xfrm>
            <a:prstGeom prst="ellipse">
              <a:avLst/>
            </a:prstGeom>
            <a:solidFill>
              <a:srgbClr val="FFC000">
                <a:alpha val="30000"/>
              </a:srgbClr>
            </a:solidFill>
            <a:ln w="25400" cap="rnd">
              <a:solidFill>
                <a:srgbClr val="1E1E1E"/>
              </a:solidFill>
              <a:round/>
            </a:ln>
          </p:spPr>
          <p:txBody>
            <a:bodyPr wrap="square" lIns="45720" tIns="91440" rIns="45720" bIns="9144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Diabetes o</a:t>
              </a:r>
              <a:endParaRPr lang="es-AR" sz="1250" dirty="0">
                <a:latin typeface="Fira Sans Condensed"/>
              </a:endParaRPr>
            </a:p>
            <a:p>
              <a:pPr algn="ctr">
                <a:spcAft>
                  <a:spcPts val="300"/>
                </a:spcAft>
                <a:buNone/>
              </a:pPr>
              <a:r>
                <a:rPr lang="es-AR" sz="1250" b="1" dirty="0">
                  <a:solidFill>
                    <a:srgbClr val="C00000"/>
                  </a:solidFill>
                  <a:latin typeface="Fira Sans Condensed"/>
                  <a:ea typeface="Fira Sans Condensed"/>
                  <a:cs typeface="Fira Sans Condensed"/>
                  <a:sym typeface="Fira Sans Condensed"/>
                </a:rPr>
                <a:t>hiperglucemia</a:t>
              </a:r>
              <a:endParaRPr lang="es-AR" sz="1250" dirty="0">
                <a:latin typeface="Fira Sans Condensed"/>
              </a:endParaRPr>
            </a:p>
          </p:txBody>
        </p:sp>
        <p:sp>
          <p:nvSpPr>
            <p:cNvPr id="8" name="Forma 7"/>
            <p:cNvSpPr/>
            <p:nvPr/>
          </p:nvSpPr>
          <p:spPr>
            <a:xfrm>
              <a:off x="2514600" y="1188720"/>
              <a:ext cx="1783080" cy="1783080"/>
            </a:xfrm>
            <a:prstGeom prst="ellipse">
              <a:avLst/>
            </a:prstGeom>
            <a:solidFill>
              <a:srgbClr val="FFC000">
                <a:alpha val="30000"/>
              </a:srgbClr>
            </a:solidFill>
            <a:ln w="25400" cap="rnd">
              <a:solidFill>
                <a:srgbClr val="1E1E1E"/>
              </a:solidFill>
              <a:round/>
            </a:ln>
          </p:spPr>
          <p:txBody>
            <a:bodyPr wrap="square" lIns="45720" tIns="91440" rIns="45720" bIns="9144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Cetosis</a:t>
              </a:r>
              <a:endParaRPr lang="es-AR" sz="1250" dirty="0">
                <a:latin typeface="Fira Sans Condensed"/>
              </a:endParaRPr>
            </a:p>
          </p:txBody>
        </p:sp>
        <p:sp>
          <p:nvSpPr>
            <p:cNvPr id="9" name="Forma 8"/>
            <p:cNvSpPr/>
            <p:nvPr/>
          </p:nvSpPr>
          <p:spPr>
            <a:xfrm>
              <a:off x="4480560" y="1188720"/>
              <a:ext cx="1783080" cy="1783080"/>
            </a:xfrm>
            <a:prstGeom prst="ellipse">
              <a:avLst/>
            </a:prstGeom>
            <a:solidFill>
              <a:srgbClr val="FFC000">
                <a:alpha val="30000"/>
              </a:srgbClr>
            </a:solidFill>
            <a:ln w="25400" cap="rnd">
              <a:solidFill>
                <a:srgbClr val="1E1E1E"/>
              </a:solidFill>
              <a:round/>
            </a:ln>
          </p:spPr>
          <p:txBody>
            <a:bodyPr wrap="square" lIns="45720" tIns="91440" rIns="45720" bIns="91440" anchor="ctr" rtlCol="0">
              <a:noAutofit/>
            </a:bodyPr>
            <a:lstStyle/>
            <a:p>
              <a:pPr algn="ctr">
                <a:spcAft>
                  <a:spcPts val="300"/>
                </a:spcAft>
                <a:buNone/>
              </a:pPr>
              <a:r>
                <a:rPr lang="es-AR" sz="1250" b="1" dirty="0">
                  <a:solidFill>
                    <a:srgbClr val="C00000"/>
                  </a:solidFill>
                  <a:latin typeface="Fira Sans Condensed"/>
                  <a:ea typeface="Fira Sans Condensed"/>
                  <a:cs typeface="Fira Sans Condensed"/>
                  <a:sym typeface="Fira Sans Condensed"/>
                </a:rPr>
                <a:t>Acidosis metabólica</a:t>
              </a:r>
              <a:endParaRPr lang="es-AR" sz="1250" dirty="0">
                <a:latin typeface="Fira Sans Condensed"/>
              </a:endParaRPr>
            </a:p>
          </p:txBody>
        </p:sp>
      </p:grpSp>
      <p:graphicFrame>
        <p:nvGraphicFramePr>
          <p:cNvPr id="10" name="Criterios CAD"/>
          <p:cNvGraphicFramePr>
            <a:graphicFrameLocks noGrp="1"/>
          </p:cNvGraphicFramePr>
          <p:nvPr/>
        </p:nvGraphicFramePr>
        <p:xfrm>
          <a:off x="6583680" y="1143000"/>
          <a:ext cx="5257800" cy="1752600"/>
        </p:xfrm>
        <a:graphic>
          <a:graphicData uri="http://schemas.openxmlformats.org/drawingml/2006/table">
            <a:tbl>
              <a:tblPr firstRow="1" bandRow="1"/>
              <a:tblGrid>
                <a:gridCol w="1920240"/>
                <a:gridCol w="3337560"/>
              </a:tblGrid>
              <a:tr h="5181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Criterio (consenso 2024)</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Umbral</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Glucosa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 200 mg/dL o diabetes conocida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Cetonas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β-OHB ≥ 3,0 mmol/L o cetonas urinarias ≥ 2+</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Acidosis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pH &lt; 7,30 o bicarbonato &lt; 18 mmol/L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grpSp>
        <p:nvGrpSpPr>
          <p:cNvPr id="11" name="Cuadro Gravedad"/>
          <p:cNvGrpSpPr/>
          <p:nvPr/>
        </p:nvGrpSpPr>
        <p:grpSpPr>
          <a:xfrm>
            <a:off x="365760" y="3246120"/>
            <a:ext cx="5852160" cy="1463040"/>
            <a:chOff x="365760" y="3246120"/>
            <a:chExt cx="5852160" cy="1463040"/>
          </a:xfrm>
        </p:grpSpPr>
        <p:sp>
          <p:nvSpPr>
            <p:cNvPr id="12" name="Forma 11"/>
            <p:cNvSpPr/>
            <p:nvPr/>
          </p:nvSpPr>
          <p:spPr>
            <a:xfrm>
              <a:off x="365760" y="3447288"/>
              <a:ext cx="5852160" cy="12618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Por pH 7,15 y HCO₃⁻ 13 sería </a:t>
              </a:r>
              <a:r>
                <a:rPr lang="es-AR" sz="1450" b="1" dirty="0">
                  <a:solidFill>
                    <a:srgbClr val="1E1E1E"/>
                  </a:solidFill>
                  <a:latin typeface="Fira Sans Condensed"/>
                  <a:ea typeface="Fira Sans Condensed"/>
                  <a:cs typeface="Fira Sans Condensed"/>
                  <a:sym typeface="Fira Sans Condensed"/>
                </a:rPr>
                <a:t>CAD moderada</a:t>
              </a:r>
              <a:r>
                <a:rPr lang="es-AR" sz="1450" dirty="0">
                  <a:solidFill>
                    <a:srgbClr val="1E1E1E"/>
                  </a:solidFill>
                  <a:latin typeface="Fira Sans Condensed"/>
                  <a:ea typeface="Fira Sans Condensed"/>
                  <a:cs typeface="Fira Sans Condensed"/>
                  <a:sym typeface="Fira Sans Condensed"/>
                </a:rPr>
                <a:t>, pero somnolencia/confusión, hipotensión, posible </a:t>
              </a:r>
              <a:r>
                <a:rPr lang="es-AR" sz="1450" b="1" dirty="0">
                  <a:solidFill>
                    <a:srgbClr val="1E1E1E"/>
                  </a:solidFill>
                  <a:latin typeface="Fira Sans Condensed"/>
                  <a:ea typeface="Fira Sans Condensed"/>
                  <a:cs typeface="Fira Sans Condensed"/>
                  <a:sym typeface="Fira Sans Condensed"/>
                </a:rPr>
                <a:t>sepsis</a:t>
              </a:r>
              <a:r>
                <a:rPr lang="es-AR" sz="1450" dirty="0">
                  <a:solidFill>
                    <a:srgbClr val="1E1E1E"/>
                  </a:solidFill>
                  <a:latin typeface="Fira Sans Condensed"/>
                  <a:ea typeface="Fira Sans Condensed"/>
                  <a:cs typeface="Fira Sans Condensed"/>
                  <a:sym typeface="Fira Sans Condensed"/>
                </a:rPr>
                <a:t> y neumonía justifican </a:t>
              </a:r>
              <a:r>
                <a:rPr lang="es-AR" sz="1450" b="1" dirty="0">
                  <a:solidFill>
                    <a:srgbClr val="1E1E1E"/>
                  </a:solidFill>
                  <a:latin typeface="Fira Sans Condensed"/>
                  <a:ea typeface="Fira Sans Condensed"/>
                  <a:cs typeface="Fira Sans Condensed"/>
                  <a:sym typeface="Fira Sans Condensed"/>
                </a:rPr>
                <a:t>cuidados intensivos</a:t>
              </a:r>
              <a:r>
                <a:rPr lang="es-AR" sz="1450" dirty="0">
                  <a:solidFill>
                    <a:srgbClr val="1E1E1E"/>
                  </a:solidFill>
                  <a:latin typeface="Fira Sans Condensed"/>
                  <a:ea typeface="Fira Sans Condensed"/>
                  <a:cs typeface="Fira Sans Condensed"/>
                  <a:sym typeface="Fira Sans Condensed"/>
                </a:rPr>
                <a:t> por riesgo clínico.</a:t>
              </a:r>
              <a:endParaRPr lang="es-AR" sz="1450" dirty="0">
                <a:latin typeface="Fira Sans Condensed"/>
              </a:endParaRPr>
            </a:p>
          </p:txBody>
        </p:sp>
        <p:sp>
          <p:nvSpPr>
            <p:cNvPr id="13" name="Forma 12"/>
            <p:cNvSpPr/>
            <p:nvPr/>
          </p:nvSpPr>
          <p:spPr>
            <a:xfrm>
              <a:off x="502920" y="3246120"/>
              <a:ext cx="120263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GRAVEDAD</a:t>
              </a:r>
              <a:endParaRPr lang="es-AR" sz="1400" dirty="0">
                <a:latin typeface="Fira Sans Condensed"/>
              </a:endParaRPr>
            </a:p>
          </p:txBody>
        </p:sp>
      </p:grpSp>
      <p:grpSp>
        <p:nvGrpSpPr>
          <p:cNvPr id="14" name="Cuadro Cetonemia cualitativa"/>
          <p:cNvGrpSpPr/>
          <p:nvPr/>
        </p:nvGrpSpPr>
        <p:grpSpPr>
          <a:xfrm>
            <a:off x="6583680" y="3246120"/>
            <a:ext cx="5257800" cy="1463040"/>
            <a:chOff x="6583680" y="3246120"/>
            <a:chExt cx="5257800" cy="1463040"/>
          </a:xfrm>
        </p:grpSpPr>
        <p:sp>
          <p:nvSpPr>
            <p:cNvPr id="15" name="Forma 14"/>
            <p:cNvSpPr/>
            <p:nvPr/>
          </p:nvSpPr>
          <p:spPr>
            <a:xfrm>
              <a:off x="6583680" y="3447288"/>
              <a:ext cx="5257800" cy="12618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La cetonemia </a:t>
              </a:r>
              <a:r>
                <a:rPr lang="es-AR" sz="1450" b="1" dirty="0">
                  <a:solidFill>
                    <a:srgbClr val="1E1E1E"/>
                  </a:solidFill>
                  <a:latin typeface="Fira Sans Condensed"/>
                  <a:ea typeface="Fira Sans Condensed"/>
                  <a:cs typeface="Fira Sans Condensed"/>
                  <a:sym typeface="Fira Sans Condensed"/>
                </a:rPr>
                <a:t>+++</a:t>
              </a:r>
              <a:r>
                <a:rPr lang="es-AR" sz="1450" dirty="0">
                  <a:solidFill>
                    <a:srgbClr val="1E1E1E"/>
                  </a:solidFill>
                  <a:latin typeface="Fira Sans Condensed"/>
                  <a:ea typeface="Fira Sans Condensed"/>
                  <a:cs typeface="Fira Sans Condensed"/>
                  <a:sym typeface="Fira Sans Condensed"/>
                </a:rPr>
                <a:t> es </a:t>
              </a:r>
              <a:r>
                <a:rPr lang="es-AR" sz="1450" b="1" dirty="0">
                  <a:solidFill>
                    <a:srgbClr val="1E1E1E"/>
                  </a:solidFill>
                  <a:latin typeface="Fira Sans Condensed"/>
                  <a:ea typeface="Fira Sans Condensed"/>
                  <a:cs typeface="Fira Sans Condensed"/>
                  <a:sym typeface="Fira Sans Condensed"/>
                </a:rPr>
                <a:t>cualitativa</a:t>
              </a:r>
              <a:r>
                <a:rPr lang="es-AR" sz="1450" dirty="0">
                  <a:solidFill>
                    <a:srgbClr val="1E1E1E"/>
                  </a:solidFill>
                  <a:latin typeface="Fira Sans Condensed"/>
                  <a:ea typeface="Fira Sans Condensed"/>
                  <a:cs typeface="Fira Sans Condensed"/>
                  <a:sym typeface="Fira Sans Condensed"/>
                </a:rPr>
                <a:t>: no equivale a una concentración medida, aunque junto a la clínica su fuerza diagnóstica es alta.</a:t>
              </a:r>
              <a:endParaRPr lang="es-AR" sz="1450" dirty="0">
                <a:latin typeface="Fira Sans Condensed"/>
              </a:endParaRPr>
            </a:p>
          </p:txBody>
        </p:sp>
        <p:sp>
          <p:nvSpPr>
            <p:cNvPr id="16" name="Forma 15"/>
            <p:cNvSpPr/>
            <p:nvPr/>
          </p:nvSpPr>
          <p:spPr>
            <a:xfrm>
              <a:off x="6720840" y="3246120"/>
              <a:ext cx="226928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CETONEMIA CUALITATIVA</a:t>
              </a:r>
              <a:endParaRPr lang="es-AR" sz="1400" dirty="0">
                <a:latin typeface="Fira Sans Condensed"/>
              </a:endParaRPr>
            </a:p>
          </p:txBody>
        </p:sp>
      </p:grpSp>
      <p:grpSp>
        <p:nvGrpSpPr>
          <p:cNvPr id="17" name="Cuadro Otras inconsistencias"/>
          <p:cNvGrpSpPr/>
          <p:nvPr/>
        </p:nvGrpSpPr>
        <p:grpSpPr>
          <a:xfrm>
            <a:off x="365760" y="4937760"/>
            <a:ext cx="11475720" cy="1371600"/>
            <a:chOff x="365760" y="4937760"/>
            <a:chExt cx="11475720" cy="1371600"/>
          </a:xfrm>
        </p:grpSpPr>
        <p:sp>
          <p:nvSpPr>
            <p:cNvPr id="18" name="Forma 17"/>
            <p:cNvSpPr/>
            <p:nvPr/>
          </p:nvSpPr>
          <p:spPr>
            <a:xfrm>
              <a:off x="365760" y="5138928"/>
              <a:ext cx="1147572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pO₂ 99 mmHg con aire ambiente</a:t>
              </a:r>
              <a:r>
                <a:rPr lang="es-AR" sz="1400" dirty="0">
                  <a:solidFill>
                    <a:srgbClr val="1E1E1E"/>
                  </a:solidFill>
                  <a:latin typeface="Fira Sans Condensed"/>
                  <a:ea typeface="Fira Sans Condensed"/>
                  <a:cs typeface="Fira Sans Condensed"/>
                  <a:sym typeface="Fira Sans Condensed"/>
                </a:rPr>
                <a:t> no coincide de manera simple con </a:t>
              </a:r>
              <a:r>
                <a:rPr lang="es-AR" sz="1400" b="1" dirty="0">
                  <a:solidFill>
                    <a:srgbClr val="1E1E1E"/>
                  </a:solidFill>
                  <a:latin typeface="Fira Sans Condensed"/>
                  <a:ea typeface="Fira Sans Condensed"/>
                  <a:cs typeface="Fira Sans Condensed"/>
                  <a:sym typeface="Fira Sans Condensed"/>
                </a:rPr>
                <a:t>SpO₂ 90 %</a:t>
              </a:r>
              <a:r>
                <a:rPr lang="es-AR" sz="1400" dirty="0">
                  <a:solidFill>
                    <a:srgbClr val="1E1E1E"/>
                  </a:solidFill>
                  <a:latin typeface="Fira Sans Condensed"/>
                  <a:ea typeface="Fira Sans Condensed"/>
                  <a:cs typeface="Fira Sans Condensed"/>
                  <a:sym typeface="Fira Sans Condensed"/>
                </a:rPr>
                <a:t>: lecturas o momentos distintos, error instrumental o mala perfusión. «FIO₂ 0,21 %» debe leerse </a:t>
              </a:r>
              <a:r>
                <a:rPr lang="es-AR" sz="1400" b="1" dirty="0">
                  <a:solidFill>
                    <a:srgbClr val="1E1E1E"/>
                  </a:solidFill>
                  <a:latin typeface="Fira Sans Condensed"/>
                  <a:ea typeface="Fira Sans Condensed"/>
                  <a:cs typeface="Fira Sans Condensed"/>
                  <a:sym typeface="Fira Sans Condensed"/>
                </a:rPr>
                <a:t>FiO₂ = 0,21 (21 %)</a:t>
              </a:r>
              <a:r>
                <a:rPr lang="es-AR" sz="1400" dirty="0">
                  <a:solidFill>
                    <a:srgbClr val="1E1E1E"/>
                  </a:solidFill>
                  <a:latin typeface="Fira Sans Condensed"/>
                  <a:ea typeface="Fira Sans Condensed"/>
                  <a:cs typeface="Fira Sans Condensed"/>
                  <a:sym typeface="Fira Sans Condensed"/>
                </a:rPr>
                <a:t>. Verificar gasometría, oximetría y estado respiratorio.</a:t>
              </a:r>
              <a:endParaRPr lang="es-AR" sz="1400" dirty="0">
                <a:latin typeface="Fira Sans Condensed"/>
              </a:endParaRPr>
            </a:p>
          </p:txBody>
        </p:sp>
        <p:sp>
          <p:nvSpPr>
            <p:cNvPr id="19" name="Forma 18"/>
            <p:cNvSpPr/>
            <p:nvPr/>
          </p:nvSpPr>
          <p:spPr>
            <a:xfrm>
              <a:off x="502920" y="4937760"/>
              <a:ext cx="231041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OTRAS INCONSISTENCIAS</a:t>
              </a:r>
              <a:endParaRPr lang="es-AR" sz="1400" dirty="0">
                <a:latin typeface="Fira Sans Condensed"/>
              </a:endParaRPr>
            </a:p>
          </p:txBody>
        </p:sp>
      </p:gr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PREGUNTA 2 · DIAGNÓSTICO SINDROMÁTICO Y GRAVEDAD</a:t>
            </a:r>
            <a:endParaRPr lang="es-AR" sz="28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79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Fórmula"/>
          <p:cNvSpPr/>
          <p:nvPr/>
        </p:nvSpPr>
        <p:spPr>
          <a:xfrm>
            <a:off x="365760" y="1097280"/>
            <a:ext cx="7315200" cy="7772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200" b="1" dirty="0">
                <a:solidFill>
                  <a:srgbClr val="1E1E1E"/>
                </a:solidFill>
                <a:latin typeface="Fira Sans Condensed"/>
                <a:ea typeface="Fira Sans Condensed"/>
                <a:cs typeface="Fira Sans Condensed"/>
                <a:sym typeface="Fira Sans Condensed"/>
              </a:rPr>
              <a:t>pH = 6,1 + log₁₀ ( [HCO₃⁻] / (0,03 × pCO₂) )</a:t>
            </a:r>
            <a:endParaRPr lang="es-AR" sz="2200" dirty="0">
              <a:latin typeface="Fira Sans Condensed"/>
            </a:endParaRPr>
          </a:p>
        </p:txBody>
      </p:sp>
      <p:sp>
        <p:nvSpPr>
          <p:cNvPr id="7" name="Recuadro DATOS: HCO₃⁻ 13 · pCO₂"/>
          <p:cNvSpPr/>
          <p:nvPr/>
        </p:nvSpPr>
        <p:spPr>
          <a:xfrm>
            <a:off x="7955280" y="1097280"/>
            <a:ext cx="3886200" cy="7772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DATOS: HCO₃⁻ 13 · pCO₂ 24 · pH informado 7,15</a:t>
            </a:r>
            <a:endParaRPr lang="es-AR" sz="1300" dirty="0">
              <a:latin typeface="Fira Sans Condensed"/>
            </a:endParaRPr>
          </a:p>
        </p:txBody>
      </p:sp>
      <p:sp>
        <p:nvSpPr>
          <p:cNvPr id="8" name="Fórmula_2"/>
          <p:cNvSpPr/>
          <p:nvPr/>
        </p:nvSpPr>
        <p:spPr>
          <a:xfrm>
            <a:off x="365760" y="2148840"/>
            <a:ext cx="731520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0,03 × 24 = 0,72 mmol/L de CO₂ disuelto</a:t>
            </a:r>
            <a:endParaRPr lang="es-AR" sz="1800" dirty="0">
              <a:latin typeface="Fira Sans Condensed"/>
            </a:endParaRPr>
          </a:p>
        </p:txBody>
      </p:sp>
      <p:sp>
        <p:nvSpPr>
          <p:cNvPr id="9" name="Fórmula_3"/>
          <p:cNvSpPr/>
          <p:nvPr/>
        </p:nvSpPr>
        <p:spPr>
          <a:xfrm>
            <a:off x="365760" y="2926080"/>
            <a:ext cx="731520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13 / 0,72 = 18,06</a:t>
            </a:r>
            <a:endParaRPr lang="es-AR" sz="1800" dirty="0">
              <a:latin typeface="Fira Sans Condensed"/>
            </a:endParaRPr>
          </a:p>
        </p:txBody>
      </p:sp>
      <p:sp>
        <p:nvSpPr>
          <p:cNvPr id="10" name="Fórmula_4"/>
          <p:cNvSpPr/>
          <p:nvPr/>
        </p:nvSpPr>
        <p:spPr>
          <a:xfrm>
            <a:off x="365760" y="3703320"/>
            <a:ext cx="731520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log₁₀ 18,06 = 1,257</a:t>
            </a:r>
            <a:endParaRPr lang="es-AR" sz="1800" dirty="0">
              <a:latin typeface="Fira Sans Condensed"/>
            </a:endParaRPr>
          </a:p>
        </p:txBody>
      </p:sp>
      <p:sp>
        <p:nvSpPr>
          <p:cNvPr id="11" name="Fórmula_5"/>
          <p:cNvSpPr/>
          <p:nvPr/>
        </p:nvSpPr>
        <p:spPr>
          <a:xfrm>
            <a:off x="365760" y="4480560"/>
            <a:ext cx="7315200" cy="77724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200" b="1" dirty="0">
                <a:solidFill>
                  <a:srgbClr val="C00000"/>
                </a:solidFill>
                <a:latin typeface="Fira Sans Condensed"/>
                <a:ea typeface="Fira Sans Condensed"/>
                <a:cs typeface="Fira Sans Condensed"/>
                <a:sym typeface="Fira Sans Condensed"/>
              </a:rPr>
              <a:t>pH calculado = 6,1 + 1,257 ≈ 7,36</a:t>
            </a:r>
            <a:endParaRPr lang="es-AR" sz="2200" dirty="0">
              <a:latin typeface="Fira Sans Condensed"/>
            </a:endParaRPr>
          </a:p>
        </p:txBody>
      </p:sp>
      <p:sp>
        <p:nvSpPr>
          <p:cNvPr id="12" name="Perla clínica"/>
          <p:cNvSpPr/>
          <p:nvPr/>
        </p:nvSpPr>
        <p:spPr>
          <a:xfrm>
            <a:off x="7955280" y="2148840"/>
            <a:ext cx="3886200" cy="19202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700" b="1" dirty="0">
                <a:solidFill>
                  <a:srgbClr val="FFFFFF"/>
                </a:solidFill>
                <a:latin typeface="Fira Sans Condensed"/>
                <a:ea typeface="Fira Sans Condensed"/>
                <a:cs typeface="Fira Sans Condensed"/>
                <a:sym typeface="Fira Sans Condensed"/>
              </a:rPr>
              <a:t>7,36 calculado ≠ 7,15 informado</a:t>
            </a:r>
            <a:r>
              <a:rPr lang="es-AR" sz="1700" dirty="0">
                <a:solidFill>
                  <a:srgbClr val="FFFFFF"/>
                </a:solidFill>
                <a:latin typeface="Fira Sans Condensed"/>
                <a:ea typeface="Fira Sans Condensed"/>
                <a:cs typeface="Fira Sans Condensed"/>
                <a:sym typeface="Fira Sans Condensed"/>
              </a:rPr>
              <a:t>: la tríada no es internamente consistente.</a:t>
            </a:r>
            <a:endParaRPr lang="es-AR" sz="1700" dirty="0">
              <a:latin typeface="Fira Sans Condensed"/>
            </a:endParaRPr>
          </a:p>
        </p:txBody>
      </p:sp>
      <p:grpSp>
        <p:nvGrpSpPr>
          <p:cNvPr id="13" name="Cuadro Conducta"/>
          <p:cNvGrpSpPr/>
          <p:nvPr/>
        </p:nvGrpSpPr>
        <p:grpSpPr>
          <a:xfrm>
            <a:off x="7955280" y="4251960"/>
            <a:ext cx="3886200" cy="2057400"/>
            <a:chOff x="7955280" y="4251960"/>
            <a:chExt cx="3886200" cy="2057400"/>
          </a:xfrm>
        </p:grpSpPr>
        <p:sp>
          <p:nvSpPr>
            <p:cNvPr id="14" name="Forma 13"/>
            <p:cNvSpPr/>
            <p:nvPr/>
          </p:nvSpPr>
          <p:spPr>
            <a:xfrm>
              <a:off x="7955280" y="4453128"/>
              <a:ext cx="3886200" cy="18562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Repetir la gasometría.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Verificar si los valores provienen de </a:t>
              </a:r>
              <a:r>
                <a:rPr lang="es-AR" sz="1450" b="1" dirty="0">
                  <a:solidFill>
                    <a:srgbClr val="1E1E1E"/>
                  </a:solidFill>
                  <a:latin typeface="Fira Sans Condensed"/>
                  <a:ea typeface="Fira Sans Condensed"/>
                  <a:cs typeface="Fira Sans Condensed"/>
                  <a:sym typeface="Fira Sans Condensed"/>
                </a:rPr>
                <a:t>momentos o muestras distintos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Medir </a:t>
              </a:r>
              <a:r>
                <a:rPr lang="es-AR" sz="1450" b="1" dirty="0">
                  <a:solidFill>
                    <a:srgbClr val="1E1E1E"/>
                  </a:solidFill>
                  <a:latin typeface="Fira Sans Condensed"/>
                  <a:ea typeface="Fira Sans Condensed"/>
                  <a:cs typeface="Fira Sans Condensed"/>
                  <a:sym typeface="Fira Sans Condensed"/>
                </a:rPr>
                <a:t>β-hidroxibutirato</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15" name="Forma 14"/>
            <p:cNvSpPr/>
            <p:nvPr/>
          </p:nvSpPr>
          <p:spPr>
            <a:xfrm>
              <a:off x="8092440" y="4251960"/>
              <a:ext cx="120511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CONDUCTA</a:t>
              </a:r>
              <a:endParaRPr lang="es-AR" sz="1400" dirty="0">
                <a:latin typeface="Fira Sans Condensed"/>
              </a:endParaRPr>
            </a:p>
          </p:txBody>
        </p:sp>
      </p:grpSp>
      <p:sp>
        <p:nvSpPr>
          <p:cNvPr id="16" name="Forma 15"/>
          <p:cNvSpPr/>
          <p:nvPr/>
        </p:nvSpPr>
        <p:spPr>
          <a:xfrm>
            <a:off x="365760" y="5440680"/>
            <a:ext cx="73152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El diagnóstico sindromático de CAD </a:t>
            </a:r>
            <a:r>
              <a:rPr lang="es-AR" sz="1400" b="1" dirty="0">
                <a:solidFill>
                  <a:srgbClr val="1E1E1E"/>
                </a:solidFill>
                <a:latin typeface="Fira Sans Condensed"/>
                <a:ea typeface="Fira Sans Condensed"/>
                <a:cs typeface="Fira Sans Condensed"/>
                <a:sym typeface="Fira Sans Condensed"/>
              </a:rPr>
              <a:t>sigue siendo muy probable</a:t>
            </a:r>
            <a:r>
              <a:rPr lang="es-AR" sz="1400" dirty="0">
                <a:solidFill>
                  <a:srgbClr val="1E1E1E"/>
                </a:solidFill>
                <a:latin typeface="Fira Sans Condensed"/>
                <a:ea typeface="Fira Sans Condensed"/>
                <a:cs typeface="Fira Sans Condensed"/>
                <a:sym typeface="Fira Sans Condensed"/>
              </a:rPr>
              <a:t> (hiperglucemia + cetosis + HCO₃⁻ bajo + clínica).</a:t>
            </a:r>
            <a:endParaRPr lang="es-AR" sz="1400" dirty="0">
              <a:latin typeface="Fira Sans Condensed"/>
            </a:endParaRPr>
          </a:p>
        </p:txBody>
      </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VERIFICACIÓN DE LA GASOMETRÍA: HENDERSON–HASSELBALCH</a:t>
            </a:r>
            <a:endParaRPr lang="es-AR" sz="26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childTnLst>
                    </p:cTn>
                  </p:par>
                  <p:par>
                    <p:cTn id="39" fill="hold">
                      <p:stCondLst>
                        <p:cond delay="indefinite"/>
                      </p:stCondLst>
                      <p:childTnLst>
                        <p:par>
                          <p:cTn id="38"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44"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6" grpId="0" animBg="1"/>
    </p:bld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pSp>
        <p:nvGrpSpPr>
          <p:cNvPr id="6" name="Hipótesis A"/>
          <p:cNvGrpSpPr/>
          <p:nvPr/>
        </p:nvGrpSpPr>
        <p:grpSpPr>
          <a:xfrm>
            <a:off x="365760" y="1097280"/>
            <a:ext cx="5486400" cy="2103120"/>
            <a:chOff x="365760" y="1097280"/>
            <a:chExt cx="5486400" cy="2103120"/>
          </a:xfrm>
        </p:grpSpPr>
        <p:sp>
          <p:nvSpPr>
            <p:cNvPr id="7" name="Recuadro SI pH 7,15 Y pCO₂ 24 F"/>
            <p:cNvSpPr/>
            <p:nvPr/>
          </p:nvSpPr>
          <p:spPr>
            <a:xfrm>
              <a:off x="365760" y="1097280"/>
              <a:ext cx="54864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SI pH 7,15 Y pCO₂ 24 FUERAN CORRECTOS</a:t>
              </a:r>
              <a:endParaRPr lang="es-AR" sz="1400" dirty="0">
                <a:latin typeface="Fira Sans Condensed"/>
              </a:endParaRPr>
            </a:p>
          </p:txBody>
        </p:sp>
        <p:sp>
          <p:nvSpPr>
            <p:cNvPr id="8" name="Fórmula"/>
            <p:cNvSpPr/>
            <p:nvPr/>
          </p:nvSpPr>
          <p:spPr>
            <a:xfrm>
              <a:off x="365760" y="1783080"/>
              <a:ext cx="5486400" cy="64008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1E1E1E"/>
                  </a:solidFill>
                  <a:latin typeface="Fira Sans Condensed"/>
                  <a:ea typeface="Fira Sans Condensed"/>
                  <a:cs typeface="Fira Sans Condensed"/>
                  <a:sym typeface="Fira Sans Condensed"/>
                </a:rPr>
                <a:t>HCO₃⁻ = 0,03 × 24 × 10^(7,15 − 6,1)</a:t>
              </a:r>
              <a:endParaRPr lang="es-AR" sz="1700" dirty="0">
                <a:latin typeface="Fira Sans Condensed"/>
              </a:endParaRPr>
            </a:p>
          </p:txBody>
        </p:sp>
        <p:sp>
          <p:nvSpPr>
            <p:cNvPr id="9" name="Fórmula_2"/>
            <p:cNvSpPr/>
            <p:nvPr/>
          </p:nvSpPr>
          <p:spPr>
            <a:xfrm>
              <a:off x="365760" y="2560320"/>
              <a:ext cx="5486400" cy="64008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C00000"/>
                  </a:solidFill>
                  <a:latin typeface="Fira Sans Condensed"/>
                  <a:ea typeface="Fira Sans Condensed"/>
                  <a:cs typeface="Fira Sans Condensed"/>
                  <a:sym typeface="Fira Sans Condensed"/>
                </a:rPr>
                <a:t>= 0,72 × 11,22 ≈ 8,1 mEq/L</a:t>
              </a:r>
              <a:endParaRPr lang="es-AR" sz="1900" dirty="0">
                <a:latin typeface="Fira Sans Condensed"/>
              </a:endParaRPr>
            </a:p>
          </p:txBody>
        </p:sp>
      </p:grpSp>
      <p:grpSp>
        <p:nvGrpSpPr>
          <p:cNvPr id="10" name="Hipótesis B"/>
          <p:cNvGrpSpPr/>
          <p:nvPr/>
        </p:nvGrpSpPr>
        <p:grpSpPr>
          <a:xfrm>
            <a:off x="6355080" y="1097280"/>
            <a:ext cx="5486400" cy="2103120"/>
            <a:chOff x="6355080" y="1097280"/>
            <a:chExt cx="5486400" cy="2103120"/>
          </a:xfrm>
        </p:grpSpPr>
        <p:sp>
          <p:nvSpPr>
            <p:cNvPr id="11" name="Recuadro SI pH 7,15 Y HCO₃⁻ 13 "/>
            <p:cNvSpPr/>
            <p:nvPr/>
          </p:nvSpPr>
          <p:spPr>
            <a:xfrm>
              <a:off x="6355080" y="1097280"/>
              <a:ext cx="54864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SI pH 7,15 Y HCO₃⁻ 13 FUERAN CORRECTOS</a:t>
              </a:r>
              <a:endParaRPr lang="es-AR" sz="1400" dirty="0">
                <a:latin typeface="Fira Sans Condensed"/>
              </a:endParaRPr>
            </a:p>
          </p:txBody>
        </p:sp>
        <p:sp>
          <p:nvSpPr>
            <p:cNvPr id="12" name="Fórmula_3"/>
            <p:cNvSpPr/>
            <p:nvPr/>
          </p:nvSpPr>
          <p:spPr>
            <a:xfrm>
              <a:off x="6355080" y="1783080"/>
              <a:ext cx="5486400" cy="64008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1E1E1E"/>
                  </a:solidFill>
                  <a:latin typeface="Fira Sans Condensed"/>
                  <a:ea typeface="Fira Sans Condensed"/>
                  <a:cs typeface="Fira Sans Condensed"/>
                  <a:sym typeface="Fira Sans Condensed"/>
                </a:rPr>
                <a:t>pCO₂ = 13 / (0,03 × 10^(7,15 − 6,1))</a:t>
              </a:r>
              <a:endParaRPr lang="es-AR" sz="1700" dirty="0">
                <a:latin typeface="Fira Sans Condensed"/>
              </a:endParaRPr>
            </a:p>
          </p:txBody>
        </p:sp>
        <p:sp>
          <p:nvSpPr>
            <p:cNvPr id="13" name="Fórmula_4"/>
            <p:cNvSpPr/>
            <p:nvPr/>
          </p:nvSpPr>
          <p:spPr>
            <a:xfrm>
              <a:off x="6355080" y="2560320"/>
              <a:ext cx="5486400" cy="64008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C00000"/>
                  </a:solidFill>
                  <a:latin typeface="Fira Sans Condensed"/>
                  <a:ea typeface="Fira Sans Condensed"/>
                  <a:cs typeface="Fira Sans Condensed"/>
                  <a:sym typeface="Fira Sans Condensed"/>
                </a:rPr>
                <a:t>= 13 / 0,337 ≈ 38,6 mmHg</a:t>
              </a:r>
              <a:endParaRPr lang="es-AR" sz="1900" dirty="0">
                <a:latin typeface="Fira Sans Condensed"/>
              </a:endParaRPr>
            </a:p>
          </p:txBody>
        </p:sp>
      </p:grpSp>
      <p:sp>
        <p:nvSpPr>
          <p:cNvPr id="14" name="Perla clínica"/>
          <p:cNvSpPr/>
          <p:nvPr/>
        </p:nvSpPr>
        <p:spPr>
          <a:xfrm>
            <a:off x="365760" y="3520440"/>
            <a:ext cx="11475720" cy="10058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Ninguna hipótesis puede elegirse con los datos disponibles: </a:t>
            </a:r>
            <a:r>
              <a:rPr lang="es-AR" sz="1600" b="1" dirty="0">
                <a:solidFill>
                  <a:srgbClr val="FFFFFF"/>
                </a:solidFill>
                <a:latin typeface="Fira Sans Condensed"/>
                <a:ea typeface="Fira Sans Condensed"/>
                <a:cs typeface="Fira Sans Condensed"/>
                <a:sym typeface="Fira Sans Condensed"/>
              </a:rPr>
              <a:t>no se inventan valores no medidos</a:t>
            </a:r>
            <a:r>
              <a:rPr lang="es-AR" sz="1600" dirty="0">
                <a:solidFill>
                  <a:srgbClr val="FFFFFF"/>
                </a:solidFill>
                <a:latin typeface="Fira Sans Condensed"/>
                <a:ea typeface="Fira Sans Condensed"/>
                <a:cs typeface="Fira Sans Condensed"/>
                <a:sym typeface="Fira Sans Condensed"/>
              </a:rPr>
              <a:t>. Sólo una nueva muestra resuelve la discordancia.</a:t>
            </a:r>
            <a:endParaRPr lang="es-AR" sz="1600" dirty="0">
              <a:latin typeface="Fira Sans Condensed"/>
            </a:endParaRPr>
          </a:p>
        </p:txBody>
      </p:sp>
      <p:grpSp>
        <p:nvGrpSpPr>
          <p:cNvPr id="15" name="Cuadro Por qué importa"/>
          <p:cNvGrpSpPr/>
          <p:nvPr/>
        </p:nvGrpSpPr>
        <p:grpSpPr>
          <a:xfrm>
            <a:off x="365760" y="4754880"/>
            <a:ext cx="11475720" cy="1508760"/>
            <a:chOff x="365760" y="4754880"/>
            <a:chExt cx="11475720" cy="1508760"/>
          </a:xfrm>
        </p:grpSpPr>
        <p:sp>
          <p:nvSpPr>
            <p:cNvPr id="16" name="Forma 15"/>
            <p:cNvSpPr/>
            <p:nvPr/>
          </p:nvSpPr>
          <p:spPr>
            <a:xfrm>
              <a:off x="365760" y="4956048"/>
              <a:ext cx="11475720" cy="13075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Cada hipótesis cambiaría la lectura: un HCO₃⁻ de ~8 implicaría acidosis más grave; una pCO₂ de ~39 implicaría </a:t>
              </a:r>
              <a:r>
                <a:rPr lang="es-AR" sz="1450" b="1" dirty="0">
                  <a:solidFill>
                    <a:srgbClr val="1E1E1E"/>
                  </a:solidFill>
                  <a:latin typeface="Fira Sans Condensed"/>
                  <a:ea typeface="Fira Sans Condensed"/>
                  <a:cs typeface="Fira Sans Condensed"/>
                  <a:sym typeface="Fira Sans Condensed"/>
                </a:rPr>
                <a:t>ausencia de compensación respiratoria</a:t>
              </a:r>
              <a:r>
                <a:rPr lang="es-AR" sz="1450" dirty="0">
                  <a:solidFill>
                    <a:srgbClr val="1E1E1E"/>
                  </a:solidFill>
                  <a:latin typeface="Fira Sans Condensed"/>
                  <a:ea typeface="Fira Sans Condensed"/>
                  <a:cs typeface="Fira Sans Condensed"/>
                  <a:sym typeface="Fira Sans Condensed"/>
                </a:rPr>
                <a:t> (acidosis respiratoria relativa). Por eso no se clasifica el trastorno mixto con certeza.</a:t>
              </a:r>
              <a:endParaRPr lang="es-AR" sz="1450" dirty="0">
                <a:latin typeface="Fira Sans Condensed"/>
              </a:endParaRPr>
            </a:p>
          </p:txBody>
        </p:sp>
        <p:sp>
          <p:nvSpPr>
            <p:cNvPr id="17" name="Forma 16"/>
            <p:cNvSpPr/>
            <p:nvPr/>
          </p:nvSpPr>
          <p:spPr>
            <a:xfrm>
              <a:off x="502920" y="4754880"/>
              <a:ext cx="179852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POR QUÉ IMPORTA</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¿QUÉ VALOR PODRÍA ESTAR EQUIVOCADO?</a:t>
            </a:r>
            <a:endParaRPr lang="es-AR" sz="34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Fórmula"/>
          <p:cNvSpPr/>
          <p:nvPr/>
        </p:nvSpPr>
        <p:spPr>
          <a:xfrm>
            <a:off x="365760" y="1097280"/>
            <a:ext cx="5760720" cy="7772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100" b="1" dirty="0">
                <a:solidFill>
                  <a:srgbClr val="1E1E1E"/>
                </a:solidFill>
                <a:latin typeface="Fira Sans Condensed"/>
                <a:ea typeface="Fira Sans Condensed"/>
                <a:cs typeface="Fira Sans Condensed"/>
                <a:sym typeface="Fira Sans Condensed"/>
              </a:rPr>
              <a:t>pCO₂ esperada ≈ 1,5 × HCO₃⁻ + 8 ± 2</a:t>
            </a:r>
            <a:endParaRPr lang="es-AR" sz="2100" dirty="0">
              <a:latin typeface="Fira Sans Condensed"/>
            </a:endParaRPr>
          </a:p>
        </p:txBody>
      </p:sp>
      <p:sp>
        <p:nvSpPr>
          <p:cNvPr id="8" name="Fórmula_2"/>
          <p:cNvSpPr/>
          <p:nvPr/>
        </p:nvSpPr>
        <p:spPr>
          <a:xfrm>
            <a:off x="365760" y="2057400"/>
            <a:ext cx="576072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1,5 × 13 + 8 = 27,5</a:t>
            </a:r>
            <a:endParaRPr lang="es-AR" sz="1900" dirty="0">
              <a:latin typeface="Fira Sans Condensed"/>
            </a:endParaRPr>
          </a:p>
        </p:txBody>
      </p:sp>
      <p:sp>
        <p:nvSpPr>
          <p:cNvPr id="9" name="Fórmula_3"/>
          <p:cNvSpPr/>
          <p:nvPr/>
        </p:nvSpPr>
        <p:spPr>
          <a:xfrm>
            <a:off x="365760" y="2880360"/>
            <a:ext cx="5760720" cy="73152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Banda esperada: 25,5 – 29,5 mmHg</a:t>
            </a:r>
            <a:endParaRPr lang="es-AR" sz="2000" dirty="0">
              <a:latin typeface="Fira Sans Condensed"/>
            </a:endParaRPr>
          </a:p>
        </p:txBody>
      </p:sp>
      <p:grpSp>
        <p:nvGrpSpPr>
          <p:cNvPr id="10" name="Escala pCO2"/>
          <p:cNvGrpSpPr/>
          <p:nvPr/>
        </p:nvGrpSpPr>
        <p:grpSpPr>
          <a:xfrm>
            <a:off x="6217920" y="1463040"/>
            <a:ext cx="5852160" cy="749808"/>
            <a:chOff x="6217920" y="1463040"/>
            <a:chExt cx="5852160" cy="749808"/>
          </a:xfrm>
        </p:grpSpPr>
        <p:sp>
          <p:nvSpPr>
            <p:cNvPr id="11" name="Forma 10"/>
            <p:cNvSpPr/>
            <p:nvPr/>
          </p:nvSpPr>
          <p:spPr>
            <a:xfrm>
              <a:off x="6492240" y="1463040"/>
              <a:ext cx="5303520" cy="457200"/>
            </a:xfrm>
            <a:prstGeom prst="rect">
              <a:avLst/>
            </a:prstGeom>
            <a:solidFill>
              <a:srgbClr val="FFFFFF"/>
            </a:solidFill>
            <a:ln w="15875" cap="rnd">
              <a:solidFill>
                <a:srgbClr val="1E1E1E"/>
              </a:solidFill>
              <a:round/>
            </a:ln>
          </p:spPr>
        </p:sp>
        <p:sp>
          <p:nvSpPr>
            <p:cNvPr id="12" name="Forma 11"/>
            <p:cNvSpPr/>
            <p:nvPr/>
          </p:nvSpPr>
          <p:spPr>
            <a:xfrm>
              <a:off x="7950708" y="1463040"/>
              <a:ext cx="1060704" cy="457200"/>
            </a:xfrm>
            <a:prstGeom prst="rect">
              <a:avLst/>
            </a:prstGeom>
            <a:solidFill>
              <a:srgbClr val="00A651">
                <a:alpha val="45000"/>
              </a:srgbClr>
            </a:solidFill>
            <a:ln>
              <a:noFill/>
            </a:ln>
          </p:spPr>
        </p:sp>
        <p:sp>
          <p:nvSpPr>
            <p:cNvPr id="13" name="Forma 12"/>
            <p:cNvSpPr txBox="1"/>
            <p:nvPr/>
          </p:nvSpPr>
          <p:spPr>
            <a:xfrm>
              <a:off x="6217920" y="1938528"/>
              <a:ext cx="548640" cy="274320"/>
            </a:xfrm>
            <a:prstGeom prst="rect">
              <a:avLst/>
            </a:prstGeom>
            <a:noFill/>
            <a:ln>
              <a:noFill/>
            </a:ln>
          </p:spPr>
          <p:txBody>
            <a:bodyPr wrap="square" lIns="0" tIns="0" rIns="0" bIns="0" anchor="t"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20</a:t>
              </a:r>
              <a:endParaRPr lang="es-AR" sz="1150" dirty="0">
                <a:latin typeface="Fira Sans Condensed"/>
              </a:endParaRPr>
            </a:p>
          </p:txBody>
        </p:sp>
        <p:sp>
          <p:nvSpPr>
            <p:cNvPr id="14" name="Forma 13"/>
            <p:cNvSpPr txBox="1"/>
            <p:nvPr/>
          </p:nvSpPr>
          <p:spPr>
            <a:xfrm>
              <a:off x="7543800" y="1938528"/>
              <a:ext cx="548640" cy="274320"/>
            </a:xfrm>
            <a:prstGeom prst="rect">
              <a:avLst/>
            </a:prstGeom>
            <a:noFill/>
            <a:ln>
              <a:noFill/>
            </a:ln>
          </p:spPr>
          <p:txBody>
            <a:bodyPr wrap="square" lIns="0" tIns="0" rIns="0" bIns="0" anchor="t"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25</a:t>
              </a:r>
              <a:endParaRPr lang="es-AR" sz="1150" dirty="0">
                <a:latin typeface="Fira Sans Condensed"/>
              </a:endParaRPr>
            </a:p>
          </p:txBody>
        </p:sp>
        <p:sp>
          <p:nvSpPr>
            <p:cNvPr id="15" name="Forma 14"/>
            <p:cNvSpPr txBox="1"/>
            <p:nvPr/>
          </p:nvSpPr>
          <p:spPr>
            <a:xfrm>
              <a:off x="8869680" y="1938528"/>
              <a:ext cx="548640" cy="274320"/>
            </a:xfrm>
            <a:prstGeom prst="rect">
              <a:avLst/>
            </a:prstGeom>
            <a:noFill/>
            <a:ln>
              <a:noFill/>
            </a:ln>
          </p:spPr>
          <p:txBody>
            <a:bodyPr wrap="square" lIns="0" tIns="0" rIns="0" bIns="0" anchor="t"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30</a:t>
              </a:r>
              <a:endParaRPr lang="es-AR" sz="1150" dirty="0">
                <a:latin typeface="Fira Sans Condensed"/>
              </a:endParaRPr>
            </a:p>
          </p:txBody>
        </p:sp>
        <p:sp>
          <p:nvSpPr>
            <p:cNvPr id="16" name="Forma 15"/>
            <p:cNvSpPr txBox="1"/>
            <p:nvPr/>
          </p:nvSpPr>
          <p:spPr>
            <a:xfrm>
              <a:off x="10195560" y="1938528"/>
              <a:ext cx="548640" cy="274320"/>
            </a:xfrm>
            <a:prstGeom prst="rect">
              <a:avLst/>
            </a:prstGeom>
            <a:noFill/>
            <a:ln>
              <a:noFill/>
            </a:ln>
          </p:spPr>
          <p:txBody>
            <a:bodyPr wrap="square" lIns="0" tIns="0" rIns="0" bIns="0" anchor="t"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35</a:t>
              </a:r>
              <a:endParaRPr lang="es-AR" sz="1150" dirty="0">
                <a:latin typeface="Fira Sans Condensed"/>
              </a:endParaRPr>
            </a:p>
          </p:txBody>
        </p:sp>
        <p:sp>
          <p:nvSpPr>
            <p:cNvPr id="17" name="Forma 16"/>
            <p:cNvSpPr txBox="1"/>
            <p:nvPr/>
          </p:nvSpPr>
          <p:spPr>
            <a:xfrm>
              <a:off x="11521440" y="1938528"/>
              <a:ext cx="548640" cy="274320"/>
            </a:xfrm>
            <a:prstGeom prst="rect">
              <a:avLst/>
            </a:prstGeom>
            <a:noFill/>
            <a:ln>
              <a:noFill/>
            </a:ln>
          </p:spPr>
          <p:txBody>
            <a:bodyPr wrap="square" lIns="0" tIns="0" rIns="0" bIns="0" anchor="t"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40</a:t>
              </a:r>
              <a:endParaRPr lang="es-AR" sz="1150" dirty="0">
                <a:latin typeface="Fira Sans Condensed"/>
              </a:endParaRPr>
            </a:p>
          </p:txBody>
        </p:sp>
      </p:grpSp>
      <p:sp>
        <p:nvSpPr>
          <p:cNvPr id="18" name="Marca pCO2 24"/>
          <p:cNvSpPr/>
          <p:nvPr/>
        </p:nvSpPr>
        <p:spPr>
          <a:xfrm>
            <a:off x="7443216" y="1207008"/>
            <a:ext cx="219456" cy="960120"/>
          </a:xfrm>
          <a:prstGeom prst="rect">
            <a:avLst/>
          </a:prstGeom>
          <a:solidFill>
            <a:srgbClr val="C00000"/>
          </a:solidFill>
          <a:ln>
            <a:noFill/>
          </a:ln>
        </p:spPr>
      </p:sp>
      <p:sp>
        <p:nvSpPr>
          <p:cNvPr id="19" name="Forma 18"/>
          <p:cNvSpPr txBox="1"/>
          <p:nvPr/>
        </p:nvSpPr>
        <p:spPr>
          <a:xfrm>
            <a:off x="7004304" y="2240280"/>
            <a:ext cx="1280160" cy="27432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medida: 24</a:t>
            </a:r>
            <a:endParaRPr lang="es-AR" sz="1200" dirty="0">
              <a:latin typeface="Fira Sans Condensed"/>
            </a:endParaRPr>
          </a:p>
        </p:txBody>
      </p:sp>
      <p:sp>
        <p:nvSpPr>
          <p:cNvPr id="20" name="Forma 19"/>
          <p:cNvSpPr txBox="1"/>
          <p:nvPr/>
        </p:nvSpPr>
        <p:spPr>
          <a:xfrm>
            <a:off x="6492240" y="1051560"/>
            <a:ext cx="53035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pCO₂ (mmHg)</a:t>
            </a:r>
            <a:endParaRPr lang="es-AR" sz="1250" dirty="0">
              <a:latin typeface="Fira Sans Condensed"/>
            </a:endParaRPr>
          </a:p>
        </p:txBody>
      </p:sp>
      <p:grpSp>
        <p:nvGrpSpPr>
          <p:cNvPr id="21" name="Cuadro Lectura aislada"/>
          <p:cNvGrpSpPr/>
          <p:nvPr/>
        </p:nvGrpSpPr>
        <p:grpSpPr>
          <a:xfrm>
            <a:off x="6492240" y="2743200"/>
            <a:ext cx="5349240" cy="1600200"/>
            <a:chOff x="6492240" y="2743200"/>
            <a:chExt cx="5349240" cy="1600200"/>
          </a:xfrm>
        </p:grpSpPr>
        <p:sp>
          <p:nvSpPr>
            <p:cNvPr id="22" name="Forma 21"/>
            <p:cNvSpPr/>
            <p:nvPr/>
          </p:nvSpPr>
          <p:spPr>
            <a:xfrm>
              <a:off x="6492240" y="2944368"/>
              <a:ext cx="53492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24 está </a:t>
              </a:r>
              <a:r>
                <a:rPr lang="es-AR" sz="1500" b="1" dirty="0">
                  <a:solidFill>
                    <a:srgbClr val="1E1E1E"/>
                  </a:solidFill>
                  <a:latin typeface="Fira Sans Condensed"/>
                  <a:ea typeface="Fira Sans Condensed"/>
                  <a:cs typeface="Fira Sans Condensed"/>
                  <a:sym typeface="Fira Sans Condensed"/>
                </a:rPr>
                <a:t>algo por debajo</a:t>
              </a:r>
              <a:r>
                <a:rPr lang="es-AR" sz="1500" dirty="0">
                  <a:solidFill>
                    <a:srgbClr val="1E1E1E"/>
                  </a:solidFill>
                  <a:latin typeface="Fira Sans Condensed"/>
                  <a:ea typeface="Fira Sans Condensed"/>
                  <a:cs typeface="Fira Sans Condensed"/>
                  <a:sym typeface="Fira Sans Condensed"/>
                </a:rPr>
                <a:t> de lo esperado → </a:t>
              </a:r>
              <a:r>
                <a:rPr lang="es-AR" sz="1500" b="1" dirty="0">
                  <a:solidFill>
                    <a:srgbClr val="1E1E1E"/>
                  </a:solidFill>
                  <a:latin typeface="Fira Sans Condensed"/>
                  <a:ea typeface="Fira Sans Condensed"/>
                  <a:cs typeface="Fira Sans Condensed"/>
                  <a:sym typeface="Fira Sans Condensed"/>
                </a:rPr>
                <a:t>podría</a:t>
              </a:r>
              <a:r>
                <a:rPr lang="es-AR" sz="1500" dirty="0">
                  <a:solidFill>
                    <a:srgbClr val="1E1E1E"/>
                  </a:solidFill>
                  <a:latin typeface="Fira Sans Condensed"/>
                  <a:ea typeface="Fira Sans Condensed"/>
                  <a:cs typeface="Fira Sans Condensed"/>
                  <a:sym typeface="Fira Sans Condensed"/>
                </a:rPr>
                <a:t> sugerir alcalosis respiratoria agregada (fiebre, neumonía).</a:t>
              </a:r>
              <a:endParaRPr lang="es-AR" sz="1500" dirty="0">
                <a:latin typeface="Fira Sans Condensed"/>
              </a:endParaRPr>
            </a:p>
          </p:txBody>
        </p:sp>
        <p:sp>
          <p:nvSpPr>
            <p:cNvPr id="23" name="Forma 22"/>
            <p:cNvSpPr/>
            <p:nvPr/>
          </p:nvSpPr>
          <p:spPr>
            <a:xfrm>
              <a:off x="6629400" y="2743200"/>
              <a:ext cx="175374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LECTURA AISLADA</a:t>
              </a:r>
              <a:endParaRPr lang="es-AR" sz="1400" dirty="0">
                <a:latin typeface="Fira Sans Condensed"/>
              </a:endParaRPr>
            </a:p>
          </p:txBody>
        </p:sp>
      </p:grpSp>
      <p:sp>
        <p:nvSpPr>
          <p:cNvPr id="24" name="Perla clínica"/>
          <p:cNvSpPr/>
          <p:nvPr/>
        </p:nvSpPr>
        <p:spPr>
          <a:xfrm>
            <a:off x="365760" y="4572000"/>
            <a:ext cx="11475720" cy="9144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Pero la tríada es </a:t>
            </a:r>
            <a:r>
              <a:rPr lang="es-AR" sz="1600" b="1" dirty="0">
                <a:solidFill>
                  <a:srgbClr val="FFFFFF"/>
                </a:solidFill>
                <a:latin typeface="Fira Sans Condensed"/>
                <a:ea typeface="Fira Sans Condensed"/>
                <a:cs typeface="Fira Sans Condensed"/>
                <a:sym typeface="Fira Sans Condensed"/>
              </a:rPr>
              <a:t>incompatible</a:t>
            </a:r>
            <a:r>
              <a:rPr lang="es-AR" sz="1600" dirty="0">
                <a:solidFill>
                  <a:srgbClr val="FFFFFF"/>
                </a:solidFill>
                <a:latin typeface="Fira Sans Condensed"/>
                <a:ea typeface="Fira Sans Condensed"/>
                <a:cs typeface="Fira Sans Condensed"/>
                <a:sym typeface="Fira Sans Condensed"/>
              </a:rPr>
              <a:t> con Henderson–Hasselbalch: sólo se formula una </a:t>
            </a:r>
            <a:r>
              <a:rPr lang="es-AR" sz="1600" b="1" dirty="0">
                <a:solidFill>
                  <a:srgbClr val="FFFFFF"/>
                </a:solidFill>
                <a:latin typeface="Fira Sans Condensed"/>
                <a:ea typeface="Fira Sans Condensed"/>
                <a:cs typeface="Fira Sans Condensed"/>
                <a:sym typeface="Fira Sans Condensed"/>
              </a:rPr>
              <a:t>hipótesis</a:t>
            </a:r>
            <a:r>
              <a:rPr lang="es-AR" sz="1600" dirty="0">
                <a:solidFill>
                  <a:srgbClr val="FFFFFF"/>
                </a:solidFill>
                <a:latin typeface="Fira Sans Condensed"/>
                <a:ea typeface="Fira Sans Condensed"/>
                <a:cs typeface="Fira Sans Condensed"/>
                <a:sym typeface="Fira Sans Condensed"/>
              </a:rPr>
              <a:t>, no un diagnóstico de trastorno mixto.</a:t>
            </a:r>
            <a:endParaRPr lang="es-AR" sz="1600" dirty="0">
              <a:latin typeface="Fira Sans Condensed"/>
            </a:endParaRPr>
          </a:p>
        </p:txBody>
      </p:sp>
      <p:sp>
        <p:nvSpPr>
          <p:cNvPr id="25" name="Forma 24"/>
          <p:cNvSpPr/>
          <p:nvPr/>
        </p:nvSpPr>
        <p:spPr>
          <a:xfrm>
            <a:off x="365760" y="5669280"/>
            <a:ext cx="11475720" cy="640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Regla: un trastorno mixto se diagnostica comparando con lo esperado </a:t>
            </a:r>
            <a:r>
              <a:rPr lang="es-AR" sz="1450" b="1" dirty="0">
                <a:solidFill>
                  <a:srgbClr val="1E1E1E"/>
                </a:solidFill>
                <a:latin typeface="Fira Sans Condensed"/>
                <a:ea typeface="Fira Sans Condensed"/>
                <a:cs typeface="Fira Sans Condensed"/>
                <a:sym typeface="Fira Sans Condensed"/>
              </a:rPr>
              <a:t>y</a:t>
            </a:r>
            <a:r>
              <a:rPr lang="es-AR" sz="1450" dirty="0">
                <a:solidFill>
                  <a:srgbClr val="1E1E1E"/>
                </a:solidFill>
                <a:latin typeface="Fira Sans Condensed"/>
                <a:ea typeface="Fira Sans Condensed"/>
                <a:cs typeface="Fira Sans Condensed"/>
                <a:sym typeface="Fira Sans Condensed"/>
              </a:rPr>
              <a:t> verificando la coherencia ácido-base.</a:t>
            </a:r>
            <a:endParaRPr lang="es-AR" sz="145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FÓRMULA DE WINTER Y EL FALSO TRASTORNO MIXTO</a:t>
            </a:r>
            <a:endParaRPr lang="es-AR" sz="30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2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22"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Effect transition="in" filter="fade">
                                      <p:cBhvr>
                                        <p:cTn id="21" dur="500"/>
                                        <p:tgtEl>
                                          <p:spTgt spid="18"/>
                                        </p:tgtEl>
                                      </p:cBhvr>
                                    </p:animEffect>
                                  </p:childTnLst>
                                </p:cTn>
                              </p:par>
                            </p:childTnLst>
                          </p:cTn>
                        </p:par>
                        <p:par>
                          <p:cTn id="26"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500" fill="hold"/>
                                        <p:tgtEl>
                                          <p:spTgt spid="24"/>
                                        </p:tgtEl>
                                        <p:attrNameLst>
                                          <p:attrName>ppt_w</p:attrName>
                                        </p:attrNameLst>
                                      </p:cBhvr>
                                      <p:tavLst>
                                        <p:tav tm="0">
                                          <p:val>
                                            <p:fltVal val="0"/>
                                          </p:val>
                                        </p:tav>
                                        <p:tav tm="100000">
                                          <p:val>
                                            <p:strVal val="#ppt_w"/>
                                          </p:val>
                                        </p:tav>
                                      </p:tavLst>
                                    </p:anim>
                                    <p:anim calcmode="lin" valueType="num">
                                      <p:cBhvr>
                                        <p:cTn id="36" dur="500" fill="hold"/>
                                        <p:tgtEl>
                                          <p:spTgt spid="24"/>
                                        </p:tgtEl>
                                        <p:attrNameLst>
                                          <p:attrName>ppt_h</p:attrName>
                                        </p:attrNameLst>
                                      </p:cBhvr>
                                      <p:tavLst>
                                        <p:tav tm="0">
                                          <p:val>
                                            <p:fltVal val="0"/>
                                          </p:val>
                                        </p:tav>
                                        <p:tav tm="100000">
                                          <p:val>
                                            <p:strVal val="#ppt_h"/>
                                          </p:val>
                                        </p:tav>
                                      </p:tavLst>
                                    </p:anim>
                                    <p:animEffect transition="in" filter="fade">
                                      <p:cBhvr>
                                        <p:cTn id="37" dur="500"/>
                                        <p:tgtEl>
                                          <p:spTgt spid="24"/>
                                        </p:tgtEl>
                                      </p:cBhvr>
                                    </p:animEffect>
                                  </p:childTnLst>
                                </p:cTn>
                              </p:par>
                            </p:childTnLst>
                          </p:cTn>
                        </p:par>
                      </p:childTnLst>
                    </p:cTn>
                  </p:par>
                  <p:par>
                    <p:cTn id="44"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8" grpId="0" animBg="1"/>
      <p:bldP spid="19" grpId="0" animBg="1"/>
      <p:bldP spid="24" grpId="0" animBg="1"/>
      <p:bldP spid="25" grpId="0" animBg="1"/>
    </p:bld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Fórmula"/>
          <p:cNvSpPr/>
          <p:nvPr/>
        </p:nvSpPr>
        <p:spPr>
          <a:xfrm>
            <a:off x="365760" y="1097280"/>
            <a:ext cx="6766560" cy="7772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400" b="1" dirty="0">
                <a:solidFill>
                  <a:srgbClr val="1E1E1E"/>
                </a:solidFill>
                <a:latin typeface="Fira Sans Condensed"/>
                <a:ea typeface="Fira Sans Condensed"/>
                <a:cs typeface="Fira Sans Condensed"/>
                <a:sym typeface="Fira Sans Condensed"/>
              </a:rPr>
              <a:t>AG = Na⁺ − (Cl⁻ + HCO₃⁻)</a:t>
            </a:r>
            <a:endParaRPr lang="es-AR" sz="2400" dirty="0">
              <a:latin typeface="Fira Sans Condensed"/>
            </a:endParaRPr>
          </a:p>
        </p:txBody>
      </p:sp>
      <p:grpSp>
        <p:nvGrpSpPr>
          <p:cNvPr id="8" name="Gamblegrama"/>
          <p:cNvGrpSpPr/>
          <p:nvPr/>
        </p:nvGrpSpPr>
        <p:grpSpPr>
          <a:xfrm>
            <a:off x="7589520" y="1097280"/>
            <a:ext cx="3566160" cy="4617720"/>
            <a:chOff x="7589520" y="1097280"/>
            <a:chExt cx="3566160" cy="4617720"/>
          </a:xfrm>
        </p:grpSpPr>
        <p:sp>
          <p:nvSpPr>
            <p:cNvPr id="9" name="Forma 8"/>
            <p:cNvSpPr/>
            <p:nvPr/>
          </p:nvSpPr>
          <p:spPr>
            <a:xfrm>
              <a:off x="7589520" y="1097280"/>
              <a:ext cx="1737360" cy="4206240"/>
            </a:xfrm>
            <a:prstGeom prst="rect">
              <a:avLst/>
            </a:prstGeom>
            <a:solidFill>
              <a:srgbClr val="F4B183"/>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Na⁺</a:t>
              </a:r>
              <a:endParaRPr lang="es-AR" sz="1800" dirty="0">
                <a:latin typeface="Fira Sans Condensed"/>
              </a:endParaRPr>
            </a:p>
          </p:txBody>
        </p:sp>
        <p:sp>
          <p:nvSpPr>
            <p:cNvPr id="10" name="Forma 9"/>
            <p:cNvSpPr/>
            <p:nvPr/>
          </p:nvSpPr>
          <p:spPr>
            <a:xfrm>
              <a:off x="9418320" y="1097280"/>
              <a:ext cx="1737360" cy="2377440"/>
            </a:xfrm>
            <a:prstGeom prst="rect">
              <a:avLst/>
            </a:prstGeom>
            <a:solidFill>
              <a:srgbClr val="9DC3E6"/>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600" b="1" dirty="0">
                  <a:solidFill>
                    <a:srgbClr val="1E1E1E"/>
                  </a:solidFill>
                  <a:latin typeface="Fira Sans Condensed"/>
                  <a:ea typeface="Fira Sans Condensed"/>
                  <a:cs typeface="Fira Sans Condensed"/>
                  <a:sym typeface="Fira Sans Condensed"/>
                </a:rPr>
                <a:t>Cl⁻</a:t>
              </a:r>
              <a:endParaRPr lang="es-AR" sz="1600" dirty="0">
                <a:latin typeface="Fira Sans Condensed"/>
              </a:endParaRPr>
            </a:p>
          </p:txBody>
        </p:sp>
        <p:sp>
          <p:nvSpPr>
            <p:cNvPr id="11" name="Forma 10"/>
            <p:cNvSpPr/>
            <p:nvPr/>
          </p:nvSpPr>
          <p:spPr>
            <a:xfrm>
              <a:off x="9418320" y="3474720"/>
              <a:ext cx="1737360" cy="548640"/>
            </a:xfrm>
            <a:prstGeom prst="rect">
              <a:avLst/>
            </a:prstGeom>
            <a:solidFill>
              <a:srgbClr val="C5E0B4"/>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HCO₃⁻ ↓</a:t>
              </a:r>
              <a:endParaRPr lang="es-AR" sz="1300" dirty="0">
                <a:latin typeface="Fira Sans Condensed"/>
              </a:endParaRPr>
            </a:p>
          </p:txBody>
        </p:sp>
        <p:sp>
          <p:nvSpPr>
            <p:cNvPr id="12" name="Forma 11"/>
            <p:cNvSpPr/>
            <p:nvPr/>
          </p:nvSpPr>
          <p:spPr>
            <a:xfrm>
              <a:off x="9418320" y="4023360"/>
              <a:ext cx="1737360" cy="1280160"/>
            </a:xfrm>
            <a:prstGeom prst="rect">
              <a:avLst/>
            </a:prstGeom>
            <a:solidFill>
              <a:srgbClr val="C00000"/>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250" b="1" dirty="0">
                  <a:solidFill>
                    <a:srgbClr val="FFFFFF"/>
                  </a:solidFill>
                  <a:latin typeface="Fira Sans Condensed"/>
                  <a:ea typeface="Fira Sans Condensed"/>
                  <a:cs typeface="Fira Sans Condensed"/>
                  <a:sym typeface="Fira Sans Condensed"/>
                </a:rPr>
                <a:t>AG ↑</a:t>
              </a:r>
              <a:endParaRPr lang="es-AR" sz="1250" dirty="0">
                <a:latin typeface="Fira Sans Condensed"/>
              </a:endParaRPr>
            </a:p>
            <a:p>
              <a:pPr algn="ctr">
                <a:spcAft>
                  <a:spcPts val="300"/>
                </a:spcAft>
                <a:buNone/>
              </a:pPr>
              <a:r>
                <a:rPr lang="es-AR" sz="1250" b="1" dirty="0">
                  <a:solidFill>
                    <a:srgbClr val="FFFFFF"/>
                  </a:solidFill>
                  <a:latin typeface="Fira Sans Condensed"/>
                  <a:ea typeface="Fira Sans Condensed"/>
                  <a:cs typeface="Fira Sans Condensed"/>
                  <a:sym typeface="Fira Sans Condensed"/>
                </a:rPr>
                <a:t>cetoaniones</a:t>
              </a:r>
              <a:endParaRPr lang="es-AR" sz="1250" dirty="0">
                <a:latin typeface="Fira Sans Condensed"/>
              </a:endParaRPr>
            </a:p>
            <a:p>
              <a:pPr algn="ctr">
                <a:spcAft>
                  <a:spcPts val="300"/>
                </a:spcAft>
                <a:buNone/>
              </a:pPr>
              <a:r>
                <a:rPr lang="es-AR" sz="1250" b="1" dirty="0">
                  <a:solidFill>
                    <a:srgbClr val="FFFFFF"/>
                  </a:solidFill>
                  <a:latin typeface="Fira Sans Condensed"/>
                  <a:ea typeface="Fira Sans Condensed"/>
                  <a:cs typeface="Fira Sans Condensed"/>
                  <a:sym typeface="Fira Sans Condensed"/>
                </a:rPr>
                <a:t>(± lactato)</a:t>
              </a:r>
              <a:endParaRPr lang="es-AR" sz="1250" dirty="0">
                <a:latin typeface="Fira Sans Condensed"/>
              </a:endParaRPr>
            </a:p>
          </p:txBody>
        </p:sp>
        <p:sp>
          <p:nvSpPr>
            <p:cNvPr id="13" name="Forma 12"/>
            <p:cNvSpPr txBox="1"/>
            <p:nvPr/>
          </p:nvSpPr>
          <p:spPr>
            <a:xfrm>
              <a:off x="7589520" y="5394960"/>
              <a:ext cx="356616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Electroneutralidad (esquema)</a:t>
              </a:r>
              <a:endParaRPr lang="es-AR" sz="1200" dirty="0">
                <a:latin typeface="Fira Sans Condensed"/>
              </a:endParaRPr>
            </a:p>
          </p:txBody>
        </p:sp>
      </p:grpSp>
      <p:grpSp>
        <p:nvGrpSpPr>
          <p:cNvPr id="14" name="Cuadro Corrección"/>
          <p:cNvGrpSpPr/>
          <p:nvPr/>
        </p:nvGrpSpPr>
        <p:grpSpPr>
          <a:xfrm>
            <a:off x="365760" y="2103120"/>
            <a:ext cx="6766560" cy="1463040"/>
            <a:chOff x="365760" y="2103120"/>
            <a:chExt cx="6766560" cy="1463040"/>
          </a:xfrm>
        </p:grpSpPr>
        <p:sp>
          <p:nvSpPr>
            <p:cNvPr id="15" name="Forma 14"/>
            <p:cNvSpPr/>
            <p:nvPr/>
          </p:nvSpPr>
          <p:spPr>
            <a:xfrm>
              <a:off x="365760" y="2304288"/>
              <a:ext cx="6766560" cy="12618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Corrección por </a:t>
              </a:r>
              <a:r>
                <a:rPr lang="es-AR" sz="1500" b="1" dirty="0">
                  <a:solidFill>
                    <a:srgbClr val="1E1E1E"/>
                  </a:solidFill>
                  <a:latin typeface="Fira Sans Condensed"/>
                  <a:ea typeface="Fira Sans Condensed"/>
                  <a:cs typeface="Fira Sans Condensed"/>
                  <a:sym typeface="Fira Sans Condensed"/>
                </a:rPr>
                <a:t>hipoalbuminemia</a:t>
              </a:r>
              <a:r>
                <a:rPr lang="es-AR" sz="1500" dirty="0">
                  <a:solidFill>
                    <a:srgbClr val="1E1E1E"/>
                  </a:solidFill>
                  <a:latin typeface="Fira Sans Condensed"/>
                  <a:ea typeface="Fira Sans Condensed"/>
                  <a:cs typeface="Fira Sans Condensed"/>
                  <a:sym typeface="Fira Sans Condensed"/>
                </a:rPr>
                <a:t>: sumar ≈ </a:t>
              </a:r>
              <a:r>
                <a:rPr lang="es-AR" sz="1500" b="1" dirty="0">
                  <a:solidFill>
                    <a:srgbClr val="1E1E1E"/>
                  </a:solidFill>
                  <a:latin typeface="Fira Sans Condensed"/>
                  <a:ea typeface="Fira Sans Condensed"/>
                  <a:cs typeface="Fira Sans Condensed"/>
                  <a:sym typeface="Fira Sans Condensed"/>
                </a:rPr>
                <a:t>2,5 mEq/L</a:t>
              </a:r>
              <a:r>
                <a:rPr lang="es-AR" sz="1500" dirty="0">
                  <a:solidFill>
                    <a:srgbClr val="1E1E1E"/>
                  </a:solidFill>
                  <a:latin typeface="Fira Sans Condensed"/>
                  <a:ea typeface="Fira Sans Condensed"/>
                  <a:cs typeface="Fira Sans Condensed"/>
                  <a:sym typeface="Fira Sans Condensed"/>
                </a:rPr>
                <a:t> por cada </a:t>
              </a:r>
              <a:r>
                <a:rPr lang="es-AR" sz="1500" b="1" dirty="0">
                  <a:solidFill>
                    <a:srgbClr val="1E1E1E"/>
                  </a:solidFill>
                  <a:latin typeface="Fira Sans Condensed"/>
                  <a:ea typeface="Fira Sans Condensed"/>
                  <a:cs typeface="Fira Sans Condensed"/>
                  <a:sym typeface="Fira Sans Condensed"/>
                </a:rPr>
                <a:t>1 g/dL</a:t>
              </a:r>
              <a:r>
                <a:rPr lang="es-AR" sz="1500" dirty="0">
                  <a:solidFill>
                    <a:srgbClr val="1E1E1E"/>
                  </a:solidFill>
                  <a:latin typeface="Fira Sans Condensed"/>
                  <a:ea typeface="Fira Sans Condensed"/>
                  <a:cs typeface="Fira Sans Condensed"/>
                  <a:sym typeface="Fira Sans Condensed"/>
                </a:rPr>
                <a:t> de albúmina por debajo de 4.</a:t>
              </a:r>
              <a:endParaRPr lang="es-AR" sz="1500" dirty="0">
                <a:latin typeface="Fira Sans Condensed"/>
              </a:endParaRPr>
            </a:p>
          </p:txBody>
        </p:sp>
        <p:sp>
          <p:nvSpPr>
            <p:cNvPr id="16" name="Forma 15"/>
            <p:cNvSpPr/>
            <p:nvPr/>
          </p:nvSpPr>
          <p:spPr>
            <a:xfrm>
              <a:off x="502920" y="2103120"/>
              <a:ext cx="136344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CORRECCIÓN</a:t>
              </a:r>
              <a:endParaRPr lang="es-AR" sz="1400" dirty="0">
                <a:latin typeface="Fira Sans Condensed"/>
              </a:endParaRPr>
            </a:p>
          </p:txBody>
        </p:sp>
      </p:grpSp>
      <p:sp>
        <p:nvSpPr>
          <p:cNvPr id="17" name="Perla clínica"/>
          <p:cNvSpPr/>
          <p:nvPr/>
        </p:nvSpPr>
        <p:spPr>
          <a:xfrm>
            <a:off x="365760" y="3794760"/>
            <a:ext cx="6766560" cy="9144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En los casos 11 y 12 </a:t>
            </a:r>
            <a:r>
              <a:rPr lang="es-AR" sz="1600" b="1" dirty="0">
                <a:solidFill>
                  <a:srgbClr val="FFFFFF"/>
                </a:solidFill>
                <a:latin typeface="Fira Sans Condensed"/>
                <a:ea typeface="Fira Sans Condensed"/>
                <a:cs typeface="Fira Sans Condensed"/>
                <a:sym typeface="Fira Sans Condensed"/>
              </a:rPr>
              <a:t>no puede calcularse</a:t>
            </a:r>
            <a:r>
              <a:rPr lang="es-AR" sz="1600" dirty="0">
                <a:solidFill>
                  <a:srgbClr val="FFFFFF"/>
                </a:solidFill>
                <a:latin typeface="Fira Sans Condensed"/>
                <a:ea typeface="Fira Sans Condensed"/>
                <a:cs typeface="Fira Sans Condensed"/>
                <a:sym typeface="Fira Sans Condensed"/>
              </a:rPr>
              <a:t>: faltan </a:t>
            </a:r>
            <a:r>
              <a:rPr lang="es-AR" sz="1600" b="1" dirty="0">
                <a:solidFill>
                  <a:srgbClr val="FFFFFF"/>
                </a:solidFill>
                <a:latin typeface="Fira Sans Condensed"/>
                <a:ea typeface="Fira Sans Condensed"/>
                <a:cs typeface="Fira Sans Condensed"/>
                <a:sym typeface="Fira Sans Condensed"/>
              </a:rPr>
              <a:t>Na⁺ y Cl⁻</a:t>
            </a:r>
            <a:r>
              <a:rPr lang="es-AR" sz="1600" dirty="0">
                <a:solidFill>
                  <a:srgbClr val="FFFFFF"/>
                </a:solidFill>
                <a:latin typeface="Fira Sans Condensed"/>
                <a:ea typeface="Fira Sans Condensed"/>
                <a:cs typeface="Fira Sans Condensed"/>
                <a:sym typeface="Fira Sans Condensed"/>
              </a:rPr>
              <a:t> (y albúmina).</a:t>
            </a:r>
            <a:endParaRPr lang="es-AR" sz="1600" dirty="0">
              <a:latin typeface="Fira Sans Condensed"/>
            </a:endParaRPr>
          </a:p>
        </p:txBody>
      </p:sp>
      <p:sp>
        <p:nvSpPr>
          <p:cNvPr id="18" name="Forma 17"/>
          <p:cNvSpPr/>
          <p:nvPr/>
        </p:nvSpPr>
        <p:spPr>
          <a:xfrm>
            <a:off x="365760" y="4937760"/>
            <a:ext cx="676656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AG elevado = </a:t>
            </a:r>
            <a:r>
              <a:rPr lang="es-AR" sz="1450" b="1" dirty="0">
                <a:solidFill>
                  <a:srgbClr val="1E1E1E"/>
                </a:solidFill>
                <a:latin typeface="Fira Sans Condensed"/>
                <a:ea typeface="Fira Sans Condensed"/>
                <a:cs typeface="Fira Sans Condensed"/>
                <a:sym typeface="Fira Sans Condensed"/>
              </a:rPr>
              <a:t>aniones no medidos</a:t>
            </a:r>
            <a:r>
              <a:rPr lang="es-AR" sz="1450" dirty="0">
                <a:solidFill>
                  <a:srgbClr val="1E1E1E"/>
                </a:solidFill>
                <a:latin typeface="Fira Sans Condensed"/>
                <a:ea typeface="Fira Sans Condensed"/>
                <a:cs typeface="Fira Sans Condensed"/>
                <a:sym typeface="Fira Sans Condensed"/>
              </a:rPr>
              <a:t>, pero no identifica su causa. En CAD pensar cetonas; con sepsis o shock agregar </a:t>
            </a:r>
            <a:r>
              <a:rPr lang="es-AR" sz="1450" b="1" dirty="0">
                <a:solidFill>
                  <a:srgbClr val="1E1E1E"/>
                </a:solidFill>
                <a:latin typeface="Fira Sans Condensed"/>
                <a:ea typeface="Fira Sans Condensed"/>
                <a:cs typeface="Fira Sans Condensed"/>
                <a:sym typeface="Fira Sans Condensed"/>
              </a:rPr>
              <a:t>lactato</a:t>
            </a:r>
            <a:r>
              <a:rPr lang="es-AR" sz="1450" dirty="0">
                <a:solidFill>
                  <a:srgbClr val="1E1E1E"/>
                </a:solidFill>
                <a:latin typeface="Fira Sans Condensed"/>
                <a:ea typeface="Fira Sans Condensed"/>
                <a:cs typeface="Fira Sans Condensed"/>
                <a:sym typeface="Fira Sans Condensed"/>
              </a:rPr>
              <a:t>; considerar uremia y tóxicos.</a:t>
            </a:r>
            <a:endParaRPr lang="es-AR" sz="14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ANION GAP: FÓRMULA Y LÍMITE DEL CASO</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500" fill="hold"/>
                                        <p:tgtEl>
                                          <p:spTgt spid="17"/>
                                        </p:tgtEl>
                                        <p:attrNameLst>
                                          <p:attrName>ppt_w</p:attrName>
                                        </p:attrNameLst>
                                      </p:cBhvr>
                                      <p:tavLst>
                                        <p:tav tm="0">
                                          <p:val>
                                            <p:fltVal val="0"/>
                                          </p:val>
                                        </p:tav>
                                        <p:tav tm="100000">
                                          <p:val>
                                            <p:strVal val="#ppt_w"/>
                                          </p:val>
                                        </p:tav>
                                      </p:tavLst>
                                    </p:anim>
                                    <p:anim calcmode="lin" valueType="num">
                                      <p:cBhvr>
                                        <p:cTn id="16" dur="500" fill="hold"/>
                                        <p:tgtEl>
                                          <p:spTgt spid="17"/>
                                        </p:tgtEl>
                                        <p:attrNameLst>
                                          <p:attrName>ppt_h</p:attrName>
                                        </p:attrNameLst>
                                      </p:cBhvr>
                                      <p:tavLst>
                                        <p:tav tm="0">
                                          <p:val>
                                            <p:fltVal val="0"/>
                                          </p:val>
                                        </p:tav>
                                        <p:tav tm="100000">
                                          <p:val>
                                            <p:strVal val="#ppt_h"/>
                                          </p:val>
                                        </p:tav>
                                      </p:tavLst>
                                    </p:anim>
                                    <p:animEffect transition="in" filter="fade">
                                      <p:cBhvr>
                                        <p:cTn id="17" dur="500"/>
                                        <p:tgtEl>
                                          <p:spTgt spid="17"/>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Síntoma 0"/>
          <p:cNvGrpSpPr/>
          <p:nvPr/>
        </p:nvGrpSpPr>
        <p:grpSpPr>
          <a:xfrm>
            <a:off x="365760" y="1097280"/>
            <a:ext cx="11475720" cy="685800"/>
            <a:chOff x="365760" y="1097280"/>
            <a:chExt cx="11475720" cy="685800"/>
          </a:xfrm>
        </p:grpSpPr>
        <p:sp>
          <p:nvSpPr>
            <p:cNvPr id="8" name="Recuadro Náuseas y vómitos"/>
            <p:cNvSpPr/>
            <p:nvPr/>
          </p:nvSpPr>
          <p:spPr>
            <a:xfrm>
              <a:off x="365760" y="109728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Náuseas y vómitos</a:t>
              </a:r>
              <a:endParaRPr lang="es-AR" sz="1400" dirty="0">
                <a:latin typeface="Fira Sans Condensed"/>
              </a:endParaRPr>
            </a:p>
          </p:txBody>
        </p:sp>
        <p:sp>
          <p:nvSpPr>
            <p:cNvPr id="9" name="Flecha 8_2"/>
            <p:cNvSpPr/>
            <p:nvPr/>
          </p:nvSpPr>
          <p:spPr>
            <a:xfrm>
              <a:off x="4617720" y="143560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10" name="Forma 10"/>
            <p:cNvSpPr/>
            <p:nvPr/>
          </p:nvSpPr>
          <p:spPr>
            <a:xfrm>
              <a:off x="5029200" y="109728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Activación gastrointestinal y respuesta central a la acidemia</a:t>
              </a:r>
              <a:endParaRPr lang="es-AR" sz="1450" dirty="0">
                <a:latin typeface="Fira Sans Condensed"/>
              </a:endParaRPr>
            </a:p>
          </p:txBody>
        </p:sp>
      </p:grpSp>
      <p:grpSp>
        <p:nvGrpSpPr>
          <p:cNvPr id="11" name="Síntoma 1"/>
          <p:cNvGrpSpPr/>
          <p:nvPr/>
        </p:nvGrpSpPr>
        <p:grpSpPr>
          <a:xfrm>
            <a:off x="365760" y="1920240"/>
            <a:ext cx="11475720" cy="685800"/>
            <a:chOff x="365760" y="1920240"/>
            <a:chExt cx="11475720" cy="685800"/>
          </a:xfrm>
        </p:grpSpPr>
        <p:sp>
          <p:nvSpPr>
            <p:cNvPr id="12" name="Recuadro Dolor abdominal (a vec"/>
            <p:cNvSpPr/>
            <p:nvPr/>
          </p:nvSpPr>
          <p:spPr>
            <a:xfrm>
              <a:off x="365760" y="192024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Dolor abdominal (a veces intenso)</a:t>
              </a:r>
              <a:endParaRPr lang="es-AR" sz="1400" dirty="0">
                <a:latin typeface="Fira Sans Condensed"/>
              </a:endParaRPr>
            </a:p>
          </p:txBody>
        </p:sp>
        <p:sp>
          <p:nvSpPr>
            <p:cNvPr id="13" name="Flecha 13_2"/>
            <p:cNvSpPr/>
            <p:nvPr/>
          </p:nvSpPr>
          <p:spPr>
            <a:xfrm>
              <a:off x="4617720" y="225856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14" name="Forma 15"/>
            <p:cNvSpPr/>
            <p:nvPr/>
          </p:nvSpPr>
          <p:spPr>
            <a:xfrm>
              <a:off x="5029200" y="192024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Acidemia, hipoperfusión y dismotilidad</a:t>
              </a:r>
              <a:endParaRPr lang="es-AR" sz="1450" dirty="0">
                <a:latin typeface="Fira Sans Condensed"/>
              </a:endParaRPr>
            </a:p>
          </p:txBody>
        </p:sp>
      </p:grpSp>
      <p:grpSp>
        <p:nvGrpSpPr>
          <p:cNvPr id="15" name="Síntoma 2"/>
          <p:cNvGrpSpPr/>
          <p:nvPr/>
        </p:nvGrpSpPr>
        <p:grpSpPr>
          <a:xfrm>
            <a:off x="365760" y="2743200"/>
            <a:ext cx="11475720" cy="685800"/>
            <a:chOff x="365760" y="2743200"/>
            <a:chExt cx="11475720" cy="685800"/>
          </a:xfrm>
        </p:grpSpPr>
        <p:sp>
          <p:nvSpPr>
            <p:cNvPr id="16" name="Recuadro Respiración de Kussmau"/>
            <p:cNvSpPr/>
            <p:nvPr/>
          </p:nvSpPr>
          <p:spPr>
            <a:xfrm>
              <a:off x="365760" y="274320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Respiración de Kussmaul</a:t>
              </a:r>
              <a:endParaRPr lang="es-AR" sz="1400" dirty="0">
                <a:latin typeface="Fira Sans Condensed"/>
              </a:endParaRPr>
            </a:p>
          </p:txBody>
        </p:sp>
        <p:sp>
          <p:nvSpPr>
            <p:cNvPr id="17" name="Flecha 18_2"/>
            <p:cNvSpPr/>
            <p:nvPr/>
          </p:nvSpPr>
          <p:spPr>
            <a:xfrm>
              <a:off x="4617720" y="308152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18" name="Forma 20"/>
            <p:cNvSpPr/>
            <p:nvPr/>
          </p:nvSpPr>
          <p:spPr>
            <a:xfrm>
              <a:off x="5029200" y="274320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Compensación ventilatoria del trastorno ácido</a:t>
              </a:r>
              <a:endParaRPr lang="es-AR" sz="1450" dirty="0">
                <a:latin typeface="Fira Sans Condensed"/>
              </a:endParaRPr>
            </a:p>
          </p:txBody>
        </p:sp>
      </p:grpSp>
      <p:grpSp>
        <p:nvGrpSpPr>
          <p:cNvPr id="19" name="Síntoma 3"/>
          <p:cNvGrpSpPr/>
          <p:nvPr/>
        </p:nvGrpSpPr>
        <p:grpSpPr>
          <a:xfrm>
            <a:off x="365760" y="3566160"/>
            <a:ext cx="11475720" cy="685800"/>
            <a:chOff x="365760" y="3566160"/>
            <a:chExt cx="11475720" cy="685800"/>
          </a:xfrm>
        </p:grpSpPr>
        <p:sp>
          <p:nvSpPr>
            <p:cNvPr id="20" name="Recuadro Aliento afrutado"/>
            <p:cNvSpPr/>
            <p:nvPr/>
          </p:nvSpPr>
          <p:spPr>
            <a:xfrm>
              <a:off x="365760" y="356616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Aliento afrutado</a:t>
              </a:r>
              <a:endParaRPr lang="es-AR" sz="1400" dirty="0">
                <a:latin typeface="Fira Sans Condensed"/>
              </a:endParaRPr>
            </a:p>
          </p:txBody>
        </p:sp>
        <p:sp>
          <p:nvSpPr>
            <p:cNvPr id="21" name="Flecha 23_2"/>
            <p:cNvSpPr/>
            <p:nvPr/>
          </p:nvSpPr>
          <p:spPr>
            <a:xfrm>
              <a:off x="4617720" y="390448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22" name="Forma 25"/>
            <p:cNvSpPr/>
            <p:nvPr/>
          </p:nvSpPr>
          <p:spPr>
            <a:xfrm>
              <a:off x="5029200" y="356616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Acetona (descarboxilación del acetoacetato), volátil</a:t>
              </a:r>
              <a:endParaRPr lang="es-AR" sz="1450" dirty="0">
                <a:latin typeface="Fira Sans Condensed"/>
              </a:endParaRPr>
            </a:p>
          </p:txBody>
        </p:sp>
      </p:grpSp>
      <p:grpSp>
        <p:nvGrpSpPr>
          <p:cNvPr id="23" name="Síntoma 4"/>
          <p:cNvGrpSpPr/>
          <p:nvPr/>
        </p:nvGrpSpPr>
        <p:grpSpPr>
          <a:xfrm>
            <a:off x="365760" y="4389120"/>
            <a:ext cx="11475720" cy="685800"/>
            <a:chOff x="365760" y="4389120"/>
            <a:chExt cx="11475720" cy="685800"/>
          </a:xfrm>
        </p:grpSpPr>
        <p:sp>
          <p:nvSpPr>
            <p:cNvPr id="24" name="Recuadro Deshidratación, hipote"/>
            <p:cNvSpPr/>
            <p:nvPr/>
          </p:nvSpPr>
          <p:spPr>
            <a:xfrm>
              <a:off x="365760" y="438912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Deshidratación, hipotensión, taquicardia</a:t>
              </a:r>
              <a:endParaRPr lang="es-AR" sz="1400" dirty="0">
                <a:latin typeface="Fira Sans Condensed"/>
              </a:endParaRPr>
            </a:p>
          </p:txBody>
        </p:sp>
        <p:sp>
          <p:nvSpPr>
            <p:cNvPr id="25" name="Flecha 28_2"/>
            <p:cNvSpPr/>
            <p:nvPr/>
          </p:nvSpPr>
          <p:spPr>
            <a:xfrm>
              <a:off x="4617720" y="472744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26" name="Forma 30"/>
            <p:cNvSpPr/>
            <p:nvPr/>
          </p:nvSpPr>
          <p:spPr>
            <a:xfrm>
              <a:off x="5029200" y="438912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Diuresis osmótica, vómitos, pérdidas insensibles</a:t>
              </a:r>
              <a:endParaRPr lang="es-AR" sz="1450" dirty="0">
                <a:latin typeface="Fira Sans Condensed"/>
              </a:endParaRPr>
            </a:p>
          </p:txBody>
        </p:sp>
      </p:grpSp>
      <p:grpSp>
        <p:nvGrpSpPr>
          <p:cNvPr id="27" name="Síntoma 5"/>
          <p:cNvGrpSpPr/>
          <p:nvPr/>
        </p:nvGrpSpPr>
        <p:grpSpPr>
          <a:xfrm>
            <a:off x="365760" y="5212080"/>
            <a:ext cx="11475720" cy="685800"/>
            <a:chOff x="365760" y="5212080"/>
            <a:chExt cx="11475720" cy="685800"/>
          </a:xfrm>
        </p:grpSpPr>
        <p:sp>
          <p:nvSpPr>
            <p:cNvPr id="28" name="Recuadro Debilidad, cefalea, co"/>
            <p:cNvSpPr/>
            <p:nvPr/>
          </p:nvSpPr>
          <p:spPr>
            <a:xfrm>
              <a:off x="365760" y="5212080"/>
              <a:ext cx="420624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Debilidad, cefalea, confusión → estupor/coma</a:t>
              </a:r>
              <a:endParaRPr lang="es-AR" sz="1400" dirty="0">
                <a:latin typeface="Fira Sans Condensed"/>
              </a:endParaRPr>
            </a:p>
          </p:txBody>
        </p:sp>
        <p:sp>
          <p:nvSpPr>
            <p:cNvPr id="29" name="Flecha 33_2"/>
            <p:cNvSpPr/>
            <p:nvPr/>
          </p:nvSpPr>
          <p:spPr>
            <a:xfrm>
              <a:off x="4617720" y="5550408"/>
              <a:ext cx="365760" cy="9144"/>
            </a:xfrm>
            <a:custGeom>
              <a:avLst/>
              <a:gdLst/>
              <a:ahLst/>
              <a:cxnLst/>
              <a:rect l="0" t="0" r="r" b="b"/>
              <a:pathLst>
                <a:path w="400" h="10" fill="none">
                  <a:moveTo>
                    <a:pt x="0" y="0"/>
                  </a:moveTo>
                  <a:lnTo>
                    <a:pt x="400" y="0"/>
                  </a:lnTo>
                </a:path>
              </a:pathLst>
            </a:custGeom>
            <a:noFill/>
            <a:ln w="31750" cap="rnd">
              <a:solidFill>
                <a:srgbClr val="1E1E1E"/>
              </a:solidFill>
              <a:round/>
              <a:tailEnd type="triangle" w="med" len="med"/>
            </a:ln>
          </p:spPr>
        </p:sp>
        <p:sp>
          <p:nvSpPr>
            <p:cNvPr id="30" name="Forma 35"/>
            <p:cNvSpPr/>
            <p:nvPr/>
          </p:nvSpPr>
          <p:spPr>
            <a:xfrm>
              <a:off x="5029200" y="5212080"/>
              <a:ext cx="681228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Hipoperfusión, cambios osmóticos y acidemia; no sólo «las cetonas»</a:t>
              </a:r>
              <a:endParaRPr lang="es-AR" sz="1450" dirty="0">
                <a:latin typeface="Fira Sans Condensed"/>
              </a:endParaRPr>
            </a:p>
          </p:txBody>
        </p:sp>
      </p:grpSp>
      <p:sp>
        <p:nvSpPr>
          <p:cNvPr id="31" name="Perla clínica"/>
          <p:cNvSpPr/>
          <p:nvPr/>
        </p:nvSpPr>
        <p:spPr>
          <a:xfrm>
            <a:off x="365760" y="6080760"/>
            <a:ext cx="11475720" cy="3657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Cetosis fisiológica del ayuno (pH conservado) ≠ cetoacidosis patológica.</a:t>
            </a:r>
            <a:endParaRPr lang="es-AR" sz="135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PREGUNTA 4 · SÍNTOMAS DE LA CAD Y SU MECANISMO</a:t>
            </a:r>
            <a:endParaRPr lang="es-AR" sz="30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aphicFrame>
        <p:nvGraphicFramePr>
          <p:cNvPr id="6" name="Tabla evolución"/>
          <p:cNvGraphicFramePr>
            <a:graphicFrameLocks noGrp="1"/>
          </p:cNvGraphicFramePr>
          <p:nvPr/>
        </p:nvGraphicFramePr>
        <p:xfrm>
          <a:off x="365760" y="1051560"/>
          <a:ext cx="6949440" cy="3246120"/>
        </p:xfrm>
        <a:graphic>
          <a:graphicData uri="http://schemas.openxmlformats.org/drawingml/2006/table">
            <a:tbl>
              <a:tblPr firstRow="1" bandRow="1"/>
              <a:tblGrid>
                <a:gridCol w="1828800"/>
                <a:gridCol w="1280160"/>
                <a:gridCol w="1371600"/>
                <a:gridCol w="2468880"/>
              </a:tblGrid>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Parámetro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Ingreso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24 h</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Glucosa (mg/dL)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390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200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Mejoró; aún requiere control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pH</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7,15</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7,37</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Acidemia resuelta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HCO₃⁻ (mEq/L)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13</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22</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Casi normal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pCO₂ (mmHg)</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24</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37</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Menor hiperventilación compensatoria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Cetonemia / cetonuria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 /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Negativas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Reducción sustancial de cetonas detectables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Exceso de base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−8</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−3</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Déficit residual leve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TA / FC / FR</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90/50 · 120 · 32</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120/80 · 105 · 20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Recuperación hemodinámica y ventilatoria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graphicFrame>
        <p:nvGraphicFramePr>
          <p:cNvPr id="7" name="Gráfico evolución"/>
          <p:cNvGraphicFramePr>
            <a:graphicFrameLocks noGrp="1"/>
          </p:cNvGraphicFramePr>
          <p:nvPr/>
        </p:nvGraphicFramePr>
        <p:xfrm>
          <a:off x="7543800" y="1051560"/>
          <a:ext cx="4297680" cy="2514600"/>
        </p:xfrm>
        <a:graphic>
          <a:graphicData uri="http://schemas.openxmlformats.org/drawingml/2006/chart">
            <c:chart xmlns:c="http://schemas.openxmlformats.org/drawingml/2006/chart" r:id="rId2"/>
          </a:graphicData>
        </a:graphic>
      </p:graphicFrame>
      <p:sp>
        <p:nvSpPr>
          <p:cNvPr id="8" name="Fórmula"/>
          <p:cNvSpPr/>
          <p:nvPr/>
        </p:nvSpPr>
        <p:spPr>
          <a:xfrm>
            <a:off x="7543800" y="3749040"/>
            <a:ext cx="4297680" cy="5486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500" b="1" dirty="0">
                <a:solidFill>
                  <a:srgbClr val="1E1E1E"/>
                </a:solidFill>
                <a:latin typeface="Fira Sans Condensed"/>
                <a:ea typeface="Fira Sans Condensed"/>
                <a:cs typeface="Fira Sans Condensed"/>
                <a:sym typeface="Fira Sans Condensed"/>
              </a:rPr>
              <a:t>6,1 + log(22 / (0,03 × 37)) ≈ 7,40</a:t>
            </a:r>
            <a:endParaRPr lang="es-AR" sz="1500" dirty="0">
              <a:latin typeface="Fira Sans Condensed"/>
            </a:endParaRPr>
          </a:p>
        </p:txBody>
      </p:sp>
      <p:grpSp>
        <p:nvGrpSpPr>
          <p:cNvPr id="9" name="Cuadro Pregunta 6"/>
          <p:cNvGrpSpPr/>
          <p:nvPr/>
        </p:nvGrpSpPr>
        <p:grpSpPr>
          <a:xfrm>
            <a:off x="7543800" y="4434840"/>
            <a:ext cx="4297680" cy="1874520"/>
            <a:chOff x="7543800" y="4434840"/>
            <a:chExt cx="4297680" cy="1874520"/>
          </a:xfrm>
        </p:grpSpPr>
        <p:sp>
          <p:nvSpPr>
            <p:cNvPr id="10" name="Forma 8"/>
            <p:cNvSpPr/>
            <p:nvPr/>
          </p:nvSpPr>
          <p:spPr>
            <a:xfrm>
              <a:off x="7543800" y="4636008"/>
              <a:ext cx="4297680" cy="16733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Con 22 y 37 la ecuación predice </a:t>
              </a:r>
              <a:r>
                <a:rPr lang="es-AR" sz="1350" b="1" dirty="0">
                  <a:solidFill>
                    <a:srgbClr val="1E1E1E"/>
                  </a:solidFill>
                  <a:latin typeface="Fira Sans Condensed"/>
                  <a:ea typeface="Fira Sans Condensed"/>
                  <a:cs typeface="Fira Sans Condensed"/>
                  <a:sym typeface="Fira Sans Condensed"/>
                </a:rPr>
                <a:t>≈ 7,40</a:t>
              </a:r>
              <a:r>
                <a:rPr lang="es-AR" sz="1350" dirty="0">
                  <a:solidFill>
                    <a:srgbClr val="1E1E1E"/>
                  </a:solidFill>
                  <a:latin typeface="Fira Sans Condensed"/>
                  <a:ea typeface="Fira Sans Condensed"/>
                  <a:cs typeface="Fira Sans Condensed"/>
                  <a:sym typeface="Fira Sans Condensed"/>
                </a:rPr>
                <a:t>: diferencia pequeña frente a 7,37, atribuible a redondeo. Normalización parcial con </a:t>
              </a:r>
              <a:r>
                <a:rPr lang="es-AR" sz="1350" b="1" dirty="0">
                  <a:solidFill>
                    <a:srgbClr val="1E1E1E"/>
                  </a:solidFill>
                  <a:latin typeface="Fira Sans Condensed"/>
                  <a:ea typeface="Fira Sans Condensed"/>
                  <a:cs typeface="Fira Sans Condensed"/>
                  <a:sym typeface="Fira Sans Condensed"/>
                </a:rPr>
                <a:t>déficit de base leve</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1" name="Forma 9"/>
            <p:cNvSpPr/>
            <p:nvPr/>
          </p:nvSpPr>
          <p:spPr>
            <a:xfrm>
              <a:off x="7680960" y="4434840"/>
              <a:ext cx="132764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PREGUNTA 6</a:t>
              </a:r>
              <a:endParaRPr lang="es-AR" sz="1400" dirty="0">
                <a:latin typeface="Fira Sans Condensed"/>
              </a:endParaRPr>
            </a:p>
          </p:txBody>
        </p:sp>
      </p:gr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EVOLUCIÓN A LAS 24 HORAS: INGRESO FRENTE A 24 H</a:t>
            </a:r>
            <a:endParaRPr lang="es-AR" sz="3000" dirty="0">
              <a:latin typeface="Permanent Marker"/>
            </a:endParaRPr>
          </a:p>
        </p:txBody>
      </p:sp>
      <p:sp>
        <p:nvSpPr>
          <p:cNvPr id="5"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1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Flecha i→l"/>
          <p:cNvSpPr/>
          <p:nvPr/>
        </p:nvSpPr>
        <p:spPr>
          <a:xfrm>
            <a:off x="3145536" y="1463040"/>
            <a:ext cx="475488" cy="22860"/>
          </a:xfrm>
          <a:custGeom>
            <a:avLst/>
            <a:gdLst/>
            <a:ahLst/>
            <a:cxnLst/>
            <a:rect l="0" t="0" r="r" b="b"/>
            <a:pathLst>
              <a:path w="520" h="24" fill="none">
                <a:moveTo>
                  <a:pt x="0" y="24"/>
                </a:moveTo>
                <a:lnTo>
                  <a:pt x="520" y="0"/>
                </a:lnTo>
              </a:path>
            </a:pathLst>
          </a:custGeom>
          <a:noFill/>
          <a:ln w="28575" cap="rnd">
            <a:solidFill>
              <a:srgbClr val="1E1E1E"/>
            </a:solidFill>
            <a:round/>
            <a:tailEnd type="triangle" w="med" len="med"/>
          </a:ln>
        </p:spPr>
      </p:sp>
      <p:sp>
        <p:nvSpPr>
          <p:cNvPr id="8" name="Flecha l→a"/>
          <p:cNvSpPr/>
          <p:nvPr/>
        </p:nvSpPr>
        <p:spPr>
          <a:xfrm>
            <a:off x="5532120" y="1773936"/>
            <a:ext cx="9144" cy="201168"/>
          </a:xfrm>
          <a:custGeom>
            <a:avLst/>
            <a:gdLst/>
            <a:ahLst/>
            <a:cxnLst/>
            <a:rect l="0" t="0" r="r" b="b"/>
            <a:pathLst>
              <a:path w="10" h="220" fill="none">
                <a:moveTo>
                  <a:pt x="0" y="0"/>
                </a:moveTo>
                <a:lnTo>
                  <a:pt x="0" y="220"/>
                </a:lnTo>
              </a:path>
            </a:pathLst>
          </a:custGeom>
          <a:noFill/>
          <a:ln w="28575" cap="rnd">
            <a:solidFill>
              <a:srgbClr val="1E1E1E"/>
            </a:solidFill>
            <a:round/>
            <a:tailEnd type="triangle" w="med" len="med"/>
          </a:ln>
        </p:spPr>
      </p:sp>
      <p:sp>
        <p:nvSpPr>
          <p:cNvPr id="9" name="Flecha a→k"/>
          <p:cNvSpPr/>
          <p:nvPr/>
        </p:nvSpPr>
        <p:spPr>
          <a:xfrm>
            <a:off x="5532120" y="2596896"/>
            <a:ext cx="9144" cy="201168"/>
          </a:xfrm>
          <a:custGeom>
            <a:avLst/>
            <a:gdLst/>
            <a:ahLst/>
            <a:cxnLst/>
            <a:rect l="0" t="0" r="r" b="b"/>
            <a:pathLst>
              <a:path w="10" h="219" fill="none">
                <a:moveTo>
                  <a:pt x="0" y="0"/>
                </a:moveTo>
                <a:lnTo>
                  <a:pt x="0" y="219"/>
                </a:lnTo>
              </a:path>
            </a:pathLst>
          </a:custGeom>
          <a:noFill/>
          <a:ln w="28575" cap="rnd">
            <a:solidFill>
              <a:srgbClr val="1E1E1E"/>
            </a:solidFill>
            <a:round/>
            <a:tailEnd type="triangle" w="med" len="med"/>
          </a:ln>
        </p:spPr>
      </p:sp>
      <p:sp>
        <p:nvSpPr>
          <p:cNvPr id="10" name="Flecha k→u"/>
          <p:cNvSpPr/>
          <p:nvPr/>
        </p:nvSpPr>
        <p:spPr>
          <a:xfrm>
            <a:off x="5532120" y="3419856"/>
            <a:ext cx="9144" cy="201168"/>
          </a:xfrm>
          <a:custGeom>
            <a:avLst/>
            <a:gdLst/>
            <a:ahLst/>
            <a:cxnLst/>
            <a:rect l="0" t="0" r="r" b="b"/>
            <a:pathLst>
              <a:path w="10" h="219" fill="none">
                <a:moveTo>
                  <a:pt x="0" y="0"/>
                </a:moveTo>
                <a:lnTo>
                  <a:pt x="0" y="219"/>
                </a:lnTo>
              </a:path>
            </a:pathLst>
          </a:custGeom>
          <a:noFill/>
          <a:ln w="28575" cap="rnd">
            <a:solidFill>
              <a:srgbClr val="1E1E1E"/>
            </a:solidFill>
            <a:round/>
            <a:tailEnd type="triangle" w="med" len="med"/>
          </a:ln>
        </p:spPr>
      </p:sp>
      <p:sp>
        <p:nvSpPr>
          <p:cNvPr id="11" name="Flecha h→p"/>
          <p:cNvSpPr/>
          <p:nvPr/>
        </p:nvSpPr>
        <p:spPr>
          <a:xfrm>
            <a:off x="1737360" y="34655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2" name="Flecha u→o"/>
          <p:cNvSpPr/>
          <p:nvPr/>
        </p:nvSpPr>
        <p:spPr>
          <a:xfrm>
            <a:off x="7452360" y="2926080"/>
            <a:ext cx="457200" cy="1005840"/>
          </a:xfrm>
          <a:custGeom>
            <a:avLst/>
            <a:gdLst/>
            <a:ahLst/>
            <a:cxnLst/>
            <a:rect l="0" t="0" r="r" b="b"/>
            <a:pathLst>
              <a:path w="500" h="1099" fill="none">
                <a:moveTo>
                  <a:pt x="0" y="1099"/>
                </a:moveTo>
                <a:lnTo>
                  <a:pt x="500" y="0"/>
                </a:lnTo>
              </a:path>
            </a:pathLst>
          </a:custGeom>
          <a:noFill/>
          <a:ln w="28575" cap="rnd">
            <a:solidFill>
              <a:srgbClr val="1E1E1E"/>
            </a:solidFill>
            <a:round/>
            <a:tailEnd type="triangle" w="med" len="med"/>
          </a:ln>
        </p:spPr>
      </p:sp>
      <p:sp>
        <p:nvSpPr>
          <p:cNvPr id="13" name="Flecha p→o"/>
          <p:cNvSpPr/>
          <p:nvPr/>
        </p:nvSpPr>
        <p:spPr>
          <a:xfrm>
            <a:off x="3154680" y="3246120"/>
            <a:ext cx="6720840" cy="1188720"/>
          </a:xfrm>
          <a:custGeom>
            <a:avLst/>
            <a:gdLst/>
            <a:ahLst/>
            <a:cxnLst/>
            <a:rect l="0" t="0" r="r" b="b"/>
            <a:pathLst>
              <a:path w="7350" h="1299" fill="none">
                <a:moveTo>
                  <a:pt x="0" y="750"/>
                </a:moveTo>
                <a:lnTo>
                  <a:pt x="250" y="1299"/>
                </a:lnTo>
                <a:lnTo>
                  <a:pt x="7350" y="1299"/>
                </a:lnTo>
                <a:lnTo>
                  <a:pt x="7350" y="0"/>
                </a:lnTo>
              </a:path>
            </a:pathLst>
          </a:custGeom>
          <a:noFill/>
          <a:ln w="28575" cap="rnd">
            <a:solidFill>
              <a:srgbClr val="1E1E1E"/>
            </a:solidFill>
            <a:round/>
            <a:tailEnd type="triangle" w="med" len="med"/>
          </a:ln>
        </p:spPr>
      </p:sp>
      <p:sp>
        <p:nvSpPr>
          <p:cNvPr id="14" name="Nodo i"/>
          <p:cNvSpPr/>
          <p:nvPr/>
        </p:nvSpPr>
        <p:spPr>
          <a:xfrm>
            <a:off x="365760" y="1188720"/>
            <a:ext cx="274320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INSULINA EFECTIVA</a:t>
            </a:r>
            <a:endParaRPr lang="es-AR" sz="1700" dirty="0">
              <a:latin typeface="Fira Sans Condensed"/>
            </a:endParaRPr>
          </a:p>
        </p:txBody>
      </p:sp>
      <p:sp>
        <p:nvSpPr>
          <p:cNvPr id="15" name="Nodo l"/>
          <p:cNvSpPr/>
          <p:nvPr/>
        </p:nvSpPr>
        <p:spPr>
          <a:xfrm>
            <a:off x="3657600" y="1188720"/>
            <a:ext cx="37490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Lipólisis adiposa ↓ (PDE3B)</a:t>
            </a:r>
            <a:endParaRPr lang="es-AR" sz="1400" dirty="0">
              <a:latin typeface="Fira Sans Condensed"/>
            </a:endParaRPr>
          </a:p>
        </p:txBody>
      </p:sp>
      <p:sp>
        <p:nvSpPr>
          <p:cNvPr id="16" name="Nodo a"/>
          <p:cNvSpPr/>
          <p:nvPr/>
        </p:nvSpPr>
        <p:spPr>
          <a:xfrm>
            <a:off x="3657600" y="2011680"/>
            <a:ext cx="37490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Entrega hepática de AGNE ↓</a:t>
            </a:r>
            <a:endParaRPr lang="es-AR" sz="1400" dirty="0">
              <a:latin typeface="Fira Sans Condensed"/>
            </a:endParaRPr>
          </a:p>
        </p:txBody>
      </p:sp>
      <p:sp>
        <p:nvSpPr>
          <p:cNvPr id="17" name="Nodo k"/>
          <p:cNvSpPr/>
          <p:nvPr/>
        </p:nvSpPr>
        <p:spPr>
          <a:xfrm>
            <a:off x="3657600" y="2834640"/>
            <a:ext cx="37490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Cetogénesis ↓ (malonil-CoA ↑, CPT1 frenada)</a:t>
            </a:r>
            <a:endParaRPr lang="es-AR" sz="1250" dirty="0">
              <a:latin typeface="Fira Sans Condensed"/>
            </a:endParaRPr>
          </a:p>
        </p:txBody>
      </p:sp>
      <p:sp>
        <p:nvSpPr>
          <p:cNvPr id="18" name="Nodo u"/>
          <p:cNvSpPr/>
          <p:nvPr/>
        </p:nvSpPr>
        <p:spPr>
          <a:xfrm>
            <a:off x="3657600" y="3657600"/>
            <a:ext cx="37490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Utilización periférica de cetonas ↑</a:t>
            </a:r>
            <a:endParaRPr lang="es-AR" sz="1350" dirty="0">
              <a:latin typeface="Fira Sans Condensed"/>
            </a:endParaRPr>
          </a:p>
        </p:txBody>
      </p:sp>
      <p:sp>
        <p:nvSpPr>
          <p:cNvPr id="19" name="Nodo h"/>
          <p:cNvSpPr/>
          <p:nvPr/>
        </p:nvSpPr>
        <p:spPr>
          <a:xfrm>
            <a:off x="365760" y="2834640"/>
            <a:ext cx="2743200" cy="5943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Hidratación</a:t>
            </a:r>
            <a:endParaRPr lang="es-AR" sz="1600" dirty="0">
              <a:latin typeface="Fira Sans Condensed"/>
            </a:endParaRPr>
          </a:p>
        </p:txBody>
      </p:sp>
      <p:sp>
        <p:nvSpPr>
          <p:cNvPr id="20" name="Nodo p"/>
          <p:cNvSpPr/>
          <p:nvPr/>
        </p:nvSpPr>
        <p:spPr>
          <a:xfrm>
            <a:off x="365760" y="365760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Perfusión y excreción ↑</a:t>
            </a:r>
            <a:endParaRPr lang="es-AR" sz="1350" dirty="0">
              <a:latin typeface="Fira Sans Condensed"/>
            </a:endParaRPr>
          </a:p>
        </p:txBody>
      </p:sp>
      <p:sp>
        <p:nvSpPr>
          <p:cNvPr id="21" name="Nodo o"/>
          <p:cNvSpPr/>
          <p:nvPr/>
        </p:nvSpPr>
        <p:spPr>
          <a:xfrm>
            <a:off x="7955280" y="2011680"/>
            <a:ext cx="3886200" cy="11887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FFFFFF"/>
                </a:solidFill>
                <a:latin typeface="Fira Sans Condensed"/>
                <a:ea typeface="Fira Sans Condensed"/>
                <a:cs typeface="Fira Sans Condensed"/>
                <a:sym typeface="Fira Sans Condensed"/>
              </a:rPr>
              <a:t>HCO₃⁻ se regenera · pH ↑ · pCO₂ ↑</a:t>
            </a:r>
            <a:endParaRPr lang="es-AR" sz="1600" dirty="0">
              <a:latin typeface="Fira Sans Condensed"/>
            </a:endParaRPr>
          </a:p>
        </p:txBody>
      </p:sp>
      <p:grpSp>
        <p:nvGrpSpPr>
          <p:cNvPr id="22" name="Cuadro Criterio de resolución"/>
          <p:cNvGrpSpPr/>
          <p:nvPr/>
        </p:nvGrpSpPr>
        <p:grpSpPr>
          <a:xfrm>
            <a:off x="365760" y="4709160"/>
            <a:ext cx="11475720" cy="1600200"/>
            <a:chOff x="365760" y="4709160"/>
            <a:chExt cx="11475720" cy="1600200"/>
          </a:xfrm>
        </p:grpSpPr>
        <p:sp>
          <p:nvSpPr>
            <p:cNvPr id="23" name="Forma 22"/>
            <p:cNvSpPr/>
            <p:nvPr/>
          </p:nvSpPr>
          <p:spPr>
            <a:xfrm>
              <a:off x="365760" y="4910328"/>
              <a:ext cx="1147572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Resolución moderna: </a:t>
              </a:r>
              <a:r>
                <a:rPr lang="es-AR" sz="1450" b="1" dirty="0">
                  <a:solidFill>
                    <a:srgbClr val="1E1E1E"/>
                  </a:solidFill>
                  <a:latin typeface="Fira Sans Condensed"/>
                  <a:ea typeface="Fira Sans Condensed"/>
                  <a:cs typeface="Fira Sans Condensed"/>
                  <a:sym typeface="Fira Sans Condensed"/>
                </a:rPr>
                <a:t>β-OHB &lt; 0,6 mmol/L</a:t>
              </a:r>
              <a:r>
                <a:rPr lang="es-AR" sz="1450" dirty="0">
                  <a:solidFill>
                    <a:srgbClr val="1E1E1E"/>
                  </a:solidFill>
                  <a:latin typeface="Fira Sans Condensed"/>
                  <a:ea typeface="Fira Sans Condensed"/>
                  <a:cs typeface="Fira Sans Condensed"/>
                  <a:sym typeface="Fira Sans Condensed"/>
                </a:rPr>
                <a:t> y </a:t>
              </a:r>
              <a:r>
                <a:rPr lang="es-AR" sz="1450" b="1" dirty="0">
                  <a:solidFill>
                    <a:srgbClr val="1E1E1E"/>
                  </a:solidFill>
                  <a:latin typeface="Fira Sans Condensed"/>
                  <a:ea typeface="Fira Sans Condensed"/>
                  <a:cs typeface="Fira Sans Condensed"/>
                  <a:sym typeface="Fira Sans Condensed"/>
                </a:rPr>
                <a:t>pH ≥ 7,3</a:t>
              </a:r>
              <a:r>
                <a:rPr lang="es-AR" sz="1450" dirty="0">
                  <a:solidFill>
                    <a:srgbClr val="1E1E1E"/>
                  </a:solidFill>
                  <a:latin typeface="Fira Sans Condensed"/>
                  <a:ea typeface="Fira Sans Condensed"/>
                  <a:cs typeface="Fira Sans Condensed"/>
                  <a:sym typeface="Fira Sans Condensed"/>
                </a:rPr>
                <a:t> o </a:t>
              </a:r>
              <a:r>
                <a:rPr lang="es-AR" sz="1450" b="1" dirty="0">
                  <a:solidFill>
                    <a:srgbClr val="1E1E1E"/>
                  </a:solidFill>
                  <a:latin typeface="Fira Sans Condensed"/>
                  <a:ea typeface="Fira Sans Condensed"/>
                  <a:cs typeface="Fira Sans Condensed"/>
                  <a:sym typeface="Fira Sans Condensed"/>
                </a:rPr>
                <a:t>HCO₃⁻ ≥ 18</a:t>
              </a:r>
              <a:r>
                <a:rPr lang="es-AR" sz="1450" dirty="0">
                  <a:solidFill>
                    <a:srgbClr val="1E1E1E"/>
                  </a:solidFill>
                  <a:latin typeface="Fira Sans Condensed"/>
                  <a:ea typeface="Fira Sans Condensed"/>
                  <a:cs typeface="Fira Sans Condensed"/>
                  <a:sym typeface="Fira Sans Condensed"/>
                </a:rPr>
                <a:t>, entre otros controles.</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Pruebas cualitativas negativas son </a:t>
              </a:r>
              <a:r>
                <a:rPr lang="es-AR" sz="1450" b="1" dirty="0">
                  <a:solidFill>
                    <a:srgbClr val="1E1E1E"/>
                  </a:solidFill>
                  <a:latin typeface="Fira Sans Condensed"/>
                  <a:ea typeface="Fira Sans Condensed"/>
                  <a:cs typeface="Fira Sans Condensed"/>
                  <a:sym typeface="Fira Sans Condensed"/>
                </a:rPr>
                <a:t>consistentes</a:t>
              </a:r>
              <a:r>
                <a:rPr lang="es-AR" sz="1450" dirty="0">
                  <a:solidFill>
                    <a:srgbClr val="1E1E1E"/>
                  </a:solidFill>
                  <a:latin typeface="Fira Sans Condensed"/>
                  <a:ea typeface="Fira Sans Condensed"/>
                  <a:cs typeface="Fira Sans Condensed"/>
                  <a:sym typeface="Fira Sans Condensed"/>
                </a:rPr>
                <a:t> con mejoría, pero el criterio se basa en </a:t>
              </a:r>
              <a:r>
                <a:rPr lang="es-AR" sz="1450" b="1" dirty="0">
                  <a:solidFill>
                    <a:srgbClr val="1E1E1E"/>
                  </a:solidFill>
                  <a:latin typeface="Fira Sans Condensed"/>
                  <a:ea typeface="Fira Sans Condensed"/>
                  <a:cs typeface="Fira Sans Condensed"/>
                  <a:sym typeface="Fira Sans Condensed"/>
                </a:rPr>
                <a:t>β-OHB sanguíneo</a:t>
              </a:r>
              <a:r>
                <a:rPr lang="es-AR" sz="1450" dirty="0">
                  <a:solidFill>
                    <a:srgbClr val="1E1E1E"/>
                  </a:solidFill>
                  <a:latin typeface="Fira Sans Condensed"/>
                  <a:ea typeface="Fira Sans Condensed"/>
                  <a:cs typeface="Fira Sans Condensed"/>
                  <a:sym typeface="Fira Sans Condensed"/>
                </a:rPr>
                <a:t>, no en la desaparición de la cetonuria.</a:t>
              </a:r>
              <a:endParaRPr lang="es-AR" sz="1450" dirty="0">
                <a:latin typeface="Fira Sans Condensed"/>
              </a:endParaRPr>
            </a:p>
          </p:txBody>
        </p:sp>
        <p:sp>
          <p:nvSpPr>
            <p:cNvPr id="24" name="Forma 23"/>
            <p:cNvSpPr/>
            <p:nvPr/>
          </p:nvSpPr>
          <p:spPr>
            <a:xfrm>
              <a:off x="502920" y="4709160"/>
              <a:ext cx="236221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CRITERIO DE RESOLUCIÓN</a:t>
              </a:r>
              <a:endParaRPr lang="es-AR" sz="1400" dirty="0">
                <a:latin typeface="Fira Sans Condensed"/>
              </a:endParaRPr>
            </a:p>
          </p:txBody>
        </p:sp>
      </p:grpSp>
      <p:sp>
        <p:nvSpPr>
          <p:cNvPr id="5"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PREGUNTA 7 · CÓMO SE APAGAN LA CETOGÉNESIS Y LA ACIDOSIS</a:t>
            </a:r>
            <a:endParaRPr lang="es-AR" sz="25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childTnLst>
                          </p:cTn>
                        </p:par>
                        <p:par>
                          <p:cTn id="18" fill="hold">
                            <p:stCondLst>
                              <p:cond delay="1300"/>
                            </p:stCondLst>
                            <p:childTnLst>
                              <p:par>
                                <p:cTn id="15" presetID="22" presetClass="entr" presetSubtype="1"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childTnLst>
                          </p:cTn>
                        </p:par>
                        <p:par>
                          <p:cTn id="26" fill="hold">
                            <p:stCondLst>
                              <p:cond delay="2200"/>
                            </p:stCondLst>
                            <p:childTnLst>
                              <p:par>
                                <p:cTn id="23" presetID="22" presetClass="entr" presetSubtype="1"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par>
                          <p:cTn id="34" fill="hold">
                            <p:stCondLst>
                              <p:cond delay="3100"/>
                            </p:stCondLst>
                            <p:childTnLst>
                              <p:par>
                                <p:cTn id="31" presetID="22" presetClass="entr" presetSubtype="1"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up)">
                                      <p:cBhvr>
                                        <p:cTn id="33" dur="500"/>
                                        <p:tgtEl>
                                          <p:spTgt spid="10"/>
                                        </p:tgtEl>
                                      </p:cBhvr>
                                    </p:animEffect>
                                  </p:childTnLst>
                                </p:cTn>
                              </p:par>
                            </p:childTnLst>
                          </p:cTn>
                        </p:par>
                        <p:par>
                          <p:cTn id="38" fill="hold">
                            <p:stCondLst>
                              <p:cond delay="3600"/>
                            </p:stCondLst>
                            <p:childTnLst>
                              <p:par>
                                <p:cTn id="35" presetID="10" presetClass="entr" presetSubtype="0"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childTnLst>
                          </p:cTn>
                        </p:par>
                      </p:childTnLst>
                    </p:cTn>
                  </p:par>
                  <p:par>
                    <p:cTn id="52"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00"/>
                                        <p:tgtEl>
                                          <p:spTgt spid="19"/>
                                        </p:tgtEl>
                                      </p:cBhvr>
                                    </p:animEffect>
                                  </p:childTnLst>
                                </p:cTn>
                              </p:par>
                            </p:childTnLst>
                          </p:cTn>
                        </p:par>
                        <p:par>
                          <p:cTn id="47" fill="hold">
                            <p:stCondLst>
                              <p:cond delay="400"/>
                            </p:stCondLst>
                            <p:childTnLst>
                              <p:par>
                                <p:cTn id="44" presetID="22" presetClass="entr" presetSubtype="1"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up)">
                                      <p:cBhvr>
                                        <p:cTn id="46" dur="500"/>
                                        <p:tgtEl>
                                          <p:spTgt spid="11"/>
                                        </p:tgtEl>
                                      </p:cBhvr>
                                    </p:animEffect>
                                  </p:childTnLst>
                                </p:cTn>
                              </p:par>
                            </p:childTnLst>
                          </p:cTn>
                        </p:par>
                        <p:par>
                          <p:cTn id="51" fill="hold">
                            <p:stCondLst>
                              <p:cond delay="900"/>
                            </p:stCondLst>
                            <p:childTnLst>
                              <p:par>
                                <p:cTn id="48" presetID="10" presetClass="entr" presetSubtype="0"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childTnLst>
                          </p:cTn>
                        </p:par>
                      </p:childTnLst>
                    </p:cTn>
                  </p:par>
                  <p:par>
                    <p:cTn id="65" fill="hold">
                      <p:stCondLst>
                        <p:cond delay="indefinite"/>
                      </p:stCondLst>
                      <p:childTnLst>
                        <p:par>
                          <p:cTn id="56"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par>
                          <p:cTn id="60"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left)">
                                      <p:cBhvr>
                                        <p:cTn id="59" dur="500"/>
                                        <p:tgtEl>
                                          <p:spTgt spid="13"/>
                                        </p:tgtEl>
                                      </p:cBhvr>
                                    </p:animEffect>
                                  </p:childTnLst>
                                </p:cTn>
                              </p:par>
                            </p:childTnLst>
                          </p:cTn>
                        </p:par>
                        <p:par>
                          <p:cTn id="64" fill="hold">
                            <p:stCondLst>
                              <p:cond delay="100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childTnLst>
                          </p:cTn>
                        </p:par>
                      </p:childTnLst>
                    </p:cTn>
                  </p:par>
                  <p:par>
                    <p:cTn id="70" fill="hold">
                      <p:stCondLst>
                        <p:cond delay="indefinite"/>
                      </p:stCondLst>
                      <p:childTnLst>
                        <p:par>
                          <p:cTn id="69"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P spid="15" grpId="0" animBg="1"/>
      <p:bldP spid="8" grpId="0" animBg="1"/>
      <p:bldP spid="16" grpId="0" animBg="1"/>
      <p:bldP spid="9" grpId="0" animBg="1"/>
      <p:bldP spid="17" grpId="0" animBg="1"/>
      <p:bldP spid="10" grpId="0" animBg="1"/>
      <p:bldP spid="18" grpId="0" animBg="1"/>
      <p:bldP spid="19" grpId="0" animBg="1"/>
      <p:bldP spid="11" grpId="0" animBg="1"/>
      <p:bldP spid="20" grpId="0" animBg="1"/>
      <p:bldP spid="12" grpId="0" animBg="1"/>
      <p:bldP spid="13" grpId="0" animBg="1"/>
      <p:bldP spid="21" grpId="0" animBg="1"/>
    </p:bld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Pilar LÍQUIDOS IV"/>
          <p:cNvGrpSpPr/>
          <p:nvPr/>
        </p:nvGrpSpPr>
        <p:grpSpPr>
          <a:xfrm>
            <a:off x="365760" y="1097280"/>
            <a:ext cx="2743200" cy="2240280"/>
            <a:chOff x="365760" y="1097280"/>
            <a:chExt cx="2743200" cy="2240280"/>
          </a:xfrm>
        </p:grpSpPr>
        <p:sp>
          <p:nvSpPr>
            <p:cNvPr id="8" name="Recuadro LÍQUIDOS IV"/>
            <p:cNvSpPr/>
            <p:nvPr/>
          </p:nvSpPr>
          <p:spPr>
            <a:xfrm>
              <a:off x="365760" y="1097280"/>
              <a:ext cx="27432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LÍQUIDOS IV</a:t>
              </a:r>
              <a:endParaRPr lang="es-AR" sz="1600" dirty="0">
                <a:latin typeface="Fira Sans Condensed"/>
              </a:endParaRPr>
            </a:p>
          </p:txBody>
        </p:sp>
        <p:sp>
          <p:nvSpPr>
            <p:cNvPr id="9" name="Forma 8"/>
            <p:cNvSpPr/>
            <p:nvPr/>
          </p:nvSpPr>
          <p:spPr>
            <a:xfrm>
              <a:off x="365760" y="1737360"/>
              <a:ext cx="2743200" cy="1600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Restituyen volumen y perfusión; mejoran FG y la excreción de glucosa y cetonas.</a:t>
              </a:r>
              <a:endParaRPr lang="es-AR" sz="1400" dirty="0">
                <a:latin typeface="Fira Sans Condensed"/>
              </a:endParaRPr>
            </a:p>
          </p:txBody>
        </p:sp>
      </p:grpSp>
      <p:grpSp>
        <p:nvGrpSpPr>
          <p:cNvPr id="10" name="Pilar INSULINA"/>
          <p:cNvGrpSpPr/>
          <p:nvPr/>
        </p:nvGrpSpPr>
        <p:grpSpPr>
          <a:xfrm>
            <a:off x="3264408" y="1097280"/>
            <a:ext cx="2743200" cy="2240280"/>
            <a:chOff x="3264408" y="1097280"/>
            <a:chExt cx="2743200" cy="2240280"/>
          </a:xfrm>
        </p:grpSpPr>
        <p:sp>
          <p:nvSpPr>
            <p:cNvPr id="11" name="Recuadro INSULINA"/>
            <p:cNvSpPr/>
            <p:nvPr/>
          </p:nvSpPr>
          <p:spPr>
            <a:xfrm>
              <a:off x="3264408" y="109728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INSULINA</a:t>
              </a:r>
              <a:endParaRPr lang="es-AR" sz="1600" dirty="0">
                <a:latin typeface="Fira Sans Condensed"/>
              </a:endParaRPr>
            </a:p>
          </p:txBody>
        </p:sp>
        <p:sp>
          <p:nvSpPr>
            <p:cNvPr id="12" name="Forma 11"/>
            <p:cNvSpPr/>
            <p:nvPr/>
          </p:nvSpPr>
          <p:spPr>
            <a:xfrm>
              <a:off x="3264408" y="1737360"/>
              <a:ext cx="2743200" cy="1600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Detiene lipólisis y cetogénesis; es el tratamiento </a:t>
              </a:r>
              <a:r>
                <a:rPr lang="es-AR" sz="1400" b="1" dirty="0">
                  <a:solidFill>
                    <a:srgbClr val="1E1E1E"/>
                  </a:solidFill>
                  <a:latin typeface="Fira Sans Condensed"/>
                  <a:ea typeface="Fira Sans Condensed"/>
                  <a:cs typeface="Fira Sans Condensed"/>
                  <a:sym typeface="Fira Sans Condensed"/>
                </a:rPr>
                <a:t>causal</a:t>
              </a:r>
              <a:r>
                <a:rPr lang="es-AR" sz="1400" dirty="0">
                  <a:solidFill>
                    <a:srgbClr val="1E1E1E"/>
                  </a:solidFill>
                  <a:latin typeface="Fira Sans Condensed"/>
                  <a:ea typeface="Fira Sans Condensed"/>
                  <a:cs typeface="Fira Sans Condensed"/>
                  <a:sym typeface="Fira Sans Condensed"/>
                </a:rPr>
                <a:t> de la cetoacidosis.</a:t>
              </a:r>
              <a:endParaRPr lang="es-AR" sz="1400" dirty="0">
                <a:latin typeface="Fira Sans Condensed"/>
              </a:endParaRPr>
            </a:p>
          </p:txBody>
        </p:sp>
      </p:grpSp>
      <p:grpSp>
        <p:nvGrpSpPr>
          <p:cNvPr id="13" name="Pilar POTASIO"/>
          <p:cNvGrpSpPr/>
          <p:nvPr/>
        </p:nvGrpSpPr>
        <p:grpSpPr>
          <a:xfrm>
            <a:off x="6163056" y="1097280"/>
            <a:ext cx="2743200" cy="2240280"/>
            <a:chOff x="6163056" y="1097280"/>
            <a:chExt cx="2743200" cy="2240280"/>
          </a:xfrm>
        </p:grpSpPr>
        <p:sp>
          <p:nvSpPr>
            <p:cNvPr id="14" name="Recuadro POTASIO"/>
            <p:cNvSpPr/>
            <p:nvPr/>
          </p:nvSpPr>
          <p:spPr>
            <a:xfrm>
              <a:off x="6163056" y="1097280"/>
              <a:ext cx="27432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POTASIO</a:t>
              </a:r>
              <a:endParaRPr lang="es-AR" sz="1600" dirty="0">
                <a:latin typeface="Fira Sans Condensed"/>
              </a:endParaRPr>
            </a:p>
          </p:txBody>
        </p:sp>
        <p:sp>
          <p:nvSpPr>
            <p:cNvPr id="15" name="Forma 14"/>
            <p:cNvSpPr/>
            <p:nvPr/>
          </p:nvSpPr>
          <p:spPr>
            <a:xfrm>
              <a:off x="6163056" y="1737360"/>
              <a:ext cx="2743200" cy="1600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Monitorizar y reponer: la insulina introduce K⁺ en las células.</a:t>
              </a:r>
              <a:endParaRPr lang="es-AR" sz="1400" dirty="0">
                <a:latin typeface="Fira Sans Condensed"/>
              </a:endParaRPr>
            </a:p>
          </p:txBody>
        </p:sp>
      </p:grpSp>
      <p:grpSp>
        <p:nvGrpSpPr>
          <p:cNvPr id="16" name="Pilar DESENCADENANTE"/>
          <p:cNvGrpSpPr/>
          <p:nvPr/>
        </p:nvGrpSpPr>
        <p:grpSpPr>
          <a:xfrm>
            <a:off x="9061704" y="1097280"/>
            <a:ext cx="2743200" cy="2240280"/>
            <a:chOff x="9061704" y="1097280"/>
            <a:chExt cx="2743200" cy="2240280"/>
          </a:xfrm>
        </p:grpSpPr>
        <p:sp>
          <p:nvSpPr>
            <p:cNvPr id="17" name="Recuadro DESENCADENANTE"/>
            <p:cNvSpPr/>
            <p:nvPr/>
          </p:nvSpPr>
          <p:spPr>
            <a:xfrm>
              <a:off x="9061704" y="1097280"/>
              <a:ext cx="2743200" cy="54864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DESENCADENANTE</a:t>
              </a:r>
              <a:endParaRPr lang="es-AR" sz="1600" dirty="0">
                <a:latin typeface="Fira Sans Condensed"/>
              </a:endParaRPr>
            </a:p>
          </p:txBody>
        </p:sp>
        <p:sp>
          <p:nvSpPr>
            <p:cNvPr id="18" name="Forma 17"/>
            <p:cNvSpPr/>
            <p:nvPr/>
          </p:nvSpPr>
          <p:spPr>
            <a:xfrm>
              <a:off x="9061704" y="1737360"/>
              <a:ext cx="2743200" cy="1600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Tratar la neumonía según gravedad, microbiología y guías institucionales.</a:t>
              </a:r>
              <a:endParaRPr lang="es-AR" sz="1400" dirty="0">
                <a:latin typeface="Fira Sans Condensed"/>
              </a:endParaRPr>
            </a:p>
          </p:txBody>
        </p:sp>
      </p:grpSp>
      <p:grpSp>
        <p:nvGrpSpPr>
          <p:cNvPr id="19" name="Cuadro Análisis crítico del r"/>
          <p:cNvGrpSpPr/>
          <p:nvPr/>
        </p:nvGrpSpPr>
        <p:grpSpPr>
          <a:xfrm>
            <a:off x="365760" y="3566160"/>
            <a:ext cx="5623560" cy="1920240"/>
            <a:chOff x="365760" y="3566160"/>
            <a:chExt cx="5623560" cy="1920240"/>
          </a:xfrm>
        </p:grpSpPr>
        <p:sp>
          <p:nvSpPr>
            <p:cNvPr id="20" name="Forma 19"/>
            <p:cNvSpPr/>
            <p:nvPr/>
          </p:nvSpPr>
          <p:spPr>
            <a:xfrm>
              <a:off x="365760" y="3767328"/>
              <a:ext cx="5623560" cy="1719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El caso informa hidratación, </a:t>
              </a:r>
              <a:r>
                <a:rPr lang="es-AR" sz="1350" b="1" dirty="0">
                  <a:solidFill>
                    <a:srgbClr val="1E1E1E"/>
                  </a:solidFill>
                  <a:latin typeface="Fira Sans Condensed"/>
                  <a:ea typeface="Fira Sans Condensed"/>
                  <a:cs typeface="Fira Sans Condensed"/>
                  <a:sym typeface="Fira Sans Condensed"/>
                </a:rPr>
                <a:t>80 mEq de bicarbonato IV</a:t>
              </a:r>
              <a:r>
                <a:rPr lang="es-AR" sz="1350" dirty="0">
                  <a:solidFill>
                    <a:srgbClr val="1E1E1E"/>
                  </a:solidFill>
                  <a:latin typeface="Fira Sans Condensed"/>
                  <a:ea typeface="Fira Sans Condensed"/>
                  <a:cs typeface="Fira Sans Condensed"/>
                  <a:sym typeface="Fira Sans Condensed"/>
                </a:rPr>
                <a:t> y ceftriaxona, pero </a:t>
              </a:r>
              <a:r>
                <a:rPr lang="es-AR" sz="1350" b="1" dirty="0">
                  <a:solidFill>
                    <a:srgbClr val="1E1E1E"/>
                  </a:solidFill>
                  <a:latin typeface="Fira Sans Condensed"/>
                  <a:ea typeface="Fira Sans Condensed"/>
                  <a:cs typeface="Fira Sans Condensed"/>
                  <a:sym typeface="Fira Sans Condensed"/>
                </a:rPr>
                <a:t>no informa insulina ni K⁺</a:t>
              </a:r>
              <a:r>
                <a:rPr lang="es-AR" sz="1350" dirty="0">
                  <a:solidFill>
                    <a:srgbClr val="1E1E1E"/>
                  </a:solidFill>
                  <a:latin typeface="Fira Sans Condensed"/>
                  <a:ea typeface="Fira Sans Condensed"/>
                  <a:cs typeface="Fira Sans Condensed"/>
                  <a:sym typeface="Fira Sans Condensed"/>
                </a:rPr>
                <a:t>. El bicarbonato </a:t>
              </a:r>
              <a:r>
                <a:rPr lang="es-AR" sz="1350" b="1" dirty="0">
                  <a:solidFill>
                    <a:srgbClr val="1E1E1E"/>
                  </a:solidFill>
                  <a:latin typeface="Fira Sans Condensed"/>
                  <a:ea typeface="Fira Sans Condensed"/>
                  <a:cs typeface="Fira Sans Condensed"/>
                  <a:sym typeface="Fira Sans Condensed"/>
                </a:rPr>
                <a:t>no</a:t>
              </a:r>
              <a:r>
                <a:rPr lang="es-AR" sz="1350" dirty="0">
                  <a:solidFill>
                    <a:srgbClr val="1E1E1E"/>
                  </a:solidFill>
                  <a:latin typeface="Fira Sans Condensed"/>
                  <a:ea typeface="Fira Sans Condensed"/>
                  <a:cs typeface="Fira Sans Condensed"/>
                  <a:sym typeface="Fira Sans Condensed"/>
                </a:rPr>
                <a:t> detiene la cetogénesis; no se recomienda de rutina: el consenso 2024 sólo plantea considerarlo con </a:t>
              </a:r>
              <a:r>
                <a:rPr lang="es-AR" sz="1350" b="1" dirty="0">
                  <a:solidFill>
                    <a:srgbClr val="1E1E1E"/>
                  </a:solidFill>
                  <a:latin typeface="Fira Sans Condensed"/>
                  <a:ea typeface="Fira Sans Condensed"/>
                  <a:cs typeface="Fira Sans Condensed"/>
                  <a:sym typeface="Fira Sans Condensed"/>
                </a:rPr>
                <a:t>pH &lt; 7,0</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21" name="Forma 20"/>
            <p:cNvSpPr/>
            <p:nvPr/>
          </p:nvSpPr>
          <p:spPr>
            <a:xfrm>
              <a:off x="502920" y="3566160"/>
              <a:ext cx="268880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ANÁLISIS CRÍTICO DEL RELATO</a:t>
              </a:r>
              <a:endParaRPr lang="es-AR" sz="1400" dirty="0">
                <a:latin typeface="Fira Sans Condensed"/>
              </a:endParaRPr>
            </a:p>
          </p:txBody>
        </p:sp>
      </p:grpSp>
      <p:grpSp>
        <p:nvGrpSpPr>
          <p:cNvPr id="22" name="Cuadro Glucosa y transición"/>
          <p:cNvGrpSpPr/>
          <p:nvPr/>
        </p:nvGrpSpPr>
        <p:grpSpPr>
          <a:xfrm>
            <a:off x="6217920" y="3566160"/>
            <a:ext cx="5623560" cy="1920240"/>
            <a:chOff x="6217920" y="3566160"/>
            <a:chExt cx="5623560" cy="1920240"/>
          </a:xfrm>
        </p:grpSpPr>
        <p:sp>
          <p:nvSpPr>
            <p:cNvPr id="23" name="Forma 22"/>
            <p:cNvSpPr/>
            <p:nvPr/>
          </p:nvSpPr>
          <p:spPr>
            <a:xfrm>
              <a:off x="6217920" y="3767328"/>
              <a:ext cx="5623560" cy="1719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Cuando la glucosa baja a un umbral protocolizado se </a:t>
              </a:r>
              <a:r>
                <a:rPr lang="es-AR" sz="1350" b="1" dirty="0">
                  <a:solidFill>
                    <a:srgbClr val="1E1E1E"/>
                  </a:solidFill>
                  <a:latin typeface="Fira Sans Condensed"/>
                  <a:ea typeface="Fira Sans Condensed"/>
                  <a:cs typeface="Fira Sans Condensed"/>
                  <a:sym typeface="Fira Sans Condensed"/>
                </a:rPr>
                <a:t>añade dextrosa</a:t>
              </a:r>
              <a:r>
                <a:rPr lang="es-AR" sz="1350" dirty="0">
                  <a:solidFill>
                    <a:srgbClr val="1E1E1E"/>
                  </a:solidFill>
                  <a:latin typeface="Fira Sans Condensed"/>
                  <a:ea typeface="Fira Sans Condensed"/>
                  <a:cs typeface="Fira Sans Condensed"/>
                  <a:sym typeface="Fira Sans Condensed"/>
                </a:rPr>
                <a:t> para </a:t>
              </a:r>
              <a:r>
                <a:rPr lang="es-AR" sz="1350" b="1" dirty="0">
                  <a:solidFill>
                    <a:srgbClr val="1E1E1E"/>
                  </a:solidFill>
                  <a:latin typeface="Fira Sans Condensed"/>
                  <a:ea typeface="Fira Sans Condensed"/>
                  <a:cs typeface="Fira Sans Condensed"/>
                  <a:sym typeface="Fira Sans Condensed"/>
                </a:rPr>
                <a:t>mantener la insulina</a:t>
              </a:r>
              <a:r>
                <a:rPr lang="es-AR" sz="1350" dirty="0">
                  <a:solidFill>
                    <a:srgbClr val="1E1E1E"/>
                  </a:solidFill>
                  <a:latin typeface="Fira Sans Condensed"/>
                  <a:ea typeface="Fira Sans Condensed"/>
                  <a:cs typeface="Fira Sans Condensed"/>
                  <a:sym typeface="Fira Sans Condensed"/>
                </a:rPr>
                <a:t> hasta resolver la cetosis. En la transición IV → SC se </a:t>
              </a:r>
              <a:r>
                <a:rPr lang="es-AR" sz="1350" b="1" dirty="0">
                  <a:solidFill>
                    <a:srgbClr val="1E1E1E"/>
                  </a:solidFill>
                  <a:latin typeface="Fira Sans Condensed"/>
                  <a:ea typeface="Fira Sans Condensed"/>
                  <a:cs typeface="Fira Sans Condensed"/>
                  <a:sym typeface="Fira Sans Condensed"/>
                </a:rPr>
                <a:t>superpone la insulina basal</a:t>
              </a:r>
              <a:r>
                <a:rPr lang="es-AR" sz="1350" dirty="0">
                  <a:solidFill>
                    <a:srgbClr val="1E1E1E"/>
                  </a:solidFill>
                  <a:latin typeface="Fira Sans Condensed"/>
                  <a:ea typeface="Fira Sans Condensed"/>
                  <a:cs typeface="Fira Sans Condensed"/>
                  <a:sym typeface="Fira Sans Condensed"/>
                </a:rPr>
                <a:t> varias horas.</a:t>
              </a:r>
              <a:endParaRPr lang="es-AR" sz="1350" dirty="0">
                <a:latin typeface="Fira Sans Condensed"/>
              </a:endParaRPr>
            </a:p>
          </p:txBody>
        </p:sp>
        <p:sp>
          <p:nvSpPr>
            <p:cNvPr id="24" name="Forma 23"/>
            <p:cNvSpPr/>
            <p:nvPr/>
          </p:nvSpPr>
          <p:spPr>
            <a:xfrm>
              <a:off x="6355080" y="3566160"/>
              <a:ext cx="222539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GLUCOSA Y TRANSICIÓN</a:t>
              </a:r>
              <a:endParaRPr lang="es-AR" sz="1400" dirty="0">
                <a:latin typeface="Fira Sans Condensed"/>
              </a:endParaRPr>
            </a:p>
          </p:txBody>
        </p:sp>
      </p:grpSp>
      <p:sp>
        <p:nvSpPr>
          <p:cNvPr id="25" name="Perla clínica"/>
          <p:cNvSpPr/>
          <p:nvPr/>
        </p:nvSpPr>
        <p:spPr>
          <a:xfrm>
            <a:off x="365760" y="5669280"/>
            <a:ext cx="1147572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Contenido formativo: el tratamiento real requiere </a:t>
            </a:r>
            <a:r>
              <a:rPr lang="es-AR" sz="1400" b="1" dirty="0">
                <a:solidFill>
                  <a:srgbClr val="FFFFFF"/>
                </a:solidFill>
                <a:latin typeface="Fira Sans Condensed"/>
                <a:ea typeface="Fira Sans Condensed"/>
                <a:cs typeface="Fira Sans Condensed"/>
                <a:sym typeface="Fira Sans Condensed"/>
              </a:rPr>
              <a:t>protocolos clínicos y supervisión</a:t>
            </a:r>
            <a:r>
              <a:rPr lang="es-AR" sz="1400" dirty="0">
                <a:solidFill>
                  <a:srgbClr val="FFFFFF"/>
                </a:solidFill>
                <a:latin typeface="Fira Sans Condensed"/>
                <a:ea typeface="Fira Sans Condensed"/>
                <a:cs typeface="Fira Sans Condensed"/>
                <a:sym typeface="Fira Sans Condensed"/>
              </a:rPr>
              <a:t>. Corregir pH ≠ corregir la causa.</a:t>
            </a:r>
            <a:endParaRPr lang="es-AR" sz="1400" dirty="0">
              <a:latin typeface="Fira Sans Condensed"/>
            </a:endParaRPr>
          </a:p>
        </p:txBody>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INTEGRACIÓN TERAPÉUTICA CONCEPTUAL DE LA CAD</a:t>
            </a:r>
            <a:endParaRPr lang="es-AR" sz="31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sp>
        <p:nvSpPr>
          <p:cNvPr id="7" name="Flecha k→lo"/>
          <p:cNvSpPr/>
          <p:nvPr/>
        </p:nvSpPr>
        <p:spPr>
          <a:xfrm>
            <a:off x="3328416" y="1508760"/>
            <a:ext cx="566928" cy="9144"/>
          </a:xfrm>
          <a:custGeom>
            <a:avLst/>
            <a:gdLst/>
            <a:ahLst/>
            <a:cxnLst/>
            <a:rect l="0" t="0" r="r" b="b"/>
            <a:pathLst>
              <a:path w="619" h="10" fill="none">
                <a:moveTo>
                  <a:pt x="0" y="0"/>
                </a:moveTo>
                <a:lnTo>
                  <a:pt x="619" y="0"/>
                </a:lnTo>
              </a:path>
            </a:pathLst>
          </a:custGeom>
          <a:noFill/>
          <a:ln w="28575" cap="rnd">
            <a:solidFill>
              <a:srgbClr val="1E1E1E"/>
            </a:solidFill>
            <a:round/>
            <a:tailEnd type="triangle" w="med" len="med"/>
          </a:ln>
        </p:spPr>
      </p:sp>
      <p:sp>
        <p:nvSpPr>
          <p:cNvPr id="8" name="Flecha lo→c"/>
          <p:cNvSpPr/>
          <p:nvPr/>
        </p:nvSpPr>
        <p:spPr>
          <a:xfrm>
            <a:off x="7443216" y="1508760"/>
            <a:ext cx="566928" cy="9144"/>
          </a:xfrm>
          <a:custGeom>
            <a:avLst/>
            <a:gdLst/>
            <a:ahLst/>
            <a:cxnLst/>
            <a:rect l="0" t="0" r="r" b="b"/>
            <a:pathLst>
              <a:path w="620" h="10" fill="none">
                <a:moveTo>
                  <a:pt x="0" y="0"/>
                </a:moveTo>
                <a:lnTo>
                  <a:pt x="620" y="0"/>
                </a:lnTo>
              </a:path>
            </a:pathLst>
          </a:custGeom>
          <a:noFill/>
          <a:ln w="28575" cap="rnd">
            <a:solidFill>
              <a:srgbClr val="1E1E1E"/>
            </a:solidFill>
            <a:round/>
            <a:tailEnd type="triangle" w="med" len="med"/>
          </a:ln>
        </p:spPr>
      </p:sp>
      <p:sp>
        <p:nvSpPr>
          <p:cNvPr id="9" name="Flecha k→ok"/>
          <p:cNvSpPr/>
          <p:nvPr/>
        </p:nvSpPr>
        <p:spPr>
          <a:xfrm>
            <a:off x="1828800" y="1874520"/>
            <a:ext cx="2057400" cy="777240"/>
          </a:xfrm>
          <a:custGeom>
            <a:avLst/>
            <a:gdLst/>
            <a:ahLst/>
            <a:cxnLst/>
            <a:rect l="0" t="0" r="r" b="b"/>
            <a:pathLst>
              <a:path w="2250" h="850" fill="none">
                <a:moveTo>
                  <a:pt x="0" y="0"/>
                </a:moveTo>
                <a:lnTo>
                  <a:pt x="0" y="850"/>
                </a:lnTo>
                <a:lnTo>
                  <a:pt x="2250" y="850"/>
                </a:lnTo>
              </a:path>
            </a:pathLst>
          </a:custGeom>
          <a:noFill/>
          <a:ln w="28575" cap="rnd">
            <a:solidFill>
              <a:srgbClr val="1E1E1E"/>
            </a:solidFill>
            <a:round/>
            <a:tailEnd type="triangle" w="med" len="med"/>
          </a:ln>
        </p:spPr>
      </p:sp>
      <p:sp>
        <p:nvSpPr>
          <p:cNvPr id="10" name="Flecha ok→m"/>
          <p:cNvSpPr/>
          <p:nvPr/>
        </p:nvSpPr>
        <p:spPr>
          <a:xfrm>
            <a:off x="7443216" y="2651760"/>
            <a:ext cx="566928" cy="9144"/>
          </a:xfrm>
          <a:custGeom>
            <a:avLst/>
            <a:gdLst/>
            <a:ahLst/>
            <a:cxnLst/>
            <a:rect l="0" t="0" r="r" b="b"/>
            <a:pathLst>
              <a:path w="620" h="10" fill="none">
                <a:moveTo>
                  <a:pt x="0" y="0"/>
                </a:moveTo>
                <a:lnTo>
                  <a:pt x="620" y="0"/>
                </a:lnTo>
              </a:path>
            </a:pathLst>
          </a:custGeom>
          <a:noFill/>
          <a:ln w="28575" cap="rnd">
            <a:solidFill>
              <a:srgbClr val="1E1E1E"/>
            </a:solidFill>
            <a:round/>
            <a:tailEnd type="triangle" w="med" len="med"/>
          </a:ln>
        </p:spPr>
      </p:sp>
      <p:sp>
        <p:nvSpPr>
          <p:cNvPr id="11" name="Nodo k"/>
          <p:cNvSpPr/>
          <p:nvPr/>
        </p:nvSpPr>
        <p:spPr>
          <a:xfrm>
            <a:off x="365760" y="1188720"/>
            <a:ext cx="292608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K⁺ INICIAL MEDIDO</a:t>
            </a:r>
            <a:endParaRPr lang="es-AR" sz="1700" dirty="0">
              <a:latin typeface="Fira Sans Condensed"/>
            </a:endParaRPr>
          </a:p>
        </p:txBody>
      </p:sp>
      <p:sp>
        <p:nvSpPr>
          <p:cNvPr id="12" name="Nodo lo"/>
          <p:cNvSpPr/>
          <p:nvPr/>
        </p:nvSpPr>
        <p:spPr>
          <a:xfrm>
            <a:off x="3931920" y="1188720"/>
            <a:ext cx="347472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FFFFFF"/>
                </a:solidFill>
                <a:latin typeface="Fira Sans Condensed"/>
                <a:ea typeface="Fira Sans Condensed"/>
                <a:cs typeface="Fira Sans Condensed"/>
                <a:sym typeface="Fira Sans Condensed"/>
              </a:rPr>
              <a:t>K⁺ &lt; 3,5 mmol/L</a:t>
            </a:r>
            <a:endParaRPr lang="es-AR" sz="1700" dirty="0">
              <a:latin typeface="Fira Sans Condensed"/>
            </a:endParaRPr>
          </a:p>
        </p:txBody>
      </p:sp>
      <p:sp>
        <p:nvSpPr>
          <p:cNvPr id="13" name="Nodo c"/>
          <p:cNvSpPr/>
          <p:nvPr/>
        </p:nvSpPr>
        <p:spPr>
          <a:xfrm>
            <a:off x="8046720" y="1188720"/>
            <a:ext cx="379476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Corregir ANTES de iniciar insulina</a:t>
            </a:r>
            <a:endParaRPr lang="es-AR" sz="1400" dirty="0">
              <a:latin typeface="Fira Sans Condensed"/>
            </a:endParaRPr>
          </a:p>
        </p:txBody>
      </p:sp>
      <p:sp>
        <p:nvSpPr>
          <p:cNvPr id="14" name="Nodo ok"/>
          <p:cNvSpPr/>
          <p:nvPr/>
        </p:nvSpPr>
        <p:spPr>
          <a:xfrm>
            <a:off x="3931920" y="2331720"/>
            <a:ext cx="347472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K⁺ suficiente</a:t>
            </a:r>
            <a:endParaRPr lang="es-AR" sz="1700" dirty="0">
              <a:latin typeface="Fira Sans Condensed"/>
            </a:endParaRPr>
          </a:p>
        </p:txBody>
      </p:sp>
      <p:sp>
        <p:nvSpPr>
          <p:cNvPr id="15" name="Nodo m"/>
          <p:cNvSpPr/>
          <p:nvPr/>
        </p:nvSpPr>
        <p:spPr>
          <a:xfrm>
            <a:off x="8046720" y="2331720"/>
            <a:ext cx="379476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Monitorizar y reponer según protocolo y función renal</a:t>
            </a:r>
            <a:endParaRPr lang="es-AR" sz="1250" dirty="0">
              <a:latin typeface="Fira Sans Condensed"/>
            </a:endParaRPr>
          </a:p>
        </p:txBody>
      </p:sp>
      <p:grpSp>
        <p:nvGrpSpPr>
          <p:cNvPr id="16" name="Bomba"/>
          <p:cNvGrpSpPr/>
          <p:nvPr/>
        </p:nvGrpSpPr>
        <p:grpSpPr>
          <a:xfrm>
            <a:off x="365760" y="3337560"/>
            <a:ext cx="5669280" cy="2788920"/>
            <a:chOff x="365760" y="3337560"/>
            <a:chExt cx="5669280" cy="2788920"/>
          </a:xfrm>
        </p:grpSpPr>
        <p:sp>
          <p:nvSpPr>
            <p:cNvPr id="17" name="Forma 16"/>
            <p:cNvSpPr/>
            <p:nvPr/>
          </p:nvSpPr>
          <p:spPr>
            <a:xfrm>
              <a:off x="365760" y="3474720"/>
              <a:ext cx="5669280" cy="2651760"/>
            </a:xfrm>
            <a:prstGeom prst="roundRect">
              <a:avLst>
                <a:gd name="adj" fmla="val 10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18" name="Forma 17"/>
            <p:cNvSpPr/>
            <p:nvPr/>
          </p:nvSpPr>
          <p:spPr>
            <a:xfrm>
              <a:off x="2468880" y="3337560"/>
              <a:ext cx="1280160" cy="548640"/>
            </a:xfrm>
            <a:prstGeom prst="roundRect">
              <a:avLst/>
            </a:prstGeom>
            <a:gradFill rotWithShape="1">
              <a:gsLst>
                <a:gs pos="0">
                  <a:srgbClr val="9AE6BA"/>
                </a:gs>
                <a:gs pos="55000">
                  <a:srgbClr val="58D68D"/>
                </a:gs>
                <a:gs pos="100000">
                  <a:srgbClr val="3D9562"/>
                </a:gs>
              </a:gsLst>
              <a:path path="circle">
                <a:fillToRect l="32000" t="28000" r="68000" b="72000"/>
              </a:path>
            </a:gradFill>
            <a:ln w="15240" cap="rnd">
              <a:solidFill>
                <a:srgbClr val="1D8348"/>
              </a:solidFill>
              <a:round/>
            </a:ln>
          </p:spPr>
          <p:txBody>
            <a:bodyPr wrap="square" lIns="73152" tIns="45720" rIns="73152" bIns="4572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Na⁺/K⁺-ATPasa</a:t>
              </a:r>
              <a:endParaRPr lang="es-AR" sz="1100" dirty="0">
                <a:latin typeface="Fira Sans Condensed"/>
              </a:endParaRPr>
            </a:p>
          </p:txBody>
        </p:sp>
        <p:sp>
          <p:nvSpPr>
            <p:cNvPr id="19" name="Forma 18"/>
            <p:cNvSpPr txBox="1"/>
            <p:nvPr/>
          </p:nvSpPr>
          <p:spPr>
            <a:xfrm>
              <a:off x="548640" y="5715000"/>
              <a:ext cx="5303520" cy="320040"/>
            </a:xfrm>
            <a:prstGeom prst="rect">
              <a:avLst/>
            </a:prstGeom>
            <a:noFill/>
            <a:ln>
              <a:noFill/>
            </a:ln>
          </p:spPr>
          <p:txBody>
            <a:bodyPr wrap="square" lIns="0" tIns="0" rIns="0" bIns="0" anchor="ctr" rtlCol="0">
              <a:noAutofit/>
            </a:bodyPr>
            <a:lstStyle/>
            <a:p>
              <a:pPr algn="ctr">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La insulina activa la bomba → K⁺ entra a la célula</a:t>
              </a:r>
              <a:endParaRPr lang="es-AR" sz="1250" dirty="0">
                <a:latin typeface="Fira Sans Condensed"/>
              </a:endParaRPr>
            </a:p>
          </p:txBody>
        </p:sp>
      </p:grpSp>
      <p:sp>
        <p:nvSpPr>
          <p:cNvPr id="20" name="K bomba 0"/>
          <p:cNvSpPr/>
          <p:nvPr/>
        </p:nvSpPr>
        <p:spPr>
          <a:xfrm>
            <a:off x="1828800" y="2788920"/>
            <a:ext cx="365760" cy="365760"/>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K</a:t>
            </a:r>
            <a:r>
              <a:rPr lang="es-AR" sz="1160" b="1" baseline="30000" dirty="0">
                <a:solidFill>
                  <a:srgbClr val="FFFFFF"/>
                </a:solidFill>
                <a:latin typeface="Fira Sans Condensed"/>
                <a:ea typeface="Fira Sans Condensed"/>
                <a:cs typeface="Fira Sans Condensed"/>
                <a:sym typeface="Fira Sans Condensed"/>
              </a:rPr>
              <a:t>+</a:t>
            </a:r>
            <a:endParaRPr lang="es-AR" sz="1160" dirty="0">
              <a:latin typeface="Fira Sans Condensed"/>
            </a:endParaRPr>
          </a:p>
        </p:txBody>
      </p:sp>
      <p:sp>
        <p:nvSpPr>
          <p:cNvPr id="21" name="K bomba 1"/>
          <p:cNvSpPr/>
          <p:nvPr/>
        </p:nvSpPr>
        <p:spPr>
          <a:xfrm>
            <a:off x="2377440" y="2788920"/>
            <a:ext cx="365760" cy="365760"/>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K</a:t>
            </a:r>
            <a:r>
              <a:rPr lang="es-AR" sz="1160" b="1" baseline="30000" dirty="0">
                <a:solidFill>
                  <a:srgbClr val="FFFFFF"/>
                </a:solidFill>
                <a:latin typeface="Fira Sans Condensed"/>
                <a:ea typeface="Fira Sans Condensed"/>
                <a:cs typeface="Fira Sans Condensed"/>
                <a:sym typeface="Fira Sans Condensed"/>
              </a:rPr>
              <a:t>+</a:t>
            </a:r>
            <a:endParaRPr lang="es-AR" sz="1160" dirty="0">
              <a:latin typeface="Fira Sans Condensed"/>
            </a:endParaRPr>
          </a:p>
        </p:txBody>
      </p:sp>
      <p:sp>
        <p:nvSpPr>
          <p:cNvPr id="22" name="K bomba 2"/>
          <p:cNvSpPr/>
          <p:nvPr/>
        </p:nvSpPr>
        <p:spPr>
          <a:xfrm>
            <a:off x="2926080" y="2788920"/>
            <a:ext cx="365760" cy="365760"/>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K</a:t>
            </a:r>
            <a:r>
              <a:rPr lang="es-AR" sz="1160" b="1" baseline="30000" dirty="0">
                <a:solidFill>
                  <a:srgbClr val="FFFFFF"/>
                </a:solidFill>
                <a:latin typeface="Fira Sans Condensed"/>
                <a:ea typeface="Fira Sans Condensed"/>
                <a:cs typeface="Fira Sans Condensed"/>
                <a:sym typeface="Fira Sans Condensed"/>
              </a:rPr>
              <a:t>+</a:t>
            </a:r>
            <a:endParaRPr lang="es-AR" sz="1160" dirty="0">
              <a:latin typeface="Fira Sans Condensed"/>
            </a:endParaRPr>
          </a:p>
        </p:txBody>
      </p:sp>
      <p:sp>
        <p:nvSpPr>
          <p:cNvPr id="23" name="K bomba 3"/>
          <p:cNvSpPr/>
          <p:nvPr/>
        </p:nvSpPr>
        <p:spPr>
          <a:xfrm>
            <a:off x="3474720" y="2788920"/>
            <a:ext cx="365760" cy="365760"/>
          </a:xfrm>
          <a:prstGeom prst="ellipse">
            <a:avLst/>
          </a:prstGeom>
          <a:gradFill rotWithShape="1">
            <a:gsLst>
              <a:gs pos="0">
                <a:srgbClr val="9F7BAE"/>
              </a:gs>
              <a:gs pos="55000">
                <a:srgbClr val="6C3483"/>
              </a:gs>
              <a:gs pos="100000">
                <a:srgbClr val="562968"/>
              </a:gs>
            </a:gsLst>
            <a:path path="circle">
              <a:fillToRect l="32000" t="28000" r="68000" b="72000"/>
            </a:path>
          </a:gradFill>
          <a:ln w="12700" cap="rnd">
            <a:solidFill>
              <a:srgbClr val="3B1C48"/>
            </a:solidFill>
            <a:round/>
          </a:ln>
        </p:spPr>
        <p:txBody>
          <a:bodyPr wrap="square" lIns="0" tIns="0" rIns="0" bIns="0" anchor="ctr" rtlCol="0">
            <a:noAutofit/>
          </a:bodyPr>
          <a:lstStyle/>
          <a:p>
            <a:pPr algn="ctr">
              <a:spcAft>
                <a:spcPts val="300"/>
              </a:spcAft>
              <a:buNone/>
            </a:pPr>
            <a:r>
              <a:rPr lang="es-AR" sz="1160" b="1" dirty="0">
                <a:solidFill>
                  <a:srgbClr val="FFFFFF"/>
                </a:solidFill>
                <a:latin typeface="Fira Sans Condensed"/>
                <a:ea typeface="Fira Sans Condensed"/>
                <a:cs typeface="Fira Sans Condensed"/>
                <a:sym typeface="Fira Sans Condensed"/>
              </a:rPr>
              <a:t>K</a:t>
            </a:r>
            <a:r>
              <a:rPr lang="es-AR" sz="1160" b="1" baseline="30000" dirty="0">
                <a:solidFill>
                  <a:srgbClr val="FFFFFF"/>
                </a:solidFill>
                <a:latin typeface="Fira Sans Condensed"/>
                <a:ea typeface="Fira Sans Condensed"/>
                <a:cs typeface="Fira Sans Condensed"/>
                <a:sym typeface="Fira Sans Condensed"/>
              </a:rPr>
              <a:t>+</a:t>
            </a:r>
            <a:endParaRPr lang="es-AR" sz="1160" dirty="0">
              <a:latin typeface="Fira Sans Condensed"/>
            </a:endParaRPr>
          </a:p>
        </p:txBody>
      </p:sp>
      <p:sp>
        <p:nvSpPr>
          <p:cNvPr id="24" name="Insulina bomba"/>
          <p:cNvSpPr/>
          <p:nvPr/>
        </p:nvSpPr>
        <p:spPr>
          <a:xfrm>
            <a:off x="4023360" y="274320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5" name="Perla clínica"/>
          <p:cNvSpPr/>
          <p:nvPr/>
        </p:nvSpPr>
        <p:spPr>
          <a:xfrm>
            <a:off x="6309360" y="3474720"/>
            <a:ext cx="5532120" cy="26517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Si se administra insulina a una persona </a:t>
            </a:r>
            <a:r>
              <a:rPr lang="es-AR" sz="1600" b="1" dirty="0">
                <a:solidFill>
                  <a:srgbClr val="FFFFFF"/>
                </a:solidFill>
                <a:latin typeface="Fira Sans Condensed"/>
                <a:ea typeface="Fira Sans Condensed"/>
                <a:cs typeface="Fira Sans Condensed"/>
                <a:sym typeface="Fira Sans Condensed"/>
              </a:rPr>
              <a:t>muy hipopotasémica</a:t>
            </a:r>
            <a:r>
              <a:rPr lang="es-AR" sz="1600" dirty="0">
                <a:solidFill>
                  <a:srgbClr val="FFFFFF"/>
                </a:solidFill>
                <a:latin typeface="Fira Sans Condensed"/>
                <a:ea typeface="Fira Sans Condensed"/>
                <a:cs typeface="Fira Sans Condensed"/>
                <a:sym typeface="Fira Sans Condensed"/>
              </a:rPr>
              <a:t>, el K⁺ penetra en las células y puede precipitar </a:t>
            </a:r>
            <a:r>
              <a:rPr lang="es-AR" sz="1600" b="1" dirty="0">
                <a:solidFill>
                  <a:srgbClr val="FFFFFF"/>
                </a:solidFill>
                <a:latin typeface="Fira Sans Condensed"/>
                <a:ea typeface="Fira Sans Condensed"/>
                <a:cs typeface="Fira Sans Condensed"/>
                <a:sym typeface="Fira Sans Condensed"/>
              </a:rPr>
              <a:t>arritmias</a:t>
            </a:r>
            <a:r>
              <a:rPr lang="es-AR" sz="1600" dirty="0">
                <a:solidFill>
                  <a:srgbClr val="FFFFFF"/>
                </a:solidFill>
                <a:latin typeface="Fira Sans Condensed"/>
                <a:ea typeface="Fira Sans Condensed"/>
                <a:cs typeface="Fira Sans Condensed"/>
                <a:sym typeface="Fira Sans Condensed"/>
              </a:rPr>
              <a:t>. Por eso el potasio se mide </a:t>
            </a:r>
            <a:r>
              <a:rPr lang="es-AR" sz="1600" b="1" dirty="0">
                <a:solidFill>
                  <a:srgbClr val="FFFFFF"/>
                </a:solidFill>
                <a:latin typeface="Fira Sans Condensed"/>
                <a:ea typeface="Fira Sans Condensed"/>
                <a:cs typeface="Fira Sans Condensed"/>
                <a:sym typeface="Fira Sans Condensed"/>
              </a:rPr>
              <a:t>antes</a:t>
            </a:r>
            <a:r>
              <a:rPr lang="es-AR" sz="1600" dirty="0">
                <a:solidFill>
                  <a:srgbClr val="FFFFFF"/>
                </a:solidFill>
                <a:latin typeface="Fira Sans Condensed"/>
                <a:ea typeface="Fira Sans Condensed"/>
                <a:cs typeface="Fira Sans Condensed"/>
                <a:sym typeface="Fira Sans Condensed"/>
              </a:rPr>
              <a:t> y de forma </a:t>
            </a:r>
            <a:r>
              <a:rPr lang="es-AR" sz="1600" b="1" dirty="0">
                <a:solidFill>
                  <a:srgbClr val="FFFFFF"/>
                </a:solidFill>
                <a:latin typeface="Fira Sans Condensed"/>
                <a:ea typeface="Fira Sans Condensed"/>
                <a:cs typeface="Fira Sans Condensed"/>
                <a:sym typeface="Fira Sans Condensed"/>
              </a:rPr>
              <a:t>seriada</a:t>
            </a:r>
            <a:r>
              <a:rPr lang="es-AR" sz="1600" dirty="0">
                <a:solidFill>
                  <a:srgbClr val="FFFFFF"/>
                </a:solidFill>
                <a:latin typeface="Fira Sans Condensed"/>
                <a:ea typeface="Fira Sans Condensed"/>
                <a:cs typeface="Fira Sans Condensed"/>
                <a:sym typeface="Fira Sans Condensed"/>
              </a:rPr>
              <a:t>.</a:t>
            </a:r>
            <a:endParaRPr lang="es-AR" sz="16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POTASIO CRÍTICO ANTES DE LA INSULINA</a:t>
            </a:r>
            <a:endParaRPr lang="es-AR" sz="3400" dirty="0">
              <a:latin typeface="Permanent Marker"/>
            </a:endParaRPr>
          </a:p>
        </p:txBody>
      </p:sp>
      <p:sp>
        <p:nvSpPr>
          <p:cNvPr id="6" name="Etiqueta sección"/>
          <p:cNvSpPr/>
          <p:nvPr/>
        </p:nvSpPr>
        <p:spPr>
          <a:xfrm>
            <a:off x="164592" y="6510528"/>
            <a:ext cx="215404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 · CETOACIDOSIS (CASO 11)</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childTnLst>
                          </p:cTn>
                        </p:par>
                      </p:childTnLst>
                    </p:cTn>
                  </p:par>
                  <p:par>
                    <p:cTn id="24"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41"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par>
                          <p:cTn id="36" fill="hold">
                            <p:stCondLst>
                              <p:cond delay="90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childTnLst>
                          </p:cTn>
                        </p:par>
                      </p:childTnLst>
                    </p:cTn>
                  </p:par>
                  <p:par>
                    <p:cTn id="52" fill="hold">
                      <p:stCondLst>
                        <p:cond delay="indefinite"/>
                      </p:stCondLst>
                      <p:childTnLst>
                        <p:par>
                          <p:cTn id="45"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par>
                          <p:cTn id="51" fill="hold">
                            <p:stCondLst>
                              <p:cond delay="500"/>
                            </p:stCondLst>
                            <p:childTnLst>
                              <p:par>
                                <p:cTn id="46" presetID="53" presetClass="entr" presetSubtype="16" fill="hold" grpId="0" nodeType="after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500" fill="hold"/>
                                        <p:tgtEl>
                                          <p:spTgt spid="24"/>
                                        </p:tgtEl>
                                        <p:attrNameLst>
                                          <p:attrName>ppt_w</p:attrName>
                                        </p:attrNameLst>
                                      </p:cBhvr>
                                      <p:tavLst>
                                        <p:tav tm="0">
                                          <p:val>
                                            <p:fltVal val="0"/>
                                          </p:val>
                                        </p:tav>
                                        <p:tav tm="100000">
                                          <p:val>
                                            <p:strVal val="#ppt_w"/>
                                          </p:val>
                                        </p:tav>
                                      </p:tavLst>
                                    </p:anim>
                                    <p:anim calcmode="lin" valueType="num">
                                      <p:cBhvr>
                                        <p:cTn id="49" dur="500" fill="hold"/>
                                        <p:tgtEl>
                                          <p:spTgt spid="24"/>
                                        </p:tgtEl>
                                        <p:attrNameLst>
                                          <p:attrName>ppt_h</p:attrName>
                                        </p:attrNameLst>
                                      </p:cBhvr>
                                      <p:tavLst>
                                        <p:tav tm="0">
                                          <p:val>
                                            <p:fltVal val="0"/>
                                          </p:val>
                                        </p:tav>
                                        <p:tav tm="100000">
                                          <p:val>
                                            <p:strVal val="#ppt_h"/>
                                          </p:val>
                                        </p:tav>
                                      </p:tavLst>
                                    </p:anim>
                                    <p:animEffect transition="in" filter="fade">
                                      <p:cBhvr>
                                        <p:cTn id="50" dur="500"/>
                                        <p:tgtEl>
                                          <p:spTgt spid="24"/>
                                        </p:tgtEl>
                                      </p:cBhvr>
                                    </p:animEffect>
                                  </p:childTnLst>
                                </p:cTn>
                              </p:par>
                            </p:childTnLst>
                          </p:cTn>
                        </p:par>
                      </p:childTnLst>
                    </p:cTn>
                  </p:par>
                  <p:par>
                    <p:cTn id="65" fill="hold">
                      <p:stCondLst>
                        <p:cond delay="indefinite"/>
                      </p:stCondLst>
                      <p:childTnLst>
                        <p:par>
                          <p:cTn id="55" fill="hold">
                            <p:stCondLst>
                              <p:cond delay="0"/>
                            </p:stCondLst>
                            <p:childTnLst>
                              <p:par>
                                <p:cTn id="53" presetID="0" presetClass="path" presetSubtype="0" accel="20000" decel="20000" fill="hold" grpId="0" nodeType="clickEffect">
                                  <p:stCondLst>
                                    <p:cond delay="0"/>
                                  </p:stCondLst>
                                  <p:childTnLst>
                                    <p:animMotion origin="layout" path="M 0 0 L 0.0000 0.2133 E" pathEditMode="relative" ptsTypes="">
                                      <p:cBhvr>
                                        <p:cTn id="54" dur="1200" fill="hold"/>
                                        <p:tgtEl>
                                          <p:spTgt spid="20"/>
                                        </p:tgtEl>
                                        <p:attrNameLst>
                                          <p:attrName>ppt_x</p:attrName>
                                          <p:attrName>ppt_y</p:attrName>
                                        </p:attrNameLst>
                                      </p:cBhvr>
                                      <p:rCtr x="0" y="10666"/>
                                    </p:animMotion>
                                  </p:childTnLst>
                                </p:cTn>
                              </p:par>
                            </p:childTnLst>
                          </p:cTn>
                        </p:par>
                        <p:par>
                          <p:cTn id="58" fill="hold">
                            <p:stCondLst>
                              <p:cond delay="150"/>
                            </p:stCondLst>
                            <p:childTnLst>
                              <p:par>
                                <p:cTn id="56" presetID="0" presetClass="path" presetSubtype="0" accel="20000" decel="20000" fill="hold" grpId="0" nodeType="afterEffect">
                                  <p:stCondLst>
                                    <p:cond delay="0"/>
                                  </p:stCondLst>
                                  <p:childTnLst>
                                    <p:animMotion origin="layout" path="M 0 0 L 0.0000 0.2133 E" pathEditMode="relative" ptsTypes="">
                                      <p:cBhvr>
                                        <p:cTn id="57" dur="1200" fill="hold"/>
                                        <p:tgtEl>
                                          <p:spTgt spid="21"/>
                                        </p:tgtEl>
                                        <p:attrNameLst>
                                          <p:attrName>ppt_x</p:attrName>
                                          <p:attrName>ppt_y</p:attrName>
                                        </p:attrNameLst>
                                      </p:cBhvr>
                                      <p:rCtr x="0" y="10666"/>
                                    </p:animMotion>
                                  </p:childTnLst>
                                </p:cTn>
                              </p:par>
                            </p:childTnLst>
                          </p:cTn>
                        </p:par>
                        <p:par>
                          <p:cTn id="61" fill="hold">
                            <p:stCondLst>
                              <p:cond delay="450"/>
                            </p:stCondLst>
                            <p:childTnLst>
                              <p:par>
                                <p:cTn id="59" presetID="0" presetClass="path" presetSubtype="0" accel="20000" decel="20000" fill="hold" grpId="0" nodeType="afterEffect">
                                  <p:stCondLst>
                                    <p:cond delay="0"/>
                                  </p:stCondLst>
                                  <p:childTnLst>
                                    <p:animMotion origin="layout" path="M 0 0 L 0.0000 0.2133 E" pathEditMode="relative" ptsTypes="">
                                      <p:cBhvr>
                                        <p:cTn id="60" dur="1200" fill="hold"/>
                                        <p:tgtEl>
                                          <p:spTgt spid="22"/>
                                        </p:tgtEl>
                                        <p:attrNameLst>
                                          <p:attrName>ppt_x</p:attrName>
                                          <p:attrName>ppt_y</p:attrName>
                                        </p:attrNameLst>
                                      </p:cBhvr>
                                      <p:rCtr x="0" y="10666"/>
                                    </p:animMotion>
                                  </p:childTnLst>
                                </p:cTn>
                              </p:par>
                            </p:childTnLst>
                          </p:cTn>
                        </p:par>
                        <p:par>
                          <p:cTn id="64" fill="hold">
                            <p:stCondLst>
                              <p:cond delay="900"/>
                            </p:stCondLst>
                            <p:childTnLst>
                              <p:par>
                                <p:cTn id="62" presetID="0" presetClass="path" presetSubtype="0" accel="20000" decel="20000" fill="hold" grpId="0" nodeType="afterEffect">
                                  <p:stCondLst>
                                    <p:cond delay="0"/>
                                  </p:stCondLst>
                                  <p:childTnLst>
                                    <p:animMotion origin="layout" path="M 0 0 L 0.0000 0.2133 E" pathEditMode="relative" ptsTypes="">
                                      <p:cBhvr>
                                        <p:cTn id="63" dur="1200" fill="hold"/>
                                        <p:tgtEl>
                                          <p:spTgt spid="23"/>
                                        </p:tgtEl>
                                        <p:attrNameLst>
                                          <p:attrName>ppt_x</p:attrName>
                                          <p:attrName>ppt_y</p:attrName>
                                        </p:attrNameLst>
                                      </p:cBhvr>
                                      <p:rCtr x="0" y="10666"/>
                                    </p:animMotion>
                                  </p:childTnLst>
                                </p:cTn>
                              </p:par>
                            </p:childTnLst>
                          </p:cTn>
                        </p:par>
                      </p:childTnLst>
                    </p:cTn>
                  </p:par>
                  <p:par>
                    <p:cTn id="72" fill="hold">
                      <p:stCondLst>
                        <p:cond delay="indefinite"/>
                      </p:stCondLst>
                      <p:childTnLst>
                        <p:par>
                          <p:cTn id="71"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5"/>
                                        </p:tgtEl>
                                        <p:attrNameLst>
                                          <p:attrName>style.visibility</p:attrName>
                                        </p:attrNameLst>
                                      </p:cBhvr>
                                      <p:to>
                                        <p:strVal val="visible"/>
                                      </p:to>
                                    </p:set>
                                    <p:anim calcmode="lin" valueType="num">
                                      <p:cBhvr>
                                        <p:cTn id="68" dur="500" fill="hold"/>
                                        <p:tgtEl>
                                          <p:spTgt spid="25"/>
                                        </p:tgtEl>
                                        <p:attrNameLst>
                                          <p:attrName>ppt_w</p:attrName>
                                        </p:attrNameLst>
                                      </p:cBhvr>
                                      <p:tavLst>
                                        <p:tav tm="0">
                                          <p:val>
                                            <p:fltVal val="0"/>
                                          </p:val>
                                        </p:tav>
                                        <p:tav tm="100000">
                                          <p:val>
                                            <p:strVal val="#ppt_w"/>
                                          </p:val>
                                        </p:tav>
                                      </p:tavLst>
                                    </p:anim>
                                    <p:anim calcmode="lin" valueType="num">
                                      <p:cBhvr>
                                        <p:cTn id="69" dur="500" fill="hold"/>
                                        <p:tgtEl>
                                          <p:spTgt spid="25"/>
                                        </p:tgtEl>
                                        <p:attrNameLst>
                                          <p:attrName>ppt_h</p:attrName>
                                        </p:attrNameLst>
                                      </p:cBhvr>
                                      <p:tavLst>
                                        <p:tav tm="0">
                                          <p:val>
                                            <p:fltVal val="0"/>
                                          </p:val>
                                        </p:tav>
                                        <p:tav tm="100000">
                                          <p:val>
                                            <p:strVal val="#ppt_h"/>
                                          </p:val>
                                        </p:tav>
                                      </p:tavLst>
                                    </p:anim>
                                    <p:animEffect transition="in" filter="fad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12" grpId="0" animBg="1"/>
      <p:bldP spid="8" grpId="0" animBg="1"/>
      <p:bldP spid="13" grpId="0" animBg="1"/>
      <p:bldP spid="9" grpId="0" animBg="1"/>
      <p:bldP spid="14" grpId="0" animBg="1"/>
      <p:bldP spid="10" grpId="0" animBg="1"/>
      <p:bldP spid="15" grpId="0" animBg="1"/>
      <p:bldP spid="24" grpId="0" animBg="1"/>
      <p:bldP spid="20" grpId="0" animBg="1"/>
      <p:bldP spid="21" grpId="0" animBg="1"/>
      <p:bldP spid="22" grpId="0" animBg="1"/>
      <p:bldP spid="23" grpId="0" animBg="1"/>
      <p:bldP spid="25" grpId="0" animBg="1"/>
    </p:bld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III</a:t>
            </a:r>
            <a:endParaRPr lang="es-AR" sz="2000" dirty="0">
              <a:latin typeface="Fira Sans Condensed"/>
            </a:endParaRPr>
          </a:p>
        </p:txBody>
      </p:sp>
      <p:sp>
        <p:nvSpPr>
          <p:cNvPr id="6" name="Título unidad"/>
          <p:cNvSpPr txBox="1"/>
          <p:nvPr/>
        </p:nvSpPr>
        <p:spPr>
          <a:xfrm>
            <a:off x="2468880" y="960120"/>
            <a:ext cx="7223760" cy="10673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CASO 12: ESTADO</a:t>
            </a:r>
            <a:endParaRPr lang="es-AR" sz="2900" dirty="0">
              <a:latin typeface="Permanent Marker"/>
            </a:endParaRPr>
          </a:p>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HIPERGLUCÉMICO HIPEROSMOLAR</a:t>
            </a:r>
            <a:endParaRPr lang="es-AR" sz="29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Insulina residual, agua perdida y neuronas deshidratadas</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Presentación y laboratorio</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¿Por qué no hay cetonas?</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Ejemplo 4: de la glucosuria al coma</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Tonicidad y movimiento de agua</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Osmolalidad total, efectiva y Na⁺ corregido</a:t>
            </a:r>
            <a:endParaRPr lang="es-AR" sz="135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Vías alteradas y riesgos de corrección</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Dieta, glibenclamida y ejercicio</a:t>
            </a:r>
            <a:endParaRPr lang="es-AR" sz="1400" dirty="0">
              <a:latin typeface="Fira Sans Condensed"/>
            </a:endParaRPr>
          </a:p>
        </p:txBody>
      </p:sp>
      <p:pic>
        <p:nvPicPr>
          <p:cNvPr id="15" name="Cerebro" descr="Ilustración biomédica (Servier Medical Art, CC BY)"/>
          <p:cNvPicPr>
            <a:picLocks noChangeAspect="1"/>
          </p:cNvPicPr>
          <p:nvPr/>
        </p:nvPicPr>
        <p:blipFill>
          <a:blip r:embed="rId2"/>
          <a:stretch>
            <a:fillRect/>
          </a:stretch>
        </p:blipFill>
        <p:spPr>
          <a:xfrm>
            <a:off x="9784080" y="548640"/>
            <a:ext cx="2194560" cy="2240980"/>
          </a:xfrm>
          <a:prstGeom prst="rect">
            <a:avLst/>
          </a:prstGeom>
        </p:spPr>
      </p:pic>
      <p:pic>
        <p:nvPicPr>
          <p:cNvPr id="16" name="Riñón" descr="Ilustración biomédica (Servier Medical Art, CC BY)"/>
          <p:cNvPicPr>
            <a:picLocks noChangeAspect="1"/>
          </p:cNvPicPr>
          <p:nvPr/>
        </p:nvPicPr>
        <p:blipFill>
          <a:blip r:embed="rId3"/>
          <a:stretch>
            <a:fillRect/>
          </a:stretch>
        </p:blipFill>
        <p:spPr>
          <a:xfrm>
            <a:off x="10332720" y="3108960"/>
            <a:ext cx="1188720" cy="2103929"/>
          </a:xfrm>
          <a:prstGeom prst="rect">
            <a:avLst/>
          </a:prstGeom>
        </p:spPr>
      </p:pic>
      <p:grpSp>
        <p:nvGrpSpPr>
          <p:cNvPr id="17" name="Glucosa 3D"/>
          <p:cNvGrpSpPr/>
          <p:nvPr/>
        </p:nvGrpSpPr>
        <p:grpSpPr>
          <a:xfrm>
            <a:off x="315650" y="1231566"/>
            <a:ext cx="1832586" cy="1466461"/>
            <a:chOff x="315650" y="1231566"/>
            <a:chExt cx="1832586" cy="1466461"/>
          </a:xfrm>
        </p:grpSpPr>
        <p:sp>
          <p:nvSpPr>
            <p:cNvPr id="18" name="Átomo H"/>
            <p:cNvSpPr/>
            <p:nvPr/>
          </p:nvSpPr>
          <p:spPr>
            <a:xfrm>
              <a:off x="1522212" y="1962219"/>
              <a:ext cx="122395" cy="12239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9" name="Átomo H_2"/>
            <p:cNvSpPr/>
            <p:nvPr/>
          </p:nvSpPr>
          <p:spPr>
            <a:xfrm>
              <a:off x="1710673" y="1401954"/>
              <a:ext cx="123108" cy="1231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0" name="Flecha 19_2"/>
            <p:cNvSpPr/>
            <p:nvPr/>
          </p:nvSpPr>
          <p:spPr>
            <a:xfrm>
              <a:off x="1772227" y="1463508"/>
              <a:ext cx="176021" cy="97748"/>
            </a:xfrm>
            <a:custGeom>
              <a:avLst/>
              <a:gdLst/>
              <a:ahLst/>
              <a:cxnLst/>
              <a:rect l="0" t="0" r="r" b="b"/>
              <a:pathLst>
                <a:path w="192" h="106" fill="none">
                  <a:moveTo>
                    <a:pt x="192" y="106"/>
                  </a:moveTo>
                  <a:lnTo>
                    <a:pt x="0" y="0"/>
                  </a:lnTo>
                </a:path>
              </a:pathLst>
            </a:custGeom>
            <a:noFill/>
            <a:ln w="31251" cap="rnd">
              <a:solidFill>
                <a:srgbClr val="9A9A9A"/>
              </a:solidFill>
              <a:round/>
            </a:ln>
          </p:spPr>
        </p:sp>
        <p:sp>
          <p:nvSpPr>
            <p:cNvPr id="21" name="Flecha 21_2"/>
            <p:cNvSpPr/>
            <p:nvPr/>
          </p:nvSpPr>
          <p:spPr>
            <a:xfrm>
              <a:off x="1583409" y="2023417"/>
              <a:ext cx="59657" cy="50970"/>
            </a:xfrm>
            <a:custGeom>
              <a:avLst/>
              <a:gdLst/>
              <a:ahLst/>
              <a:cxnLst/>
              <a:rect l="0" t="0" r="r" b="b"/>
              <a:pathLst>
                <a:path w="65" h="55" fill="none">
                  <a:moveTo>
                    <a:pt x="65" y="55"/>
                  </a:moveTo>
                  <a:lnTo>
                    <a:pt x="0" y="0"/>
                  </a:lnTo>
                </a:path>
              </a:pathLst>
            </a:custGeom>
            <a:noFill/>
            <a:ln w="31251" cap="rnd">
              <a:solidFill>
                <a:srgbClr val="9A9A9A"/>
              </a:solidFill>
              <a:round/>
            </a:ln>
          </p:spPr>
        </p:sp>
        <p:sp>
          <p:nvSpPr>
            <p:cNvPr id="22" name="Átomo H_3"/>
            <p:cNvSpPr/>
            <p:nvPr/>
          </p:nvSpPr>
          <p:spPr>
            <a:xfrm>
              <a:off x="2023743" y="2177989"/>
              <a:ext cx="124493" cy="1244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3" name="Átomo H_4"/>
            <p:cNvSpPr/>
            <p:nvPr/>
          </p:nvSpPr>
          <p:spPr>
            <a:xfrm>
              <a:off x="873278" y="1872403"/>
              <a:ext cx="125048" cy="12504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4" name="Átomo O"/>
            <p:cNvSpPr/>
            <p:nvPr/>
          </p:nvSpPr>
          <p:spPr>
            <a:xfrm>
              <a:off x="1849942" y="1462950"/>
              <a:ext cx="196613" cy="19661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5" name="Flecha 26_2"/>
            <p:cNvSpPr/>
            <p:nvPr/>
          </p:nvSpPr>
          <p:spPr>
            <a:xfrm>
              <a:off x="1890260" y="2240236"/>
              <a:ext cx="195729" cy="95904"/>
            </a:xfrm>
            <a:custGeom>
              <a:avLst/>
              <a:gdLst/>
              <a:ahLst/>
              <a:cxnLst/>
              <a:rect l="0" t="0" r="r" b="b"/>
              <a:pathLst>
                <a:path w="214" h="104" fill="none">
                  <a:moveTo>
                    <a:pt x="0" y="104"/>
                  </a:moveTo>
                  <a:lnTo>
                    <a:pt x="214" y="0"/>
                  </a:lnTo>
                </a:path>
              </a:pathLst>
            </a:custGeom>
            <a:noFill/>
            <a:ln w="31251" cap="rnd">
              <a:solidFill>
                <a:srgbClr val="9A9A9A"/>
              </a:solidFill>
              <a:round/>
            </a:ln>
          </p:spPr>
        </p:sp>
        <p:sp>
          <p:nvSpPr>
            <p:cNvPr id="26" name="Átomo H_5"/>
            <p:cNvSpPr/>
            <p:nvPr/>
          </p:nvSpPr>
          <p:spPr>
            <a:xfrm>
              <a:off x="1351935" y="2571976"/>
              <a:ext cx="126052" cy="12605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7" name="Átomo O_2"/>
            <p:cNvSpPr/>
            <p:nvPr/>
          </p:nvSpPr>
          <p:spPr>
            <a:xfrm>
              <a:off x="1791195" y="2237075"/>
              <a:ext cx="198129" cy="19812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8" name="Flecha 30_2"/>
            <p:cNvSpPr/>
            <p:nvPr/>
          </p:nvSpPr>
          <p:spPr>
            <a:xfrm>
              <a:off x="1643066" y="2074386"/>
              <a:ext cx="247194" cy="261753"/>
            </a:xfrm>
            <a:custGeom>
              <a:avLst/>
              <a:gdLst/>
              <a:ahLst/>
              <a:cxnLst/>
              <a:rect l="0" t="0" r="r" b="b"/>
              <a:pathLst>
                <a:path w="270" h="286" fill="none">
                  <a:moveTo>
                    <a:pt x="0" y="0"/>
                  </a:moveTo>
                  <a:lnTo>
                    <a:pt x="270" y="286"/>
                  </a:lnTo>
                </a:path>
              </a:pathLst>
            </a:custGeom>
            <a:noFill/>
            <a:ln w="31251" cap="rnd">
              <a:solidFill>
                <a:srgbClr val="9A9A9A"/>
              </a:solidFill>
              <a:round/>
            </a:ln>
          </p:spPr>
        </p:sp>
        <p:sp>
          <p:nvSpPr>
            <p:cNvPr id="29" name="Átomo C"/>
            <p:cNvSpPr/>
            <p:nvPr/>
          </p:nvSpPr>
          <p:spPr>
            <a:xfrm>
              <a:off x="1537902" y="1969222"/>
              <a:ext cx="210328" cy="2103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Flecha 33_2"/>
            <p:cNvSpPr/>
            <p:nvPr/>
          </p:nvSpPr>
          <p:spPr>
            <a:xfrm>
              <a:off x="1213732" y="2500623"/>
              <a:ext cx="201228" cy="134378"/>
            </a:xfrm>
            <a:custGeom>
              <a:avLst/>
              <a:gdLst/>
              <a:ahLst/>
              <a:cxnLst/>
              <a:rect l="0" t="0" r="r" b="b"/>
              <a:pathLst>
                <a:path w="220" h="146" fill="none">
                  <a:moveTo>
                    <a:pt x="0" y="0"/>
                  </a:moveTo>
                  <a:lnTo>
                    <a:pt x="220" y="146"/>
                  </a:lnTo>
                </a:path>
              </a:pathLst>
            </a:custGeom>
            <a:noFill/>
            <a:ln w="31251" cap="rnd">
              <a:solidFill>
                <a:srgbClr val="9A9A9A"/>
              </a:solidFill>
              <a:round/>
            </a:ln>
          </p:spPr>
        </p:sp>
        <p:sp>
          <p:nvSpPr>
            <p:cNvPr id="31" name="Átomo O_3"/>
            <p:cNvSpPr/>
            <p:nvPr/>
          </p:nvSpPr>
          <p:spPr>
            <a:xfrm>
              <a:off x="1114260" y="2401151"/>
              <a:ext cx="198945" cy="19894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2" name="Flecha 36_2"/>
            <p:cNvSpPr/>
            <p:nvPr/>
          </p:nvSpPr>
          <p:spPr>
            <a:xfrm>
              <a:off x="935802" y="1922950"/>
              <a:ext cx="125772" cy="11977"/>
            </a:xfrm>
            <a:custGeom>
              <a:avLst/>
              <a:gdLst/>
              <a:ahLst/>
              <a:cxnLst/>
              <a:rect l="0" t="0" r="r" b="b"/>
              <a:pathLst>
                <a:path w="137" h="13" fill="none">
                  <a:moveTo>
                    <a:pt x="137" y="0"/>
                  </a:moveTo>
                  <a:lnTo>
                    <a:pt x="0" y="13"/>
                  </a:lnTo>
                </a:path>
              </a:pathLst>
            </a:custGeom>
            <a:noFill/>
            <a:ln w="31251" cap="rnd">
              <a:solidFill>
                <a:srgbClr val="9A9A9A"/>
              </a:solidFill>
              <a:round/>
            </a:ln>
          </p:spPr>
        </p:sp>
        <p:sp>
          <p:nvSpPr>
            <p:cNvPr id="33" name="Flecha 38_2"/>
            <p:cNvSpPr/>
            <p:nvPr/>
          </p:nvSpPr>
          <p:spPr>
            <a:xfrm>
              <a:off x="1785406" y="1561257"/>
              <a:ext cx="162842" cy="201231"/>
            </a:xfrm>
            <a:custGeom>
              <a:avLst/>
              <a:gdLst/>
              <a:ahLst/>
              <a:cxnLst/>
              <a:rect l="0" t="0" r="r" b="b"/>
              <a:pathLst>
                <a:path w="178" h="220" fill="none">
                  <a:moveTo>
                    <a:pt x="0" y="220"/>
                  </a:moveTo>
                  <a:lnTo>
                    <a:pt x="178" y="0"/>
                  </a:lnTo>
                </a:path>
              </a:pathLst>
            </a:custGeom>
            <a:noFill/>
            <a:ln w="31251" cap="rnd">
              <a:solidFill>
                <a:srgbClr val="9A9A9A"/>
              </a:solidFill>
              <a:round/>
            </a:ln>
          </p:spPr>
        </p:sp>
        <p:sp>
          <p:nvSpPr>
            <p:cNvPr id="34" name="Flecha 40_2"/>
            <p:cNvSpPr/>
            <p:nvPr/>
          </p:nvSpPr>
          <p:spPr>
            <a:xfrm>
              <a:off x="1643066" y="1762487"/>
              <a:ext cx="142341" cy="311899"/>
            </a:xfrm>
            <a:custGeom>
              <a:avLst/>
              <a:gdLst/>
              <a:ahLst/>
              <a:cxnLst/>
              <a:rect l="0" t="0" r="r" b="b"/>
              <a:pathLst>
                <a:path w="155" h="341" fill="none">
                  <a:moveTo>
                    <a:pt x="155" y="0"/>
                  </a:moveTo>
                  <a:lnTo>
                    <a:pt x="0" y="341"/>
                  </a:lnTo>
                </a:path>
              </a:pathLst>
            </a:custGeom>
            <a:noFill/>
            <a:ln w="31251" cap="rnd">
              <a:solidFill>
                <a:srgbClr val="9A9A9A"/>
              </a:solidFill>
              <a:round/>
            </a:ln>
          </p:spPr>
        </p:sp>
        <p:sp>
          <p:nvSpPr>
            <p:cNvPr id="35" name="Flecha 42_2"/>
            <p:cNvSpPr/>
            <p:nvPr/>
          </p:nvSpPr>
          <p:spPr>
            <a:xfrm>
              <a:off x="1330389" y="2074386"/>
              <a:ext cx="312676" cy="124453"/>
            </a:xfrm>
            <a:custGeom>
              <a:avLst/>
              <a:gdLst/>
              <a:ahLst/>
              <a:cxnLst/>
              <a:rect l="0" t="0" r="r" b="b"/>
              <a:pathLst>
                <a:path w="341" h="136" fill="none">
                  <a:moveTo>
                    <a:pt x="341" y="0"/>
                  </a:moveTo>
                  <a:lnTo>
                    <a:pt x="0" y="136"/>
                  </a:lnTo>
                </a:path>
              </a:pathLst>
            </a:custGeom>
            <a:noFill/>
            <a:ln w="31251" cap="rnd">
              <a:solidFill>
                <a:srgbClr val="9A9A9A"/>
              </a:solidFill>
              <a:round/>
            </a:ln>
          </p:spPr>
        </p:sp>
        <p:sp>
          <p:nvSpPr>
            <p:cNvPr id="36" name="Flecha 44_2"/>
            <p:cNvSpPr/>
            <p:nvPr/>
          </p:nvSpPr>
          <p:spPr>
            <a:xfrm>
              <a:off x="1213732" y="2198839"/>
              <a:ext cx="116657" cy="301784"/>
            </a:xfrm>
            <a:custGeom>
              <a:avLst/>
              <a:gdLst/>
              <a:ahLst/>
              <a:cxnLst/>
              <a:rect l="0" t="0" r="r" b="b"/>
              <a:pathLst>
                <a:path w="127" h="330" fill="none">
                  <a:moveTo>
                    <a:pt x="127" y="0"/>
                  </a:moveTo>
                  <a:lnTo>
                    <a:pt x="0" y="330"/>
                  </a:lnTo>
                </a:path>
              </a:pathLst>
            </a:custGeom>
            <a:noFill/>
            <a:ln w="31251" cap="rnd">
              <a:solidFill>
                <a:srgbClr val="9A9A9A"/>
              </a:solidFill>
              <a:round/>
            </a:ln>
          </p:spPr>
        </p:sp>
        <p:sp>
          <p:nvSpPr>
            <p:cNvPr id="37" name="Átomo C_2"/>
            <p:cNvSpPr/>
            <p:nvPr/>
          </p:nvSpPr>
          <p:spPr>
            <a:xfrm>
              <a:off x="954428" y="1815804"/>
              <a:ext cx="214294" cy="21429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47_2"/>
            <p:cNvSpPr/>
            <p:nvPr/>
          </p:nvSpPr>
          <p:spPr>
            <a:xfrm>
              <a:off x="1061575" y="1922950"/>
              <a:ext cx="268815" cy="275889"/>
            </a:xfrm>
            <a:custGeom>
              <a:avLst/>
              <a:gdLst/>
              <a:ahLst/>
              <a:cxnLst/>
              <a:rect l="0" t="0" r="r" b="b"/>
              <a:pathLst>
                <a:path w="293" h="301" fill="none">
                  <a:moveTo>
                    <a:pt x="293" y="301"/>
                  </a:moveTo>
                  <a:lnTo>
                    <a:pt x="0" y="0"/>
                  </a:lnTo>
                </a:path>
              </a:pathLst>
            </a:custGeom>
            <a:noFill/>
            <a:ln w="31251" cap="rnd">
              <a:solidFill>
                <a:srgbClr val="9A9A9A"/>
              </a:solidFill>
              <a:round/>
            </a:ln>
          </p:spPr>
        </p:sp>
        <p:sp>
          <p:nvSpPr>
            <p:cNvPr id="39" name="Flecha 49_2"/>
            <p:cNvSpPr/>
            <p:nvPr/>
          </p:nvSpPr>
          <p:spPr>
            <a:xfrm>
              <a:off x="1061575" y="1588292"/>
              <a:ext cx="137643" cy="334659"/>
            </a:xfrm>
            <a:custGeom>
              <a:avLst/>
              <a:gdLst/>
              <a:ahLst/>
              <a:cxnLst/>
              <a:rect l="0" t="0" r="r" b="b"/>
              <a:pathLst>
                <a:path w="150" h="365" fill="none">
                  <a:moveTo>
                    <a:pt x="0" y="365"/>
                  </a:moveTo>
                  <a:lnTo>
                    <a:pt x="150" y="0"/>
                  </a:lnTo>
                </a:path>
              </a:pathLst>
            </a:custGeom>
            <a:noFill/>
            <a:ln w="31251" cap="rnd">
              <a:solidFill>
                <a:srgbClr val="9A9A9A"/>
              </a:solidFill>
              <a:round/>
            </a:ln>
          </p:spPr>
        </p:sp>
        <p:sp>
          <p:nvSpPr>
            <p:cNvPr id="40" name="Átomo C_3"/>
            <p:cNvSpPr/>
            <p:nvPr/>
          </p:nvSpPr>
          <p:spPr>
            <a:xfrm>
              <a:off x="1678144" y="1655225"/>
              <a:ext cx="214524" cy="2145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1" name="Átomo C_4"/>
            <p:cNvSpPr/>
            <p:nvPr/>
          </p:nvSpPr>
          <p:spPr>
            <a:xfrm>
              <a:off x="1223045" y="2091495"/>
              <a:ext cx="214690" cy="2146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2" name="Átomo O_4"/>
            <p:cNvSpPr/>
            <p:nvPr/>
          </p:nvSpPr>
          <p:spPr>
            <a:xfrm>
              <a:off x="1097985" y="1487059"/>
              <a:ext cx="202465" cy="20246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3" name="Flecha 54_2"/>
            <p:cNvSpPr/>
            <p:nvPr/>
          </p:nvSpPr>
          <p:spPr>
            <a:xfrm>
              <a:off x="1785406" y="1762487"/>
              <a:ext cx="195151" cy="73198"/>
            </a:xfrm>
            <a:custGeom>
              <a:avLst/>
              <a:gdLst/>
              <a:ahLst/>
              <a:cxnLst/>
              <a:rect l="0" t="0" r="r" b="b"/>
              <a:pathLst>
                <a:path w="213" h="80" fill="none">
                  <a:moveTo>
                    <a:pt x="0" y="0"/>
                  </a:moveTo>
                  <a:lnTo>
                    <a:pt x="213" y="80"/>
                  </a:lnTo>
                </a:path>
              </a:pathLst>
            </a:custGeom>
            <a:noFill/>
            <a:ln w="31251" cap="rnd">
              <a:solidFill>
                <a:srgbClr val="9A9A9A"/>
              </a:solidFill>
              <a:round/>
            </a:ln>
          </p:spPr>
        </p:sp>
        <p:sp>
          <p:nvSpPr>
            <p:cNvPr id="44" name="Flecha 56_2"/>
            <p:cNvSpPr/>
            <p:nvPr/>
          </p:nvSpPr>
          <p:spPr>
            <a:xfrm>
              <a:off x="1508981" y="1564144"/>
              <a:ext cx="276425" cy="198343"/>
            </a:xfrm>
            <a:custGeom>
              <a:avLst/>
              <a:gdLst/>
              <a:ahLst/>
              <a:cxnLst/>
              <a:rect l="0" t="0" r="r" b="b"/>
              <a:pathLst>
                <a:path w="302" h="216" fill="none">
                  <a:moveTo>
                    <a:pt x="0" y="0"/>
                  </a:moveTo>
                  <a:lnTo>
                    <a:pt x="302" y="216"/>
                  </a:lnTo>
                </a:path>
              </a:pathLst>
            </a:custGeom>
            <a:noFill/>
            <a:ln w="31251" cap="rnd">
              <a:solidFill>
                <a:srgbClr val="9A9A9A"/>
              </a:solidFill>
              <a:round/>
            </a:ln>
          </p:spPr>
        </p:sp>
        <p:sp>
          <p:nvSpPr>
            <p:cNvPr id="45" name="Flecha 58_2"/>
            <p:cNvSpPr/>
            <p:nvPr/>
          </p:nvSpPr>
          <p:spPr>
            <a:xfrm>
              <a:off x="1199218" y="1564144"/>
              <a:ext cx="309763" cy="24148"/>
            </a:xfrm>
            <a:custGeom>
              <a:avLst/>
              <a:gdLst/>
              <a:ahLst/>
              <a:cxnLst/>
              <a:rect l="0" t="0" r="r" b="b"/>
              <a:pathLst>
                <a:path w="338" h="26" fill="none">
                  <a:moveTo>
                    <a:pt x="0" y="26"/>
                  </a:moveTo>
                  <a:lnTo>
                    <a:pt x="338" y="0"/>
                  </a:lnTo>
                </a:path>
              </a:pathLst>
            </a:custGeom>
            <a:noFill/>
            <a:ln w="31251" cap="rnd">
              <a:solidFill>
                <a:srgbClr val="9A9A9A"/>
              </a:solidFill>
              <a:round/>
            </a:ln>
          </p:spPr>
        </p:sp>
        <p:sp>
          <p:nvSpPr>
            <p:cNvPr id="46" name="Flecha 60_2"/>
            <p:cNvSpPr/>
            <p:nvPr/>
          </p:nvSpPr>
          <p:spPr>
            <a:xfrm>
              <a:off x="791768" y="1922950"/>
              <a:ext cx="269806" cy="50860"/>
            </a:xfrm>
            <a:custGeom>
              <a:avLst/>
              <a:gdLst/>
              <a:ahLst/>
              <a:cxnLst/>
              <a:rect l="0" t="0" r="r" b="b"/>
              <a:pathLst>
                <a:path w="295" h="55" fill="none">
                  <a:moveTo>
                    <a:pt x="0" y="55"/>
                  </a:moveTo>
                  <a:lnTo>
                    <a:pt x="295" y="0"/>
                  </a:lnTo>
                </a:path>
              </a:pathLst>
            </a:custGeom>
            <a:noFill/>
            <a:ln w="31251" cap="rnd">
              <a:solidFill>
                <a:srgbClr val="9A9A9A"/>
              </a:solidFill>
              <a:round/>
            </a:ln>
          </p:spPr>
        </p:sp>
        <p:sp>
          <p:nvSpPr>
            <p:cNvPr id="47" name="Flecha 62_2"/>
            <p:cNvSpPr/>
            <p:nvPr/>
          </p:nvSpPr>
          <p:spPr>
            <a:xfrm>
              <a:off x="1330389" y="2198839"/>
              <a:ext cx="62458" cy="64038"/>
            </a:xfrm>
            <a:custGeom>
              <a:avLst/>
              <a:gdLst/>
              <a:ahLst/>
              <a:cxnLst/>
              <a:rect l="0" t="0" r="r" b="b"/>
              <a:pathLst>
                <a:path w="68" h="70" fill="none">
                  <a:moveTo>
                    <a:pt x="0" y="0"/>
                  </a:moveTo>
                  <a:lnTo>
                    <a:pt x="68" y="70"/>
                  </a:lnTo>
                </a:path>
              </a:pathLst>
            </a:custGeom>
            <a:noFill/>
            <a:ln w="31251" cap="rnd">
              <a:solidFill>
                <a:srgbClr val="9A9A9A"/>
              </a:solidFill>
              <a:round/>
            </a:ln>
          </p:spPr>
        </p:sp>
        <p:sp>
          <p:nvSpPr>
            <p:cNvPr id="48" name="Átomo H_6"/>
            <p:cNvSpPr/>
            <p:nvPr/>
          </p:nvSpPr>
          <p:spPr>
            <a:xfrm>
              <a:off x="1914911" y="1770039"/>
              <a:ext cx="131292" cy="13129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9" name="Átomo C_5"/>
            <p:cNvSpPr/>
            <p:nvPr/>
          </p:nvSpPr>
          <p:spPr>
            <a:xfrm>
              <a:off x="1399517" y="1454680"/>
              <a:ext cx="218929" cy="2189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Flecha 66_2"/>
            <p:cNvSpPr/>
            <p:nvPr/>
          </p:nvSpPr>
          <p:spPr>
            <a:xfrm>
              <a:off x="1508981" y="1297291"/>
              <a:ext cx="63740" cy="266853"/>
            </a:xfrm>
            <a:custGeom>
              <a:avLst/>
              <a:gdLst/>
              <a:ahLst/>
              <a:cxnLst/>
              <a:rect l="0" t="0" r="r" b="b"/>
              <a:pathLst>
                <a:path w="69" h="291" fill="none">
                  <a:moveTo>
                    <a:pt x="0" y="291"/>
                  </a:moveTo>
                  <a:lnTo>
                    <a:pt x="69" y="0"/>
                  </a:lnTo>
                </a:path>
              </a:pathLst>
            </a:custGeom>
            <a:noFill/>
            <a:ln w="31251" cap="rnd">
              <a:solidFill>
                <a:srgbClr val="9A9A9A"/>
              </a:solidFill>
              <a:round/>
            </a:ln>
          </p:spPr>
        </p:sp>
        <p:sp>
          <p:nvSpPr>
            <p:cNvPr id="51" name="Átomo H_7"/>
            <p:cNvSpPr/>
            <p:nvPr/>
          </p:nvSpPr>
          <p:spPr>
            <a:xfrm>
              <a:off x="1506996" y="1231566"/>
              <a:ext cx="131449" cy="13144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2" name="Átomo O_5"/>
            <p:cNvSpPr/>
            <p:nvPr/>
          </p:nvSpPr>
          <p:spPr>
            <a:xfrm>
              <a:off x="404609" y="1663246"/>
              <a:ext cx="206608" cy="20660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3" name="Flecha 70_2"/>
            <p:cNvSpPr/>
            <p:nvPr/>
          </p:nvSpPr>
          <p:spPr>
            <a:xfrm>
              <a:off x="507913" y="1766550"/>
              <a:ext cx="283855" cy="207261"/>
            </a:xfrm>
            <a:custGeom>
              <a:avLst/>
              <a:gdLst/>
              <a:ahLst/>
              <a:cxnLst/>
              <a:rect l="0" t="0" r="r" b="b"/>
              <a:pathLst>
                <a:path w="310" h="226" fill="none">
                  <a:moveTo>
                    <a:pt x="0" y="0"/>
                  </a:moveTo>
                  <a:lnTo>
                    <a:pt x="310" y="226"/>
                  </a:lnTo>
                </a:path>
              </a:pathLst>
            </a:custGeom>
            <a:noFill/>
            <a:ln w="31251" cap="rnd">
              <a:solidFill>
                <a:srgbClr val="9A9A9A"/>
              </a:solidFill>
              <a:round/>
            </a:ln>
          </p:spPr>
        </p:sp>
        <p:sp>
          <p:nvSpPr>
            <p:cNvPr id="54" name="Flecha 72_2"/>
            <p:cNvSpPr/>
            <p:nvPr/>
          </p:nvSpPr>
          <p:spPr>
            <a:xfrm>
              <a:off x="704708" y="1973811"/>
              <a:ext cx="87060" cy="259257"/>
            </a:xfrm>
            <a:custGeom>
              <a:avLst/>
              <a:gdLst/>
              <a:ahLst/>
              <a:cxnLst/>
              <a:rect l="0" t="0" r="r" b="b"/>
              <a:pathLst>
                <a:path w="95" h="283" fill="none">
                  <a:moveTo>
                    <a:pt x="95" y="0"/>
                  </a:moveTo>
                  <a:lnTo>
                    <a:pt x="0" y="283"/>
                  </a:lnTo>
                </a:path>
              </a:pathLst>
            </a:custGeom>
            <a:noFill/>
            <a:ln w="31251" cap="rnd">
              <a:solidFill>
                <a:srgbClr val="9A9A9A"/>
              </a:solidFill>
              <a:round/>
            </a:ln>
          </p:spPr>
        </p:sp>
        <p:sp>
          <p:nvSpPr>
            <p:cNvPr id="55" name="Átomo C_6"/>
            <p:cNvSpPr/>
            <p:nvPr/>
          </p:nvSpPr>
          <p:spPr>
            <a:xfrm>
              <a:off x="681380" y="1863422"/>
              <a:ext cx="220778" cy="2207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6" name="Átomo H_8"/>
            <p:cNvSpPr/>
            <p:nvPr/>
          </p:nvSpPr>
          <p:spPr>
            <a:xfrm>
              <a:off x="638441" y="2166801"/>
              <a:ext cx="132534" cy="1325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7" name="Átomo H_9"/>
            <p:cNvSpPr/>
            <p:nvPr/>
          </p:nvSpPr>
          <p:spPr>
            <a:xfrm>
              <a:off x="1326568" y="2196599"/>
              <a:ext cx="132557" cy="13255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8" name="Flecha 77_2"/>
            <p:cNvSpPr/>
            <p:nvPr/>
          </p:nvSpPr>
          <p:spPr>
            <a:xfrm>
              <a:off x="382891" y="1746380"/>
              <a:ext cx="125022" cy="20169"/>
            </a:xfrm>
            <a:custGeom>
              <a:avLst/>
              <a:gdLst/>
              <a:ahLst/>
              <a:cxnLst/>
              <a:rect l="0" t="0" r="r" b="b"/>
              <a:pathLst>
                <a:path w="136" h="22" fill="none">
                  <a:moveTo>
                    <a:pt x="136" y="22"/>
                  </a:moveTo>
                  <a:lnTo>
                    <a:pt x="0" y="0"/>
                  </a:lnTo>
                </a:path>
              </a:pathLst>
            </a:custGeom>
            <a:noFill/>
            <a:ln w="31251" cap="rnd">
              <a:solidFill>
                <a:srgbClr val="9A9A9A"/>
              </a:solidFill>
              <a:round/>
            </a:ln>
          </p:spPr>
        </p:sp>
        <p:sp>
          <p:nvSpPr>
            <p:cNvPr id="59" name="Flecha 79_2"/>
            <p:cNvSpPr/>
            <p:nvPr/>
          </p:nvSpPr>
          <p:spPr>
            <a:xfrm>
              <a:off x="1473510" y="1564144"/>
              <a:ext cx="35471" cy="109887"/>
            </a:xfrm>
            <a:custGeom>
              <a:avLst/>
              <a:gdLst/>
              <a:ahLst/>
              <a:cxnLst/>
              <a:rect l="0" t="0" r="r" b="b"/>
              <a:pathLst>
                <a:path w="38" h="120" fill="none">
                  <a:moveTo>
                    <a:pt x="38" y="0"/>
                  </a:moveTo>
                  <a:lnTo>
                    <a:pt x="0" y="120"/>
                  </a:lnTo>
                </a:path>
              </a:pathLst>
            </a:custGeom>
            <a:noFill/>
            <a:ln w="31251" cap="rnd">
              <a:solidFill>
                <a:srgbClr val="9A9A9A"/>
              </a:solidFill>
              <a:round/>
            </a:ln>
          </p:spPr>
        </p:sp>
        <p:sp>
          <p:nvSpPr>
            <p:cNvPr id="60" name="Flecha 81_2"/>
            <p:cNvSpPr/>
            <p:nvPr/>
          </p:nvSpPr>
          <p:spPr>
            <a:xfrm>
              <a:off x="791768" y="1904437"/>
              <a:ext cx="93583" cy="69374"/>
            </a:xfrm>
            <a:custGeom>
              <a:avLst/>
              <a:gdLst/>
              <a:ahLst/>
              <a:cxnLst/>
              <a:rect l="0" t="0" r="r" b="b"/>
              <a:pathLst>
                <a:path w="102" h="75" fill="none">
                  <a:moveTo>
                    <a:pt x="0" y="75"/>
                  </a:moveTo>
                  <a:lnTo>
                    <a:pt x="102" y="0"/>
                  </a:lnTo>
                </a:path>
              </a:pathLst>
            </a:custGeom>
            <a:noFill/>
            <a:ln w="31251" cap="rnd">
              <a:solidFill>
                <a:srgbClr val="9A9A9A"/>
              </a:solidFill>
              <a:round/>
            </a:ln>
          </p:spPr>
        </p:sp>
        <p:sp>
          <p:nvSpPr>
            <p:cNvPr id="61" name="Átomo H_10"/>
            <p:cNvSpPr/>
            <p:nvPr/>
          </p:nvSpPr>
          <p:spPr>
            <a:xfrm>
              <a:off x="315650" y="1679139"/>
              <a:ext cx="134482" cy="13448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2" name="Átomo H_11"/>
            <p:cNvSpPr/>
            <p:nvPr/>
          </p:nvSpPr>
          <p:spPr>
            <a:xfrm>
              <a:off x="817331" y="1836417"/>
              <a:ext cx="136040" cy="1360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3" name="Átomo O_6"/>
            <p:cNvSpPr/>
            <p:nvPr/>
          </p:nvSpPr>
          <p:spPr>
            <a:xfrm>
              <a:off x="1366490" y="1567011"/>
              <a:ext cx="214039" cy="21403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4" name="Flecha 86_2"/>
            <p:cNvSpPr/>
            <p:nvPr/>
          </p:nvSpPr>
          <p:spPr>
            <a:xfrm>
              <a:off x="1473510" y="1578497"/>
              <a:ext cx="192594" cy="95534"/>
            </a:xfrm>
            <a:custGeom>
              <a:avLst/>
              <a:gdLst/>
              <a:ahLst/>
              <a:cxnLst/>
              <a:rect l="0" t="0" r="r" b="b"/>
              <a:pathLst>
                <a:path w="210" h="104" fill="none">
                  <a:moveTo>
                    <a:pt x="0" y="104"/>
                  </a:moveTo>
                  <a:lnTo>
                    <a:pt x="210" y="0"/>
                  </a:lnTo>
                </a:path>
              </a:pathLst>
            </a:custGeom>
            <a:noFill/>
            <a:ln w="31251" cap="rnd">
              <a:solidFill>
                <a:srgbClr val="9A9A9A"/>
              </a:solidFill>
              <a:round/>
            </a:ln>
          </p:spPr>
        </p:sp>
        <p:sp>
          <p:nvSpPr>
            <p:cNvPr id="65" name="Átomo H_12"/>
            <p:cNvSpPr/>
            <p:nvPr/>
          </p:nvSpPr>
          <p:spPr>
            <a:xfrm>
              <a:off x="1597094" y="1509487"/>
              <a:ext cx="138019" cy="13801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66" name="Agua 3D"/>
          <p:cNvGrpSpPr/>
          <p:nvPr/>
        </p:nvGrpSpPr>
        <p:grpSpPr>
          <a:xfrm>
            <a:off x="274320" y="4395719"/>
            <a:ext cx="1645920" cy="912597"/>
            <a:chOff x="274320" y="4395719"/>
            <a:chExt cx="1645920" cy="912597"/>
          </a:xfrm>
        </p:grpSpPr>
        <p:sp>
          <p:nvSpPr>
            <p:cNvPr id="67" name="Flecha 90_2"/>
            <p:cNvSpPr/>
            <p:nvPr/>
          </p:nvSpPr>
          <p:spPr>
            <a:xfrm>
              <a:off x="1065096" y="4495534"/>
              <a:ext cx="291530" cy="194303"/>
            </a:xfrm>
            <a:custGeom>
              <a:avLst/>
              <a:gdLst/>
              <a:ahLst/>
              <a:cxnLst/>
              <a:rect l="0" t="0" r="r" b="b"/>
              <a:pathLst>
                <a:path w="318" h="212" fill="none">
                  <a:moveTo>
                    <a:pt x="0" y="212"/>
                  </a:moveTo>
                  <a:lnTo>
                    <a:pt x="318" y="0"/>
                  </a:lnTo>
                </a:path>
              </a:pathLst>
            </a:custGeom>
            <a:noFill/>
            <a:ln w="45202" cap="rnd">
              <a:solidFill>
                <a:srgbClr val="9A9A9A"/>
              </a:solidFill>
              <a:round/>
            </a:ln>
          </p:spPr>
        </p:sp>
        <p:sp>
          <p:nvSpPr>
            <p:cNvPr id="68" name="Átomo H_13"/>
            <p:cNvSpPr/>
            <p:nvPr/>
          </p:nvSpPr>
          <p:spPr>
            <a:xfrm>
              <a:off x="1268110" y="4407019"/>
              <a:ext cx="177031" cy="17703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9" name="Átomo O_7"/>
            <p:cNvSpPr/>
            <p:nvPr/>
          </p:nvSpPr>
          <p:spPr>
            <a:xfrm>
              <a:off x="925391" y="4550133"/>
              <a:ext cx="279410" cy="27941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0" name="Flecha 94_2"/>
            <p:cNvSpPr/>
            <p:nvPr/>
          </p:nvSpPr>
          <p:spPr>
            <a:xfrm>
              <a:off x="837934" y="4495534"/>
              <a:ext cx="227162" cy="194303"/>
            </a:xfrm>
            <a:custGeom>
              <a:avLst/>
              <a:gdLst/>
              <a:ahLst/>
              <a:cxnLst/>
              <a:rect l="0" t="0" r="r" b="b"/>
              <a:pathLst>
                <a:path w="248" h="212" fill="none">
                  <a:moveTo>
                    <a:pt x="248" y="212"/>
                  </a:moveTo>
                  <a:lnTo>
                    <a:pt x="0" y="0"/>
                  </a:lnTo>
                </a:path>
              </a:pathLst>
            </a:custGeom>
            <a:noFill/>
            <a:ln w="45202" cap="rnd">
              <a:solidFill>
                <a:srgbClr val="9A9A9A"/>
              </a:solidFill>
              <a:round/>
            </a:ln>
          </p:spPr>
        </p:sp>
        <p:sp>
          <p:nvSpPr>
            <p:cNvPr id="71" name="Átomo H_14"/>
            <p:cNvSpPr/>
            <p:nvPr/>
          </p:nvSpPr>
          <p:spPr>
            <a:xfrm>
              <a:off x="738119" y="4395719"/>
              <a:ext cx="199630" cy="19963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2" name="Forma 97"/>
            <p:cNvSpPr txBox="1"/>
            <p:nvPr/>
          </p:nvSpPr>
          <p:spPr>
            <a:xfrm>
              <a:off x="274320" y="4997420"/>
              <a:ext cx="164592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H₂O</a:t>
              </a:r>
              <a:endParaRPr lang="es-AR" sz="1300" dirty="0">
                <a:latin typeface="Fira Sans Condensed"/>
              </a:endParaRPr>
            </a:p>
          </p:txBody>
        </p:sp>
      </p:grpSp>
      <p:sp>
        <p:nvSpPr>
          <p:cNvPr id="7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89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Paciente caso 12" descr="Ilustración biomédica (Servier Medical Art, CC BY)"/>
          <p:cNvPicPr>
            <a:picLocks noChangeAspect="1"/>
          </p:cNvPicPr>
          <p:nvPr/>
        </p:nvPicPr>
        <p:blipFill>
          <a:blip r:embed="rId2"/>
          <a:stretch>
            <a:fillRect/>
          </a:stretch>
        </p:blipFill>
        <p:spPr>
          <a:xfrm>
            <a:off x="457200" y="1051560"/>
            <a:ext cx="2920724" cy="5303520"/>
          </a:xfrm>
          <a:prstGeom prst="rect">
            <a:avLst/>
          </a:prstGeom>
        </p:spPr>
      </p:pic>
      <p:grpSp>
        <p:nvGrpSpPr>
          <p:cNvPr id="7" name="Dato VARÓN DE 53 AÑOS"/>
          <p:cNvGrpSpPr/>
          <p:nvPr/>
        </p:nvGrpSpPr>
        <p:grpSpPr>
          <a:xfrm>
            <a:off x="3657600" y="1051560"/>
            <a:ext cx="8183880" cy="868680"/>
            <a:chOff x="3657600" y="1051560"/>
            <a:chExt cx="8183880" cy="868680"/>
          </a:xfrm>
        </p:grpSpPr>
        <p:sp>
          <p:nvSpPr>
            <p:cNvPr id="8" name="Recuadro VARÓN DE 53 AÑOS"/>
            <p:cNvSpPr/>
            <p:nvPr/>
          </p:nvSpPr>
          <p:spPr>
            <a:xfrm>
              <a:off x="3657600" y="1051560"/>
              <a:ext cx="274320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VARÓN DE 53 AÑOS</a:t>
              </a:r>
              <a:endParaRPr lang="es-AR" sz="1400" dirty="0">
                <a:latin typeface="Fira Sans Condensed"/>
              </a:endParaRPr>
            </a:p>
          </p:txBody>
        </p:sp>
        <p:sp>
          <p:nvSpPr>
            <p:cNvPr id="9" name="Forma 8"/>
            <p:cNvSpPr/>
            <p:nvPr/>
          </p:nvSpPr>
          <p:spPr>
            <a:xfrm>
              <a:off x="6537960" y="1051560"/>
              <a:ext cx="53035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Obesidad · HTA · tabaquismo · sedentarismo · estrés psicosocial (despido laboral)</a:t>
              </a:r>
              <a:endParaRPr lang="es-AR" sz="1500" dirty="0">
                <a:latin typeface="Fira Sans Condensed"/>
              </a:endParaRPr>
            </a:p>
          </p:txBody>
        </p:sp>
      </p:grpSp>
      <p:grpSp>
        <p:nvGrpSpPr>
          <p:cNvPr id="10" name="Dato CONCIENCIA"/>
          <p:cNvGrpSpPr/>
          <p:nvPr/>
        </p:nvGrpSpPr>
        <p:grpSpPr>
          <a:xfrm>
            <a:off x="3657600" y="2103120"/>
            <a:ext cx="8183880" cy="868680"/>
            <a:chOff x="3657600" y="2103120"/>
            <a:chExt cx="8183880" cy="868680"/>
          </a:xfrm>
        </p:grpSpPr>
        <p:sp>
          <p:nvSpPr>
            <p:cNvPr id="11" name="Recuadro CONCIENCIA"/>
            <p:cNvSpPr/>
            <p:nvPr/>
          </p:nvSpPr>
          <p:spPr>
            <a:xfrm>
              <a:off x="3657600" y="2103120"/>
              <a:ext cx="2743200" cy="8686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CONCIENCIA</a:t>
              </a:r>
              <a:endParaRPr lang="es-AR" sz="1400" dirty="0">
                <a:latin typeface="Fira Sans Condensed"/>
              </a:endParaRPr>
            </a:p>
          </p:txBody>
        </p:sp>
        <p:sp>
          <p:nvSpPr>
            <p:cNvPr id="12" name="Forma 11"/>
            <p:cNvSpPr/>
            <p:nvPr/>
          </p:nvSpPr>
          <p:spPr>
            <a:xfrm>
              <a:off x="6537960" y="2103120"/>
              <a:ext cx="53035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Alteración aguda: </a:t>
              </a:r>
              <a:r>
                <a:rPr lang="es-AR" sz="1500" b="1" dirty="0">
                  <a:solidFill>
                    <a:srgbClr val="1E1E1E"/>
                  </a:solidFill>
                  <a:latin typeface="Fira Sans Condensed"/>
                  <a:ea typeface="Fira Sans Condensed"/>
                  <a:cs typeface="Fira Sans Condensed"/>
                  <a:sym typeface="Fira Sans Condensed"/>
                </a:rPr>
                <a:t>Glasgow 7/15</a:t>
              </a:r>
              <a:endParaRPr lang="es-AR" sz="1500" dirty="0">
                <a:latin typeface="Fira Sans Condensed"/>
              </a:endParaRPr>
            </a:p>
          </p:txBody>
        </p:sp>
      </p:grpSp>
      <p:grpSp>
        <p:nvGrpSpPr>
          <p:cNvPr id="13" name="Dato HEMODINAMIA"/>
          <p:cNvGrpSpPr/>
          <p:nvPr/>
        </p:nvGrpSpPr>
        <p:grpSpPr>
          <a:xfrm>
            <a:off x="3657600" y="3154680"/>
            <a:ext cx="8183880" cy="868680"/>
            <a:chOff x="3657600" y="3154680"/>
            <a:chExt cx="8183880" cy="868680"/>
          </a:xfrm>
        </p:grpSpPr>
        <p:sp>
          <p:nvSpPr>
            <p:cNvPr id="14" name="Recuadro HEMODINAMIA"/>
            <p:cNvSpPr/>
            <p:nvPr/>
          </p:nvSpPr>
          <p:spPr>
            <a:xfrm>
              <a:off x="3657600" y="3154680"/>
              <a:ext cx="274320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HEMODINAMIA</a:t>
              </a:r>
              <a:endParaRPr lang="es-AR" sz="1400" dirty="0">
                <a:latin typeface="Fira Sans Condensed"/>
              </a:endParaRPr>
            </a:p>
          </p:txBody>
        </p:sp>
        <p:sp>
          <p:nvSpPr>
            <p:cNvPr id="15" name="Forma 14"/>
            <p:cNvSpPr/>
            <p:nvPr/>
          </p:nvSpPr>
          <p:spPr>
            <a:xfrm>
              <a:off x="6537960" y="3154680"/>
              <a:ext cx="53035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Hipotensión </a:t>
              </a:r>
              <a:r>
                <a:rPr lang="es-AR" sz="1500" b="1" dirty="0">
                  <a:solidFill>
                    <a:srgbClr val="1E1E1E"/>
                  </a:solidFill>
                  <a:latin typeface="Fira Sans Condensed"/>
                  <a:ea typeface="Fira Sans Condensed"/>
                  <a:cs typeface="Fira Sans Condensed"/>
                  <a:sym typeface="Fira Sans Condensed"/>
                </a:rPr>
                <a:t>90/55 mmHg</a:t>
              </a:r>
              <a:r>
                <a:rPr lang="es-AR" sz="1500" dirty="0">
                  <a:solidFill>
                    <a:srgbClr val="1E1E1E"/>
                  </a:solidFill>
                  <a:latin typeface="Fira Sans Condensed"/>
                  <a:ea typeface="Fira Sans Condensed"/>
                  <a:cs typeface="Fira Sans Condensed"/>
                  <a:sym typeface="Fira Sans Condensed"/>
                </a:rPr>
                <a:t> · taquicardia </a:t>
              </a:r>
              <a:r>
                <a:rPr lang="es-AR" sz="1500" b="1" dirty="0">
                  <a:solidFill>
                    <a:srgbClr val="1E1E1E"/>
                  </a:solidFill>
                  <a:latin typeface="Fira Sans Condensed"/>
                  <a:ea typeface="Fira Sans Condensed"/>
                  <a:cs typeface="Fira Sans Condensed"/>
                  <a:sym typeface="Fira Sans Condensed"/>
                </a:rPr>
                <a:t>120 lpm</a:t>
              </a:r>
              <a:endParaRPr lang="es-AR" sz="1500" dirty="0">
                <a:latin typeface="Fira Sans Condensed"/>
              </a:endParaRPr>
            </a:p>
          </p:txBody>
        </p:sp>
      </p:grpSp>
      <p:grpSp>
        <p:nvGrpSpPr>
          <p:cNvPr id="16" name="Dato DESHIDRATACIÓN"/>
          <p:cNvGrpSpPr/>
          <p:nvPr/>
        </p:nvGrpSpPr>
        <p:grpSpPr>
          <a:xfrm>
            <a:off x="3657600" y="4206240"/>
            <a:ext cx="8183880" cy="868680"/>
            <a:chOff x="3657600" y="4206240"/>
            <a:chExt cx="8183880" cy="868680"/>
          </a:xfrm>
        </p:grpSpPr>
        <p:sp>
          <p:nvSpPr>
            <p:cNvPr id="17" name="Recuadro DESHIDRATACIÓN"/>
            <p:cNvSpPr/>
            <p:nvPr/>
          </p:nvSpPr>
          <p:spPr>
            <a:xfrm>
              <a:off x="3657600" y="4206240"/>
              <a:ext cx="2743200" cy="8686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DESHIDRATACIÓN</a:t>
              </a:r>
              <a:endParaRPr lang="es-AR" sz="1400" dirty="0">
                <a:latin typeface="Fira Sans Condensed"/>
              </a:endParaRPr>
            </a:p>
          </p:txBody>
        </p:sp>
        <p:sp>
          <p:nvSpPr>
            <p:cNvPr id="18" name="Forma 17"/>
            <p:cNvSpPr/>
            <p:nvPr/>
          </p:nvSpPr>
          <p:spPr>
            <a:xfrm>
              <a:off x="6537960" y="4206240"/>
              <a:ext cx="53035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Mucosas secas · </a:t>
              </a:r>
              <a:r>
                <a:rPr lang="es-AR" sz="1500" b="1" dirty="0">
                  <a:solidFill>
                    <a:srgbClr val="1E1E1E"/>
                  </a:solidFill>
                  <a:latin typeface="Fira Sans Condensed"/>
                  <a:ea typeface="Fira Sans Condensed"/>
                  <a:cs typeface="Fira Sans Condensed"/>
                  <a:sym typeface="Fira Sans Condensed"/>
                </a:rPr>
                <a:t>signo del pliegue</a:t>
              </a:r>
              <a:r>
                <a:rPr lang="es-AR" sz="1500" dirty="0">
                  <a:solidFill>
                    <a:srgbClr val="1E1E1E"/>
                  </a:solidFill>
                  <a:latin typeface="Fira Sans Condensed"/>
                  <a:ea typeface="Fira Sans Condensed"/>
                  <a:cs typeface="Fira Sans Condensed"/>
                  <a:sym typeface="Fira Sans Condensed"/>
                </a:rPr>
                <a:t> positivo</a:t>
              </a:r>
              <a:endParaRPr lang="es-AR" sz="1500" dirty="0">
                <a:latin typeface="Fira Sans Condensed"/>
              </a:endParaRPr>
            </a:p>
          </p:txBody>
        </p:sp>
      </p:grpSp>
      <p:grpSp>
        <p:nvGrpSpPr>
          <p:cNvPr id="19" name="Dato ANTECEDENTES"/>
          <p:cNvGrpSpPr/>
          <p:nvPr/>
        </p:nvGrpSpPr>
        <p:grpSpPr>
          <a:xfrm>
            <a:off x="3657600" y="5257800"/>
            <a:ext cx="8183880" cy="868680"/>
            <a:chOff x="3657600" y="5257800"/>
            <a:chExt cx="8183880" cy="868680"/>
          </a:xfrm>
        </p:grpSpPr>
        <p:sp>
          <p:nvSpPr>
            <p:cNvPr id="20" name="Recuadro ANTECEDENTES"/>
            <p:cNvSpPr/>
            <p:nvPr/>
          </p:nvSpPr>
          <p:spPr>
            <a:xfrm>
              <a:off x="3657600" y="5257800"/>
              <a:ext cx="2743200" cy="86868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ANTECEDENTES</a:t>
              </a:r>
              <a:endParaRPr lang="es-AR" sz="1400" dirty="0">
                <a:latin typeface="Fira Sans Condensed"/>
              </a:endParaRPr>
            </a:p>
          </p:txBody>
        </p:sp>
        <p:sp>
          <p:nvSpPr>
            <p:cNvPr id="21" name="Forma 20"/>
            <p:cNvSpPr/>
            <p:nvPr/>
          </p:nvSpPr>
          <p:spPr>
            <a:xfrm>
              <a:off x="6537960" y="5257800"/>
              <a:ext cx="53035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b="1" dirty="0">
                  <a:solidFill>
                    <a:srgbClr val="1E1E1E"/>
                  </a:solidFill>
                  <a:latin typeface="Fira Sans Condensed"/>
                  <a:ea typeface="Fira Sans Condensed"/>
                  <a:cs typeface="Fira Sans Condensed"/>
                  <a:sym typeface="Fira Sans Condensed"/>
                </a:rPr>
                <a:t>No</a:t>
              </a:r>
              <a:r>
                <a:rPr lang="es-AR" sz="1500" dirty="0">
                  <a:solidFill>
                    <a:srgbClr val="1E1E1E"/>
                  </a:solidFill>
                  <a:latin typeface="Fira Sans Condensed"/>
                  <a:ea typeface="Fira Sans Condensed"/>
                  <a:cs typeface="Fira Sans Condensed"/>
                  <a:sym typeface="Fira Sans Condensed"/>
                </a:rPr>
                <a:t> se informa diabetes previa ni medicación hipoglucemiante</a:t>
              </a:r>
              <a:endParaRPr lang="es-AR" sz="15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CASO 12 · PRESENTACIÓN CLÍNICA</a:t>
            </a:r>
            <a:endParaRPr lang="es-AR" sz="34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aphicFrame>
        <p:nvGraphicFramePr>
          <p:cNvPr id="7" name="Tabla caso 12"/>
          <p:cNvGraphicFramePr>
            <a:graphicFrameLocks noGrp="1"/>
          </p:cNvGraphicFramePr>
          <p:nvPr/>
        </p:nvGraphicFramePr>
        <p:xfrm>
          <a:off x="365760" y="1051560"/>
          <a:ext cx="6766560" cy="3429000"/>
        </p:xfrm>
        <a:graphic>
          <a:graphicData uri="http://schemas.openxmlformats.org/drawingml/2006/table">
            <a:tbl>
              <a:tblPr firstRow="1" bandRow="1"/>
              <a:tblGrid>
                <a:gridCol w="2011680"/>
                <a:gridCol w="1463040"/>
                <a:gridCol w="3291840"/>
              </a:tblGrid>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Variable</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Valor</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Inferencia</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Glucemia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683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Hiperglucemia extrema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Glucosuria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Gran carga de glucosa urinaria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Cetonemia / cetonuria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Negativas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Sin cetosis significativa detectada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Osmolalidad plasmática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325 mOsm/kg</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Hiperosmolalidad; no se aclara si total o efectiva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pH</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7,41</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Sin acidemia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HCO₃⁻</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23 mEq/L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Normal-bajo, sin acidosis importante</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pCO₂</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39 mmHg</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Aproximadamente normal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Glasgow</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7/15</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Compromiso neurológico grave</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graphicFrame>
        <p:nvGraphicFramePr>
          <p:cNvPr id="8" name="Criterios EHH"/>
          <p:cNvGraphicFramePr>
            <a:graphicFrameLocks noGrp="1"/>
          </p:cNvGraphicFramePr>
          <p:nvPr/>
        </p:nvGraphicFramePr>
        <p:xfrm>
          <a:off x="7406640" y="1051560"/>
          <a:ext cx="4434840" cy="2042160"/>
        </p:xfrm>
        <a:graphic>
          <a:graphicData uri="http://schemas.openxmlformats.org/drawingml/2006/table">
            <a:tbl>
              <a:tblPr firstRow="1" bandRow="1"/>
              <a:tblGrid>
                <a:gridCol w="2377440"/>
                <a:gridCol w="2057400"/>
              </a:tblGrid>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Criterio EHH (consenso 2024)</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4877F"/>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Caso 12</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4877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Glucosa ≥ 600 mg/dL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683 → sí</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Osm. efectiva &gt; 300 o total &gt; 320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DE2E2"/>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325 (tipo no aclarado)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DE2E2"/>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β-OHB &lt; 3,0 mmol/L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Cetonas negativas (cualitativo)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pH ≥ 7,3 y HCO₃⁻ ≥ 15</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DE2E2"/>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7,41 · 23 → sí</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DE2E2"/>
                    </a:solidFill>
                  </a:tcPr>
                </a:tc>
              </a:tr>
            </a:tbl>
          </a:graphicData>
        </a:graphic>
      </p:graphicFrame>
      <p:sp>
        <p:nvSpPr>
          <p:cNvPr id="9" name="Perla clínica"/>
          <p:cNvSpPr/>
          <p:nvPr/>
        </p:nvSpPr>
        <p:spPr>
          <a:xfrm>
            <a:off x="7406640" y="3368040"/>
            <a:ext cx="4434840" cy="14630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Patrón </a:t>
            </a:r>
            <a:r>
              <a:rPr lang="es-AR" sz="1350" b="1" dirty="0">
                <a:solidFill>
                  <a:srgbClr val="FFFFFF"/>
                </a:solidFill>
                <a:latin typeface="Fira Sans Condensed"/>
                <a:ea typeface="Fira Sans Condensed"/>
                <a:cs typeface="Fira Sans Condensed"/>
                <a:sym typeface="Fira Sans Condensed"/>
              </a:rPr>
              <a:t>altamente sugerente de EHH</a:t>
            </a:r>
            <a:r>
              <a:rPr lang="es-AR" sz="1350" dirty="0">
                <a:solidFill>
                  <a:srgbClr val="FFFFFF"/>
                </a:solidFill>
                <a:latin typeface="Fira Sans Condensed"/>
                <a:ea typeface="Fira Sans Condensed"/>
                <a:cs typeface="Fira Sans Condensed"/>
                <a:sym typeface="Fira Sans Condensed"/>
              </a:rPr>
              <a:t> (HHS), frecuente en </a:t>
            </a:r>
            <a:r>
              <a:rPr lang="es-AR" sz="1350" b="1" dirty="0">
                <a:solidFill>
                  <a:srgbClr val="FFFFFF"/>
                </a:solidFill>
                <a:latin typeface="Fira Sans Condensed"/>
                <a:ea typeface="Fira Sans Condensed"/>
                <a:cs typeface="Fira Sans Condensed"/>
                <a:sym typeface="Fira Sans Condensed"/>
              </a:rPr>
              <a:t>DM2 no diagnosticada</a:t>
            </a:r>
            <a:r>
              <a:rPr lang="es-AR" sz="1350" dirty="0">
                <a:solidFill>
                  <a:srgbClr val="FFFFFF"/>
                </a:solidFill>
                <a:latin typeface="Fira Sans Condensed"/>
                <a:ea typeface="Fira Sans Condensed"/>
                <a:cs typeface="Fira Sans Condensed"/>
                <a:sym typeface="Fira Sans Condensed"/>
              </a:rPr>
              <a:t> o descompensada. La gravedad neurológica y hemodinámica exige atención crítica.</a:t>
            </a:r>
            <a:endParaRPr lang="es-AR" sz="13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CASO 12 · LABORATORIO Y CRITERIOS</a:t>
            </a:r>
            <a:endParaRPr lang="es-AR" sz="34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1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500" fill="hold"/>
                                        <p:tgtEl>
                                          <p:spTgt spid="9"/>
                                        </p:tgtEl>
                                        <p:attrNameLst>
                                          <p:attrName>ppt_w</p:attrName>
                                        </p:attrNameLst>
                                      </p:cBhvr>
                                      <p:tavLst>
                                        <p:tav tm="0">
                                          <p:val>
                                            <p:fltVal val="0"/>
                                          </p:val>
                                        </p:tav>
                                        <p:tav tm="100000">
                                          <p:val>
                                            <p:strVal val="#ppt_w"/>
                                          </p:val>
                                        </p:tav>
                                      </p:tavLst>
                                    </p:anim>
                                    <p:anim calcmode="lin" valueType="num">
                                      <p:cBhvr>
                                        <p:cTn id="11" dur="500" fill="hold"/>
                                        <p:tgtEl>
                                          <p:spTgt spid="9"/>
                                        </p:tgtEl>
                                        <p:attrNameLst>
                                          <p:attrName>ppt_h</p:attrName>
                                        </p:attrNameLst>
                                      </p:cBhvr>
                                      <p:tavLst>
                                        <p:tav tm="0">
                                          <p:val>
                                            <p:fltVal val="0"/>
                                          </p:val>
                                        </p:tav>
                                        <p:tav tm="100000">
                                          <p:val>
                                            <p:strVal val="#ppt_h"/>
                                          </p:val>
                                        </p:tav>
                                      </p:tavLst>
                                    </p:anim>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graphicFrame>
        <p:nvGraphicFramePr>
          <p:cNvPr id="6" name="Dosis-respuesta"/>
          <p:cNvGraphicFramePr>
            <a:graphicFrameLocks noGrp="1"/>
          </p:cNvGraphicFramePr>
          <p:nvPr/>
        </p:nvGraphicFramePr>
        <p:xfrm>
          <a:off x="365760" y="1051560"/>
          <a:ext cx="6949440" cy="3931920"/>
        </p:xfrm>
        <a:graphic>
          <a:graphicData uri="http://schemas.openxmlformats.org/drawingml/2006/chart">
            <c:chart xmlns:c="http://schemas.openxmlformats.org/drawingml/2006/chart" r:id="rId2"/>
          </a:graphicData>
        </a:graphic>
      </p:graphicFrame>
      <p:sp>
        <p:nvSpPr>
          <p:cNvPr id="7" name="Zona insulina residual"/>
          <p:cNvSpPr/>
          <p:nvPr/>
        </p:nvSpPr>
        <p:spPr>
          <a:xfrm>
            <a:off x="1965960" y="1600200"/>
            <a:ext cx="1234440" cy="2743200"/>
          </a:xfrm>
          <a:prstGeom prst="rect">
            <a:avLst/>
          </a:prstGeom>
          <a:solidFill>
            <a:srgbClr val="FFC000">
              <a:alpha val="35000"/>
            </a:srgbClr>
          </a:solidFill>
          <a:ln w="25400" cap="rnd">
            <a:solidFill>
              <a:srgbClr val="C00000"/>
            </a:solidFill>
            <a:prstDash val="dash"/>
            <a:round/>
          </a:ln>
        </p:spPr>
      </p:sp>
      <p:sp>
        <p:nvSpPr>
          <p:cNvPr id="8" name="Forma 6"/>
          <p:cNvSpPr txBox="1"/>
          <p:nvPr/>
        </p:nvSpPr>
        <p:spPr>
          <a:xfrm>
            <a:off x="3246120" y="3429000"/>
            <a:ext cx="1828800" cy="45720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 insulina residual</a:t>
            </a:r>
            <a:endParaRPr lang="es-AR" sz="1200" dirty="0">
              <a:latin typeface="Fira Sans Condensed"/>
            </a:endParaRPr>
          </a:p>
          <a:p>
            <a:pPr algn="l">
              <a:spcAft>
                <a:spcPts val="300"/>
              </a:spcAft>
              <a:buNone/>
            </a:pPr>
            <a:r>
              <a:rPr lang="es-AR" sz="12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en el EHH</a:t>
            </a:r>
            <a:endParaRPr lang="es-AR" sz="1200" dirty="0">
              <a:latin typeface="Fira Sans Condensed"/>
            </a:endParaRPr>
          </a:p>
        </p:txBody>
      </p:sp>
      <p:grpSp>
        <p:nvGrpSpPr>
          <p:cNvPr id="9" name="Paso 1"/>
          <p:cNvGrpSpPr/>
          <p:nvPr/>
        </p:nvGrpSpPr>
        <p:grpSpPr>
          <a:xfrm>
            <a:off x="7589520" y="1051560"/>
            <a:ext cx="4251960" cy="576072"/>
            <a:chOff x="7589520" y="1051560"/>
            <a:chExt cx="4251960" cy="576072"/>
          </a:xfrm>
        </p:grpSpPr>
        <p:sp>
          <p:nvSpPr>
            <p:cNvPr id="10" name="Forma 8"/>
            <p:cNvSpPr/>
            <p:nvPr/>
          </p:nvSpPr>
          <p:spPr>
            <a:xfrm>
              <a:off x="7589520" y="1051560"/>
              <a:ext cx="425196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Persiste </a:t>
              </a:r>
              <a:r>
                <a:rPr lang="es-AR" sz="1350" b="1" dirty="0">
                  <a:solidFill>
                    <a:srgbClr val="1E1E1E"/>
                  </a:solidFill>
                  <a:latin typeface="Fira Sans Condensed"/>
                  <a:ea typeface="Fira Sans Condensed"/>
                  <a:cs typeface="Fira Sans Condensed"/>
                  <a:sym typeface="Fira Sans Condensed"/>
                </a:rPr>
                <a:t>secreción endógena</a:t>
              </a:r>
              <a:r>
                <a:rPr lang="es-AR" sz="1350" dirty="0">
                  <a:solidFill>
                    <a:srgbClr val="1E1E1E"/>
                  </a:solidFill>
                  <a:latin typeface="Fira Sans Condensed"/>
                  <a:ea typeface="Fira Sans Condensed"/>
                  <a:cs typeface="Fira Sans Condensed"/>
                  <a:sym typeface="Fira Sans Condensed"/>
                </a:rPr>
                <a:t>: insuficiente para la euglucemia…</a:t>
              </a:r>
              <a:endParaRPr lang="es-AR" sz="1350" dirty="0">
                <a:latin typeface="Fira Sans Condensed"/>
              </a:endParaRPr>
            </a:p>
          </p:txBody>
        </p:sp>
        <p:sp>
          <p:nvSpPr>
            <p:cNvPr id="11" name="Forma 9"/>
            <p:cNvSpPr/>
            <p:nvPr/>
          </p:nvSpPr>
          <p:spPr>
            <a:xfrm>
              <a:off x="7680960" y="116586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2" name="Paso 2"/>
          <p:cNvGrpSpPr/>
          <p:nvPr/>
        </p:nvGrpSpPr>
        <p:grpSpPr>
          <a:xfrm>
            <a:off x="7589520" y="1719072"/>
            <a:ext cx="4251960" cy="576072"/>
            <a:chOff x="7589520" y="1719072"/>
            <a:chExt cx="4251960" cy="576072"/>
          </a:xfrm>
        </p:grpSpPr>
        <p:sp>
          <p:nvSpPr>
            <p:cNvPr id="13" name="Forma 11"/>
            <p:cNvSpPr/>
            <p:nvPr/>
          </p:nvSpPr>
          <p:spPr>
            <a:xfrm>
              <a:off x="7589520" y="1719072"/>
              <a:ext cx="425196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…pero suficiente para </a:t>
              </a:r>
              <a:r>
                <a:rPr lang="es-AR" sz="1350" b="1" dirty="0">
                  <a:solidFill>
                    <a:srgbClr val="1E1E1E"/>
                  </a:solidFill>
                  <a:latin typeface="Fira Sans Condensed"/>
                  <a:ea typeface="Fira Sans Condensed"/>
                  <a:cs typeface="Fira Sans Condensed"/>
                  <a:sym typeface="Fira Sans Condensed"/>
                </a:rPr>
                <a:t>frenar la lipólisis</a:t>
              </a:r>
              <a:r>
                <a:rPr lang="es-AR" sz="1350" dirty="0">
                  <a:solidFill>
                    <a:srgbClr val="1E1E1E"/>
                  </a:solidFill>
                  <a:latin typeface="Fira Sans Condensed"/>
                  <a:ea typeface="Fira Sans Condensed"/>
                  <a:cs typeface="Fira Sans Condensed"/>
                  <a:sym typeface="Fira Sans Condensed"/>
                </a:rPr>
                <a:t> y limitar la cetogénesis.</a:t>
              </a:r>
              <a:endParaRPr lang="es-AR" sz="1350" dirty="0">
                <a:latin typeface="Fira Sans Condensed"/>
              </a:endParaRPr>
            </a:p>
          </p:txBody>
        </p:sp>
        <p:sp>
          <p:nvSpPr>
            <p:cNvPr id="14" name="Forma 12"/>
            <p:cNvSpPr/>
            <p:nvPr/>
          </p:nvSpPr>
          <p:spPr>
            <a:xfrm>
              <a:off x="7680960" y="183337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5" name="Paso 3"/>
          <p:cNvGrpSpPr/>
          <p:nvPr/>
        </p:nvGrpSpPr>
        <p:grpSpPr>
          <a:xfrm>
            <a:off x="7589520" y="2386584"/>
            <a:ext cx="4251960" cy="781812"/>
            <a:chOff x="7589520" y="2386584"/>
            <a:chExt cx="4251960" cy="781812"/>
          </a:xfrm>
        </p:grpSpPr>
        <p:sp>
          <p:nvSpPr>
            <p:cNvPr id="16" name="Forma 14"/>
            <p:cNvSpPr/>
            <p:nvPr/>
          </p:nvSpPr>
          <p:spPr>
            <a:xfrm>
              <a:off x="7589520" y="2386584"/>
              <a:ext cx="4251960" cy="7818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El umbral antilipolítico es </a:t>
              </a:r>
              <a:r>
                <a:rPr lang="es-AR" sz="1350" b="1" dirty="0">
                  <a:solidFill>
                    <a:srgbClr val="1E1E1E"/>
                  </a:solidFill>
                  <a:latin typeface="Fira Sans Condensed"/>
                  <a:ea typeface="Fira Sans Condensed"/>
                  <a:cs typeface="Fira Sans Condensed"/>
                  <a:sym typeface="Fira Sans Condensed"/>
                </a:rPr>
                <a:t>menor</a:t>
              </a:r>
              <a:r>
                <a:rPr lang="es-AR" sz="1350" dirty="0">
                  <a:solidFill>
                    <a:srgbClr val="1E1E1E"/>
                  </a:solidFill>
                  <a:latin typeface="Fira Sans Condensed"/>
                  <a:ea typeface="Fira Sans Condensed"/>
                  <a:cs typeface="Fira Sans Condensed"/>
                  <a:sym typeface="Fira Sans Condensed"/>
                </a:rPr>
                <a:t> que el necesario para normalizar captación y producción de glucosa.</a:t>
              </a:r>
              <a:endParaRPr lang="es-AR" sz="1350" dirty="0">
                <a:latin typeface="Fira Sans Condensed"/>
              </a:endParaRPr>
            </a:p>
          </p:txBody>
        </p:sp>
        <p:sp>
          <p:nvSpPr>
            <p:cNvPr id="17" name="Forma 15"/>
            <p:cNvSpPr/>
            <p:nvPr/>
          </p:nvSpPr>
          <p:spPr>
            <a:xfrm>
              <a:off x="7680960" y="260375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8" name="Paso 4"/>
          <p:cNvGrpSpPr/>
          <p:nvPr/>
        </p:nvGrpSpPr>
        <p:grpSpPr>
          <a:xfrm>
            <a:off x="7589520" y="3259836"/>
            <a:ext cx="4251960" cy="576072"/>
            <a:chOff x="7589520" y="3259836"/>
            <a:chExt cx="4251960" cy="576072"/>
          </a:xfrm>
        </p:grpSpPr>
        <p:sp>
          <p:nvSpPr>
            <p:cNvPr id="19" name="Forma 17"/>
            <p:cNvSpPr/>
            <p:nvPr/>
          </p:nvSpPr>
          <p:spPr>
            <a:xfrm>
              <a:off x="7589520" y="3259836"/>
              <a:ext cx="425196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Contribuyen glucagón, disponibilidad de AG, función renal y </a:t>
              </a:r>
              <a:r>
                <a:rPr lang="es-AR" sz="1350" b="1" dirty="0">
                  <a:solidFill>
                    <a:srgbClr val="1E1E1E"/>
                  </a:solidFill>
                  <a:latin typeface="Fira Sans Condensed"/>
                  <a:ea typeface="Fira Sans Condensed"/>
                  <a:cs typeface="Fira Sans Condensed"/>
                  <a:sym typeface="Fira Sans Condensed"/>
                </a:rPr>
                <a:t>duración</a:t>
              </a:r>
              <a:r>
                <a:rPr lang="es-AR" sz="1350" dirty="0">
                  <a:solidFill>
                    <a:srgbClr val="1E1E1E"/>
                  </a:solidFill>
                  <a:latin typeface="Fira Sans Condensed"/>
                  <a:ea typeface="Fira Sans Condensed"/>
                  <a:cs typeface="Fira Sans Condensed"/>
                  <a:sym typeface="Fira Sans Condensed"/>
                </a:rPr>
                <a:t> del proceso.</a:t>
              </a:r>
              <a:endParaRPr lang="es-AR" sz="1350" dirty="0">
                <a:latin typeface="Fira Sans Condensed"/>
              </a:endParaRPr>
            </a:p>
          </p:txBody>
        </p:sp>
        <p:sp>
          <p:nvSpPr>
            <p:cNvPr id="20" name="Forma 18"/>
            <p:cNvSpPr/>
            <p:nvPr/>
          </p:nvSpPr>
          <p:spPr>
            <a:xfrm>
              <a:off x="7680960" y="337413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21" name="Perla clínica"/>
          <p:cNvSpPr/>
          <p:nvPr/>
        </p:nvSpPr>
        <p:spPr>
          <a:xfrm>
            <a:off x="365760" y="5257800"/>
            <a:ext cx="11475720" cy="10058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No es una regla absoluta: existen </a:t>
            </a:r>
            <a:r>
              <a:rPr lang="es-AR" sz="1600" b="1" dirty="0">
                <a:solidFill>
                  <a:srgbClr val="FFFFFF"/>
                </a:solidFill>
                <a:latin typeface="Fira Sans Condensed"/>
                <a:ea typeface="Fira Sans Condensed"/>
                <a:cs typeface="Fira Sans Condensed"/>
                <a:sym typeface="Fira Sans Condensed"/>
              </a:rPr>
              <a:t>cuadros mixtos CAD/EHH</a:t>
            </a:r>
            <a:r>
              <a:rPr lang="es-AR" sz="1600" dirty="0">
                <a:solidFill>
                  <a:srgbClr val="FFFFFF"/>
                </a:solidFill>
                <a:latin typeface="Fira Sans Condensed"/>
                <a:ea typeface="Fira Sans Condensed"/>
                <a:cs typeface="Fira Sans Condensed"/>
                <a:sym typeface="Fira Sans Condensed"/>
              </a:rPr>
              <a:t> con cetosis importante e hiperosmolalidad.</a:t>
            </a:r>
            <a:endParaRPr lang="es-AR" sz="1600" dirty="0">
              <a:latin typeface="Fira Sans Condensed"/>
            </a:endParaRPr>
          </a:p>
        </p:txBody>
      </p:sp>
      <p:sp>
        <p:nvSpPr>
          <p:cNvPr id="4"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PREGUNTA 2 · ¿POR QUÉ CETONEMIA Y CETONURIA NEGATIVAS?</a:t>
            </a:r>
            <a:endParaRPr lang="es-AR" sz="25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8" fill="hold">
                      <p:stCondLst>
                        <p:cond delay="indefinite"/>
                      </p:stCondLst>
                      <p:childTnLst>
                        <p:par>
                          <p:cTn id="1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23" fill="hold">
                      <p:stCondLst>
                        <p:cond delay="indefinite"/>
                      </p:stCondLst>
                      <p:childTnLst>
                        <p:par>
                          <p:cTn id="22"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8"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33" fill="hold">
                      <p:stCondLst>
                        <p:cond delay="indefinite"/>
                      </p:stCondLst>
                      <p:childTnLst>
                        <p:par>
                          <p:cTn id="3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40" fill="hold">
                      <p:stCondLst>
                        <p:cond delay="indefinite"/>
                      </p:stCondLst>
                      <p:childTnLst>
                        <p:par>
                          <p:cTn id="39"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p:cTn id="36" dur="500" fill="hold"/>
                                        <p:tgtEl>
                                          <p:spTgt spid="21"/>
                                        </p:tgtEl>
                                        <p:attrNameLst>
                                          <p:attrName>ppt_w</p:attrName>
                                        </p:attrNameLst>
                                      </p:cBhvr>
                                      <p:tavLst>
                                        <p:tav tm="0">
                                          <p:val>
                                            <p:fltVal val="0"/>
                                          </p:val>
                                        </p:tav>
                                        <p:tav tm="100000">
                                          <p:val>
                                            <p:strVal val="#ppt_w"/>
                                          </p:val>
                                        </p:tav>
                                      </p:tavLst>
                                    </p:anim>
                                    <p:anim calcmode="lin" valueType="num">
                                      <p:cBhvr>
                                        <p:cTn id="37" dur="500" fill="hold"/>
                                        <p:tgtEl>
                                          <p:spTgt spid="21"/>
                                        </p:tgtEl>
                                        <p:attrNameLst>
                                          <p:attrName>ppt_h</p:attrName>
                                        </p:attrNameLst>
                                      </p:cBhvr>
                                      <p:tavLst>
                                        <p:tav tm="0">
                                          <p:val>
                                            <p:fltVal val="0"/>
                                          </p:val>
                                        </p:tav>
                                        <p:tav tm="100000">
                                          <p:val>
                                            <p:strVal val="#ppt_h"/>
                                          </p:val>
                                        </p:tav>
                                      </p:tavLst>
                                    </p:anim>
                                    <p:animEffect transition="in" filter="fade">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1" grpId="0" animBg="1"/>
    </p:bld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sp>
        <p:nvSpPr>
          <p:cNvPr id="7" name="Flecha ins→hg"/>
          <p:cNvSpPr/>
          <p:nvPr/>
        </p:nvSpPr>
        <p:spPr>
          <a:xfrm>
            <a:off x="3337560" y="1508760"/>
            <a:ext cx="457200" cy="320040"/>
          </a:xfrm>
          <a:custGeom>
            <a:avLst/>
            <a:gdLst/>
            <a:ahLst/>
            <a:cxnLst/>
            <a:rect l="0" t="0" r="r" b="b"/>
            <a:pathLst>
              <a:path w="500" h="350" fill="none">
                <a:moveTo>
                  <a:pt x="0" y="0"/>
                </a:moveTo>
                <a:lnTo>
                  <a:pt x="500" y="350"/>
                </a:lnTo>
              </a:path>
            </a:pathLst>
          </a:custGeom>
          <a:noFill/>
          <a:ln w="28575" cap="rnd">
            <a:solidFill>
              <a:srgbClr val="1E1E1E"/>
            </a:solidFill>
            <a:round/>
            <a:tailEnd type="triangle" w="med" len="med"/>
          </a:ln>
        </p:spPr>
      </p:sp>
      <p:sp>
        <p:nvSpPr>
          <p:cNvPr id="8" name="Flecha ri→hg"/>
          <p:cNvSpPr/>
          <p:nvPr/>
        </p:nvSpPr>
        <p:spPr>
          <a:xfrm>
            <a:off x="3337560" y="2103120"/>
            <a:ext cx="457200" cy="320040"/>
          </a:xfrm>
          <a:custGeom>
            <a:avLst/>
            <a:gdLst/>
            <a:ahLst/>
            <a:cxnLst/>
            <a:rect l="0" t="0" r="r" b="b"/>
            <a:pathLst>
              <a:path w="500" h="350" fill="none">
                <a:moveTo>
                  <a:pt x="0" y="350"/>
                </a:moveTo>
                <a:lnTo>
                  <a:pt x="500" y="0"/>
                </a:lnTo>
              </a:path>
            </a:pathLst>
          </a:custGeom>
          <a:noFill/>
          <a:ln w="28575" cap="rnd">
            <a:solidFill>
              <a:srgbClr val="1E1E1E"/>
            </a:solidFill>
            <a:round/>
            <a:tailEnd type="triangle" w="med" len="med"/>
          </a:ln>
        </p:spPr>
      </p:sp>
      <p:sp>
        <p:nvSpPr>
          <p:cNvPr id="9" name="Flecha hg→gu"/>
          <p:cNvSpPr/>
          <p:nvPr/>
        </p:nvSpPr>
        <p:spPr>
          <a:xfrm>
            <a:off x="6620256" y="1965960"/>
            <a:ext cx="475488" cy="9144"/>
          </a:xfrm>
          <a:custGeom>
            <a:avLst/>
            <a:gdLst/>
            <a:ahLst/>
            <a:cxnLst/>
            <a:rect l="0" t="0" r="r" b="b"/>
            <a:pathLst>
              <a:path w="519" h="10" fill="none">
                <a:moveTo>
                  <a:pt x="0" y="0"/>
                </a:moveTo>
                <a:lnTo>
                  <a:pt x="519" y="0"/>
                </a:lnTo>
              </a:path>
            </a:pathLst>
          </a:custGeom>
          <a:noFill/>
          <a:ln w="28575" cap="rnd">
            <a:solidFill>
              <a:srgbClr val="1E1E1E"/>
            </a:solidFill>
            <a:round/>
            <a:tailEnd type="triangle" w="med" len="med"/>
          </a:ln>
        </p:spPr>
      </p:sp>
      <p:sp>
        <p:nvSpPr>
          <p:cNvPr id="10" name="Flecha gu→w"/>
          <p:cNvSpPr/>
          <p:nvPr/>
        </p:nvSpPr>
        <p:spPr>
          <a:xfrm>
            <a:off x="9272016" y="196596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11" name="Flecha w→osm"/>
          <p:cNvSpPr/>
          <p:nvPr/>
        </p:nvSpPr>
        <p:spPr>
          <a:xfrm>
            <a:off x="10767060" y="2322576"/>
            <a:ext cx="9144" cy="658368"/>
          </a:xfrm>
          <a:custGeom>
            <a:avLst/>
            <a:gdLst/>
            <a:ahLst/>
            <a:cxnLst/>
            <a:rect l="0" t="0" r="r" b="b"/>
            <a:pathLst>
              <a:path w="10" h="719" fill="none">
                <a:moveTo>
                  <a:pt x="0" y="0"/>
                </a:moveTo>
                <a:lnTo>
                  <a:pt x="0" y="719"/>
                </a:lnTo>
              </a:path>
            </a:pathLst>
          </a:custGeom>
          <a:noFill/>
          <a:ln w="28575" cap="rnd">
            <a:solidFill>
              <a:srgbClr val="1E1E1E"/>
            </a:solidFill>
            <a:round/>
            <a:tailEnd type="triangle" w="med" len="med"/>
          </a:ln>
        </p:spPr>
      </p:sp>
      <p:sp>
        <p:nvSpPr>
          <p:cNvPr id="12" name="Flecha osm→cv"/>
          <p:cNvSpPr/>
          <p:nvPr/>
        </p:nvSpPr>
        <p:spPr>
          <a:xfrm>
            <a:off x="9272016" y="3337560"/>
            <a:ext cx="384048" cy="9144"/>
          </a:xfrm>
          <a:custGeom>
            <a:avLst/>
            <a:gdLst/>
            <a:ahLst/>
            <a:cxnLst/>
            <a:rect l="0" t="0" r="r" b="b"/>
            <a:pathLst>
              <a:path w="419" h="10" fill="none">
                <a:moveTo>
                  <a:pt x="419" y="0"/>
                </a:moveTo>
                <a:lnTo>
                  <a:pt x="0" y="0"/>
                </a:lnTo>
              </a:path>
            </a:pathLst>
          </a:custGeom>
          <a:noFill/>
          <a:ln w="28575" cap="rnd">
            <a:solidFill>
              <a:srgbClr val="1E1E1E"/>
            </a:solidFill>
            <a:round/>
            <a:tailEnd type="triangle" w="med" len="med"/>
          </a:ln>
        </p:spPr>
      </p:sp>
      <p:sp>
        <p:nvSpPr>
          <p:cNvPr id="13" name="Flecha cv→neu"/>
          <p:cNvSpPr/>
          <p:nvPr/>
        </p:nvSpPr>
        <p:spPr>
          <a:xfrm>
            <a:off x="5431536" y="3337560"/>
            <a:ext cx="384048" cy="9144"/>
          </a:xfrm>
          <a:custGeom>
            <a:avLst/>
            <a:gdLst/>
            <a:ahLst/>
            <a:cxnLst/>
            <a:rect l="0" t="0" r="r" b="b"/>
            <a:pathLst>
              <a:path w="419" h="10" fill="none">
                <a:moveTo>
                  <a:pt x="419" y="0"/>
                </a:moveTo>
                <a:lnTo>
                  <a:pt x="0" y="0"/>
                </a:lnTo>
              </a:path>
            </a:pathLst>
          </a:custGeom>
          <a:noFill/>
          <a:ln w="28575" cap="rnd">
            <a:solidFill>
              <a:srgbClr val="1E1E1E"/>
            </a:solidFill>
            <a:round/>
            <a:tailEnd type="triangle" w="med" len="med"/>
          </a:ln>
        </p:spPr>
      </p:sp>
      <p:sp>
        <p:nvSpPr>
          <p:cNvPr id="14" name="Flecha w→hd"/>
          <p:cNvSpPr/>
          <p:nvPr/>
        </p:nvSpPr>
        <p:spPr>
          <a:xfrm>
            <a:off x="11841480" y="1965960"/>
            <a:ext cx="137160" cy="2651760"/>
          </a:xfrm>
          <a:custGeom>
            <a:avLst/>
            <a:gdLst/>
            <a:ahLst/>
            <a:cxnLst/>
            <a:rect l="0" t="0" r="r" b="b"/>
            <a:pathLst>
              <a:path w="150" h="2900" fill="none">
                <a:moveTo>
                  <a:pt x="0" y="0"/>
                </a:moveTo>
                <a:lnTo>
                  <a:pt x="150" y="0"/>
                </a:lnTo>
                <a:lnTo>
                  <a:pt x="150" y="2900"/>
                </a:lnTo>
                <a:lnTo>
                  <a:pt x="20" y="2900"/>
                </a:lnTo>
              </a:path>
            </a:pathLst>
          </a:custGeom>
          <a:noFill/>
          <a:ln w="28575" cap="rnd">
            <a:solidFill>
              <a:srgbClr val="1E1E1E"/>
            </a:solidFill>
            <a:round/>
            <a:tailEnd type="triangle" w="med" len="med"/>
          </a:ln>
        </p:spPr>
      </p:sp>
      <p:sp>
        <p:nvSpPr>
          <p:cNvPr id="15" name="Nodo ins"/>
          <p:cNvSpPr/>
          <p:nvPr/>
        </p:nvSpPr>
        <p:spPr>
          <a:xfrm>
            <a:off x="365760" y="1188720"/>
            <a:ext cx="2926080" cy="6400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Insulina residual (cetogénesis limitada)</a:t>
            </a:r>
            <a:endParaRPr lang="es-AR" sz="1300" dirty="0">
              <a:latin typeface="Fira Sans Condensed"/>
            </a:endParaRPr>
          </a:p>
        </p:txBody>
      </p:sp>
      <p:sp>
        <p:nvSpPr>
          <p:cNvPr id="16" name="Nodo ri"/>
          <p:cNvSpPr/>
          <p:nvPr/>
        </p:nvSpPr>
        <p:spPr>
          <a:xfrm>
            <a:off x="365760" y="2103120"/>
            <a:ext cx="2926080" cy="6400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Resistencia insulínica</a:t>
            </a:r>
            <a:endParaRPr lang="es-AR" sz="1400" dirty="0">
              <a:latin typeface="Fira Sans Condensed"/>
            </a:endParaRPr>
          </a:p>
        </p:txBody>
      </p:sp>
      <p:sp>
        <p:nvSpPr>
          <p:cNvPr id="17" name="Nodo hg"/>
          <p:cNvSpPr/>
          <p:nvPr/>
        </p:nvSpPr>
        <p:spPr>
          <a:xfrm>
            <a:off x="3840480" y="1645920"/>
            <a:ext cx="274320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HIPERGLUCEMIA EXTREMA (683)</a:t>
            </a:r>
            <a:endParaRPr lang="es-AR" sz="1400" dirty="0">
              <a:latin typeface="Fira Sans Condensed"/>
            </a:endParaRPr>
          </a:p>
        </p:txBody>
      </p:sp>
      <p:sp>
        <p:nvSpPr>
          <p:cNvPr id="18" name="Nodo gu"/>
          <p:cNvSpPr/>
          <p:nvPr/>
        </p:nvSpPr>
        <p:spPr>
          <a:xfrm>
            <a:off x="7132320" y="1645920"/>
            <a:ext cx="210312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Glucosuria</a:t>
            </a:r>
            <a:endParaRPr lang="es-AR" sz="1400" dirty="0">
              <a:latin typeface="Fira Sans Condensed"/>
            </a:endParaRPr>
          </a:p>
        </p:txBody>
      </p:sp>
      <p:sp>
        <p:nvSpPr>
          <p:cNvPr id="19" name="Nodo w"/>
          <p:cNvSpPr/>
          <p:nvPr/>
        </p:nvSpPr>
        <p:spPr>
          <a:xfrm>
            <a:off x="9692640" y="1645920"/>
            <a:ext cx="214884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Pérdidas urinarias de agua</a:t>
            </a:r>
            <a:endParaRPr lang="es-AR" sz="1300" dirty="0">
              <a:latin typeface="Fira Sans Condensed"/>
            </a:endParaRPr>
          </a:p>
        </p:txBody>
      </p:sp>
      <p:sp>
        <p:nvSpPr>
          <p:cNvPr id="20" name="Nodo osm"/>
          <p:cNvSpPr/>
          <p:nvPr/>
        </p:nvSpPr>
        <p:spPr>
          <a:xfrm>
            <a:off x="9692640" y="3017520"/>
            <a:ext cx="214884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HIPEROSMOLALIDAD</a:t>
            </a:r>
            <a:endParaRPr lang="es-AR" sz="1400" dirty="0">
              <a:latin typeface="Fira Sans Condensed"/>
            </a:endParaRPr>
          </a:p>
        </p:txBody>
      </p:sp>
      <p:sp>
        <p:nvSpPr>
          <p:cNvPr id="21" name="Nodo cv"/>
          <p:cNvSpPr/>
          <p:nvPr/>
        </p:nvSpPr>
        <p:spPr>
          <a:xfrm>
            <a:off x="5852160" y="3017520"/>
            <a:ext cx="338328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Salida de agua celular · volumen neuronal ↓</a:t>
            </a:r>
            <a:endParaRPr lang="es-AR" sz="1300" dirty="0">
              <a:latin typeface="Fira Sans Condensed"/>
            </a:endParaRPr>
          </a:p>
        </p:txBody>
      </p:sp>
      <p:sp>
        <p:nvSpPr>
          <p:cNvPr id="22" name="Nodo neu"/>
          <p:cNvSpPr/>
          <p:nvPr/>
        </p:nvSpPr>
        <p:spPr>
          <a:xfrm>
            <a:off x="2011680" y="3017520"/>
            <a:ext cx="338328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Alteraciones neurológicas (Glasgow 7)</a:t>
            </a:r>
            <a:endParaRPr lang="es-AR" sz="1300" dirty="0">
              <a:latin typeface="Fira Sans Condensed"/>
            </a:endParaRPr>
          </a:p>
        </p:txBody>
      </p:sp>
      <p:sp>
        <p:nvSpPr>
          <p:cNvPr id="23" name="Nodo hd"/>
          <p:cNvSpPr/>
          <p:nvPr/>
        </p:nvSpPr>
        <p:spPr>
          <a:xfrm>
            <a:off x="9692640" y="4297680"/>
            <a:ext cx="214884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Hipovolemia · hipotensión</a:t>
            </a:r>
            <a:endParaRPr lang="es-AR" sz="1300" dirty="0">
              <a:latin typeface="Fira Sans Condensed"/>
            </a:endParaRPr>
          </a:p>
        </p:txBody>
      </p:sp>
      <p:grpSp>
        <p:nvGrpSpPr>
          <p:cNvPr id="24" name="Cuadro Claves"/>
          <p:cNvGrpSpPr/>
          <p:nvPr/>
        </p:nvGrpSpPr>
        <p:grpSpPr>
          <a:xfrm>
            <a:off x="365760" y="4206240"/>
            <a:ext cx="9052560" cy="2103120"/>
            <a:chOff x="365760" y="4206240"/>
            <a:chExt cx="9052560" cy="2103120"/>
          </a:xfrm>
        </p:grpSpPr>
        <p:sp>
          <p:nvSpPr>
            <p:cNvPr id="25" name="Forma 24"/>
            <p:cNvSpPr/>
            <p:nvPr/>
          </p:nvSpPr>
          <p:spPr>
            <a:xfrm>
              <a:off x="365760" y="4407408"/>
              <a:ext cx="9052560" cy="19019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evolución hacia EHH suele requerir </a:t>
              </a:r>
              <a:r>
                <a:rPr lang="es-AR" sz="1450" b="1" dirty="0">
                  <a:solidFill>
                    <a:srgbClr val="1E1E1E"/>
                  </a:solidFill>
                  <a:latin typeface="Fira Sans Condensed"/>
                  <a:ea typeface="Fira Sans Condensed"/>
                  <a:cs typeface="Fira Sans Condensed"/>
                  <a:sym typeface="Fira Sans Condensed"/>
                </a:rPr>
                <a:t>días</a:t>
              </a:r>
              <a:r>
                <a:rPr lang="es-AR" sz="1450" dirty="0">
                  <a:solidFill>
                    <a:srgbClr val="1E1E1E"/>
                  </a:solidFill>
                  <a:latin typeface="Fira Sans Condensed"/>
                  <a:ea typeface="Fira Sans Condensed"/>
                  <a:cs typeface="Fira Sans Condensed"/>
                  <a:sym typeface="Fira Sans Condensed"/>
                </a:rPr>
                <a:t>: el déficit de agua aumenta gradualmente.</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pérdida relativa de </a:t>
              </a:r>
              <a:r>
                <a:rPr lang="es-AR" sz="1450" b="1" dirty="0">
                  <a:solidFill>
                    <a:srgbClr val="1E1E1E"/>
                  </a:solidFill>
                  <a:latin typeface="Fira Sans Condensed"/>
                  <a:ea typeface="Fira Sans Condensed"/>
                  <a:cs typeface="Fira Sans Condensed"/>
                  <a:sym typeface="Fira Sans Condensed"/>
                </a:rPr>
                <a:t>agua libre</a:t>
              </a:r>
              <a:r>
                <a:rPr lang="es-AR" sz="1450" dirty="0">
                  <a:solidFill>
                    <a:srgbClr val="1E1E1E"/>
                  </a:solidFill>
                  <a:latin typeface="Fira Sans Condensed"/>
                  <a:ea typeface="Fira Sans Condensed"/>
                  <a:cs typeface="Fira Sans Condensed"/>
                  <a:sym typeface="Fira Sans Condensed"/>
                </a:rPr>
                <a:t> respecto de solutos favorece la hiperosmolalidad.</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DM2 descompensada </a:t>
              </a:r>
              <a:r>
                <a:rPr lang="es-AR" sz="1450" b="1" dirty="0">
                  <a:solidFill>
                    <a:srgbClr val="1E1E1E"/>
                  </a:solidFill>
                  <a:latin typeface="Fira Sans Condensed"/>
                  <a:ea typeface="Fira Sans Condensed"/>
                  <a:cs typeface="Fira Sans Condensed"/>
                  <a:sym typeface="Fira Sans Condensed"/>
                </a:rPr>
                <a:t>no</a:t>
              </a:r>
              <a:r>
                <a:rPr lang="es-AR" sz="1450" dirty="0">
                  <a:solidFill>
                    <a:srgbClr val="1E1E1E"/>
                  </a:solidFill>
                  <a:latin typeface="Fira Sans Condensed"/>
                  <a:ea typeface="Fira Sans Condensed"/>
                  <a:cs typeface="Fira Sans Condensed"/>
                  <a:sym typeface="Fira Sans Condensed"/>
                </a:rPr>
                <a:t> es ausencia completa de insulina: el freno de la lipólisis puede conservarse más que el control glucémico.</a:t>
              </a:r>
              <a:endParaRPr lang="es-AR" sz="1450" dirty="0">
                <a:latin typeface="Fira Sans Condensed"/>
              </a:endParaRPr>
            </a:p>
          </p:txBody>
        </p:sp>
        <p:sp>
          <p:nvSpPr>
            <p:cNvPr id="26" name="Forma 25"/>
            <p:cNvSpPr/>
            <p:nvPr/>
          </p:nvSpPr>
          <p:spPr>
            <a:xfrm>
              <a:off x="502920" y="4206240"/>
              <a:ext cx="94066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CLAVES</a:t>
              </a:r>
              <a:endParaRPr lang="es-AR" sz="14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EJEMPLO 4 · DE LA INSULINA RESIDUAL AL COMA</a:t>
            </a:r>
            <a:endParaRPr lang="es-AR" sz="32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par>
                          <p:cTn id="10"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400"/>
                                        <p:tgtEl>
                                          <p:spTgt spid="16"/>
                                        </p:tgtEl>
                                      </p:cBhvr>
                                    </p:animEffect>
                                  </p:childTnLst>
                                </p:cTn>
                              </p:par>
                            </p:childTnLst>
                          </p:cTn>
                        </p:par>
                      </p:childTnLst>
                    </p:cTn>
                  </p:par>
                  <p:par>
                    <p:cTn id="24" fill="hold">
                      <p:stCondLst>
                        <p:cond delay="indefinite"/>
                      </p:stCondLst>
                      <p:childTnLst>
                        <p:par>
                          <p:cTn id="15"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9"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23"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41"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00"/>
                                        <p:tgtEl>
                                          <p:spTgt spid="18"/>
                                        </p:tgtEl>
                                      </p:cBhvr>
                                    </p:animEffect>
                                  </p:childTnLst>
                                </p:cTn>
                              </p:par>
                            </p:childTnLst>
                          </p:cTn>
                        </p:par>
                        <p:par>
                          <p:cTn id="36" fill="hold">
                            <p:stCondLst>
                              <p:cond delay="90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00"/>
                                        <p:tgtEl>
                                          <p:spTgt spid="19"/>
                                        </p:tgtEl>
                                      </p:cBhvr>
                                    </p:animEffect>
                                  </p:childTnLst>
                                </p:cTn>
                              </p:par>
                            </p:childTnLst>
                          </p:cTn>
                        </p:par>
                      </p:childTnLst>
                    </p:cTn>
                  </p:par>
                  <p:par>
                    <p:cTn id="50" fill="hold">
                      <p:stCondLst>
                        <p:cond delay="indefinite"/>
                      </p:stCondLst>
                      <p:childTnLst>
                        <p:par>
                          <p:cTn id="45"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up)">
                                      <p:cBhvr>
                                        <p:cTn id="44" dur="500"/>
                                        <p:tgtEl>
                                          <p:spTgt spid="11"/>
                                        </p:tgtEl>
                                      </p:cBhvr>
                                    </p:animEffect>
                                  </p:childTnLst>
                                </p:cTn>
                              </p:par>
                            </p:childTnLst>
                          </p:cTn>
                        </p:par>
                        <p:par>
                          <p:cTn id="49"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00"/>
                                        <p:tgtEl>
                                          <p:spTgt spid="20"/>
                                        </p:tgtEl>
                                      </p:cBhvr>
                                    </p:animEffect>
                                  </p:childTnLst>
                                </p:cTn>
                              </p:par>
                            </p:childTnLst>
                          </p:cTn>
                        </p:par>
                      </p:childTnLst>
                    </p:cTn>
                  </p:par>
                  <p:par>
                    <p:cTn id="67" fill="hold">
                      <p:stCondLst>
                        <p:cond delay="indefinite"/>
                      </p:stCondLst>
                      <p:childTnLst>
                        <p:par>
                          <p:cTn id="54"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right)">
                                      <p:cBhvr>
                                        <p:cTn id="53" dur="500"/>
                                        <p:tgtEl>
                                          <p:spTgt spid="12"/>
                                        </p:tgtEl>
                                      </p:cBhvr>
                                    </p:animEffect>
                                  </p:childTnLst>
                                </p:cTn>
                              </p:par>
                            </p:childTnLst>
                          </p:cTn>
                        </p:par>
                        <p:par>
                          <p:cTn id="58"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childTnLst>
                          </p:cTn>
                        </p:par>
                        <p:par>
                          <p:cTn id="62" fill="hold">
                            <p:stCondLst>
                              <p:cond delay="900"/>
                            </p:stCondLst>
                            <p:childTnLst>
                              <p:par>
                                <p:cTn id="59" presetID="22" presetClass="entr" presetSubtype="2" fill="hold" grpId="0"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6" fill="hold">
                            <p:stCondLst>
                              <p:cond delay="1400"/>
                            </p:stCondLst>
                            <p:childTnLst>
                              <p:par>
                                <p:cTn id="63" presetID="10" presetClass="entr" presetSubtype="0"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400"/>
                                        <p:tgtEl>
                                          <p:spTgt spid="22"/>
                                        </p:tgtEl>
                                      </p:cBhvr>
                                    </p:animEffect>
                                  </p:childTnLst>
                                </p:cTn>
                              </p:par>
                            </p:childTnLst>
                          </p:cTn>
                        </p:par>
                      </p:childTnLst>
                    </p:cTn>
                  </p:par>
                  <p:par>
                    <p:cTn id="76" fill="hold">
                      <p:stCondLst>
                        <p:cond delay="indefinite"/>
                      </p:stCondLst>
                      <p:childTnLst>
                        <p:par>
                          <p:cTn id="71"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5"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400"/>
                                        <p:tgtEl>
                                          <p:spTgt spid="23"/>
                                        </p:tgtEl>
                                      </p:cBhvr>
                                    </p:animEffect>
                                  </p:childTnLst>
                                </p:cTn>
                              </p:par>
                            </p:childTnLst>
                          </p:cTn>
                        </p:par>
                      </p:childTnLst>
                    </p:cTn>
                  </p:par>
                  <p:par>
                    <p:cTn id="81" fill="hold">
                      <p:stCondLst>
                        <p:cond delay="indefinite"/>
                      </p:stCondLst>
                      <p:childTnLst>
                        <p:par>
                          <p:cTn id="80"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7" grpId="0" animBg="1"/>
      <p:bldP spid="8" grpId="0" animBg="1"/>
      <p:bldP spid="17" grpId="0" animBg="1"/>
      <p:bldP spid="9" grpId="0" animBg="1"/>
      <p:bldP spid="18" grpId="0" animBg="1"/>
      <p:bldP spid="10" grpId="0" animBg="1"/>
      <p:bldP spid="19" grpId="0" animBg="1"/>
      <p:bldP spid="11" grpId="0" animBg="1"/>
      <p:bldP spid="20" grpId="0" animBg="1"/>
      <p:bldP spid="12" grpId="0" animBg="1"/>
      <p:bldP spid="21" grpId="0" animBg="1"/>
      <p:bldP spid="13" grpId="0" animBg="1"/>
      <p:bldP spid="22" grpId="0" animBg="1"/>
      <p:bldP spid="14" grpId="0" animBg="1"/>
      <p:bldP spid="23" grpId="0" animBg="1"/>
    </p:bld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CAD balanza"/>
          <p:cNvGrpSpPr/>
          <p:nvPr/>
        </p:nvGrpSpPr>
        <p:grpSpPr>
          <a:xfrm>
            <a:off x="457200" y="1143000"/>
            <a:ext cx="5394960" cy="1920240"/>
            <a:chOff x="457200" y="1143000"/>
            <a:chExt cx="5394960" cy="1920240"/>
          </a:xfrm>
        </p:grpSpPr>
        <p:sp>
          <p:nvSpPr>
            <p:cNvPr id="8" name="Recuadro CAD: CETOÁCIDOS ↑↑ → H"/>
            <p:cNvSpPr/>
            <p:nvPr/>
          </p:nvSpPr>
          <p:spPr>
            <a:xfrm>
              <a:off x="457200" y="1143000"/>
              <a:ext cx="53949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CAD: CETOÁCIDOS ↑↑ → HCO₃⁻ CONSUMIDO</a:t>
              </a:r>
              <a:endParaRPr lang="es-AR" sz="1400" dirty="0">
                <a:latin typeface="Fira Sans Condensed"/>
              </a:endParaRPr>
            </a:p>
          </p:txBody>
        </p:sp>
        <p:sp>
          <p:nvSpPr>
            <p:cNvPr id="9" name="CC CAD 0"/>
            <p:cNvSpPr/>
            <p:nvPr/>
          </p:nvSpPr>
          <p:spPr>
            <a:xfrm>
              <a:off x="73152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0" name="CC CAD 1"/>
            <p:cNvSpPr/>
            <p:nvPr/>
          </p:nvSpPr>
          <p:spPr>
            <a:xfrm>
              <a:off x="155448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1" name="CC CAD 2"/>
            <p:cNvSpPr/>
            <p:nvPr/>
          </p:nvSpPr>
          <p:spPr>
            <a:xfrm>
              <a:off x="237744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2" name="CC CAD 3"/>
            <p:cNvSpPr/>
            <p:nvPr/>
          </p:nvSpPr>
          <p:spPr>
            <a:xfrm>
              <a:off x="320040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3" name="CC CAD 4"/>
            <p:cNvSpPr/>
            <p:nvPr/>
          </p:nvSpPr>
          <p:spPr>
            <a:xfrm>
              <a:off x="402336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4" name="CC CAD 5"/>
            <p:cNvSpPr/>
            <p:nvPr/>
          </p:nvSpPr>
          <p:spPr>
            <a:xfrm>
              <a:off x="484632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15" name="Forma 14"/>
            <p:cNvSpPr/>
            <p:nvPr/>
          </p:nvSpPr>
          <p:spPr>
            <a:xfrm>
              <a:off x="1463040" y="2651760"/>
              <a:ext cx="914400"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16" name="Forma 15"/>
            <p:cNvSpPr/>
            <p:nvPr/>
          </p:nvSpPr>
          <p:spPr>
            <a:xfrm>
              <a:off x="3657600" y="2651760"/>
              <a:ext cx="914400"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grpSp>
      <p:grpSp>
        <p:nvGrpSpPr>
          <p:cNvPr id="17" name="EHH balanza"/>
          <p:cNvGrpSpPr/>
          <p:nvPr/>
        </p:nvGrpSpPr>
        <p:grpSpPr>
          <a:xfrm>
            <a:off x="6309360" y="1143000"/>
            <a:ext cx="5486400" cy="2011680"/>
            <a:chOff x="6309360" y="1143000"/>
            <a:chExt cx="5486400" cy="2011680"/>
          </a:xfrm>
        </p:grpSpPr>
        <p:sp>
          <p:nvSpPr>
            <p:cNvPr id="18" name="Recuadro EHH: SIN CARGA CETOÁCI"/>
            <p:cNvSpPr/>
            <p:nvPr/>
          </p:nvSpPr>
          <p:spPr>
            <a:xfrm>
              <a:off x="6309360" y="1143000"/>
              <a:ext cx="5486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EHH: SIN CARGA CETOÁCIDA IMPORTANTE</a:t>
              </a:r>
              <a:endParaRPr lang="es-AR" sz="1400" dirty="0">
                <a:latin typeface="Fira Sans Condensed"/>
              </a:endParaRPr>
            </a:p>
          </p:txBody>
        </p:sp>
        <p:sp>
          <p:nvSpPr>
            <p:cNvPr id="19" name="CC EHH"/>
            <p:cNvSpPr/>
            <p:nvPr/>
          </p:nvSpPr>
          <p:spPr>
            <a:xfrm>
              <a:off x="6675120" y="1920240"/>
              <a:ext cx="457200" cy="457200"/>
            </a:xfrm>
            <a:prstGeom prst="ellipse">
              <a:avLst/>
            </a:prstGeom>
            <a:gradFill rotWithShape="1">
              <a:gsLst>
                <a:gs pos="0">
                  <a:srgbClr val="D76894"/>
                </a:gs>
                <a:gs pos="55000">
                  <a:srgbClr val="C2185B"/>
                </a:gs>
                <a:gs pos="100000">
                  <a:srgbClr val="9B1348"/>
                </a:gs>
              </a:gsLst>
              <a:path path="circle">
                <a:fillToRect l="32000" t="28000" r="68000" b="72000"/>
              </a:path>
            </a:gradFill>
            <a:ln w="12700" cap="rnd">
              <a:solidFill>
                <a:srgbClr val="6A0D32"/>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CC</a:t>
              </a:r>
              <a:endParaRPr lang="es-AR" sz="1300" dirty="0">
                <a:latin typeface="Fira Sans Condensed"/>
              </a:endParaRPr>
            </a:p>
          </p:txBody>
        </p:sp>
        <p:sp>
          <p:nvSpPr>
            <p:cNvPr id="20" name="Forma 19"/>
            <p:cNvSpPr/>
            <p:nvPr/>
          </p:nvSpPr>
          <p:spPr>
            <a:xfrm>
              <a:off x="7498080" y="1920240"/>
              <a:ext cx="804672"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21" name="Forma 20"/>
            <p:cNvSpPr/>
            <p:nvPr/>
          </p:nvSpPr>
          <p:spPr>
            <a:xfrm>
              <a:off x="8366760" y="1920240"/>
              <a:ext cx="804672"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22" name="Forma 21"/>
            <p:cNvSpPr/>
            <p:nvPr/>
          </p:nvSpPr>
          <p:spPr>
            <a:xfrm>
              <a:off x="9235440" y="1920240"/>
              <a:ext cx="804672"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23" name="Forma 22"/>
            <p:cNvSpPr/>
            <p:nvPr/>
          </p:nvSpPr>
          <p:spPr>
            <a:xfrm>
              <a:off x="10104120" y="1920240"/>
              <a:ext cx="804672"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24" name="Forma 23"/>
            <p:cNvSpPr/>
            <p:nvPr/>
          </p:nvSpPr>
          <p:spPr>
            <a:xfrm>
              <a:off x="10972800" y="1920240"/>
              <a:ext cx="804672" cy="411480"/>
            </a:xfrm>
            <a:prstGeom prst="roundRect">
              <a:avLst/>
            </a:prstGeom>
            <a:solidFill>
              <a:srgbClr val="9DC3E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HCO₃⁻</a:t>
              </a:r>
              <a:endParaRPr lang="es-AR" sz="1200" dirty="0">
                <a:latin typeface="Fira Sans Condensed"/>
              </a:endParaRPr>
            </a:p>
          </p:txBody>
        </p:sp>
        <p:sp>
          <p:nvSpPr>
            <p:cNvPr id="25" name="Fórmula"/>
            <p:cNvSpPr/>
            <p:nvPr/>
          </p:nvSpPr>
          <p:spPr>
            <a:xfrm>
              <a:off x="6949440" y="2606040"/>
              <a:ext cx="4206240" cy="5486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1E1E1E"/>
                  </a:solidFill>
                  <a:latin typeface="Fira Sans Condensed"/>
                  <a:ea typeface="Fira Sans Condensed"/>
                  <a:cs typeface="Fira Sans Condensed"/>
                  <a:sym typeface="Fira Sans Condensed"/>
                </a:rPr>
                <a:t>pH 7,41 · HCO₃⁻ 23 · pCO₂ 39</a:t>
              </a:r>
              <a:endParaRPr lang="es-AR" sz="1700" dirty="0">
                <a:latin typeface="Fira Sans Condensed"/>
              </a:endParaRPr>
            </a:p>
          </p:txBody>
        </p:sp>
      </p:grpSp>
      <p:grpSp>
        <p:nvGrpSpPr>
          <p:cNvPr id="26" name="Paso 1"/>
          <p:cNvGrpSpPr/>
          <p:nvPr/>
        </p:nvGrpSpPr>
        <p:grpSpPr>
          <a:xfrm>
            <a:off x="365760" y="3520440"/>
            <a:ext cx="11475720" cy="606552"/>
            <a:chOff x="365760" y="3520440"/>
            <a:chExt cx="11475720" cy="606552"/>
          </a:xfrm>
        </p:grpSpPr>
        <p:sp>
          <p:nvSpPr>
            <p:cNvPr id="27" name="Forma 26"/>
            <p:cNvSpPr/>
            <p:nvPr/>
          </p:nvSpPr>
          <p:spPr>
            <a:xfrm>
              <a:off x="365760" y="3520440"/>
              <a:ext cx="11475720" cy="606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El sistema tampón y la regulación respiratoria/renal </a:t>
              </a:r>
              <a:r>
                <a:rPr lang="es-AR" sz="1450" b="1" dirty="0">
                  <a:solidFill>
                    <a:srgbClr val="1E1E1E"/>
                  </a:solidFill>
                  <a:latin typeface="Fira Sans Condensed"/>
                  <a:ea typeface="Fira Sans Condensed"/>
                  <a:cs typeface="Fira Sans Condensed"/>
                  <a:sym typeface="Fira Sans Condensed"/>
                </a:rPr>
                <a:t>sostienen el pH</a:t>
              </a:r>
              <a:r>
                <a:rPr lang="es-AR" sz="1450" dirty="0">
                  <a:solidFill>
                    <a:srgbClr val="1E1E1E"/>
                  </a:solidFill>
                  <a:latin typeface="Fira Sans Condensed"/>
                  <a:ea typeface="Fira Sans Condensed"/>
                  <a:cs typeface="Fira Sans Condensed"/>
                  <a:sym typeface="Fira Sans Condensed"/>
                </a:rPr>
                <a:t>; la gasometría es globalmente compatible con ausencia de acidosis relevante.</a:t>
              </a:r>
              <a:endParaRPr lang="es-AR" sz="1450" dirty="0">
                <a:latin typeface="Fira Sans Condensed"/>
              </a:endParaRPr>
            </a:p>
          </p:txBody>
        </p:sp>
        <p:sp>
          <p:nvSpPr>
            <p:cNvPr id="28" name="Forma 27"/>
            <p:cNvSpPr/>
            <p:nvPr/>
          </p:nvSpPr>
          <p:spPr>
            <a:xfrm>
              <a:off x="457200" y="364998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29" name="Paso 2"/>
          <p:cNvGrpSpPr/>
          <p:nvPr/>
        </p:nvGrpSpPr>
        <p:grpSpPr>
          <a:xfrm>
            <a:off x="365760" y="4218432"/>
            <a:ext cx="11475720" cy="457200"/>
            <a:chOff x="365760" y="4218432"/>
            <a:chExt cx="11475720" cy="457200"/>
          </a:xfrm>
        </p:grpSpPr>
        <p:sp>
          <p:nvSpPr>
            <p:cNvPr id="30" name="Forma 29"/>
            <p:cNvSpPr/>
            <p:nvPr/>
          </p:nvSpPr>
          <p:spPr>
            <a:xfrm>
              <a:off x="365760" y="4218432"/>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La </a:t>
              </a:r>
              <a:r>
                <a:rPr lang="es-AR" sz="1450" b="1" dirty="0">
                  <a:solidFill>
                    <a:srgbClr val="1E1E1E"/>
                  </a:solidFill>
                  <a:latin typeface="Fira Sans Condensed"/>
                  <a:ea typeface="Fira Sans Condensed"/>
                  <a:cs typeface="Fira Sans Condensed"/>
                  <a:sym typeface="Fira Sans Condensed"/>
                </a:rPr>
                <a:t>hiperosmolalidad no produce por sí sola acidemia</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31" name="Forma 30"/>
            <p:cNvSpPr/>
            <p:nvPr/>
          </p:nvSpPr>
          <p:spPr>
            <a:xfrm>
              <a:off x="457200" y="427329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32" name="Paso 3"/>
          <p:cNvGrpSpPr/>
          <p:nvPr/>
        </p:nvGrpSpPr>
        <p:grpSpPr>
          <a:xfrm>
            <a:off x="365760" y="4767072"/>
            <a:ext cx="11475720" cy="457200"/>
            <a:chOff x="365760" y="4767072"/>
            <a:chExt cx="11475720" cy="457200"/>
          </a:xfrm>
        </p:grpSpPr>
        <p:sp>
          <p:nvSpPr>
            <p:cNvPr id="33" name="Forma 32"/>
            <p:cNvSpPr/>
            <p:nvPr/>
          </p:nvSpPr>
          <p:spPr>
            <a:xfrm>
              <a:off x="365760" y="4767072"/>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Infección, hipoperfusión prolongada o lesión renal podrían </a:t>
              </a:r>
              <a:r>
                <a:rPr lang="es-AR" sz="1450" b="1" dirty="0">
                  <a:solidFill>
                    <a:srgbClr val="1E1E1E"/>
                  </a:solidFill>
                  <a:latin typeface="Fira Sans Condensed"/>
                  <a:ea typeface="Fira Sans Condensed"/>
                  <a:cs typeface="Fira Sans Condensed"/>
                  <a:sym typeface="Fira Sans Condensed"/>
                </a:rPr>
                <a:t>añadir después</a:t>
              </a:r>
              <a:r>
                <a:rPr lang="es-AR" sz="1450" dirty="0">
                  <a:solidFill>
                    <a:srgbClr val="1E1E1E"/>
                  </a:solidFill>
                  <a:latin typeface="Fira Sans Condensed"/>
                  <a:ea typeface="Fira Sans Condensed"/>
                  <a:cs typeface="Fira Sans Condensed"/>
                  <a:sym typeface="Fira Sans Condensed"/>
                </a:rPr>
                <a:t> acidosis láctica u otro componente.</a:t>
              </a:r>
              <a:endParaRPr lang="es-AR" sz="1450" dirty="0">
                <a:latin typeface="Fira Sans Condensed"/>
              </a:endParaRPr>
            </a:p>
          </p:txBody>
        </p:sp>
        <p:sp>
          <p:nvSpPr>
            <p:cNvPr id="34" name="Forma 33"/>
            <p:cNvSpPr/>
            <p:nvPr/>
          </p:nvSpPr>
          <p:spPr>
            <a:xfrm>
              <a:off x="457200" y="482193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PREGUNTA 3 · ¿POR QUÉ EL pH ES NORMAL?</a:t>
            </a:r>
            <a:endParaRPr lang="es-AR" sz="34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pic>
        <p:nvPicPr>
          <p:cNvPr id="6" name="Paciente deshidratado" descr="Ilustración biomédica (Servier Medical Art, CC BY)"/>
          <p:cNvPicPr>
            <a:picLocks noChangeAspect="1"/>
          </p:cNvPicPr>
          <p:nvPr/>
        </p:nvPicPr>
        <p:blipFill>
          <a:blip r:embed="rId2"/>
          <a:stretch>
            <a:fillRect/>
          </a:stretch>
        </p:blipFill>
        <p:spPr>
          <a:xfrm>
            <a:off x="365760" y="1051560"/>
            <a:ext cx="2870367" cy="5212080"/>
          </a:xfrm>
          <a:prstGeom prst="rect">
            <a:avLst/>
          </a:prstGeom>
        </p:spPr>
      </p:pic>
      <p:sp>
        <p:nvSpPr>
          <p:cNvPr id="7" name="Recuadro Mucosas secas"/>
          <p:cNvSpPr/>
          <p:nvPr/>
        </p:nvSpPr>
        <p:spPr>
          <a:xfrm>
            <a:off x="2926080" y="1417320"/>
            <a:ext cx="210312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Mucosas secas</a:t>
            </a:r>
            <a:endParaRPr lang="es-AR" sz="1350" dirty="0">
              <a:latin typeface="Fira Sans Condensed"/>
            </a:endParaRPr>
          </a:p>
        </p:txBody>
      </p:sp>
      <p:sp>
        <p:nvSpPr>
          <p:cNvPr id="8" name="Recuadro Signo del pliegue +"/>
          <p:cNvSpPr/>
          <p:nvPr/>
        </p:nvSpPr>
        <p:spPr>
          <a:xfrm>
            <a:off x="2926080" y="2331720"/>
            <a:ext cx="210312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Signo del pliegue +</a:t>
            </a:r>
            <a:endParaRPr lang="es-AR" sz="1350" dirty="0">
              <a:latin typeface="Fira Sans Condensed"/>
            </a:endParaRPr>
          </a:p>
        </p:txBody>
      </p:sp>
      <p:sp>
        <p:nvSpPr>
          <p:cNvPr id="9" name="Recuadro Taquicardia 120"/>
          <p:cNvSpPr/>
          <p:nvPr/>
        </p:nvSpPr>
        <p:spPr>
          <a:xfrm>
            <a:off x="2926080" y="3246120"/>
            <a:ext cx="210312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Taquicardia 120</a:t>
            </a:r>
            <a:endParaRPr lang="es-AR" sz="1350" dirty="0">
              <a:latin typeface="Fira Sans Condensed"/>
            </a:endParaRPr>
          </a:p>
        </p:txBody>
      </p:sp>
      <p:sp>
        <p:nvSpPr>
          <p:cNvPr id="10" name="Recuadro Hipotensión 90/55"/>
          <p:cNvSpPr/>
          <p:nvPr/>
        </p:nvSpPr>
        <p:spPr>
          <a:xfrm>
            <a:off x="2926080" y="4160520"/>
            <a:ext cx="210312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Hipotensión 90/55</a:t>
            </a:r>
            <a:endParaRPr lang="es-AR" sz="1350" dirty="0">
              <a:latin typeface="Fira Sans Condensed"/>
            </a:endParaRPr>
          </a:p>
        </p:txBody>
      </p:sp>
      <p:sp>
        <p:nvSpPr>
          <p:cNvPr id="11" name="Recuadro Glucemia 683 → filtrac"/>
          <p:cNvSpPr/>
          <p:nvPr/>
        </p:nvSpPr>
        <p:spPr>
          <a:xfrm>
            <a:off x="5486400" y="1097280"/>
            <a:ext cx="6355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Glucemia 683 → filtración masiva de glucosa</a:t>
            </a:r>
            <a:endParaRPr lang="es-AR" sz="1400" dirty="0">
              <a:latin typeface="Fira Sans Condensed"/>
            </a:endParaRPr>
          </a:p>
        </p:txBody>
      </p:sp>
      <p:sp>
        <p:nvSpPr>
          <p:cNvPr id="12" name="Recuadro Glucosuria +++ → diure"/>
          <p:cNvSpPr/>
          <p:nvPr/>
        </p:nvSpPr>
        <p:spPr>
          <a:xfrm>
            <a:off x="5486400" y="1783080"/>
            <a:ext cx="6355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Glucosuria +++ → diuresis osmótica</a:t>
            </a:r>
            <a:endParaRPr lang="es-AR" sz="1400" dirty="0">
              <a:latin typeface="Fira Sans Condensed"/>
            </a:endParaRPr>
          </a:p>
        </p:txBody>
      </p:sp>
      <p:sp>
        <p:nvSpPr>
          <p:cNvPr id="13" name="Recuadro Pierde más agua de la "/>
          <p:cNvSpPr/>
          <p:nvPr/>
        </p:nvSpPr>
        <p:spPr>
          <a:xfrm>
            <a:off x="5486400" y="2468880"/>
            <a:ext cx="6355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Pierde más agua de la que repone → hipovolemia</a:t>
            </a:r>
            <a:endParaRPr lang="es-AR" sz="1400" dirty="0">
              <a:latin typeface="Fira Sans Condensed"/>
            </a:endParaRPr>
          </a:p>
        </p:txBody>
      </p:sp>
      <p:sp>
        <p:nvSpPr>
          <p:cNvPr id="14" name="Recuadro Pérdida de agua libre "/>
          <p:cNvSpPr/>
          <p:nvPr/>
        </p:nvSpPr>
        <p:spPr>
          <a:xfrm>
            <a:off x="5486400" y="3154680"/>
            <a:ext cx="63550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Pérdida de agua libre &gt; solutos → hiperosmolalidad</a:t>
            </a:r>
            <a:endParaRPr lang="es-AR" sz="1400" dirty="0">
              <a:latin typeface="Fira Sans Condensed"/>
            </a:endParaRPr>
          </a:p>
        </p:txBody>
      </p:sp>
      <p:grpSp>
        <p:nvGrpSpPr>
          <p:cNvPr id="15" name="Cuadro Interpretación"/>
          <p:cNvGrpSpPr/>
          <p:nvPr/>
        </p:nvGrpSpPr>
        <p:grpSpPr>
          <a:xfrm>
            <a:off x="5486400" y="3977640"/>
            <a:ext cx="6355080" cy="2286000"/>
            <a:chOff x="5486400" y="3977640"/>
            <a:chExt cx="6355080" cy="2286000"/>
          </a:xfrm>
        </p:grpSpPr>
        <p:sp>
          <p:nvSpPr>
            <p:cNvPr id="16" name="Forma 15"/>
            <p:cNvSpPr/>
            <p:nvPr/>
          </p:nvSpPr>
          <p:spPr>
            <a:xfrm>
              <a:off x="5486400" y="4178808"/>
              <a:ext cx="6355080" cy="2084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hiperosmolalidad </a:t>
              </a:r>
              <a:r>
                <a:rPr lang="es-AR" sz="1500" b="1" dirty="0">
                  <a:solidFill>
                    <a:srgbClr val="1E1E1E"/>
                  </a:solidFill>
                  <a:latin typeface="Fira Sans Condensed"/>
                  <a:ea typeface="Fira Sans Condensed"/>
                  <a:cs typeface="Fira Sans Condensed"/>
                  <a:sym typeface="Fira Sans Condensed"/>
                </a:rPr>
                <a:t>extrae agua intracelular</a:t>
              </a:r>
              <a:r>
                <a:rPr lang="es-AR" sz="1500" dirty="0">
                  <a:solidFill>
                    <a:srgbClr val="1E1E1E"/>
                  </a:solidFill>
                  <a:latin typeface="Fira Sans Condensed"/>
                  <a:ea typeface="Fira Sans Condensed"/>
                  <a:cs typeface="Fira Sans Condensed"/>
                  <a:sym typeface="Fira Sans Condensed"/>
                </a:rPr>
                <a:t> y afecta especialmente a las </a:t>
              </a:r>
              <a:r>
                <a:rPr lang="es-AR" sz="1500" b="1" dirty="0">
                  <a:solidFill>
                    <a:srgbClr val="1E1E1E"/>
                  </a:solidFill>
                  <a:latin typeface="Fira Sans Condensed"/>
                  <a:ea typeface="Fira Sans Condensed"/>
                  <a:cs typeface="Fira Sans Condensed"/>
                  <a:sym typeface="Fira Sans Condensed"/>
                </a:rPr>
                <a:t>neuronas</a:t>
              </a:r>
              <a:r>
                <a:rPr lang="es-AR" sz="1500" dirty="0">
                  <a:solidFill>
                    <a:srgbClr val="1E1E1E"/>
                  </a:solidFill>
                  <a:latin typeface="Fira Sans Condensed"/>
                  <a:ea typeface="Fira Sans Condensed"/>
                  <a:cs typeface="Fira Sans Condensed"/>
                  <a:sym typeface="Fira Sans Condensed"/>
                </a:rPr>
                <a:t>. Pliegue y mucosas apoyan el déficit hídrico, pero </a:t>
              </a:r>
              <a:r>
                <a:rPr lang="es-AR" sz="1500" b="1" dirty="0">
                  <a:solidFill>
                    <a:srgbClr val="1E1E1E"/>
                  </a:solidFill>
                  <a:latin typeface="Fira Sans Condensed"/>
                  <a:ea typeface="Fira Sans Condensed"/>
                  <a:cs typeface="Fira Sans Condensed"/>
                  <a:sym typeface="Fira Sans Condensed"/>
                </a:rPr>
                <a:t>ningún signo aislado lo cuantifica</a:t>
              </a:r>
              <a:r>
                <a:rPr lang="es-AR" sz="1500" dirty="0">
                  <a:solidFill>
                    <a:srgbClr val="1E1E1E"/>
                  </a:solidFill>
                  <a:latin typeface="Fira Sans Condensed"/>
                  <a:ea typeface="Fira Sans Condensed"/>
                  <a:cs typeface="Fira Sans Condensed"/>
                  <a:sym typeface="Fira Sans Condensed"/>
                </a:rPr>
                <a:t> con precisión ni sustituye la valoración clínica.</a:t>
              </a:r>
              <a:endParaRPr lang="es-AR" sz="1500" dirty="0">
                <a:latin typeface="Fira Sans Condensed"/>
              </a:endParaRPr>
            </a:p>
          </p:txBody>
        </p:sp>
        <p:sp>
          <p:nvSpPr>
            <p:cNvPr id="17" name="Forma 16"/>
            <p:cNvSpPr/>
            <p:nvPr/>
          </p:nvSpPr>
          <p:spPr>
            <a:xfrm>
              <a:off x="5623560" y="3977640"/>
              <a:ext cx="169155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INTERPRETACIÓN</a:t>
              </a:r>
              <a:endParaRPr lang="es-AR" sz="1400" dirty="0">
                <a:latin typeface="Fira Sans Condensed"/>
              </a:endParaRPr>
            </a:p>
          </p:txBody>
        </p:sp>
      </p:gr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PREGUNTA 4 · ¿QUÉ EXPLICA LA DESHIDRATACIÓN?</a:t>
            </a:r>
            <a:endParaRPr lang="es-AR" sz="32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47"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250" fill="hold"/>
                                        <p:tgtEl>
                                          <p:spTgt spid="7"/>
                                        </p:tgtEl>
                                        <p:attrNameLst>
                                          <p:attrName>ppt_w</p:attrName>
                                        </p:attrNameLst>
                                      </p:cBhvr>
                                      <p:tavLst>
                                        <p:tav tm="0">
                                          <p:val>
                                            <p:fltVal val="0"/>
                                          </p:val>
                                        </p:tav>
                                        <p:tav tm="100000">
                                          <p:val>
                                            <p:strVal val="#ppt_w"/>
                                          </p:val>
                                        </p:tav>
                                      </p:tavLst>
                                    </p:anim>
                                    <p:anim calcmode="lin" valueType="num">
                                      <p:cBhvr>
                                        <p:cTn id="26" dur="250" fill="hold"/>
                                        <p:tgtEl>
                                          <p:spTgt spid="7"/>
                                        </p:tgtEl>
                                        <p:attrNameLst>
                                          <p:attrName>ppt_h</p:attrName>
                                        </p:attrNameLst>
                                      </p:cBhvr>
                                      <p:tavLst>
                                        <p:tav tm="0">
                                          <p:val>
                                            <p:fltVal val="0"/>
                                          </p:val>
                                        </p:tav>
                                        <p:tav tm="100000">
                                          <p:val>
                                            <p:strVal val="#ppt_h"/>
                                          </p:val>
                                        </p:tav>
                                      </p:tavLst>
                                    </p:anim>
                                    <p:animEffect transition="in" filter="fade">
                                      <p:cBhvr>
                                        <p:cTn id="27" dur="250"/>
                                        <p:tgtEl>
                                          <p:spTgt spid="7"/>
                                        </p:tgtEl>
                                      </p:cBhvr>
                                    </p:animEffect>
                                  </p:childTnLst>
                                </p:cTn>
                              </p:par>
                            </p:childTnLst>
                          </p:cTn>
                        </p:par>
                        <p:par>
                          <p:cTn id="34" fill="hold">
                            <p:stCondLst>
                              <p:cond delay="250"/>
                            </p:stCondLst>
                            <p:childTnLst>
                              <p:par>
                                <p:cTn id="29" presetID="53" presetClass="entr" presetSubtype="1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250" fill="hold"/>
                                        <p:tgtEl>
                                          <p:spTgt spid="8"/>
                                        </p:tgtEl>
                                        <p:attrNameLst>
                                          <p:attrName>ppt_w</p:attrName>
                                        </p:attrNameLst>
                                      </p:cBhvr>
                                      <p:tavLst>
                                        <p:tav tm="0">
                                          <p:val>
                                            <p:fltVal val="0"/>
                                          </p:val>
                                        </p:tav>
                                        <p:tav tm="100000">
                                          <p:val>
                                            <p:strVal val="#ppt_w"/>
                                          </p:val>
                                        </p:tav>
                                      </p:tavLst>
                                    </p:anim>
                                    <p:anim calcmode="lin" valueType="num">
                                      <p:cBhvr>
                                        <p:cTn id="32" dur="250" fill="hold"/>
                                        <p:tgtEl>
                                          <p:spTgt spid="8"/>
                                        </p:tgtEl>
                                        <p:attrNameLst>
                                          <p:attrName>ppt_h</p:attrName>
                                        </p:attrNameLst>
                                      </p:cBhvr>
                                      <p:tavLst>
                                        <p:tav tm="0">
                                          <p:val>
                                            <p:fltVal val="0"/>
                                          </p:val>
                                        </p:tav>
                                        <p:tav tm="100000">
                                          <p:val>
                                            <p:strVal val="#ppt_h"/>
                                          </p:val>
                                        </p:tav>
                                      </p:tavLst>
                                    </p:anim>
                                    <p:animEffect transition="in" filter="fade">
                                      <p:cBhvr>
                                        <p:cTn id="33" dur="250"/>
                                        <p:tgtEl>
                                          <p:spTgt spid="8"/>
                                        </p:tgtEl>
                                      </p:cBhvr>
                                    </p:animEffect>
                                  </p:childTnLst>
                                </p:cTn>
                              </p:par>
                            </p:childTnLst>
                          </p:cTn>
                        </p:par>
                        <p:par>
                          <p:cTn id="40" fill="hold">
                            <p:stCondLst>
                              <p:cond delay="500"/>
                            </p:stCondLst>
                            <p:childTnLst>
                              <p:par>
                                <p:cTn id="35" presetID="53" presetClass="entr" presetSubtype="16"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250" fill="hold"/>
                                        <p:tgtEl>
                                          <p:spTgt spid="9"/>
                                        </p:tgtEl>
                                        <p:attrNameLst>
                                          <p:attrName>ppt_w</p:attrName>
                                        </p:attrNameLst>
                                      </p:cBhvr>
                                      <p:tavLst>
                                        <p:tav tm="0">
                                          <p:val>
                                            <p:fltVal val="0"/>
                                          </p:val>
                                        </p:tav>
                                        <p:tav tm="100000">
                                          <p:val>
                                            <p:strVal val="#ppt_w"/>
                                          </p:val>
                                        </p:tav>
                                      </p:tavLst>
                                    </p:anim>
                                    <p:anim calcmode="lin" valueType="num">
                                      <p:cBhvr>
                                        <p:cTn id="38" dur="250" fill="hold"/>
                                        <p:tgtEl>
                                          <p:spTgt spid="9"/>
                                        </p:tgtEl>
                                        <p:attrNameLst>
                                          <p:attrName>ppt_h</p:attrName>
                                        </p:attrNameLst>
                                      </p:cBhvr>
                                      <p:tavLst>
                                        <p:tav tm="0">
                                          <p:val>
                                            <p:fltVal val="0"/>
                                          </p:val>
                                        </p:tav>
                                        <p:tav tm="100000">
                                          <p:val>
                                            <p:strVal val="#ppt_h"/>
                                          </p:val>
                                        </p:tav>
                                      </p:tavLst>
                                    </p:anim>
                                    <p:animEffect transition="in" filter="fade">
                                      <p:cBhvr>
                                        <p:cTn id="39" dur="250"/>
                                        <p:tgtEl>
                                          <p:spTgt spid="9"/>
                                        </p:tgtEl>
                                      </p:cBhvr>
                                    </p:animEffect>
                                  </p:childTnLst>
                                </p:cTn>
                              </p:par>
                            </p:childTnLst>
                          </p:cTn>
                        </p:par>
                        <p:par>
                          <p:cTn id="46" fill="hold">
                            <p:stCondLst>
                              <p:cond delay="750"/>
                            </p:stCondLst>
                            <p:childTnLst>
                              <p:par>
                                <p:cTn id="41" presetID="53" presetClass="entr" presetSubtype="16"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250" fill="hold"/>
                                        <p:tgtEl>
                                          <p:spTgt spid="10"/>
                                        </p:tgtEl>
                                        <p:attrNameLst>
                                          <p:attrName>ppt_w</p:attrName>
                                        </p:attrNameLst>
                                      </p:cBhvr>
                                      <p:tavLst>
                                        <p:tav tm="0">
                                          <p:val>
                                            <p:fltVal val="0"/>
                                          </p:val>
                                        </p:tav>
                                        <p:tav tm="100000">
                                          <p:val>
                                            <p:strVal val="#ppt_w"/>
                                          </p:val>
                                        </p:tav>
                                      </p:tavLst>
                                    </p:anim>
                                    <p:anim calcmode="lin" valueType="num">
                                      <p:cBhvr>
                                        <p:cTn id="44" dur="250" fill="hold"/>
                                        <p:tgtEl>
                                          <p:spTgt spid="10"/>
                                        </p:tgtEl>
                                        <p:attrNameLst>
                                          <p:attrName>ppt_h</p:attrName>
                                        </p:attrNameLst>
                                      </p:cBhvr>
                                      <p:tavLst>
                                        <p:tav tm="0">
                                          <p:val>
                                            <p:fltVal val="0"/>
                                          </p:val>
                                        </p:tav>
                                        <p:tav tm="100000">
                                          <p:val>
                                            <p:strVal val="#ppt_h"/>
                                          </p:val>
                                        </p:tav>
                                      </p:tavLst>
                                    </p:anim>
                                    <p:animEffect transition="in" filter="fade">
                                      <p:cBhvr>
                                        <p:cTn id="45" dur="250"/>
                                        <p:tgtEl>
                                          <p:spTgt spid="10"/>
                                        </p:tgtEl>
                                      </p:cBhvr>
                                    </p:animEffect>
                                  </p:childTnLst>
                                </p:cTn>
                              </p:par>
                            </p:childTnLst>
                          </p:cTn>
                        </p:par>
                      </p:childTnLst>
                    </p:cTn>
                  </p:par>
                  <p:par>
                    <p:cTn id="52" fill="hold">
                      <p:stCondLst>
                        <p:cond delay="indefinite"/>
                      </p:stCondLst>
                      <p:childTnLst>
                        <p:par>
                          <p:cTn id="51"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7" grpId="0" animBg="1"/>
      <p:bldP spid="8" grpId="0" animBg="1"/>
      <p:bldP spid="9" grpId="0" animBg="1"/>
      <p:bldP spid="10" grpId="0" animBg="1"/>
    </p:bld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Medio extracelular"/>
          <p:cNvSpPr/>
          <p:nvPr/>
        </p:nvSpPr>
        <p:spPr>
          <a:xfrm>
            <a:off x="365760" y="1051560"/>
            <a:ext cx="6035040" cy="5212080"/>
          </a:xfrm>
          <a:prstGeom prst="rect">
            <a:avLst/>
          </a:prstGeom>
          <a:solidFill>
            <a:srgbClr val="FFFFFF">
              <a:alpha val="40000"/>
            </a:srgbClr>
          </a:solidFill>
          <a:ln w="19050" cap="rnd">
            <a:solidFill>
              <a:srgbClr val="1E1E1E"/>
            </a:solidFill>
            <a:round/>
          </a:ln>
        </p:spPr>
      </p:sp>
      <p:sp>
        <p:nvSpPr>
          <p:cNvPr id="7" name="!!Rótulo medio"/>
          <p:cNvSpPr txBox="1"/>
          <p:nvPr/>
        </p:nvSpPr>
        <p:spPr>
          <a:xfrm>
            <a:off x="502920" y="1097280"/>
            <a:ext cx="5760720" cy="365760"/>
          </a:xfrm>
          <a:prstGeom prst="rect">
            <a:avLst/>
          </a:prstGeom>
          <a:noFill/>
          <a:ln>
            <a:noFill/>
          </a:ln>
        </p:spPr>
        <p:txBody>
          <a:bodyPr wrap="square" lIns="0" tIns="0" rIns="0" bIns="0" anchor="ctr" rtlCol="0">
            <a:noAutofit/>
          </a:bodyPr>
          <a:lstStyle/>
          <a:p>
            <a:pPr algn="ctr">
              <a:spcAft>
                <a:spcPts val="300"/>
              </a:spcAft>
              <a:buNone/>
            </a:pPr>
            <a:r>
              <a:rPr lang="es-AR" sz="13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PLASMA ISOTÓNICO (~285–295 mOsm/kg)</a:t>
            </a:r>
            <a:endParaRPr lang="es-AR" sz="1350" dirty="0">
              <a:latin typeface="Fira Sans Condensed"/>
            </a:endParaRPr>
          </a:p>
        </p:txBody>
      </p:sp>
      <p:sp>
        <p:nvSpPr>
          <p:cNvPr id="8" name="!!Neurona osm"/>
          <p:cNvSpPr/>
          <p:nvPr/>
        </p:nvSpPr>
        <p:spPr>
          <a:xfrm>
            <a:off x="1920240" y="2240280"/>
            <a:ext cx="2743200" cy="2743200"/>
          </a:xfrm>
          <a:prstGeom prst="ellipse">
            <a:avLst/>
          </a:prstGeom>
          <a:gradFill rotWithShape="1">
            <a:gsLst>
              <a:gs pos="0">
                <a:srgbClr val="DEC8E6"/>
              </a:gs>
              <a:gs pos="55000">
                <a:srgbClr val="C39BD3"/>
              </a:gs>
              <a:gs pos="100000">
                <a:srgbClr val="92749E"/>
              </a:gs>
            </a:gsLst>
            <a:path path="circle">
              <a:fillToRect l="32000" t="28000" r="68000" b="72000"/>
            </a:path>
          </a:gradFill>
          <a:ln w="31750" cap="rnd">
            <a:solidFill>
              <a:srgbClr val="5B2C6F"/>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NEURONA</a:t>
            </a:r>
            <a:endParaRPr lang="es-AR" sz="1400" dirty="0">
              <a:latin typeface="Fira Sans Condensed"/>
            </a:endParaRPr>
          </a:p>
        </p:txBody>
      </p:sp>
      <p:sp>
        <p:nvSpPr>
          <p:cNvPr id="9" name="!!Agua osm 0"/>
          <p:cNvSpPr/>
          <p:nvPr/>
        </p:nvSpPr>
        <p:spPr>
          <a:xfrm>
            <a:off x="2560320" y="297180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0" name="!!Agua osm 1"/>
          <p:cNvSpPr/>
          <p:nvPr/>
        </p:nvSpPr>
        <p:spPr>
          <a:xfrm>
            <a:off x="3566160" y="28803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1" name="!!Agua osm 2"/>
          <p:cNvSpPr/>
          <p:nvPr/>
        </p:nvSpPr>
        <p:spPr>
          <a:xfrm>
            <a:off x="2743200" y="40233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2" name="!!Agua osm 3"/>
          <p:cNvSpPr/>
          <p:nvPr/>
        </p:nvSpPr>
        <p:spPr>
          <a:xfrm>
            <a:off x="3703320" y="397764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3" name="!!Agua osm 4"/>
          <p:cNvSpPr/>
          <p:nvPr/>
        </p:nvSpPr>
        <p:spPr>
          <a:xfrm>
            <a:off x="5394960" y="35661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4" name="!!Agua osm 5"/>
          <p:cNvSpPr/>
          <p:nvPr/>
        </p:nvSpPr>
        <p:spPr>
          <a:xfrm>
            <a:off x="914400" y="365760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5" name="!!Glc osm 0"/>
          <p:cNvSpPr/>
          <p:nvPr/>
        </p:nvSpPr>
        <p:spPr>
          <a:xfrm>
            <a:off x="914400" y="23774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6" name="!!Glc osm 1"/>
          <p:cNvSpPr/>
          <p:nvPr/>
        </p:nvSpPr>
        <p:spPr>
          <a:xfrm>
            <a:off x="5303520" y="246888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7" name="!!Glc osm 2"/>
          <p:cNvSpPr/>
          <p:nvPr/>
        </p:nvSpPr>
        <p:spPr>
          <a:xfrm>
            <a:off x="1371600" y="48463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grpSp>
        <p:nvGrpSpPr>
          <p:cNvPr id="18" name="Cuadro Principio"/>
          <p:cNvGrpSpPr/>
          <p:nvPr/>
        </p:nvGrpSpPr>
        <p:grpSpPr>
          <a:xfrm>
            <a:off x="6675120" y="1051560"/>
            <a:ext cx="5166360" cy="2743200"/>
            <a:chOff x="6675120" y="1051560"/>
            <a:chExt cx="5166360" cy="2743200"/>
          </a:xfrm>
        </p:grpSpPr>
        <p:sp>
          <p:nvSpPr>
            <p:cNvPr id="19" name="Forma 18"/>
            <p:cNvSpPr/>
            <p:nvPr/>
          </p:nvSpPr>
          <p:spPr>
            <a:xfrm>
              <a:off x="6675120" y="1252728"/>
              <a:ext cx="5166360" cy="2542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El agua cruza libremente las membranas por </a:t>
              </a:r>
              <a:r>
                <a:rPr lang="es-AR" sz="1500" b="1" dirty="0">
                  <a:solidFill>
                    <a:srgbClr val="1E1E1E"/>
                  </a:solidFill>
                  <a:latin typeface="Fira Sans Condensed"/>
                  <a:ea typeface="Fira Sans Condensed"/>
                  <a:cs typeface="Fira Sans Condensed"/>
                  <a:sym typeface="Fira Sans Condensed"/>
                </a:rPr>
                <a:t>acuaporinas</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Se mueve hacia donde hay </a:t>
              </a:r>
              <a:r>
                <a:rPr lang="es-AR" sz="1500" b="1" dirty="0">
                  <a:solidFill>
                    <a:srgbClr val="1E1E1E"/>
                  </a:solidFill>
                  <a:latin typeface="Fira Sans Condensed"/>
                  <a:ea typeface="Fira Sans Condensed"/>
                  <a:cs typeface="Fira Sans Condensed"/>
                  <a:sym typeface="Fira Sans Condensed"/>
                </a:rPr>
                <a:t>más solutos efectivos</a:t>
              </a:r>
              <a:r>
                <a:rPr lang="es-AR" sz="1500" dirty="0">
                  <a:solidFill>
                    <a:srgbClr val="1E1E1E"/>
                  </a:solidFill>
                  <a:latin typeface="Fira Sans Condensed"/>
                  <a:ea typeface="Fira Sans Condensed"/>
                  <a:cs typeface="Fira Sans Condensed"/>
                  <a:sym typeface="Fira Sans Condensed"/>
                </a:rPr>
                <a:t> (que no atraviesan la membrana).</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En equilibrio, la osmolalidad intracelular = extracelular: el </a:t>
              </a:r>
              <a:r>
                <a:rPr lang="es-AR" sz="1500" b="1" dirty="0">
                  <a:solidFill>
                    <a:srgbClr val="1E1E1E"/>
                  </a:solidFill>
                  <a:latin typeface="Fira Sans Condensed"/>
                  <a:ea typeface="Fira Sans Condensed"/>
                  <a:cs typeface="Fira Sans Condensed"/>
                  <a:sym typeface="Fira Sans Condensed"/>
                </a:rPr>
                <a:t>volumen neuronal</a:t>
              </a:r>
              <a:r>
                <a:rPr lang="es-AR" sz="1500" dirty="0">
                  <a:solidFill>
                    <a:srgbClr val="1E1E1E"/>
                  </a:solidFill>
                  <a:latin typeface="Fira Sans Condensed"/>
                  <a:ea typeface="Fira Sans Condensed"/>
                  <a:cs typeface="Fira Sans Condensed"/>
                  <a:sym typeface="Fira Sans Condensed"/>
                </a:rPr>
                <a:t> es estable.</a:t>
              </a:r>
              <a:endParaRPr lang="es-AR" sz="1500" dirty="0">
                <a:latin typeface="Fira Sans Condensed"/>
              </a:endParaRPr>
            </a:p>
          </p:txBody>
        </p:sp>
        <p:sp>
          <p:nvSpPr>
            <p:cNvPr id="20" name="Forma 19"/>
            <p:cNvSpPr/>
            <p:nvPr/>
          </p:nvSpPr>
          <p:spPr>
            <a:xfrm>
              <a:off x="6812280" y="1051560"/>
              <a:ext cx="116668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PRINCIPIO</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TONICIDAD · 1 · NEURONA EN MEDIO ISOTÓNICO</a:t>
            </a:r>
            <a:endParaRPr lang="es-AR" sz="34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Medio extracelular"/>
          <p:cNvSpPr/>
          <p:nvPr/>
        </p:nvSpPr>
        <p:spPr>
          <a:xfrm>
            <a:off x="365760" y="1051560"/>
            <a:ext cx="6035040" cy="5212080"/>
          </a:xfrm>
          <a:prstGeom prst="rect">
            <a:avLst/>
          </a:prstGeom>
          <a:solidFill>
            <a:srgbClr val="FFC000">
              <a:alpha val="30000"/>
            </a:srgbClr>
          </a:solidFill>
          <a:ln w="19050" cap="rnd">
            <a:solidFill>
              <a:srgbClr val="1E1E1E"/>
            </a:solidFill>
            <a:round/>
          </a:ln>
        </p:spPr>
      </p:sp>
      <p:sp>
        <p:nvSpPr>
          <p:cNvPr id="7" name="!!Rótulo medio"/>
          <p:cNvSpPr txBox="1"/>
          <p:nvPr/>
        </p:nvSpPr>
        <p:spPr>
          <a:xfrm>
            <a:off x="502920" y="1097280"/>
            <a:ext cx="5760720" cy="365760"/>
          </a:xfrm>
          <a:prstGeom prst="rect">
            <a:avLst/>
          </a:prstGeom>
          <a:noFill/>
          <a:ln>
            <a:noFill/>
          </a:ln>
        </p:spPr>
        <p:txBody>
          <a:bodyPr wrap="square" lIns="0" tIns="0" rIns="0" bIns="0" anchor="ctr" rtlCol="0">
            <a:noAutofit/>
          </a:bodyPr>
          <a:lstStyle/>
          <a:p>
            <a:pPr algn="ctr">
              <a:spcAft>
                <a:spcPts val="300"/>
              </a:spcAft>
              <a:buNone/>
            </a:pPr>
            <a:r>
              <a:rPr lang="es-AR" sz="13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PLASMA HIPERTÓNICO: GLUCOSA ↑↑ (soluto efectivo)</a:t>
            </a:r>
            <a:endParaRPr lang="es-AR" sz="1350" dirty="0">
              <a:latin typeface="Fira Sans Condensed"/>
            </a:endParaRPr>
          </a:p>
        </p:txBody>
      </p:sp>
      <p:sp>
        <p:nvSpPr>
          <p:cNvPr id="8" name="!!Neurona osm"/>
          <p:cNvSpPr/>
          <p:nvPr/>
        </p:nvSpPr>
        <p:spPr>
          <a:xfrm>
            <a:off x="2331720" y="2651760"/>
            <a:ext cx="1920240" cy="1920240"/>
          </a:xfrm>
          <a:prstGeom prst="ellipse">
            <a:avLst/>
          </a:prstGeom>
          <a:gradFill rotWithShape="1">
            <a:gsLst>
              <a:gs pos="0">
                <a:srgbClr val="DEC8E6"/>
              </a:gs>
              <a:gs pos="55000">
                <a:srgbClr val="C39BD3"/>
              </a:gs>
              <a:gs pos="100000">
                <a:srgbClr val="92749E"/>
              </a:gs>
            </a:gsLst>
            <a:path path="circle">
              <a:fillToRect l="32000" t="28000" r="68000" b="72000"/>
            </a:path>
          </a:gradFill>
          <a:ln w="31750" cap="rnd">
            <a:solidFill>
              <a:srgbClr val="5B2C6F"/>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NEURONA</a:t>
            </a:r>
            <a:endParaRPr lang="es-AR" sz="1400" dirty="0">
              <a:latin typeface="Fira Sans Condensed"/>
            </a:endParaRPr>
          </a:p>
        </p:txBody>
      </p:sp>
      <p:sp>
        <p:nvSpPr>
          <p:cNvPr id="9" name="!!Agua osm 0"/>
          <p:cNvSpPr/>
          <p:nvPr/>
        </p:nvSpPr>
        <p:spPr>
          <a:xfrm>
            <a:off x="731520" y="17373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0" name="!!Agua osm 1"/>
          <p:cNvSpPr/>
          <p:nvPr/>
        </p:nvSpPr>
        <p:spPr>
          <a:xfrm>
            <a:off x="5669280" y="182880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1" name="!!Agua osm 2"/>
          <p:cNvSpPr/>
          <p:nvPr/>
        </p:nvSpPr>
        <p:spPr>
          <a:xfrm>
            <a:off x="822960" y="53949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2" name="!!Agua osm 3"/>
          <p:cNvSpPr/>
          <p:nvPr/>
        </p:nvSpPr>
        <p:spPr>
          <a:xfrm>
            <a:off x="5577840" y="530352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3" name="!!Agua osm 4"/>
          <p:cNvSpPr/>
          <p:nvPr/>
        </p:nvSpPr>
        <p:spPr>
          <a:xfrm>
            <a:off x="5394960" y="35661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4" name="!!Agua osm 5"/>
          <p:cNvSpPr/>
          <p:nvPr/>
        </p:nvSpPr>
        <p:spPr>
          <a:xfrm>
            <a:off x="914400" y="365760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5" name="!!Glc osm 0"/>
          <p:cNvSpPr/>
          <p:nvPr/>
        </p:nvSpPr>
        <p:spPr>
          <a:xfrm>
            <a:off x="914400" y="23774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6" name="!!Glc osm 1"/>
          <p:cNvSpPr/>
          <p:nvPr/>
        </p:nvSpPr>
        <p:spPr>
          <a:xfrm>
            <a:off x="5303520" y="246888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7" name="!!Glc osm 2"/>
          <p:cNvSpPr/>
          <p:nvPr/>
        </p:nvSpPr>
        <p:spPr>
          <a:xfrm>
            <a:off x="1371600" y="48463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8" name="!!Glc osm 3"/>
          <p:cNvSpPr/>
          <p:nvPr/>
        </p:nvSpPr>
        <p:spPr>
          <a:xfrm>
            <a:off x="5120640" y="46634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9" name="!!Glc osm 4"/>
          <p:cNvSpPr/>
          <p:nvPr/>
        </p:nvSpPr>
        <p:spPr>
          <a:xfrm>
            <a:off x="1828800" y="16916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20" name="!!Glc osm 5"/>
          <p:cNvSpPr/>
          <p:nvPr/>
        </p:nvSpPr>
        <p:spPr>
          <a:xfrm>
            <a:off x="4663440" y="16916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21" name="!!Glc osm 6"/>
          <p:cNvSpPr/>
          <p:nvPr/>
        </p:nvSpPr>
        <p:spPr>
          <a:xfrm>
            <a:off x="822960" y="30175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22" name="!!Glc osm 7"/>
          <p:cNvSpPr/>
          <p:nvPr/>
        </p:nvSpPr>
        <p:spPr>
          <a:xfrm>
            <a:off x="5577840" y="292608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23" name="!!Glc osm 8"/>
          <p:cNvSpPr/>
          <p:nvPr/>
        </p:nvSpPr>
        <p:spPr>
          <a:xfrm>
            <a:off x="3108960" y="566928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grpSp>
        <p:nvGrpSpPr>
          <p:cNvPr id="24" name="Cuadro Hipertonicidad"/>
          <p:cNvGrpSpPr/>
          <p:nvPr/>
        </p:nvGrpSpPr>
        <p:grpSpPr>
          <a:xfrm>
            <a:off x="6675120" y="1051560"/>
            <a:ext cx="5166360" cy="3108960"/>
            <a:chOff x="6675120" y="1051560"/>
            <a:chExt cx="5166360" cy="3108960"/>
          </a:xfrm>
        </p:grpSpPr>
        <p:sp>
          <p:nvSpPr>
            <p:cNvPr id="25" name="Forma 24"/>
            <p:cNvSpPr/>
            <p:nvPr/>
          </p:nvSpPr>
          <p:spPr>
            <a:xfrm>
              <a:off x="6675120" y="1252728"/>
              <a:ext cx="5166360" cy="2907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La glucosa, sin insulina eficaz en muchos tejidos, actúa como </a:t>
              </a:r>
              <a:r>
                <a:rPr lang="es-AR" sz="1500" b="1" dirty="0">
                  <a:solidFill>
                    <a:srgbClr val="1E1E1E"/>
                  </a:solidFill>
                  <a:latin typeface="Fira Sans Condensed"/>
                  <a:ea typeface="Fira Sans Condensed"/>
                  <a:cs typeface="Fira Sans Condensed"/>
                  <a:sym typeface="Fira Sans Condensed"/>
                </a:rPr>
                <a:t>soluto efectivo</a:t>
              </a:r>
              <a:r>
                <a:rPr lang="es-AR" sz="1500" dirty="0">
                  <a:solidFill>
                    <a:srgbClr val="1E1E1E"/>
                  </a:solidFill>
                  <a:latin typeface="Fira Sans Condensed"/>
                  <a:ea typeface="Fira Sans Condensed"/>
                  <a:cs typeface="Fira Sans Condensed"/>
                  <a:sym typeface="Fira Sans Condensed"/>
                </a:rPr>
                <a:t> extracelular.</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El agua </a:t>
              </a:r>
              <a:r>
                <a:rPr lang="es-AR" sz="1500" b="1" dirty="0">
                  <a:solidFill>
                    <a:srgbClr val="1E1E1E"/>
                  </a:solidFill>
                  <a:latin typeface="Fira Sans Condensed"/>
                  <a:ea typeface="Fira Sans Condensed"/>
                  <a:cs typeface="Fira Sans Condensed"/>
                  <a:sym typeface="Fira Sans Condensed"/>
                </a:rPr>
                <a:t>sale</a:t>
              </a:r>
              <a:r>
                <a:rPr lang="es-AR" sz="1500" dirty="0">
                  <a:solidFill>
                    <a:srgbClr val="1E1E1E"/>
                  </a:solidFill>
                  <a:latin typeface="Fira Sans Condensed"/>
                  <a:ea typeface="Fira Sans Condensed"/>
                  <a:cs typeface="Fira Sans Condensed"/>
                  <a:sym typeface="Fira Sans Condensed"/>
                </a:rPr>
                <a:t> de las células → </a:t>
              </a:r>
              <a:r>
                <a:rPr lang="es-AR" sz="1500" b="1" dirty="0">
                  <a:solidFill>
                    <a:srgbClr val="1E1E1E"/>
                  </a:solidFill>
                  <a:latin typeface="Fira Sans Condensed"/>
                  <a:ea typeface="Fira Sans Condensed"/>
                  <a:cs typeface="Fira Sans Condensed"/>
                  <a:sym typeface="Fira Sans Condensed"/>
                </a:rPr>
                <a:t>deshidratación neuronal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Resultado clínico: </a:t>
              </a:r>
              <a:r>
                <a:rPr lang="es-AR" sz="1500" b="1" dirty="0">
                  <a:solidFill>
                    <a:srgbClr val="1E1E1E"/>
                  </a:solidFill>
                  <a:latin typeface="Fira Sans Condensed"/>
                  <a:ea typeface="Fira Sans Condensed"/>
                  <a:cs typeface="Fira Sans Condensed"/>
                  <a:sym typeface="Fira Sans Condensed"/>
                </a:rPr>
                <a:t>somnolencia, confusión, coma</a:t>
              </a:r>
              <a:r>
                <a:rPr lang="es-AR" sz="1500" dirty="0">
                  <a:solidFill>
                    <a:srgbClr val="1E1E1E"/>
                  </a:solidFill>
                  <a:latin typeface="Fira Sans Condensed"/>
                  <a:ea typeface="Fira Sans Condensed"/>
                  <a:cs typeface="Fira Sans Condensed"/>
                  <a:sym typeface="Fira Sans Condensed"/>
                </a:rPr>
                <a:t> (Glasgow 7).</a:t>
              </a:r>
              <a:endParaRPr lang="es-AR" sz="1500" dirty="0">
                <a:latin typeface="Fira Sans Condensed"/>
              </a:endParaRPr>
            </a:p>
          </p:txBody>
        </p:sp>
        <p:sp>
          <p:nvSpPr>
            <p:cNvPr id="26" name="Forma 25"/>
            <p:cNvSpPr/>
            <p:nvPr/>
          </p:nvSpPr>
          <p:spPr>
            <a:xfrm>
              <a:off x="6812280" y="1051560"/>
              <a:ext cx="1678415"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HIPERTONICIDAD</a:t>
              </a:r>
              <a:endParaRPr lang="es-AR" sz="1400" dirty="0">
                <a:latin typeface="Fira Sans Condensed"/>
              </a:endParaRPr>
            </a:p>
          </p:txBody>
        </p:sp>
      </p:grpSp>
      <p:sp>
        <p:nvSpPr>
          <p:cNvPr id="27" name="Perla clínica"/>
          <p:cNvSpPr/>
          <p:nvPr/>
        </p:nvSpPr>
        <p:spPr>
          <a:xfrm>
            <a:off x="6675120" y="4389120"/>
            <a:ext cx="5166360" cy="12801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El daño depende de la </a:t>
            </a:r>
            <a:r>
              <a:rPr lang="es-AR" sz="1500" b="1" dirty="0">
                <a:solidFill>
                  <a:srgbClr val="FFFFFF"/>
                </a:solidFill>
                <a:latin typeface="Fira Sans Condensed"/>
                <a:ea typeface="Fira Sans Condensed"/>
                <a:cs typeface="Fira Sans Condensed"/>
                <a:sym typeface="Fira Sans Condensed"/>
              </a:rPr>
              <a:t>tonicidad</a:t>
            </a:r>
            <a:r>
              <a:rPr lang="es-AR" sz="1500" dirty="0">
                <a:solidFill>
                  <a:srgbClr val="FFFFFF"/>
                </a:solidFill>
                <a:latin typeface="Fira Sans Condensed"/>
                <a:ea typeface="Fira Sans Condensed"/>
                <a:cs typeface="Fira Sans Condensed"/>
                <a:sym typeface="Fira Sans Condensed"/>
              </a:rPr>
              <a:t> (osmolalidad efectiva), no de la osmolalidad total.</a:t>
            </a:r>
            <a:endParaRPr lang="es-AR" sz="1500" dirty="0">
              <a:latin typeface="Fira Sans Condensed"/>
            </a:endParaRPr>
          </a:p>
        </p:txBody>
      </p:sp>
      <p:sp>
        <p:nvSpPr>
          <p:cNvPr id="4"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TONICIDAD · 2 · HIPERGLUCEMIA: EL AGUA SALE DE LA NEURONA</a:t>
            </a:r>
            <a:endParaRPr lang="es-AR" sz="25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500"/>
                                        <p:tgtEl>
                                          <p:spTgt spid="24"/>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7"/>
                                        </p:tgtEl>
                                        <p:attrNameLst>
                                          <p:attrName>style.visibility</p:attrName>
                                        </p:attrNameLst>
                                      </p:cBhvr>
                                      <p:to>
                                        <p:strVal val="visible"/>
                                      </p:to>
                                    </p:set>
                                    <p:anim calcmode="lin" valueType="num">
                                      <p:cBhvr>
                                        <p:cTn id="10" dur="500" fill="hold"/>
                                        <p:tgtEl>
                                          <p:spTgt spid="27"/>
                                        </p:tgtEl>
                                        <p:attrNameLst>
                                          <p:attrName>ppt_w</p:attrName>
                                        </p:attrNameLst>
                                      </p:cBhvr>
                                      <p:tavLst>
                                        <p:tav tm="0">
                                          <p:val>
                                            <p:fltVal val="0"/>
                                          </p:val>
                                        </p:tav>
                                        <p:tav tm="100000">
                                          <p:val>
                                            <p:strVal val="#ppt_w"/>
                                          </p:val>
                                        </p:tav>
                                      </p:tavLst>
                                    </p:anim>
                                    <p:anim calcmode="lin" valueType="num">
                                      <p:cBhvr>
                                        <p:cTn id="11" dur="500" fill="hold"/>
                                        <p:tgtEl>
                                          <p:spTgt spid="27"/>
                                        </p:tgtEl>
                                        <p:attrNameLst>
                                          <p:attrName>ppt_h</p:attrName>
                                        </p:attrNameLst>
                                      </p:cBhvr>
                                      <p:tavLst>
                                        <p:tav tm="0">
                                          <p:val>
                                            <p:fltVal val="0"/>
                                          </p:val>
                                        </p:tav>
                                        <p:tav tm="100000">
                                          <p:val>
                                            <p:strVal val="#ppt_h"/>
                                          </p:val>
                                        </p:tav>
                                      </p:tavLst>
                                    </p:anim>
                                    <p:animEffect transition="in" filter="fad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Medio extracelular"/>
          <p:cNvSpPr/>
          <p:nvPr/>
        </p:nvSpPr>
        <p:spPr>
          <a:xfrm>
            <a:off x="365760" y="1051560"/>
            <a:ext cx="6035040" cy="5212080"/>
          </a:xfrm>
          <a:prstGeom prst="rect">
            <a:avLst/>
          </a:prstGeom>
          <a:solidFill>
            <a:srgbClr val="9DC3E6">
              <a:alpha val="40000"/>
            </a:srgbClr>
          </a:solidFill>
          <a:ln w="19050" cap="rnd">
            <a:solidFill>
              <a:srgbClr val="1E1E1E"/>
            </a:solidFill>
            <a:round/>
          </a:ln>
        </p:spPr>
      </p:sp>
      <p:sp>
        <p:nvSpPr>
          <p:cNvPr id="7" name="!!Rótulo medio"/>
          <p:cNvSpPr txBox="1"/>
          <p:nvPr/>
        </p:nvSpPr>
        <p:spPr>
          <a:xfrm>
            <a:off x="502920" y="1097280"/>
            <a:ext cx="5760720" cy="365760"/>
          </a:xfrm>
          <a:prstGeom prst="rect">
            <a:avLst/>
          </a:prstGeom>
          <a:noFill/>
          <a:ln>
            <a:noFill/>
          </a:ln>
        </p:spPr>
        <p:txBody>
          <a:bodyPr wrap="square" lIns="0" tIns="0" rIns="0" bIns="0" anchor="ctr" rtlCol="0">
            <a:noAutofit/>
          </a:bodyPr>
          <a:lstStyle/>
          <a:p>
            <a:pPr algn="ctr">
              <a:spcAft>
                <a:spcPts val="300"/>
              </a:spcAft>
              <a:buNone/>
            </a:pPr>
            <a:r>
              <a:rPr lang="es-AR" sz="13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TONICIDAD CORREGIDA DEMASIADO RÁPIDO</a:t>
            </a:r>
            <a:endParaRPr lang="es-AR" sz="1350" dirty="0">
              <a:latin typeface="Fira Sans Condensed"/>
            </a:endParaRPr>
          </a:p>
        </p:txBody>
      </p:sp>
      <p:sp>
        <p:nvSpPr>
          <p:cNvPr id="8" name="!!Neurona osm"/>
          <p:cNvSpPr/>
          <p:nvPr/>
        </p:nvSpPr>
        <p:spPr>
          <a:xfrm>
            <a:off x="1645920" y="1965960"/>
            <a:ext cx="3291840" cy="3291840"/>
          </a:xfrm>
          <a:prstGeom prst="ellipse">
            <a:avLst/>
          </a:prstGeom>
          <a:gradFill rotWithShape="1">
            <a:gsLst>
              <a:gs pos="0">
                <a:srgbClr val="DEC8E6"/>
              </a:gs>
              <a:gs pos="55000">
                <a:srgbClr val="C39BD3"/>
              </a:gs>
              <a:gs pos="100000">
                <a:srgbClr val="92749E"/>
              </a:gs>
            </a:gsLst>
            <a:path path="circle">
              <a:fillToRect l="32000" t="28000" r="68000" b="72000"/>
            </a:path>
          </a:gradFill>
          <a:ln w="31750" cap="rnd">
            <a:solidFill>
              <a:srgbClr val="5B2C6F"/>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NEURONA</a:t>
            </a:r>
            <a:endParaRPr lang="es-AR" sz="1400" dirty="0">
              <a:latin typeface="Fira Sans Condensed"/>
            </a:endParaRPr>
          </a:p>
        </p:txBody>
      </p:sp>
      <p:sp>
        <p:nvSpPr>
          <p:cNvPr id="9" name="!!Agua osm 0"/>
          <p:cNvSpPr/>
          <p:nvPr/>
        </p:nvSpPr>
        <p:spPr>
          <a:xfrm>
            <a:off x="2560320" y="297180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0" name="!!Agua osm 1"/>
          <p:cNvSpPr/>
          <p:nvPr/>
        </p:nvSpPr>
        <p:spPr>
          <a:xfrm>
            <a:off x="3566160" y="28803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1" name="!!Agua osm 2"/>
          <p:cNvSpPr/>
          <p:nvPr/>
        </p:nvSpPr>
        <p:spPr>
          <a:xfrm>
            <a:off x="2743200" y="402336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2" name="!!Agua osm 3"/>
          <p:cNvSpPr/>
          <p:nvPr/>
        </p:nvSpPr>
        <p:spPr>
          <a:xfrm>
            <a:off x="3703320" y="397764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3" name="!!Agua osm 4"/>
          <p:cNvSpPr/>
          <p:nvPr/>
        </p:nvSpPr>
        <p:spPr>
          <a:xfrm>
            <a:off x="3200400" y="443484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4" name="!!Agua osm 5"/>
          <p:cNvSpPr/>
          <p:nvPr/>
        </p:nvSpPr>
        <p:spPr>
          <a:xfrm>
            <a:off x="2377440" y="3520440"/>
            <a:ext cx="365760" cy="365760"/>
          </a:xfrm>
          <a:prstGeom prst="ellipse">
            <a:avLst/>
          </a:prstGeom>
          <a:solidFill>
            <a:srgbClr val="5DADE2"/>
          </a:solidFill>
          <a:ln w="12700" cap="rnd">
            <a:solidFill>
              <a:srgbClr val="1F618D"/>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H₂O</a:t>
            </a:r>
            <a:endParaRPr lang="es-AR" sz="800" dirty="0">
              <a:latin typeface="Fira Sans Condensed"/>
            </a:endParaRPr>
          </a:p>
        </p:txBody>
      </p:sp>
      <p:sp>
        <p:nvSpPr>
          <p:cNvPr id="15" name="!!Glc osm 0"/>
          <p:cNvSpPr/>
          <p:nvPr/>
        </p:nvSpPr>
        <p:spPr>
          <a:xfrm>
            <a:off x="914400" y="237744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6" name="!!Glc osm 1"/>
          <p:cNvSpPr/>
          <p:nvPr/>
        </p:nvSpPr>
        <p:spPr>
          <a:xfrm>
            <a:off x="5303520" y="246888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sp>
        <p:nvSpPr>
          <p:cNvPr id="17" name="!!Glc osm 2"/>
          <p:cNvSpPr/>
          <p:nvPr/>
        </p:nvSpPr>
        <p:spPr>
          <a:xfrm>
            <a:off x="1371600" y="4846320"/>
            <a:ext cx="384048" cy="384048"/>
          </a:xfrm>
          <a:prstGeom prst="hexagon">
            <a:avLst>
              <a:gd name="adj" fmla="val 28000"/>
              <a:gd name="vf" fmla="val 115470"/>
            </a:avLst>
          </a:prstGeom>
          <a:gradFill rotWithShape="1">
            <a:gsLst>
              <a:gs pos="0">
                <a:srgbClr val="7FADD8"/>
              </a:gs>
              <a:gs pos="55000">
                <a:srgbClr val="3B82C4"/>
              </a:gs>
              <a:gs pos="100000">
                <a:srgbClr val="2F689C"/>
              </a:gs>
            </a:gsLst>
            <a:path path="circle">
              <a:fillToRect l="32000" t="28000" r="68000" b="72000"/>
            </a:path>
          </a:gradFill>
          <a:ln w="12700" cap="rnd">
            <a:solidFill>
              <a:srgbClr val="20476B"/>
            </a:solidFill>
            <a:round/>
          </a:ln>
        </p:spPr>
        <p:txBody>
          <a:bodyPr wrap="square" lIns="0" tIns="0" rIns="0" bIns="0" anchor="ctr" rtlCol="0">
            <a:noAutofit/>
          </a:bodyPr>
          <a:lstStyle/>
          <a:p>
            <a:pPr algn="ctr">
              <a:spcAft>
                <a:spcPts val="300"/>
              </a:spcAft>
              <a:buNone/>
            </a:pPr>
            <a:r>
              <a:rPr lang="es-AR" sz="1092" b="1" dirty="0">
                <a:solidFill>
                  <a:srgbClr val="FFFFFF"/>
                </a:solidFill>
                <a:latin typeface="Fira Sans Condensed"/>
                <a:ea typeface="Fira Sans Condensed"/>
                <a:cs typeface="Fira Sans Condensed"/>
                <a:sym typeface="Fira Sans Condensed"/>
              </a:rPr>
              <a:t>Glc</a:t>
            </a:r>
            <a:endParaRPr lang="es-AR" sz="1092" dirty="0">
              <a:latin typeface="Fira Sans Condensed"/>
            </a:endParaRPr>
          </a:p>
        </p:txBody>
      </p:sp>
      <p:grpSp>
        <p:nvGrpSpPr>
          <p:cNvPr id="18" name="Cuadro Riesgo de corrección"/>
          <p:cNvGrpSpPr/>
          <p:nvPr/>
        </p:nvGrpSpPr>
        <p:grpSpPr>
          <a:xfrm>
            <a:off x="6675120" y="1051560"/>
            <a:ext cx="5166360" cy="3108960"/>
            <a:chOff x="6675120" y="1051560"/>
            <a:chExt cx="5166360" cy="3108960"/>
          </a:xfrm>
        </p:grpSpPr>
        <p:sp>
          <p:nvSpPr>
            <p:cNvPr id="19" name="Forma 18"/>
            <p:cNvSpPr/>
            <p:nvPr/>
          </p:nvSpPr>
          <p:spPr>
            <a:xfrm>
              <a:off x="6675120" y="1252728"/>
              <a:ext cx="5166360" cy="2907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Si glucosa y osmolalidad descienden </a:t>
              </a:r>
              <a:r>
                <a:rPr lang="es-AR" sz="1500" b="1" dirty="0">
                  <a:solidFill>
                    <a:srgbClr val="1E1E1E"/>
                  </a:solidFill>
                  <a:latin typeface="Fira Sans Condensed"/>
                  <a:ea typeface="Fira Sans Condensed"/>
                  <a:cs typeface="Fira Sans Condensed"/>
                  <a:sym typeface="Fira Sans Condensed"/>
                </a:rPr>
                <a:t>bruscamente</a:t>
              </a:r>
              <a:r>
                <a:rPr lang="es-AR" sz="1500" dirty="0">
                  <a:solidFill>
                    <a:srgbClr val="1E1E1E"/>
                  </a:solidFill>
                  <a:latin typeface="Fira Sans Condensed"/>
                  <a:ea typeface="Fira Sans Condensed"/>
                  <a:cs typeface="Fira Sans Condensed"/>
                  <a:sym typeface="Fira Sans Condensed"/>
                </a:rPr>
                <a:t>, el agua </a:t>
              </a:r>
              <a:r>
                <a:rPr lang="es-AR" sz="1500" b="1" dirty="0">
                  <a:solidFill>
                    <a:srgbClr val="1E1E1E"/>
                  </a:solidFill>
                  <a:latin typeface="Fira Sans Condensed"/>
                  <a:ea typeface="Fira Sans Condensed"/>
                  <a:cs typeface="Fira Sans Condensed"/>
                  <a:sym typeface="Fira Sans Condensed"/>
                </a:rPr>
                <a:t>reingresa</a:t>
              </a:r>
              <a:r>
                <a:rPr lang="es-AR" sz="1500" dirty="0">
                  <a:solidFill>
                    <a:srgbClr val="1E1E1E"/>
                  </a:solidFill>
                  <a:latin typeface="Fira Sans Condensed"/>
                  <a:ea typeface="Fira Sans Condensed"/>
                  <a:cs typeface="Fira Sans Condensed"/>
                  <a:sym typeface="Fira Sans Condensed"/>
                </a:rPr>
                <a:t> a células adaptadas al medio hipertónico.</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Gradientes osmóticos peligrosos → </a:t>
              </a:r>
              <a:r>
                <a:rPr lang="es-AR" sz="1500" b="1" dirty="0">
                  <a:solidFill>
                    <a:srgbClr val="1E1E1E"/>
                  </a:solidFill>
                  <a:latin typeface="Fira Sans Condensed"/>
                  <a:ea typeface="Fira Sans Condensed"/>
                  <a:cs typeface="Fira Sans Condensed"/>
                  <a:sym typeface="Fira Sans Condensed"/>
                </a:rPr>
                <a:t>complicaciones neurológicas</a:t>
              </a:r>
              <a:r>
                <a:rPr lang="es-AR" sz="1500" dirty="0">
                  <a:solidFill>
                    <a:srgbClr val="1E1E1E"/>
                  </a:solidFill>
                  <a:latin typeface="Fira Sans Condensed"/>
                  <a:ea typeface="Fira Sans Condensed"/>
                  <a:cs typeface="Fira Sans Condensed"/>
                  <a:sym typeface="Fira Sans Condensed"/>
                </a:rPr>
                <a:t> (edema).</a:t>
              </a:r>
              <a:endParaRPr lang="es-AR" sz="1500" dirty="0">
                <a:latin typeface="Fira Sans Condensed"/>
              </a:endParaRPr>
            </a:p>
          </p:txBody>
        </p:sp>
        <p:sp>
          <p:nvSpPr>
            <p:cNvPr id="20" name="Forma 19"/>
            <p:cNvSpPr/>
            <p:nvPr/>
          </p:nvSpPr>
          <p:spPr>
            <a:xfrm>
              <a:off x="6812280" y="1051560"/>
              <a:ext cx="222316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RIESGO DE CORRECCIÓN</a:t>
              </a:r>
              <a:endParaRPr lang="es-AR" sz="1400" dirty="0">
                <a:latin typeface="Fira Sans Condensed"/>
              </a:endParaRPr>
            </a:p>
          </p:txBody>
        </p:sp>
      </p:grpSp>
      <p:sp>
        <p:nvSpPr>
          <p:cNvPr id="21" name="Perla clínica"/>
          <p:cNvSpPr/>
          <p:nvPr/>
        </p:nvSpPr>
        <p:spPr>
          <a:xfrm>
            <a:off x="6675120" y="4389120"/>
            <a:ext cx="5166360" cy="12801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En el EHH importa una corrección </a:t>
            </a:r>
            <a:r>
              <a:rPr lang="es-AR" sz="1500" b="1" dirty="0">
                <a:solidFill>
                  <a:srgbClr val="FFFFFF"/>
                </a:solidFill>
                <a:latin typeface="Fira Sans Condensed"/>
                <a:ea typeface="Fira Sans Condensed"/>
                <a:cs typeface="Fira Sans Condensed"/>
                <a:sym typeface="Fira Sans Condensed"/>
              </a:rPr>
              <a:t>controlada</a:t>
            </a:r>
            <a:r>
              <a:rPr lang="es-AR" sz="1500" dirty="0">
                <a:solidFill>
                  <a:srgbClr val="FFFFFF"/>
                </a:solidFill>
                <a:latin typeface="Fira Sans Condensed"/>
                <a:ea typeface="Fira Sans Condensed"/>
                <a:cs typeface="Fira Sans Condensed"/>
                <a:sym typeface="Fira Sans Condensed"/>
              </a:rPr>
              <a:t> de osmolalidad y glucosa, con monitoreo seriado.</a:t>
            </a:r>
            <a:endParaRPr lang="es-AR" sz="1500" dirty="0">
              <a:latin typeface="Fira Sans Condensed"/>
            </a:endParaRPr>
          </a:p>
        </p:txBody>
      </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TONICIDAD · 3 · CORRECCIÓN BRUSCA: RIESGO DE EDEMA</a:t>
            </a:r>
            <a:endParaRPr lang="es-AR" sz="29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500"/>
                                        <p:tgtEl>
                                          <p:spTgt spid="18"/>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p:cTn id="10" dur="500" fill="hold"/>
                                        <p:tgtEl>
                                          <p:spTgt spid="21"/>
                                        </p:tgtEl>
                                        <p:attrNameLst>
                                          <p:attrName>ppt_w</p:attrName>
                                        </p:attrNameLst>
                                      </p:cBhvr>
                                      <p:tavLst>
                                        <p:tav tm="0">
                                          <p:val>
                                            <p:fltVal val="0"/>
                                          </p:val>
                                        </p:tav>
                                        <p:tav tm="100000">
                                          <p:val>
                                            <p:strVal val="#ppt_w"/>
                                          </p:val>
                                        </p:tav>
                                      </p:tavLst>
                                    </p:anim>
                                    <p:anim calcmode="lin" valueType="num">
                                      <p:cBhvr>
                                        <p:cTn id="11" dur="500" fill="hold"/>
                                        <p:tgtEl>
                                          <p:spTgt spid="21"/>
                                        </p:tgtEl>
                                        <p:attrNameLst>
                                          <p:attrName>ppt_h</p:attrName>
                                        </p:attrNameLst>
                                      </p:cBhvr>
                                      <p:tavLst>
                                        <p:tav tm="0">
                                          <p:val>
                                            <p:fltVal val="0"/>
                                          </p:val>
                                        </p:tav>
                                        <p:tav tm="100000">
                                          <p:val>
                                            <p:strVal val="#ppt_h"/>
                                          </p:val>
                                        </p:tav>
                                      </p:tavLst>
                                    </p:anim>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sp>
        <p:nvSpPr>
          <p:cNvPr id="6" name="Fórmula"/>
          <p:cNvSpPr/>
          <p:nvPr/>
        </p:nvSpPr>
        <p:spPr>
          <a:xfrm>
            <a:off x="365760" y="1097280"/>
            <a:ext cx="6583680" cy="73152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1E1E1E"/>
                </a:solidFill>
                <a:latin typeface="Fira Sans Condensed"/>
                <a:ea typeface="Fira Sans Condensed"/>
                <a:cs typeface="Fira Sans Condensed"/>
                <a:sym typeface="Fira Sans Condensed"/>
              </a:rPr>
              <a:t>Osm total ≈ 2 × Na⁺ + glucosa/18 + BUN/2,8</a:t>
            </a:r>
            <a:endParaRPr lang="es-AR" sz="2000" dirty="0">
              <a:latin typeface="Fira Sans Condensed"/>
            </a:endParaRPr>
          </a:p>
        </p:txBody>
      </p:sp>
      <p:sp>
        <p:nvSpPr>
          <p:cNvPr id="7" name="Fórmula_2"/>
          <p:cNvSpPr/>
          <p:nvPr/>
        </p:nvSpPr>
        <p:spPr>
          <a:xfrm>
            <a:off x="365760" y="2011680"/>
            <a:ext cx="6583680" cy="73152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Osm efectiva ≈ 2 × Na⁺ + glucosa/18</a:t>
            </a:r>
            <a:endParaRPr lang="es-AR" sz="2000" dirty="0">
              <a:latin typeface="Fira Sans Condensed"/>
            </a:endParaRPr>
          </a:p>
        </p:txBody>
      </p:sp>
      <p:grpSp>
        <p:nvGrpSpPr>
          <p:cNvPr id="8" name="Cuadro Unidades"/>
          <p:cNvGrpSpPr/>
          <p:nvPr/>
        </p:nvGrpSpPr>
        <p:grpSpPr>
          <a:xfrm>
            <a:off x="7223760" y="1097280"/>
            <a:ext cx="4617720" cy="1645920"/>
            <a:chOff x="7223760" y="1097280"/>
            <a:chExt cx="4617720" cy="1645920"/>
          </a:xfrm>
        </p:grpSpPr>
        <p:sp>
          <p:nvSpPr>
            <p:cNvPr id="9" name="Forma 8"/>
            <p:cNvSpPr/>
            <p:nvPr/>
          </p:nvSpPr>
          <p:spPr>
            <a:xfrm>
              <a:off x="7223760" y="1298448"/>
              <a:ext cx="4617720" cy="14447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Na⁺ en </a:t>
              </a:r>
              <a:r>
                <a:rPr lang="es-AR" sz="1400" b="1" dirty="0">
                  <a:solidFill>
                    <a:srgbClr val="1E1E1E"/>
                  </a:solidFill>
                  <a:latin typeface="Fira Sans Condensed"/>
                  <a:ea typeface="Fira Sans Condensed"/>
                  <a:cs typeface="Fira Sans Condensed"/>
                  <a:sym typeface="Fira Sans Condensed"/>
                </a:rPr>
                <a:t>mmol/L</a:t>
              </a:r>
              <a:r>
                <a:rPr lang="es-AR" sz="1400" dirty="0">
                  <a:solidFill>
                    <a:srgbClr val="1E1E1E"/>
                  </a:solidFill>
                  <a:latin typeface="Fira Sans Condensed"/>
                  <a:ea typeface="Fira Sans Condensed"/>
                  <a:cs typeface="Fira Sans Condensed"/>
                  <a:sym typeface="Fira Sans Condensed"/>
                </a:rPr>
                <a:t> (×2 por sus aniones acompañantes).</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Glucosa y BUN en </a:t>
              </a:r>
              <a:r>
                <a:rPr lang="es-AR" sz="1400" b="1" dirty="0">
                  <a:solidFill>
                    <a:srgbClr val="1E1E1E"/>
                  </a:solidFill>
                  <a:latin typeface="Fira Sans Condensed"/>
                  <a:ea typeface="Fira Sans Condensed"/>
                  <a:cs typeface="Fira Sans Condensed"/>
                  <a:sym typeface="Fira Sans Condensed"/>
                </a:rPr>
                <a:t>mg/dL</a:t>
              </a:r>
              <a:r>
                <a:rPr lang="es-AR" sz="1400" dirty="0">
                  <a:solidFill>
                    <a:srgbClr val="1E1E1E"/>
                  </a:solidFill>
                  <a:latin typeface="Fira Sans Condensed"/>
                  <a:ea typeface="Fira Sans Condensed"/>
                  <a:cs typeface="Fira Sans Condensed"/>
                  <a:sym typeface="Fira Sans Condensed"/>
                </a:rPr>
                <a:t>: /18 y /2,8 convierten a mmol/L.</a:t>
              </a:r>
              <a:endParaRPr lang="es-AR" sz="1400" dirty="0">
                <a:latin typeface="Fira Sans Condensed"/>
              </a:endParaRPr>
            </a:p>
          </p:txBody>
        </p:sp>
        <p:sp>
          <p:nvSpPr>
            <p:cNvPr id="10" name="Forma 9"/>
            <p:cNvSpPr/>
            <p:nvPr/>
          </p:nvSpPr>
          <p:spPr>
            <a:xfrm>
              <a:off x="7360920" y="1097280"/>
              <a:ext cx="115734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UNIDADES</a:t>
              </a:r>
              <a:endParaRPr lang="es-AR" sz="1400" dirty="0">
                <a:latin typeface="Fira Sans Condensed"/>
              </a:endParaRPr>
            </a:p>
          </p:txBody>
        </p:sp>
      </p:grpSp>
      <p:grpSp>
        <p:nvGrpSpPr>
          <p:cNvPr id="11" name="Urea membrana"/>
          <p:cNvGrpSpPr/>
          <p:nvPr/>
        </p:nvGrpSpPr>
        <p:grpSpPr>
          <a:xfrm>
            <a:off x="365760" y="3017520"/>
            <a:ext cx="6583680" cy="1965960"/>
            <a:chOff x="365760" y="3017520"/>
            <a:chExt cx="6583680" cy="1965960"/>
          </a:xfrm>
        </p:grpSpPr>
        <p:sp>
          <p:nvSpPr>
            <p:cNvPr id="12" name="Forma 11"/>
            <p:cNvSpPr/>
            <p:nvPr/>
          </p:nvSpPr>
          <p:spPr>
            <a:xfrm>
              <a:off x="365760" y="3017520"/>
              <a:ext cx="6583680" cy="19659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grpSp>
          <p:nvGrpSpPr>
            <p:cNvPr id="13" name="Membrana urea"/>
            <p:cNvGrpSpPr/>
            <p:nvPr/>
          </p:nvGrpSpPr>
          <p:grpSpPr>
            <a:xfrm>
              <a:off x="3520440" y="3429000"/>
              <a:ext cx="329184" cy="1051560"/>
              <a:chOff x="3520440" y="3429000"/>
              <a:chExt cx="329184" cy="1051560"/>
            </a:xfrm>
          </p:grpSpPr>
          <p:sp>
            <p:nvSpPr>
              <p:cNvPr id="14" name="Forma 13"/>
              <p:cNvSpPr/>
              <p:nvPr/>
            </p:nvSpPr>
            <p:spPr>
              <a:xfrm>
                <a:off x="3579693" y="3429000"/>
                <a:ext cx="210678" cy="1051560"/>
              </a:xfrm>
              <a:prstGeom prst="rect">
                <a:avLst/>
              </a:prstGeom>
              <a:solidFill>
                <a:srgbClr val="FDEBD0"/>
              </a:solidFill>
              <a:ln>
                <a:noFill/>
              </a:ln>
            </p:spPr>
          </p:sp>
          <p:sp>
            <p:nvSpPr>
              <p:cNvPr id="15" name="Forma 14"/>
              <p:cNvSpPr/>
              <p:nvPr/>
            </p:nvSpPr>
            <p:spPr>
              <a:xfrm>
                <a:off x="3520440" y="3429000"/>
                <a:ext cx="329184" cy="1051560"/>
              </a:xfrm>
              <a:custGeom>
                <a:avLst/>
                <a:gdLst/>
                <a:ahLst/>
                <a:cxnLst/>
                <a:rect l="0" t="0" r="r" b="b"/>
                <a:pathLst>
                  <a:path w="360" h="1150">
                    <a:moveTo>
                      <a:pt x="98" y="52"/>
                    </a:moveTo>
                    <a:cubicBezTo>
                      <a:pt x="98" y="79"/>
                      <a:pt x="76" y="101"/>
                      <a:pt x="49" y="101"/>
                    </a:cubicBezTo>
                    <a:cubicBezTo>
                      <a:pt x="21" y="101"/>
                      <a:pt x="0" y="79"/>
                      <a:pt x="0" y="52"/>
                    </a:cubicBezTo>
                    <a:cubicBezTo>
                      <a:pt x="0" y="24"/>
                      <a:pt x="21" y="3"/>
                      <a:pt x="49" y="3"/>
                    </a:cubicBezTo>
                    <a:cubicBezTo>
                      <a:pt x="76" y="3"/>
                      <a:pt x="98" y="24"/>
                      <a:pt x="98" y="52"/>
                    </a:cubicBezTo>
                    <a:close/>
                    <a:moveTo>
                      <a:pt x="98" y="156"/>
                    </a:moveTo>
                    <a:cubicBezTo>
                      <a:pt x="98" y="183"/>
                      <a:pt x="76" y="205"/>
                      <a:pt x="49" y="205"/>
                    </a:cubicBezTo>
                    <a:cubicBezTo>
                      <a:pt x="21" y="205"/>
                      <a:pt x="0" y="183"/>
                      <a:pt x="0" y="156"/>
                    </a:cubicBezTo>
                    <a:cubicBezTo>
                      <a:pt x="0" y="128"/>
                      <a:pt x="21" y="107"/>
                      <a:pt x="49" y="107"/>
                    </a:cubicBezTo>
                    <a:cubicBezTo>
                      <a:pt x="76" y="107"/>
                      <a:pt x="98" y="128"/>
                      <a:pt x="98" y="156"/>
                    </a:cubicBezTo>
                    <a:close/>
                    <a:moveTo>
                      <a:pt x="98" y="261"/>
                    </a:moveTo>
                    <a:cubicBezTo>
                      <a:pt x="98" y="288"/>
                      <a:pt x="76" y="310"/>
                      <a:pt x="49" y="310"/>
                    </a:cubicBezTo>
                    <a:cubicBezTo>
                      <a:pt x="21" y="310"/>
                      <a:pt x="0" y="288"/>
                      <a:pt x="0" y="261"/>
                    </a:cubicBezTo>
                    <a:cubicBezTo>
                      <a:pt x="0" y="233"/>
                      <a:pt x="21" y="212"/>
                      <a:pt x="49" y="212"/>
                    </a:cubicBezTo>
                    <a:cubicBezTo>
                      <a:pt x="76" y="212"/>
                      <a:pt x="98" y="233"/>
                      <a:pt x="98" y="261"/>
                    </a:cubicBezTo>
                    <a:close/>
                    <a:moveTo>
                      <a:pt x="98" y="365"/>
                    </a:moveTo>
                    <a:cubicBezTo>
                      <a:pt x="98" y="392"/>
                      <a:pt x="76" y="414"/>
                      <a:pt x="49" y="414"/>
                    </a:cubicBezTo>
                    <a:cubicBezTo>
                      <a:pt x="21" y="414"/>
                      <a:pt x="0" y="392"/>
                      <a:pt x="0" y="365"/>
                    </a:cubicBezTo>
                    <a:cubicBezTo>
                      <a:pt x="0" y="337"/>
                      <a:pt x="21" y="316"/>
                      <a:pt x="49" y="316"/>
                    </a:cubicBezTo>
                    <a:cubicBezTo>
                      <a:pt x="76" y="316"/>
                      <a:pt x="98" y="337"/>
                      <a:pt x="98" y="365"/>
                    </a:cubicBezTo>
                    <a:close/>
                    <a:moveTo>
                      <a:pt x="98" y="470"/>
                    </a:moveTo>
                    <a:cubicBezTo>
                      <a:pt x="98" y="497"/>
                      <a:pt x="76" y="519"/>
                      <a:pt x="49" y="519"/>
                    </a:cubicBezTo>
                    <a:cubicBezTo>
                      <a:pt x="21" y="519"/>
                      <a:pt x="0" y="497"/>
                      <a:pt x="0" y="470"/>
                    </a:cubicBezTo>
                    <a:cubicBezTo>
                      <a:pt x="0" y="442"/>
                      <a:pt x="21" y="421"/>
                      <a:pt x="49" y="421"/>
                    </a:cubicBezTo>
                    <a:cubicBezTo>
                      <a:pt x="76" y="421"/>
                      <a:pt x="98" y="442"/>
                      <a:pt x="98" y="470"/>
                    </a:cubicBezTo>
                    <a:close/>
                    <a:moveTo>
                      <a:pt x="98" y="575"/>
                    </a:moveTo>
                    <a:cubicBezTo>
                      <a:pt x="98" y="602"/>
                      <a:pt x="76" y="624"/>
                      <a:pt x="49" y="624"/>
                    </a:cubicBezTo>
                    <a:cubicBezTo>
                      <a:pt x="21" y="624"/>
                      <a:pt x="0" y="602"/>
                      <a:pt x="0" y="575"/>
                    </a:cubicBezTo>
                    <a:cubicBezTo>
                      <a:pt x="0" y="547"/>
                      <a:pt x="21" y="526"/>
                      <a:pt x="49" y="526"/>
                    </a:cubicBezTo>
                    <a:cubicBezTo>
                      <a:pt x="76" y="526"/>
                      <a:pt x="98" y="547"/>
                      <a:pt x="98" y="575"/>
                    </a:cubicBezTo>
                    <a:close/>
                    <a:moveTo>
                      <a:pt x="98" y="679"/>
                    </a:moveTo>
                    <a:cubicBezTo>
                      <a:pt x="98" y="706"/>
                      <a:pt x="76" y="728"/>
                      <a:pt x="49" y="728"/>
                    </a:cubicBezTo>
                    <a:cubicBezTo>
                      <a:pt x="21" y="728"/>
                      <a:pt x="0" y="706"/>
                      <a:pt x="0" y="679"/>
                    </a:cubicBezTo>
                    <a:cubicBezTo>
                      <a:pt x="0" y="651"/>
                      <a:pt x="21" y="630"/>
                      <a:pt x="49" y="630"/>
                    </a:cubicBezTo>
                    <a:cubicBezTo>
                      <a:pt x="76" y="630"/>
                      <a:pt x="98" y="651"/>
                      <a:pt x="98" y="679"/>
                    </a:cubicBezTo>
                    <a:close/>
                    <a:moveTo>
                      <a:pt x="98" y="784"/>
                    </a:moveTo>
                    <a:cubicBezTo>
                      <a:pt x="98" y="811"/>
                      <a:pt x="76" y="833"/>
                      <a:pt x="49" y="833"/>
                    </a:cubicBezTo>
                    <a:cubicBezTo>
                      <a:pt x="21" y="833"/>
                      <a:pt x="0" y="811"/>
                      <a:pt x="0" y="784"/>
                    </a:cubicBezTo>
                    <a:cubicBezTo>
                      <a:pt x="0" y="756"/>
                      <a:pt x="21" y="735"/>
                      <a:pt x="49" y="735"/>
                    </a:cubicBezTo>
                    <a:cubicBezTo>
                      <a:pt x="76" y="735"/>
                      <a:pt x="98" y="756"/>
                      <a:pt x="98" y="784"/>
                    </a:cubicBezTo>
                    <a:close/>
                    <a:moveTo>
                      <a:pt x="98" y="888"/>
                    </a:moveTo>
                    <a:cubicBezTo>
                      <a:pt x="98" y="915"/>
                      <a:pt x="76" y="937"/>
                      <a:pt x="49" y="937"/>
                    </a:cubicBezTo>
                    <a:cubicBezTo>
                      <a:pt x="21" y="937"/>
                      <a:pt x="0" y="915"/>
                      <a:pt x="0" y="888"/>
                    </a:cubicBezTo>
                    <a:cubicBezTo>
                      <a:pt x="0" y="860"/>
                      <a:pt x="21" y="839"/>
                      <a:pt x="49" y="839"/>
                    </a:cubicBezTo>
                    <a:cubicBezTo>
                      <a:pt x="76" y="839"/>
                      <a:pt x="98" y="860"/>
                      <a:pt x="98" y="888"/>
                    </a:cubicBezTo>
                    <a:close/>
                    <a:moveTo>
                      <a:pt x="98" y="993"/>
                    </a:moveTo>
                    <a:cubicBezTo>
                      <a:pt x="98" y="1020"/>
                      <a:pt x="76" y="1042"/>
                      <a:pt x="49" y="1042"/>
                    </a:cubicBezTo>
                    <a:cubicBezTo>
                      <a:pt x="21" y="1042"/>
                      <a:pt x="0" y="1020"/>
                      <a:pt x="0" y="993"/>
                    </a:cubicBezTo>
                    <a:cubicBezTo>
                      <a:pt x="0" y="965"/>
                      <a:pt x="21" y="944"/>
                      <a:pt x="49" y="944"/>
                    </a:cubicBezTo>
                    <a:cubicBezTo>
                      <a:pt x="76" y="944"/>
                      <a:pt x="98" y="965"/>
                      <a:pt x="98" y="993"/>
                    </a:cubicBezTo>
                    <a:close/>
                    <a:moveTo>
                      <a:pt x="98" y="1097"/>
                    </a:moveTo>
                    <a:cubicBezTo>
                      <a:pt x="98" y="1124"/>
                      <a:pt x="76" y="1146"/>
                      <a:pt x="49" y="1146"/>
                    </a:cubicBezTo>
                    <a:cubicBezTo>
                      <a:pt x="21" y="1146"/>
                      <a:pt x="0" y="1124"/>
                      <a:pt x="0" y="1097"/>
                    </a:cubicBezTo>
                    <a:cubicBezTo>
                      <a:pt x="0" y="1069"/>
                      <a:pt x="21" y="1048"/>
                      <a:pt x="49" y="1048"/>
                    </a:cubicBezTo>
                    <a:cubicBezTo>
                      <a:pt x="76" y="1048"/>
                      <a:pt x="98" y="1069"/>
                      <a:pt x="98" y="1097"/>
                    </a:cubicBezTo>
                    <a:close/>
                    <a:moveTo>
                      <a:pt x="360" y="52"/>
                    </a:moveTo>
                    <a:cubicBezTo>
                      <a:pt x="360" y="79"/>
                      <a:pt x="338" y="101"/>
                      <a:pt x="311" y="101"/>
                    </a:cubicBezTo>
                    <a:cubicBezTo>
                      <a:pt x="283" y="101"/>
                      <a:pt x="262" y="79"/>
                      <a:pt x="262" y="52"/>
                    </a:cubicBezTo>
                    <a:cubicBezTo>
                      <a:pt x="262" y="24"/>
                      <a:pt x="283" y="3"/>
                      <a:pt x="311" y="3"/>
                    </a:cubicBezTo>
                    <a:cubicBezTo>
                      <a:pt x="338" y="3"/>
                      <a:pt x="360" y="24"/>
                      <a:pt x="360" y="52"/>
                    </a:cubicBezTo>
                    <a:close/>
                    <a:moveTo>
                      <a:pt x="360" y="156"/>
                    </a:moveTo>
                    <a:cubicBezTo>
                      <a:pt x="360" y="183"/>
                      <a:pt x="338" y="205"/>
                      <a:pt x="311" y="205"/>
                    </a:cubicBezTo>
                    <a:cubicBezTo>
                      <a:pt x="283" y="205"/>
                      <a:pt x="262" y="183"/>
                      <a:pt x="262" y="156"/>
                    </a:cubicBezTo>
                    <a:cubicBezTo>
                      <a:pt x="262" y="128"/>
                      <a:pt x="283" y="107"/>
                      <a:pt x="311" y="107"/>
                    </a:cubicBezTo>
                    <a:cubicBezTo>
                      <a:pt x="338" y="107"/>
                      <a:pt x="360" y="128"/>
                      <a:pt x="360" y="156"/>
                    </a:cubicBezTo>
                    <a:close/>
                    <a:moveTo>
                      <a:pt x="360" y="261"/>
                    </a:moveTo>
                    <a:cubicBezTo>
                      <a:pt x="360" y="288"/>
                      <a:pt x="338" y="310"/>
                      <a:pt x="311" y="310"/>
                    </a:cubicBezTo>
                    <a:cubicBezTo>
                      <a:pt x="283" y="310"/>
                      <a:pt x="262" y="288"/>
                      <a:pt x="262" y="261"/>
                    </a:cubicBezTo>
                    <a:cubicBezTo>
                      <a:pt x="262" y="233"/>
                      <a:pt x="283" y="212"/>
                      <a:pt x="311" y="212"/>
                    </a:cubicBezTo>
                    <a:cubicBezTo>
                      <a:pt x="338" y="212"/>
                      <a:pt x="360" y="233"/>
                      <a:pt x="360" y="261"/>
                    </a:cubicBezTo>
                    <a:close/>
                    <a:moveTo>
                      <a:pt x="360" y="365"/>
                    </a:moveTo>
                    <a:cubicBezTo>
                      <a:pt x="360" y="392"/>
                      <a:pt x="338" y="414"/>
                      <a:pt x="311" y="414"/>
                    </a:cubicBezTo>
                    <a:cubicBezTo>
                      <a:pt x="283" y="414"/>
                      <a:pt x="262" y="392"/>
                      <a:pt x="262" y="365"/>
                    </a:cubicBezTo>
                    <a:cubicBezTo>
                      <a:pt x="262" y="337"/>
                      <a:pt x="283" y="316"/>
                      <a:pt x="311" y="316"/>
                    </a:cubicBezTo>
                    <a:cubicBezTo>
                      <a:pt x="338" y="316"/>
                      <a:pt x="360" y="337"/>
                      <a:pt x="360" y="365"/>
                    </a:cubicBezTo>
                    <a:close/>
                    <a:moveTo>
                      <a:pt x="360" y="470"/>
                    </a:moveTo>
                    <a:cubicBezTo>
                      <a:pt x="360" y="497"/>
                      <a:pt x="338" y="519"/>
                      <a:pt x="311" y="519"/>
                    </a:cubicBezTo>
                    <a:cubicBezTo>
                      <a:pt x="283" y="519"/>
                      <a:pt x="262" y="497"/>
                      <a:pt x="262" y="470"/>
                    </a:cubicBezTo>
                    <a:cubicBezTo>
                      <a:pt x="262" y="442"/>
                      <a:pt x="283" y="421"/>
                      <a:pt x="311" y="421"/>
                    </a:cubicBezTo>
                    <a:cubicBezTo>
                      <a:pt x="338" y="421"/>
                      <a:pt x="360" y="442"/>
                      <a:pt x="360" y="470"/>
                    </a:cubicBezTo>
                    <a:close/>
                    <a:moveTo>
                      <a:pt x="360" y="575"/>
                    </a:moveTo>
                    <a:cubicBezTo>
                      <a:pt x="360" y="602"/>
                      <a:pt x="338" y="624"/>
                      <a:pt x="311" y="624"/>
                    </a:cubicBezTo>
                    <a:cubicBezTo>
                      <a:pt x="283" y="624"/>
                      <a:pt x="262" y="602"/>
                      <a:pt x="262" y="575"/>
                    </a:cubicBezTo>
                    <a:cubicBezTo>
                      <a:pt x="262" y="547"/>
                      <a:pt x="283" y="526"/>
                      <a:pt x="311" y="526"/>
                    </a:cubicBezTo>
                    <a:cubicBezTo>
                      <a:pt x="338" y="526"/>
                      <a:pt x="360" y="547"/>
                      <a:pt x="360" y="575"/>
                    </a:cubicBezTo>
                    <a:close/>
                    <a:moveTo>
                      <a:pt x="360" y="679"/>
                    </a:moveTo>
                    <a:cubicBezTo>
                      <a:pt x="360" y="706"/>
                      <a:pt x="338" y="728"/>
                      <a:pt x="311" y="728"/>
                    </a:cubicBezTo>
                    <a:cubicBezTo>
                      <a:pt x="283" y="728"/>
                      <a:pt x="262" y="706"/>
                      <a:pt x="262" y="679"/>
                    </a:cubicBezTo>
                    <a:cubicBezTo>
                      <a:pt x="262" y="651"/>
                      <a:pt x="283" y="630"/>
                      <a:pt x="311" y="630"/>
                    </a:cubicBezTo>
                    <a:cubicBezTo>
                      <a:pt x="338" y="630"/>
                      <a:pt x="360" y="651"/>
                      <a:pt x="360" y="679"/>
                    </a:cubicBezTo>
                    <a:close/>
                    <a:moveTo>
                      <a:pt x="360" y="784"/>
                    </a:moveTo>
                    <a:cubicBezTo>
                      <a:pt x="360" y="811"/>
                      <a:pt x="338" y="833"/>
                      <a:pt x="311" y="833"/>
                    </a:cubicBezTo>
                    <a:cubicBezTo>
                      <a:pt x="283" y="833"/>
                      <a:pt x="262" y="811"/>
                      <a:pt x="262" y="784"/>
                    </a:cubicBezTo>
                    <a:cubicBezTo>
                      <a:pt x="262" y="756"/>
                      <a:pt x="283" y="735"/>
                      <a:pt x="311" y="735"/>
                    </a:cubicBezTo>
                    <a:cubicBezTo>
                      <a:pt x="338" y="735"/>
                      <a:pt x="360" y="756"/>
                      <a:pt x="360" y="784"/>
                    </a:cubicBezTo>
                    <a:close/>
                    <a:moveTo>
                      <a:pt x="360" y="888"/>
                    </a:moveTo>
                    <a:cubicBezTo>
                      <a:pt x="360" y="915"/>
                      <a:pt x="338" y="937"/>
                      <a:pt x="311" y="937"/>
                    </a:cubicBezTo>
                    <a:cubicBezTo>
                      <a:pt x="283" y="937"/>
                      <a:pt x="262" y="915"/>
                      <a:pt x="262" y="888"/>
                    </a:cubicBezTo>
                    <a:cubicBezTo>
                      <a:pt x="262" y="860"/>
                      <a:pt x="283" y="839"/>
                      <a:pt x="311" y="839"/>
                    </a:cubicBezTo>
                    <a:cubicBezTo>
                      <a:pt x="338" y="839"/>
                      <a:pt x="360" y="860"/>
                      <a:pt x="360" y="888"/>
                    </a:cubicBezTo>
                    <a:close/>
                    <a:moveTo>
                      <a:pt x="360" y="993"/>
                    </a:moveTo>
                    <a:cubicBezTo>
                      <a:pt x="360" y="1020"/>
                      <a:pt x="338" y="1042"/>
                      <a:pt x="311" y="1042"/>
                    </a:cubicBezTo>
                    <a:cubicBezTo>
                      <a:pt x="283" y="1042"/>
                      <a:pt x="262" y="1020"/>
                      <a:pt x="262" y="993"/>
                    </a:cubicBezTo>
                    <a:cubicBezTo>
                      <a:pt x="262" y="965"/>
                      <a:pt x="283" y="944"/>
                      <a:pt x="311" y="944"/>
                    </a:cubicBezTo>
                    <a:cubicBezTo>
                      <a:pt x="338" y="944"/>
                      <a:pt x="360" y="965"/>
                      <a:pt x="360" y="993"/>
                    </a:cubicBezTo>
                    <a:close/>
                    <a:moveTo>
                      <a:pt x="360" y="1097"/>
                    </a:moveTo>
                    <a:cubicBezTo>
                      <a:pt x="360" y="1124"/>
                      <a:pt x="338" y="1146"/>
                      <a:pt x="311" y="1146"/>
                    </a:cubicBezTo>
                    <a:cubicBezTo>
                      <a:pt x="283" y="1146"/>
                      <a:pt x="262" y="1124"/>
                      <a:pt x="262" y="1097"/>
                    </a:cubicBezTo>
                    <a:cubicBezTo>
                      <a:pt x="262" y="1069"/>
                      <a:pt x="283" y="1048"/>
                      <a:pt x="311" y="1048"/>
                    </a:cubicBezTo>
                    <a:cubicBezTo>
                      <a:pt x="338" y="1048"/>
                      <a:pt x="360" y="1069"/>
                      <a:pt x="360" y="1097"/>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grpSp>
        <p:sp>
          <p:nvSpPr>
            <p:cNvPr id="16" name="Forma 15"/>
            <p:cNvSpPr txBox="1"/>
            <p:nvPr/>
          </p:nvSpPr>
          <p:spPr>
            <a:xfrm>
              <a:off x="457200" y="3063240"/>
              <a:ext cx="274320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EXTRACELULAR</a:t>
              </a:r>
              <a:endParaRPr lang="es-AR" sz="1200" dirty="0">
                <a:latin typeface="Fira Sans Condensed"/>
              </a:endParaRPr>
            </a:p>
          </p:txBody>
        </p:sp>
        <p:sp>
          <p:nvSpPr>
            <p:cNvPr id="17" name="Forma 16"/>
            <p:cNvSpPr txBox="1"/>
            <p:nvPr/>
          </p:nvSpPr>
          <p:spPr>
            <a:xfrm>
              <a:off x="3931920" y="3063240"/>
              <a:ext cx="274320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INTRACELULAR</a:t>
              </a:r>
              <a:endParaRPr lang="es-AR" sz="1200" dirty="0">
                <a:latin typeface="Fira Sans Condensed"/>
              </a:endParaRPr>
            </a:p>
          </p:txBody>
        </p:sp>
        <p:sp>
          <p:nvSpPr>
            <p:cNvPr id="18" name="Urea 1"/>
            <p:cNvSpPr/>
            <p:nvPr/>
          </p:nvSpPr>
          <p:spPr>
            <a:xfrm>
              <a:off x="914400" y="3611880"/>
              <a:ext cx="502920" cy="502920"/>
            </a:xfrm>
            <a:prstGeom prst="ellipse">
              <a:avLst/>
            </a:prstGeom>
            <a:gradFill rotWithShape="1">
              <a:gsLst>
                <a:gs pos="0">
                  <a:srgbClr val="ABB4B4"/>
                </a:gs>
                <a:gs pos="55000">
                  <a:srgbClr val="7F8C8D"/>
                </a:gs>
                <a:gs pos="100000">
                  <a:srgbClr val="657070"/>
                </a:gs>
              </a:gsLst>
              <a:path path="circle">
                <a:fillToRect l="32000" t="28000" r="68000" b="72000"/>
              </a:path>
            </a:gradFill>
            <a:ln w="12700" cap="rnd">
              <a:solidFill>
                <a:srgbClr val="454D4D"/>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Urea</a:t>
              </a:r>
              <a:endParaRPr lang="es-AR" sz="1300" dirty="0">
                <a:latin typeface="Fira Sans Condensed"/>
              </a:endParaRPr>
            </a:p>
          </p:txBody>
        </p:sp>
        <p:sp>
          <p:nvSpPr>
            <p:cNvPr id="19" name="Urea 2"/>
            <p:cNvSpPr/>
            <p:nvPr/>
          </p:nvSpPr>
          <p:spPr>
            <a:xfrm>
              <a:off x="2103120" y="3840480"/>
              <a:ext cx="502920" cy="502920"/>
            </a:xfrm>
            <a:prstGeom prst="ellipse">
              <a:avLst/>
            </a:prstGeom>
            <a:gradFill rotWithShape="1">
              <a:gsLst>
                <a:gs pos="0">
                  <a:srgbClr val="ABB4B4"/>
                </a:gs>
                <a:gs pos="55000">
                  <a:srgbClr val="7F8C8D"/>
                </a:gs>
                <a:gs pos="100000">
                  <a:srgbClr val="657070"/>
                </a:gs>
              </a:gsLst>
              <a:path path="circle">
                <a:fillToRect l="32000" t="28000" r="68000" b="72000"/>
              </a:path>
            </a:gradFill>
            <a:ln w="12700" cap="rnd">
              <a:solidFill>
                <a:srgbClr val="454D4D"/>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Urea</a:t>
              </a:r>
              <a:endParaRPr lang="es-AR" sz="1300" dirty="0">
                <a:latin typeface="Fira Sans Condensed"/>
              </a:endParaRPr>
            </a:p>
          </p:txBody>
        </p:sp>
        <p:sp>
          <p:nvSpPr>
            <p:cNvPr id="20" name="Urea 3"/>
            <p:cNvSpPr/>
            <p:nvPr/>
          </p:nvSpPr>
          <p:spPr>
            <a:xfrm>
              <a:off x="4572000" y="3840480"/>
              <a:ext cx="502920" cy="502920"/>
            </a:xfrm>
            <a:prstGeom prst="ellipse">
              <a:avLst/>
            </a:prstGeom>
            <a:gradFill rotWithShape="1">
              <a:gsLst>
                <a:gs pos="0">
                  <a:srgbClr val="ABB4B4"/>
                </a:gs>
                <a:gs pos="55000">
                  <a:srgbClr val="7F8C8D"/>
                </a:gs>
                <a:gs pos="100000">
                  <a:srgbClr val="657070"/>
                </a:gs>
              </a:gsLst>
              <a:path path="circle">
                <a:fillToRect l="32000" t="28000" r="68000" b="72000"/>
              </a:path>
            </a:gradFill>
            <a:ln w="12700" cap="rnd">
              <a:solidFill>
                <a:srgbClr val="454D4D"/>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Urea</a:t>
              </a:r>
              <a:endParaRPr lang="es-AR" sz="1300" dirty="0">
                <a:latin typeface="Fira Sans Condensed"/>
              </a:endParaRPr>
            </a:p>
          </p:txBody>
        </p:sp>
        <p:sp>
          <p:nvSpPr>
            <p:cNvPr id="21" name="Urea 4"/>
            <p:cNvSpPr/>
            <p:nvPr/>
          </p:nvSpPr>
          <p:spPr>
            <a:xfrm>
              <a:off x="5760720" y="3931920"/>
              <a:ext cx="502920" cy="502920"/>
            </a:xfrm>
            <a:prstGeom prst="ellipse">
              <a:avLst/>
            </a:prstGeom>
            <a:gradFill rotWithShape="1">
              <a:gsLst>
                <a:gs pos="0">
                  <a:srgbClr val="ABB4B4"/>
                </a:gs>
                <a:gs pos="55000">
                  <a:srgbClr val="7F8C8D"/>
                </a:gs>
                <a:gs pos="100000">
                  <a:srgbClr val="657070"/>
                </a:gs>
              </a:gsLst>
              <a:path path="circle">
                <a:fillToRect l="32000" t="28000" r="68000" b="72000"/>
              </a:path>
            </a:gradFill>
            <a:ln w="12700" cap="rnd">
              <a:solidFill>
                <a:srgbClr val="454D4D"/>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Urea</a:t>
              </a:r>
              <a:endParaRPr lang="es-AR" sz="1300" dirty="0">
                <a:latin typeface="Fira Sans Condensed"/>
              </a:endParaRPr>
            </a:p>
          </p:txBody>
        </p:sp>
        <p:sp>
          <p:nvSpPr>
            <p:cNvPr id="22" name="Flecha 21_2"/>
            <p:cNvSpPr/>
            <p:nvPr/>
          </p:nvSpPr>
          <p:spPr>
            <a:xfrm>
              <a:off x="2651760" y="3657600"/>
              <a:ext cx="1828800" cy="9144"/>
            </a:xfrm>
            <a:custGeom>
              <a:avLst/>
              <a:gdLst/>
              <a:ahLst/>
              <a:cxnLst/>
              <a:rect l="0" t="0" r="r" b="b"/>
              <a:pathLst>
                <a:path w="2000" h="10" fill="none">
                  <a:moveTo>
                    <a:pt x="0" y="0"/>
                  </a:moveTo>
                  <a:lnTo>
                    <a:pt x="2000" y="0"/>
                  </a:lnTo>
                </a:path>
              </a:pathLst>
            </a:custGeom>
            <a:noFill/>
            <a:ln w="38100" cap="rnd">
              <a:solidFill>
                <a:srgbClr val="2563B0"/>
              </a:solidFill>
              <a:round/>
              <a:headEnd type="triangle" w="med" len="med"/>
              <a:tailEnd type="triangle" w="med" len="med"/>
            </a:ln>
          </p:spPr>
        </p:sp>
        <p:sp>
          <p:nvSpPr>
            <p:cNvPr id="23" name="Forma 23"/>
            <p:cNvSpPr txBox="1"/>
            <p:nvPr/>
          </p:nvSpPr>
          <p:spPr>
            <a:xfrm>
              <a:off x="457200" y="4572000"/>
              <a:ext cx="6400800" cy="365760"/>
            </a:xfrm>
            <a:prstGeom prst="rect">
              <a:avLst/>
            </a:prstGeom>
            <a:noFill/>
            <a:ln>
              <a:noFill/>
            </a:ln>
          </p:spPr>
          <p:txBody>
            <a:bodyPr wrap="square" lIns="0" tIns="0" rIns="0" bIns="0" anchor="ctr" rtlCol="0">
              <a:noAutofit/>
            </a:bodyPr>
            <a:lstStyle/>
            <a:p>
              <a:pPr algn="ctr">
                <a:spcAft>
                  <a:spcPts val="300"/>
                </a:spcAft>
                <a:buNone/>
              </a:pPr>
              <a:r>
                <a:rPr lang="es-AR" sz="1300" dirty="0">
                  <a:solidFill>
                    <a:srgbClr val="1E1E1E"/>
                  </a:solidFill>
                  <a:latin typeface="Fira Sans Condensed"/>
                  <a:ea typeface="Fira Sans Condensed"/>
                  <a:cs typeface="Fira Sans Condensed"/>
                  <a:sym typeface="Fira Sans Condensed"/>
                </a:rPr>
                <a:t>La urea atraviesa membranas: suma osmoles, </a:t>
              </a:r>
              <a:r>
                <a:rPr lang="es-AR" sz="1300" b="1" dirty="0">
                  <a:solidFill>
                    <a:srgbClr val="1E1E1E"/>
                  </a:solidFill>
                  <a:latin typeface="Fira Sans Condensed"/>
                  <a:ea typeface="Fira Sans Condensed"/>
                  <a:cs typeface="Fira Sans Condensed"/>
                  <a:sym typeface="Fira Sans Condensed"/>
                </a:rPr>
                <a:t>no</a:t>
              </a:r>
              <a:r>
                <a:rPr lang="es-AR" sz="1300" dirty="0">
                  <a:solidFill>
                    <a:srgbClr val="1E1E1E"/>
                  </a:solidFill>
                  <a:latin typeface="Fira Sans Condensed"/>
                  <a:ea typeface="Fira Sans Condensed"/>
                  <a:cs typeface="Fira Sans Condensed"/>
                  <a:sym typeface="Fira Sans Condensed"/>
                </a:rPr>
                <a:t> genera gradiente sostenido</a:t>
              </a:r>
              <a:endParaRPr lang="es-AR" sz="1300" dirty="0">
                <a:latin typeface="Fira Sans Condensed"/>
              </a:endParaRPr>
            </a:p>
          </p:txBody>
        </p:sp>
      </p:grpSp>
      <p:grpSp>
        <p:nvGrpSpPr>
          <p:cNvPr id="24" name="Cuadro Caso 12"/>
          <p:cNvGrpSpPr/>
          <p:nvPr/>
        </p:nvGrpSpPr>
        <p:grpSpPr>
          <a:xfrm>
            <a:off x="7223760" y="3017520"/>
            <a:ext cx="4617720" cy="1965960"/>
            <a:chOff x="7223760" y="3017520"/>
            <a:chExt cx="4617720" cy="1965960"/>
          </a:xfrm>
        </p:grpSpPr>
        <p:sp>
          <p:nvSpPr>
            <p:cNvPr id="25" name="Forma 25"/>
            <p:cNvSpPr/>
            <p:nvPr/>
          </p:nvSpPr>
          <p:spPr>
            <a:xfrm>
              <a:off x="7223760" y="3218688"/>
              <a:ext cx="4617720" cy="1764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Faltan </a:t>
              </a:r>
              <a:r>
                <a:rPr lang="es-AR" sz="1500" b="1" dirty="0">
                  <a:solidFill>
                    <a:srgbClr val="1E1E1E"/>
                  </a:solidFill>
                  <a:latin typeface="Fira Sans Condensed"/>
                  <a:ea typeface="Fira Sans Condensed"/>
                  <a:cs typeface="Fira Sans Condensed"/>
                  <a:sym typeface="Fira Sans Condensed"/>
                </a:rPr>
                <a:t>Na⁺ y BUN</a:t>
              </a:r>
              <a:r>
                <a:rPr lang="es-AR" sz="1500" dirty="0">
                  <a:solidFill>
                    <a:srgbClr val="1E1E1E"/>
                  </a:solidFill>
                  <a:latin typeface="Fira Sans Condensed"/>
                  <a:ea typeface="Fira Sans Condensed"/>
                  <a:cs typeface="Fira Sans Condensed"/>
                  <a:sym typeface="Fira Sans Condensed"/>
                </a:rPr>
                <a:t>: no puede verificarse el cálculo ni saberse cuánto de </a:t>
              </a:r>
              <a:r>
                <a:rPr lang="es-AR" sz="1500" b="1" dirty="0">
                  <a:solidFill>
                    <a:srgbClr val="1E1E1E"/>
                  </a:solidFill>
                  <a:latin typeface="Fira Sans Condensed"/>
                  <a:ea typeface="Fira Sans Condensed"/>
                  <a:cs typeface="Fira Sans Condensed"/>
                  <a:sym typeface="Fira Sans Condensed"/>
                </a:rPr>
                <a:t>325</a:t>
              </a:r>
              <a:r>
                <a:rPr lang="es-AR" sz="1500" dirty="0">
                  <a:solidFill>
                    <a:srgbClr val="1E1E1E"/>
                  </a:solidFill>
                  <a:latin typeface="Fira Sans Condensed"/>
                  <a:ea typeface="Fira Sans Condensed"/>
                  <a:cs typeface="Fira Sans Condensed"/>
                  <a:sym typeface="Fira Sans Condensed"/>
                </a:rPr>
                <a:t> corresponde a solutos efectivos.</a:t>
              </a:r>
              <a:endParaRPr lang="es-AR" sz="1500" dirty="0">
                <a:latin typeface="Fira Sans Condensed"/>
              </a:endParaRPr>
            </a:p>
          </p:txBody>
        </p:sp>
        <p:sp>
          <p:nvSpPr>
            <p:cNvPr id="26" name="Forma 26"/>
            <p:cNvSpPr/>
            <p:nvPr/>
          </p:nvSpPr>
          <p:spPr>
            <a:xfrm>
              <a:off x="7360920" y="3017520"/>
              <a:ext cx="99546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CASO 12</a:t>
              </a:r>
              <a:endParaRPr lang="es-AR" sz="1400" dirty="0">
                <a:latin typeface="Fira Sans Condensed"/>
              </a:endParaRPr>
            </a:p>
          </p:txBody>
        </p:sp>
      </p:grpSp>
      <p:sp>
        <p:nvSpPr>
          <p:cNvPr id="27" name="Perla clínica"/>
          <p:cNvSpPr/>
          <p:nvPr/>
        </p:nvSpPr>
        <p:spPr>
          <a:xfrm>
            <a:off x="365760" y="5212080"/>
            <a:ext cx="11475720" cy="1051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Para inferir </a:t>
            </a:r>
            <a:r>
              <a:rPr lang="es-AR" sz="1500" b="1" dirty="0">
                <a:solidFill>
                  <a:srgbClr val="FFFFFF"/>
                </a:solidFill>
                <a:latin typeface="Fira Sans Condensed"/>
                <a:ea typeface="Fira Sans Condensed"/>
                <a:cs typeface="Fira Sans Condensed"/>
                <a:sym typeface="Fira Sans Condensed"/>
              </a:rPr>
              <a:t>riesgo neurológico</a:t>
            </a:r>
            <a:r>
              <a:rPr lang="es-AR" sz="1500" dirty="0">
                <a:solidFill>
                  <a:srgbClr val="FFFFFF"/>
                </a:solidFill>
                <a:latin typeface="Fira Sans Condensed"/>
                <a:ea typeface="Fira Sans Condensed"/>
                <a:cs typeface="Fira Sans Condensed"/>
                <a:sym typeface="Fira Sans Condensed"/>
              </a:rPr>
              <a:t> y movimientos de agua celular se usa la </a:t>
            </a:r>
            <a:r>
              <a:rPr lang="es-AR" sz="1500" b="1" dirty="0">
                <a:solidFill>
                  <a:srgbClr val="FFFFFF"/>
                </a:solidFill>
                <a:latin typeface="Fira Sans Condensed"/>
                <a:ea typeface="Fira Sans Condensed"/>
                <a:cs typeface="Fira Sans Condensed"/>
                <a:sym typeface="Fira Sans Condensed"/>
              </a:rPr>
              <a:t>osmolalidad efectiva</a:t>
            </a:r>
            <a:r>
              <a:rPr lang="es-AR" sz="1500" dirty="0">
                <a:solidFill>
                  <a:srgbClr val="FFFFFF"/>
                </a:solidFill>
                <a:latin typeface="Fira Sans Condensed"/>
                <a:ea typeface="Fira Sans Condensed"/>
                <a:cs typeface="Fira Sans Condensed"/>
                <a:sym typeface="Fira Sans Condensed"/>
              </a:rPr>
              <a:t>; total y efectiva </a:t>
            </a:r>
            <a:r>
              <a:rPr lang="es-AR" sz="1500" b="1" dirty="0">
                <a:solidFill>
                  <a:srgbClr val="FFFFFF"/>
                </a:solidFill>
                <a:latin typeface="Fira Sans Condensed"/>
                <a:ea typeface="Fira Sans Condensed"/>
                <a:cs typeface="Fira Sans Condensed"/>
                <a:sym typeface="Fira Sans Condensed"/>
              </a:rPr>
              <a:t>no deben intercambiarse</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OSMOLALIDAD TOTAL FRENTE A EFECTIVA (TONICIDAD)</a:t>
            </a:r>
            <a:endParaRPr lang="es-AR" sz="30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99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p:cTn id="30" dur="500" fill="hold"/>
                                        <p:tgtEl>
                                          <p:spTgt spid="27"/>
                                        </p:tgtEl>
                                        <p:attrNameLst>
                                          <p:attrName>ppt_w</p:attrName>
                                        </p:attrNameLst>
                                      </p:cBhvr>
                                      <p:tavLst>
                                        <p:tav tm="0">
                                          <p:val>
                                            <p:fltVal val="0"/>
                                          </p:val>
                                        </p:tav>
                                        <p:tav tm="100000">
                                          <p:val>
                                            <p:strVal val="#ppt_w"/>
                                          </p:val>
                                        </p:tav>
                                      </p:tavLst>
                                    </p:anim>
                                    <p:anim calcmode="lin" valueType="num">
                                      <p:cBhvr>
                                        <p:cTn id="31" dur="500" fill="hold"/>
                                        <p:tgtEl>
                                          <p:spTgt spid="27"/>
                                        </p:tgtEl>
                                        <p:attrNameLst>
                                          <p:attrName>ppt_h</p:attrName>
                                        </p:attrNameLst>
                                      </p:cBhvr>
                                      <p:tavLst>
                                        <p:tav tm="0">
                                          <p:val>
                                            <p:fltVal val="0"/>
                                          </p:val>
                                        </p:tav>
                                        <p:tav tm="100000">
                                          <p:val>
                                            <p:strVal val="#ppt_h"/>
                                          </p:val>
                                        </p:tav>
                                      </p:tavLst>
                                    </p:anim>
                                    <p:animEffect transition="in" filter="fade">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7" grpId="0" animBg="1"/>
    </p:bld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sp>
        <p:nvSpPr>
          <p:cNvPr id="7" name="Fórmula"/>
          <p:cNvSpPr/>
          <p:nvPr/>
        </p:nvSpPr>
        <p:spPr>
          <a:xfrm>
            <a:off x="365760" y="1097280"/>
            <a:ext cx="11475720" cy="7772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100" b="1" dirty="0">
                <a:solidFill>
                  <a:srgbClr val="1E1E1E"/>
                </a:solidFill>
                <a:latin typeface="Fira Sans Condensed"/>
                <a:ea typeface="Fira Sans Condensed"/>
                <a:cs typeface="Fira Sans Condensed"/>
                <a:sym typeface="Fira Sans Condensed"/>
              </a:rPr>
              <a:t>Na⁺ corregido ≈ Na⁺ medido + factor × (glucosa − 100) / 100</a:t>
            </a:r>
            <a:endParaRPr lang="es-AR" sz="2100" dirty="0">
              <a:latin typeface="Fira Sans Condensed"/>
            </a:endParaRPr>
          </a:p>
        </p:txBody>
      </p:sp>
      <p:grpSp>
        <p:nvGrpSpPr>
          <p:cNvPr id="8" name="Cuadro Por qué se corrige"/>
          <p:cNvGrpSpPr/>
          <p:nvPr/>
        </p:nvGrpSpPr>
        <p:grpSpPr>
          <a:xfrm>
            <a:off x="365760" y="2103120"/>
            <a:ext cx="5120640" cy="2103120"/>
            <a:chOff x="365760" y="2103120"/>
            <a:chExt cx="5120640" cy="2103120"/>
          </a:xfrm>
        </p:grpSpPr>
        <p:sp>
          <p:nvSpPr>
            <p:cNvPr id="9" name="Forma 8"/>
            <p:cNvSpPr/>
            <p:nvPr/>
          </p:nvSpPr>
          <p:spPr>
            <a:xfrm>
              <a:off x="365760" y="2304288"/>
              <a:ext cx="5120640" cy="19019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glucosa extracelular </a:t>
              </a:r>
              <a:r>
                <a:rPr lang="es-AR" sz="1500" b="1" dirty="0">
                  <a:solidFill>
                    <a:srgbClr val="1E1E1E"/>
                  </a:solidFill>
                  <a:latin typeface="Fira Sans Condensed"/>
                  <a:ea typeface="Fira Sans Condensed"/>
                  <a:cs typeface="Fira Sans Condensed"/>
                  <a:sym typeface="Fira Sans Condensed"/>
                </a:rPr>
                <a:t>atrae agua</a:t>
              </a:r>
              <a:r>
                <a:rPr lang="es-AR" sz="1500" dirty="0">
                  <a:solidFill>
                    <a:srgbClr val="1E1E1E"/>
                  </a:solidFill>
                  <a:latin typeface="Fira Sans Condensed"/>
                  <a:ea typeface="Fira Sans Condensed"/>
                  <a:cs typeface="Fira Sans Condensed"/>
                  <a:sym typeface="Fira Sans Condensed"/>
                </a:rPr>
                <a:t> desde las células y </a:t>
              </a:r>
              <a:r>
                <a:rPr lang="es-AR" sz="1500" b="1" dirty="0">
                  <a:solidFill>
                    <a:srgbClr val="1E1E1E"/>
                  </a:solidFill>
                  <a:latin typeface="Fira Sans Condensed"/>
                  <a:ea typeface="Fira Sans Condensed"/>
                  <a:cs typeface="Fira Sans Condensed"/>
                  <a:sym typeface="Fira Sans Condensed"/>
                </a:rPr>
                <a:t>diluye</a:t>
              </a:r>
              <a:r>
                <a:rPr lang="es-AR" sz="1500" dirty="0">
                  <a:solidFill>
                    <a:srgbClr val="1E1E1E"/>
                  </a:solidFill>
                  <a:latin typeface="Fira Sans Condensed"/>
                  <a:ea typeface="Fira Sans Condensed"/>
                  <a:cs typeface="Fira Sans Condensed"/>
                  <a:sym typeface="Fira Sans Condensed"/>
                </a:rPr>
                <a:t> el Na⁺ medido. El Na⁺ corregido estima el sodio que habría sin ese desplazamiento de agua.</a:t>
              </a:r>
              <a:endParaRPr lang="es-AR" sz="1500" dirty="0">
                <a:latin typeface="Fira Sans Condensed"/>
              </a:endParaRPr>
            </a:p>
          </p:txBody>
        </p:sp>
        <p:sp>
          <p:nvSpPr>
            <p:cNvPr id="10" name="Forma 9"/>
            <p:cNvSpPr/>
            <p:nvPr/>
          </p:nvSpPr>
          <p:spPr>
            <a:xfrm>
              <a:off x="502920" y="2103120"/>
              <a:ext cx="2008585"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POR QUÉ SE CORRIGE</a:t>
              </a:r>
              <a:endParaRPr lang="es-AR" sz="1400" dirty="0">
                <a:latin typeface="Fira Sans Condensed"/>
              </a:endParaRPr>
            </a:p>
          </p:txBody>
        </p:sp>
      </p:grpSp>
      <p:grpSp>
        <p:nvGrpSpPr>
          <p:cNvPr id="11" name="Factor 1,6"/>
          <p:cNvGrpSpPr/>
          <p:nvPr/>
        </p:nvGrpSpPr>
        <p:grpSpPr>
          <a:xfrm>
            <a:off x="5760720" y="2103120"/>
            <a:ext cx="6080760" cy="1188720"/>
            <a:chOff x="5760720" y="2103120"/>
            <a:chExt cx="6080760" cy="1188720"/>
          </a:xfrm>
        </p:grpSpPr>
        <p:sp>
          <p:nvSpPr>
            <p:cNvPr id="12" name="Fórmula_2"/>
            <p:cNvSpPr/>
            <p:nvPr/>
          </p:nvSpPr>
          <p:spPr>
            <a:xfrm>
              <a:off x="5760720" y="2103120"/>
              <a:ext cx="6080760" cy="54864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600" b="1" dirty="0">
                  <a:solidFill>
                    <a:srgbClr val="1E1E1E"/>
                  </a:solidFill>
                  <a:latin typeface="Fira Sans Condensed"/>
                  <a:ea typeface="Fira Sans Condensed"/>
                  <a:cs typeface="Fira Sans Condensed"/>
                  <a:sym typeface="Fira Sans Condensed"/>
                </a:rPr>
                <a:t>Factor 1,6: 1,6 × (683 − 100)/100</a:t>
              </a:r>
              <a:endParaRPr lang="es-AR" sz="1600" dirty="0">
                <a:latin typeface="Fira Sans Condensed"/>
              </a:endParaRPr>
            </a:p>
          </p:txBody>
        </p:sp>
        <p:sp>
          <p:nvSpPr>
            <p:cNvPr id="13" name="Fórmula_3"/>
            <p:cNvSpPr/>
            <p:nvPr/>
          </p:nvSpPr>
          <p:spPr>
            <a:xfrm>
              <a:off x="5760720" y="2743200"/>
              <a:ext cx="6080760" cy="54864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 1,6 × 5,83 ≈ + 9,3 mEq/L</a:t>
              </a:r>
              <a:endParaRPr lang="es-AR" sz="1800" dirty="0">
                <a:latin typeface="Fira Sans Condensed"/>
              </a:endParaRPr>
            </a:p>
          </p:txBody>
        </p:sp>
      </p:grpSp>
      <p:grpSp>
        <p:nvGrpSpPr>
          <p:cNvPr id="14" name="Factor 2,4"/>
          <p:cNvGrpSpPr/>
          <p:nvPr/>
        </p:nvGrpSpPr>
        <p:grpSpPr>
          <a:xfrm>
            <a:off x="5760720" y="3520440"/>
            <a:ext cx="6080760" cy="1188720"/>
            <a:chOff x="5760720" y="3520440"/>
            <a:chExt cx="6080760" cy="1188720"/>
          </a:xfrm>
        </p:grpSpPr>
        <p:sp>
          <p:nvSpPr>
            <p:cNvPr id="15" name="Fórmula_4"/>
            <p:cNvSpPr/>
            <p:nvPr/>
          </p:nvSpPr>
          <p:spPr>
            <a:xfrm>
              <a:off x="5760720" y="3520440"/>
              <a:ext cx="6080760" cy="54864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600" b="1" dirty="0">
                  <a:solidFill>
                    <a:srgbClr val="1E1E1E"/>
                  </a:solidFill>
                  <a:latin typeface="Fira Sans Condensed"/>
                  <a:ea typeface="Fira Sans Condensed"/>
                  <a:cs typeface="Fira Sans Condensed"/>
                  <a:sym typeface="Fira Sans Condensed"/>
                </a:rPr>
                <a:t>Factor 2,4 (hiperglucemia grave): 2,4 × 5,83</a:t>
              </a:r>
              <a:endParaRPr lang="es-AR" sz="1600" dirty="0">
                <a:latin typeface="Fira Sans Condensed"/>
              </a:endParaRPr>
            </a:p>
          </p:txBody>
        </p:sp>
        <p:sp>
          <p:nvSpPr>
            <p:cNvPr id="16" name="Fórmula_5"/>
            <p:cNvSpPr/>
            <p:nvPr/>
          </p:nvSpPr>
          <p:spPr>
            <a:xfrm>
              <a:off x="5760720" y="4160520"/>
              <a:ext cx="6080760" cy="54864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C00000"/>
                  </a:solidFill>
                  <a:latin typeface="Fira Sans Condensed"/>
                  <a:ea typeface="Fira Sans Condensed"/>
                  <a:cs typeface="Fira Sans Condensed"/>
                  <a:sym typeface="Fira Sans Condensed"/>
                </a:rPr>
                <a:t>≈ + 14,0 mEq/L</a:t>
              </a:r>
              <a:endParaRPr lang="es-AR" sz="1800" dirty="0">
                <a:latin typeface="Fira Sans Condensed"/>
              </a:endParaRPr>
            </a:p>
          </p:txBody>
        </p:sp>
      </p:grpSp>
      <p:sp>
        <p:nvSpPr>
          <p:cNvPr id="17" name="Perla clínica"/>
          <p:cNvSpPr/>
          <p:nvPr/>
        </p:nvSpPr>
        <p:spPr>
          <a:xfrm>
            <a:off x="365760" y="5029200"/>
            <a:ext cx="11475720" cy="12344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b="1" dirty="0">
                <a:solidFill>
                  <a:srgbClr val="FFFFFF"/>
                </a:solidFill>
                <a:latin typeface="Fira Sans Condensed"/>
                <a:ea typeface="Fira Sans Condensed"/>
                <a:cs typeface="Fira Sans Condensed"/>
                <a:sym typeface="Fira Sans Condensed"/>
              </a:rPr>
              <a:t>No se puede calcular el sodio final</a:t>
            </a:r>
            <a:r>
              <a:rPr lang="es-AR" sz="1600" dirty="0">
                <a:solidFill>
                  <a:srgbClr val="FFFFFF"/>
                </a:solidFill>
                <a:latin typeface="Fira Sans Condensed"/>
                <a:ea typeface="Fira Sans Condensed"/>
                <a:cs typeface="Fira Sans Condensed"/>
                <a:sym typeface="Fira Sans Condensed"/>
              </a:rPr>
              <a:t>: el caso 12 no informa Na⁺ medido. Sólo se conoce la magnitud de la </a:t>
            </a:r>
            <a:r>
              <a:rPr lang="es-AR" sz="1600" b="1" dirty="0">
                <a:solidFill>
                  <a:srgbClr val="FFFFFF"/>
                </a:solidFill>
                <a:latin typeface="Fira Sans Condensed"/>
                <a:ea typeface="Fira Sans Condensed"/>
                <a:cs typeface="Fira Sans Condensed"/>
                <a:sym typeface="Fira Sans Condensed"/>
              </a:rPr>
              <a:t>corrección</a:t>
            </a:r>
            <a:r>
              <a:rPr lang="es-AR" sz="1600" dirty="0">
                <a:solidFill>
                  <a:srgbClr val="FFFFFF"/>
                </a:solidFill>
                <a:latin typeface="Fira Sans Condensed"/>
                <a:ea typeface="Fira Sans Condensed"/>
                <a:cs typeface="Fira Sans Condensed"/>
                <a:sym typeface="Fira Sans Condensed"/>
              </a:rPr>
              <a:t> (+9,3 a +14,0 mEq/L).</a:t>
            </a:r>
            <a:endParaRPr lang="es-AR" sz="16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SODIO CORREGIDO POR HIPERGLUCEMIA</a:t>
            </a:r>
            <a:endParaRPr lang="es-AR" sz="34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4" fill="hold">
                      <p:stCondLst>
                        <p:cond delay="indefinite"/>
                      </p:stCondLst>
                      <p:childTnLst>
                        <p:par>
                          <p:cTn id="23"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Recuadro EHH CON DESHIDRATACIÓN"/>
          <p:cNvSpPr/>
          <p:nvPr/>
        </p:nvSpPr>
        <p:spPr>
          <a:xfrm>
            <a:off x="365760" y="1097280"/>
            <a:ext cx="11475720" cy="7772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EHH CON DESHIDRATACIÓN GRAVE Y COMPROMISO DE CONCIENCIA — PROBABLE DM2 HASTA DEMOSTRAR LO CONTRARIO</a:t>
            </a:r>
            <a:endParaRPr lang="es-AR" sz="1600" dirty="0">
              <a:latin typeface="Fira Sans Condensed"/>
            </a:endParaRPr>
          </a:p>
        </p:txBody>
      </p:sp>
      <p:grpSp>
        <p:nvGrpSpPr>
          <p:cNvPr id="8" name="Cuadro Lo sostienen"/>
          <p:cNvGrpSpPr/>
          <p:nvPr/>
        </p:nvGrpSpPr>
        <p:grpSpPr>
          <a:xfrm>
            <a:off x="365760" y="2103120"/>
            <a:ext cx="5577840" cy="2377440"/>
            <a:chOff x="365760" y="2103120"/>
            <a:chExt cx="5577840" cy="2377440"/>
          </a:xfrm>
        </p:grpSpPr>
        <p:sp>
          <p:nvSpPr>
            <p:cNvPr id="9" name="Forma 8"/>
            <p:cNvSpPr/>
            <p:nvPr/>
          </p:nvSpPr>
          <p:spPr>
            <a:xfrm>
              <a:off x="365760" y="2304288"/>
              <a:ext cx="557784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Glucosa ≥ 600</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Osmolalidad informada 325</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Cetonas no detectadas</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pH conservado</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Glucosuria e hipovolemia intensa</a:t>
              </a:r>
              <a:endParaRPr lang="es-AR" sz="1500" dirty="0">
                <a:latin typeface="Fira Sans Condensed"/>
              </a:endParaRPr>
            </a:p>
          </p:txBody>
        </p:sp>
        <p:sp>
          <p:nvSpPr>
            <p:cNvPr id="10" name="Forma 9"/>
            <p:cNvSpPr/>
            <p:nvPr/>
          </p:nvSpPr>
          <p:spPr>
            <a:xfrm>
              <a:off x="502920" y="2103120"/>
              <a:ext cx="147165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LO SOSTIENEN</a:t>
              </a:r>
              <a:endParaRPr lang="es-AR" sz="1400" dirty="0">
                <a:latin typeface="Fira Sans Condensed"/>
              </a:endParaRPr>
            </a:p>
          </p:txBody>
        </p:sp>
      </p:grpSp>
      <p:grpSp>
        <p:nvGrpSpPr>
          <p:cNvPr id="11" name="Cuadro Precipitante no demost"/>
          <p:cNvGrpSpPr/>
          <p:nvPr/>
        </p:nvGrpSpPr>
        <p:grpSpPr>
          <a:xfrm>
            <a:off x="6263640" y="2103120"/>
            <a:ext cx="5577840" cy="2377440"/>
            <a:chOff x="6263640" y="2103120"/>
            <a:chExt cx="5577840" cy="2377440"/>
          </a:xfrm>
        </p:grpSpPr>
        <p:sp>
          <p:nvSpPr>
            <p:cNvPr id="12" name="Forma 11"/>
            <p:cNvSpPr/>
            <p:nvPr/>
          </p:nvSpPr>
          <p:spPr>
            <a:xfrm>
              <a:off x="6263640" y="2304288"/>
              <a:ext cx="557784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El </a:t>
              </a:r>
              <a:r>
                <a:rPr lang="es-AR" sz="1450" b="1" dirty="0">
                  <a:solidFill>
                    <a:srgbClr val="1E1E1E"/>
                  </a:solidFill>
                  <a:latin typeface="Fira Sans Condensed"/>
                  <a:ea typeface="Fira Sans Condensed"/>
                  <a:cs typeface="Fira Sans Condensed"/>
                  <a:sym typeface="Fira Sans Condensed"/>
                </a:rPr>
                <a:t>despido y el estrés</a:t>
              </a:r>
              <a:r>
                <a:rPr lang="es-AR" sz="1450" dirty="0">
                  <a:solidFill>
                    <a:srgbClr val="1E1E1E"/>
                  </a:solidFill>
                  <a:latin typeface="Fira Sans Condensed"/>
                  <a:ea typeface="Fira Sans Condensed"/>
                  <a:cs typeface="Fira Sans Condensed"/>
                  <a:sym typeface="Fira Sans Condensed"/>
                </a:rPr>
                <a:t> pueden contribuir (ejes neuroendocrinos, conducta), pero </a:t>
              </a:r>
              <a:r>
                <a:rPr lang="es-AR" sz="1450" b="1" dirty="0">
                  <a:solidFill>
                    <a:srgbClr val="1E1E1E"/>
                  </a:solidFill>
                  <a:latin typeface="Fira Sans Condensed"/>
                  <a:ea typeface="Fira Sans Condensed"/>
                  <a:cs typeface="Fira Sans Condensed"/>
                  <a:sym typeface="Fira Sans Condensed"/>
                </a:rPr>
                <a:t>no reemplazan</a:t>
              </a:r>
              <a:r>
                <a:rPr lang="es-AR" sz="1450" dirty="0">
                  <a:solidFill>
                    <a:srgbClr val="1E1E1E"/>
                  </a:solidFill>
                  <a:latin typeface="Fira Sans Condensed"/>
                  <a:ea typeface="Fira Sans Condensed"/>
                  <a:cs typeface="Fira Sans Condensed"/>
                  <a:sym typeface="Fira Sans Condensed"/>
                </a:rPr>
                <a:t> la búsqueda de </a:t>
              </a:r>
              <a:r>
                <a:rPr lang="es-AR" sz="1450" b="1" dirty="0">
                  <a:solidFill>
                    <a:srgbClr val="1E1E1E"/>
                  </a:solidFill>
                  <a:latin typeface="Fira Sans Condensed"/>
                  <a:ea typeface="Fira Sans Condensed"/>
                  <a:cs typeface="Fira Sans Condensed"/>
                  <a:sym typeface="Fira Sans Condensed"/>
                </a:rPr>
                <a:t>infección, infarto, ACV, fármacos, interrupción terapéutica</a:t>
              </a:r>
              <a:r>
                <a:rPr lang="es-AR" sz="1450" dirty="0">
                  <a:solidFill>
                    <a:srgbClr val="1E1E1E"/>
                  </a:solidFill>
                  <a:latin typeface="Fira Sans Condensed"/>
                  <a:ea typeface="Fira Sans Condensed"/>
                  <a:cs typeface="Fira Sans Condensed"/>
                  <a:sym typeface="Fira Sans Condensed"/>
                </a:rPr>
                <a:t> o enfermedad intercurrente.</a:t>
              </a:r>
              <a:endParaRPr lang="es-AR" sz="1450" dirty="0">
                <a:latin typeface="Fira Sans Condensed"/>
              </a:endParaRPr>
            </a:p>
          </p:txBody>
        </p:sp>
        <p:sp>
          <p:nvSpPr>
            <p:cNvPr id="13" name="Forma 12"/>
            <p:cNvSpPr/>
            <p:nvPr/>
          </p:nvSpPr>
          <p:spPr>
            <a:xfrm>
              <a:off x="6400800" y="2103120"/>
              <a:ext cx="285605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PRECIPITANTE NO DEMOSTRADO</a:t>
              </a:r>
              <a:endParaRPr lang="es-AR" sz="1400" dirty="0">
                <a:latin typeface="Fira Sans Condensed"/>
              </a:endParaRPr>
            </a:p>
          </p:txBody>
        </p:sp>
      </p:grpSp>
      <p:sp>
        <p:nvSpPr>
          <p:cNvPr id="14" name="Perla clínica"/>
          <p:cNvSpPr/>
          <p:nvPr/>
        </p:nvSpPr>
        <p:spPr>
          <a:xfrm>
            <a:off x="365760" y="4709160"/>
            <a:ext cx="11475720" cy="15544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b="1" dirty="0">
                <a:solidFill>
                  <a:srgbClr val="FFFFFF"/>
                </a:solidFill>
                <a:latin typeface="Fira Sans Condensed"/>
                <a:ea typeface="Fira Sans Condensed"/>
                <a:cs typeface="Fira Sans Condensed"/>
                <a:sym typeface="Fira Sans Condensed"/>
              </a:rPr>
              <a:t>Glasgow 7</a:t>
            </a:r>
            <a:r>
              <a:rPr lang="es-AR" sz="1500" dirty="0">
                <a:solidFill>
                  <a:srgbClr val="FFFFFF"/>
                </a:solidFill>
                <a:latin typeface="Fira Sans Condensed"/>
                <a:ea typeface="Fira Sans Condensed"/>
                <a:cs typeface="Fira Sans Condensed"/>
                <a:sym typeface="Fira Sans Condensed"/>
              </a:rPr>
              <a:t>: asegurar evaluación de </a:t>
            </a:r>
            <a:r>
              <a:rPr lang="es-AR" sz="1500" b="1" dirty="0">
                <a:solidFill>
                  <a:srgbClr val="FFFFFF"/>
                </a:solidFill>
                <a:latin typeface="Fira Sans Condensed"/>
                <a:ea typeface="Fira Sans Condensed"/>
                <a:cs typeface="Fira Sans Condensed"/>
                <a:sym typeface="Fira Sans Condensed"/>
              </a:rPr>
              <a:t>vía aérea y ventilación</a:t>
            </a:r>
            <a:r>
              <a:rPr lang="es-AR" sz="1500" dirty="0">
                <a:solidFill>
                  <a:srgbClr val="FFFFFF"/>
                </a:solidFill>
                <a:latin typeface="Fira Sans Condensed"/>
                <a:ea typeface="Fira Sans Condensed"/>
                <a:cs typeface="Fira Sans Condensed"/>
                <a:sym typeface="Fira Sans Condensed"/>
              </a:rPr>
              <a:t> y buscar causas alternativas de coma (meningitis, ACV, intoxicación, hipoglucemia concomitante). No atribuir automáticamente el coma al EHH.</a:t>
            </a:r>
            <a:endParaRPr lang="es-AR" sz="1500" dirty="0">
              <a:latin typeface="Fira Sans Condensed"/>
            </a:endParaRPr>
          </a:p>
        </p:txBody>
      </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PREGUNTA 5 · DIAGNÓSTICO PRESUNTIVO Y CAUSAS</a:t>
            </a:r>
            <a:endParaRPr lang="es-AR" sz="32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26" fill="hold">
                      <p:stCondLst>
                        <p:cond delay="indefinite"/>
                      </p:stCondLst>
                      <p:childTnLst>
                        <p:par>
                          <p:cTn id="25"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fltVal val="0"/>
                                          </p:val>
                                        </p:tav>
                                        <p:tav tm="100000">
                                          <p:val>
                                            <p:strVal val="#ppt_h"/>
                                          </p:val>
                                        </p:tav>
                                      </p:tavLst>
                                    </p:anim>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grpSp>
        <p:nvGrpSpPr>
          <p:cNvPr id="6" name="Vía EHH 0"/>
          <p:cNvGrpSpPr/>
          <p:nvPr/>
        </p:nvGrpSpPr>
        <p:grpSpPr>
          <a:xfrm>
            <a:off x="365760" y="1051560"/>
            <a:ext cx="5623560" cy="1170432"/>
            <a:chOff x="365760" y="1051560"/>
            <a:chExt cx="5623560" cy="1170432"/>
          </a:xfrm>
        </p:grpSpPr>
        <p:sp>
          <p:nvSpPr>
            <p:cNvPr id="7" name="Forma 6"/>
            <p:cNvSpPr/>
            <p:nvPr/>
          </p:nvSpPr>
          <p:spPr>
            <a:xfrm>
              <a:off x="365760" y="1051560"/>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8" name="Imagen healthy_liver" descr="Ilustración biomédica (Servier Medical Art, CC BY)"/>
            <p:cNvPicPr>
              <a:picLocks noChangeAspect="1"/>
            </p:cNvPicPr>
            <p:nvPr/>
          </p:nvPicPr>
          <p:blipFill>
            <a:blip r:embed="rId2"/>
            <a:stretch>
              <a:fillRect/>
            </a:stretch>
          </p:blipFill>
          <p:spPr>
            <a:xfrm>
              <a:off x="457200" y="1274724"/>
              <a:ext cx="960120" cy="696672"/>
            </a:xfrm>
            <a:prstGeom prst="rect">
              <a:avLst/>
            </a:prstGeom>
          </p:spPr>
        </p:pic>
        <p:sp>
          <p:nvSpPr>
            <p:cNvPr id="9" name="Forma 8"/>
            <p:cNvSpPr txBox="1"/>
            <p:nvPr/>
          </p:nvSpPr>
          <p:spPr>
            <a:xfrm>
              <a:off x="1554480" y="1124712"/>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1 · Resistencia hepática</a:t>
              </a:r>
              <a:endParaRPr lang="es-AR" sz="1500" dirty="0">
                <a:latin typeface="Fira Sans Condensed"/>
              </a:endParaRPr>
            </a:p>
          </p:txBody>
        </p:sp>
        <p:sp>
          <p:nvSpPr>
            <p:cNvPr id="10" name="Forma 9"/>
            <p:cNvSpPr txBox="1"/>
            <p:nvPr/>
          </p:nvSpPr>
          <p:spPr>
            <a:xfrm>
              <a:off x="1554480" y="1527048"/>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FOXO1/PEPCK/G6PC mal suprimidos → producción hepática de glucosa alta</a:t>
              </a:r>
              <a:endParaRPr lang="es-AR" sz="1350" dirty="0">
                <a:latin typeface="Fira Sans Condensed"/>
              </a:endParaRPr>
            </a:p>
          </p:txBody>
        </p:sp>
      </p:grpSp>
      <p:grpSp>
        <p:nvGrpSpPr>
          <p:cNvPr id="11" name="Vía EHH 1"/>
          <p:cNvGrpSpPr/>
          <p:nvPr/>
        </p:nvGrpSpPr>
        <p:grpSpPr>
          <a:xfrm>
            <a:off x="6172200" y="1051560"/>
            <a:ext cx="5623560" cy="1170432"/>
            <a:chOff x="6172200" y="1051560"/>
            <a:chExt cx="5623560" cy="1170432"/>
          </a:xfrm>
        </p:grpSpPr>
        <p:sp>
          <p:nvSpPr>
            <p:cNvPr id="12" name="Forma 11"/>
            <p:cNvSpPr/>
            <p:nvPr/>
          </p:nvSpPr>
          <p:spPr>
            <a:xfrm>
              <a:off x="6172200" y="1051560"/>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13" name="Imagen muscle-fiber" descr="Ilustración biomédica (Servier Medical Art, CC BY)"/>
            <p:cNvPicPr>
              <a:picLocks noChangeAspect="1"/>
            </p:cNvPicPr>
            <p:nvPr/>
          </p:nvPicPr>
          <p:blipFill>
            <a:blip r:embed="rId3"/>
            <a:stretch>
              <a:fillRect/>
            </a:stretch>
          </p:blipFill>
          <p:spPr>
            <a:xfrm>
              <a:off x="6263640" y="1400175"/>
              <a:ext cx="960120" cy="445770"/>
            </a:xfrm>
            <a:prstGeom prst="rect">
              <a:avLst/>
            </a:prstGeom>
          </p:spPr>
        </p:pic>
        <p:sp>
          <p:nvSpPr>
            <p:cNvPr id="14" name="Forma 13"/>
            <p:cNvSpPr txBox="1"/>
            <p:nvPr/>
          </p:nvSpPr>
          <p:spPr>
            <a:xfrm>
              <a:off x="7360920" y="1124712"/>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2 · Resistencia muscular</a:t>
              </a:r>
              <a:endParaRPr lang="es-AR" sz="1500" dirty="0">
                <a:latin typeface="Fira Sans Condensed"/>
              </a:endParaRPr>
            </a:p>
          </p:txBody>
        </p:sp>
        <p:sp>
          <p:nvSpPr>
            <p:cNvPr id="15" name="Forma 14"/>
            <p:cNvSpPr txBox="1"/>
            <p:nvPr/>
          </p:nvSpPr>
          <p:spPr>
            <a:xfrm>
              <a:off x="7360920" y="1527048"/>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Menor señal IRS–PI3K–Akt–GLUT4 → menor captación</a:t>
              </a:r>
              <a:endParaRPr lang="es-AR" sz="1350" dirty="0">
                <a:latin typeface="Fira Sans Condensed"/>
              </a:endParaRPr>
            </a:p>
          </p:txBody>
        </p:sp>
      </p:grpSp>
      <p:grpSp>
        <p:nvGrpSpPr>
          <p:cNvPr id="16" name="Vía EHH 2"/>
          <p:cNvGrpSpPr/>
          <p:nvPr/>
        </p:nvGrpSpPr>
        <p:grpSpPr>
          <a:xfrm>
            <a:off x="365760" y="2350008"/>
            <a:ext cx="5623560" cy="1170432"/>
            <a:chOff x="365760" y="2350008"/>
            <a:chExt cx="5623560" cy="1170432"/>
          </a:xfrm>
        </p:grpSpPr>
        <p:sp>
          <p:nvSpPr>
            <p:cNvPr id="17" name="Forma 16"/>
            <p:cNvSpPr/>
            <p:nvPr/>
          </p:nvSpPr>
          <p:spPr>
            <a:xfrm>
              <a:off x="365760" y="2350008"/>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18" name="Imagen langerhans-islet-pancreas" descr="Ilustración biomédica (Servier Medical Art, CC BY)"/>
            <p:cNvPicPr>
              <a:picLocks noChangeAspect="1"/>
            </p:cNvPicPr>
            <p:nvPr/>
          </p:nvPicPr>
          <p:blipFill>
            <a:blip r:embed="rId4"/>
            <a:stretch>
              <a:fillRect/>
            </a:stretch>
          </p:blipFill>
          <p:spPr>
            <a:xfrm>
              <a:off x="497319" y="2441448"/>
              <a:ext cx="879881" cy="960120"/>
            </a:xfrm>
            <a:prstGeom prst="rect">
              <a:avLst/>
            </a:prstGeom>
          </p:spPr>
        </p:pic>
        <p:sp>
          <p:nvSpPr>
            <p:cNvPr id="19" name="Forma 18"/>
            <p:cNvSpPr txBox="1"/>
            <p:nvPr/>
          </p:nvSpPr>
          <p:spPr>
            <a:xfrm>
              <a:off x="1554480" y="2423160"/>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3 · Secreción β insuficiente</a:t>
              </a:r>
              <a:endParaRPr lang="es-AR" sz="1500" dirty="0">
                <a:latin typeface="Fira Sans Condensed"/>
              </a:endParaRPr>
            </a:p>
          </p:txBody>
        </p:sp>
        <p:sp>
          <p:nvSpPr>
            <p:cNvPr id="20" name="Forma 19"/>
            <p:cNvSpPr txBox="1"/>
            <p:nvPr/>
          </p:nvSpPr>
          <p:spPr>
            <a:xfrm>
              <a:off x="1554480" y="2825496"/>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Gluco/lipotoxicidad, disfunción mitocondrial, genética</a:t>
              </a:r>
              <a:endParaRPr lang="es-AR" sz="1350" dirty="0">
                <a:latin typeface="Fira Sans Condensed"/>
              </a:endParaRPr>
            </a:p>
          </p:txBody>
        </p:sp>
      </p:grpSp>
      <p:grpSp>
        <p:nvGrpSpPr>
          <p:cNvPr id="21" name="Vía EHH 3"/>
          <p:cNvGrpSpPr/>
          <p:nvPr/>
        </p:nvGrpSpPr>
        <p:grpSpPr>
          <a:xfrm>
            <a:off x="6172200" y="2350008"/>
            <a:ext cx="5623560" cy="1170432"/>
            <a:chOff x="6172200" y="2350008"/>
            <a:chExt cx="5623560" cy="1170432"/>
          </a:xfrm>
        </p:grpSpPr>
        <p:sp>
          <p:nvSpPr>
            <p:cNvPr id="22" name="Forma 21"/>
            <p:cNvSpPr/>
            <p:nvPr/>
          </p:nvSpPr>
          <p:spPr>
            <a:xfrm>
              <a:off x="6172200" y="2350008"/>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23" name="Imagen adipocyte-1" descr="Ilustración biomédica (Servier Medical Art, CC BY)"/>
            <p:cNvPicPr>
              <a:picLocks noChangeAspect="1"/>
            </p:cNvPicPr>
            <p:nvPr/>
          </p:nvPicPr>
          <p:blipFill>
            <a:blip r:embed="rId5"/>
            <a:stretch>
              <a:fillRect/>
            </a:stretch>
          </p:blipFill>
          <p:spPr>
            <a:xfrm>
              <a:off x="6272898" y="2441448"/>
              <a:ext cx="941603" cy="960120"/>
            </a:xfrm>
            <a:prstGeom prst="rect">
              <a:avLst/>
            </a:prstGeom>
          </p:spPr>
        </p:pic>
        <p:sp>
          <p:nvSpPr>
            <p:cNvPr id="24" name="Forma 23"/>
            <p:cNvSpPr txBox="1"/>
            <p:nvPr/>
          </p:nvSpPr>
          <p:spPr>
            <a:xfrm>
              <a:off x="7360920" y="2423160"/>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4 · Lipólisis/cetogénesis frenadas</a:t>
              </a:r>
              <a:endParaRPr lang="es-AR" sz="1500" dirty="0">
                <a:latin typeface="Fira Sans Condensed"/>
              </a:endParaRPr>
            </a:p>
          </p:txBody>
        </p:sp>
        <p:sp>
          <p:nvSpPr>
            <p:cNvPr id="25" name="Forma 24"/>
            <p:cNvSpPr txBox="1"/>
            <p:nvPr/>
          </p:nvSpPr>
          <p:spPr>
            <a:xfrm>
              <a:off x="7360920" y="2825496"/>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La insulina residual mantiene efecto anticetogénico</a:t>
              </a:r>
              <a:endParaRPr lang="es-AR" sz="1350" dirty="0">
                <a:latin typeface="Fira Sans Condensed"/>
              </a:endParaRPr>
            </a:p>
          </p:txBody>
        </p:sp>
      </p:grpSp>
      <p:grpSp>
        <p:nvGrpSpPr>
          <p:cNvPr id="26" name="Vía EHH 4"/>
          <p:cNvGrpSpPr/>
          <p:nvPr/>
        </p:nvGrpSpPr>
        <p:grpSpPr>
          <a:xfrm>
            <a:off x="365760" y="3648456"/>
            <a:ext cx="5623560" cy="1170432"/>
            <a:chOff x="365760" y="3648456"/>
            <a:chExt cx="5623560" cy="1170432"/>
          </a:xfrm>
        </p:grpSpPr>
        <p:sp>
          <p:nvSpPr>
            <p:cNvPr id="27" name="Forma 26"/>
            <p:cNvSpPr/>
            <p:nvPr/>
          </p:nvSpPr>
          <p:spPr>
            <a:xfrm>
              <a:off x="365760" y="3648456"/>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28" name="Imagen kidney-1" descr="Ilustración biomédica (Servier Medical Art, CC BY)"/>
            <p:cNvPicPr>
              <a:picLocks noChangeAspect="1"/>
            </p:cNvPicPr>
            <p:nvPr/>
          </p:nvPicPr>
          <p:blipFill>
            <a:blip r:embed="rId6"/>
            <a:stretch>
              <a:fillRect/>
            </a:stretch>
          </p:blipFill>
          <p:spPr>
            <a:xfrm>
              <a:off x="666026" y="3739896"/>
              <a:ext cx="542468" cy="960120"/>
            </a:xfrm>
            <a:prstGeom prst="rect">
              <a:avLst/>
            </a:prstGeom>
          </p:spPr>
        </p:pic>
        <p:sp>
          <p:nvSpPr>
            <p:cNvPr id="29" name="Forma 28"/>
            <p:cNvSpPr txBox="1"/>
            <p:nvPr/>
          </p:nvSpPr>
          <p:spPr>
            <a:xfrm>
              <a:off x="1554480" y="3721608"/>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5 · Riñón</a:t>
              </a:r>
              <a:endParaRPr lang="es-AR" sz="1500" dirty="0">
                <a:latin typeface="Fira Sans Condensed"/>
              </a:endParaRPr>
            </a:p>
          </p:txBody>
        </p:sp>
        <p:sp>
          <p:nvSpPr>
            <p:cNvPr id="30" name="Forma 29"/>
            <p:cNvSpPr txBox="1"/>
            <p:nvPr/>
          </p:nvSpPr>
          <p:spPr>
            <a:xfrm>
              <a:off x="1554480" y="4123944"/>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Glucosuria, diuresis osmótica, pérdida de electrolitos, FG ↓</a:t>
              </a:r>
              <a:endParaRPr lang="es-AR" sz="1350" dirty="0">
                <a:latin typeface="Fira Sans Condensed"/>
              </a:endParaRPr>
            </a:p>
          </p:txBody>
        </p:sp>
      </p:grpSp>
      <p:grpSp>
        <p:nvGrpSpPr>
          <p:cNvPr id="31" name="Vía EHH 5"/>
          <p:cNvGrpSpPr/>
          <p:nvPr/>
        </p:nvGrpSpPr>
        <p:grpSpPr>
          <a:xfrm>
            <a:off x="6172200" y="3648456"/>
            <a:ext cx="5623560" cy="1170432"/>
            <a:chOff x="6172200" y="3648456"/>
            <a:chExt cx="5623560" cy="1170432"/>
          </a:xfrm>
        </p:grpSpPr>
        <p:sp>
          <p:nvSpPr>
            <p:cNvPr id="32" name="Forma 31"/>
            <p:cNvSpPr/>
            <p:nvPr/>
          </p:nvSpPr>
          <p:spPr>
            <a:xfrm>
              <a:off x="6172200" y="3648456"/>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33" name="Imagen brain-2" descr="Ilustración biomédica (Servier Medical Art, CC BY)"/>
            <p:cNvPicPr>
              <a:picLocks noChangeAspect="1"/>
            </p:cNvPicPr>
            <p:nvPr/>
          </p:nvPicPr>
          <p:blipFill>
            <a:blip r:embed="rId7"/>
            <a:stretch>
              <a:fillRect/>
            </a:stretch>
          </p:blipFill>
          <p:spPr>
            <a:xfrm>
              <a:off x="6273584" y="3739896"/>
              <a:ext cx="940232" cy="960120"/>
            </a:xfrm>
            <a:prstGeom prst="rect">
              <a:avLst/>
            </a:prstGeom>
          </p:spPr>
        </p:pic>
        <p:sp>
          <p:nvSpPr>
            <p:cNvPr id="34" name="Forma 33"/>
            <p:cNvSpPr txBox="1"/>
            <p:nvPr/>
          </p:nvSpPr>
          <p:spPr>
            <a:xfrm>
              <a:off x="7360920" y="3721608"/>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6 · Neurofisiología osmótica</a:t>
              </a:r>
              <a:endParaRPr lang="es-AR" sz="1500" dirty="0">
                <a:latin typeface="Fira Sans Condensed"/>
              </a:endParaRPr>
            </a:p>
          </p:txBody>
        </p:sp>
        <p:sp>
          <p:nvSpPr>
            <p:cNvPr id="35" name="Forma 34"/>
            <p:cNvSpPr txBox="1"/>
            <p:nvPr/>
          </p:nvSpPr>
          <p:spPr>
            <a:xfrm>
              <a:off x="7360920" y="4123944"/>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Salida de agua intracelular → disfunción del sensorio</a:t>
              </a:r>
              <a:endParaRPr lang="es-AR" sz="1350" dirty="0">
                <a:latin typeface="Fira Sans Condensed"/>
              </a:endParaRPr>
            </a:p>
          </p:txBody>
        </p:sp>
      </p:grpSp>
      <p:grpSp>
        <p:nvGrpSpPr>
          <p:cNvPr id="36" name="Vía EHH 6"/>
          <p:cNvGrpSpPr/>
          <p:nvPr/>
        </p:nvGrpSpPr>
        <p:grpSpPr>
          <a:xfrm>
            <a:off x="3246120" y="4946904"/>
            <a:ext cx="5623560" cy="1170432"/>
            <a:chOff x="3246120" y="4946904"/>
            <a:chExt cx="5623560" cy="1170432"/>
          </a:xfrm>
        </p:grpSpPr>
        <p:sp>
          <p:nvSpPr>
            <p:cNvPr id="37" name="Forma 36"/>
            <p:cNvSpPr/>
            <p:nvPr/>
          </p:nvSpPr>
          <p:spPr>
            <a:xfrm>
              <a:off x="3246120" y="4946904"/>
              <a:ext cx="5623560" cy="1170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38" name="Imagen muscle-1" descr="Ilustración biomédica (Servier Medical Art, CC BY)"/>
            <p:cNvPicPr>
              <a:picLocks noChangeAspect="1"/>
            </p:cNvPicPr>
            <p:nvPr/>
          </p:nvPicPr>
          <p:blipFill>
            <a:blip r:embed="rId8"/>
            <a:stretch>
              <a:fillRect/>
            </a:stretch>
          </p:blipFill>
          <p:spPr>
            <a:xfrm>
              <a:off x="3734295" y="5038344"/>
              <a:ext cx="166649" cy="960120"/>
            </a:xfrm>
            <a:prstGeom prst="rect">
              <a:avLst/>
            </a:prstGeom>
          </p:spPr>
        </p:pic>
        <p:sp>
          <p:nvSpPr>
            <p:cNvPr id="39" name="Forma 38"/>
            <p:cNvSpPr txBox="1"/>
            <p:nvPr/>
          </p:nvSpPr>
          <p:spPr>
            <a:xfrm>
              <a:off x="4434840" y="5020056"/>
              <a:ext cx="4343400" cy="384048"/>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7 · Catabolismo proteico y estrés</a:t>
              </a:r>
              <a:endParaRPr lang="es-AR" sz="1500" dirty="0">
                <a:latin typeface="Fira Sans Condensed"/>
              </a:endParaRPr>
            </a:p>
          </p:txBody>
        </p:sp>
        <p:sp>
          <p:nvSpPr>
            <p:cNvPr id="40" name="Forma 39"/>
            <p:cNvSpPr txBox="1"/>
            <p:nvPr/>
          </p:nvSpPr>
          <p:spPr>
            <a:xfrm>
              <a:off x="4434840" y="5422392"/>
              <a:ext cx="4343400" cy="640080"/>
            </a:xfrm>
            <a:prstGeom prst="rect">
              <a:avLst/>
            </a:prstGeom>
            <a:noFill/>
            <a:ln>
              <a:noFill/>
            </a:ln>
          </p:spPr>
          <p:txBody>
            <a:bodyPr wrap="square" lIns="0" tIns="0" rIns="0" bIns="0" anchor="t"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Más aminoácidos gluconeogénicos; menor intensidad cetogénica que la CAD</a:t>
              </a:r>
              <a:endParaRPr lang="es-AR" sz="1350" dirty="0">
                <a:latin typeface="Fira Sans Condensed"/>
              </a:endParaRPr>
            </a:p>
          </p:txBody>
        </p:sp>
      </p:gr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PREGUNTA 6 · VÍAS METABÓLICAS ALTERADAS EN EL EHH</a:t>
            </a:r>
            <a:endParaRPr lang="es-AR" sz="28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4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pSp>
        <p:nvGrpSpPr>
          <p:cNvPr id="6" name="Eje VÍA AÉREA"/>
          <p:cNvGrpSpPr/>
          <p:nvPr/>
        </p:nvGrpSpPr>
        <p:grpSpPr>
          <a:xfrm>
            <a:off x="365760" y="1097280"/>
            <a:ext cx="2194560" cy="1252728"/>
            <a:chOff x="365760" y="1097280"/>
            <a:chExt cx="2194560" cy="1252728"/>
          </a:xfrm>
        </p:grpSpPr>
        <p:sp>
          <p:nvSpPr>
            <p:cNvPr id="7" name="Recuadro VÍA AÉREA"/>
            <p:cNvSpPr/>
            <p:nvPr/>
          </p:nvSpPr>
          <p:spPr>
            <a:xfrm>
              <a:off x="365760" y="10972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VÍA AÉREA</a:t>
              </a:r>
              <a:endParaRPr lang="es-AR" sz="1400" dirty="0">
                <a:latin typeface="Fira Sans Condensed"/>
              </a:endParaRPr>
            </a:p>
          </p:txBody>
        </p:sp>
        <p:sp>
          <p:nvSpPr>
            <p:cNvPr id="8" name="Forma 7"/>
            <p:cNvSpPr/>
            <p:nvPr/>
          </p:nvSpPr>
          <p:spPr>
            <a:xfrm>
              <a:off x="365760" y="1664208"/>
              <a:ext cx="219456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y causas de coma</a:t>
              </a:r>
              <a:endParaRPr lang="es-AR" sz="1350" dirty="0">
                <a:latin typeface="Fira Sans Condensed"/>
              </a:endParaRPr>
            </a:p>
          </p:txBody>
        </p:sp>
      </p:grpSp>
      <p:grpSp>
        <p:nvGrpSpPr>
          <p:cNvPr id="9" name="Eje LÍQUIDOS IV"/>
          <p:cNvGrpSpPr/>
          <p:nvPr/>
        </p:nvGrpSpPr>
        <p:grpSpPr>
          <a:xfrm>
            <a:off x="2679192" y="1097280"/>
            <a:ext cx="2194560" cy="1252728"/>
            <a:chOff x="2679192" y="1097280"/>
            <a:chExt cx="2194560" cy="1252728"/>
          </a:xfrm>
        </p:grpSpPr>
        <p:sp>
          <p:nvSpPr>
            <p:cNvPr id="10" name="Recuadro LÍQUIDOS IV"/>
            <p:cNvSpPr/>
            <p:nvPr/>
          </p:nvSpPr>
          <p:spPr>
            <a:xfrm>
              <a:off x="2679192" y="10972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LÍQUIDOS IV</a:t>
              </a:r>
              <a:endParaRPr lang="es-AR" sz="1400" dirty="0">
                <a:latin typeface="Fira Sans Condensed"/>
              </a:endParaRPr>
            </a:p>
          </p:txBody>
        </p:sp>
        <p:sp>
          <p:nvSpPr>
            <p:cNvPr id="11" name="Forma 10"/>
            <p:cNvSpPr/>
            <p:nvPr/>
          </p:nvSpPr>
          <p:spPr>
            <a:xfrm>
              <a:off x="2679192" y="1664208"/>
              <a:ext cx="219456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perfusión, FG, glucosuria</a:t>
              </a:r>
              <a:endParaRPr lang="es-AR" sz="1350" dirty="0">
                <a:latin typeface="Fira Sans Condensed"/>
              </a:endParaRPr>
            </a:p>
          </p:txBody>
        </p:sp>
      </p:grpSp>
      <p:grpSp>
        <p:nvGrpSpPr>
          <p:cNvPr id="12" name="Eje K⁺ / ELECTROLITOS"/>
          <p:cNvGrpSpPr/>
          <p:nvPr/>
        </p:nvGrpSpPr>
        <p:grpSpPr>
          <a:xfrm>
            <a:off x="4992624" y="1097280"/>
            <a:ext cx="2194560" cy="1252728"/>
            <a:chOff x="4992624" y="1097280"/>
            <a:chExt cx="2194560" cy="1252728"/>
          </a:xfrm>
        </p:grpSpPr>
        <p:sp>
          <p:nvSpPr>
            <p:cNvPr id="13" name="Recuadro K⁺ / ELECTROLITOS"/>
            <p:cNvSpPr/>
            <p:nvPr/>
          </p:nvSpPr>
          <p:spPr>
            <a:xfrm>
              <a:off x="4992624" y="10972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K⁺ / ELECTROLITOS</a:t>
              </a:r>
              <a:endParaRPr lang="es-AR" sz="1400" dirty="0">
                <a:latin typeface="Fira Sans Condensed"/>
              </a:endParaRPr>
            </a:p>
          </p:txBody>
        </p:sp>
        <p:sp>
          <p:nvSpPr>
            <p:cNvPr id="14" name="Forma 13"/>
            <p:cNvSpPr/>
            <p:nvPr/>
          </p:nvSpPr>
          <p:spPr>
            <a:xfrm>
              <a:off x="4992624" y="1664208"/>
              <a:ext cx="219456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antes y durante</a:t>
              </a:r>
              <a:endParaRPr lang="es-AR" sz="1350" dirty="0">
                <a:latin typeface="Fira Sans Condensed"/>
              </a:endParaRPr>
            </a:p>
          </p:txBody>
        </p:sp>
      </p:grpSp>
      <p:grpSp>
        <p:nvGrpSpPr>
          <p:cNvPr id="15" name="Eje INSULINA"/>
          <p:cNvGrpSpPr/>
          <p:nvPr/>
        </p:nvGrpSpPr>
        <p:grpSpPr>
          <a:xfrm>
            <a:off x="7306056" y="1097280"/>
            <a:ext cx="2194560" cy="1252728"/>
            <a:chOff x="7306056" y="1097280"/>
            <a:chExt cx="2194560" cy="1252728"/>
          </a:xfrm>
        </p:grpSpPr>
        <p:sp>
          <p:nvSpPr>
            <p:cNvPr id="16" name="Recuadro INSULINA"/>
            <p:cNvSpPr/>
            <p:nvPr/>
          </p:nvSpPr>
          <p:spPr>
            <a:xfrm>
              <a:off x="7306056" y="10972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INSULINA</a:t>
              </a:r>
              <a:endParaRPr lang="es-AR" sz="1400" dirty="0">
                <a:latin typeface="Fira Sans Condensed"/>
              </a:endParaRPr>
            </a:p>
          </p:txBody>
        </p:sp>
        <p:sp>
          <p:nvSpPr>
            <p:cNvPr id="17" name="Forma 16"/>
            <p:cNvSpPr/>
            <p:nvPr/>
          </p:nvSpPr>
          <p:spPr>
            <a:xfrm>
              <a:off x="7306056" y="1664208"/>
              <a:ext cx="219456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en contexto apropiado</a:t>
              </a:r>
              <a:endParaRPr lang="es-AR" sz="1350" dirty="0">
                <a:latin typeface="Fira Sans Condensed"/>
              </a:endParaRPr>
            </a:p>
          </p:txBody>
        </p:sp>
      </p:grpSp>
      <p:grpSp>
        <p:nvGrpSpPr>
          <p:cNvPr id="18" name="Eje PRECIPITANTE"/>
          <p:cNvGrpSpPr/>
          <p:nvPr/>
        </p:nvGrpSpPr>
        <p:grpSpPr>
          <a:xfrm>
            <a:off x="9619488" y="1097280"/>
            <a:ext cx="2194560" cy="1252728"/>
            <a:chOff x="9619488" y="1097280"/>
            <a:chExt cx="2194560" cy="1252728"/>
          </a:xfrm>
        </p:grpSpPr>
        <p:sp>
          <p:nvSpPr>
            <p:cNvPr id="19" name="Recuadro PRECIPITANTE"/>
            <p:cNvSpPr/>
            <p:nvPr/>
          </p:nvSpPr>
          <p:spPr>
            <a:xfrm>
              <a:off x="9619488" y="10972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PRECIPITANTE</a:t>
              </a:r>
              <a:endParaRPr lang="es-AR" sz="1400" dirty="0">
                <a:latin typeface="Fira Sans Condensed"/>
              </a:endParaRPr>
            </a:p>
          </p:txBody>
        </p:sp>
        <p:sp>
          <p:nvSpPr>
            <p:cNvPr id="20" name="Forma 19"/>
            <p:cNvSpPr/>
            <p:nvPr/>
          </p:nvSpPr>
          <p:spPr>
            <a:xfrm>
              <a:off x="9619488" y="1664208"/>
              <a:ext cx="219456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buscar y tratar</a:t>
              </a:r>
              <a:endParaRPr lang="es-AR" sz="1350" dirty="0">
                <a:latin typeface="Fira Sans Condensed"/>
              </a:endParaRPr>
            </a:p>
          </p:txBody>
        </p:sp>
      </p:grpSp>
      <p:grpSp>
        <p:nvGrpSpPr>
          <p:cNvPr id="21" name="Cuadro Efecto de la rehidrata"/>
          <p:cNvGrpSpPr/>
          <p:nvPr/>
        </p:nvGrpSpPr>
        <p:grpSpPr>
          <a:xfrm>
            <a:off x="365760" y="2606040"/>
            <a:ext cx="5623560" cy="1828800"/>
            <a:chOff x="365760" y="2606040"/>
            <a:chExt cx="5623560" cy="1828800"/>
          </a:xfrm>
        </p:grpSpPr>
        <p:sp>
          <p:nvSpPr>
            <p:cNvPr id="22" name="Forma 21"/>
            <p:cNvSpPr/>
            <p:nvPr/>
          </p:nvSpPr>
          <p:spPr>
            <a:xfrm>
              <a:off x="365760" y="2807208"/>
              <a:ext cx="5623560" cy="16276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Los </a:t>
              </a:r>
              <a:r>
                <a:rPr lang="es-AR" sz="1500" b="1" dirty="0">
                  <a:solidFill>
                    <a:srgbClr val="1E1E1E"/>
                  </a:solidFill>
                  <a:latin typeface="Fira Sans Condensed"/>
                  <a:ea typeface="Fira Sans Condensed"/>
                  <a:cs typeface="Fira Sans Condensed"/>
                  <a:sym typeface="Fira Sans Condensed"/>
                </a:rPr>
                <a:t>líquidos</a:t>
              </a:r>
              <a:r>
                <a:rPr lang="es-AR" sz="1500" dirty="0">
                  <a:solidFill>
                    <a:srgbClr val="1E1E1E"/>
                  </a:solidFill>
                  <a:latin typeface="Fira Sans Condensed"/>
                  <a:ea typeface="Fira Sans Condensed"/>
                  <a:cs typeface="Fira Sans Condensed"/>
                  <a:sym typeface="Fira Sans Condensed"/>
                </a:rPr>
                <a:t> solos pueden reducir la glucosa por </a:t>
              </a:r>
              <a:r>
                <a:rPr lang="es-AR" sz="1500" b="1" dirty="0">
                  <a:solidFill>
                    <a:srgbClr val="1E1E1E"/>
                  </a:solidFill>
                  <a:latin typeface="Fira Sans Condensed"/>
                  <a:ea typeface="Fira Sans Condensed"/>
                  <a:cs typeface="Fira Sans Condensed"/>
                  <a:sym typeface="Fira Sans Condensed"/>
                </a:rPr>
                <a:t>dilución</a:t>
              </a:r>
              <a:r>
                <a:rPr lang="es-AR" sz="1500" dirty="0">
                  <a:solidFill>
                    <a:srgbClr val="1E1E1E"/>
                  </a:solidFill>
                  <a:latin typeface="Fira Sans Condensed"/>
                  <a:ea typeface="Fira Sans Condensed"/>
                  <a:cs typeface="Fira Sans Condensed"/>
                  <a:sym typeface="Fira Sans Condensed"/>
                </a:rPr>
                <a:t>, mejor </a:t>
              </a:r>
              <a:r>
                <a:rPr lang="es-AR" sz="1500" b="1" dirty="0">
                  <a:solidFill>
                    <a:srgbClr val="1E1E1E"/>
                  </a:solidFill>
                  <a:latin typeface="Fira Sans Condensed"/>
                  <a:ea typeface="Fira Sans Condensed"/>
                  <a:cs typeface="Fira Sans Condensed"/>
                  <a:sym typeface="Fira Sans Condensed"/>
                </a:rPr>
                <a:t>FG</a:t>
              </a:r>
              <a:r>
                <a:rPr lang="es-AR" sz="1500" dirty="0">
                  <a:solidFill>
                    <a:srgbClr val="1E1E1E"/>
                  </a:solidFill>
                  <a:latin typeface="Fira Sans Condensed"/>
                  <a:ea typeface="Fira Sans Condensed"/>
                  <a:cs typeface="Fira Sans Condensed"/>
                  <a:sym typeface="Fira Sans Condensed"/>
                </a:rPr>
                <a:t> y glucosuria, sin necesidad inmediata de dosis elevadas de insulina.</a:t>
              </a:r>
              <a:endParaRPr lang="es-AR" sz="1500" dirty="0">
                <a:latin typeface="Fira Sans Condensed"/>
              </a:endParaRPr>
            </a:p>
          </p:txBody>
        </p:sp>
        <p:sp>
          <p:nvSpPr>
            <p:cNvPr id="23" name="Forma 22"/>
            <p:cNvSpPr/>
            <p:nvPr/>
          </p:nvSpPr>
          <p:spPr>
            <a:xfrm>
              <a:off x="502920" y="2606040"/>
              <a:ext cx="269185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EFECTO DE LA REHIDRATACIÓN</a:t>
              </a:r>
              <a:endParaRPr lang="es-AR" sz="1400" dirty="0">
                <a:latin typeface="Fira Sans Condensed"/>
              </a:endParaRPr>
            </a:p>
          </p:txBody>
        </p:sp>
      </p:grpSp>
      <p:grpSp>
        <p:nvGrpSpPr>
          <p:cNvPr id="24" name="Cuadro Monitoreo"/>
          <p:cNvGrpSpPr/>
          <p:nvPr/>
        </p:nvGrpSpPr>
        <p:grpSpPr>
          <a:xfrm>
            <a:off x="6217920" y="2606040"/>
            <a:ext cx="5623560" cy="1828800"/>
            <a:chOff x="6217920" y="2606040"/>
            <a:chExt cx="5623560" cy="1828800"/>
          </a:xfrm>
        </p:grpSpPr>
        <p:sp>
          <p:nvSpPr>
            <p:cNvPr id="25" name="Forma 24"/>
            <p:cNvSpPr/>
            <p:nvPr/>
          </p:nvSpPr>
          <p:spPr>
            <a:xfrm>
              <a:off x="6217920" y="2807208"/>
              <a:ext cx="5623560" cy="16276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Monitorizar </a:t>
              </a:r>
              <a:r>
                <a:rPr lang="es-AR" sz="1500" b="1" dirty="0">
                  <a:solidFill>
                    <a:srgbClr val="1E1E1E"/>
                  </a:solidFill>
                  <a:latin typeface="Fira Sans Condensed"/>
                  <a:ea typeface="Fira Sans Condensed"/>
                  <a:cs typeface="Fira Sans Condensed"/>
                  <a:sym typeface="Fira Sans Condensed"/>
                </a:rPr>
                <a:t>Na⁺ medido/corregido, osmolalidad, glucosa, K⁺, función renal y diuresis</a:t>
              </a:r>
              <a:r>
                <a:rPr lang="es-AR" sz="1500" dirty="0">
                  <a:solidFill>
                    <a:srgbClr val="1E1E1E"/>
                  </a:solidFill>
                  <a:latin typeface="Fira Sans Condensed"/>
                  <a:ea typeface="Fira Sans Condensed"/>
                  <a:cs typeface="Fira Sans Condensed"/>
                  <a:sym typeface="Fira Sans Condensed"/>
                </a:rPr>
                <a:t>; ajustar líquidos a comorbilidades </a:t>
              </a:r>
              <a:r>
                <a:rPr lang="es-AR" sz="1500" b="1" dirty="0">
                  <a:solidFill>
                    <a:srgbClr val="1E1E1E"/>
                  </a:solidFill>
                  <a:latin typeface="Fira Sans Condensed"/>
                  <a:ea typeface="Fira Sans Condensed"/>
                  <a:cs typeface="Fira Sans Condensed"/>
                  <a:sym typeface="Fira Sans Condensed"/>
                </a:rPr>
                <a:t>cardíacas y renales</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26" name="Forma 25"/>
            <p:cNvSpPr/>
            <p:nvPr/>
          </p:nvSpPr>
          <p:spPr>
            <a:xfrm>
              <a:off x="6355080" y="2606040"/>
              <a:ext cx="130652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MONITOREO</a:t>
              </a:r>
              <a:endParaRPr lang="es-AR" sz="1400" dirty="0">
                <a:latin typeface="Fira Sans Condensed"/>
              </a:endParaRPr>
            </a:p>
          </p:txBody>
        </p:sp>
      </p:grpSp>
      <p:grpSp>
        <p:nvGrpSpPr>
          <p:cNvPr id="27" name="Seguridad"/>
          <p:cNvGrpSpPr/>
          <p:nvPr/>
        </p:nvGrpSpPr>
        <p:grpSpPr>
          <a:xfrm>
            <a:off x="365760" y="4663440"/>
            <a:ext cx="11338560" cy="1600200"/>
            <a:chOff x="365760" y="4663440"/>
            <a:chExt cx="11338560" cy="1600200"/>
          </a:xfrm>
        </p:grpSpPr>
        <p:sp>
          <p:nvSpPr>
            <p:cNvPr id="28" name="Riesgo 0"/>
            <p:cNvSpPr/>
            <p:nvPr/>
          </p:nvSpPr>
          <p:spPr>
            <a:xfrm>
              <a:off x="365760" y="4663440"/>
              <a:ext cx="3657600" cy="1600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Insulina con K⁺ muy bajo → K⁺ entra a la célula → </a:t>
              </a:r>
              <a:r>
                <a:rPr lang="es-AR" sz="1350" b="1" dirty="0">
                  <a:solidFill>
                    <a:srgbClr val="FFFFFF"/>
                  </a:solidFill>
                  <a:latin typeface="Fira Sans Condensed"/>
                  <a:ea typeface="Fira Sans Condensed"/>
                  <a:cs typeface="Fira Sans Condensed"/>
                  <a:sym typeface="Fira Sans Condensed"/>
                </a:rPr>
                <a:t>arritmias</a:t>
              </a:r>
              <a:endParaRPr lang="es-AR" sz="1350" dirty="0">
                <a:latin typeface="Fira Sans Condensed"/>
              </a:endParaRPr>
            </a:p>
          </p:txBody>
        </p:sp>
        <p:sp>
          <p:nvSpPr>
            <p:cNvPr id="29" name="Riesgo 1"/>
            <p:cNvSpPr/>
            <p:nvPr/>
          </p:nvSpPr>
          <p:spPr>
            <a:xfrm>
              <a:off x="4206240" y="4663440"/>
              <a:ext cx="3657600" cy="1600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Tonicidad corregida muy rápido → </a:t>
              </a:r>
              <a:r>
                <a:rPr lang="es-AR" sz="1350" b="1" dirty="0">
                  <a:solidFill>
                    <a:srgbClr val="FFFFFF"/>
                  </a:solidFill>
                  <a:latin typeface="Fira Sans Condensed"/>
                  <a:ea typeface="Fira Sans Condensed"/>
                  <a:cs typeface="Fira Sans Condensed"/>
                  <a:sym typeface="Fira Sans Condensed"/>
                </a:rPr>
                <a:t>gradientes osmóticos</a:t>
              </a:r>
              <a:r>
                <a:rPr lang="es-AR" sz="1350" dirty="0">
                  <a:solidFill>
                    <a:srgbClr val="FFFFFF"/>
                  </a:solidFill>
                  <a:latin typeface="Fira Sans Condensed"/>
                  <a:ea typeface="Fira Sans Condensed"/>
                  <a:cs typeface="Fira Sans Condensed"/>
                  <a:sym typeface="Fira Sans Condensed"/>
                </a:rPr>
                <a:t> peligrosos</a:t>
              </a:r>
              <a:endParaRPr lang="es-AR" sz="1350" dirty="0">
                <a:latin typeface="Fira Sans Condensed"/>
              </a:endParaRPr>
            </a:p>
          </p:txBody>
        </p:sp>
        <p:sp>
          <p:nvSpPr>
            <p:cNvPr id="30" name="Riesgo 2"/>
            <p:cNvSpPr/>
            <p:nvPr/>
          </p:nvSpPr>
          <p:spPr>
            <a:xfrm>
              <a:off x="8046720" y="4663440"/>
              <a:ext cx="3657600" cy="1600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Coma atribuido automáticamente al EHH → se omiten </a:t>
              </a:r>
              <a:r>
                <a:rPr lang="es-AR" sz="1350" b="1" dirty="0">
                  <a:solidFill>
                    <a:srgbClr val="FFFFFF"/>
                  </a:solidFill>
                  <a:latin typeface="Fira Sans Condensed"/>
                  <a:ea typeface="Fira Sans Condensed"/>
                  <a:cs typeface="Fira Sans Condensed"/>
                  <a:sym typeface="Fira Sans Condensed"/>
                </a:rPr>
                <a:t>meningitis, ACV, intoxicación, hipoglucemia</a:t>
              </a:r>
              <a:endParaRPr lang="es-AR" sz="1350" dirty="0">
                <a:latin typeface="Fira Sans Condensed"/>
              </a:endParaRPr>
            </a:p>
          </p:txBody>
        </p:sp>
      </p:gr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ABORDAJE DEL EHH Y RIESGOS DE LA CORRECCIÓN</a:t>
            </a:r>
            <a:endParaRPr lang="es-AR" sz="32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3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42" fill="hold">
                      <p:stCondLst>
                        <p:cond delay="indefinite"/>
                      </p:stCondLst>
                      <p:childTnLst>
                        <p:par>
                          <p:cTn id="41"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Aparato digestivo" descr="Ilustración biomédica (Servier Medical Art, CC BY)"/>
          <p:cNvPicPr>
            <a:picLocks noChangeAspect="1"/>
          </p:cNvPicPr>
          <p:nvPr/>
        </p:nvPicPr>
        <p:blipFill>
          <a:blip r:embed="rId2"/>
          <a:stretch>
            <a:fillRect/>
          </a:stretch>
        </p:blipFill>
        <p:spPr>
          <a:xfrm>
            <a:off x="365760" y="1051560"/>
            <a:ext cx="1407262" cy="5212080"/>
          </a:xfrm>
          <a:prstGeom prst="rect">
            <a:avLst/>
          </a:prstGeom>
        </p:spPr>
      </p:pic>
      <p:sp>
        <p:nvSpPr>
          <p:cNvPr id="8" name="Flecha d→v"/>
          <p:cNvSpPr/>
          <p:nvPr/>
        </p:nvSpPr>
        <p:spPr>
          <a:xfrm>
            <a:off x="5431536" y="1463040"/>
            <a:ext cx="384048" cy="45720"/>
          </a:xfrm>
          <a:custGeom>
            <a:avLst/>
            <a:gdLst/>
            <a:ahLst/>
            <a:cxnLst/>
            <a:rect l="0" t="0" r="r" b="b"/>
            <a:pathLst>
              <a:path w="419" h="49" fill="none">
                <a:moveTo>
                  <a:pt x="0" y="49"/>
                </a:moveTo>
                <a:lnTo>
                  <a:pt x="419" y="0"/>
                </a:lnTo>
              </a:path>
            </a:pathLst>
          </a:custGeom>
          <a:noFill/>
          <a:ln w="28575" cap="rnd">
            <a:solidFill>
              <a:srgbClr val="1E1E1E"/>
            </a:solidFill>
            <a:round/>
            <a:tailEnd type="triangle" w="med" len="med"/>
          </a:ln>
        </p:spPr>
      </p:sp>
      <p:sp>
        <p:nvSpPr>
          <p:cNvPr id="9" name="Flecha d→s"/>
          <p:cNvSpPr/>
          <p:nvPr/>
        </p:nvSpPr>
        <p:spPr>
          <a:xfrm>
            <a:off x="5440680" y="1645920"/>
            <a:ext cx="365760" cy="502920"/>
          </a:xfrm>
          <a:custGeom>
            <a:avLst/>
            <a:gdLst/>
            <a:ahLst/>
            <a:cxnLst/>
            <a:rect l="0" t="0" r="r" b="b"/>
            <a:pathLst>
              <a:path w="399" h="550" fill="none">
                <a:moveTo>
                  <a:pt x="0" y="0"/>
                </a:moveTo>
                <a:lnTo>
                  <a:pt x="399" y="550"/>
                </a:lnTo>
              </a:path>
            </a:pathLst>
          </a:custGeom>
          <a:noFill/>
          <a:ln w="28575" cap="rnd">
            <a:solidFill>
              <a:srgbClr val="1E1E1E"/>
            </a:solidFill>
            <a:round/>
            <a:tailEnd type="triangle" w="med" len="med"/>
          </a:ln>
        </p:spPr>
      </p:sp>
      <p:sp>
        <p:nvSpPr>
          <p:cNvPr id="10" name="Flecha d→b"/>
          <p:cNvSpPr/>
          <p:nvPr/>
        </p:nvSpPr>
        <p:spPr>
          <a:xfrm>
            <a:off x="5440680" y="1737360"/>
            <a:ext cx="365760" cy="1143000"/>
          </a:xfrm>
          <a:custGeom>
            <a:avLst/>
            <a:gdLst/>
            <a:ahLst/>
            <a:cxnLst/>
            <a:rect l="0" t="0" r="r" b="b"/>
            <a:pathLst>
              <a:path w="399" h="1250" fill="none">
                <a:moveTo>
                  <a:pt x="0" y="0"/>
                </a:moveTo>
                <a:lnTo>
                  <a:pt x="399" y="1250"/>
                </a:lnTo>
              </a:path>
            </a:pathLst>
          </a:custGeom>
          <a:noFill/>
          <a:ln w="28575" cap="rnd">
            <a:solidFill>
              <a:srgbClr val="1E1E1E"/>
            </a:solidFill>
            <a:round/>
            <a:tailEnd type="triangle" w="med" len="med"/>
          </a:ln>
        </p:spPr>
      </p:sp>
      <p:sp>
        <p:nvSpPr>
          <p:cNvPr id="11" name="Nodo d"/>
          <p:cNvSpPr/>
          <p:nvPr/>
        </p:nvSpPr>
        <p:spPr>
          <a:xfrm>
            <a:off x="2194560" y="1188720"/>
            <a:ext cx="320040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DÉFICIT ENERGÉTICO SOSTENIBLE</a:t>
            </a:r>
            <a:endParaRPr lang="es-AR" sz="1500" dirty="0">
              <a:latin typeface="Fira Sans Condensed"/>
            </a:endParaRPr>
          </a:p>
        </p:txBody>
      </p:sp>
      <p:sp>
        <p:nvSpPr>
          <p:cNvPr id="12" name="Nodo v"/>
          <p:cNvSpPr/>
          <p:nvPr/>
        </p:nvSpPr>
        <p:spPr>
          <a:xfrm>
            <a:off x="5852160" y="118872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Grasa visceral y hepática ↓</a:t>
            </a:r>
            <a:endParaRPr lang="es-AR" sz="1350" dirty="0">
              <a:latin typeface="Fira Sans Condensed"/>
            </a:endParaRPr>
          </a:p>
        </p:txBody>
      </p:sp>
      <p:sp>
        <p:nvSpPr>
          <p:cNvPr id="13" name="Nodo s"/>
          <p:cNvSpPr/>
          <p:nvPr/>
        </p:nvSpPr>
        <p:spPr>
          <a:xfrm>
            <a:off x="5852160" y="192024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Sensibilidad insulínica ↑</a:t>
            </a:r>
            <a:endParaRPr lang="es-AR" sz="1350" dirty="0">
              <a:latin typeface="Fira Sans Condensed"/>
            </a:endParaRPr>
          </a:p>
        </p:txBody>
      </p:sp>
      <p:sp>
        <p:nvSpPr>
          <p:cNvPr id="14" name="Nodo b"/>
          <p:cNvSpPr/>
          <p:nvPr/>
        </p:nvSpPr>
        <p:spPr>
          <a:xfrm>
            <a:off x="5852160" y="265176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Demanda pancreática ↓</a:t>
            </a:r>
            <a:endParaRPr lang="es-AR" sz="1350" dirty="0">
              <a:latin typeface="Fira Sans Condensed"/>
            </a:endParaRPr>
          </a:p>
        </p:txBody>
      </p:sp>
      <p:sp>
        <p:nvSpPr>
          <p:cNvPr id="15" name="Nodo p"/>
          <p:cNvSpPr/>
          <p:nvPr/>
        </p:nvSpPr>
        <p:spPr>
          <a:xfrm>
            <a:off x="9006840" y="118872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Presión arterial ↓</a:t>
            </a:r>
            <a:endParaRPr lang="es-AR" sz="1350" dirty="0">
              <a:latin typeface="Fira Sans Condensed"/>
            </a:endParaRPr>
          </a:p>
        </p:txBody>
      </p:sp>
      <p:sp>
        <p:nvSpPr>
          <p:cNvPr id="16" name="Nodo t"/>
          <p:cNvSpPr/>
          <p:nvPr/>
        </p:nvSpPr>
        <p:spPr>
          <a:xfrm>
            <a:off x="9006840" y="192024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Triglicéridos ↓</a:t>
            </a:r>
            <a:endParaRPr lang="es-AR" sz="1350" dirty="0">
              <a:latin typeface="Fira Sans Condensed"/>
            </a:endParaRPr>
          </a:p>
        </p:txBody>
      </p:sp>
      <p:sp>
        <p:nvSpPr>
          <p:cNvPr id="17" name="Nodo i"/>
          <p:cNvSpPr/>
          <p:nvPr/>
        </p:nvSpPr>
        <p:spPr>
          <a:xfrm>
            <a:off x="9006840" y="2651760"/>
            <a:ext cx="28346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Inflamación ↓</a:t>
            </a:r>
            <a:endParaRPr lang="es-AR" sz="1350" dirty="0">
              <a:latin typeface="Fira Sans Condensed"/>
            </a:endParaRPr>
          </a:p>
        </p:txBody>
      </p:sp>
      <p:grpSp>
        <p:nvGrpSpPr>
          <p:cNvPr id="18" name="Cuadro Calidad nutricional"/>
          <p:cNvGrpSpPr/>
          <p:nvPr/>
        </p:nvGrpSpPr>
        <p:grpSpPr>
          <a:xfrm>
            <a:off x="2194560" y="3474720"/>
            <a:ext cx="4754880" cy="2788920"/>
            <a:chOff x="2194560" y="3474720"/>
            <a:chExt cx="4754880" cy="2788920"/>
          </a:xfrm>
        </p:grpSpPr>
        <p:sp>
          <p:nvSpPr>
            <p:cNvPr id="19" name="Forma 18"/>
            <p:cNvSpPr/>
            <p:nvPr/>
          </p:nvSpPr>
          <p:spPr>
            <a:xfrm>
              <a:off x="2194560" y="3675888"/>
              <a:ext cx="4754880" cy="25877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«Hipocalórica» </a:t>
              </a:r>
              <a:r>
                <a:rPr lang="es-AR" sz="1450" b="1" dirty="0">
                  <a:solidFill>
                    <a:srgbClr val="1E1E1E"/>
                  </a:solidFill>
                  <a:latin typeface="Fira Sans Condensed"/>
                  <a:ea typeface="Fira Sans Condensed"/>
                  <a:cs typeface="Fira Sans Condensed"/>
                  <a:sym typeface="Fira Sans Condensed"/>
                </a:rPr>
                <a:t>no</a:t>
              </a:r>
              <a:r>
                <a:rPr lang="es-AR" sz="1450" dirty="0">
                  <a:solidFill>
                    <a:srgbClr val="1E1E1E"/>
                  </a:solidFill>
                  <a:latin typeface="Fira Sans Condensed"/>
                  <a:ea typeface="Fira Sans Condensed"/>
                  <a:cs typeface="Fira Sans Condensed"/>
                  <a:sym typeface="Fira Sans Condensed"/>
                </a:rPr>
                <a:t> significa insuficiente: proteína adecuada, grasas saludables, </a:t>
              </a:r>
              <a:r>
                <a:rPr lang="es-AR" sz="1450" b="1" dirty="0">
                  <a:solidFill>
                    <a:srgbClr val="1E1E1E"/>
                  </a:solidFill>
                  <a:latin typeface="Fira Sans Condensed"/>
                  <a:ea typeface="Fira Sans Condensed"/>
                  <a:cs typeface="Fira Sans Condensed"/>
                  <a:sym typeface="Fira Sans Condensed"/>
                </a:rPr>
                <a:t>fibra</a:t>
              </a:r>
              <a:r>
                <a:rPr lang="es-AR" sz="1450" dirty="0">
                  <a:solidFill>
                    <a:srgbClr val="1E1E1E"/>
                  </a:solidFill>
                  <a:latin typeface="Fira Sans Condensed"/>
                  <a:ea typeface="Fira Sans Condensed"/>
                  <a:cs typeface="Fira Sans Condensed"/>
                  <a:sym typeface="Fira Sans Condensed"/>
                </a:rPr>
                <a:t>, vitaminas y minerales, patrón adaptable a </a:t>
              </a:r>
              <a:r>
                <a:rPr lang="es-AR" sz="1450" b="1" dirty="0">
                  <a:solidFill>
                    <a:srgbClr val="1E1E1E"/>
                  </a:solidFill>
                  <a:latin typeface="Fira Sans Condensed"/>
                  <a:ea typeface="Fira Sans Condensed"/>
                  <a:cs typeface="Fira Sans Condensed"/>
                  <a:sym typeface="Fira Sans Condensed"/>
                </a:rPr>
                <a:t>preferencias y recursos</a:t>
              </a:r>
              <a:r>
                <a:rPr lang="es-AR" sz="1450" dirty="0">
                  <a:solidFill>
                    <a:srgbClr val="1E1E1E"/>
                  </a:solidFill>
                  <a:latin typeface="Fira Sans Condensed"/>
                  <a:ea typeface="Fira Sans Condensed"/>
                  <a:cs typeface="Fira Sans Condensed"/>
                  <a:sym typeface="Fira Sans Condensed"/>
                </a:rPr>
                <a:t>, conservando </a:t>
              </a:r>
              <a:r>
                <a:rPr lang="es-AR" sz="1450" b="1" dirty="0">
                  <a:solidFill>
                    <a:srgbClr val="1E1E1E"/>
                  </a:solidFill>
                  <a:latin typeface="Fira Sans Condensed"/>
                  <a:ea typeface="Fira Sans Condensed"/>
                  <a:cs typeface="Fira Sans Condensed"/>
                  <a:sym typeface="Fira Sans Condensed"/>
                </a:rPr>
                <a:t>masa magra</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20" name="Forma 19"/>
            <p:cNvSpPr/>
            <p:nvPr/>
          </p:nvSpPr>
          <p:spPr>
            <a:xfrm>
              <a:off x="2331720" y="3474720"/>
              <a:ext cx="212910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CALIDAD NUTRICIONAL</a:t>
              </a:r>
              <a:endParaRPr lang="es-AR" sz="1400" dirty="0">
                <a:latin typeface="Fira Sans Condensed"/>
              </a:endParaRPr>
            </a:p>
          </p:txBody>
        </p:sp>
      </p:grpSp>
      <p:sp>
        <p:nvSpPr>
          <p:cNvPr id="21" name="Perla clínica"/>
          <p:cNvSpPr/>
          <p:nvPr/>
        </p:nvSpPr>
        <p:spPr>
          <a:xfrm>
            <a:off x="7178040" y="3474720"/>
            <a:ext cx="4663440" cy="2788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Con hiperglucemia reciente y fármacos asociados a </a:t>
            </a:r>
            <a:r>
              <a:rPr lang="es-AR" sz="1500" b="1" dirty="0">
                <a:solidFill>
                  <a:srgbClr val="FFFFFF"/>
                </a:solidFill>
                <a:latin typeface="Fira Sans Condensed"/>
                <a:ea typeface="Fira Sans Condensed"/>
                <a:cs typeface="Fira Sans Condensed"/>
                <a:sym typeface="Fira Sans Condensed"/>
              </a:rPr>
              <a:t>hipoglucemia</a:t>
            </a:r>
            <a:r>
              <a:rPr lang="es-AR" sz="1500" dirty="0">
                <a:solidFill>
                  <a:srgbClr val="FFFFFF"/>
                </a:solidFill>
                <a:latin typeface="Fira Sans Condensed"/>
                <a:ea typeface="Fira Sans Condensed"/>
                <a:cs typeface="Fira Sans Condensed"/>
                <a:sym typeface="Fira Sans Condensed"/>
              </a:rPr>
              <a:t> (sulfonilureas), los cambios de ingesta exigen </a:t>
            </a:r>
            <a:r>
              <a:rPr lang="es-AR" sz="1500" b="1" dirty="0">
                <a:solidFill>
                  <a:srgbClr val="FFFFFF"/>
                </a:solidFill>
                <a:latin typeface="Fira Sans Condensed"/>
                <a:ea typeface="Fira Sans Condensed"/>
                <a:cs typeface="Fira Sans Condensed"/>
                <a:sym typeface="Fira Sans Condensed"/>
              </a:rPr>
              <a:t>ajustar el tratamiento</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PREGUNTA 7 · OBJETIVO DE LA DIETA HIPOCALÓRICA EQUILIBRADA</a:t>
            </a:r>
            <a:endParaRPr lang="es-AR" sz="24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childTnLst>
                          </p:cTn>
                        </p:par>
                      </p:childTnLst>
                    </p:cTn>
                  </p:par>
                  <p:par>
                    <p:cTn id="32"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par>
                          <p:cTn id="27" fill="hold">
                            <p:stCondLst>
                              <p:cond delay="18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31" fill="hold">
                            <p:stCondLst>
                              <p:cond delay="23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00"/>
                                        <p:tgtEl>
                                          <p:spTgt spid="14"/>
                                        </p:tgtEl>
                                      </p:cBhvr>
                                    </p:animEffect>
                                  </p:childTnLst>
                                </p:cTn>
                              </p:par>
                            </p:childTnLst>
                          </p:cTn>
                        </p:par>
                      </p:childTnLst>
                    </p:cTn>
                  </p:par>
                  <p:par>
                    <p:cTn id="45"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par>
                          <p:cTn id="40" fill="hold">
                            <p:stCondLst>
                              <p:cond delay="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par>
                          <p:cTn id="44" fill="hold">
                            <p:stCondLst>
                              <p:cond delay="80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childTnLst>
                          </p:cTn>
                        </p:par>
                      </p:childTnLst>
                    </p:cTn>
                  </p:par>
                  <p:par>
                    <p:cTn id="50" fill="hold">
                      <p:stCondLst>
                        <p:cond delay="indefinite"/>
                      </p:stCondLst>
                      <p:childTnLst>
                        <p:par>
                          <p:cTn id="49"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57" fill="hold">
                      <p:stCondLst>
                        <p:cond delay="indefinite"/>
                      </p:stCondLst>
                      <p:childTnLst>
                        <p:par>
                          <p:cTn id="56"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p:cTn id="53" dur="500" fill="hold"/>
                                        <p:tgtEl>
                                          <p:spTgt spid="21"/>
                                        </p:tgtEl>
                                        <p:attrNameLst>
                                          <p:attrName>ppt_w</p:attrName>
                                        </p:attrNameLst>
                                      </p:cBhvr>
                                      <p:tavLst>
                                        <p:tav tm="0">
                                          <p:val>
                                            <p:fltVal val="0"/>
                                          </p:val>
                                        </p:tav>
                                        <p:tav tm="100000">
                                          <p:val>
                                            <p:strVal val="#ppt_w"/>
                                          </p:val>
                                        </p:tav>
                                      </p:tavLst>
                                    </p:anim>
                                    <p:anim calcmode="lin" valueType="num">
                                      <p:cBhvr>
                                        <p:cTn id="54" dur="500" fill="hold"/>
                                        <p:tgtEl>
                                          <p:spTgt spid="21"/>
                                        </p:tgtEl>
                                        <p:attrNameLst>
                                          <p:attrName>ppt_h</p:attrName>
                                        </p:attrNameLst>
                                      </p:cBhvr>
                                      <p:tavLst>
                                        <p:tav tm="0">
                                          <p:val>
                                            <p:fltVal val="0"/>
                                          </p:val>
                                        </p:tav>
                                        <p:tav tm="100000">
                                          <p:val>
                                            <p:strVal val="#ppt_h"/>
                                          </p:val>
                                        </p:tav>
                                      </p:tavLst>
                                    </p:anim>
                                    <p:animEffect transition="in" filter="fade">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12" grpId="0" animBg="1"/>
      <p:bldP spid="9" grpId="0" animBg="1"/>
      <p:bldP spid="13" grpId="0" animBg="1"/>
      <p:bldP spid="10" grpId="0" animBg="1"/>
      <p:bldP spid="14" grpId="0" animBg="1"/>
      <p:bldP spid="15" grpId="0" animBg="1"/>
      <p:bldP spid="16" grpId="0" animBg="1"/>
      <p:bldP spid="17" grpId="0" animBg="1"/>
      <p:bldP spid="21" grpId="0" animBg="1"/>
    </p:bld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sp>
        <p:nvSpPr>
          <p:cNvPr id="6" name="Flecha g→su"/>
          <p:cNvSpPr/>
          <p:nvPr/>
        </p:nvSpPr>
        <p:spPr>
          <a:xfrm>
            <a:off x="2962656" y="148590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7" name="Flecha su→c"/>
          <p:cNvSpPr/>
          <p:nvPr/>
        </p:nvSpPr>
        <p:spPr>
          <a:xfrm>
            <a:off x="5797296" y="148590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8" name="Flecha c→dp"/>
          <p:cNvSpPr/>
          <p:nvPr/>
        </p:nvSpPr>
        <p:spPr>
          <a:xfrm>
            <a:off x="8631936" y="148590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9" name="Flecha dp→i"/>
          <p:cNvSpPr/>
          <p:nvPr/>
        </p:nvSpPr>
        <p:spPr>
          <a:xfrm>
            <a:off x="10447020" y="1819656"/>
            <a:ext cx="9144" cy="292608"/>
          </a:xfrm>
          <a:custGeom>
            <a:avLst/>
            <a:gdLst/>
            <a:ahLst/>
            <a:cxnLst/>
            <a:rect l="0" t="0" r="r" b="b"/>
            <a:pathLst>
              <a:path w="10" h="319" fill="none">
                <a:moveTo>
                  <a:pt x="0" y="0"/>
                </a:moveTo>
                <a:lnTo>
                  <a:pt x="0" y="319"/>
                </a:lnTo>
              </a:path>
            </a:pathLst>
          </a:custGeom>
          <a:noFill/>
          <a:ln w="28575" cap="rnd">
            <a:solidFill>
              <a:srgbClr val="1E1E1E"/>
            </a:solidFill>
            <a:round/>
            <a:tailEnd type="triangle" w="med" len="med"/>
          </a:ln>
        </p:spPr>
      </p:sp>
      <p:sp>
        <p:nvSpPr>
          <p:cNvPr id="10" name="Nodo g"/>
          <p:cNvSpPr/>
          <p:nvPr/>
        </p:nvSpPr>
        <p:spPr>
          <a:xfrm>
            <a:off x="365760" y="1188720"/>
            <a:ext cx="2560320" cy="5943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Glibenclamida</a:t>
            </a:r>
            <a:endParaRPr lang="es-AR" sz="1700" dirty="0">
              <a:latin typeface="Fira Sans Condensed"/>
            </a:endParaRPr>
          </a:p>
        </p:txBody>
      </p:sp>
      <p:sp>
        <p:nvSpPr>
          <p:cNvPr id="11" name="Nodo su"/>
          <p:cNvSpPr/>
          <p:nvPr/>
        </p:nvSpPr>
        <p:spPr>
          <a:xfrm>
            <a:off x="3383280" y="1188720"/>
            <a:ext cx="2377440" cy="59436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SUR1 del K</a:t>
            </a:r>
            <a:r>
              <a:rPr lang="es-AR" sz="1500" b="1" baseline="-25000" dirty="0">
                <a:solidFill>
                  <a:srgbClr val="1E1E1E"/>
                </a:solidFill>
                <a:latin typeface="Fira Sans Condensed"/>
                <a:ea typeface="Fira Sans Condensed"/>
                <a:cs typeface="Fira Sans Condensed"/>
                <a:sym typeface="Fira Sans Condensed"/>
              </a:rPr>
              <a:t>ATP</a:t>
            </a:r>
            <a:endParaRPr lang="es-AR" sz="1500" dirty="0">
              <a:latin typeface="Fira Sans Condensed"/>
            </a:endParaRPr>
          </a:p>
        </p:txBody>
      </p:sp>
      <p:sp>
        <p:nvSpPr>
          <p:cNvPr id="12" name="Nodo c"/>
          <p:cNvSpPr/>
          <p:nvPr/>
        </p:nvSpPr>
        <p:spPr>
          <a:xfrm>
            <a:off x="6217920" y="1188720"/>
            <a:ext cx="237744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Cierre del canal</a:t>
            </a:r>
            <a:endParaRPr lang="es-AR" sz="1500" dirty="0">
              <a:latin typeface="Fira Sans Condensed"/>
            </a:endParaRPr>
          </a:p>
        </p:txBody>
      </p:sp>
      <p:sp>
        <p:nvSpPr>
          <p:cNvPr id="13" name="Nodo dp"/>
          <p:cNvSpPr/>
          <p:nvPr/>
        </p:nvSpPr>
        <p:spPr>
          <a:xfrm>
            <a:off x="9052560" y="1188720"/>
            <a:ext cx="278892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Despolarización · Ca²⁺ ↑</a:t>
            </a:r>
            <a:endParaRPr lang="es-AR" sz="1400" dirty="0">
              <a:latin typeface="Fira Sans Condensed"/>
            </a:endParaRPr>
          </a:p>
        </p:txBody>
      </p:sp>
      <p:sp>
        <p:nvSpPr>
          <p:cNvPr id="14" name="Nodo i"/>
          <p:cNvSpPr/>
          <p:nvPr/>
        </p:nvSpPr>
        <p:spPr>
          <a:xfrm>
            <a:off x="9052560" y="2148840"/>
            <a:ext cx="278892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SECRECIÓN DE INSULINA ENDÓGENA</a:t>
            </a:r>
            <a:endParaRPr lang="es-AR" sz="1400" dirty="0">
              <a:latin typeface="Fira Sans Condensed"/>
            </a:endParaRPr>
          </a:p>
        </p:txBody>
      </p:sp>
      <p:grpSp>
        <p:nvGrpSpPr>
          <p:cNvPr id="15" name="Col REQUISITO"/>
          <p:cNvGrpSpPr/>
          <p:nvPr/>
        </p:nvGrpSpPr>
        <p:grpSpPr>
          <a:xfrm>
            <a:off x="365760" y="3063240"/>
            <a:ext cx="3657600" cy="1856232"/>
            <a:chOff x="365760" y="3063240"/>
            <a:chExt cx="3657600" cy="1856232"/>
          </a:xfrm>
        </p:grpSpPr>
        <p:sp>
          <p:nvSpPr>
            <p:cNvPr id="16" name="Recuadro REQUISITO"/>
            <p:cNvSpPr/>
            <p:nvPr/>
          </p:nvSpPr>
          <p:spPr>
            <a:xfrm>
              <a:off x="365760" y="3063240"/>
              <a:ext cx="365760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REQUISITO</a:t>
              </a:r>
              <a:endParaRPr lang="es-AR" sz="1500" dirty="0">
                <a:latin typeface="Fira Sans Condensed"/>
              </a:endParaRPr>
            </a:p>
          </p:txBody>
        </p:sp>
        <p:sp>
          <p:nvSpPr>
            <p:cNvPr id="17" name="Forma 16"/>
            <p:cNvSpPr/>
            <p:nvPr/>
          </p:nvSpPr>
          <p:spPr>
            <a:xfrm>
              <a:off x="365760" y="3639312"/>
              <a:ext cx="3657600" cy="12801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Reserva funcional de células β. No corrige por sí misma la resistencia.</a:t>
              </a:r>
              <a:endParaRPr lang="es-AR" sz="1400" dirty="0">
                <a:latin typeface="Fira Sans Condensed"/>
              </a:endParaRPr>
            </a:p>
          </p:txBody>
        </p:sp>
      </p:grpSp>
      <p:grpSp>
        <p:nvGrpSpPr>
          <p:cNvPr id="18" name="Col RIESGOS"/>
          <p:cNvGrpSpPr/>
          <p:nvPr/>
        </p:nvGrpSpPr>
        <p:grpSpPr>
          <a:xfrm>
            <a:off x="4206240" y="3063240"/>
            <a:ext cx="3657600" cy="1856232"/>
            <a:chOff x="4206240" y="3063240"/>
            <a:chExt cx="3657600" cy="1856232"/>
          </a:xfrm>
        </p:grpSpPr>
        <p:sp>
          <p:nvSpPr>
            <p:cNvPr id="19" name="Recuadro RIESGOS"/>
            <p:cNvSpPr/>
            <p:nvPr/>
          </p:nvSpPr>
          <p:spPr>
            <a:xfrm>
              <a:off x="4206240" y="3063240"/>
              <a:ext cx="365760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RIESGOS</a:t>
              </a:r>
              <a:endParaRPr lang="es-AR" sz="1500" dirty="0">
                <a:latin typeface="Fira Sans Condensed"/>
              </a:endParaRPr>
            </a:p>
          </p:txBody>
        </p:sp>
        <p:sp>
          <p:nvSpPr>
            <p:cNvPr id="20" name="Forma 19"/>
            <p:cNvSpPr/>
            <p:nvPr/>
          </p:nvSpPr>
          <p:spPr>
            <a:xfrm>
              <a:off x="4206240" y="3639312"/>
              <a:ext cx="3657600" cy="12801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Hipoglucemia</a:t>
              </a:r>
              <a:r>
                <a:rPr lang="es-AR" sz="1400" dirty="0">
                  <a:solidFill>
                    <a:srgbClr val="1E1E1E"/>
                  </a:solidFill>
                  <a:latin typeface="Fira Sans Condensed"/>
                  <a:ea typeface="Fira Sans Condensed"/>
                  <a:cs typeface="Fira Sans Condensed"/>
                  <a:sym typeface="Fira Sans Condensed"/>
                </a:rPr>
                <a:t> (a veces prolongada: mayores, insuficiencia renal, ingesta irregular) y </a:t>
              </a:r>
              <a:r>
                <a:rPr lang="es-AR" sz="1400" b="1" dirty="0">
                  <a:solidFill>
                    <a:srgbClr val="1E1E1E"/>
                  </a:solidFill>
                  <a:latin typeface="Fira Sans Condensed"/>
                  <a:ea typeface="Fira Sans Condensed"/>
                  <a:cs typeface="Fira Sans Condensed"/>
                  <a:sym typeface="Fira Sans Condensed"/>
                </a:rPr>
                <a:t>aumento de peso</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grpSp>
        <p:nvGrpSpPr>
          <p:cNvPr id="21" name="Col ¿Y EN DM1?"/>
          <p:cNvGrpSpPr/>
          <p:nvPr/>
        </p:nvGrpSpPr>
        <p:grpSpPr>
          <a:xfrm>
            <a:off x="8046720" y="3063240"/>
            <a:ext cx="3657600" cy="1856232"/>
            <a:chOff x="8046720" y="3063240"/>
            <a:chExt cx="3657600" cy="1856232"/>
          </a:xfrm>
        </p:grpSpPr>
        <p:sp>
          <p:nvSpPr>
            <p:cNvPr id="22" name="Recuadro ¿Y EN DM1?"/>
            <p:cNvSpPr/>
            <p:nvPr/>
          </p:nvSpPr>
          <p:spPr>
            <a:xfrm>
              <a:off x="8046720" y="3063240"/>
              <a:ext cx="365760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¿Y EN DM1?</a:t>
              </a:r>
              <a:endParaRPr lang="es-AR" sz="1500" dirty="0">
                <a:latin typeface="Fira Sans Condensed"/>
              </a:endParaRPr>
            </a:p>
          </p:txBody>
        </p:sp>
        <p:sp>
          <p:nvSpPr>
            <p:cNvPr id="23" name="Forma 22"/>
            <p:cNvSpPr/>
            <p:nvPr/>
          </p:nvSpPr>
          <p:spPr>
            <a:xfrm>
              <a:off x="8046720" y="3639312"/>
              <a:ext cx="3657600" cy="12801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Con déficit absoluto </a:t>
              </a:r>
              <a:r>
                <a:rPr lang="es-AR" sz="1400" b="1" dirty="0">
                  <a:solidFill>
                    <a:srgbClr val="1E1E1E"/>
                  </a:solidFill>
                  <a:latin typeface="Fira Sans Condensed"/>
                  <a:ea typeface="Fira Sans Condensed"/>
                  <a:cs typeface="Fira Sans Condensed"/>
                  <a:sym typeface="Fira Sans Condensed"/>
                </a:rPr>
                <a:t>no hay secreción β que estimular</a:t>
              </a:r>
              <a:r>
                <a:rPr lang="es-AR" sz="1400" dirty="0">
                  <a:solidFill>
                    <a:srgbClr val="1E1E1E"/>
                  </a:solidFill>
                  <a:latin typeface="Fira Sans Condensed"/>
                  <a:ea typeface="Fira Sans Condensed"/>
                  <a:cs typeface="Fira Sans Condensed"/>
                  <a:sym typeface="Fira Sans Condensed"/>
                </a:rPr>
                <a:t>: la DM1 requiere </a:t>
              </a:r>
              <a:r>
                <a:rPr lang="es-AR" sz="1400" b="1" dirty="0">
                  <a:solidFill>
                    <a:srgbClr val="1E1E1E"/>
                  </a:solidFill>
                  <a:latin typeface="Fira Sans Condensed"/>
                  <a:ea typeface="Fira Sans Condensed"/>
                  <a:cs typeface="Fira Sans Condensed"/>
                  <a:sym typeface="Fira Sans Condensed"/>
                </a:rPr>
                <a:t>insulina exógena</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grpSp>
        <p:nvGrpSpPr>
          <p:cNvPr id="24" name="Cuadro Actualización"/>
          <p:cNvGrpSpPr/>
          <p:nvPr/>
        </p:nvGrpSpPr>
        <p:grpSpPr>
          <a:xfrm>
            <a:off x="365760" y="5120640"/>
            <a:ext cx="11475720" cy="1188720"/>
            <a:chOff x="365760" y="5120640"/>
            <a:chExt cx="11475720" cy="1188720"/>
          </a:xfrm>
        </p:grpSpPr>
        <p:sp>
          <p:nvSpPr>
            <p:cNvPr id="25" name="Forma 24"/>
            <p:cNvSpPr/>
            <p:nvPr/>
          </p:nvSpPr>
          <p:spPr>
            <a:xfrm>
              <a:off x="365760" y="5321808"/>
              <a:ext cx="11475720" cy="9875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Glibenclamida 5 mg/día es la conducta </a:t>
              </a:r>
              <a:r>
                <a:rPr lang="es-AR" sz="1400" b="1" dirty="0">
                  <a:solidFill>
                    <a:srgbClr val="1E1E1E"/>
                  </a:solidFill>
                  <a:latin typeface="Fira Sans Condensed"/>
                  <a:ea typeface="Fira Sans Condensed"/>
                  <a:cs typeface="Fira Sans Condensed"/>
                  <a:sym typeface="Fira Sans Condensed"/>
                </a:rPr>
                <a:t>del caso docente</a:t>
              </a:r>
              <a:r>
                <a:rPr lang="es-AR" sz="1400" dirty="0">
                  <a:solidFill>
                    <a:srgbClr val="1E1E1E"/>
                  </a:solidFill>
                  <a:latin typeface="Fira Sans Condensed"/>
                  <a:ea typeface="Fira Sans Condensed"/>
                  <a:cs typeface="Fira Sans Condensed"/>
                  <a:sym typeface="Fira Sans Condensed"/>
                </a:rPr>
                <a:t>, no la opción preferente universal. Hoy se individualiza priorizando </a:t>
              </a:r>
              <a:r>
                <a:rPr lang="es-AR" sz="1400" b="1" dirty="0">
                  <a:solidFill>
                    <a:srgbClr val="1E1E1E"/>
                  </a:solidFill>
                  <a:latin typeface="Fira Sans Condensed"/>
                  <a:ea typeface="Fira Sans Condensed"/>
                  <a:cs typeface="Fira Sans Condensed"/>
                  <a:sym typeface="Fira Sans Condensed"/>
                </a:rPr>
                <a:t>peso, riesgo CV/renal, hipoglucemia, función renal, disponibilidad y costo</a:t>
              </a:r>
              <a:r>
                <a:rPr lang="es-AR" sz="1400" dirty="0">
                  <a:solidFill>
                    <a:srgbClr val="1E1E1E"/>
                  </a:solidFill>
                  <a:latin typeface="Fira Sans Condensed"/>
                  <a:ea typeface="Fira Sans Condensed"/>
                  <a:cs typeface="Fira Sans Condensed"/>
                  <a:sym typeface="Fira Sans Condensed"/>
                </a:rPr>
                <a:t> (metformina, GLP-1 o GIP/GLP-1, iSGLT2, otras).</a:t>
              </a:r>
              <a:endParaRPr lang="es-AR" sz="1400" dirty="0">
                <a:latin typeface="Fira Sans Condensed"/>
              </a:endParaRPr>
            </a:p>
          </p:txBody>
        </p:sp>
        <p:sp>
          <p:nvSpPr>
            <p:cNvPr id="26" name="Forma 25"/>
            <p:cNvSpPr/>
            <p:nvPr/>
          </p:nvSpPr>
          <p:spPr>
            <a:xfrm>
              <a:off x="502920" y="5120640"/>
              <a:ext cx="159049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ACTUALIZACIÓN</a:t>
              </a:r>
              <a:endParaRPr lang="es-AR" sz="1400" dirty="0">
                <a:latin typeface="Fira Sans Condensed"/>
              </a:endParaRPr>
            </a:p>
          </p:txBody>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PREGUNTA 8 · GLIBENCLAMIDA: MECANISMO Y PERTINENCIA</a:t>
            </a:r>
            <a:endParaRPr lang="es-AR" sz="2700" dirty="0">
              <a:latin typeface="Permanent Marker"/>
            </a:endParaRPr>
          </a:p>
        </p:txBody>
      </p:sp>
      <p:sp>
        <p:nvSpPr>
          <p:cNvPr id="5"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500"/>
                                        <p:tgtEl>
                                          <p:spTgt spid="6"/>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childTnLst>
                          </p:cTn>
                        </p:par>
                        <p:par>
                          <p:cTn id="34" fill="hold">
                            <p:stCondLst>
                              <p:cond delay="3100"/>
                            </p:stCondLst>
                            <p:childTnLst>
                              <p:par>
                                <p:cTn id="31" presetID="22" presetClass="entr" presetSubtype="1"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par>
                          <p:cTn id="38" fill="hold">
                            <p:stCondLst>
                              <p:cond delay="36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00"/>
                                        <p:tgtEl>
                                          <p:spTgt spid="14"/>
                                        </p:tgtEl>
                                      </p:cBhvr>
                                    </p:animEffect>
                                  </p:childTnLst>
                                </p:cTn>
                              </p:par>
                            </p:childTnLst>
                          </p:cTn>
                        </p:par>
                      </p:childTnLst>
                    </p:cTn>
                  </p:par>
                  <p:par>
                    <p:cTn id="44"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9" fill="hold">
                      <p:stCondLst>
                        <p:cond delay="indefinite"/>
                      </p:stCondLst>
                      <p:childTnLst>
                        <p:par>
                          <p:cTn id="4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54" fill="hold">
                      <p:stCondLst>
                        <p:cond delay="indefinite"/>
                      </p:stCondLst>
                      <p:childTnLst>
                        <p:par>
                          <p:cTn id="5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par>
                    <p:cTn id="59" fill="hold">
                      <p:stCondLst>
                        <p:cond delay="indefinite"/>
                      </p:stCondLst>
                      <p:childTnLst>
                        <p:par>
                          <p:cTn id="58"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P spid="11" grpId="0" animBg="1"/>
      <p:bldP spid="7" grpId="0" animBg="1"/>
      <p:bldP spid="12" grpId="0" animBg="1"/>
      <p:bldP spid="8" grpId="0" animBg="1"/>
      <p:bldP spid="13" grpId="0" animBg="1"/>
      <p:bldP spid="9" grpId="0" animBg="1"/>
      <p:bldP spid="14" grpId="0" animBg="1"/>
    </p:bld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pic>
        <p:nvPicPr>
          <p:cNvPr id="7" name="Corredor q9" descr="Ilustración biomédica (Servier Medical Art, CC BY)"/>
          <p:cNvPicPr>
            <a:picLocks noChangeAspect="1"/>
          </p:cNvPicPr>
          <p:nvPr/>
        </p:nvPicPr>
        <p:blipFill>
          <a:blip r:embed="rId2"/>
          <a:stretch>
            <a:fillRect/>
          </a:stretch>
        </p:blipFill>
        <p:spPr>
          <a:xfrm>
            <a:off x="548640" y="1051560"/>
            <a:ext cx="1898817" cy="4206240"/>
          </a:xfrm>
          <a:prstGeom prst="rect">
            <a:avLst/>
          </a:prstGeom>
        </p:spPr>
      </p:pic>
      <p:grpSp>
        <p:nvGrpSpPr>
          <p:cNvPr id="8" name="Paso 1"/>
          <p:cNvGrpSpPr/>
          <p:nvPr/>
        </p:nvGrpSpPr>
        <p:grpSpPr>
          <a:xfrm>
            <a:off x="3291840" y="1097280"/>
            <a:ext cx="8549640" cy="621792"/>
            <a:chOff x="3291840" y="1097280"/>
            <a:chExt cx="8549640" cy="621792"/>
          </a:xfrm>
        </p:grpSpPr>
        <p:sp>
          <p:nvSpPr>
            <p:cNvPr id="9" name="Forma 8"/>
            <p:cNvSpPr/>
            <p:nvPr/>
          </p:nvSpPr>
          <p:spPr>
            <a:xfrm>
              <a:off x="3291840" y="1097280"/>
              <a:ext cx="8549640" cy="62179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Contracción → </a:t>
              </a:r>
              <a:r>
                <a:rPr lang="es-AR" sz="1500" b="1" dirty="0">
                  <a:solidFill>
                    <a:srgbClr val="1E1E1E"/>
                  </a:solidFill>
                  <a:latin typeface="Fira Sans Condensed"/>
                  <a:ea typeface="Fira Sans Condensed"/>
                  <a:cs typeface="Fira Sans Condensed"/>
                  <a:sym typeface="Fira Sans Condensed"/>
                </a:rPr>
                <a:t>AMPK, CaMK</a:t>
              </a:r>
              <a:r>
                <a:rPr lang="es-AR" sz="1500" dirty="0">
                  <a:solidFill>
                    <a:srgbClr val="1E1E1E"/>
                  </a:solidFill>
                  <a:latin typeface="Fira Sans Condensed"/>
                  <a:ea typeface="Fira Sans Condensed"/>
                  <a:cs typeface="Fira Sans Condensed"/>
                  <a:sym typeface="Fira Sans Condensed"/>
                </a:rPr>
                <a:t> y señales mecánicas → </a:t>
              </a:r>
              <a:r>
                <a:rPr lang="es-AR" sz="1500" b="1" dirty="0">
                  <a:solidFill>
                    <a:srgbClr val="1E1E1E"/>
                  </a:solidFill>
                  <a:latin typeface="Fira Sans Condensed"/>
                  <a:ea typeface="Fira Sans Condensed"/>
                  <a:cs typeface="Fira Sans Condensed"/>
                  <a:sym typeface="Fira Sans Condensed"/>
                </a:rPr>
                <a:t>GLUT4</a:t>
              </a:r>
              <a:r>
                <a:rPr lang="es-AR" sz="1500" dirty="0">
                  <a:solidFill>
                    <a:srgbClr val="1E1E1E"/>
                  </a:solidFill>
                  <a:latin typeface="Fira Sans Condensed"/>
                  <a:ea typeface="Fira Sans Condensed"/>
                  <a:cs typeface="Fira Sans Condensed"/>
                  <a:sym typeface="Fira Sans Condensed"/>
                </a:rPr>
                <a:t> aun con baja señal insulínica → glucemia ↓.</a:t>
              </a:r>
              <a:endParaRPr lang="es-AR" sz="1500" dirty="0">
                <a:latin typeface="Fira Sans Condensed"/>
              </a:endParaRPr>
            </a:p>
          </p:txBody>
        </p:sp>
        <p:sp>
          <p:nvSpPr>
            <p:cNvPr id="10" name="Forma 9"/>
            <p:cNvSpPr/>
            <p:nvPr/>
          </p:nvSpPr>
          <p:spPr>
            <a:xfrm>
              <a:off x="3383280" y="123444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1" name="Paso 2"/>
          <p:cNvGrpSpPr/>
          <p:nvPr/>
        </p:nvGrpSpPr>
        <p:grpSpPr>
          <a:xfrm>
            <a:off x="3291840" y="1810512"/>
            <a:ext cx="8549640" cy="457200"/>
            <a:chOff x="3291840" y="1810512"/>
            <a:chExt cx="8549640" cy="457200"/>
          </a:xfrm>
        </p:grpSpPr>
        <p:sp>
          <p:nvSpPr>
            <p:cNvPr id="12" name="Forma 11"/>
            <p:cNvSpPr/>
            <p:nvPr/>
          </p:nvSpPr>
          <p:spPr>
            <a:xfrm>
              <a:off x="3291840" y="1810512"/>
              <a:ext cx="854964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Sostenido: </a:t>
              </a:r>
              <a:r>
                <a:rPr lang="es-AR" sz="1500" b="1" dirty="0">
                  <a:solidFill>
                    <a:srgbClr val="1E1E1E"/>
                  </a:solidFill>
                  <a:latin typeface="Fira Sans Condensed"/>
                  <a:ea typeface="Fira Sans Condensed"/>
                  <a:cs typeface="Fira Sans Condensed"/>
                  <a:sym typeface="Fira Sans Condensed"/>
                </a:rPr>
                <a:t>sensibilidad insulínica</a:t>
              </a:r>
              <a:r>
                <a:rPr lang="es-AR" sz="1500" dirty="0">
                  <a:solidFill>
                    <a:srgbClr val="1E1E1E"/>
                  </a:solidFill>
                  <a:latin typeface="Fira Sans Condensed"/>
                  <a:ea typeface="Fira Sans Condensed"/>
                  <a:cs typeface="Fira Sans Condensed"/>
                  <a:sym typeface="Fira Sans Condensed"/>
                </a:rPr>
                <a:t> y capacidad </a:t>
              </a:r>
              <a:r>
                <a:rPr lang="es-AR" sz="1500" b="1" dirty="0">
                  <a:solidFill>
                    <a:srgbClr val="1E1E1E"/>
                  </a:solidFill>
                  <a:latin typeface="Fira Sans Condensed"/>
                  <a:ea typeface="Fira Sans Condensed"/>
                  <a:cs typeface="Fira Sans Condensed"/>
                  <a:sym typeface="Fira Sans Condensed"/>
                </a:rPr>
                <a:t>mitocondrial</a:t>
              </a:r>
              <a:r>
                <a:rPr lang="es-AR" sz="1500" dirty="0">
                  <a:solidFill>
                    <a:srgbClr val="1E1E1E"/>
                  </a:solidFill>
                  <a:latin typeface="Fira Sans Condensed"/>
                  <a:ea typeface="Fira Sans Condensed"/>
                  <a:cs typeface="Fira Sans Condensed"/>
                  <a:sym typeface="Fira Sans Condensed"/>
                </a:rPr>
                <a:t> ↑.</a:t>
              </a:r>
              <a:endParaRPr lang="es-AR" sz="1500" dirty="0">
                <a:latin typeface="Fira Sans Condensed"/>
              </a:endParaRPr>
            </a:p>
          </p:txBody>
        </p:sp>
        <p:sp>
          <p:nvSpPr>
            <p:cNvPr id="13" name="Forma 12"/>
            <p:cNvSpPr/>
            <p:nvPr/>
          </p:nvSpPr>
          <p:spPr>
            <a:xfrm>
              <a:off x="3383280" y="186537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4" name="Paso 3"/>
          <p:cNvGrpSpPr/>
          <p:nvPr/>
        </p:nvGrpSpPr>
        <p:grpSpPr>
          <a:xfrm>
            <a:off x="3291840" y="2359152"/>
            <a:ext cx="8549640" cy="621792"/>
            <a:chOff x="3291840" y="2359152"/>
            <a:chExt cx="8549640" cy="621792"/>
          </a:xfrm>
        </p:grpSpPr>
        <p:sp>
          <p:nvSpPr>
            <p:cNvPr id="15" name="Forma 14"/>
            <p:cNvSpPr/>
            <p:nvPr/>
          </p:nvSpPr>
          <p:spPr>
            <a:xfrm>
              <a:off x="3291840" y="2359152"/>
              <a:ext cx="8549640" cy="62179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Fuerza</a:t>
              </a:r>
              <a:r>
                <a:rPr lang="es-AR" sz="1500" dirty="0">
                  <a:solidFill>
                    <a:srgbClr val="1E1E1E"/>
                  </a:solidFill>
                  <a:latin typeface="Fira Sans Condensed"/>
                  <a:ea typeface="Fira Sans Condensed"/>
                  <a:cs typeface="Fira Sans Condensed"/>
                  <a:sym typeface="Fira Sans Condensed"/>
                </a:rPr>
                <a:t>: preserva masa magra y depósito de glucógeno · </a:t>
              </a:r>
              <a:r>
                <a:rPr lang="es-AR" sz="1500" b="1" dirty="0">
                  <a:solidFill>
                    <a:srgbClr val="1E1E1E"/>
                  </a:solidFill>
                  <a:latin typeface="Fira Sans Condensed"/>
                  <a:ea typeface="Fira Sans Condensed"/>
                  <a:cs typeface="Fira Sans Condensed"/>
                  <a:sym typeface="Fira Sans Condensed"/>
                </a:rPr>
                <a:t>aeróbico</a:t>
              </a:r>
              <a:r>
                <a:rPr lang="es-AR" sz="1500" dirty="0">
                  <a:solidFill>
                    <a:srgbClr val="1E1E1E"/>
                  </a:solidFill>
                  <a:latin typeface="Fira Sans Condensed"/>
                  <a:ea typeface="Fira Sans Condensed"/>
                  <a:cs typeface="Fira Sans Condensed"/>
                  <a:sym typeface="Fira Sans Condensed"/>
                </a:rPr>
                <a:t>: capacidad oxidativa, función endotelial, gasto.</a:t>
              </a:r>
              <a:endParaRPr lang="es-AR" sz="1500" dirty="0">
                <a:latin typeface="Fira Sans Condensed"/>
              </a:endParaRPr>
            </a:p>
          </p:txBody>
        </p:sp>
        <p:sp>
          <p:nvSpPr>
            <p:cNvPr id="16" name="Forma 15"/>
            <p:cNvSpPr/>
            <p:nvPr/>
          </p:nvSpPr>
          <p:spPr>
            <a:xfrm>
              <a:off x="3383280" y="249631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7" name="Paso 4"/>
          <p:cNvGrpSpPr/>
          <p:nvPr/>
        </p:nvGrpSpPr>
        <p:grpSpPr>
          <a:xfrm>
            <a:off x="3291840" y="3072384"/>
            <a:ext cx="8549640" cy="457200"/>
            <a:chOff x="3291840" y="3072384"/>
            <a:chExt cx="8549640" cy="457200"/>
          </a:xfrm>
        </p:grpSpPr>
        <p:sp>
          <p:nvSpPr>
            <p:cNvPr id="18" name="Forma 17"/>
            <p:cNvSpPr/>
            <p:nvPr/>
          </p:nvSpPr>
          <p:spPr>
            <a:xfrm>
              <a:off x="3291840" y="3072384"/>
              <a:ext cx="854964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Beneficios en </a:t>
              </a:r>
              <a:r>
                <a:rPr lang="es-AR" sz="1500" b="1" dirty="0">
                  <a:solidFill>
                    <a:srgbClr val="1E1E1E"/>
                  </a:solidFill>
                  <a:latin typeface="Fira Sans Condensed"/>
                  <a:ea typeface="Fira Sans Condensed"/>
                  <a:cs typeface="Fira Sans Condensed"/>
                  <a:sym typeface="Fira Sans Condensed"/>
                </a:rPr>
                <a:t>TA, adiposidad visceral, sueño y ánimo</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19" name="Forma 18"/>
            <p:cNvSpPr/>
            <p:nvPr/>
          </p:nvSpPr>
          <p:spPr>
            <a:xfrm>
              <a:off x="3383280" y="3127248"/>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20" name="Perla clínica"/>
          <p:cNvSpPr/>
          <p:nvPr/>
        </p:nvSpPr>
        <p:spPr>
          <a:xfrm>
            <a:off x="3291840" y="5120640"/>
            <a:ext cx="8549640" cy="11430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Plan </a:t>
            </a:r>
            <a:r>
              <a:rPr lang="es-AR" sz="1450" b="1" dirty="0">
                <a:solidFill>
                  <a:srgbClr val="FFFFFF"/>
                </a:solidFill>
                <a:latin typeface="Fira Sans Condensed"/>
                <a:ea typeface="Fira Sans Condensed"/>
                <a:cs typeface="Fira Sans Condensed"/>
                <a:sym typeface="Fira Sans Condensed"/>
              </a:rPr>
              <a:t>progresivo, sostenible y seguro</a:t>
            </a:r>
            <a:r>
              <a:rPr lang="es-AR" sz="1450" dirty="0">
                <a:solidFill>
                  <a:srgbClr val="FFFFFF"/>
                </a:solidFill>
                <a:latin typeface="Fira Sans Condensed"/>
                <a:ea typeface="Fira Sans Condensed"/>
                <a:cs typeface="Fira Sans Condensed"/>
                <a:sym typeface="Fira Sans Condensed"/>
              </a:rPr>
              <a:t> (evaluar riesgo CV, neuropatía, retinopatía, pies, hipoglucemia). </a:t>
            </a:r>
            <a:r>
              <a:rPr lang="es-AR" sz="1450" b="1" dirty="0">
                <a:solidFill>
                  <a:srgbClr val="FFFFFF"/>
                </a:solidFill>
                <a:latin typeface="Fira Sans Condensed"/>
                <a:ea typeface="Fira Sans Condensed"/>
                <a:cs typeface="Fira Sans Condensed"/>
                <a:sym typeface="Fira Sans Condensed"/>
              </a:rPr>
              <a:t>Nunca</a:t>
            </a:r>
            <a:r>
              <a:rPr lang="es-AR" sz="1450" dirty="0">
                <a:solidFill>
                  <a:srgbClr val="FFFFFF"/>
                </a:solidFill>
                <a:latin typeface="Fira Sans Condensed"/>
                <a:ea typeface="Fira Sans Condensed"/>
                <a:cs typeface="Fira Sans Condensed"/>
                <a:sym typeface="Fira Sans Condensed"/>
              </a:rPr>
              <a:t> se inicia ejercicio durante una crisis hiperglucémica descompensada.</a:t>
            </a:r>
            <a:endParaRPr lang="es-AR" sz="1450" dirty="0">
              <a:latin typeface="Fira Sans Condensed"/>
            </a:endParaRPr>
          </a:p>
        </p:txBody>
      </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PREGUNTA 9 · ¿POR QUÉ ACTIVIDAD FÍSICA MODERADA?</a:t>
            </a:r>
            <a:endParaRPr lang="es-AR" sz="2900" dirty="0">
              <a:latin typeface="Permanent Marker"/>
            </a:endParaRPr>
          </a:p>
        </p:txBody>
      </p:sp>
      <p:sp>
        <p:nvSpPr>
          <p:cNvPr id="6" name="Etiqueta sección"/>
          <p:cNvSpPr/>
          <p:nvPr/>
        </p:nvSpPr>
        <p:spPr>
          <a:xfrm>
            <a:off x="164592" y="6510528"/>
            <a:ext cx="1647191"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III · EHH (CASO 12)</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IV</a:t>
            </a:r>
            <a:endParaRPr lang="es-AR" sz="2000" dirty="0">
              <a:latin typeface="Fira Sans Condensed"/>
            </a:endParaRPr>
          </a:p>
        </p:txBody>
      </p:sp>
      <p:sp>
        <p:nvSpPr>
          <p:cNvPr id="6" name="Título unidad"/>
          <p:cNvSpPr txBox="1"/>
          <p:nvPr/>
        </p:nvSpPr>
        <p:spPr>
          <a:xfrm>
            <a:off x="2468880" y="960120"/>
            <a:ext cx="7223760" cy="9352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CAD FRENTE A EHH</a:t>
            </a:r>
            <a:endParaRPr lang="es-AR" sz="50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Una misma red metabólica, dos desenlaces</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Mapa que se bifurca</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Comparación mecanística</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DM1 frente a DM2</a:t>
            </a:r>
            <a:endParaRPr lang="es-AR" sz="1400" dirty="0">
              <a:latin typeface="Fira Sans Condensed"/>
            </a:endParaRPr>
          </a:p>
        </p:txBody>
      </p:sp>
      <p:sp>
        <p:nvSpPr>
          <p:cNvPr id="11" name="Tema 4"/>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Algoritmo del laboratorio de emergencias</a:t>
            </a:r>
            <a:endParaRPr lang="es-AR" sz="1350" dirty="0">
              <a:latin typeface="Fira Sans Condensed"/>
            </a:endParaRPr>
          </a:p>
        </p:txBody>
      </p:sp>
      <p:sp>
        <p:nvSpPr>
          <p:cNvPr id="12" name="Tema 5"/>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Reglas de alto rendimiento</a:t>
            </a:r>
            <a:endParaRPr lang="es-AR" sz="1400" dirty="0">
              <a:latin typeface="Fira Sans Condensed"/>
            </a:endParaRPr>
          </a:p>
        </p:txBody>
      </p:sp>
      <p:sp>
        <p:nvSpPr>
          <p:cNvPr id="13" name="Tema 6"/>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Fórmulas razonadas</a:t>
            </a:r>
            <a:endParaRPr lang="es-AR" sz="1400" dirty="0">
              <a:latin typeface="Fira Sans Condensed"/>
            </a:endParaRPr>
          </a:p>
        </p:txBody>
      </p:sp>
      <p:grpSp>
        <p:nvGrpSpPr>
          <p:cNvPr id="14" name="BHB"/>
          <p:cNvGrpSpPr/>
          <p:nvPr/>
        </p:nvGrpSpPr>
        <p:grpSpPr>
          <a:xfrm>
            <a:off x="10119536" y="791048"/>
            <a:ext cx="1562164" cy="1067180"/>
            <a:chOff x="10119536" y="791048"/>
            <a:chExt cx="1562164" cy="1067180"/>
          </a:xfrm>
        </p:grpSpPr>
        <p:sp>
          <p:nvSpPr>
            <p:cNvPr id="15" name="Átomo H"/>
            <p:cNvSpPr/>
            <p:nvPr/>
          </p:nvSpPr>
          <p:spPr>
            <a:xfrm>
              <a:off x="10780415" y="1275911"/>
              <a:ext cx="137917" cy="13791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6" name="Flecha 15_2"/>
            <p:cNvSpPr/>
            <p:nvPr/>
          </p:nvSpPr>
          <p:spPr>
            <a:xfrm>
              <a:off x="10849374" y="1344869"/>
              <a:ext cx="98637" cy="140314"/>
            </a:xfrm>
            <a:custGeom>
              <a:avLst/>
              <a:gdLst/>
              <a:ahLst/>
              <a:cxnLst/>
              <a:rect l="0" t="0" r="r" b="b"/>
              <a:pathLst>
                <a:path w="107" h="153" fill="none">
                  <a:moveTo>
                    <a:pt x="107" y="153"/>
                  </a:moveTo>
                  <a:lnTo>
                    <a:pt x="0" y="0"/>
                  </a:lnTo>
                </a:path>
              </a:pathLst>
            </a:custGeom>
            <a:noFill/>
            <a:ln w="35215" cap="rnd">
              <a:solidFill>
                <a:srgbClr val="9A9A9A"/>
              </a:solidFill>
              <a:round/>
            </a:ln>
          </p:spPr>
        </p:sp>
        <p:sp>
          <p:nvSpPr>
            <p:cNvPr id="17" name="Átomo O"/>
            <p:cNvSpPr/>
            <p:nvPr/>
          </p:nvSpPr>
          <p:spPr>
            <a:xfrm>
              <a:off x="11459065" y="1595739"/>
              <a:ext cx="222635" cy="22263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8" name="Flecha 18_2"/>
            <p:cNvSpPr/>
            <p:nvPr/>
          </p:nvSpPr>
          <p:spPr>
            <a:xfrm>
              <a:off x="11373251" y="1427505"/>
              <a:ext cx="197132" cy="279552"/>
            </a:xfrm>
            <a:custGeom>
              <a:avLst/>
              <a:gdLst/>
              <a:ahLst/>
              <a:cxnLst/>
              <a:rect l="0" t="0" r="r" b="b"/>
              <a:pathLst>
                <a:path w="215" h="305" fill="none">
                  <a:moveTo>
                    <a:pt x="0" y="0"/>
                  </a:moveTo>
                  <a:lnTo>
                    <a:pt x="215" y="305"/>
                  </a:lnTo>
                </a:path>
              </a:pathLst>
            </a:custGeom>
            <a:noFill/>
            <a:ln w="35215" cap="rnd">
              <a:solidFill>
                <a:srgbClr val="9A9A9A"/>
              </a:solidFill>
              <a:round/>
            </a:ln>
          </p:spPr>
        </p:sp>
        <p:sp>
          <p:nvSpPr>
            <p:cNvPr id="19" name="Átomo H_2"/>
            <p:cNvSpPr/>
            <p:nvPr/>
          </p:nvSpPr>
          <p:spPr>
            <a:xfrm>
              <a:off x="10815332" y="1715612"/>
              <a:ext cx="142616" cy="14261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0" name="Flecha 21_2"/>
            <p:cNvSpPr/>
            <p:nvPr/>
          </p:nvSpPr>
          <p:spPr>
            <a:xfrm>
              <a:off x="10886640" y="1485183"/>
              <a:ext cx="61371" cy="301737"/>
            </a:xfrm>
            <a:custGeom>
              <a:avLst/>
              <a:gdLst/>
              <a:ahLst/>
              <a:cxnLst/>
              <a:rect l="0" t="0" r="r" b="b"/>
              <a:pathLst>
                <a:path w="67" h="329" fill="none">
                  <a:moveTo>
                    <a:pt x="67" y="0"/>
                  </a:moveTo>
                  <a:lnTo>
                    <a:pt x="0" y="329"/>
                  </a:lnTo>
                </a:path>
              </a:pathLst>
            </a:custGeom>
            <a:noFill/>
            <a:ln w="35215" cap="rnd">
              <a:solidFill>
                <a:srgbClr val="9A9A9A"/>
              </a:solidFill>
              <a:round/>
            </a:ln>
          </p:spPr>
        </p:sp>
        <p:sp>
          <p:nvSpPr>
            <p:cNvPr id="21" name="Átomo C"/>
            <p:cNvSpPr/>
            <p:nvPr/>
          </p:nvSpPr>
          <p:spPr>
            <a:xfrm>
              <a:off x="10828780" y="1365952"/>
              <a:ext cx="238462" cy="2384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 name="Flecha 24_2"/>
            <p:cNvSpPr/>
            <p:nvPr/>
          </p:nvSpPr>
          <p:spPr>
            <a:xfrm>
              <a:off x="10948011" y="1427505"/>
              <a:ext cx="425240" cy="57678"/>
            </a:xfrm>
            <a:custGeom>
              <a:avLst/>
              <a:gdLst/>
              <a:ahLst/>
              <a:cxnLst/>
              <a:rect l="0" t="0" r="r" b="b"/>
              <a:pathLst>
                <a:path w="465" h="63" fill="none">
                  <a:moveTo>
                    <a:pt x="0" y="63"/>
                  </a:moveTo>
                  <a:lnTo>
                    <a:pt x="465" y="0"/>
                  </a:lnTo>
                </a:path>
              </a:pathLst>
            </a:custGeom>
            <a:noFill/>
            <a:ln w="35215" cap="rnd">
              <a:solidFill>
                <a:srgbClr val="9A9A9A"/>
              </a:solidFill>
              <a:round/>
            </a:ln>
          </p:spPr>
        </p:sp>
        <p:sp>
          <p:nvSpPr>
            <p:cNvPr id="23" name="Átomo C_2"/>
            <p:cNvSpPr/>
            <p:nvPr/>
          </p:nvSpPr>
          <p:spPr>
            <a:xfrm>
              <a:off x="11253574" y="1307828"/>
              <a:ext cx="239353" cy="23935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 name="Flecha 27_2"/>
            <p:cNvSpPr/>
            <p:nvPr/>
          </p:nvSpPr>
          <p:spPr>
            <a:xfrm>
              <a:off x="11397435" y="1112137"/>
              <a:ext cx="101679" cy="322981"/>
            </a:xfrm>
            <a:custGeom>
              <a:avLst/>
              <a:gdLst/>
              <a:ahLst/>
              <a:cxnLst/>
              <a:rect l="0" t="0" r="r" b="b"/>
              <a:pathLst>
                <a:path w="111" h="353" fill="none">
                  <a:moveTo>
                    <a:pt x="0" y="353"/>
                  </a:moveTo>
                  <a:lnTo>
                    <a:pt x="111" y="0"/>
                  </a:lnTo>
                </a:path>
              </a:pathLst>
            </a:custGeom>
            <a:noFill/>
            <a:ln w="28172" cap="rnd">
              <a:solidFill>
                <a:srgbClr val="9A9A9A"/>
              </a:solidFill>
              <a:round/>
            </a:ln>
          </p:spPr>
        </p:sp>
        <p:sp>
          <p:nvSpPr>
            <p:cNvPr id="25" name="Flecha 29_2"/>
            <p:cNvSpPr/>
            <p:nvPr/>
          </p:nvSpPr>
          <p:spPr>
            <a:xfrm>
              <a:off x="11349066" y="1096910"/>
              <a:ext cx="101679" cy="322981"/>
            </a:xfrm>
            <a:custGeom>
              <a:avLst/>
              <a:gdLst/>
              <a:ahLst/>
              <a:cxnLst/>
              <a:rect l="0" t="0" r="r" b="b"/>
              <a:pathLst>
                <a:path w="111" h="353" fill="none">
                  <a:moveTo>
                    <a:pt x="0" y="353"/>
                  </a:moveTo>
                  <a:lnTo>
                    <a:pt x="111" y="0"/>
                  </a:lnTo>
                </a:path>
              </a:pathLst>
            </a:custGeom>
            <a:noFill/>
            <a:ln w="28172" cap="rnd">
              <a:solidFill>
                <a:srgbClr val="9A9A9A"/>
              </a:solidFill>
              <a:round/>
            </a:ln>
          </p:spPr>
        </p:sp>
        <p:sp>
          <p:nvSpPr>
            <p:cNvPr id="26" name="Átomo H_3"/>
            <p:cNvSpPr/>
            <p:nvPr/>
          </p:nvSpPr>
          <p:spPr>
            <a:xfrm>
              <a:off x="10119536" y="1257525"/>
              <a:ext cx="145601" cy="14560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7" name="Átomo O_2"/>
            <p:cNvSpPr/>
            <p:nvPr/>
          </p:nvSpPr>
          <p:spPr>
            <a:xfrm>
              <a:off x="11360309" y="989903"/>
              <a:ext cx="229241" cy="2292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8" name="Flecha 33_2"/>
            <p:cNvSpPr/>
            <p:nvPr/>
          </p:nvSpPr>
          <p:spPr>
            <a:xfrm>
              <a:off x="10761517" y="1319341"/>
              <a:ext cx="186494" cy="165842"/>
            </a:xfrm>
            <a:custGeom>
              <a:avLst/>
              <a:gdLst/>
              <a:ahLst/>
              <a:cxnLst/>
              <a:rect l="0" t="0" r="r" b="b"/>
              <a:pathLst>
                <a:path w="203" h="181" fill="none">
                  <a:moveTo>
                    <a:pt x="0" y="0"/>
                  </a:moveTo>
                  <a:lnTo>
                    <a:pt x="203" y="181"/>
                  </a:lnTo>
                </a:path>
              </a:pathLst>
            </a:custGeom>
            <a:noFill/>
            <a:ln w="35215" cap="rnd">
              <a:solidFill>
                <a:srgbClr val="9A9A9A"/>
              </a:solidFill>
              <a:round/>
            </a:ln>
          </p:spPr>
        </p:sp>
        <p:sp>
          <p:nvSpPr>
            <p:cNvPr id="29" name="Flecha 35_2"/>
            <p:cNvSpPr/>
            <p:nvPr/>
          </p:nvSpPr>
          <p:spPr>
            <a:xfrm>
              <a:off x="10192337" y="1330325"/>
              <a:ext cx="155888" cy="100988"/>
            </a:xfrm>
            <a:custGeom>
              <a:avLst/>
              <a:gdLst/>
              <a:ahLst/>
              <a:cxnLst/>
              <a:rect l="0" t="0" r="r" b="b"/>
              <a:pathLst>
                <a:path w="170" h="110" fill="none">
                  <a:moveTo>
                    <a:pt x="170" y="110"/>
                  </a:moveTo>
                  <a:lnTo>
                    <a:pt x="0" y="0"/>
                  </a:lnTo>
                </a:path>
              </a:pathLst>
            </a:custGeom>
            <a:noFill/>
            <a:ln w="35215" cap="rnd">
              <a:solidFill>
                <a:srgbClr val="9A9A9A"/>
              </a:solidFill>
              <a:round/>
            </a:ln>
          </p:spPr>
        </p:sp>
        <p:sp>
          <p:nvSpPr>
            <p:cNvPr id="30" name="Átomo H_4"/>
            <p:cNvSpPr/>
            <p:nvPr/>
          </p:nvSpPr>
          <p:spPr>
            <a:xfrm>
              <a:off x="10972103" y="791048"/>
              <a:ext cx="148818" cy="14881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1" name="Flecha 38_2"/>
            <p:cNvSpPr/>
            <p:nvPr/>
          </p:nvSpPr>
          <p:spPr>
            <a:xfrm>
              <a:off x="10776455" y="865457"/>
              <a:ext cx="270056" cy="51216"/>
            </a:xfrm>
            <a:custGeom>
              <a:avLst/>
              <a:gdLst/>
              <a:ahLst/>
              <a:cxnLst/>
              <a:rect l="0" t="0" r="r" b="b"/>
              <a:pathLst>
                <a:path w="295" h="56" fill="none">
                  <a:moveTo>
                    <a:pt x="0" y="56"/>
                  </a:moveTo>
                  <a:lnTo>
                    <a:pt x="295" y="0"/>
                  </a:lnTo>
                </a:path>
              </a:pathLst>
            </a:custGeom>
            <a:noFill/>
            <a:ln w="35215" cap="rnd">
              <a:solidFill>
                <a:srgbClr val="9A9A9A"/>
              </a:solidFill>
              <a:round/>
            </a:ln>
          </p:spPr>
        </p:sp>
        <p:sp>
          <p:nvSpPr>
            <p:cNvPr id="32" name="Átomo O_3"/>
            <p:cNvSpPr/>
            <p:nvPr/>
          </p:nvSpPr>
          <p:spPr>
            <a:xfrm>
              <a:off x="10658717" y="798935"/>
              <a:ext cx="235476" cy="23547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3" name="Flecha 41_2"/>
            <p:cNvSpPr/>
            <p:nvPr/>
          </p:nvSpPr>
          <p:spPr>
            <a:xfrm>
              <a:off x="10761517" y="916673"/>
              <a:ext cx="14939" cy="402668"/>
            </a:xfrm>
            <a:custGeom>
              <a:avLst/>
              <a:gdLst/>
              <a:ahLst/>
              <a:cxnLst/>
              <a:rect l="0" t="0" r="r" b="b"/>
              <a:pathLst>
                <a:path w="16" h="440" fill="none">
                  <a:moveTo>
                    <a:pt x="0" y="440"/>
                  </a:moveTo>
                  <a:lnTo>
                    <a:pt x="16" y="0"/>
                  </a:lnTo>
                </a:path>
              </a:pathLst>
            </a:custGeom>
            <a:noFill/>
            <a:ln w="35215" cap="rnd">
              <a:solidFill>
                <a:srgbClr val="9A9A9A"/>
              </a:solidFill>
              <a:round/>
            </a:ln>
          </p:spPr>
        </p:sp>
        <p:sp>
          <p:nvSpPr>
            <p:cNvPr id="34" name="Átomo C_3"/>
            <p:cNvSpPr/>
            <p:nvPr/>
          </p:nvSpPr>
          <p:spPr>
            <a:xfrm>
              <a:off x="10636441" y="1194266"/>
              <a:ext cx="250150" cy="25015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5" name="Flecha 44_2"/>
            <p:cNvSpPr/>
            <p:nvPr/>
          </p:nvSpPr>
          <p:spPr>
            <a:xfrm>
              <a:off x="10348225" y="1319341"/>
              <a:ext cx="413292" cy="111973"/>
            </a:xfrm>
            <a:custGeom>
              <a:avLst/>
              <a:gdLst/>
              <a:ahLst/>
              <a:cxnLst/>
              <a:rect l="0" t="0" r="r" b="b"/>
              <a:pathLst>
                <a:path w="451" h="122" fill="none">
                  <a:moveTo>
                    <a:pt x="0" y="122"/>
                  </a:moveTo>
                  <a:lnTo>
                    <a:pt x="451" y="0"/>
                  </a:lnTo>
                </a:path>
              </a:pathLst>
            </a:custGeom>
            <a:noFill/>
            <a:ln w="35215" cap="rnd">
              <a:solidFill>
                <a:srgbClr val="9A9A9A"/>
              </a:solidFill>
              <a:round/>
            </a:ln>
          </p:spPr>
        </p:sp>
        <p:sp>
          <p:nvSpPr>
            <p:cNvPr id="36" name="Átomo C_4"/>
            <p:cNvSpPr/>
            <p:nvPr/>
          </p:nvSpPr>
          <p:spPr>
            <a:xfrm>
              <a:off x="10222762" y="1305851"/>
              <a:ext cx="250926" cy="2509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Flecha 47_2"/>
            <p:cNvSpPr/>
            <p:nvPr/>
          </p:nvSpPr>
          <p:spPr>
            <a:xfrm>
              <a:off x="10315671" y="1431314"/>
              <a:ext cx="32554" cy="305941"/>
            </a:xfrm>
            <a:custGeom>
              <a:avLst/>
              <a:gdLst/>
              <a:ahLst/>
              <a:cxnLst/>
              <a:rect l="0" t="0" r="r" b="b"/>
              <a:pathLst>
                <a:path w="35" h="334" fill="none">
                  <a:moveTo>
                    <a:pt x="35" y="0"/>
                  </a:moveTo>
                  <a:lnTo>
                    <a:pt x="0" y="334"/>
                  </a:lnTo>
                </a:path>
              </a:pathLst>
            </a:custGeom>
            <a:noFill/>
            <a:ln w="35215" cap="rnd">
              <a:solidFill>
                <a:srgbClr val="9A9A9A"/>
              </a:solidFill>
              <a:round/>
            </a:ln>
          </p:spPr>
        </p:sp>
        <p:sp>
          <p:nvSpPr>
            <p:cNvPr id="38" name="Átomo H_5"/>
            <p:cNvSpPr/>
            <p:nvPr/>
          </p:nvSpPr>
          <p:spPr>
            <a:xfrm>
              <a:off x="10240201" y="1661785"/>
              <a:ext cx="150941" cy="15094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9" name="Flecha 50_2"/>
            <p:cNvSpPr/>
            <p:nvPr/>
          </p:nvSpPr>
          <p:spPr>
            <a:xfrm>
              <a:off x="10761517" y="1319341"/>
              <a:ext cx="144368" cy="91577"/>
            </a:xfrm>
            <a:custGeom>
              <a:avLst/>
              <a:gdLst/>
              <a:ahLst/>
              <a:cxnLst/>
              <a:rect l="0" t="0" r="r" b="b"/>
              <a:pathLst>
                <a:path w="157" h="100" fill="none">
                  <a:moveTo>
                    <a:pt x="0" y="0"/>
                  </a:moveTo>
                  <a:lnTo>
                    <a:pt x="157" y="100"/>
                  </a:lnTo>
                </a:path>
              </a:pathLst>
            </a:custGeom>
            <a:noFill/>
            <a:ln w="35215" cap="rnd">
              <a:solidFill>
                <a:srgbClr val="9A9A9A"/>
              </a:solidFill>
              <a:round/>
            </a:ln>
          </p:spPr>
        </p:sp>
        <p:sp>
          <p:nvSpPr>
            <p:cNvPr id="40" name="Flecha 52_2"/>
            <p:cNvSpPr/>
            <p:nvPr/>
          </p:nvSpPr>
          <p:spPr>
            <a:xfrm>
              <a:off x="10215562" y="1302834"/>
              <a:ext cx="132663" cy="128480"/>
            </a:xfrm>
            <a:custGeom>
              <a:avLst/>
              <a:gdLst/>
              <a:ahLst/>
              <a:cxnLst/>
              <a:rect l="0" t="0" r="r" b="b"/>
              <a:pathLst>
                <a:path w="145" h="140" fill="none">
                  <a:moveTo>
                    <a:pt x="145" y="140"/>
                  </a:moveTo>
                  <a:lnTo>
                    <a:pt x="0" y="0"/>
                  </a:lnTo>
                </a:path>
              </a:pathLst>
            </a:custGeom>
            <a:noFill/>
            <a:ln w="35215" cap="rnd">
              <a:solidFill>
                <a:srgbClr val="9A9A9A"/>
              </a:solidFill>
              <a:round/>
            </a:ln>
          </p:spPr>
        </p:sp>
        <p:sp>
          <p:nvSpPr>
            <p:cNvPr id="41" name="Átomo H_6"/>
            <p:cNvSpPr/>
            <p:nvPr/>
          </p:nvSpPr>
          <p:spPr>
            <a:xfrm>
              <a:off x="10828255" y="1333288"/>
              <a:ext cx="155259" cy="1552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2" name="Átomo H_7"/>
            <p:cNvSpPr/>
            <p:nvPr/>
          </p:nvSpPr>
          <p:spPr>
            <a:xfrm>
              <a:off x="10137800" y="1225072"/>
              <a:ext cx="155524" cy="15552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43" name="Glc"/>
          <p:cNvGrpSpPr/>
          <p:nvPr/>
        </p:nvGrpSpPr>
        <p:grpSpPr>
          <a:xfrm>
            <a:off x="9916850" y="3151806"/>
            <a:ext cx="1832586" cy="1466461"/>
            <a:chOff x="9916850" y="3151806"/>
            <a:chExt cx="1832586" cy="1466461"/>
          </a:xfrm>
        </p:grpSpPr>
        <p:sp>
          <p:nvSpPr>
            <p:cNvPr id="44" name="Átomo H_8"/>
            <p:cNvSpPr/>
            <p:nvPr/>
          </p:nvSpPr>
          <p:spPr>
            <a:xfrm>
              <a:off x="11123412" y="3882459"/>
              <a:ext cx="122395" cy="12239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5" name="Átomo H_9"/>
            <p:cNvSpPr/>
            <p:nvPr/>
          </p:nvSpPr>
          <p:spPr>
            <a:xfrm>
              <a:off x="11311873" y="3322194"/>
              <a:ext cx="123108" cy="1231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Flecha 59_2"/>
            <p:cNvSpPr/>
            <p:nvPr/>
          </p:nvSpPr>
          <p:spPr>
            <a:xfrm>
              <a:off x="11373427" y="3383748"/>
              <a:ext cx="176021" cy="97748"/>
            </a:xfrm>
            <a:custGeom>
              <a:avLst/>
              <a:gdLst/>
              <a:ahLst/>
              <a:cxnLst/>
              <a:rect l="0" t="0" r="r" b="b"/>
              <a:pathLst>
                <a:path w="192" h="106" fill="none">
                  <a:moveTo>
                    <a:pt x="192" y="106"/>
                  </a:moveTo>
                  <a:lnTo>
                    <a:pt x="0" y="0"/>
                  </a:lnTo>
                </a:path>
              </a:pathLst>
            </a:custGeom>
            <a:noFill/>
            <a:ln w="31251" cap="rnd">
              <a:solidFill>
                <a:srgbClr val="9A9A9A"/>
              </a:solidFill>
              <a:round/>
            </a:ln>
          </p:spPr>
        </p:sp>
        <p:sp>
          <p:nvSpPr>
            <p:cNvPr id="47" name="Flecha 61_2"/>
            <p:cNvSpPr/>
            <p:nvPr/>
          </p:nvSpPr>
          <p:spPr>
            <a:xfrm>
              <a:off x="11184609" y="3943657"/>
              <a:ext cx="59657" cy="50970"/>
            </a:xfrm>
            <a:custGeom>
              <a:avLst/>
              <a:gdLst/>
              <a:ahLst/>
              <a:cxnLst/>
              <a:rect l="0" t="0" r="r" b="b"/>
              <a:pathLst>
                <a:path w="65" h="55" fill="none">
                  <a:moveTo>
                    <a:pt x="65" y="55"/>
                  </a:moveTo>
                  <a:lnTo>
                    <a:pt x="0" y="0"/>
                  </a:lnTo>
                </a:path>
              </a:pathLst>
            </a:custGeom>
            <a:noFill/>
            <a:ln w="31251" cap="rnd">
              <a:solidFill>
                <a:srgbClr val="9A9A9A"/>
              </a:solidFill>
              <a:round/>
            </a:ln>
          </p:spPr>
        </p:sp>
        <p:sp>
          <p:nvSpPr>
            <p:cNvPr id="48" name="Átomo H_10"/>
            <p:cNvSpPr/>
            <p:nvPr/>
          </p:nvSpPr>
          <p:spPr>
            <a:xfrm>
              <a:off x="11624943" y="4098229"/>
              <a:ext cx="124493" cy="1244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9" name="Átomo H_11"/>
            <p:cNvSpPr/>
            <p:nvPr/>
          </p:nvSpPr>
          <p:spPr>
            <a:xfrm>
              <a:off x="10474478" y="3792643"/>
              <a:ext cx="125048" cy="12504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0" name="Átomo O_4"/>
            <p:cNvSpPr/>
            <p:nvPr/>
          </p:nvSpPr>
          <p:spPr>
            <a:xfrm>
              <a:off x="11451142" y="3383190"/>
              <a:ext cx="196613" cy="19661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1" name="Flecha 66_2"/>
            <p:cNvSpPr/>
            <p:nvPr/>
          </p:nvSpPr>
          <p:spPr>
            <a:xfrm>
              <a:off x="11491460" y="4160476"/>
              <a:ext cx="195729" cy="95904"/>
            </a:xfrm>
            <a:custGeom>
              <a:avLst/>
              <a:gdLst/>
              <a:ahLst/>
              <a:cxnLst/>
              <a:rect l="0" t="0" r="r" b="b"/>
              <a:pathLst>
                <a:path w="214" h="104" fill="none">
                  <a:moveTo>
                    <a:pt x="0" y="104"/>
                  </a:moveTo>
                  <a:lnTo>
                    <a:pt x="214" y="0"/>
                  </a:lnTo>
                </a:path>
              </a:pathLst>
            </a:custGeom>
            <a:noFill/>
            <a:ln w="31251" cap="rnd">
              <a:solidFill>
                <a:srgbClr val="9A9A9A"/>
              </a:solidFill>
              <a:round/>
            </a:ln>
          </p:spPr>
        </p:sp>
        <p:sp>
          <p:nvSpPr>
            <p:cNvPr id="52" name="Átomo H_12"/>
            <p:cNvSpPr/>
            <p:nvPr/>
          </p:nvSpPr>
          <p:spPr>
            <a:xfrm>
              <a:off x="10953135" y="4492216"/>
              <a:ext cx="126052" cy="12605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3" name="Átomo O_5"/>
            <p:cNvSpPr/>
            <p:nvPr/>
          </p:nvSpPr>
          <p:spPr>
            <a:xfrm>
              <a:off x="11392395" y="4157315"/>
              <a:ext cx="198129" cy="19812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4" name="Flecha 70_2"/>
            <p:cNvSpPr/>
            <p:nvPr/>
          </p:nvSpPr>
          <p:spPr>
            <a:xfrm>
              <a:off x="11244266" y="3994626"/>
              <a:ext cx="247194" cy="261753"/>
            </a:xfrm>
            <a:custGeom>
              <a:avLst/>
              <a:gdLst/>
              <a:ahLst/>
              <a:cxnLst/>
              <a:rect l="0" t="0" r="r" b="b"/>
              <a:pathLst>
                <a:path w="270" h="286" fill="none">
                  <a:moveTo>
                    <a:pt x="0" y="0"/>
                  </a:moveTo>
                  <a:lnTo>
                    <a:pt x="270" y="286"/>
                  </a:lnTo>
                </a:path>
              </a:pathLst>
            </a:custGeom>
            <a:noFill/>
            <a:ln w="31251" cap="rnd">
              <a:solidFill>
                <a:srgbClr val="9A9A9A"/>
              </a:solidFill>
              <a:round/>
            </a:ln>
          </p:spPr>
        </p:sp>
        <p:sp>
          <p:nvSpPr>
            <p:cNvPr id="55" name="Átomo C_5"/>
            <p:cNvSpPr/>
            <p:nvPr/>
          </p:nvSpPr>
          <p:spPr>
            <a:xfrm>
              <a:off x="11139102" y="3889462"/>
              <a:ext cx="210328" cy="2103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6" name="Flecha 73_2"/>
            <p:cNvSpPr/>
            <p:nvPr/>
          </p:nvSpPr>
          <p:spPr>
            <a:xfrm>
              <a:off x="10814932" y="4420863"/>
              <a:ext cx="201228" cy="134378"/>
            </a:xfrm>
            <a:custGeom>
              <a:avLst/>
              <a:gdLst/>
              <a:ahLst/>
              <a:cxnLst/>
              <a:rect l="0" t="0" r="r" b="b"/>
              <a:pathLst>
                <a:path w="220" h="146" fill="none">
                  <a:moveTo>
                    <a:pt x="0" y="0"/>
                  </a:moveTo>
                  <a:lnTo>
                    <a:pt x="220" y="146"/>
                  </a:lnTo>
                </a:path>
              </a:pathLst>
            </a:custGeom>
            <a:noFill/>
            <a:ln w="31251" cap="rnd">
              <a:solidFill>
                <a:srgbClr val="9A9A9A"/>
              </a:solidFill>
              <a:round/>
            </a:ln>
          </p:spPr>
        </p:sp>
        <p:sp>
          <p:nvSpPr>
            <p:cNvPr id="57" name="Átomo O_6"/>
            <p:cNvSpPr/>
            <p:nvPr/>
          </p:nvSpPr>
          <p:spPr>
            <a:xfrm>
              <a:off x="10715460" y="4321391"/>
              <a:ext cx="198945" cy="19894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8" name="Flecha 76_2"/>
            <p:cNvSpPr/>
            <p:nvPr/>
          </p:nvSpPr>
          <p:spPr>
            <a:xfrm>
              <a:off x="10537002" y="3843190"/>
              <a:ext cx="125772" cy="11977"/>
            </a:xfrm>
            <a:custGeom>
              <a:avLst/>
              <a:gdLst/>
              <a:ahLst/>
              <a:cxnLst/>
              <a:rect l="0" t="0" r="r" b="b"/>
              <a:pathLst>
                <a:path w="137" h="13" fill="none">
                  <a:moveTo>
                    <a:pt x="137" y="0"/>
                  </a:moveTo>
                  <a:lnTo>
                    <a:pt x="0" y="13"/>
                  </a:lnTo>
                </a:path>
              </a:pathLst>
            </a:custGeom>
            <a:noFill/>
            <a:ln w="31251" cap="rnd">
              <a:solidFill>
                <a:srgbClr val="9A9A9A"/>
              </a:solidFill>
              <a:round/>
            </a:ln>
          </p:spPr>
        </p:sp>
        <p:sp>
          <p:nvSpPr>
            <p:cNvPr id="59" name="Flecha 78_2"/>
            <p:cNvSpPr/>
            <p:nvPr/>
          </p:nvSpPr>
          <p:spPr>
            <a:xfrm>
              <a:off x="11386606" y="3481497"/>
              <a:ext cx="162842" cy="201231"/>
            </a:xfrm>
            <a:custGeom>
              <a:avLst/>
              <a:gdLst/>
              <a:ahLst/>
              <a:cxnLst/>
              <a:rect l="0" t="0" r="r" b="b"/>
              <a:pathLst>
                <a:path w="178" h="220" fill="none">
                  <a:moveTo>
                    <a:pt x="0" y="220"/>
                  </a:moveTo>
                  <a:lnTo>
                    <a:pt x="178" y="0"/>
                  </a:lnTo>
                </a:path>
              </a:pathLst>
            </a:custGeom>
            <a:noFill/>
            <a:ln w="31251" cap="rnd">
              <a:solidFill>
                <a:srgbClr val="9A9A9A"/>
              </a:solidFill>
              <a:round/>
            </a:ln>
          </p:spPr>
        </p:sp>
        <p:sp>
          <p:nvSpPr>
            <p:cNvPr id="60" name="Flecha 80_2"/>
            <p:cNvSpPr/>
            <p:nvPr/>
          </p:nvSpPr>
          <p:spPr>
            <a:xfrm>
              <a:off x="11244266" y="3682727"/>
              <a:ext cx="142341" cy="311899"/>
            </a:xfrm>
            <a:custGeom>
              <a:avLst/>
              <a:gdLst/>
              <a:ahLst/>
              <a:cxnLst/>
              <a:rect l="0" t="0" r="r" b="b"/>
              <a:pathLst>
                <a:path w="155" h="341" fill="none">
                  <a:moveTo>
                    <a:pt x="155" y="0"/>
                  </a:moveTo>
                  <a:lnTo>
                    <a:pt x="0" y="341"/>
                  </a:lnTo>
                </a:path>
              </a:pathLst>
            </a:custGeom>
            <a:noFill/>
            <a:ln w="31251" cap="rnd">
              <a:solidFill>
                <a:srgbClr val="9A9A9A"/>
              </a:solidFill>
              <a:round/>
            </a:ln>
          </p:spPr>
        </p:sp>
        <p:sp>
          <p:nvSpPr>
            <p:cNvPr id="61" name="Flecha 82_2"/>
            <p:cNvSpPr/>
            <p:nvPr/>
          </p:nvSpPr>
          <p:spPr>
            <a:xfrm>
              <a:off x="10931589" y="3994626"/>
              <a:ext cx="312676" cy="124453"/>
            </a:xfrm>
            <a:custGeom>
              <a:avLst/>
              <a:gdLst/>
              <a:ahLst/>
              <a:cxnLst/>
              <a:rect l="0" t="0" r="r" b="b"/>
              <a:pathLst>
                <a:path w="341" h="136" fill="none">
                  <a:moveTo>
                    <a:pt x="341" y="0"/>
                  </a:moveTo>
                  <a:lnTo>
                    <a:pt x="0" y="136"/>
                  </a:lnTo>
                </a:path>
              </a:pathLst>
            </a:custGeom>
            <a:noFill/>
            <a:ln w="31251" cap="rnd">
              <a:solidFill>
                <a:srgbClr val="9A9A9A"/>
              </a:solidFill>
              <a:round/>
            </a:ln>
          </p:spPr>
        </p:sp>
        <p:sp>
          <p:nvSpPr>
            <p:cNvPr id="62" name="Flecha 84_2"/>
            <p:cNvSpPr/>
            <p:nvPr/>
          </p:nvSpPr>
          <p:spPr>
            <a:xfrm>
              <a:off x="10814932" y="4119079"/>
              <a:ext cx="116657" cy="301784"/>
            </a:xfrm>
            <a:custGeom>
              <a:avLst/>
              <a:gdLst/>
              <a:ahLst/>
              <a:cxnLst/>
              <a:rect l="0" t="0" r="r" b="b"/>
              <a:pathLst>
                <a:path w="127" h="330" fill="none">
                  <a:moveTo>
                    <a:pt x="127" y="0"/>
                  </a:moveTo>
                  <a:lnTo>
                    <a:pt x="0" y="330"/>
                  </a:lnTo>
                </a:path>
              </a:pathLst>
            </a:custGeom>
            <a:noFill/>
            <a:ln w="31251" cap="rnd">
              <a:solidFill>
                <a:srgbClr val="9A9A9A"/>
              </a:solidFill>
              <a:round/>
            </a:ln>
          </p:spPr>
        </p:sp>
        <p:sp>
          <p:nvSpPr>
            <p:cNvPr id="63" name="Átomo C_6"/>
            <p:cNvSpPr/>
            <p:nvPr/>
          </p:nvSpPr>
          <p:spPr>
            <a:xfrm>
              <a:off x="10555628" y="3736044"/>
              <a:ext cx="214294" cy="21429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4" name="Flecha 87_2"/>
            <p:cNvSpPr/>
            <p:nvPr/>
          </p:nvSpPr>
          <p:spPr>
            <a:xfrm>
              <a:off x="10662775" y="3843190"/>
              <a:ext cx="268815" cy="275889"/>
            </a:xfrm>
            <a:custGeom>
              <a:avLst/>
              <a:gdLst/>
              <a:ahLst/>
              <a:cxnLst/>
              <a:rect l="0" t="0" r="r" b="b"/>
              <a:pathLst>
                <a:path w="293" h="301" fill="none">
                  <a:moveTo>
                    <a:pt x="293" y="301"/>
                  </a:moveTo>
                  <a:lnTo>
                    <a:pt x="0" y="0"/>
                  </a:lnTo>
                </a:path>
              </a:pathLst>
            </a:custGeom>
            <a:noFill/>
            <a:ln w="31251" cap="rnd">
              <a:solidFill>
                <a:srgbClr val="9A9A9A"/>
              </a:solidFill>
              <a:round/>
            </a:ln>
          </p:spPr>
        </p:sp>
        <p:sp>
          <p:nvSpPr>
            <p:cNvPr id="65" name="Flecha 89_2"/>
            <p:cNvSpPr/>
            <p:nvPr/>
          </p:nvSpPr>
          <p:spPr>
            <a:xfrm>
              <a:off x="10662775" y="3508532"/>
              <a:ext cx="137643" cy="334659"/>
            </a:xfrm>
            <a:custGeom>
              <a:avLst/>
              <a:gdLst/>
              <a:ahLst/>
              <a:cxnLst/>
              <a:rect l="0" t="0" r="r" b="b"/>
              <a:pathLst>
                <a:path w="150" h="365" fill="none">
                  <a:moveTo>
                    <a:pt x="0" y="365"/>
                  </a:moveTo>
                  <a:lnTo>
                    <a:pt x="150" y="0"/>
                  </a:lnTo>
                </a:path>
              </a:pathLst>
            </a:custGeom>
            <a:noFill/>
            <a:ln w="31251" cap="rnd">
              <a:solidFill>
                <a:srgbClr val="9A9A9A"/>
              </a:solidFill>
              <a:round/>
            </a:ln>
          </p:spPr>
        </p:sp>
        <p:sp>
          <p:nvSpPr>
            <p:cNvPr id="66" name="Átomo C_7"/>
            <p:cNvSpPr/>
            <p:nvPr/>
          </p:nvSpPr>
          <p:spPr>
            <a:xfrm>
              <a:off x="11279344" y="3575465"/>
              <a:ext cx="214524" cy="2145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7" name="Átomo C_8"/>
            <p:cNvSpPr/>
            <p:nvPr/>
          </p:nvSpPr>
          <p:spPr>
            <a:xfrm>
              <a:off x="10824245" y="4011735"/>
              <a:ext cx="214690" cy="2146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8" name="Átomo O_7"/>
            <p:cNvSpPr/>
            <p:nvPr/>
          </p:nvSpPr>
          <p:spPr>
            <a:xfrm>
              <a:off x="10699185" y="3407299"/>
              <a:ext cx="202465" cy="20246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9" name="Flecha 94_2"/>
            <p:cNvSpPr/>
            <p:nvPr/>
          </p:nvSpPr>
          <p:spPr>
            <a:xfrm>
              <a:off x="11386606" y="3682727"/>
              <a:ext cx="195151" cy="73198"/>
            </a:xfrm>
            <a:custGeom>
              <a:avLst/>
              <a:gdLst/>
              <a:ahLst/>
              <a:cxnLst/>
              <a:rect l="0" t="0" r="r" b="b"/>
              <a:pathLst>
                <a:path w="213" h="80" fill="none">
                  <a:moveTo>
                    <a:pt x="0" y="0"/>
                  </a:moveTo>
                  <a:lnTo>
                    <a:pt x="213" y="80"/>
                  </a:lnTo>
                </a:path>
              </a:pathLst>
            </a:custGeom>
            <a:noFill/>
            <a:ln w="31251" cap="rnd">
              <a:solidFill>
                <a:srgbClr val="9A9A9A"/>
              </a:solidFill>
              <a:round/>
            </a:ln>
          </p:spPr>
        </p:sp>
        <p:sp>
          <p:nvSpPr>
            <p:cNvPr id="70" name="Flecha 96_2"/>
            <p:cNvSpPr/>
            <p:nvPr/>
          </p:nvSpPr>
          <p:spPr>
            <a:xfrm>
              <a:off x="11110181" y="3484384"/>
              <a:ext cx="276425" cy="198343"/>
            </a:xfrm>
            <a:custGeom>
              <a:avLst/>
              <a:gdLst/>
              <a:ahLst/>
              <a:cxnLst/>
              <a:rect l="0" t="0" r="r" b="b"/>
              <a:pathLst>
                <a:path w="302" h="216" fill="none">
                  <a:moveTo>
                    <a:pt x="0" y="0"/>
                  </a:moveTo>
                  <a:lnTo>
                    <a:pt x="302" y="216"/>
                  </a:lnTo>
                </a:path>
              </a:pathLst>
            </a:custGeom>
            <a:noFill/>
            <a:ln w="31251" cap="rnd">
              <a:solidFill>
                <a:srgbClr val="9A9A9A"/>
              </a:solidFill>
              <a:round/>
            </a:ln>
          </p:spPr>
        </p:sp>
        <p:sp>
          <p:nvSpPr>
            <p:cNvPr id="71" name="Flecha 98_2"/>
            <p:cNvSpPr/>
            <p:nvPr/>
          </p:nvSpPr>
          <p:spPr>
            <a:xfrm>
              <a:off x="10800418" y="3484384"/>
              <a:ext cx="309763" cy="24148"/>
            </a:xfrm>
            <a:custGeom>
              <a:avLst/>
              <a:gdLst/>
              <a:ahLst/>
              <a:cxnLst/>
              <a:rect l="0" t="0" r="r" b="b"/>
              <a:pathLst>
                <a:path w="338" h="26" fill="none">
                  <a:moveTo>
                    <a:pt x="0" y="26"/>
                  </a:moveTo>
                  <a:lnTo>
                    <a:pt x="338" y="0"/>
                  </a:lnTo>
                </a:path>
              </a:pathLst>
            </a:custGeom>
            <a:noFill/>
            <a:ln w="31251" cap="rnd">
              <a:solidFill>
                <a:srgbClr val="9A9A9A"/>
              </a:solidFill>
              <a:round/>
            </a:ln>
          </p:spPr>
        </p:sp>
        <p:sp>
          <p:nvSpPr>
            <p:cNvPr id="72" name="Flecha 100_2"/>
            <p:cNvSpPr/>
            <p:nvPr/>
          </p:nvSpPr>
          <p:spPr>
            <a:xfrm>
              <a:off x="10392968" y="3843190"/>
              <a:ext cx="269806" cy="50860"/>
            </a:xfrm>
            <a:custGeom>
              <a:avLst/>
              <a:gdLst/>
              <a:ahLst/>
              <a:cxnLst/>
              <a:rect l="0" t="0" r="r" b="b"/>
              <a:pathLst>
                <a:path w="295" h="55" fill="none">
                  <a:moveTo>
                    <a:pt x="0" y="55"/>
                  </a:moveTo>
                  <a:lnTo>
                    <a:pt x="295" y="0"/>
                  </a:lnTo>
                </a:path>
              </a:pathLst>
            </a:custGeom>
            <a:noFill/>
            <a:ln w="31251" cap="rnd">
              <a:solidFill>
                <a:srgbClr val="9A9A9A"/>
              </a:solidFill>
              <a:round/>
            </a:ln>
          </p:spPr>
        </p:sp>
        <p:sp>
          <p:nvSpPr>
            <p:cNvPr id="73" name="Flecha 102_2"/>
            <p:cNvSpPr/>
            <p:nvPr/>
          </p:nvSpPr>
          <p:spPr>
            <a:xfrm>
              <a:off x="10931589" y="4119079"/>
              <a:ext cx="62458" cy="64038"/>
            </a:xfrm>
            <a:custGeom>
              <a:avLst/>
              <a:gdLst/>
              <a:ahLst/>
              <a:cxnLst/>
              <a:rect l="0" t="0" r="r" b="b"/>
              <a:pathLst>
                <a:path w="68" h="70" fill="none">
                  <a:moveTo>
                    <a:pt x="0" y="0"/>
                  </a:moveTo>
                  <a:lnTo>
                    <a:pt x="68" y="70"/>
                  </a:lnTo>
                </a:path>
              </a:pathLst>
            </a:custGeom>
            <a:noFill/>
            <a:ln w="31251" cap="rnd">
              <a:solidFill>
                <a:srgbClr val="9A9A9A"/>
              </a:solidFill>
              <a:round/>
            </a:ln>
          </p:spPr>
        </p:sp>
        <p:sp>
          <p:nvSpPr>
            <p:cNvPr id="74" name="Átomo H_13"/>
            <p:cNvSpPr/>
            <p:nvPr/>
          </p:nvSpPr>
          <p:spPr>
            <a:xfrm>
              <a:off x="11516111" y="3690279"/>
              <a:ext cx="131292" cy="13129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5" name="Átomo C_9"/>
            <p:cNvSpPr/>
            <p:nvPr/>
          </p:nvSpPr>
          <p:spPr>
            <a:xfrm>
              <a:off x="11000717" y="3374920"/>
              <a:ext cx="218929" cy="2189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6" name="Flecha 106_2"/>
            <p:cNvSpPr/>
            <p:nvPr/>
          </p:nvSpPr>
          <p:spPr>
            <a:xfrm>
              <a:off x="11110181" y="3217531"/>
              <a:ext cx="63740" cy="266853"/>
            </a:xfrm>
            <a:custGeom>
              <a:avLst/>
              <a:gdLst/>
              <a:ahLst/>
              <a:cxnLst/>
              <a:rect l="0" t="0" r="r" b="b"/>
              <a:pathLst>
                <a:path w="69" h="291" fill="none">
                  <a:moveTo>
                    <a:pt x="0" y="291"/>
                  </a:moveTo>
                  <a:lnTo>
                    <a:pt x="69" y="0"/>
                  </a:lnTo>
                </a:path>
              </a:pathLst>
            </a:custGeom>
            <a:noFill/>
            <a:ln w="31251" cap="rnd">
              <a:solidFill>
                <a:srgbClr val="9A9A9A"/>
              </a:solidFill>
              <a:round/>
            </a:ln>
          </p:spPr>
        </p:sp>
        <p:sp>
          <p:nvSpPr>
            <p:cNvPr id="77" name="Átomo H_14"/>
            <p:cNvSpPr/>
            <p:nvPr/>
          </p:nvSpPr>
          <p:spPr>
            <a:xfrm>
              <a:off x="11108196" y="3151806"/>
              <a:ext cx="131449" cy="13144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8" name="Átomo O_8"/>
            <p:cNvSpPr/>
            <p:nvPr/>
          </p:nvSpPr>
          <p:spPr>
            <a:xfrm>
              <a:off x="10005809" y="3583486"/>
              <a:ext cx="206608" cy="20660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9" name="Flecha 110_2"/>
            <p:cNvSpPr/>
            <p:nvPr/>
          </p:nvSpPr>
          <p:spPr>
            <a:xfrm>
              <a:off x="10109113" y="3686790"/>
              <a:ext cx="283855" cy="207261"/>
            </a:xfrm>
            <a:custGeom>
              <a:avLst/>
              <a:gdLst/>
              <a:ahLst/>
              <a:cxnLst/>
              <a:rect l="0" t="0" r="r" b="b"/>
              <a:pathLst>
                <a:path w="310" h="226" fill="none">
                  <a:moveTo>
                    <a:pt x="0" y="0"/>
                  </a:moveTo>
                  <a:lnTo>
                    <a:pt x="310" y="226"/>
                  </a:lnTo>
                </a:path>
              </a:pathLst>
            </a:custGeom>
            <a:noFill/>
            <a:ln w="31251" cap="rnd">
              <a:solidFill>
                <a:srgbClr val="9A9A9A"/>
              </a:solidFill>
              <a:round/>
            </a:ln>
          </p:spPr>
        </p:sp>
        <p:sp>
          <p:nvSpPr>
            <p:cNvPr id="80" name="Flecha 112_2"/>
            <p:cNvSpPr/>
            <p:nvPr/>
          </p:nvSpPr>
          <p:spPr>
            <a:xfrm>
              <a:off x="10305908" y="3894051"/>
              <a:ext cx="87060" cy="259257"/>
            </a:xfrm>
            <a:custGeom>
              <a:avLst/>
              <a:gdLst/>
              <a:ahLst/>
              <a:cxnLst/>
              <a:rect l="0" t="0" r="r" b="b"/>
              <a:pathLst>
                <a:path w="95" h="283" fill="none">
                  <a:moveTo>
                    <a:pt x="95" y="0"/>
                  </a:moveTo>
                  <a:lnTo>
                    <a:pt x="0" y="283"/>
                  </a:lnTo>
                </a:path>
              </a:pathLst>
            </a:custGeom>
            <a:noFill/>
            <a:ln w="31251" cap="rnd">
              <a:solidFill>
                <a:srgbClr val="9A9A9A"/>
              </a:solidFill>
              <a:round/>
            </a:ln>
          </p:spPr>
        </p:sp>
        <p:sp>
          <p:nvSpPr>
            <p:cNvPr id="81" name="Átomo C_10"/>
            <p:cNvSpPr/>
            <p:nvPr/>
          </p:nvSpPr>
          <p:spPr>
            <a:xfrm>
              <a:off x="10282580" y="3783662"/>
              <a:ext cx="220778" cy="2207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2" name="Átomo H_15"/>
            <p:cNvSpPr/>
            <p:nvPr/>
          </p:nvSpPr>
          <p:spPr>
            <a:xfrm>
              <a:off x="10239641" y="4087041"/>
              <a:ext cx="132534" cy="1325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3" name="Átomo H_16"/>
            <p:cNvSpPr/>
            <p:nvPr/>
          </p:nvSpPr>
          <p:spPr>
            <a:xfrm>
              <a:off x="10927768" y="4116839"/>
              <a:ext cx="132557" cy="13255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4" name="Flecha 117_2"/>
            <p:cNvSpPr/>
            <p:nvPr/>
          </p:nvSpPr>
          <p:spPr>
            <a:xfrm>
              <a:off x="9984091" y="3666620"/>
              <a:ext cx="125022" cy="20169"/>
            </a:xfrm>
            <a:custGeom>
              <a:avLst/>
              <a:gdLst/>
              <a:ahLst/>
              <a:cxnLst/>
              <a:rect l="0" t="0" r="r" b="b"/>
              <a:pathLst>
                <a:path w="136" h="22" fill="none">
                  <a:moveTo>
                    <a:pt x="136" y="22"/>
                  </a:moveTo>
                  <a:lnTo>
                    <a:pt x="0" y="0"/>
                  </a:lnTo>
                </a:path>
              </a:pathLst>
            </a:custGeom>
            <a:noFill/>
            <a:ln w="31251" cap="rnd">
              <a:solidFill>
                <a:srgbClr val="9A9A9A"/>
              </a:solidFill>
              <a:round/>
            </a:ln>
          </p:spPr>
        </p:sp>
        <p:sp>
          <p:nvSpPr>
            <p:cNvPr id="85" name="Flecha 119_2"/>
            <p:cNvSpPr/>
            <p:nvPr/>
          </p:nvSpPr>
          <p:spPr>
            <a:xfrm>
              <a:off x="11074710" y="3484384"/>
              <a:ext cx="35471" cy="109887"/>
            </a:xfrm>
            <a:custGeom>
              <a:avLst/>
              <a:gdLst/>
              <a:ahLst/>
              <a:cxnLst/>
              <a:rect l="0" t="0" r="r" b="b"/>
              <a:pathLst>
                <a:path w="38" h="120" fill="none">
                  <a:moveTo>
                    <a:pt x="38" y="0"/>
                  </a:moveTo>
                  <a:lnTo>
                    <a:pt x="0" y="120"/>
                  </a:lnTo>
                </a:path>
              </a:pathLst>
            </a:custGeom>
            <a:noFill/>
            <a:ln w="31251" cap="rnd">
              <a:solidFill>
                <a:srgbClr val="9A9A9A"/>
              </a:solidFill>
              <a:round/>
            </a:ln>
          </p:spPr>
        </p:sp>
        <p:sp>
          <p:nvSpPr>
            <p:cNvPr id="86" name="Flecha 121_2"/>
            <p:cNvSpPr/>
            <p:nvPr/>
          </p:nvSpPr>
          <p:spPr>
            <a:xfrm>
              <a:off x="10392968" y="3824677"/>
              <a:ext cx="93583" cy="69374"/>
            </a:xfrm>
            <a:custGeom>
              <a:avLst/>
              <a:gdLst/>
              <a:ahLst/>
              <a:cxnLst/>
              <a:rect l="0" t="0" r="r" b="b"/>
              <a:pathLst>
                <a:path w="102" h="75" fill="none">
                  <a:moveTo>
                    <a:pt x="0" y="75"/>
                  </a:moveTo>
                  <a:lnTo>
                    <a:pt x="102" y="0"/>
                  </a:lnTo>
                </a:path>
              </a:pathLst>
            </a:custGeom>
            <a:noFill/>
            <a:ln w="31251" cap="rnd">
              <a:solidFill>
                <a:srgbClr val="9A9A9A"/>
              </a:solidFill>
              <a:round/>
            </a:ln>
          </p:spPr>
        </p:sp>
        <p:sp>
          <p:nvSpPr>
            <p:cNvPr id="87" name="Átomo H_17"/>
            <p:cNvSpPr/>
            <p:nvPr/>
          </p:nvSpPr>
          <p:spPr>
            <a:xfrm>
              <a:off x="9916850" y="3599379"/>
              <a:ext cx="134482" cy="13448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8" name="Átomo H_18"/>
            <p:cNvSpPr/>
            <p:nvPr/>
          </p:nvSpPr>
          <p:spPr>
            <a:xfrm>
              <a:off x="10418531" y="3756657"/>
              <a:ext cx="136040" cy="1360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9" name="Átomo O_9"/>
            <p:cNvSpPr/>
            <p:nvPr/>
          </p:nvSpPr>
          <p:spPr>
            <a:xfrm>
              <a:off x="10967690" y="3487251"/>
              <a:ext cx="214039" cy="21403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0" name="Flecha 126_2"/>
            <p:cNvSpPr/>
            <p:nvPr/>
          </p:nvSpPr>
          <p:spPr>
            <a:xfrm>
              <a:off x="11074710" y="3498737"/>
              <a:ext cx="192594" cy="95534"/>
            </a:xfrm>
            <a:custGeom>
              <a:avLst/>
              <a:gdLst/>
              <a:ahLst/>
              <a:cxnLst/>
              <a:rect l="0" t="0" r="r" b="b"/>
              <a:pathLst>
                <a:path w="210" h="104" fill="none">
                  <a:moveTo>
                    <a:pt x="0" y="104"/>
                  </a:moveTo>
                  <a:lnTo>
                    <a:pt x="210" y="0"/>
                  </a:lnTo>
                </a:path>
              </a:pathLst>
            </a:custGeom>
            <a:noFill/>
            <a:ln w="31251" cap="rnd">
              <a:solidFill>
                <a:srgbClr val="9A9A9A"/>
              </a:solidFill>
              <a:round/>
            </a:ln>
          </p:spPr>
        </p:sp>
        <p:sp>
          <p:nvSpPr>
            <p:cNvPr id="91" name="Átomo H_19"/>
            <p:cNvSpPr/>
            <p:nvPr/>
          </p:nvSpPr>
          <p:spPr>
            <a:xfrm>
              <a:off x="11198294" y="3429727"/>
              <a:ext cx="138019" cy="13801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pic>
        <p:nvPicPr>
          <p:cNvPr id="92" name="Riñón" descr="Ilustración biomédica (Servier Medical Art, CC BY)"/>
          <p:cNvPicPr>
            <a:picLocks noChangeAspect="1"/>
          </p:cNvPicPr>
          <p:nvPr/>
        </p:nvPicPr>
        <p:blipFill>
          <a:blip r:embed="rId2"/>
          <a:stretch>
            <a:fillRect/>
          </a:stretch>
        </p:blipFill>
        <p:spPr>
          <a:xfrm>
            <a:off x="457200" y="4206240"/>
            <a:ext cx="1371600" cy="1996091"/>
          </a:xfrm>
          <a:prstGeom prst="rect">
            <a:avLst/>
          </a:prstGeom>
        </p:spPr>
      </p:pic>
      <p:grpSp>
        <p:nvGrpSpPr>
          <p:cNvPr id="93" name="Acetona"/>
          <p:cNvGrpSpPr/>
          <p:nvPr/>
        </p:nvGrpSpPr>
        <p:grpSpPr>
          <a:xfrm>
            <a:off x="91440" y="1376612"/>
            <a:ext cx="2011680" cy="1371993"/>
            <a:chOff x="91440" y="1376612"/>
            <a:chExt cx="2011680" cy="1371993"/>
          </a:xfrm>
        </p:grpSpPr>
        <p:sp>
          <p:nvSpPr>
            <p:cNvPr id="94" name="Átomo H_20"/>
            <p:cNvSpPr/>
            <p:nvPr/>
          </p:nvSpPr>
          <p:spPr>
            <a:xfrm>
              <a:off x="1235573" y="1943732"/>
              <a:ext cx="127640" cy="1276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5" name="Flecha 132_2"/>
            <p:cNvSpPr/>
            <p:nvPr/>
          </p:nvSpPr>
          <p:spPr>
            <a:xfrm>
              <a:off x="1299393" y="1962828"/>
              <a:ext cx="85106" cy="44724"/>
            </a:xfrm>
            <a:custGeom>
              <a:avLst/>
              <a:gdLst/>
              <a:ahLst/>
              <a:cxnLst/>
              <a:rect l="0" t="0" r="r" b="b"/>
              <a:pathLst>
                <a:path w="93" h="48" fill="none">
                  <a:moveTo>
                    <a:pt x="93" y="0"/>
                  </a:moveTo>
                  <a:lnTo>
                    <a:pt x="0" y="48"/>
                  </a:lnTo>
                </a:path>
              </a:pathLst>
            </a:custGeom>
            <a:noFill/>
            <a:ln w="32590" cap="rnd">
              <a:solidFill>
                <a:srgbClr val="9A9A9A"/>
              </a:solidFill>
              <a:round/>
            </a:ln>
          </p:spPr>
        </p:sp>
        <p:sp>
          <p:nvSpPr>
            <p:cNvPr id="96" name="Átomo H_21"/>
            <p:cNvSpPr/>
            <p:nvPr/>
          </p:nvSpPr>
          <p:spPr>
            <a:xfrm>
              <a:off x="582441" y="1940736"/>
              <a:ext cx="133622" cy="13362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7" name="Flecha 135_2"/>
            <p:cNvSpPr/>
            <p:nvPr/>
          </p:nvSpPr>
          <p:spPr>
            <a:xfrm>
              <a:off x="1384499" y="1802479"/>
              <a:ext cx="235719" cy="160349"/>
            </a:xfrm>
            <a:custGeom>
              <a:avLst/>
              <a:gdLst/>
              <a:ahLst/>
              <a:cxnLst/>
              <a:rect l="0" t="0" r="r" b="b"/>
              <a:pathLst>
                <a:path w="257" h="175" fill="none">
                  <a:moveTo>
                    <a:pt x="0" y="175"/>
                  </a:moveTo>
                  <a:lnTo>
                    <a:pt x="257" y="0"/>
                  </a:lnTo>
                </a:path>
              </a:pathLst>
            </a:custGeom>
            <a:noFill/>
            <a:ln w="32590" cap="rnd">
              <a:solidFill>
                <a:srgbClr val="9A9A9A"/>
              </a:solidFill>
              <a:round/>
            </a:ln>
          </p:spPr>
        </p:sp>
        <p:sp>
          <p:nvSpPr>
            <p:cNvPr id="98" name="Átomo H_22"/>
            <p:cNvSpPr/>
            <p:nvPr/>
          </p:nvSpPr>
          <p:spPr>
            <a:xfrm>
              <a:off x="1553063" y="1735324"/>
              <a:ext cx="134310" cy="13431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9" name="Átomo C_11"/>
            <p:cNvSpPr/>
            <p:nvPr/>
          </p:nvSpPr>
          <p:spPr>
            <a:xfrm>
              <a:off x="1272499" y="1850827"/>
              <a:ext cx="224001" cy="22400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0" name="Flecha 139_2"/>
            <p:cNvSpPr/>
            <p:nvPr/>
          </p:nvSpPr>
          <p:spPr>
            <a:xfrm>
              <a:off x="1384499" y="1962828"/>
              <a:ext cx="59201" cy="248010"/>
            </a:xfrm>
            <a:custGeom>
              <a:avLst/>
              <a:gdLst/>
              <a:ahLst/>
              <a:cxnLst/>
              <a:rect l="0" t="0" r="r" b="b"/>
              <a:pathLst>
                <a:path w="64" h="271" fill="none">
                  <a:moveTo>
                    <a:pt x="0" y="0"/>
                  </a:moveTo>
                  <a:lnTo>
                    <a:pt x="64" y="271"/>
                  </a:lnTo>
                </a:path>
              </a:pathLst>
            </a:custGeom>
            <a:noFill/>
            <a:ln w="32590" cap="rnd">
              <a:solidFill>
                <a:srgbClr val="9A9A9A"/>
              </a:solidFill>
              <a:round/>
            </a:ln>
          </p:spPr>
        </p:sp>
        <p:sp>
          <p:nvSpPr>
            <p:cNvPr id="101" name="Flecha 141_2"/>
            <p:cNvSpPr/>
            <p:nvPr/>
          </p:nvSpPr>
          <p:spPr>
            <a:xfrm>
              <a:off x="649252" y="1962828"/>
              <a:ext cx="107689" cy="44720"/>
            </a:xfrm>
            <a:custGeom>
              <a:avLst/>
              <a:gdLst/>
              <a:ahLst/>
              <a:cxnLst/>
              <a:rect l="0" t="0" r="r" b="b"/>
              <a:pathLst>
                <a:path w="117" h="48" fill="none">
                  <a:moveTo>
                    <a:pt x="117" y="0"/>
                  </a:moveTo>
                  <a:lnTo>
                    <a:pt x="0" y="48"/>
                  </a:lnTo>
                </a:path>
              </a:pathLst>
            </a:custGeom>
            <a:noFill/>
            <a:ln w="32590" cap="rnd">
              <a:solidFill>
                <a:srgbClr val="9A9A9A"/>
              </a:solidFill>
              <a:round/>
            </a:ln>
          </p:spPr>
        </p:sp>
        <p:sp>
          <p:nvSpPr>
            <p:cNvPr id="102" name="Flecha 143_2"/>
            <p:cNvSpPr/>
            <p:nvPr/>
          </p:nvSpPr>
          <p:spPr>
            <a:xfrm>
              <a:off x="1101413" y="1777525"/>
              <a:ext cx="283086" cy="185303"/>
            </a:xfrm>
            <a:custGeom>
              <a:avLst/>
              <a:gdLst/>
              <a:ahLst/>
              <a:cxnLst/>
              <a:rect l="0" t="0" r="r" b="b"/>
              <a:pathLst>
                <a:path w="309" h="202" fill="none">
                  <a:moveTo>
                    <a:pt x="0" y="0"/>
                  </a:moveTo>
                  <a:lnTo>
                    <a:pt x="309" y="202"/>
                  </a:lnTo>
                </a:path>
              </a:pathLst>
            </a:custGeom>
            <a:noFill/>
            <a:ln w="32590" cap="rnd">
              <a:solidFill>
                <a:srgbClr val="9A9A9A"/>
              </a:solidFill>
              <a:round/>
            </a:ln>
          </p:spPr>
        </p:sp>
        <p:sp>
          <p:nvSpPr>
            <p:cNvPr id="103" name="Átomo H_23"/>
            <p:cNvSpPr/>
            <p:nvPr/>
          </p:nvSpPr>
          <p:spPr>
            <a:xfrm>
              <a:off x="1374897" y="2142035"/>
              <a:ext cx="137605" cy="13760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4" name="Átomo C_12"/>
            <p:cNvSpPr/>
            <p:nvPr/>
          </p:nvSpPr>
          <p:spPr>
            <a:xfrm>
              <a:off x="985241" y="1661352"/>
              <a:ext cx="232346" cy="23234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5" name="Flecha 147_2"/>
            <p:cNvSpPr/>
            <p:nvPr/>
          </p:nvSpPr>
          <p:spPr>
            <a:xfrm>
              <a:off x="756941" y="1777525"/>
              <a:ext cx="344472" cy="185303"/>
            </a:xfrm>
            <a:custGeom>
              <a:avLst/>
              <a:gdLst/>
              <a:ahLst/>
              <a:cxnLst/>
              <a:rect l="0" t="0" r="r" b="b"/>
              <a:pathLst>
                <a:path w="376" h="202" fill="none">
                  <a:moveTo>
                    <a:pt x="0" y="202"/>
                  </a:moveTo>
                  <a:lnTo>
                    <a:pt x="376" y="0"/>
                  </a:lnTo>
                </a:path>
              </a:pathLst>
            </a:custGeom>
            <a:noFill/>
            <a:ln w="32590" cap="rnd">
              <a:solidFill>
                <a:srgbClr val="9A9A9A"/>
              </a:solidFill>
              <a:round/>
            </a:ln>
          </p:spPr>
        </p:sp>
        <p:sp>
          <p:nvSpPr>
            <p:cNvPr id="106" name="Átomo C_13"/>
            <p:cNvSpPr/>
            <p:nvPr/>
          </p:nvSpPr>
          <p:spPr>
            <a:xfrm>
              <a:off x="640129" y="1846015"/>
              <a:ext cx="233625" cy="23362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7" name="Flecha 150_2"/>
            <p:cNvSpPr/>
            <p:nvPr/>
          </p:nvSpPr>
          <p:spPr>
            <a:xfrm>
              <a:off x="1124563" y="1492576"/>
              <a:ext cx="47834" cy="288783"/>
            </a:xfrm>
            <a:custGeom>
              <a:avLst/>
              <a:gdLst/>
              <a:ahLst/>
              <a:cxnLst/>
              <a:rect l="0" t="0" r="r" b="b"/>
              <a:pathLst>
                <a:path w="52" h="315" fill="none">
                  <a:moveTo>
                    <a:pt x="0" y="315"/>
                  </a:moveTo>
                  <a:lnTo>
                    <a:pt x="52" y="0"/>
                  </a:lnTo>
                </a:path>
              </a:pathLst>
            </a:custGeom>
            <a:noFill/>
            <a:ln w="26072" cap="rnd">
              <a:solidFill>
                <a:srgbClr val="9A9A9A"/>
              </a:solidFill>
              <a:round/>
            </a:ln>
          </p:spPr>
        </p:sp>
        <p:sp>
          <p:nvSpPr>
            <p:cNvPr id="108" name="Flecha 152_2"/>
            <p:cNvSpPr/>
            <p:nvPr/>
          </p:nvSpPr>
          <p:spPr>
            <a:xfrm>
              <a:off x="1078263" y="1484907"/>
              <a:ext cx="47834" cy="288783"/>
            </a:xfrm>
            <a:custGeom>
              <a:avLst/>
              <a:gdLst/>
              <a:ahLst/>
              <a:cxnLst/>
              <a:rect l="0" t="0" r="r" b="b"/>
              <a:pathLst>
                <a:path w="52" h="315" fill="none">
                  <a:moveTo>
                    <a:pt x="0" y="315"/>
                  </a:moveTo>
                  <a:lnTo>
                    <a:pt x="52" y="0"/>
                  </a:lnTo>
                </a:path>
              </a:pathLst>
            </a:custGeom>
            <a:noFill/>
            <a:ln w="26072" cap="rnd">
              <a:solidFill>
                <a:srgbClr val="9A9A9A"/>
              </a:solidFill>
              <a:round/>
            </a:ln>
          </p:spPr>
        </p:sp>
        <p:sp>
          <p:nvSpPr>
            <p:cNvPr id="109" name="Flecha 154_2"/>
            <p:cNvSpPr/>
            <p:nvPr/>
          </p:nvSpPr>
          <p:spPr>
            <a:xfrm>
              <a:off x="756941" y="1962828"/>
              <a:ext cx="36619" cy="248012"/>
            </a:xfrm>
            <a:custGeom>
              <a:avLst/>
              <a:gdLst/>
              <a:ahLst/>
              <a:cxnLst/>
              <a:rect l="0" t="0" r="r" b="b"/>
              <a:pathLst>
                <a:path w="40" h="271" fill="none">
                  <a:moveTo>
                    <a:pt x="0" y="0"/>
                  </a:moveTo>
                  <a:lnTo>
                    <a:pt x="40" y="271"/>
                  </a:lnTo>
                </a:path>
              </a:pathLst>
            </a:custGeom>
            <a:noFill/>
            <a:ln w="32590" cap="rnd">
              <a:solidFill>
                <a:srgbClr val="9A9A9A"/>
              </a:solidFill>
              <a:round/>
            </a:ln>
          </p:spPr>
        </p:sp>
        <p:sp>
          <p:nvSpPr>
            <p:cNvPr id="110" name="Flecha 156_2"/>
            <p:cNvSpPr/>
            <p:nvPr/>
          </p:nvSpPr>
          <p:spPr>
            <a:xfrm>
              <a:off x="574342" y="1802481"/>
              <a:ext cx="182599" cy="160347"/>
            </a:xfrm>
            <a:custGeom>
              <a:avLst/>
              <a:gdLst/>
              <a:ahLst/>
              <a:cxnLst/>
              <a:rect l="0" t="0" r="r" b="b"/>
              <a:pathLst>
                <a:path w="199" h="175" fill="none">
                  <a:moveTo>
                    <a:pt x="199" y="175"/>
                  </a:moveTo>
                  <a:lnTo>
                    <a:pt x="0" y="0"/>
                  </a:lnTo>
                </a:path>
              </a:pathLst>
            </a:custGeom>
            <a:noFill/>
            <a:ln w="32590" cap="rnd">
              <a:solidFill>
                <a:srgbClr val="9A9A9A"/>
              </a:solidFill>
              <a:round/>
            </a:ln>
          </p:spPr>
        </p:sp>
        <p:sp>
          <p:nvSpPr>
            <p:cNvPr id="111" name="Átomo O_10"/>
            <p:cNvSpPr/>
            <p:nvPr/>
          </p:nvSpPr>
          <p:spPr>
            <a:xfrm>
              <a:off x="1037117" y="1376612"/>
              <a:ext cx="224260" cy="22426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12" name="Átomo H_24"/>
            <p:cNvSpPr/>
            <p:nvPr/>
          </p:nvSpPr>
          <p:spPr>
            <a:xfrm>
              <a:off x="721766" y="2139046"/>
              <a:ext cx="143587" cy="14358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3" name="Átomo H_25"/>
            <p:cNvSpPr/>
            <p:nvPr/>
          </p:nvSpPr>
          <p:spPr>
            <a:xfrm>
              <a:off x="502375" y="1730514"/>
              <a:ext cx="143934" cy="1439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4" name="Forma 161"/>
            <p:cNvSpPr txBox="1"/>
            <p:nvPr/>
          </p:nvSpPr>
          <p:spPr>
            <a:xfrm>
              <a:off x="91440" y="2437709"/>
              <a:ext cx="201168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Acetona</a:t>
              </a:r>
              <a:endParaRPr lang="es-AR" sz="1300" dirty="0">
                <a:latin typeface="Fira Sans Condensed"/>
              </a:endParaRPr>
            </a:p>
          </p:txBody>
        </p:sp>
      </p:grpSp>
      <p:sp>
        <p:nvSpPr>
          <p:cNvPr id="1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12191695" cy="3429000"/>
          </a:xfrm>
          <a:prstGeom prst="rect">
            <a:avLst/>
          </a:prstGeom>
          <a:solidFill>
            <a:srgbClr val="00B0F0"/>
          </a:solidFill>
          <a:ln>
            <a:noFill/>
          </a:ln>
        </p:spPr>
      </p:sp>
      <p:sp>
        <p:nvSpPr>
          <p:cNvPr id="3" name="!!Fondo 2"/>
          <p:cNvSpPr/>
          <p:nvPr/>
        </p:nvSpPr>
        <p:spPr>
          <a:xfrm>
            <a:off x="0" y="3429000"/>
            <a:ext cx="12191695" cy="3429000"/>
          </a:xfrm>
          <a:prstGeom prst="rect">
            <a:avLst/>
          </a:prstGeom>
          <a:solidFill>
            <a:srgbClr val="F8CBAD"/>
          </a:solidFill>
          <a:ln>
            <a:noFill/>
          </a:ln>
        </p:spPr>
      </p:sp>
      <p:sp>
        <p:nvSpPr>
          <p:cNvPr id="6" name="Flecha st→hg"/>
          <p:cNvSpPr/>
          <p:nvPr/>
        </p:nvSpPr>
        <p:spPr>
          <a:xfrm>
            <a:off x="6080760" y="16367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7" name="Flecha hg→L0"/>
          <p:cNvSpPr/>
          <p:nvPr/>
        </p:nvSpPr>
        <p:spPr>
          <a:xfrm>
            <a:off x="2743200" y="2395728"/>
            <a:ext cx="1463040" cy="219456"/>
          </a:xfrm>
          <a:custGeom>
            <a:avLst/>
            <a:gdLst/>
            <a:ahLst/>
            <a:cxnLst/>
            <a:rect l="0" t="0" r="r" b="b"/>
            <a:pathLst>
              <a:path w="1599" h="239" fill="none">
                <a:moveTo>
                  <a:pt x="1599" y="0"/>
                </a:moveTo>
                <a:lnTo>
                  <a:pt x="0" y="239"/>
                </a:lnTo>
              </a:path>
            </a:pathLst>
          </a:custGeom>
          <a:noFill/>
          <a:ln w="28575" cap="rnd">
            <a:solidFill>
              <a:srgbClr val="1E1E1E"/>
            </a:solidFill>
            <a:round/>
            <a:tailEnd type="triangle" w="med" len="med"/>
          </a:ln>
        </p:spPr>
      </p:sp>
      <p:sp>
        <p:nvSpPr>
          <p:cNvPr id="8" name="Flecha hg→R0"/>
          <p:cNvSpPr/>
          <p:nvPr/>
        </p:nvSpPr>
        <p:spPr>
          <a:xfrm>
            <a:off x="7955280" y="2395728"/>
            <a:ext cx="1463040" cy="219456"/>
          </a:xfrm>
          <a:custGeom>
            <a:avLst/>
            <a:gdLst/>
            <a:ahLst/>
            <a:cxnLst/>
            <a:rect l="0" t="0" r="r" b="b"/>
            <a:pathLst>
              <a:path w="1600" h="239" fill="none">
                <a:moveTo>
                  <a:pt x="0" y="0"/>
                </a:moveTo>
                <a:lnTo>
                  <a:pt x="1600" y="239"/>
                </a:lnTo>
              </a:path>
            </a:pathLst>
          </a:custGeom>
          <a:noFill/>
          <a:ln w="28575" cap="rnd">
            <a:solidFill>
              <a:srgbClr val="1E1E1E"/>
            </a:solidFill>
            <a:round/>
            <a:tailEnd type="triangle" w="med" len="med"/>
          </a:ln>
        </p:spPr>
      </p:sp>
      <p:sp>
        <p:nvSpPr>
          <p:cNvPr id="9" name="Flecha L0→L1"/>
          <p:cNvSpPr/>
          <p:nvPr/>
        </p:nvSpPr>
        <p:spPr>
          <a:xfrm>
            <a:off x="2331720" y="32369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0" name="Flecha L1→L2"/>
          <p:cNvSpPr/>
          <p:nvPr/>
        </p:nvSpPr>
        <p:spPr>
          <a:xfrm>
            <a:off x="2331720" y="3968496"/>
            <a:ext cx="9144" cy="109728"/>
          </a:xfrm>
          <a:custGeom>
            <a:avLst/>
            <a:gdLst/>
            <a:ahLst/>
            <a:cxnLst/>
            <a:rect l="0" t="0" r="r" b="b"/>
            <a:pathLst>
              <a:path w="10" h="120" fill="none">
                <a:moveTo>
                  <a:pt x="0" y="0"/>
                </a:moveTo>
                <a:lnTo>
                  <a:pt x="0" y="120"/>
                </a:lnTo>
              </a:path>
            </a:pathLst>
          </a:custGeom>
          <a:noFill/>
          <a:ln w="28575" cap="rnd">
            <a:solidFill>
              <a:srgbClr val="1E1E1E"/>
            </a:solidFill>
            <a:round/>
            <a:tailEnd type="triangle" w="med" len="med"/>
          </a:ln>
        </p:spPr>
      </p:sp>
      <p:sp>
        <p:nvSpPr>
          <p:cNvPr id="11" name="Flecha L2→L3"/>
          <p:cNvSpPr/>
          <p:nvPr/>
        </p:nvSpPr>
        <p:spPr>
          <a:xfrm>
            <a:off x="2331720" y="4654296"/>
            <a:ext cx="9144" cy="109728"/>
          </a:xfrm>
          <a:custGeom>
            <a:avLst/>
            <a:gdLst/>
            <a:ahLst/>
            <a:cxnLst/>
            <a:rect l="0" t="0" r="r" b="b"/>
            <a:pathLst>
              <a:path w="10" h="120" fill="none">
                <a:moveTo>
                  <a:pt x="0" y="0"/>
                </a:moveTo>
                <a:lnTo>
                  <a:pt x="0" y="120"/>
                </a:lnTo>
              </a:path>
            </a:pathLst>
          </a:custGeom>
          <a:noFill/>
          <a:ln w="28575" cap="rnd">
            <a:solidFill>
              <a:srgbClr val="1E1E1E"/>
            </a:solidFill>
            <a:round/>
            <a:tailEnd type="triangle" w="med" len="med"/>
          </a:ln>
        </p:spPr>
      </p:sp>
      <p:sp>
        <p:nvSpPr>
          <p:cNvPr id="12" name="Flecha L3→L4"/>
          <p:cNvSpPr/>
          <p:nvPr/>
        </p:nvSpPr>
        <p:spPr>
          <a:xfrm>
            <a:off x="2331720" y="5340096"/>
            <a:ext cx="9144" cy="201168"/>
          </a:xfrm>
          <a:custGeom>
            <a:avLst/>
            <a:gdLst/>
            <a:ahLst/>
            <a:cxnLst/>
            <a:rect l="0" t="0" r="r" b="b"/>
            <a:pathLst>
              <a:path w="10" h="219" fill="none">
                <a:moveTo>
                  <a:pt x="0" y="0"/>
                </a:moveTo>
                <a:lnTo>
                  <a:pt x="0" y="219"/>
                </a:lnTo>
              </a:path>
            </a:pathLst>
          </a:custGeom>
          <a:noFill/>
          <a:ln w="28575" cap="rnd">
            <a:solidFill>
              <a:srgbClr val="1E1E1E"/>
            </a:solidFill>
            <a:round/>
            <a:tailEnd type="triangle" w="med" len="med"/>
          </a:ln>
        </p:spPr>
      </p:sp>
      <p:sp>
        <p:nvSpPr>
          <p:cNvPr id="13" name="Flecha R0→R1"/>
          <p:cNvSpPr/>
          <p:nvPr/>
        </p:nvSpPr>
        <p:spPr>
          <a:xfrm>
            <a:off x="9875520" y="32369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4" name="Flecha R1→R2"/>
          <p:cNvSpPr/>
          <p:nvPr/>
        </p:nvSpPr>
        <p:spPr>
          <a:xfrm>
            <a:off x="9875520" y="3968496"/>
            <a:ext cx="9144" cy="109728"/>
          </a:xfrm>
          <a:custGeom>
            <a:avLst/>
            <a:gdLst/>
            <a:ahLst/>
            <a:cxnLst/>
            <a:rect l="0" t="0" r="r" b="b"/>
            <a:pathLst>
              <a:path w="10" h="120" fill="none">
                <a:moveTo>
                  <a:pt x="0" y="0"/>
                </a:moveTo>
                <a:lnTo>
                  <a:pt x="0" y="120"/>
                </a:lnTo>
              </a:path>
            </a:pathLst>
          </a:custGeom>
          <a:noFill/>
          <a:ln w="28575" cap="rnd">
            <a:solidFill>
              <a:srgbClr val="1E1E1E"/>
            </a:solidFill>
            <a:round/>
            <a:tailEnd type="triangle" w="med" len="med"/>
          </a:ln>
        </p:spPr>
      </p:sp>
      <p:sp>
        <p:nvSpPr>
          <p:cNvPr id="15" name="Flecha R2→R3"/>
          <p:cNvSpPr/>
          <p:nvPr/>
        </p:nvSpPr>
        <p:spPr>
          <a:xfrm>
            <a:off x="9875520" y="4654296"/>
            <a:ext cx="9144" cy="109728"/>
          </a:xfrm>
          <a:custGeom>
            <a:avLst/>
            <a:gdLst/>
            <a:ahLst/>
            <a:cxnLst/>
            <a:rect l="0" t="0" r="r" b="b"/>
            <a:pathLst>
              <a:path w="10" h="120" fill="none">
                <a:moveTo>
                  <a:pt x="0" y="0"/>
                </a:moveTo>
                <a:lnTo>
                  <a:pt x="0" y="120"/>
                </a:lnTo>
              </a:path>
            </a:pathLst>
          </a:custGeom>
          <a:noFill/>
          <a:ln w="28575" cap="rnd">
            <a:solidFill>
              <a:srgbClr val="1E1E1E"/>
            </a:solidFill>
            <a:round/>
            <a:tailEnd type="triangle" w="med" len="med"/>
          </a:ln>
        </p:spPr>
      </p:sp>
      <p:sp>
        <p:nvSpPr>
          <p:cNvPr id="16" name="Flecha R3→R4"/>
          <p:cNvSpPr/>
          <p:nvPr/>
        </p:nvSpPr>
        <p:spPr>
          <a:xfrm>
            <a:off x="9875520" y="5340096"/>
            <a:ext cx="9144" cy="201168"/>
          </a:xfrm>
          <a:custGeom>
            <a:avLst/>
            <a:gdLst/>
            <a:ahLst/>
            <a:cxnLst/>
            <a:rect l="0" t="0" r="r" b="b"/>
            <a:pathLst>
              <a:path w="10" h="219" fill="none">
                <a:moveTo>
                  <a:pt x="0" y="0"/>
                </a:moveTo>
                <a:lnTo>
                  <a:pt x="0" y="219"/>
                </a:lnTo>
              </a:path>
            </a:pathLst>
          </a:custGeom>
          <a:noFill/>
          <a:ln w="28575" cap="rnd">
            <a:solidFill>
              <a:srgbClr val="1E1E1E"/>
            </a:solidFill>
            <a:round/>
            <a:tailEnd type="triangle" w="med" len="med"/>
          </a:ln>
        </p:spPr>
      </p:sp>
      <p:sp>
        <p:nvSpPr>
          <p:cNvPr id="17" name="Flecha L2→mx"/>
          <p:cNvSpPr/>
          <p:nvPr/>
        </p:nvSpPr>
        <p:spPr>
          <a:xfrm>
            <a:off x="4334256" y="4366260"/>
            <a:ext cx="292608" cy="297180"/>
          </a:xfrm>
          <a:custGeom>
            <a:avLst/>
            <a:gdLst/>
            <a:ahLst/>
            <a:cxnLst/>
            <a:rect l="0" t="0" r="r" b="b"/>
            <a:pathLst>
              <a:path w="319" h="324" fill="none">
                <a:moveTo>
                  <a:pt x="0" y="0"/>
                </a:moveTo>
                <a:lnTo>
                  <a:pt x="319" y="324"/>
                </a:lnTo>
              </a:path>
            </a:pathLst>
          </a:custGeom>
          <a:noFill/>
          <a:ln w="28575" cap="rnd">
            <a:solidFill>
              <a:srgbClr val="2563B0"/>
            </a:solidFill>
            <a:prstDash val="dash"/>
            <a:round/>
            <a:tailEnd type="triangle" w="med" len="med"/>
          </a:ln>
        </p:spPr>
      </p:sp>
      <p:sp>
        <p:nvSpPr>
          <p:cNvPr id="18" name="Flecha R3→mx"/>
          <p:cNvSpPr/>
          <p:nvPr/>
        </p:nvSpPr>
        <p:spPr>
          <a:xfrm>
            <a:off x="7580376" y="4663440"/>
            <a:ext cx="292608" cy="388620"/>
          </a:xfrm>
          <a:custGeom>
            <a:avLst/>
            <a:gdLst/>
            <a:ahLst/>
            <a:cxnLst/>
            <a:rect l="0" t="0" r="r" b="b"/>
            <a:pathLst>
              <a:path w="320" h="425" fill="none">
                <a:moveTo>
                  <a:pt x="320" y="425"/>
                </a:moveTo>
                <a:lnTo>
                  <a:pt x="0" y="0"/>
                </a:lnTo>
              </a:path>
            </a:pathLst>
          </a:custGeom>
          <a:noFill/>
          <a:ln w="28575" cap="rnd">
            <a:solidFill>
              <a:srgbClr val="2563B0"/>
            </a:solidFill>
            <a:prstDash val="dash"/>
            <a:round/>
            <a:tailEnd type="triangle" w="med" len="med"/>
          </a:ln>
        </p:spPr>
      </p:sp>
      <p:sp>
        <p:nvSpPr>
          <p:cNvPr id="19" name="Nodo st"/>
          <p:cNvSpPr/>
          <p:nvPr/>
        </p:nvSpPr>
        <p:spPr>
          <a:xfrm>
            <a:off x="3566160" y="1051560"/>
            <a:ext cx="50292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Déficit de acción insulínica + hormonas contrarreguladoras</a:t>
            </a:r>
            <a:endParaRPr lang="es-AR" sz="1350" dirty="0">
              <a:latin typeface="Fira Sans Condensed"/>
            </a:endParaRPr>
          </a:p>
        </p:txBody>
      </p:sp>
      <p:sp>
        <p:nvSpPr>
          <p:cNvPr id="20" name="Nodo hg"/>
          <p:cNvSpPr/>
          <p:nvPr/>
        </p:nvSpPr>
        <p:spPr>
          <a:xfrm>
            <a:off x="3566160" y="1828800"/>
            <a:ext cx="5029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PHG ↑ + CAPTACIÓN ↓ → HIPERGLUCEMIA</a:t>
            </a:r>
            <a:endParaRPr lang="es-AR" sz="1400" dirty="0">
              <a:latin typeface="Fira Sans Condensed"/>
            </a:endParaRPr>
          </a:p>
        </p:txBody>
      </p:sp>
      <p:sp>
        <p:nvSpPr>
          <p:cNvPr id="21" name="Nodo L0"/>
          <p:cNvSpPr/>
          <p:nvPr/>
        </p:nvSpPr>
        <p:spPr>
          <a:xfrm>
            <a:off x="365760" y="2651760"/>
            <a:ext cx="39319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INSULINOPENIA MARCADA</a:t>
            </a:r>
            <a:endParaRPr lang="es-AR" sz="1500" dirty="0">
              <a:latin typeface="Fira Sans Condensed"/>
            </a:endParaRPr>
          </a:p>
        </p:txBody>
      </p:sp>
      <p:sp>
        <p:nvSpPr>
          <p:cNvPr id="22" name="Nodo L1"/>
          <p:cNvSpPr/>
          <p:nvPr/>
        </p:nvSpPr>
        <p:spPr>
          <a:xfrm>
            <a:off x="365760" y="34290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Lipólisis sin freno → AGNE ↑↑</a:t>
            </a:r>
            <a:endParaRPr lang="es-AR" sz="1350" dirty="0">
              <a:latin typeface="Fira Sans Condensed"/>
            </a:endParaRPr>
          </a:p>
        </p:txBody>
      </p:sp>
      <p:sp>
        <p:nvSpPr>
          <p:cNvPr id="23" name="Nodo L2"/>
          <p:cNvSpPr/>
          <p:nvPr/>
        </p:nvSpPr>
        <p:spPr>
          <a:xfrm>
            <a:off x="365760" y="41148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β-oxidación → cetogénesis (HMGCS2)</a:t>
            </a:r>
            <a:endParaRPr lang="es-AR" sz="1300" dirty="0">
              <a:latin typeface="Fira Sans Condensed"/>
            </a:endParaRPr>
          </a:p>
        </p:txBody>
      </p:sp>
      <p:sp>
        <p:nvSpPr>
          <p:cNvPr id="24" name="Nodo L3"/>
          <p:cNvSpPr/>
          <p:nvPr/>
        </p:nvSpPr>
        <p:spPr>
          <a:xfrm>
            <a:off x="365760" y="48006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Cetoácidos → HCO₃⁻ ↓ → acidemia</a:t>
            </a:r>
            <a:endParaRPr lang="es-AR" sz="1300" dirty="0">
              <a:latin typeface="Fira Sans Condensed"/>
            </a:endParaRPr>
          </a:p>
        </p:txBody>
      </p:sp>
      <p:sp>
        <p:nvSpPr>
          <p:cNvPr id="25" name="Nodo L4"/>
          <p:cNvSpPr/>
          <p:nvPr/>
        </p:nvSpPr>
        <p:spPr>
          <a:xfrm>
            <a:off x="365760" y="5577840"/>
            <a:ext cx="393192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800" b="1" dirty="0">
                <a:solidFill>
                  <a:srgbClr val="C00000"/>
                </a:solidFill>
                <a:latin typeface="Fira Sans Condensed"/>
                <a:ea typeface="Fira Sans Condensed"/>
                <a:cs typeface="Fira Sans Condensed"/>
                <a:sym typeface="Fira Sans Condensed"/>
              </a:rPr>
              <a:t>CETOACIDOSIS DIABÉTICA</a:t>
            </a:r>
            <a:endParaRPr lang="es-AR" sz="1800" dirty="0">
              <a:latin typeface="Fira Sans Condensed"/>
            </a:endParaRPr>
          </a:p>
        </p:txBody>
      </p:sp>
      <p:sp>
        <p:nvSpPr>
          <p:cNvPr id="26" name="Nodo R0"/>
          <p:cNvSpPr/>
          <p:nvPr/>
        </p:nvSpPr>
        <p:spPr>
          <a:xfrm>
            <a:off x="7909560" y="2651760"/>
            <a:ext cx="393192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ACCIÓN INSULÍNICA RESIDUAL</a:t>
            </a:r>
            <a:endParaRPr lang="es-AR" sz="1500" dirty="0">
              <a:latin typeface="Fira Sans Condensed"/>
            </a:endParaRPr>
          </a:p>
        </p:txBody>
      </p:sp>
      <p:sp>
        <p:nvSpPr>
          <p:cNvPr id="27" name="Nodo R1"/>
          <p:cNvSpPr/>
          <p:nvPr/>
        </p:nvSpPr>
        <p:spPr>
          <a:xfrm>
            <a:off x="7909560" y="34290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Lipólisis frenada → cetogénesis limitada</a:t>
            </a:r>
            <a:endParaRPr lang="es-AR" sz="1250" dirty="0">
              <a:latin typeface="Fira Sans Condensed"/>
            </a:endParaRPr>
          </a:p>
        </p:txBody>
      </p:sp>
      <p:sp>
        <p:nvSpPr>
          <p:cNvPr id="28" name="Nodo R2"/>
          <p:cNvSpPr/>
          <p:nvPr/>
        </p:nvSpPr>
        <p:spPr>
          <a:xfrm>
            <a:off x="7909560" y="41148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Hiperglucemia prolongada (días) · glucosuria</a:t>
            </a:r>
            <a:endParaRPr lang="es-AR" sz="1250" dirty="0">
              <a:latin typeface="Fira Sans Condensed"/>
            </a:endParaRPr>
          </a:p>
        </p:txBody>
      </p:sp>
      <p:sp>
        <p:nvSpPr>
          <p:cNvPr id="29" name="Nodo R3"/>
          <p:cNvSpPr/>
          <p:nvPr/>
        </p:nvSpPr>
        <p:spPr>
          <a:xfrm>
            <a:off x="7909560" y="480060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Pérdida de agua libre → hiperosmolalidad</a:t>
            </a:r>
            <a:endParaRPr lang="es-AR" sz="1250" dirty="0">
              <a:latin typeface="Fira Sans Condensed"/>
            </a:endParaRPr>
          </a:p>
        </p:txBody>
      </p:sp>
      <p:sp>
        <p:nvSpPr>
          <p:cNvPr id="30" name="Nodo R4"/>
          <p:cNvSpPr/>
          <p:nvPr/>
        </p:nvSpPr>
        <p:spPr>
          <a:xfrm>
            <a:off x="7909560" y="5577840"/>
            <a:ext cx="393192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EHH SIN CETOSIS MARCADA</a:t>
            </a:r>
            <a:endParaRPr lang="es-AR" sz="1700" dirty="0">
              <a:latin typeface="Fira Sans Condensed"/>
            </a:endParaRPr>
          </a:p>
        </p:txBody>
      </p:sp>
      <p:sp>
        <p:nvSpPr>
          <p:cNvPr id="31" name="Nodo mx"/>
          <p:cNvSpPr/>
          <p:nvPr/>
        </p:nvSpPr>
        <p:spPr>
          <a:xfrm>
            <a:off x="4663440" y="3931920"/>
            <a:ext cx="2880360" cy="146304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Formas MIXTAS: cetosis + hiperosmolalidad</a:t>
            </a:r>
            <a:endParaRPr lang="es-AR" sz="1350" dirty="0">
              <a:latin typeface="Fira Sans Condensed"/>
            </a:endParaRPr>
          </a:p>
        </p:txBody>
      </p:sp>
      <p:sp>
        <p:nvSpPr>
          <p:cNvPr id="4"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UN MAPA, DOS CAMINOS: LA ACCIÓN INSULÍNICA RESIDUAL DECIDE</a:t>
            </a:r>
            <a:endParaRPr lang="es-AR" sz="2400" dirty="0">
              <a:latin typeface="Permanent Marker"/>
            </a:endParaRPr>
          </a:p>
        </p:txBody>
      </p:sp>
      <p:sp>
        <p:nvSpPr>
          <p:cNvPr id="5"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up)">
                                      <p:cBhvr>
                                        <p:cTn id="9" dur="500"/>
                                        <p:tgtEl>
                                          <p:spTgt spid="6"/>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par>
                    <p:cTn id="32" fill="hold">
                      <p:stCondLst>
                        <p:cond delay="indefinite"/>
                      </p:stCondLst>
                      <p:childTnLst>
                        <p:par>
                          <p:cTn id="19"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par>
                          <p:cTn id="27" fill="hold">
                            <p:stCondLst>
                              <p:cond delay="90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31" fill="hold">
                            <p:stCondLst>
                              <p:cond delay="1400"/>
                            </p:stCondLst>
                            <p:childTnLst>
                              <p:par>
                                <p:cTn id="28" presetID="10" presetClass="entr" presetSubtype="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par>
                    <p:cTn id="65" fill="hold">
                      <p:stCondLst>
                        <p:cond delay="indefinite"/>
                      </p:stCondLst>
                      <p:childTnLst>
                        <p:par>
                          <p:cTn id="36"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par>
                          <p:cTn id="40"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childTnLst>
                          </p:cTn>
                        </p:par>
                        <p:par>
                          <p:cTn id="44" fill="hold">
                            <p:stCondLst>
                              <p:cond delay="900"/>
                            </p:stCondLst>
                            <p:childTnLst>
                              <p:par>
                                <p:cTn id="41" presetID="22" presetClass="entr" presetSubtype="1"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par>
                          <p:cTn id="48" fill="hold">
                            <p:stCondLst>
                              <p:cond delay="1400"/>
                            </p:stCondLst>
                            <p:childTnLst>
                              <p:par>
                                <p:cTn id="45" presetID="10"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par>
                          <p:cTn id="52" fill="hold">
                            <p:stCondLst>
                              <p:cond delay="1800"/>
                            </p:stCondLst>
                            <p:childTnLst>
                              <p:par>
                                <p:cTn id="49" presetID="22" presetClass="entr" presetSubtype="1"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up)">
                                      <p:cBhvr>
                                        <p:cTn id="51" dur="500"/>
                                        <p:tgtEl>
                                          <p:spTgt spid="11"/>
                                        </p:tgtEl>
                                      </p:cBhvr>
                                    </p:animEffect>
                                  </p:childTnLst>
                                </p:cTn>
                              </p:par>
                            </p:childTnLst>
                          </p:cTn>
                        </p:par>
                        <p:par>
                          <p:cTn id="56" fill="hold">
                            <p:stCondLst>
                              <p:cond delay="2300"/>
                            </p:stCondLst>
                            <p:childTnLst>
                              <p:par>
                                <p:cTn id="53" presetID="10"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childTnLst>
                          </p:cTn>
                        </p:par>
                        <p:par>
                          <p:cTn id="60" fill="hold">
                            <p:stCondLst>
                              <p:cond delay="2700"/>
                            </p:stCondLst>
                            <p:childTnLst>
                              <p:par>
                                <p:cTn id="57" presetID="22" presetClass="entr" presetSubtype="1" fill="hold" grpId="0" nodeType="after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up)">
                                      <p:cBhvr>
                                        <p:cTn id="59" dur="500"/>
                                        <p:tgtEl>
                                          <p:spTgt spid="12"/>
                                        </p:tgtEl>
                                      </p:cBhvr>
                                    </p:animEffect>
                                  </p:childTnLst>
                                </p:cTn>
                              </p:par>
                            </p:childTnLst>
                          </p:cTn>
                        </p:par>
                        <p:par>
                          <p:cTn id="64" fill="hold">
                            <p:stCondLst>
                              <p:cond delay="3200"/>
                            </p:stCondLst>
                            <p:childTnLst>
                              <p:par>
                                <p:cTn id="61" presetID="10" presetClass="entr" presetSubtype="0"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childTnLst>
                          </p:cTn>
                        </p:par>
                      </p:childTnLst>
                    </p:cTn>
                  </p:par>
                  <p:par>
                    <p:cTn id="98" fill="hold">
                      <p:stCondLst>
                        <p:cond delay="indefinite"/>
                      </p:stCondLst>
                      <p:childTnLst>
                        <p:par>
                          <p:cTn id="69"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up)">
                                      <p:cBhvr>
                                        <p:cTn id="68" dur="500"/>
                                        <p:tgtEl>
                                          <p:spTgt spid="13"/>
                                        </p:tgtEl>
                                      </p:cBhvr>
                                    </p:animEffect>
                                  </p:childTnLst>
                                </p:cTn>
                              </p:par>
                            </p:childTnLst>
                          </p:cTn>
                        </p:par>
                        <p:par>
                          <p:cTn id="73"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00"/>
                                        <p:tgtEl>
                                          <p:spTgt spid="27"/>
                                        </p:tgtEl>
                                      </p:cBhvr>
                                    </p:animEffect>
                                  </p:childTnLst>
                                </p:cTn>
                              </p:par>
                            </p:childTnLst>
                          </p:cTn>
                        </p:par>
                        <p:par>
                          <p:cTn id="77" fill="hold">
                            <p:stCondLst>
                              <p:cond delay="900"/>
                            </p:stCondLst>
                            <p:childTnLst>
                              <p:par>
                                <p:cTn id="74" presetID="22" presetClass="entr" presetSubtype="1" fill="hold" grpId="0" nodeType="after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wipe(up)">
                                      <p:cBhvr>
                                        <p:cTn id="76" dur="500"/>
                                        <p:tgtEl>
                                          <p:spTgt spid="14"/>
                                        </p:tgtEl>
                                      </p:cBhvr>
                                    </p:animEffect>
                                  </p:childTnLst>
                                </p:cTn>
                              </p:par>
                            </p:childTnLst>
                          </p:cTn>
                        </p:par>
                        <p:par>
                          <p:cTn id="81" fill="hold">
                            <p:stCondLst>
                              <p:cond delay="1400"/>
                            </p:stCondLst>
                            <p:childTnLst>
                              <p:par>
                                <p:cTn id="78" presetID="10" presetClass="entr" presetSubtype="0" fill="hold" grpId="0" nodeType="after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00"/>
                                        <p:tgtEl>
                                          <p:spTgt spid="28"/>
                                        </p:tgtEl>
                                      </p:cBhvr>
                                    </p:animEffect>
                                  </p:childTnLst>
                                </p:cTn>
                              </p:par>
                            </p:childTnLst>
                          </p:cTn>
                        </p:par>
                        <p:par>
                          <p:cTn id="85" fill="hold">
                            <p:stCondLst>
                              <p:cond delay="1800"/>
                            </p:stCondLst>
                            <p:childTnLst>
                              <p:par>
                                <p:cTn id="82" presetID="22" presetClass="entr" presetSubtype="1" fill="hold" grpId="0" nodeType="after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wipe(up)">
                                      <p:cBhvr>
                                        <p:cTn id="84" dur="500"/>
                                        <p:tgtEl>
                                          <p:spTgt spid="15"/>
                                        </p:tgtEl>
                                      </p:cBhvr>
                                    </p:animEffect>
                                  </p:childTnLst>
                                </p:cTn>
                              </p:par>
                            </p:childTnLst>
                          </p:cTn>
                        </p:par>
                        <p:par>
                          <p:cTn id="89" fill="hold">
                            <p:stCondLst>
                              <p:cond delay="230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00"/>
                                        <p:tgtEl>
                                          <p:spTgt spid="29"/>
                                        </p:tgtEl>
                                      </p:cBhvr>
                                    </p:animEffect>
                                  </p:childTnLst>
                                </p:cTn>
                              </p:par>
                            </p:childTnLst>
                          </p:cTn>
                        </p:par>
                        <p:par>
                          <p:cTn id="93" fill="hold">
                            <p:stCondLst>
                              <p:cond delay="2700"/>
                            </p:stCondLst>
                            <p:childTnLst>
                              <p:par>
                                <p:cTn id="90" presetID="22" presetClass="entr" presetSubtype="1" fill="hold" grpId="0" nodeType="after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wipe(up)">
                                      <p:cBhvr>
                                        <p:cTn id="92" dur="500"/>
                                        <p:tgtEl>
                                          <p:spTgt spid="16"/>
                                        </p:tgtEl>
                                      </p:cBhvr>
                                    </p:animEffect>
                                  </p:childTnLst>
                                </p:cTn>
                              </p:par>
                            </p:childTnLst>
                          </p:cTn>
                        </p:par>
                        <p:par>
                          <p:cTn id="97" fill="hold">
                            <p:stCondLst>
                              <p:cond delay="3200"/>
                            </p:stCondLst>
                            <p:childTnLst>
                              <p:par>
                                <p:cTn id="94" presetID="10" presetClass="entr" presetSubtype="0"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400"/>
                                        <p:tgtEl>
                                          <p:spTgt spid="30"/>
                                        </p:tgtEl>
                                      </p:cBhvr>
                                    </p:animEffect>
                                  </p:childTnLst>
                                </p:cTn>
                              </p:par>
                            </p:childTnLst>
                          </p:cTn>
                        </p:par>
                      </p:childTnLst>
                    </p:cTn>
                  </p:par>
                  <p:par>
                    <p:cTn id="111" fill="hold">
                      <p:stCondLst>
                        <p:cond delay="indefinite"/>
                      </p:stCondLst>
                      <p:childTnLst>
                        <p:par>
                          <p:cTn id="102"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wipe(left)">
                                      <p:cBhvr>
                                        <p:cTn id="101" dur="500"/>
                                        <p:tgtEl>
                                          <p:spTgt spid="17"/>
                                        </p:tgtEl>
                                      </p:cBhvr>
                                    </p:animEffect>
                                  </p:childTnLst>
                                </p:cTn>
                              </p:par>
                            </p:childTnLst>
                          </p:cTn>
                        </p:par>
                        <p:par>
                          <p:cTn id="106" fill="hold">
                            <p:stCondLst>
                              <p:cond delay="500"/>
                            </p:stCondLst>
                            <p:childTnLst>
                              <p:par>
                                <p:cTn id="103" presetID="22" presetClass="entr" presetSubtype="2" fill="hold" grpId="0" nodeType="after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wipe(right)">
                                      <p:cBhvr>
                                        <p:cTn id="105" dur="500"/>
                                        <p:tgtEl>
                                          <p:spTgt spid="18"/>
                                        </p:tgtEl>
                                      </p:cBhvr>
                                    </p:animEffect>
                                  </p:childTnLst>
                                </p:cTn>
                              </p:par>
                            </p:childTnLst>
                          </p:cTn>
                        </p:par>
                        <p:par>
                          <p:cTn id="110" fill="hold">
                            <p:stCondLst>
                              <p:cond delay="1000"/>
                            </p:stCondLst>
                            <p:childTnLst>
                              <p:par>
                                <p:cTn id="107" presetID="10" presetClass="entr" presetSubtype="0" fill="hold" grpId="0" nodeType="after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20" grpId="0" animBg="1"/>
      <p:bldP spid="7" grpId="0" animBg="1"/>
      <p:bldP spid="21" grpId="0" animBg="1"/>
      <p:bldP spid="8" grpId="0" animBg="1"/>
      <p:bldP spid="26" grpId="0" animBg="1"/>
      <p:bldP spid="9" grpId="0" animBg="1"/>
      <p:bldP spid="22" grpId="0" animBg="1"/>
      <p:bldP spid="10" grpId="0" animBg="1"/>
      <p:bldP spid="23" grpId="0" animBg="1"/>
      <p:bldP spid="11" grpId="0" animBg="1"/>
      <p:bldP spid="24" grpId="0" animBg="1"/>
      <p:bldP spid="12" grpId="0" animBg="1"/>
      <p:bldP spid="25" grpId="0" animBg="1"/>
      <p:bldP spid="13" grpId="0" animBg="1"/>
      <p:bldP spid="27" grpId="0" animBg="1"/>
      <p:bldP spid="14" grpId="0" animBg="1"/>
      <p:bldP spid="28" grpId="0" animBg="1"/>
      <p:bldP spid="15" grpId="0" animBg="1"/>
      <p:bldP spid="29" grpId="0" animBg="1"/>
      <p:bldP spid="16" grpId="0" animBg="1"/>
      <p:bldP spid="30" grpId="0" animBg="1"/>
      <p:bldP spid="17" grpId="0" animBg="1"/>
      <p:bldP spid="18" grpId="0" animBg="1"/>
      <p:bldP spid="31" grpId="0" animBg="1"/>
    </p:bld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aphicFrame>
        <p:nvGraphicFramePr>
          <p:cNvPr id="6" name="Tabla CAD EHH"/>
          <p:cNvGraphicFramePr>
            <a:graphicFrameLocks noGrp="1"/>
          </p:cNvGraphicFramePr>
          <p:nvPr/>
        </p:nvGraphicFramePr>
        <p:xfrm>
          <a:off x="365760" y="1051560"/>
          <a:ext cx="11475720" cy="5212080"/>
        </p:xfrm>
        <a:graphic>
          <a:graphicData uri="http://schemas.openxmlformats.org/drawingml/2006/table">
            <a:tbl>
              <a:tblPr firstRow="1" bandRow="1"/>
              <a:tblGrid>
                <a:gridCol w="3108960"/>
                <a:gridCol w="4206240"/>
                <a:gridCol w="4160520"/>
              </a:tblGrid>
              <a:tr h="384048">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Dimensión</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CAD (caso 11)</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EHH (caso 12)</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Déficit de insulina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Absoluto o casi absoluto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Relativo: secreción residual insuficiente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Producción hepática de glucosa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 (glucagón, estrés)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 (resistencia hepática)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Lipólisis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Sin freno → AGNE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Relativamente frenada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Cetogénesis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Marcada (β-OHB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Limitada (β-OHB &lt; 3,0 mmol/L)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Acidosis metabólica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Sí: pH y HCO₃⁻ bajos, AG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Ausente o leve (pH ≥ 7,3)</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Glucosuria / diuresis osmótica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Sí</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Sí, prolongada (días)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Déficit hídrico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Importante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Suele ser muy intenso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Hiperosmolalidad</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Variable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Marcada (efectiva &gt; 300)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Conciencia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Variable: acidosis, volumen, osmolalidad</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Compromiso frecuente por hipertonía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Potasio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Sérico normal/alto; total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Sérico variable; total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Compensación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Kussmaul (pCO₂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Sin necesidad ventilatoria importante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02336">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Formas mixtas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Existen: cetosis + hiperosmolalidad</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Existen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COMPARACIÓN MECANÍSTICA CAD FRENTE A EHH</a:t>
            </a:r>
            <a:endParaRPr lang="es-AR" sz="3300" dirty="0">
              <a:latin typeface="Permanent Marker"/>
            </a:endParaRPr>
          </a:p>
        </p:txBody>
      </p:sp>
      <p:sp>
        <p:nvSpPr>
          <p:cNvPr id="5"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109</a:t>
            </a:r>
            <a:endParaRPr lang="es-AR" sz="1000" dirty="0">
              <a:latin typeface="Fira Sans Condensed"/>
            </a:endParaRP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aphicFrame>
        <p:nvGraphicFramePr>
          <p:cNvPr id="7" name="Tabla DM1 DM2"/>
          <p:cNvGraphicFramePr>
            <a:graphicFrameLocks noGrp="1"/>
          </p:cNvGraphicFramePr>
          <p:nvPr/>
        </p:nvGraphicFramePr>
        <p:xfrm>
          <a:off x="365760" y="1051560"/>
          <a:ext cx="11475720" cy="3764280"/>
        </p:xfrm>
        <a:graphic>
          <a:graphicData uri="http://schemas.openxmlformats.org/drawingml/2006/table">
            <a:tbl>
              <a:tblPr firstRow="1" bandRow="1"/>
              <a:tblGrid>
                <a:gridCol w="2377440"/>
                <a:gridCol w="4480560"/>
                <a:gridCol w="4617720"/>
              </a:tblGrid>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Dimensión</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DM1 típica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DM2 típica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Etiología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Autoinmunidad β; susceptibilidad HLA y ambiente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Resistencia insulínica + falla β progresiva; genética, adiposidad, edad</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Insulina endógena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Marcadamente baja/ausente en etapa establecida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Inicialmente normal/alta, luego insuficiente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Autoanticuerpos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Frecuentes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Usualmente negativos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Péptido C</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Habitualmente bajo; depende de etapa y estímulo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Variable: alto precozmente, bajo tardíamente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Ácido-base en crisis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CAD: HCO₃⁻ y pH bajos, β-OHB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EHH: osmolalidad alta, acidosis ausente o leve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Cetosis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Riesgo alto si falta insulina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Usualmente menor, pero puede aparecer CAD</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Glucosa en crisis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Habitualmente &gt; 200; no excluye CAD euglucémica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En EHH con frecuencia ≥ 600</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Tratamiento basal</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Insulina imprescindible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Individual; a veces insulina imprescindible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Daño crónico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Retinopatía, nefropatía, neuropatía, ECV</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Mismos órganos; HTA/dislipidemia/obesidad agravan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DM1 TÍPICA FRENTE A DM2 TÍPICA</a:t>
            </a:r>
            <a:endParaRPr lang="es-AR" sz="3400" dirty="0">
              <a:latin typeface="Permanent Marker"/>
            </a:endParaRPr>
          </a:p>
        </p:txBody>
      </p:sp>
      <p:sp>
        <p:nvSpPr>
          <p:cNvPr id="6"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110</a:t>
            </a:r>
            <a:endParaRPr lang="es-AR" sz="1000" dirty="0">
              <a:latin typeface="Fira Sans Condensed"/>
            </a:endParaRP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Paso A"/>
          <p:cNvGrpSpPr/>
          <p:nvPr/>
        </p:nvGrpSpPr>
        <p:grpSpPr>
          <a:xfrm>
            <a:off x="457200" y="1051560"/>
            <a:ext cx="11384280" cy="868680"/>
            <a:chOff x="457200" y="1051560"/>
            <a:chExt cx="11384280" cy="868680"/>
          </a:xfrm>
        </p:grpSpPr>
        <p:sp>
          <p:nvSpPr>
            <p:cNvPr id="8" name="Forma 7"/>
            <p:cNvSpPr/>
            <p:nvPr/>
          </p:nvSpPr>
          <p:spPr>
            <a:xfrm>
              <a:off x="457200" y="1051560"/>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A</a:t>
              </a:r>
              <a:endParaRPr lang="es-AR" sz="2400" dirty="0">
                <a:latin typeface="Bangers"/>
              </a:endParaRPr>
            </a:p>
          </p:txBody>
        </p:sp>
        <p:sp>
          <p:nvSpPr>
            <p:cNvPr id="9" name="Recuadro Confirmar glucosa"/>
            <p:cNvSpPr/>
            <p:nvPr/>
          </p:nvSpPr>
          <p:spPr>
            <a:xfrm>
              <a:off x="1371600" y="1106424"/>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CONFIRMAR GLUCOSA</a:t>
              </a:r>
              <a:endParaRPr lang="es-AR" sz="1500" dirty="0">
                <a:latin typeface="Fira Sans Condensed"/>
              </a:endParaRPr>
            </a:p>
          </p:txBody>
        </p:sp>
        <p:sp>
          <p:nvSpPr>
            <p:cNvPr id="10" name="Forma 9"/>
            <p:cNvSpPr/>
            <p:nvPr/>
          </p:nvSpPr>
          <p:spPr>
            <a:xfrm>
              <a:off x="4617720" y="1106424"/>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síntomas, signos vitales, volumen, estado mental</a:t>
              </a:r>
              <a:endParaRPr lang="es-AR" sz="1450" dirty="0">
                <a:latin typeface="Fira Sans Condensed"/>
              </a:endParaRPr>
            </a:p>
          </p:txBody>
        </p:sp>
        <p:sp>
          <p:nvSpPr>
            <p:cNvPr id="11" name="Flecha 10_2"/>
            <p:cNvSpPr/>
            <p:nvPr/>
          </p:nvSpPr>
          <p:spPr>
            <a:xfrm>
              <a:off x="822960" y="1801368"/>
              <a:ext cx="9144" cy="118872"/>
            </a:xfrm>
            <a:custGeom>
              <a:avLst/>
              <a:gdLst/>
              <a:ahLst/>
              <a:cxnLst/>
              <a:rect l="0" t="0" r="r" b="b"/>
              <a:pathLst>
                <a:path w="10" h="129" fill="none">
                  <a:moveTo>
                    <a:pt x="0" y="0"/>
                  </a:moveTo>
                  <a:lnTo>
                    <a:pt x="0" y="129"/>
                  </a:lnTo>
                </a:path>
              </a:pathLst>
            </a:custGeom>
            <a:noFill/>
            <a:ln w="31750" cap="rnd">
              <a:solidFill>
                <a:srgbClr val="1E1E1E"/>
              </a:solidFill>
              <a:round/>
              <a:tailEnd type="triangle" w="med" len="med"/>
            </a:ln>
          </p:spPr>
        </p:sp>
      </p:grpSp>
      <p:grpSp>
        <p:nvGrpSpPr>
          <p:cNvPr id="12" name="Paso B"/>
          <p:cNvGrpSpPr/>
          <p:nvPr/>
        </p:nvGrpSpPr>
        <p:grpSpPr>
          <a:xfrm>
            <a:off x="457200" y="1938528"/>
            <a:ext cx="11384280" cy="868680"/>
            <a:chOff x="457200" y="1938528"/>
            <a:chExt cx="11384280" cy="868680"/>
          </a:xfrm>
        </p:grpSpPr>
        <p:sp>
          <p:nvSpPr>
            <p:cNvPr id="13" name="Forma 13"/>
            <p:cNvSpPr/>
            <p:nvPr/>
          </p:nvSpPr>
          <p:spPr>
            <a:xfrm>
              <a:off x="457200" y="1938528"/>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B</a:t>
              </a:r>
              <a:endParaRPr lang="es-AR" sz="2400" dirty="0">
                <a:latin typeface="Bangers"/>
              </a:endParaRPr>
            </a:p>
          </p:txBody>
        </p:sp>
        <p:sp>
          <p:nvSpPr>
            <p:cNvPr id="14" name="Recuadro Buscar acidosis"/>
            <p:cNvSpPr/>
            <p:nvPr/>
          </p:nvSpPr>
          <p:spPr>
            <a:xfrm>
              <a:off x="1371600" y="1993392"/>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BUSCAR ACIDOSIS</a:t>
              </a:r>
              <a:endParaRPr lang="es-AR" sz="1500" dirty="0">
                <a:latin typeface="Fira Sans Condensed"/>
              </a:endParaRPr>
            </a:p>
          </p:txBody>
        </p:sp>
        <p:sp>
          <p:nvSpPr>
            <p:cNvPr id="15" name="Forma 15"/>
            <p:cNvSpPr/>
            <p:nvPr/>
          </p:nvSpPr>
          <p:spPr>
            <a:xfrm>
              <a:off x="4617720" y="1993392"/>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pH, HCO₃⁻, pCO₂ y controles cruzados</a:t>
              </a:r>
              <a:endParaRPr lang="es-AR" sz="1450" dirty="0">
                <a:latin typeface="Fira Sans Condensed"/>
              </a:endParaRPr>
            </a:p>
          </p:txBody>
        </p:sp>
        <p:sp>
          <p:nvSpPr>
            <p:cNvPr id="16" name="Flecha 16_2"/>
            <p:cNvSpPr/>
            <p:nvPr/>
          </p:nvSpPr>
          <p:spPr>
            <a:xfrm>
              <a:off x="822960" y="2688336"/>
              <a:ext cx="9144" cy="118872"/>
            </a:xfrm>
            <a:custGeom>
              <a:avLst/>
              <a:gdLst/>
              <a:ahLst/>
              <a:cxnLst/>
              <a:rect l="0" t="0" r="r" b="b"/>
              <a:pathLst>
                <a:path w="10" h="130" fill="none">
                  <a:moveTo>
                    <a:pt x="0" y="0"/>
                  </a:moveTo>
                  <a:lnTo>
                    <a:pt x="0" y="130"/>
                  </a:lnTo>
                </a:path>
              </a:pathLst>
            </a:custGeom>
            <a:noFill/>
            <a:ln w="31750" cap="rnd">
              <a:solidFill>
                <a:srgbClr val="1E1E1E"/>
              </a:solidFill>
              <a:round/>
              <a:tailEnd type="triangle" w="med" len="med"/>
            </a:ln>
          </p:spPr>
        </p:sp>
      </p:grpSp>
      <p:grpSp>
        <p:nvGrpSpPr>
          <p:cNvPr id="17" name="Paso C"/>
          <p:cNvGrpSpPr/>
          <p:nvPr/>
        </p:nvGrpSpPr>
        <p:grpSpPr>
          <a:xfrm>
            <a:off x="457200" y="2825496"/>
            <a:ext cx="11384280" cy="868680"/>
            <a:chOff x="457200" y="2825496"/>
            <a:chExt cx="11384280" cy="868680"/>
          </a:xfrm>
        </p:grpSpPr>
        <p:sp>
          <p:nvSpPr>
            <p:cNvPr id="18" name="Forma 19"/>
            <p:cNvSpPr/>
            <p:nvPr/>
          </p:nvSpPr>
          <p:spPr>
            <a:xfrm>
              <a:off x="457200" y="2825496"/>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C</a:t>
              </a:r>
              <a:endParaRPr lang="es-AR" sz="2400" dirty="0">
                <a:latin typeface="Bangers"/>
              </a:endParaRPr>
            </a:p>
          </p:txBody>
        </p:sp>
        <p:sp>
          <p:nvSpPr>
            <p:cNvPr id="19" name="Recuadro Buscar cetonas"/>
            <p:cNvSpPr/>
            <p:nvPr/>
          </p:nvSpPr>
          <p:spPr>
            <a:xfrm>
              <a:off x="1371600" y="2880360"/>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BUSCAR CETONAS</a:t>
              </a:r>
              <a:endParaRPr lang="es-AR" sz="1500" dirty="0">
                <a:latin typeface="Fira Sans Condensed"/>
              </a:endParaRPr>
            </a:p>
          </p:txBody>
        </p:sp>
        <p:sp>
          <p:nvSpPr>
            <p:cNvPr id="20" name="Forma 21"/>
            <p:cNvSpPr/>
            <p:nvPr/>
          </p:nvSpPr>
          <p:spPr>
            <a:xfrm>
              <a:off x="4617720" y="2880360"/>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preferentemente β-OHB sanguíneo</a:t>
              </a:r>
              <a:endParaRPr lang="es-AR" sz="1450" dirty="0">
                <a:latin typeface="Fira Sans Condensed"/>
              </a:endParaRPr>
            </a:p>
          </p:txBody>
        </p:sp>
        <p:sp>
          <p:nvSpPr>
            <p:cNvPr id="21" name="Flecha 22_2"/>
            <p:cNvSpPr/>
            <p:nvPr/>
          </p:nvSpPr>
          <p:spPr>
            <a:xfrm>
              <a:off x="822960" y="3575304"/>
              <a:ext cx="9144" cy="118872"/>
            </a:xfrm>
            <a:custGeom>
              <a:avLst/>
              <a:gdLst/>
              <a:ahLst/>
              <a:cxnLst/>
              <a:rect l="0" t="0" r="r" b="b"/>
              <a:pathLst>
                <a:path w="10" h="130" fill="none">
                  <a:moveTo>
                    <a:pt x="0" y="0"/>
                  </a:moveTo>
                  <a:lnTo>
                    <a:pt x="0" y="130"/>
                  </a:lnTo>
                </a:path>
              </a:pathLst>
            </a:custGeom>
            <a:noFill/>
            <a:ln w="31750" cap="rnd">
              <a:solidFill>
                <a:srgbClr val="1E1E1E"/>
              </a:solidFill>
              <a:round/>
              <a:tailEnd type="triangle" w="med" len="med"/>
            </a:ln>
          </p:spPr>
        </p:sp>
      </p:grpSp>
      <p:grpSp>
        <p:nvGrpSpPr>
          <p:cNvPr id="22" name="Paso D"/>
          <p:cNvGrpSpPr/>
          <p:nvPr/>
        </p:nvGrpSpPr>
        <p:grpSpPr>
          <a:xfrm>
            <a:off x="457200" y="3712464"/>
            <a:ext cx="11384280" cy="868680"/>
            <a:chOff x="457200" y="3712464"/>
            <a:chExt cx="11384280" cy="868680"/>
          </a:xfrm>
        </p:grpSpPr>
        <p:sp>
          <p:nvSpPr>
            <p:cNvPr id="23" name="Forma 25"/>
            <p:cNvSpPr/>
            <p:nvPr/>
          </p:nvSpPr>
          <p:spPr>
            <a:xfrm>
              <a:off x="457200" y="3712464"/>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D</a:t>
              </a:r>
              <a:endParaRPr lang="es-AR" sz="2400" dirty="0">
                <a:latin typeface="Bangers"/>
              </a:endParaRPr>
            </a:p>
          </p:txBody>
        </p:sp>
        <p:sp>
          <p:nvSpPr>
            <p:cNvPr id="24" name="Recuadro Evaluar tonicidad"/>
            <p:cNvSpPr/>
            <p:nvPr/>
          </p:nvSpPr>
          <p:spPr>
            <a:xfrm>
              <a:off x="1371600" y="3767328"/>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EVALUAR TONICIDAD</a:t>
              </a:r>
              <a:endParaRPr lang="es-AR" sz="1500" dirty="0">
                <a:latin typeface="Fira Sans Condensed"/>
              </a:endParaRPr>
            </a:p>
          </p:txBody>
        </p:sp>
        <p:sp>
          <p:nvSpPr>
            <p:cNvPr id="25" name="Forma 27"/>
            <p:cNvSpPr/>
            <p:nvPr/>
          </p:nvSpPr>
          <p:spPr>
            <a:xfrm>
              <a:off x="4617720" y="3767328"/>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Na⁺, glucosa, osmolalidad, urea → osmolalidad efectiva</a:t>
              </a:r>
              <a:endParaRPr lang="es-AR" sz="1450" dirty="0">
                <a:latin typeface="Fira Sans Condensed"/>
              </a:endParaRPr>
            </a:p>
          </p:txBody>
        </p:sp>
        <p:sp>
          <p:nvSpPr>
            <p:cNvPr id="26" name="Flecha 28_2"/>
            <p:cNvSpPr/>
            <p:nvPr/>
          </p:nvSpPr>
          <p:spPr>
            <a:xfrm>
              <a:off x="822960" y="4462272"/>
              <a:ext cx="9144" cy="118872"/>
            </a:xfrm>
            <a:custGeom>
              <a:avLst/>
              <a:gdLst/>
              <a:ahLst/>
              <a:cxnLst/>
              <a:rect l="0" t="0" r="r" b="b"/>
              <a:pathLst>
                <a:path w="10" h="129" fill="none">
                  <a:moveTo>
                    <a:pt x="0" y="0"/>
                  </a:moveTo>
                  <a:lnTo>
                    <a:pt x="0" y="129"/>
                  </a:lnTo>
                </a:path>
              </a:pathLst>
            </a:custGeom>
            <a:noFill/>
            <a:ln w="31750" cap="rnd">
              <a:solidFill>
                <a:srgbClr val="1E1E1E"/>
              </a:solidFill>
              <a:round/>
              <a:tailEnd type="triangle" w="med" len="med"/>
            </a:ln>
          </p:spPr>
        </p:sp>
      </p:grpSp>
      <p:grpSp>
        <p:nvGrpSpPr>
          <p:cNvPr id="27" name="Paso E"/>
          <p:cNvGrpSpPr/>
          <p:nvPr/>
        </p:nvGrpSpPr>
        <p:grpSpPr>
          <a:xfrm>
            <a:off x="457200" y="4599432"/>
            <a:ext cx="11384280" cy="868680"/>
            <a:chOff x="457200" y="4599432"/>
            <a:chExt cx="11384280" cy="868680"/>
          </a:xfrm>
        </p:grpSpPr>
        <p:sp>
          <p:nvSpPr>
            <p:cNvPr id="28" name="Forma 31"/>
            <p:cNvSpPr/>
            <p:nvPr/>
          </p:nvSpPr>
          <p:spPr>
            <a:xfrm>
              <a:off x="457200" y="4599432"/>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E</a:t>
              </a:r>
              <a:endParaRPr lang="es-AR" sz="2400" dirty="0">
                <a:latin typeface="Bangers"/>
              </a:endParaRPr>
            </a:p>
          </p:txBody>
        </p:sp>
        <p:sp>
          <p:nvSpPr>
            <p:cNvPr id="29" name="Recuadro Gravedad y causa"/>
            <p:cNvSpPr/>
            <p:nvPr/>
          </p:nvSpPr>
          <p:spPr>
            <a:xfrm>
              <a:off x="1371600" y="4654296"/>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GRAVEDAD Y CAUSA</a:t>
              </a:r>
              <a:endParaRPr lang="es-AR" sz="1500" dirty="0">
                <a:latin typeface="Fira Sans Condensed"/>
              </a:endParaRPr>
            </a:p>
          </p:txBody>
        </p:sp>
        <p:sp>
          <p:nvSpPr>
            <p:cNvPr id="30" name="Forma 33"/>
            <p:cNvSpPr/>
            <p:nvPr/>
          </p:nvSpPr>
          <p:spPr>
            <a:xfrm>
              <a:off x="4617720" y="4654296"/>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perfusión, K⁺, función renal, lactato, foco infeccioso, ECG; diagnósticos alternativos</a:t>
              </a:r>
              <a:endParaRPr lang="es-AR" sz="1450" dirty="0">
                <a:latin typeface="Fira Sans Condensed"/>
              </a:endParaRPr>
            </a:p>
          </p:txBody>
        </p:sp>
        <p:sp>
          <p:nvSpPr>
            <p:cNvPr id="31" name="Flecha 34_2"/>
            <p:cNvSpPr/>
            <p:nvPr/>
          </p:nvSpPr>
          <p:spPr>
            <a:xfrm>
              <a:off x="822960" y="5349240"/>
              <a:ext cx="9144" cy="118872"/>
            </a:xfrm>
            <a:custGeom>
              <a:avLst/>
              <a:gdLst/>
              <a:ahLst/>
              <a:cxnLst/>
              <a:rect l="0" t="0" r="r" b="b"/>
              <a:pathLst>
                <a:path w="10" h="129" fill="none">
                  <a:moveTo>
                    <a:pt x="0" y="0"/>
                  </a:moveTo>
                  <a:lnTo>
                    <a:pt x="0" y="129"/>
                  </a:lnTo>
                </a:path>
              </a:pathLst>
            </a:custGeom>
            <a:noFill/>
            <a:ln w="31750" cap="rnd">
              <a:solidFill>
                <a:srgbClr val="1E1E1E"/>
              </a:solidFill>
              <a:round/>
              <a:tailEnd type="triangle" w="med" len="med"/>
            </a:ln>
          </p:spPr>
        </p:sp>
      </p:grpSp>
      <p:grpSp>
        <p:nvGrpSpPr>
          <p:cNvPr id="32" name="Paso F"/>
          <p:cNvGrpSpPr/>
          <p:nvPr/>
        </p:nvGrpSpPr>
        <p:grpSpPr>
          <a:xfrm>
            <a:off x="457200" y="5486400"/>
            <a:ext cx="11384280" cy="731520"/>
            <a:chOff x="457200" y="5486400"/>
            <a:chExt cx="11384280" cy="731520"/>
          </a:xfrm>
        </p:grpSpPr>
        <p:sp>
          <p:nvSpPr>
            <p:cNvPr id="33" name="Forma 37"/>
            <p:cNvSpPr/>
            <p:nvPr/>
          </p:nvSpPr>
          <p:spPr>
            <a:xfrm>
              <a:off x="457200" y="5486400"/>
              <a:ext cx="731520" cy="73152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400" dirty="0">
                  <a:solidFill>
                    <a:srgbClr val="C00000"/>
                  </a:solidFill>
                  <a:latin typeface="Bangers"/>
                  <a:ea typeface="Bangers"/>
                  <a:cs typeface="Bangers"/>
                  <a:sym typeface="Bangers"/>
                </a:rPr>
                <a:t>F</a:t>
              </a:r>
              <a:endParaRPr lang="es-AR" sz="2400" dirty="0">
                <a:latin typeface="Bangers"/>
              </a:endParaRPr>
            </a:p>
          </p:txBody>
        </p:sp>
        <p:sp>
          <p:nvSpPr>
            <p:cNvPr id="34" name="Recuadro Tratar y monitorizar"/>
            <p:cNvSpPr/>
            <p:nvPr/>
          </p:nvSpPr>
          <p:spPr>
            <a:xfrm>
              <a:off x="1371600" y="5541264"/>
              <a:ext cx="3108960" cy="62179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TRATAR Y MONITORIZAR</a:t>
              </a:r>
              <a:endParaRPr lang="es-AR" sz="1500" dirty="0">
                <a:latin typeface="Fira Sans Condensed"/>
              </a:endParaRPr>
            </a:p>
          </p:txBody>
        </p:sp>
        <p:sp>
          <p:nvSpPr>
            <p:cNvPr id="35" name="Forma 39"/>
            <p:cNvSpPr/>
            <p:nvPr/>
          </p:nvSpPr>
          <p:spPr>
            <a:xfrm>
              <a:off x="4617720" y="5541264"/>
              <a:ext cx="7223760" cy="621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volumen, K⁺, insulina, desencadenante, nutrición, transición y educación</a:t>
              </a:r>
              <a:endParaRPr lang="es-AR" sz="1450" dirty="0">
                <a:latin typeface="Fira Sans Condensed"/>
              </a:endParaRPr>
            </a:p>
          </p:txBody>
        </p:sp>
      </p:grpSp>
      <p:sp>
        <p:nvSpPr>
          <p:cNvPr id="5"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ALGORITMO INTEGRADOR DEL LABORATORIO DE EMERGENCIAS</a:t>
            </a:r>
            <a:endParaRPr lang="es-AR" sz="2500" dirty="0">
              <a:latin typeface="Permanent Marker"/>
            </a:endParaRPr>
          </a:p>
        </p:txBody>
      </p:sp>
      <p:sp>
        <p:nvSpPr>
          <p:cNvPr id="6"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Paso 1"/>
          <p:cNvGrpSpPr/>
          <p:nvPr/>
        </p:nvGrpSpPr>
        <p:grpSpPr>
          <a:xfrm>
            <a:off x="365760" y="1097280"/>
            <a:ext cx="11475720" cy="457200"/>
            <a:chOff x="365760" y="1097280"/>
            <a:chExt cx="11475720" cy="457200"/>
          </a:xfrm>
        </p:grpSpPr>
        <p:sp>
          <p:nvSpPr>
            <p:cNvPr id="8" name="Forma 7"/>
            <p:cNvSpPr/>
            <p:nvPr/>
          </p:nvSpPr>
          <p:spPr>
            <a:xfrm>
              <a:off x="365760" y="109728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AG elevado</a:t>
              </a:r>
              <a:r>
                <a:rPr lang="es-AR" sz="1550" dirty="0">
                  <a:solidFill>
                    <a:srgbClr val="1E1E1E"/>
                  </a:solidFill>
                  <a:latin typeface="Fira Sans Condensed"/>
                  <a:ea typeface="Fira Sans Condensed"/>
                  <a:cs typeface="Fira Sans Condensed"/>
                  <a:sym typeface="Fira Sans Condensed"/>
                </a:rPr>
                <a:t> = aniones no medidos, no identifica la causa: en CAD pensar cetonas; con sepsis/shock, lactato.</a:t>
              </a:r>
              <a:endParaRPr lang="es-AR" sz="1550" dirty="0">
                <a:latin typeface="Fira Sans Condensed"/>
              </a:endParaRPr>
            </a:p>
          </p:txBody>
        </p:sp>
        <p:sp>
          <p:nvSpPr>
            <p:cNvPr id="9" name="Forma 8"/>
            <p:cNvSpPr/>
            <p:nvPr/>
          </p:nvSpPr>
          <p:spPr>
            <a:xfrm>
              <a:off x="457200" y="115214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0" name="Paso 2"/>
          <p:cNvGrpSpPr/>
          <p:nvPr/>
        </p:nvGrpSpPr>
        <p:grpSpPr>
          <a:xfrm>
            <a:off x="365760" y="1682496"/>
            <a:ext cx="11475720" cy="457200"/>
            <a:chOff x="365760" y="1682496"/>
            <a:chExt cx="11475720" cy="457200"/>
          </a:xfrm>
        </p:grpSpPr>
        <p:sp>
          <p:nvSpPr>
            <p:cNvPr id="11" name="Forma 10"/>
            <p:cNvSpPr/>
            <p:nvPr/>
          </p:nvSpPr>
          <p:spPr>
            <a:xfrm>
              <a:off x="365760" y="1682496"/>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pCO₂ baja</a:t>
              </a:r>
              <a:r>
                <a:rPr lang="es-AR" sz="1550" dirty="0">
                  <a:solidFill>
                    <a:srgbClr val="1E1E1E"/>
                  </a:solidFill>
                  <a:latin typeface="Fira Sans Condensed"/>
                  <a:ea typeface="Fira Sans Condensed"/>
                  <a:cs typeface="Fira Sans Condensed"/>
                  <a:sym typeface="Fira Sans Condensed"/>
                </a:rPr>
                <a:t> puede ser compensatoria: el trastorno mixto se diagnostica comparando con lo esperado </a:t>
              </a:r>
              <a:r>
                <a:rPr lang="es-AR" sz="1550" b="1" dirty="0">
                  <a:solidFill>
                    <a:srgbClr val="1E1E1E"/>
                  </a:solidFill>
                  <a:latin typeface="Fira Sans Condensed"/>
                  <a:ea typeface="Fira Sans Condensed"/>
                  <a:cs typeface="Fira Sans Condensed"/>
                  <a:sym typeface="Fira Sans Condensed"/>
                </a:rPr>
                <a:t>y</a:t>
              </a:r>
              <a:r>
                <a:rPr lang="es-AR" sz="1550" dirty="0">
                  <a:solidFill>
                    <a:srgbClr val="1E1E1E"/>
                  </a:solidFill>
                  <a:latin typeface="Fira Sans Condensed"/>
                  <a:ea typeface="Fira Sans Condensed"/>
                  <a:cs typeface="Fira Sans Condensed"/>
                  <a:sym typeface="Fira Sans Condensed"/>
                </a:rPr>
                <a:t> verificando coherencia.</a:t>
              </a:r>
              <a:endParaRPr lang="es-AR" sz="1550" dirty="0">
                <a:latin typeface="Fira Sans Condensed"/>
              </a:endParaRPr>
            </a:p>
          </p:txBody>
        </p:sp>
        <p:sp>
          <p:nvSpPr>
            <p:cNvPr id="12" name="Forma 11"/>
            <p:cNvSpPr/>
            <p:nvPr/>
          </p:nvSpPr>
          <p:spPr>
            <a:xfrm>
              <a:off x="457200" y="173736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3" name="Paso 3"/>
          <p:cNvGrpSpPr/>
          <p:nvPr/>
        </p:nvGrpSpPr>
        <p:grpSpPr>
          <a:xfrm>
            <a:off x="365760" y="2267712"/>
            <a:ext cx="11475720" cy="457200"/>
            <a:chOff x="365760" y="2267712"/>
            <a:chExt cx="11475720" cy="457200"/>
          </a:xfrm>
        </p:grpSpPr>
        <p:sp>
          <p:nvSpPr>
            <p:cNvPr id="14" name="Forma 13"/>
            <p:cNvSpPr/>
            <p:nvPr/>
          </p:nvSpPr>
          <p:spPr>
            <a:xfrm>
              <a:off x="365760" y="2267712"/>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Glucosa alta ≠ cetonas altas</a:t>
              </a:r>
              <a:r>
                <a:rPr lang="es-AR" sz="1550" dirty="0">
                  <a:solidFill>
                    <a:srgbClr val="1E1E1E"/>
                  </a:solidFill>
                  <a:latin typeface="Fira Sans Condensed"/>
                  <a:ea typeface="Fira Sans Condensed"/>
                  <a:cs typeface="Fira Sans Condensed"/>
                  <a:sym typeface="Fira Sans Condensed"/>
                </a:rPr>
                <a:t>: deciden la insulina residual y la relación glucagón/insulina.</a:t>
              </a:r>
              <a:endParaRPr lang="es-AR" sz="1550" dirty="0">
                <a:latin typeface="Fira Sans Condensed"/>
              </a:endParaRPr>
            </a:p>
          </p:txBody>
        </p:sp>
        <p:sp>
          <p:nvSpPr>
            <p:cNvPr id="15" name="Forma 14"/>
            <p:cNvSpPr/>
            <p:nvPr/>
          </p:nvSpPr>
          <p:spPr>
            <a:xfrm>
              <a:off x="457200" y="232257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6" name="Paso 4"/>
          <p:cNvGrpSpPr/>
          <p:nvPr/>
        </p:nvGrpSpPr>
        <p:grpSpPr>
          <a:xfrm>
            <a:off x="365760" y="2852928"/>
            <a:ext cx="11475720" cy="457200"/>
            <a:chOff x="365760" y="2852928"/>
            <a:chExt cx="11475720" cy="457200"/>
          </a:xfrm>
        </p:grpSpPr>
        <p:sp>
          <p:nvSpPr>
            <p:cNvPr id="17" name="Forma 16"/>
            <p:cNvSpPr/>
            <p:nvPr/>
          </p:nvSpPr>
          <p:spPr>
            <a:xfrm>
              <a:off x="365760" y="2852928"/>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Osmolalidad total</a:t>
              </a:r>
              <a:r>
                <a:rPr lang="es-AR" sz="1550" dirty="0">
                  <a:solidFill>
                    <a:srgbClr val="1E1E1E"/>
                  </a:solidFill>
                  <a:latin typeface="Fira Sans Condensed"/>
                  <a:ea typeface="Fira Sans Condensed"/>
                  <a:cs typeface="Fira Sans Condensed"/>
                  <a:sym typeface="Fira Sans Condensed"/>
                </a:rPr>
                <a:t> incluye urea; la </a:t>
              </a:r>
              <a:r>
                <a:rPr lang="es-AR" sz="1550" b="1" dirty="0">
                  <a:solidFill>
                    <a:srgbClr val="1E1E1E"/>
                  </a:solidFill>
                  <a:latin typeface="Fira Sans Condensed"/>
                  <a:ea typeface="Fira Sans Condensed"/>
                  <a:cs typeface="Fira Sans Condensed"/>
                  <a:sym typeface="Fira Sans Condensed"/>
                </a:rPr>
                <a:t>efectiva</a:t>
              </a:r>
              <a:r>
                <a:rPr lang="es-AR" sz="1550" dirty="0">
                  <a:solidFill>
                    <a:srgbClr val="1E1E1E"/>
                  </a:solidFill>
                  <a:latin typeface="Fira Sans Condensed"/>
                  <a:ea typeface="Fira Sans Condensed"/>
                  <a:cs typeface="Fira Sans Condensed"/>
                  <a:sym typeface="Fira Sans Condensed"/>
                </a:rPr>
                <a:t> la excluye: no intercambiarlas.</a:t>
              </a:r>
              <a:endParaRPr lang="es-AR" sz="1550" dirty="0">
                <a:latin typeface="Fira Sans Condensed"/>
              </a:endParaRPr>
            </a:p>
          </p:txBody>
        </p:sp>
        <p:sp>
          <p:nvSpPr>
            <p:cNvPr id="18" name="Forma 17"/>
            <p:cNvSpPr/>
            <p:nvPr/>
          </p:nvSpPr>
          <p:spPr>
            <a:xfrm>
              <a:off x="457200" y="290779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grpSp>
        <p:nvGrpSpPr>
          <p:cNvPr id="19" name="Paso 5"/>
          <p:cNvGrpSpPr/>
          <p:nvPr/>
        </p:nvGrpSpPr>
        <p:grpSpPr>
          <a:xfrm>
            <a:off x="365760" y="3438144"/>
            <a:ext cx="11475720" cy="457200"/>
            <a:chOff x="365760" y="3438144"/>
            <a:chExt cx="11475720" cy="457200"/>
          </a:xfrm>
        </p:grpSpPr>
        <p:sp>
          <p:nvSpPr>
            <p:cNvPr id="20" name="Forma 19"/>
            <p:cNvSpPr/>
            <p:nvPr/>
          </p:nvSpPr>
          <p:spPr>
            <a:xfrm>
              <a:off x="365760" y="3438144"/>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K⁺ sérico ≠ reserva corporal total</a:t>
              </a:r>
              <a:r>
                <a:rPr lang="es-AR" sz="1550" dirty="0">
                  <a:solidFill>
                    <a:srgbClr val="1E1E1E"/>
                  </a:solidFill>
                  <a:latin typeface="Fira Sans Condensed"/>
                  <a:ea typeface="Fira Sans Condensed"/>
                  <a:cs typeface="Fira Sans Condensed"/>
                  <a:sym typeface="Fira Sans Condensed"/>
                </a:rPr>
                <a:t>: puede caer rápido al corregir la insulinopenia.</a:t>
              </a:r>
              <a:endParaRPr lang="es-AR" sz="1550" dirty="0">
                <a:latin typeface="Fira Sans Condensed"/>
              </a:endParaRPr>
            </a:p>
          </p:txBody>
        </p:sp>
        <p:sp>
          <p:nvSpPr>
            <p:cNvPr id="21" name="Forma 20"/>
            <p:cNvSpPr/>
            <p:nvPr/>
          </p:nvSpPr>
          <p:spPr>
            <a:xfrm>
              <a:off x="457200" y="3493008"/>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5</a:t>
              </a:r>
              <a:endParaRPr lang="es-AR" sz="1300" dirty="0">
                <a:latin typeface="Fira Sans Condensed"/>
              </a:endParaRPr>
            </a:p>
          </p:txBody>
        </p:sp>
      </p:grpSp>
      <p:grpSp>
        <p:nvGrpSpPr>
          <p:cNvPr id="22" name="Paso 6"/>
          <p:cNvGrpSpPr/>
          <p:nvPr/>
        </p:nvGrpSpPr>
        <p:grpSpPr>
          <a:xfrm>
            <a:off x="365760" y="4023360"/>
            <a:ext cx="11475720" cy="457200"/>
            <a:chOff x="365760" y="4023360"/>
            <a:chExt cx="11475720" cy="457200"/>
          </a:xfrm>
        </p:grpSpPr>
        <p:sp>
          <p:nvSpPr>
            <p:cNvPr id="23" name="Forma 22"/>
            <p:cNvSpPr/>
            <p:nvPr/>
          </p:nvSpPr>
          <p:spPr>
            <a:xfrm>
              <a:off x="365760" y="402336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Corregir el pH ≠ corregir la causa</a:t>
              </a:r>
              <a:r>
                <a:rPr lang="es-AR" sz="1550" dirty="0">
                  <a:solidFill>
                    <a:srgbClr val="1E1E1E"/>
                  </a:solidFill>
                  <a:latin typeface="Fira Sans Condensed"/>
                  <a:ea typeface="Fira Sans Condensed"/>
                  <a:cs typeface="Fira Sans Condensed"/>
                  <a:sym typeface="Fira Sans Condensed"/>
                </a:rPr>
                <a:t>: la cetogénesis se detiene con acción insulínica y control del disparador.</a:t>
              </a:r>
              <a:endParaRPr lang="es-AR" sz="1550" dirty="0">
                <a:latin typeface="Fira Sans Condensed"/>
              </a:endParaRPr>
            </a:p>
          </p:txBody>
        </p:sp>
        <p:sp>
          <p:nvSpPr>
            <p:cNvPr id="24" name="Forma 23"/>
            <p:cNvSpPr/>
            <p:nvPr/>
          </p:nvSpPr>
          <p:spPr>
            <a:xfrm>
              <a:off x="457200" y="40782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6</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REGLAS DE ALTO RENDIMIENTO</a:t>
            </a:r>
            <a:endParaRPr lang="es-AR" sz="3400" dirty="0">
              <a:latin typeface="Permanent Marker"/>
            </a:endParaRPr>
          </a:p>
        </p:txBody>
      </p:sp>
      <p:sp>
        <p:nvSpPr>
          <p:cNvPr id="6"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aphicFrame>
        <p:nvGraphicFramePr>
          <p:cNvPr id="7" name="Tabla fórmulas"/>
          <p:cNvGraphicFramePr>
            <a:graphicFrameLocks noGrp="1"/>
          </p:cNvGraphicFramePr>
          <p:nvPr/>
        </p:nvGraphicFramePr>
        <p:xfrm>
          <a:off x="365760" y="1051560"/>
          <a:ext cx="11475720" cy="3429000"/>
        </p:xfrm>
        <a:graphic>
          <a:graphicData uri="http://schemas.openxmlformats.org/drawingml/2006/table">
            <a:tbl>
              <a:tblPr firstRow="1" bandRow="1"/>
              <a:tblGrid>
                <a:gridCol w="2651760"/>
                <a:gridCol w="4023360"/>
                <a:gridCol w="4800600"/>
              </a:tblGrid>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Cálculo</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Fórmula</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Interpretación o limitación</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50292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Anion gap</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Na⁺ − (Cl⁻ + HCO₃⁻)</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Requiere Na/Cl; sumar ≈ 2,5 mEq/L por cada 1 g/dL de albúmina bajo 4</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pCO₂ de Winter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1,5 × HCO₃⁻ + 8 ± 2</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Compensación esperada en acidosis metabólica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Henderson–Hasselbalch</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6,1 + log[HCO₃⁻ / (0,03 × pCO₂)]</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Prueba la coherencia de pH, HCO₃⁻ y pCO₂</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Osmolalidad total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 Na + glucosa/18 + BUN/2,8</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Na en mmol/L; glucosa/BUN en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Osmolalidad efectiva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 Na + glucosa/18</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Tonicidad: movimientos sostenidos de agua celular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Sodio corregido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Na medido + factor × (glucosa − 100)/100</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Factor ≈ 1,6 o 2,4; requiere sodio medido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eAG desde HbA1c</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28,7 × A1c − 46,7</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Estimación poblacional; no reemplaza automonitoreo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Carga filtrada de glucosa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FG × glucemia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Convertir a unidades compatibles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FÓRMULAS RAZONADAS PARA LA CLASE</a:t>
            </a:r>
            <a:endParaRPr lang="es-AR" sz="3400" dirty="0">
              <a:latin typeface="Permanent Marker"/>
            </a:endParaRPr>
          </a:p>
        </p:txBody>
      </p:sp>
      <p:sp>
        <p:nvSpPr>
          <p:cNvPr id="6"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113</a:t>
            </a:r>
            <a:endParaRPr lang="es-AR" sz="1000" dirty="0">
              <a:latin typeface="Fira Sans Condensed"/>
            </a:endParaRP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sp>
        <p:nvSpPr>
          <p:cNvPr id="7" name="Recuadro PACIENTE DISTINTO: pH "/>
          <p:cNvSpPr/>
          <p:nvPr/>
        </p:nvSpPr>
        <p:spPr>
          <a:xfrm>
            <a:off x="365760" y="1051560"/>
            <a:ext cx="114757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PACIENTE DISTINTO: pH 7,20 · HCO₃⁻ 10 mEq/L · pCO₂ 26 mmHg · Na⁺ 134 · Cl⁻ 100</a:t>
            </a:r>
            <a:endParaRPr lang="es-AR" sz="1500" dirty="0">
              <a:latin typeface="Fira Sans Condensed"/>
            </a:endParaRPr>
          </a:p>
        </p:txBody>
      </p:sp>
      <p:sp>
        <p:nvSpPr>
          <p:cNvPr id="8" name="Fórmula"/>
          <p:cNvSpPr/>
          <p:nvPr/>
        </p:nvSpPr>
        <p:spPr>
          <a:xfrm>
            <a:off x="365760" y="1828800"/>
            <a:ext cx="5577840" cy="68580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600" b="1" dirty="0">
                <a:solidFill>
                  <a:srgbClr val="1E1E1E"/>
                </a:solidFill>
                <a:latin typeface="Fira Sans Condensed"/>
                <a:ea typeface="Fira Sans Condensed"/>
                <a:cs typeface="Fira Sans Condensed"/>
                <a:sym typeface="Fira Sans Condensed"/>
              </a:rPr>
              <a:t>HH: 6,1 + log(10/0,78) ≈ 7,21 → coherente</a:t>
            </a:r>
            <a:endParaRPr lang="es-AR" sz="1600" dirty="0">
              <a:latin typeface="Fira Sans Condensed"/>
            </a:endParaRPr>
          </a:p>
        </p:txBody>
      </p:sp>
      <p:sp>
        <p:nvSpPr>
          <p:cNvPr id="9" name="Fórmula_2"/>
          <p:cNvSpPr/>
          <p:nvPr/>
        </p:nvSpPr>
        <p:spPr>
          <a:xfrm>
            <a:off x="365760" y="2697480"/>
            <a:ext cx="5577840" cy="68580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1E1E1E"/>
                </a:solidFill>
                <a:latin typeface="Fira Sans Condensed"/>
                <a:ea typeface="Fira Sans Condensed"/>
                <a:cs typeface="Fira Sans Condensed"/>
                <a:sym typeface="Fira Sans Condensed"/>
              </a:rPr>
              <a:t>Winter: 1,5 × 10 + 8 = 23 ± 2</a:t>
            </a:r>
            <a:endParaRPr lang="es-AR" sz="1700" dirty="0">
              <a:latin typeface="Fira Sans Condensed"/>
            </a:endParaRPr>
          </a:p>
        </p:txBody>
      </p:sp>
      <p:sp>
        <p:nvSpPr>
          <p:cNvPr id="10" name="Fórmula_3"/>
          <p:cNvSpPr/>
          <p:nvPr/>
        </p:nvSpPr>
        <p:spPr>
          <a:xfrm>
            <a:off x="365760" y="3566160"/>
            <a:ext cx="5577840" cy="68580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C00000"/>
                </a:solidFill>
                <a:latin typeface="Fira Sans Condensed"/>
                <a:ea typeface="Fira Sans Condensed"/>
                <a:cs typeface="Fira Sans Condensed"/>
                <a:sym typeface="Fira Sans Condensed"/>
              </a:rPr>
              <a:t>AG = 134 − (100 + 10) = 24 mEq/L</a:t>
            </a:r>
            <a:endParaRPr lang="es-AR" sz="1700" dirty="0">
              <a:latin typeface="Fira Sans Condensed"/>
            </a:endParaRPr>
          </a:p>
        </p:txBody>
      </p:sp>
      <p:sp>
        <p:nvSpPr>
          <p:cNvPr id="11" name="Forma 10"/>
          <p:cNvSpPr/>
          <p:nvPr/>
        </p:nvSpPr>
        <p:spPr>
          <a:xfrm>
            <a:off x="6263640" y="1828800"/>
            <a:ext cx="557784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Tríada </a:t>
            </a:r>
            <a:r>
              <a:rPr lang="es-AR" sz="1450" b="1" dirty="0">
                <a:solidFill>
                  <a:srgbClr val="1E1E1E"/>
                </a:solidFill>
                <a:latin typeface="Fira Sans Condensed"/>
                <a:ea typeface="Fira Sans Condensed"/>
                <a:cs typeface="Fira Sans Condensed"/>
                <a:sym typeface="Fira Sans Condensed"/>
              </a:rPr>
              <a:t>coherente</a:t>
            </a:r>
            <a:r>
              <a:rPr lang="es-AR" sz="1450" dirty="0">
                <a:solidFill>
                  <a:srgbClr val="1E1E1E"/>
                </a:solidFill>
                <a:latin typeface="Fira Sans Condensed"/>
                <a:ea typeface="Fira Sans Condensed"/>
                <a:cs typeface="Fira Sans Condensed"/>
                <a:sym typeface="Fira Sans Condensed"/>
              </a:rPr>
              <a:t>: puede interpretarse.</a:t>
            </a:r>
            <a:endParaRPr lang="es-AR" sz="1450" dirty="0">
              <a:latin typeface="Fira Sans Condensed"/>
            </a:endParaRPr>
          </a:p>
        </p:txBody>
      </p:sp>
      <p:sp>
        <p:nvSpPr>
          <p:cNvPr id="12" name="Forma 11"/>
          <p:cNvSpPr/>
          <p:nvPr/>
        </p:nvSpPr>
        <p:spPr>
          <a:xfrm>
            <a:off x="6263640" y="2697480"/>
            <a:ext cx="557784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Medida 26 &gt; 25 → compensación </a:t>
            </a:r>
            <a:r>
              <a:rPr lang="es-AR" sz="1350" b="1" dirty="0">
                <a:solidFill>
                  <a:srgbClr val="1E1E1E"/>
                </a:solidFill>
                <a:latin typeface="Fira Sans Condensed"/>
                <a:ea typeface="Fira Sans Condensed"/>
                <a:cs typeface="Fira Sans Condensed"/>
                <a:sym typeface="Fira Sans Condensed"/>
              </a:rPr>
              <a:t>insuficiente</a:t>
            </a:r>
            <a:r>
              <a:rPr lang="es-AR" sz="1350" dirty="0">
                <a:solidFill>
                  <a:srgbClr val="1E1E1E"/>
                </a:solidFill>
                <a:latin typeface="Fira Sans Condensed"/>
                <a:ea typeface="Fira Sans Condensed"/>
                <a:cs typeface="Fira Sans Condensed"/>
                <a:sym typeface="Fira Sans Condensed"/>
              </a:rPr>
              <a:t> / posible acidosis respiratoria agregada.</a:t>
            </a:r>
            <a:endParaRPr lang="es-AR" sz="1350" dirty="0">
              <a:latin typeface="Fira Sans Condensed"/>
            </a:endParaRPr>
          </a:p>
        </p:txBody>
      </p:sp>
      <p:sp>
        <p:nvSpPr>
          <p:cNvPr id="13" name="Forma 12"/>
          <p:cNvSpPr/>
          <p:nvPr/>
        </p:nvSpPr>
        <p:spPr>
          <a:xfrm>
            <a:off x="6263640" y="3566160"/>
            <a:ext cx="5577840" cy="685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AG </a:t>
            </a:r>
            <a:r>
              <a:rPr lang="es-AR" sz="1450" b="1" dirty="0">
                <a:solidFill>
                  <a:srgbClr val="1E1E1E"/>
                </a:solidFill>
                <a:latin typeface="Fira Sans Condensed"/>
                <a:ea typeface="Fira Sans Condensed"/>
                <a:cs typeface="Fira Sans Condensed"/>
                <a:sym typeface="Fira Sans Condensed"/>
              </a:rPr>
              <a:t>elevado</a:t>
            </a:r>
            <a:r>
              <a:rPr lang="es-AR" sz="1450" dirty="0">
                <a:solidFill>
                  <a:srgbClr val="1E1E1E"/>
                </a:solidFill>
                <a:latin typeface="Fira Sans Condensed"/>
                <a:ea typeface="Fira Sans Condensed"/>
                <a:cs typeface="Fira Sans Condensed"/>
                <a:sym typeface="Fira Sans Condensed"/>
              </a:rPr>
              <a:t>: aniones no medidos.</a:t>
            </a:r>
            <a:endParaRPr lang="es-AR" sz="1450" dirty="0">
              <a:latin typeface="Fira Sans Condensed"/>
            </a:endParaRPr>
          </a:p>
        </p:txBody>
      </p:sp>
      <p:sp>
        <p:nvSpPr>
          <p:cNvPr id="14" name="Perla clínica"/>
          <p:cNvSpPr/>
          <p:nvPr/>
        </p:nvSpPr>
        <p:spPr>
          <a:xfrm>
            <a:off x="365760" y="4526280"/>
            <a:ext cx="11475720" cy="10058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Nunca atribuir el AG </a:t>
            </a:r>
            <a:r>
              <a:rPr lang="es-AR" sz="1500" b="1" dirty="0">
                <a:solidFill>
                  <a:srgbClr val="FFFFFF"/>
                </a:solidFill>
                <a:latin typeface="Fira Sans Condensed"/>
                <a:ea typeface="Fira Sans Condensed"/>
                <a:cs typeface="Fira Sans Condensed"/>
                <a:sym typeface="Fira Sans Condensed"/>
              </a:rPr>
              <a:t>exclusivamente a cetonas</a:t>
            </a:r>
            <a:r>
              <a:rPr lang="es-AR" sz="1500" dirty="0">
                <a:solidFill>
                  <a:srgbClr val="FFFFFF"/>
                </a:solidFill>
                <a:latin typeface="Fira Sans Condensed"/>
                <a:ea typeface="Fira Sans Condensed"/>
                <a:cs typeface="Fira Sans Condensed"/>
                <a:sym typeface="Fira Sans Condensed"/>
              </a:rPr>
              <a:t> sin conocer </a:t>
            </a:r>
            <a:r>
              <a:rPr lang="es-AR" sz="1500" b="1" dirty="0">
                <a:solidFill>
                  <a:srgbClr val="FFFFFF"/>
                </a:solidFill>
                <a:latin typeface="Fira Sans Condensed"/>
                <a:ea typeface="Fira Sans Condensed"/>
                <a:cs typeface="Fira Sans Condensed"/>
                <a:sym typeface="Fira Sans Condensed"/>
              </a:rPr>
              <a:t>lactato, función renal y tóxicos</a:t>
            </a:r>
            <a:r>
              <a:rPr lang="es-AR" sz="1500" dirty="0">
                <a:solidFill>
                  <a:srgbClr val="FFFFFF"/>
                </a:solidFill>
                <a:latin typeface="Fira Sans Condensed"/>
                <a:ea typeface="Fira Sans Condensed"/>
                <a:cs typeface="Fira Sans Condensed"/>
                <a:sym typeface="Fira Sans Condensed"/>
              </a:rPr>
              <a:t> cuando corresponde. Cotejar y repetir según la situación clínica.</a:t>
            </a:r>
            <a:endParaRPr lang="es-AR" sz="1500" dirty="0">
              <a:latin typeface="Fira Sans Condensed"/>
            </a:endParaRPr>
          </a:p>
        </p:txBody>
      </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EJEMPLO RESUELTO CON UNA GASOMETRÍA COHERENTE</a:t>
            </a:r>
            <a:endParaRPr lang="es-AR" sz="2900" dirty="0">
              <a:latin typeface="Permanent Marker"/>
            </a:endParaRPr>
          </a:p>
        </p:txBody>
      </p:sp>
      <p:sp>
        <p:nvSpPr>
          <p:cNvPr id="6" name="Etiqueta sección"/>
          <p:cNvSpPr/>
          <p:nvPr/>
        </p:nvSpPr>
        <p:spPr>
          <a:xfrm>
            <a:off x="164592" y="6510528"/>
            <a:ext cx="187153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IV · CAD FRENTE A EHH</a:t>
            </a:r>
            <a:endParaRPr lang="es-AR" sz="950" dirty="0">
              <a:latin typeface="Fira Sans Condensed"/>
            </a:endParaRPr>
          </a:p>
        </p:txBody>
      </p:sp>
      <p:sp>
        <p:nvSpPr>
          <p:cNvPr id="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childTnLst>
                          </p:cTn>
                        </p:par>
                      </p:childTnLst>
                    </p:cTn>
                  </p:par>
                  <p:par>
                    <p:cTn id="20" fill="hold">
                      <p:stCondLst>
                        <p:cond delay="indefinite"/>
                      </p:stCondLst>
                      <p:childTnLst>
                        <p:par>
                          <p:cTn id="15"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par>
                          <p:cTn id="19"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29" fill="hold">
                      <p:stCondLst>
                        <p:cond delay="indefinite"/>
                      </p:stCondLst>
                      <p:childTnLst>
                        <p:par>
                          <p:cTn id="24"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8"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36" fill="hold">
                      <p:stCondLst>
                        <p:cond delay="indefinite"/>
                      </p:stCondLst>
                      <p:childTnLst>
                        <p:par>
                          <p:cTn id="35"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9" grpId="0" animBg="1"/>
      <p:bldP spid="12" grpId="0" animBg="1"/>
      <p:bldP spid="10" grpId="0" animBg="1"/>
      <p:bldP spid="13" grpId="0" animBg="1"/>
      <p:bldP spid="14" grpId="0" animBg="1"/>
    </p:bld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V</a:t>
            </a:r>
            <a:endParaRPr lang="es-AR" sz="2000" dirty="0">
              <a:latin typeface="Fira Sans Condensed"/>
            </a:endParaRPr>
          </a:p>
        </p:txBody>
      </p:sp>
      <p:sp>
        <p:nvSpPr>
          <p:cNvPr id="6" name="Título unidad"/>
          <p:cNvSpPr txBox="1"/>
          <p:nvPr/>
        </p:nvSpPr>
        <p:spPr>
          <a:xfrm>
            <a:off x="2468880" y="960120"/>
            <a:ext cx="7223760" cy="9352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TEJIDO ADIPOSO</a:t>
            </a:r>
            <a:endParaRPr lang="es-AR" sz="50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Histología, señalización y metabolismo de un órgano endocrino</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Órgano endocrino y expansibilidad</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Subcutáneo, visceral y ectópico</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Blanco, pardo, beige · UCP1</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Adipogénesis: PPARγ y C/EBP</a:t>
            </a:r>
            <a:endParaRPr lang="es-AR" sz="1400" dirty="0">
              <a:latin typeface="Fira Sans Condensed"/>
            </a:endParaRPr>
          </a:p>
        </p:txBody>
      </p:sp>
      <p:sp>
        <p:nvSpPr>
          <p:cNvPr id="12" name="Tema 5"/>
          <p:cNvSpPr/>
          <p:nvPr/>
        </p:nvSpPr>
        <p:spPr>
          <a:xfrm>
            <a:off x="2606040" y="5788152"/>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LPL, captación y esterificación</a:t>
            </a:r>
            <a:endParaRPr lang="es-AR" sz="1400" dirty="0">
              <a:latin typeface="Fira Sans Condensed"/>
            </a:endParaRPr>
          </a:p>
        </p:txBody>
      </p:sp>
      <p:sp>
        <p:nvSpPr>
          <p:cNvPr id="13" name="Tema 6"/>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Lipogénesis de novo</a:t>
            </a:r>
            <a:endParaRPr lang="es-AR" sz="1400" dirty="0">
              <a:latin typeface="Fira Sans Condensed"/>
            </a:endParaRPr>
          </a:p>
        </p:txBody>
      </p:sp>
      <p:sp>
        <p:nvSpPr>
          <p:cNvPr id="14" name="Tema 7"/>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Lipólisis: ATGL → HSL → MGL</a:t>
            </a:r>
            <a:endParaRPr lang="es-AR" sz="1400" dirty="0">
              <a:latin typeface="Fira Sans Condensed"/>
            </a:endParaRPr>
          </a:p>
        </p:txBody>
      </p:sp>
      <p:sp>
        <p:nvSpPr>
          <p:cNvPr id="15" name="Tema 8"/>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Adipocinas e inflamación</a:t>
            </a:r>
            <a:endParaRPr lang="es-AR" sz="1400" dirty="0">
              <a:latin typeface="Fira Sans Condensed"/>
            </a:endParaRPr>
          </a:p>
        </p:txBody>
      </p:sp>
      <p:sp>
        <p:nvSpPr>
          <p:cNvPr id="16" name="Tema 9"/>
          <p:cNvSpPr/>
          <p:nvPr/>
        </p:nvSpPr>
        <p:spPr>
          <a:xfrm>
            <a:off x="617220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Secuencia B y lipotoxicidad</a:t>
            </a:r>
            <a:endParaRPr lang="es-AR" sz="1400" dirty="0">
              <a:latin typeface="Fira Sans Condensed"/>
            </a:endParaRPr>
          </a:p>
        </p:txBody>
      </p:sp>
      <p:sp>
        <p:nvSpPr>
          <p:cNvPr id="17" name="Tema 10"/>
          <p:cNvSpPr/>
          <p:nvPr/>
        </p:nvSpPr>
        <p:spPr>
          <a:xfrm>
            <a:off x="6172200" y="5788152"/>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Mapas 4 y 5</a:t>
            </a:r>
            <a:endParaRPr lang="es-AR" sz="1400" dirty="0">
              <a:latin typeface="Fira Sans Condensed"/>
            </a:endParaRPr>
          </a:p>
        </p:txBody>
      </p:sp>
      <p:pic>
        <p:nvPicPr>
          <p:cNvPr id="18" name="Adipocitos" descr="Ilustración biomédica (Servier Medical Art, CC BY)"/>
          <p:cNvPicPr>
            <a:picLocks noChangeAspect="1"/>
          </p:cNvPicPr>
          <p:nvPr/>
        </p:nvPicPr>
        <p:blipFill>
          <a:blip r:embed="rId2"/>
          <a:stretch>
            <a:fillRect/>
          </a:stretch>
        </p:blipFill>
        <p:spPr>
          <a:xfrm>
            <a:off x="9601200" y="457200"/>
            <a:ext cx="2377440" cy="2424192"/>
          </a:xfrm>
          <a:prstGeom prst="rect">
            <a:avLst/>
          </a:prstGeom>
        </p:spPr>
      </p:pic>
      <p:pic>
        <p:nvPicPr>
          <p:cNvPr id="19" name="Tejido adiposo" descr="Ilustración biomédica (Servier Medical Art, CC BY)"/>
          <p:cNvPicPr>
            <a:picLocks noChangeAspect="1"/>
          </p:cNvPicPr>
          <p:nvPr/>
        </p:nvPicPr>
        <p:blipFill>
          <a:blip r:embed="rId3"/>
          <a:stretch>
            <a:fillRect/>
          </a:stretch>
        </p:blipFill>
        <p:spPr>
          <a:xfrm>
            <a:off x="9875520" y="3291840"/>
            <a:ext cx="1828800" cy="2424545"/>
          </a:xfrm>
          <a:prstGeom prst="rect">
            <a:avLst/>
          </a:prstGeom>
        </p:spPr>
      </p:pic>
      <p:grpSp>
        <p:nvGrpSpPr>
          <p:cNvPr id="20" name="TAG 3D"/>
          <p:cNvGrpSpPr/>
          <p:nvPr/>
        </p:nvGrpSpPr>
        <p:grpSpPr>
          <a:xfrm>
            <a:off x="-137160" y="950527"/>
            <a:ext cx="2834640" cy="1477680"/>
            <a:chOff x="-137160" y="950527"/>
            <a:chExt cx="2834640" cy="1477680"/>
          </a:xfrm>
        </p:grpSpPr>
        <p:sp>
          <p:nvSpPr>
            <p:cNvPr id="21" name="Átomo C"/>
            <p:cNvSpPr/>
            <p:nvPr/>
          </p:nvSpPr>
          <p:spPr>
            <a:xfrm>
              <a:off x="2251063" y="1380589"/>
              <a:ext cx="82110" cy="8211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 name="Flecha 21_2"/>
            <p:cNvSpPr/>
            <p:nvPr/>
          </p:nvSpPr>
          <p:spPr>
            <a:xfrm>
              <a:off x="2292118" y="1280765"/>
              <a:ext cx="50534" cy="140879"/>
            </a:xfrm>
            <a:custGeom>
              <a:avLst/>
              <a:gdLst/>
              <a:ahLst/>
              <a:cxnLst/>
              <a:rect l="0" t="0" r="r" b="b"/>
              <a:pathLst>
                <a:path w="55" h="154" fill="none">
                  <a:moveTo>
                    <a:pt x="0" y="154"/>
                  </a:moveTo>
                  <a:lnTo>
                    <a:pt x="55" y="0"/>
                  </a:lnTo>
                </a:path>
              </a:pathLst>
            </a:custGeom>
            <a:noFill/>
            <a:ln w="19050" cap="rnd">
              <a:solidFill>
                <a:srgbClr val="9A9A9A"/>
              </a:solidFill>
              <a:round/>
            </a:ln>
          </p:spPr>
        </p:sp>
        <p:sp>
          <p:nvSpPr>
            <p:cNvPr id="23" name="Átomo C_2"/>
            <p:cNvSpPr/>
            <p:nvPr/>
          </p:nvSpPr>
          <p:spPr>
            <a:xfrm>
              <a:off x="2301422" y="1239535"/>
              <a:ext cx="82460" cy="8246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 name="Flecha 24_2"/>
            <p:cNvSpPr/>
            <p:nvPr/>
          </p:nvSpPr>
          <p:spPr>
            <a:xfrm>
              <a:off x="2181235" y="1421644"/>
              <a:ext cx="110882" cy="43613"/>
            </a:xfrm>
            <a:custGeom>
              <a:avLst/>
              <a:gdLst/>
              <a:ahLst/>
              <a:cxnLst/>
              <a:rect l="0" t="0" r="r" b="b"/>
              <a:pathLst>
                <a:path w="121" h="47" fill="none">
                  <a:moveTo>
                    <a:pt x="0" y="47"/>
                  </a:moveTo>
                  <a:lnTo>
                    <a:pt x="121" y="0"/>
                  </a:lnTo>
                </a:path>
              </a:pathLst>
            </a:custGeom>
            <a:noFill/>
            <a:ln w="19050" cap="rnd">
              <a:solidFill>
                <a:srgbClr val="9A9A9A"/>
              </a:solidFill>
              <a:round/>
            </a:ln>
          </p:spPr>
        </p:sp>
        <p:sp>
          <p:nvSpPr>
            <p:cNvPr id="25" name="Átomo C_3"/>
            <p:cNvSpPr/>
            <p:nvPr/>
          </p:nvSpPr>
          <p:spPr>
            <a:xfrm>
              <a:off x="2087849" y="1564829"/>
              <a:ext cx="82803" cy="828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 name="Flecha 27_2"/>
            <p:cNvSpPr/>
            <p:nvPr/>
          </p:nvSpPr>
          <p:spPr>
            <a:xfrm>
              <a:off x="2129251" y="1465257"/>
              <a:ext cx="51985" cy="140974"/>
            </a:xfrm>
            <a:custGeom>
              <a:avLst/>
              <a:gdLst/>
              <a:ahLst/>
              <a:cxnLst/>
              <a:rect l="0" t="0" r="r" b="b"/>
              <a:pathLst>
                <a:path w="56" h="154" fill="none">
                  <a:moveTo>
                    <a:pt x="0" y="154"/>
                  </a:moveTo>
                  <a:lnTo>
                    <a:pt x="56" y="0"/>
                  </a:lnTo>
                </a:path>
              </a:pathLst>
            </a:custGeom>
            <a:noFill/>
            <a:ln w="19050" cap="rnd">
              <a:solidFill>
                <a:srgbClr val="9A9A9A"/>
              </a:solidFill>
              <a:round/>
            </a:ln>
          </p:spPr>
        </p:sp>
        <p:sp>
          <p:nvSpPr>
            <p:cNvPr id="27" name="Átomo C_4"/>
            <p:cNvSpPr/>
            <p:nvPr/>
          </p:nvSpPr>
          <p:spPr>
            <a:xfrm>
              <a:off x="2139651" y="1423673"/>
              <a:ext cx="83169" cy="831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0_2"/>
            <p:cNvSpPr/>
            <p:nvPr/>
          </p:nvSpPr>
          <p:spPr>
            <a:xfrm>
              <a:off x="2017352" y="1606231"/>
              <a:ext cx="111899" cy="42592"/>
            </a:xfrm>
            <a:custGeom>
              <a:avLst/>
              <a:gdLst/>
              <a:ahLst/>
              <a:cxnLst/>
              <a:rect l="0" t="0" r="r" b="b"/>
              <a:pathLst>
                <a:path w="122" h="46" fill="none">
                  <a:moveTo>
                    <a:pt x="0" y="46"/>
                  </a:moveTo>
                  <a:lnTo>
                    <a:pt x="122" y="0"/>
                  </a:lnTo>
                </a:path>
              </a:pathLst>
            </a:custGeom>
            <a:noFill/>
            <a:ln w="19050" cap="rnd">
              <a:solidFill>
                <a:srgbClr val="9A9A9A"/>
              </a:solidFill>
              <a:round/>
            </a:ln>
          </p:spPr>
        </p:sp>
        <p:sp>
          <p:nvSpPr>
            <p:cNvPr id="29" name="Átomo C_5"/>
            <p:cNvSpPr/>
            <p:nvPr/>
          </p:nvSpPr>
          <p:spPr>
            <a:xfrm>
              <a:off x="1921793" y="1747237"/>
              <a:ext cx="83483" cy="834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Flecha 33_2"/>
            <p:cNvSpPr/>
            <p:nvPr/>
          </p:nvSpPr>
          <p:spPr>
            <a:xfrm>
              <a:off x="1963534" y="1648823"/>
              <a:ext cx="53818" cy="140156"/>
            </a:xfrm>
            <a:custGeom>
              <a:avLst/>
              <a:gdLst/>
              <a:ahLst/>
              <a:cxnLst/>
              <a:rect l="0" t="0" r="r" b="b"/>
              <a:pathLst>
                <a:path w="58" h="153" fill="none">
                  <a:moveTo>
                    <a:pt x="0" y="153"/>
                  </a:moveTo>
                  <a:lnTo>
                    <a:pt x="58" y="0"/>
                  </a:lnTo>
                </a:path>
              </a:pathLst>
            </a:custGeom>
            <a:noFill/>
            <a:ln w="19050" cap="rnd">
              <a:solidFill>
                <a:srgbClr val="9A9A9A"/>
              </a:solidFill>
              <a:round/>
            </a:ln>
          </p:spPr>
        </p:sp>
        <p:sp>
          <p:nvSpPr>
            <p:cNvPr id="31" name="Átomo C_6"/>
            <p:cNvSpPr/>
            <p:nvPr/>
          </p:nvSpPr>
          <p:spPr>
            <a:xfrm>
              <a:off x="1975424" y="1606894"/>
              <a:ext cx="83857" cy="838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2" name="Flecha 36_2"/>
            <p:cNvSpPr/>
            <p:nvPr/>
          </p:nvSpPr>
          <p:spPr>
            <a:xfrm>
              <a:off x="1850069" y="1788978"/>
              <a:ext cx="113466" cy="40808"/>
            </a:xfrm>
            <a:custGeom>
              <a:avLst/>
              <a:gdLst/>
              <a:ahLst/>
              <a:cxnLst/>
              <a:rect l="0" t="0" r="r" b="b"/>
              <a:pathLst>
                <a:path w="124" h="44" fill="none">
                  <a:moveTo>
                    <a:pt x="0" y="44"/>
                  </a:moveTo>
                  <a:lnTo>
                    <a:pt x="124" y="0"/>
                  </a:lnTo>
                </a:path>
              </a:pathLst>
            </a:custGeom>
            <a:noFill/>
            <a:ln w="19050" cap="rnd">
              <a:solidFill>
                <a:srgbClr val="9A9A9A"/>
              </a:solidFill>
              <a:round/>
            </a:ln>
          </p:spPr>
        </p:sp>
        <p:sp>
          <p:nvSpPr>
            <p:cNvPr id="33" name="Átomo C_7"/>
            <p:cNvSpPr/>
            <p:nvPr/>
          </p:nvSpPr>
          <p:spPr>
            <a:xfrm>
              <a:off x="1751280" y="1926335"/>
              <a:ext cx="84140" cy="8414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4" name="Flecha 39_2"/>
            <p:cNvSpPr/>
            <p:nvPr/>
          </p:nvSpPr>
          <p:spPr>
            <a:xfrm>
              <a:off x="1793350" y="1829786"/>
              <a:ext cx="56718" cy="138619"/>
            </a:xfrm>
            <a:custGeom>
              <a:avLst/>
              <a:gdLst/>
              <a:ahLst/>
              <a:cxnLst/>
              <a:rect l="0" t="0" r="r" b="b"/>
              <a:pathLst>
                <a:path w="62" h="151" fill="none">
                  <a:moveTo>
                    <a:pt x="0" y="151"/>
                  </a:moveTo>
                  <a:lnTo>
                    <a:pt x="62" y="0"/>
                  </a:lnTo>
                </a:path>
              </a:pathLst>
            </a:custGeom>
            <a:noFill/>
            <a:ln w="19050" cap="rnd">
              <a:solidFill>
                <a:srgbClr val="9A9A9A"/>
              </a:solidFill>
              <a:round/>
            </a:ln>
          </p:spPr>
        </p:sp>
        <p:sp>
          <p:nvSpPr>
            <p:cNvPr id="35" name="Átomo C_8"/>
            <p:cNvSpPr/>
            <p:nvPr/>
          </p:nvSpPr>
          <p:spPr>
            <a:xfrm>
              <a:off x="1807805" y="1787523"/>
              <a:ext cx="84527" cy="8452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6" name="Flecha 42_2"/>
            <p:cNvSpPr/>
            <p:nvPr/>
          </p:nvSpPr>
          <p:spPr>
            <a:xfrm>
              <a:off x="1687001" y="1968405"/>
              <a:ext cx="106349" cy="50110"/>
            </a:xfrm>
            <a:custGeom>
              <a:avLst/>
              <a:gdLst/>
              <a:ahLst/>
              <a:cxnLst/>
              <a:rect l="0" t="0" r="r" b="b"/>
              <a:pathLst>
                <a:path w="116" h="54" fill="none">
                  <a:moveTo>
                    <a:pt x="0" y="54"/>
                  </a:moveTo>
                  <a:lnTo>
                    <a:pt x="116" y="0"/>
                  </a:lnTo>
                </a:path>
              </a:pathLst>
            </a:custGeom>
            <a:noFill/>
            <a:ln w="19050" cap="rnd">
              <a:solidFill>
                <a:srgbClr val="9A9A9A"/>
              </a:solidFill>
              <a:round/>
            </a:ln>
          </p:spPr>
        </p:sp>
        <p:sp>
          <p:nvSpPr>
            <p:cNvPr id="37" name="Átomo C_9"/>
            <p:cNvSpPr/>
            <p:nvPr/>
          </p:nvSpPr>
          <p:spPr>
            <a:xfrm>
              <a:off x="1644388" y="1975902"/>
              <a:ext cx="85226" cy="852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45_2"/>
            <p:cNvSpPr/>
            <p:nvPr/>
          </p:nvSpPr>
          <p:spPr>
            <a:xfrm>
              <a:off x="1561374" y="1929711"/>
              <a:ext cx="125627" cy="88804"/>
            </a:xfrm>
            <a:custGeom>
              <a:avLst/>
              <a:gdLst/>
              <a:ahLst/>
              <a:cxnLst/>
              <a:rect l="0" t="0" r="r" b="b"/>
              <a:pathLst>
                <a:path w="137" h="97" fill="none">
                  <a:moveTo>
                    <a:pt x="0" y="0"/>
                  </a:moveTo>
                  <a:lnTo>
                    <a:pt x="137" y="97"/>
                  </a:lnTo>
                </a:path>
              </a:pathLst>
            </a:custGeom>
            <a:noFill/>
            <a:ln w="19050" cap="rnd">
              <a:solidFill>
                <a:srgbClr val="9A9A9A"/>
              </a:solidFill>
              <a:round/>
            </a:ln>
          </p:spPr>
        </p:sp>
        <p:sp>
          <p:nvSpPr>
            <p:cNvPr id="39" name="Átomo C_10"/>
            <p:cNvSpPr/>
            <p:nvPr/>
          </p:nvSpPr>
          <p:spPr>
            <a:xfrm>
              <a:off x="1518737" y="1887074"/>
              <a:ext cx="85275" cy="852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Átomo C_11"/>
            <p:cNvSpPr/>
            <p:nvPr/>
          </p:nvSpPr>
          <p:spPr>
            <a:xfrm>
              <a:off x="1098060" y="1077961"/>
              <a:ext cx="85626" cy="856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1" name="Flecha 49_2"/>
            <p:cNvSpPr/>
            <p:nvPr/>
          </p:nvSpPr>
          <p:spPr>
            <a:xfrm>
              <a:off x="1453697" y="1929711"/>
              <a:ext cx="107678" cy="58836"/>
            </a:xfrm>
            <a:custGeom>
              <a:avLst/>
              <a:gdLst/>
              <a:ahLst/>
              <a:cxnLst/>
              <a:rect l="0" t="0" r="r" b="b"/>
              <a:pathLst>
                <a:path w="117" h="64" fill="none">
                  <a:moveTo>
                    <a:pt x="0" y="64"/>
                  </a:moveTo>
                  <a:lnTo>
                    <a:pt x="117" y="0"/>
                  </a:lnTo>
                </a:path>
              </a:pathLst>
            </a:custGeom>
            <a:noFill/>
            <a:ln w="19050" cap="rnd">
              <a:solidFill>
                <a:srgbClr val="9A9A9A"/>
              </a:solidFill>
              <a:round/>
            </a:ln>
          </p:spPr>
        </p:sp>
        <p:sp>
          <p:nvSpPr>
            <p:cNvPr id="42" name="Átomo O"/>
            <p:cNvSpPr/>
            <p:nvPr/>
          </p:nvSpPr>
          <p:spPr>
            <a:xfrm>
              <a:off x="1304703" y="1736193"/>
              <a:ext cx="81033" cy="810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3" name="Flecha 52_2"/>
            <p:cNvSpPr/>
            <p:nvPr/>
          </p:nvSpPr>
          <p:spPr>
            <a:xfrm>
              <a:off x="1230039" y="1689680"/>
              <a:ext cx="115180" cy="87029"/>
            </a:xfrm>
            <a:custGeom>
              <a:avLst/>
              <a:gdLst/>
              <a:ahLst/>
              <a:cxnLst/>
              <a:rect l="0" t="0" r="r" b="b"/>
              <a:pathLst>
                <a:path w="125" h="95" fill="none">
                  <a:moveTo>
                    <a:pt x="0" y="0"/>
                  </a:moveTo>
                  <a:lnTo>
                    <a:pt x="125" y="95"/>
                  </a:lnTo>
                </a:path>
              </a:pathLst>
            </a:custGeom>
            <a:noFill/>
            <a:ln w="19050" cap="rnd">
              <a:solidFill>
                <a:srgbClr val="9A9A9A"/>
              </a:solidFill>
              <a:round/>
            </a:ln>
          </p:spPr>
        </p:sp>
        <p:sp>
          <p:nvSpPr>
            <p:cNvPr id="44" name="Átomo C_12"/>
            <p:cNvSpPr/>
            <p:nvPr/>
          </p:nvSpPr>
          <p:spPr>
            <a:xfrm>
              <a:off x="1187034" y="1646675"/>
              <a:ext cx="86010" cy="8601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5" name="Flecha 55_2"/>
            <p:cNvSpPr/>
            <p:nvPr/>
          </p:nvSpPr>
          <p:spPr>
            <a:xfrm>
              <a:off x="1140873" y="1120774"/>
              <a:ext cx="98034" cy="87193"/>
            </a:xfrm>
            <a:custGeom>
              <a:avLst/>
              <a:gdLst/>
              <a:ahLst/>
              <a:cxnLst/>
              <a:rect l="0" t="0" r="r" b="b"/>
              <a:pathLst>
                <a:path w="107" h="95" fill="none">
                  <a:moveTo>
                    <a:pt x="0" y="0"/>
                  </a:moveTo>
                  <a:lnTo>
                    <a:pt x="107" y="95"/>
                  </a:lnTo>
                </a:path>
              </a:pathLst>
            </a:custGeom>
            <a:noFill/>
            <a:ln w="19050" cap="rnd">
              <a:solidFill>
                <a:srgbClr val="9A9A9A"/>
              </a:solidFill>
              <a:round/>
            </a:ln>
          </p:spPr>
        </p:sp>
        <p:sp>
          <p:nvSpPr>
            <p:cNvPr id="46" name="Flecha 57_2"/>
            <p:cNvSpPr/>
            <p:nvPr/>
          </p:nvSpPr>
          <p:spPr>
            <a:xfrm>
              <a:off x="1325660" y="1776709"/>
              <a:ext cx="19559" cy="129656"/>
            </a:xfrm>
            <a:custGeom>
              <a:avLst/>
              <a:gdLst/>
              <a:ahLst/>
              <a:cxnLst/>
              <a:rect l="0" t="0" r="r" b="b"/>
              <a:pathLst>
                <a:path w="21" h="141" fill="none">
                  <a:moveTo>
                    <a:pt x="21" y="0"/>
                  </a:moveTo>
                  <a:lnTo>
                    <a:pt x="0" y="141"/>
                  </a:lnTo>
                </a:path>
              </a:pathLst>
            </a:custGeom>
            <a:noFill/>
            <a:ln w="19050" cap="rnd">
              <a:solidFill>
                <a:srgbClr val="9A9A9A"/>
              </a:solidFill>
              <a:round/>
            </a:ln>
          </p:spPr>
        </p:sp>
        <p:sp>
          <p:nvSpPr>
            <p:cNvPr id="47" name="Átomo C_13"/>
            <p:cNvSpPr/>
            <p:nvPr/>
          </p:nvSpPr>
          <p:spPr>
            <a:xfrm>
              <a:off x="1410553" y="1945404"/>
              <a:ext cx="86287" cy="8628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Flecha 60_2"/>
            <p:cNvSpPr/>
            <p:nvPr/>
          </p:nvSpPr>
          <p:spPr>
            <a:xfrm>
              <a:off x="1325660" y="1906365"/>
              <a:ext cx="128037" cy="82182"/>
            </a:xfrm>
            <a:custGeom>
              <a:avLst/>
              <a:gdLst/>
              <a:ahLst/>
              <a:cxnLst/>
              <a:rect l="0" t="0" r="r" b="b"/>
              <a:pathLst>
                <a:path w="140" h="89" fill="none">
                  <a:moveTo>
                    <a:pt x="0" y="0"/>
                  </a:moveTo>
                  <a:lnTo>
                    <a:pt x="140" y="89"/>
                  </a:lnTo>
                </a:path>
              </a:pathLst>
            </a:custGeom>
            <a:noFill/>
            <a:ln w="19050" cap="rnd">
              <a:solidFill>
                <a:srgbClr val="9A9A9A"/>
              </a:solidFill>
              <a:round/>
            </a:ln>
          </p:spPr>
        </p:sp>
        <p:sp>
          <p:nvSpPr>
            <p:cNvPr id="49" name="Átomo C_14"/>
            <p:cNvSpPr/>
            <p:nvPr/>
          </p:nvSpPr>
          <p:spPr>
            <a:xfrm>
              <a:off x="1282478" y="1863183"/>
              <a:ext cx="86364" cy="863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Átomo C_15"/>
            <p:cNvSpPr/>
            <p:nvPr/>
          </p:nvSpPr>
          <p:spPr>
            <a:xfrm>
              <a:off x="1195665" y="1164725"/>
              <a:ext cx="86484" cy="8648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1" name="Flecha 64_2"/>
            <p:cNvSpPr/>
            <p:nvPr/>
          </p:nvSpPr>
          <p:spPr>
            <a:xfrm>
              <a:off x="1238907" y="1151440"/>
              <a:ext cx="143314" cy="56527"/>
            </a:xfrm>
            <a:custGeom>
              <a:avLst/>
              <a:gdLst/>
              <a:ahLst/>
              <a:cxnLst/>
              <a:rect l="0" t="0" r="r" b="b"/>
              <a:pathLst>
                <a:path w="156" h="61" fill="none">
                  <a:moveTo>
                    <a:pt x="0" y="61"/>
                  </a:moveTo>
                  <a:lnTo>
                    <a:pt x="156" y="0"/>
                  </a:lnTo>
                </a:path>
              </a:pathLst>
            </a:custGeom>
            <a:noFill/>
            <a:ln w="19050" cap="rnd">
              <a:solidFill>
                <a:srgbClr val="9A9A9A"/>
              </a:solidFill>
              <a:round/>
            </a:ln>
          </p:spPr>
        </p:sp>
        <p:sp>
          <p:nvSpPr>
            <p:cNvPr id="52" name="Átomo C_16"/>
            <p:cNvSpPr/>
            <p:nvPr/>
          </p:nvSpPr>
          <p:spPr>
            <a:xfrm>
              <a:off x="1338960" y="1108179"/>
              <a:ext cx="86522" cy="8652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3" name="Flecha 67_2"/>
            <p:cNvSpPr/>
            <p:nvPr/>
          </p:nvSpPr>
          <p:spPr>
            <a:xfrm>
              <a:off x="1215559" y="1898015"/>
              <a:ext cx="106593" cy="44791"/>
            </a:xfrm>
            <a:custGeom>
              <a:avLst/>
              <a:gdLst/>
              <a:ahLst/>
              <a:cxnLst/>
              <a:rect l="0" t="0" r="r" b="b"/>
              <a:pathLst>
                <a:path w="116" h="48" fill="none">
                  <a:moveTo>
                    <a:pt x="116" y="0"/>
                  </a:moveTo>
                  <a:lnTo>
                    <a:pt x="0" y="48"/>
                  </a:lnTo>
                </a:path>
              </a:pathLst>
            </a:custGeom>
            <a:noFill/>
            <a:ln w="15240" cap="rnd">
              <a:solidFill>
                <a:srgbClr val="9A9A9A"/>
              </a:solidFill>
              <a:round/>
            </a:ln>
          </p:spPr>
        </p:sp>
        <p:sp>
          <p:nvSpPr>
            <p:cNvPr id="54" name="Flecha 69_2"/>
            <p:cNvSpPr/>
            <p:nvPr/>
          </p:nvSpPr>
          <p:spPr>
            <a:xfrm>
              <a:off x="1222576" y="1914715"/>
              <a:ext cx="106593" cy="44791"/>
            </a:xfrm>
            <a:custGeom>
              <a:avLst/>
              <a:gdLst/>
              <a:ahLst/>
              <a:cxnLst/>
              <a:rect l="0" t="0" r="r" b="b"/>
              <a:pathLst>
                <a:path w="116" h="48" fill="none">
                  <a:moveTo>
                    <a:pt x="116" y="0"/>
                  </a:moveTo>
                  <a:lnTo>
                    <a:pt x="0" y="48"/>
                  </a:lnTo>
                </a:path>
              </a:pathLst>
            </a:custGeom>
            <a:noFill/>
            <a:ln w="15240" cap="rnd">
              <a:solidFill>
                <a:srgbClr val="9A9A9A"/>
              </a:solidFill>
              <a:round/>
            </a:ln>
          </p:spPr>
        </p:sp>
        <p:sp>
          <p:nvSpPr>
            <p:cNvPr id="55" name="Flecha 71_2"/>
            <p:cNvSpPr/>
            <p:nvPr/>
          </p:nvSpPr>
          <p:spPr>
            <a:xfrm>
              <a:off x="1196477" y="1641992"/>
              <a:ext cx="33562" cy="47688"/>
            </a:xfrm>
            <a:custGeom>
              <a:avLst/>
              <a:gdLst/>
              <a:ahLst/>
              <a:cxnLst/>
              <a:rect l="0" t="0" r="r" b="b"/>
              <a:pathLst>
                <a:path w="36" h="52" fill="none">
                  <a:moveTo>
                    <a:pt x="0" y="0"/>
                  </a:moveTo>
                  <a:lnTo>
                    <a:pt x="36" y="52"/>
                  </a:lnTo>
                </a:path>
              </a:pathLst>
            </a:custGeom>
            <a:noFill/>
            <a:ln w="19050" cap="rnd">
              <a:solidFill>
                <a:srgbClr val="9A9A9A"/>
              </a:solidFill>
              <a:round/>
            </a:ln>
          </p:spPr>
        </p:sp>
        <p:sp>
          <p:nvSpPr>
            <p:cNvPr id="56" name="Átomo O_2"/>
            <p:cNvSpPr/>
            <p:nvPr/>
          </p:nvSpPr>
          <p:spPr>
            <a:xfrm>
              <a:off x="1178136" y="1910224"/>
              <a:ext cx="81862" cy="8186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7" name="Flecha 74_2"/>
            <p:cNvSpPr/>
            <p:nvPr/>
          </p:nvSpPr>
          <p:spPr>
            <a:xfrm>
              <a:off x="1382222" y="1010523"/>
              <a:ext cx="14693" cy="140917"/>
            </a:xfrm>
            <a:custGeom>
              <a:avLst/>
              <a:gdLst/>
              <a:ahLst/>
              <a:cxnLst/>
              <a:rect l="0" t="0" r="r" b="b"/>
              <a:pathLst>
                <a:path w="16" h="154" fill="none">
                  <a:moveTo>
                    <a:pt x="0" y="154"/>
                  </a:moveTo>
                  <a:lnTo>
                    <a:pt x="16" y="0"/>
                  </a:lnTo>
                </a:path>
              </a:pathLst>
            </a:custGeom>
            <a:noFill/>
            <a:ln w="19050" cap="rnd">
              <a:solidFill>
                <a:srgbClr val="9A9A9A"/>
              </a:solidFill>
              <a:round/>
            </a:ln>
          </p:spPr>
        </p:sp>
        <p:sp>
          <p:nvSpPr>
            <p:cNvPr id="58" name="Átomo O_3"/>
            <p:cNvSpPr/>
            <p:nvPr/>
          </p:nvSpPr>
          <p:spPr>
            <a:xfrm>
              <a:off x="889153" y="1625848"/>
              <a:ext cx="81977" cy="8197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9" name="Flecha 77_2"/>
            <p:cNvSpPr/>
            <p:nvPr/>
          </p:nvSpPr>
          <p:spPr>
            <a:xfrm>
              <a:off x="921743" y="1551412"/>
              <a:ext cx="45228" cy="112034"/>
            </a:xfrm>
            <a:custGeom>
              <a:avLst/>
              <a:gdLst/>
              <a:ahLst/>
              <a:cxnLst/>
              <a:rect l="0" t="0" r="r" b="b"/>
              <a:pathLst>
                <a:path w="49" h="122" fill="none">
                  <a:moveTo>
                    <a:pt x="49" y="0"/>
                  </a:moveTo>
                  <a:lnTo>
                    <a:pt x="0" y="122"/>
                  </a:lnTo>
                </a:path>
              </a:pathLst>
            </a:custGeom>
            <a:noFill/>
            <a:ln w="15240" cap="rnd">
              <a:solidFill>
                <a:srgbClr val="9A9A9A"/>
              </a:solidFill>
              <a:round/>
            </a:ln>
          </p:spPr>
        </p:sp>
        <p:sp>
          <p:nvSpPr>
            <p:cNvPr id="60" name="Flecha 79_2"/>
            <p:cNvSpPr/>
            <p:nvPr/>
          </p:nvSpPr>
          <p:spPr>
            <a:xfrm>
              <a:off x="938540" y="1558193"/>
              <a:ext cx="45228" cy="112034"/>
            </a:xfrm>
            <a:custGeom>
              <a:avLst/>
              <a:gdLst/>
              <a:ahLst/>
              <a:cxnLst/>
              <a:rect l="0" t="0" r="r" b="b"/>
              <a:pathLst>
                <a:path w="49" h="122" fill="none">
                  <a:moveTo>
                    <a:pt x="49" y="0"/>
                  </a:moveTo>
                  <a:lnTo>
                    <a:pt x="0" y="122"/>
                  </a:lnTo>
                </a:path>
              </a:pathLst>
            </a:custGeom>
            <a:noFill/>
            <a:ln w="15240" cap="rnd">
              <a:solidFill>
                <a:srgbClr val="9A9A9A"/>
              </a:solidFill>
              <a:round/>
            </a:ln>
          </p:spPr>
        </p:sp>
        <p:sp>
          <p:nvSpPr>
            <p:cNvPr id="61" name="Átomo C_17"/>
            <p:cNvSpPr/>
            <p:nvPr/>
          </p:nvSpPr>
          <p:spPr>
            <a:xfrm>
              <a:off x="852844" y="1381496"/>
              <a:ext cx="87108" cy="871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2" name="Flecha 82_2"/>
            <p:cNvSpPr/>
            <p:nvPr/>
          </p:nvSpPr>
          <p:spPr>
            <a:xfrm>
              <a:off x="896398" y="1425050"/>
              <a:ext cx="78972" cy="129753"/>
            </a:xfrm>
            <a:custGeom>
              <a:avLst/>
              <a:gdLst/>
              <a:ahLst/>
              <a:cxnLst/>
              <a:rect l="0" t="0" r="r" b="b"/>
              <a:pathLst>
                <a:path w="86" h="141" fill="none">
                  <a:moveTo>
                    <a:pt x="86" y="141"/>
                  </a:moveTo>
                  <a:lnTo>
                    <a:pt x="0" y="0"/>
                  </a:lnTo>
                </a:path>
              </a:pathLst>
            </a:custGeom>
            <a:noFill/>
            <a:ln w="19050" cap="rnd">
              <a:solidFill>
                <a:srgbClr val="9A9A9A"/>
              </a:solidFill>
              <a:round/>
            </a:ln>
          </p:spPr>
        </p:sp>
        <p:sp>
          <p:nvSpPr>
            <p:cNvPr id="63" name="Flecha 84_2"/>
            <p:cNvSpPr/>
            <p:nvPr/>
          </p:nvSpPr>
          <p:spPr>
            <a:xfrm>
              <a:off x="744495" y="1425050"/>
              <a:ext cx="151902" cy="19398"/>
            </a:xfrm>
            <a:custGeom>
              <a:avLst/>
              <a:gdLst/>
              <a:ahLst/>
              <a:cxnLst/>
              <a:rect l="0" t="0" r="r" b="b"/>
              <a:pathLst>
                <a:path w="166" h="21" fill="none">
                  <a:moveTo>
                    <a:pt x="166" y="0"/>
                  </a:moveTo>
                  <a:lnTo>
                    <a:pt x="0" y="21"/>
                  </a:lnTo>
                </a:path>
              </a:pathLst>
            </a:custGeom>
            <a:noFill/>
            <a:ln w="19050" cap="rnd">
              <a:solidFill>
                <a:srgbClr val="9A9A9A"/>
              </a:solidFill>
              <a:round/>
            </a:ln>
          </p:spPr>
        </p:sp>
        <p:sp>
          <p:nvSpPr>
            <p:cNvPr id="64" name="Átomo C_18"/>
            <p:cNvSpPr/>
            <p:nvPr/>
          </p:nvSpPr>
          <p:spPr>
            <a:xfrm>
              <a:off x="1353322" y="966930"/>
              <a:ext cx="87186" cy="8718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5" name="Átomo C_19"/>
            <p:cNvSpPr/>
            <p:nvPr/>
          </p:nvSpPr>
          <p:spPr>
            <a:xfrm>
              <a:off x="931776" y="1511209"/>
              <a:ext cx="87186" cy="8718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6" name="Átomo C_20"/>
            <p:cNvSpPr/>
            <p:nvPr/>
          </p:nvSpPr>
          <p:spPr>
            <a:xfrm>
              <a:off x="700866" y="1400818"/>
              <a:ext cx="87258" cy="8725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7" name="Flecha 89_2"/>
            <p:cNvSpPr/>
            <p:nvPr/>
          </p:nvSpPr>
          <p:spPr>
            <a:xfrm>
              <a:off x="975369" y="1527356"/>
              <a:ext cx="131081" cy="27447"/>
            </a:xfrm>
            <a:custGeom>
              <a:avLst/>
              <a:gdLst/>
              <a:ahLst/>
              <a:cxnLst/>
              <a:rect l="0" t="0" r="r" b="b"/>
              <a:pathLst>
                <a:path w="143" h="30" fill="none">
                  <a:moveTo>
                    <a:pt x="143" y="0"/>
                  </a:moveTo>
                  <a:lnTo>
                    <a:pt x="0" y="30"/>
                  </a:lnTo>
                </a:path>
              </a:pathLst>
            </a:custGeom>
            <a:noFill/>
            <a:ln w="19050" cap="rnd">
              <a:solidFill>
                <a:srgbClr val="9A9A9A"/>
              </a:solidFill>
              <a:round/>
            </a:ln>
          </p:spPr>
        </p:sp>
        <p:sp>
          <p:nvSpPr>
            <p:cNvPr id="68" name="Átomo O_4"/>
            <p:cNvSpPr/>
            <p:nvPr/>
          </p:nvSpPr>
          <p:spPr>
            <a:xfrm>
              <a:off x="1065200" y="1486105"/>
              <a:ext cx="82501" cy="8250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9" name="Flecha 92_2"/>
            <p:cNvSpPr/>
            <p:nvPr/>
          </p:nvSpPr>
          <p:spPr>
            <a:xfrm>
              <a:off x="1106450" y="1527356"/>
              <a:ext cx="90027" cy="114636"/>
            </a:xfrm>
            <a:custGeom>
              <a:avLst/>
              <a:gdLst/>
              <a:ahLst/>
              <a:cxnLst/>
              <a:rect l="0" t="0" r="r" b="b"/>
              <a:pathLst>
                <a:path w="98" h="125" fill="none">
                  <a:moveTo>
                    <a:pt x="98" y="125"/>
                  </a:moveTo>
                  <a:lnTo>
                    <a:pt x="0" y="0"/>
                  </a:lnTo>
                </a:path>
              </a:pathLst>
            </a:custGeom>
            <a:noFill/>
            <a:ln w="19050" cap="rnd">
              <a:solidFill>
                <a:srgbClr val="9A9A9A"/>
              </a:solidFill>
              <a:round/>
            </a:ln>
          </p:spPr>
        </p:sp>
        <p:sp>
          <p:nvSpPr>
            <p:cNvPr id="70" name="Átomo C_21"/>
            <p:cNvSpPr/>
            <p:nvPr/>
          </p:nvSpPr>
          <p:spPr>
            <a:xfrm>
              <a:off x="1152691" y="1598207"/>
              <a:ext cx="87571" cy="875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95_2"/>
            <p:cNvSpPr/>
            <p:nvPr/>
          </p:nvSpPr>
          <p:spPr>
            <a:xfrm>
              <a:off x="1346255" y="994908"/>
              <a:ext cx="50660" cy="15615"/>
            </a:xfrm>
            <a:custGeom>
              <a:avLst/>
              <a:gdLst/>
              <a:ahLst/>
              <a:cxnLst/>
              <a:rect l="0" t="0" r="r" b="b"/>
              <a:pathLst>
                <a:path w="55" h="17" fill="none">
                  <a:moveTo>
                    <a:pt x="55" y="17"/>
                  </a:moveTo>
                  <a:lnTo>
                    <a:pt x="0" y="0"/>
                  </a:lnTo>
                </a:path>
              </a:pathLst>
            </a:custGeom>
            <a:noFill/>
            <a:ln w="19050" cap="rnd">
              <a:solidFill>
                <a:srgbClr val="9A9A9A"/>
              </a:solidFill>
              <a:round/>
            </a:ln>
          </p:spPr>
        </p:sp>
        <p:sp>
          <p:nvSpPr>
            <p:cNvPr id="72" name="Flecha 97_2"/>
            <p:cNvSpPr/>
            <p:nvPr/>
          </p:nvSpPr>
          <p:spPr>
            <a:xfrm>
              <a:off x="1196477" y="1596850"/>
              <a:ext cx="127308" cy="45143"/>
            </a:xfrm>
            <a:custGeom>
              <a:avLst/>
              <a:gdLst/>
              <a:ahLst/>
              <a:cxnLst/>
              <a:rect l="0" t="0" r="r" b="b"/>
              <a:pathLst>
                <a:path w="139" h="49" fill="none">
                  <a:moveTo>
                    <a:pt x="139" y="0"/>
                  </a:moveTo>
                  <a:lnTo>
                    <a:pt x="0" y="49"/>
                  </a:lnTo>
                </a:path>
              </a:pathLst>
            </a:custGeom>
            <a:noFill/>
            <a:ln w="19050" cap="rnd">
              <a:solidFill>
                <a:srgbClr val="9A9A9A"/>
              </a:solidFill>
              <a:round/>
            </a:ln>
          </p:spPr>
        </p:sp>
        <p:sp>
          <p:nvSpPr>
            <p:cNvPr id="73" name="Átomo C_22"/>
            <p:cNvSpPr/>
            <p:nvPr/>
          </p:nvSpPr>
          <p:spPr>
            <a:xfrm>
              <a:off x="270767" y="1553148"/>
              <a:ext cx="88032" cy="8803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4" name="Flecha 100_2"/>
            <p:cNvSpPr/>
            <p:nvPr/>
          </p:nvSpPr>
          <p:spPr>
            <a:xfrm>
              <a:off x="693008" y="1442302"/>
              <a:ext cx="51487" cy="9144"/>
            </a:xfrm>
            <a:custGeom>
              <a:avLst/>
              <a:gdLst/>
              <a:ahLst/>
              <a:cxnLst/>
              <a:rect l="0" t="0" r="r" b="b"/>
              <a:pathLst>
                <a:path w="56" h="10" fill="none">
                  <a:moveTo>
                    <a:pt x="56" y="2"/>
                  </a:moveTo>
                  <a:lnTo>
                    <a:pt x="0" y="0"/>
                  </a:lnTo>
                </a:path>
              </a:pathLst>
            </a:custGeom>
            <a:noFill/>
            <a:ln w="19050" cap="rnd">
              <a:solidFill>
                <a:srgbClr val="9A9A9A"/>
              </a:solidFill>
              <a:round/>
            </a:ln>
          </p:spPr>
        </p:sp>
        <p:sp>
          <p:nvSpPr>
            <p:cNvPr id="75" name="Átomo C_23"/>
            <p:cNvSpPr/>
            <p:nvPr/>
          </p:nvSpPr>
          <p:spPr>
            <a:xfrm>
              <a:off x="1279591" y="1552656"/>
              <a:ext cx="88387" cy="8838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6" name="Flecha 103_2"/>
            <p:cNvSpPr/>
            <p:nvPr/>
          </p:nvSpPr>
          <p:spPr>
            <a:xfrm>
              <a:off x="217668" y="1597164"/>
              <a:ext cx="97116" cy="80022"/>
            </a:xfrm>
            <a:custGeom>
              <a:avLst/>
              <a:gdLst/>
              <a:ahLst/>
              <a:cxnLst/>
              <a:rect l="0" t="0" r="r" b="b"/>
              <a:pathLst>
                <a:path w="106" h="87" fill="none">
                  <a:moveTo>
                    <a:pt x="0" y="87"/>
                  </a:moveTo>
                  <a:lnTo>
                    <a:pt x="106" y="0"/>
                  </a:lnTo>
                </a:path>
              </a:pathLst>
            </a:custGeom>
            <a:noFill/>
            <a:ln w="19050" cap="rnd">
              <a:solidFill>
                <a:srgbClr val="9A9A9A"/>
              </a:solidFill>
              <a:round/>
            </a:ln>
          </p:spPr>
        </p:sp>
        <p:sp>
          <p:nvSpPr>
            <p:cNvPr id="77" name="Átomo C_24"/>
            <p:cNvSpPr/>
            <p:nvPr/>
          </p:nvSpPr>
          <p:spPr>
            <a:xfrm>
              <a:off x="1301874" y="950527"/>
              <a:ext cx="88762" cy="887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8" name="Átomo C_25"/>
            <p:cNvSpPr/>
            <p:nvPr/>
          </p:nvSpPr>
          <p:spPr>
            <a:xfrm>
              <a:off x="648587" y="1397881"/>
              <a:ext cx="88842" cy="888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Átomo C_26"/>
            <p:cNvSpPr/>
            <p:nvPr/>
          </p:nvSpPr>
          <p:spPr>
            <a:xfrm>
              <a:off x="173178" y="1632697"/>
              <a:ext cx="88979" cy="889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0" name="Flecha 108_2"/>
            <p:cNvSpPr/>
            <p:nvPr/>
          </p:nvSpPr>
          <p:spPr>
            <a:xfrm>
              <a:off x="1288975" y="1562053"/>
              <a:ext cx="34810" cy="34797"/>
            </a:xfrm>
            <a:custGeom>
              <a:avLst/>
              <a:gdLst/>
              <a:ahLst/>
              <a:cxnLst/>
              <a:rect l="0" t="0" r="r" b="b"/>
              <a:pathLst>
                <a:path w="38" h="38" fill="none">
                  <a:moveTo>
                    <a:pt x="0" y="0"/>
                  </a:moveTo>
                  <a:lnTo>
                    <a:pt x="38" y="38"/>
                  </a:lnTo>
                </a:path>
              </a:pathLst>
            </a:custGeom>
            <a:noFill/>
            <a:ln w="19050" cap="rnd">
              <a:solidFill>
                <a:srgbClr val="9A9A9A"/>
              </a:solidFill>
              <a:round/>
            </a:ln>
          </p:spPr>
        </p:sp>
        <p:sp>
          <p:nvSpPr>
            <p:cNvPr id="81" name="Flecha 110_2"/>
            <p:cNvSpPr/>
            <p:nvPr/>
          </p:nvSpPr>
          <p:spPr>
            <a:xfrm>
              <a:off x="1346255" y="994908"/>
              <a:ext cx="78010" cy="86333"/>
            </a:xfrm>
            <a:custGeom>
              <a:avLst/>
              <a:gdLst/>
              <a:ahLst/>
              <a:cxnLst/>
              <a:rect l="0" t="0" r="r" b="b"/>
              <a:pathLst>
                <a:path w="85" h="94" fill="none">
                  <a:moveTo>
                    <a:pt x="0" y="0"/>
                  </a:moveTo>
                  <a:lnTo>
                    <a:pt x="85" y="94"/>
                  </a:lnTo>
                </a:path>
              </a:pathLst>
            </a:custGeom>
            <a:noFill/>
            <a:ln w="19050" cap="rnd">
              <a:solidFill>
                <a:srgbClr val="9A9A9A"/>
              </a:solidFill>
              <a:round/>
            </a:ln>
          </p:spPr>
        </p:sp>
        <p:sp>
          <p:nvSpPr>
            <p:cNvPr id="82" name="Flecha 112_2"/>
            <p:cNvSpPr/>
            <p:nvPr/>
          </p:nvSpPr>
          <p:spPr>
            <a:xfrm>
              <a:off x="693008" y="1442302"/>
              <a:ext cx="53457" cy="114804"/>
            </a:xfrm>
            <a:custGeom>
              <a:avLst/>
              <a:gdLst/>
              <a:ahLst/>
              <a:cxnLst/>
              <a:rect l="0" t="0" r="r" b="b"/>
              <a:pathLst>
                <a:path w="58" h="125" fill="none">
                  <a:moveTo>
                    <a:pt x="0" y="0"/>
                  </a:moveTo>
                  <a:lnTo>
                    <a:pt x="58" y="125"/>
                  </a:lnTo>
                </a:path>
              </a:pathLst>
            </a:custGeom>
            <a:noFill/>
            <a:ln w="19050" cap="rnd">
              <a:solidFill>
                <a:srgbClr val="9A9A9A"/>
              </a:solidFill>
              <a:round/>
            </a:ln>
          </p:spPr>
        </p:sp>
        <p:sp>
          <p:nvSpPr>
            <p:cNvPr id="83" name="Flecha 114_2"/>
            <p:cNvSpPr/>
            <p:nvPr/>
          </p:nvSpPr>
          <p:spPr>
            <a:xfrm>
              <a:off x="217668" y="1664127"/>
              <a:ext cx="23695" cy="13060"/>
            </a:xfrm>
            <a:custGeom>
              <a:avLst/>
              <a:gdLst/>
              <a:ahLst/>
              <a:cxnLst/>
              <a:rect l="0" t="0" r="r" b="b"/>
              <a:pathLst>
                <a:path w="25" h="14" fill="none">
                  <a:moveTo>
                    <a:pt x="25" y="0"/>
                  </a:moveTo>
                  <a:lnTo>
                    <a:pt x="0" y="14"/>
                  </a:lnTo>
                </a:path>
              </a:pathLst>
            </a:custGeom>
            <a:noFill/>
            <a:ln w="19050" cap="rnd">
              <a:solidFill>
                <a:srgbClr val="9A9A9A"/>
              </a:solidFill>
              <a:round/>
            </a:ln>
          </p:spPr>
        </p:sp>
        <p:sp>
          <p:nvSpPr>
            <p:cNvPr id="84" name="Átomo C_27"/>
            <p:cNvSpPr/>
            <p:nvPr/>
          </p:nvSpPr>
          <p:spPr>
            <a:xfrm>
              <a:off x="701568" y="1512209"/>
              <a:ext cx="89795" cy="897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5" name="Átomo C_28"/>
            <p:cNvSpPr/>
            <p:nvPr/>
          </p:nvSpPr>
          <p:spPr>
            <a:xfrm>
              <a:off x="1379335" y="1036310"/>
              <a:ext cx="89861" cy="8986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6" name="Átomo O_5"/>
            <p:cNvSpPr/>
            <p:nvPr/>
          </p:nvSpPr>
          <p:spPr>
            <a:xfrm>
              <a:off x="1246607" y="1519685"/>
              <a:ext cx="84736" cy="8473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7" name="Flecha 119_2"/>
            <p:cNvSpPr/>
            <p:nvPr/>
          </p:nvSpPr>
          <p:spPr>
            <a:xfrm>
              <a:off x="1288975" y="1550837"/>
              <a:ext cx="107402" cy="11216"/>
            </a:xfrm>
            <a:custGeom>
              <a:avLst/>
              <a:gdLst/>
              <a:ahLst/>
              <a:cxnLst/>
              <a:rect l="0" t="0" r="r" b="b"/>
              <a:pathLst>
                <a:path w="117" h="12" fill="none">
                  <a:moveTo>
                    <a:pt x="117" y="0"/>
                  </a:moveTo>
                  <a:lnTo>
                    <a:pt x="0" y="12"/>
                  </a:lnTo>
                </a:path>
              </a:pathLst>
            </a:custGeom>
            <a:noFill/>
            <a:ln w="19050" cap="rnd">
              <a:solidFill>
                <a:srgbClr val="9A9A9A"/>
              </a:solidFill>
              <a:round/>
            </a:ln>
          </p:spPr>
        </p:sp>
        <p:sp>
          <p:nvSpPr>
            <p:cNvPr id="88" name="Átomo O_6"/>
            <p:cNvSpPr/>
            <p:nvPr/>
          </p:nvSpPr>
          <p:spPr>
            <a:xfrm>
              <a:off x="1471240" y="1526312"/>
              <a:ext cx="85273" cy="8527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9" name="Flecha 122_2"/>
            <p:cNvSpPr/>
            <p:nvPr/>
          </p:nvSpPr>
          <p:spPr>
            <a:xfrm>
              <a:off x="688692" y="1555884"/>
              <a:ext cx="57773" cy="9144"/>
            </a:xfrm>
            <a:custGeom>
              <a:avLst/>
              <a:gdLst/>
              <a:ahLst/>
              <a:cxnLst/>
              <a:rect l="0" t="0" r="r" b="b"/>
              <a:pathLst>
                <a:path w="63" h="10" fill="none">
                  <a:moveTo>
                    <a:pt x="63" y="1"/>
                  </a:moveTo>
                  <a:lnTo>
                    <a:pt x="0" y="0"/>
                  </a:lnTo>
                </a:path>
              </a:pathLst>
            </a:custGeom>
            <a:noFill/>
            <a:ln w="19050" cap="rnd">
              <a:solidFill>
                <a:srgbClr val="9A9A9A"/>
              </a:solidFill>
              <a:round/>
            </a:ln>
          </p:spPr>
        </p:sp>
        <p:sp>
          <p:nvSpPr>
            <p:cNvPr id="90" name="Flecha 124_2"/>
            <p:cNvSpPr/>
            <p:nvPr/>
          </p:nvSpPr>
          <p:spPr>
            <a:xfrm>
              <a:off x="1394998" y="1559788"/>
              <a:ext cx="117499" cy="18112"/>
            </a:xfrm>
            <a:custGeom>
              <a:avLst/>
              <a:gdLst/>
              <a:ahLst/>
              <a:cxnLst/>
              <a:rect l="0" t="0" r="r" b="b"/>
              <a:pathLst>
                <a:path w="128" h="19" fill="none">
                  <a:moveTo>
                    <a:pt x="0" y="0"/>
                  </a:moveTo>
                  <a:lnTo>
                    <a:pt x="128" y="19"/>
                  </a:lnTo>
                </a:path>
              </a:pathLst>
            </a:custGeom>
            <a:noFill/>
            <a:ln w="15240" cap="rnd">
              <a:solidFill>
                <a:srgbClr val="9A9A9A"/>
              </a:solidFill>
              <a:round/>
            </a:ln>
          </p:spPr>
        </p:sp>
        <p:sp>
          <p:nvSpPr>
            <p:cNvPr id="91" name="Flecha 126_2"/>
            <p:cNvSpPr/>
            <p:nvPr/>
          </p:nvSpPr>
          <p:spPr>
            <a:xfrm>
              <a:off x="1397757" y="1541886"/>
              <a:ext cx="117499" cy="18112"/>
            </a:xfrm>
            <a:custGeom>
              <a:avLst/>
              <a:gdLst/>
              <a:ahLst/>
              <a:cxnLst/>
              <a:rect l="0" t="0" r="r" b="b"/>
              <a:pathLst>
                <a:path w="128" h="19" fill="none">
                  <a:moveTo>
                    <a:pt x="0" y="0"/>
                  </a:moveTo>
                  <a:lnTo>
                    <a:pt x="128" y="19"/>
                  </a:lnTo>
                </a:path>
              </a:pathLst>
            </a:custGeom>
            <a:noFill/>
            <a:ln w="15240" cap="rnd">
              <a:solidFill>
                <a:srgbClr val="9A9A9A"/>
              </a:solidFill>
              <a:round/>
            </a:ln>
          </p:spPr>
        </p:sp>
        <p:sp>
          <p:nvSpPr>
            <p:cNvPr id="92" name="Átomo C_29"/>
            <p:cNvSpPr/>
            <p:nvPr/>
          </p:nvSpPr>
          <p:spPr>
            <a:xfrm>
              <a:off x="196047" y="1618811"/>
              <a:ext cx="90631" cy="9063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3" name="Flecha 129_2"/>
            <p:cNvSpPr/>
            <p:nvPr/>
          </p:nvSpPr>
          <p:spPr>
            <a:xfrm>
              <a:off x="1374070" y="1057815"/>
              <a:ext cx="50196" cy="23426"/>
            </a:xfrm>
            <a:custGeom>
              <a:avLst/>
              <a:gdLst/>
              <a:ahLst/>
              <a:cxnLst/>
              <a:rect l="0" t="0" r="r" b="b"/>
              <a:pathLst>
                <a:path w="54" h="25" fill="none">
                  <a:moveTo>
                    <a:pt x="54" y="25"/>
                  </a:moveTo>
                  <a:lnTo>
                    <a:pt x="0" y="0"/>
                  </a:lnTo>
                </a:path>
              </a:pathLst>
            </a:custGeom>
            <a:noFill/>
            <a:ln w="19050" cap="rnd">
              <a:solidFill>
                <a:srgbClr val="9A9A9A"/>
              </a:solidFill>
              <a:round/>
            </a:ln>
          </p:spPr>
        </p:sp>
        <p:sp>
          <p:nvSpPr>
            <p:cNvPr id="94" name="Átomo C_30"/>
            <p:cNvSpPr/>
            <p:nvPr/>
          </p:nvSpPr>
          <p:spPr>
            <a:xfrm>
              <a:off x="1350983" y="1505442"/>
              <a:ext cx="90789" cy="9078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5" name="Flecha 132_2"/>
            <p:cNvSpPr/>
            <p:nvPr/>
          </p:nvSpPr>
          <p:spPr>
            <a:xfrm>
              <a:off x="241362" y="1664127"/>
              <a:ext cx="107785" cy="93332"/>
            </a:xfrm>
            <a:custGeom>
              <a:avLst/>
              <a:gdLst/>
              <a:ahLst/>
              <a:cxnLst/>
              <a:rect l="0" t="0" r="r" b="b"/>
              <a:pathLst>
                <a:path w="117" h="102" fill="none">
                  <a:moveTo>
                    <a:pt x="117" y="102"/>
                  </a:moveTo>
                  <a:lnTo>
                    <a:pt x="0" y="0"/>
                  </a:lnTo>
                </a:path>
              </a:pathLst>
            </a:custGeom>
            <a:noFill/>
            <a:ln w="19050" cap="rnd">
              <a:solidFill>
                <a:srgbClr val="9A9A9A"/>
              </a:solidFill>
              <a:round/>
            </a:ln>
          </p:spPr>
        </p:sp>
        <p:sp>
          <p:nvSpPr>
            <p:cNvPr id="96" name="Átomo C_31"/>
            <p:cNvSpPr/>
            <p:nvPr/>
          </p:nvSpPr>
          <p:spPr>
            <a:xfrm>
              <a:off x="450658" y="1677096"/>
              <a:ext cx="90945" cy="909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7" name="Flecha 135_2"/>
            <p:cNvSpPr/>
            <p:nvPr/>
          </p:nvSpPr>
          <p:spPr>
            <a:xfrm>
              <a:off x="349148" y="1722568"/>
              <a:ext cx="146983" cy="34890"/>
            </a:xfrm>
            <a:custGeom>
              <a:avLst/>
              <a:gdLst/>
              <a:ahLst/>
              <a:cxnLst/>
              <a:rect l="0" t="0" r="r" b="b"/>
              <a:pathLst>
                <a:path w="160" h="38" fill="none">
                  <a:moveTo>
                    <a:pt x="160" y="0"/>
                  </a:moveTo>
                  <a:lnTo>
                    <a:pt x="0" y="38"/>
                  </a:lnTo>
                </a:path>
              </a:pathLst>
            </a:custGeom>
            <a:noFill/>
            <a:ln w="19050" cap="rnd">
              <a:solidFill>
                <a:srgbClr val="9A9A9A"/>
              </a:solidFill>
              <a:round/>
            </a:ln>
          </p:spPr>
        </p:sp>
        <p:sp>
          <p:nvSpPr>
            <p:cNvPr id="98" name="Flecha 137_2"/>
            <p:cNvSpPr/>
            <p:nvPr/>
          </p:nvSpPr>
          <p:spPr>
            <a:xfrm>
              <a:off x="496131" y="1582200"/>
              <a:ext cx="40933" cy="140368"/>
            </a:xfrm>
            <a:custGeom>
              <a:avLst/>
              <a:gdLst/>
              <a:ahLst/>
              <a:cxnLst/>
              <a:rect l="0" t="0" r="r" b="b"/>
              <a:pathLst>
                <a:path w="44" h="153" fill="none">
                  <a:moveTo>
                    <a:pt x="44" y="0"/>
                  </a:moveTo>
                  <a:lnTo>
                    <a:pt x="0" y="153"/>
                  </a:lnTo>
                </a:path>
              </a:pathLst>
            </a:custGeom>
            <a:noFill/>
            <a:ln w="19050" cap="rnd">
              <a:solidFill>
                <a:srgbClr val="9A9A9A"/>
              </a:solidFill>
              <a:round/>
            </a:ln>
          </p:spPr>
        </p:sp>
        <p:sp>
          <p:nvSpPr>
            <p:cNvPr id="99" name="Átomo C_32"/>
            <p:cNvSpPr/>
            <p:nvPr/>
          </p:nvSpPr>
          <p:spPr>
            <a:xfrm>
              <a:off x="303511" y="1711822"/>
              <a:ext cx="91273" cy="912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0" name="Átomo C_33"/>
            <p:cNvSpPr/>
            <p:nvPr/>
          </p:nvSpPr>
          <p:spPr>
            <a:xfrm>
              <a:off x="643015" y="1510207"/>
              <a:ext cx="91353" cy="9135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1" name="Flecha 141_2"/>
            <p:cNvSpPr/>
            <p:nvPr/>
          </p:nvSpPr>
          <p:spPr>
            <a:xfrm>
              <a:off x="537064" y="1555884"/>
              <a:ext cx="151628" cy="26317"/>
            </a:xfrm>
            <a:custGeom>
              <a:avLst/>
              <a:gdLst/>
              <a:ahLst/>
              <a:cxnLst/>
              <a:rect l="0" t="0" r="r" b="b"/>
              <a:pathLst>
                <a:path w="165" h="28" fill="none">
                  <a:moveTo>
                    <a:pt x="165" y="0"/>
                  </a:moveTo>
                  <a:lnTo>
                    <a:pt x="0" y="28"/>
                  </a:lnTo>
                </a:path>
              </a:pathLst>
            </a:custGeom>
            <a:noFill/>
            <a:ln w="19050" cap="rnd">
              <a:solidFill>
                <a:srgbClr val="9A9A9A"/>
              </a:solidFill>
              <a:round/>
            </a:ln>
          </p:spPr>
        </p:sp>
        <p:sp>
          <p:nvSpPr>
            <p:cNvPr id="102" name="Átomo C_34"/>
            <p:cNvSpPr/>
            <p:nvPr/>
          </p:nvSpPr>
          <p:spPr>
            <a:xfrm>
              <a:off x="1328357" y="1012102"/>
              <a:ext cx="91426" cy="914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3" name="Átomo C_35"/>
            <p:cNvSpPr/>
            <p:nvPr/>
          </p:nvSpPr>
          <p:spPr>
            <a:xfrm>
              <a:off x="491326" y="1536463"/>
              <a:ext cx="91475" cy="914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4" name="Flecha 145_2"/>
            <p:cNvSpPr/>
            <p:nvPr/>
          </p:nvSpPr>
          <p:spPr>
            <a:xfrm>
              <a:off x="1351243" y="1509360"/>
              <a:ext cx="45134" cy="41477"/>
            </a:xfrm>
            <a:custGeom>
              <a:avLst/>
              <a:gdLst/>
              <a:ahLst/>
              <a:cxnLst/>
              <a:rect l="0" t="0" r="r" b="b"/>
              <a:pathLst>
                <a:path w="49" h="45" fill="none">
                  <a:moveTo>
                    <a:pt x="0" y="0"/>
                  </a:moveTo>
                  <a:lnTo>
                    <a:pt x="49" y="45"/>
                  </a:lnTo>
                </a:path>
              </a:pathLst>
            </a:custGeom>
            <a:noFill/>
            <a:ln w="19050" cap="rnd">
              <a:solidFill>
                <a:srgbClr val="9A9A9A"/>
              </a:solidFill>
              <a:round/>
            </a:ln>
          </p:spPr>
        </p:sp>
        <p:sp>
          <p:nvSpPr>
            <p:cNvPr id="105" name="Flecha 147_2"/>
            <p:cNvSpPr/>
            <p:nvPr/>
          </p:nvSpPr>
          <p:spPr>
            <a:xfrm>
              <a:off x="1374070" y="1057815"/>
              <a:ext cx="83524" cy="72988"/>
            </a:xfrm>
            <a:custGeom>
              <a:avLst/>
              <a:gdLst/>
              <a:ahLst/>
              <a:cxnLst/>
              <a:rect l="0" t="0" r="r" b="b"/>
              <a:pathLst>
                <a:path w="91" h="79" fill="none">
                  <a:moveTo>
                    <a:pt x="0" y="0"/>
                  </a:moveTo>
                  <a:lnTo>
                    <a:pt x="91" y="79"/>
                  </a:lnTo>
                </a:path>
              </a:pathLst>
            </a:custGeom>
            <a:noFill/>
            <a:ln w="19050" cap="rnd">
              <a:solidFill>
                <a:srgbClr val="9A9A9A"/>
              </a:solidFill>
              <a:round/>
            </a:ln>
          </p:spPr>
        </p:sp>
        <p:sp>
          <p:nvSpPr>
            <p:cNvPr id="106" name="Átomo C_36"/>
            <p:cNvSpPr/>
            <p:nvPr/>
          </p:nvSpPr>
          <p:spPr>
            <a:xfrm>
              <a:off x="1305093" y="1463210"/>
              <a:ext cx="92300" cy="923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7" name="Flecha 150_2"/>
            <p:cNvSpPr/>
            <p:nvPr/>
          </p:nvSpPr>
          <p:spPr>
            <a:xfrm>
              <a:off x="1334924" y="1357071"/>
              <a:ext cx="16319" cy="152289"/>
            </a:xfrm>
            <a:custGeom>
              <a:avLst/>
              <a:gdLst/>
              <a:ahLst/>
              <a:cxnLst/>
              <a:rect l="0" t="0" r="r" b="b"/>
              <a:pathLst>
                <a:path w="17" h="166" fill="none">
                  <a:moveTo>
                    <a:pt x="0" y="0"/>
                  </a:moveTo>
                  <a:lnTo>
                    <a:pt x="17" y="166"/>
                  </a:lnTo>
                </a:path>
              </a:pathLst>
            </a:custGeom>
            <a:noFill/>
            <a:ln w="19050" cap="rnd">
              <a:solidFill>
                <a:srgbClr val="9A9A9A"/>
              </a:solidFill>
              <a:round/>
            </a:ln>
          </p:spPr>
        </p:sp>
        <p:sp>
          <p:nvSpPr>
            <p:cNvPr id="108" name="Flecha 152_2"/>
            <p:cNvSpPr/>
            <p:nvPr/>
          </p:nvSpPr>
          <p:spPr>
            <a:xfrm>
              <a:off x="1334924" y="1283473"/>
              <a:ext cx="135458" cy="73599"/>
            </a:xfrm>
            <a:custGeom>
              <a:avLst/>
              <a:gdLst/>
              <a:ahLst/>
              <a:cxnLst/>
              <a:rect l="0" t="0" r="r" b="b"/>
              <a:pathLst>
                <a:path w="148" h="80" fill="none">
                  <a:moveTo>
                    <a:pt x="148" y="0"/>
                  </a:moveTo>
                  <a:lnTo>
                    <a:pt x="0" y="80"/>
                  </a:lnTo>
                </a:path>
              </a:pathLst>
            </a:custGeom>
            <a:noFill/>
            <a:ln w="19050" cap="rnd">
              <a:solidFill>
                <a:srgbClr val="9A9A9A"/>
              </a:solidFill>
              <a:round/>
            </a:ln>
          </p:spPr>
        </p:sp>
        <p:sp>
          <p:nvSpPr>
            <p:cNvPr id="109" name="Átomo C_37"/>
            <p:cNvSpPr/>
            <p:nvPr/>
          </p:nvSpPr>
          <p:spPr>
            <a:xfrm>
              <a:off x="1424181" y="1237271"/>
              <a:ext cx="92403" cy="924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0" name="Átomo C_38"/>
            <p:cNvSpPr/>
            <p:nvPr/>
          </p:nvSpPr>
          <p:spPr>
            <a:xfrm>
              <a:off x="1288714" y="1310861"/>
              <a:ext cx="92421" cy="9242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1" name="Flecha 156_2"/>
            <p:cNvSpPr/>
            <p:nvPr/>
          </p:nvSpPr>
          <p:spPr>
            <a:xfrm>
              <a:off x="1457593" y="1130803"/>
              <a:ext cx="12789" cy="152669"/>
            </a:xfrm>
            <a:custGeom>
              <a:avLst/>
              <a:gdLst/>
              <a:ahLst/>
              <a:cxnLst/>
              <a:rect l="0" t="0" r="r" b="b"/>
              <a:pathLst>
                <a:path w="13" h="166" fill="none">
                  <a:moveTo>
                    <a:pt x="0" y="0"/>
                  </a:moveTo>
                  <a:lnTo>
                    <a:pt x="13" y="166"/>
                  </a:lnTo>
                </a:path>
              </a:pathLst>
            </a:custGeom>
            <a:noFill/>
            <a:ln w="19050" cap="rnd">
              <a:solidFill>
                <a:srgbClr val="9A9A9A"/>
              </a:solidFill>
              <a:round/>
            </a:ln>
          </p:spPr>
        </p:sp>
        <p:sp>
          <p:nvSpPr>
            <p:cNvPr id="112" name="Átomo C_39"/>
            <p:cNvSpPr/>
            <p:nvPr/>
          </p:nvSpPr>
          <p:spPr>
            <a:xfrm>
              <a:off x="1411297" y="1084507"/>
              <a:ext cx="92592" cy="9259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3" name="Forma 159"/>
            <p:cNvSpPr txBox="1"/>
            <p:nvPr/>
          </p:nvSpPr>
          <p:spPr>
            <a:xfrm>
              <a:off x="-137160" y="2117310"/>
              <a:ext cx="283464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Triacilglicerol</a:t>
              </a:r>
              <a:endParaRPr lang="es-AR" sz="1300" dirty="0">
                <a:latin typeface="Fira Sans Condensed"/>
              </a:endParaRPr>
            </a:p>
          </p:txBody>
        </p:sp>
      </p:grpSp>
      <p:grpSp>
        <p:nvGrpSpPr>
          <p:cNvPr id="114" name="Glicerol 3D"/>
          <p:cNvGrpSpPr/>
          <p:nvPr/>
        </p:nvGrpSpPr>
        <p:grpSpPr>
          <a:xfrm>
            <a:off x="182880" y="4313973"/>
            <a:ext cx="2011680" cy="1426198"/>
            <a:chOff x="182880" y="4313973"/>
            <a:chExt cx="2011680" cy="1426198"/>
          </a:xfrm>
        </p:grpSpPr>
        <p:sp>
          <p:nvSpPr>
            <p:cNvPr id="115" name="Átomo H"/>
            <p:cNvSpPr/>
            <p:nvPr/>
          </p:nvSpPr>
          <p:spPr>
            <a:xfrm>
              <a:off x="1161313" y="4728775"/>
              <a:ext cx="120436" cy="12043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6" name="Flecha 162_2"/>
            <p:cNvSpPr/>
            <p:nvPr/>
          </p:nvSpPr>
          <p:spPr>
            <a:xfrm>
              <a:off x="1221531" y="4788993"/>
              <a:ext cx="103253" cy="116868"/>
            </a:xfrm>
            <a:custGeom>
              <a:avLst/>
              <a:gdLst/>
              <a:ahLst/>
              <a:cxnLst/>
              <a:rect l="0" t="0" r="r" b="b"/>
              <a:pathLst>
                <a:path w="112" h="127" fill="none">
                  <a:moveTo>
                    <a:pt x="112" y="127"/>
                  </a:moveTo>
                  <a:lnTo>
                    <a:pt x="0" y="0"/>
                  </a:lnTo>
                </a:path>
              </a:pathLst>
            </a:custGeom>
            <a:noFill/>
            <a:ln w="30751" cap="rnd">
              <a:solidFill>
                <a:srgbClr val="9A9A9A"/>
              </a:solidFill>
              <a:round/>
            </a:ln>
          </p:spPr>
        </p:sp>
        <p:sp>
          <p:nvSpPr>
            <p:cNvPr id="117" name="Átomo H_2"/>
            <p:cNvSpPr/>
            <p:nvPr/>
          </p:nvSpPr>
          <p:spPr>
            <a:xfrm>
              <a:off x="1366189" y="5080353"/>
              <a:ext cx="123322" cy="12332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8" name="Flecha 165_2"/>
            <p:cNvSpPr/>
            <p:nvPr/>
          </p:nvSpPr>
          <p:spPr>
            <a:xfrm>
              <a:off x="1324785" y="4905861"/>
              <a:ext cx="103066" cy="236153"/>
            </a:xfrm>
            <a:custGeom>
              <a:avLst/>
              <a:gdLst/>
              <a:ahLst/>
              <a:cxnLst/>
              <a:rect l="0" t="0" r="r" b="b"/>
              <a:pathLst>
                <a:path w="112" h="258" fill="none">
                  <a:moveTo>
                    <a:pt x="0" y="0"/>
                  </a:moveTo>
                  <a:lnTo>
                    <a:pt x="112" y="258"/>
                  </a:lnTo>
                </a:path>
              </a:pathLst>
            </a:custGeom>
            <a:noFill/>
            <a:ln w="30751" cap="rnd">
              <a:solidFill>
                <a:srgbClr val="9A9A9A"/>
              </a:solidFill>
              <a:round/>
            </a:ln>
          </p:spPr>
        </p:sp>
        <p:sp>
          <p:nvSpPr>
            <p:cNvPr id="119" name="Átomo C_40"/>
            <p:cNvSpPr/>
            <p:nvPr/>
          </p:nvSpPr>
          <p:spPr>
            <a:xfrm>
              <a:off x="1220660" y="4801737"/>
              <a:ext cx="208249" cy="20824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0" name="Flecha 168_2"/>
            <p:cNvSpPr/>
            <p:nvPr/>
          </p:nvSpPr>
          <p:spPr>
            <a:xfrm>
              <a:off x="1324785" y="4702552"/>
              <a:ext cx="259109" cy="203309"/>
            </a:xfrm>
            <a:custGeom>
              <a:avLst/>
              <a:gdLst/>
              <a:ahLst/>
              <a:cxnLst/>
              <a:rect l="0" t="0" r="r" b="b"/>
              <a:pathLst>
                <a:path w="283" h="222" fill="none">
                  <a:moveTo>
                    <a:pt x="0" y="222"/>
                  </a:moveTo>
                  <a:lnTo>
                    <a:pt x="283" y="0"/>
                  </a:lnTo>
                </a:path>
              </a:pathLst>
            </a:custGeom>
            <a:noFill/>
            <a:ln w="30751" cap="rnd">
              <a:solidFill>
                <a:srgbClr val="9A9A9A"/>
              </a:solidFill>
              <a:round/>
            </a:ln>
          </p:spPr>
        </p:sp>
        <p:sp>
          <p:nvSpPr>
            <p:cNvPr id="121" name="Átomo O_7"/>
            <p:cNvSpPr/>
            <p:nvPr/>
          </p:nvSpPr>
          <p:spPr>
            <a:xfrm>
              <a:off x="1483767" y="4602425"/>
              <a:ext cx="200254" cy="20025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22" name="Flecha 171_2"/>
            <p:cNvSpPr/>
            <p:nvPr/>
          </p:nvSpPr>
          <p:spPr>
            <a:xfrm>
              <a:off x="1056609" y="4905861"/>
              <a:ext cx="268176" cy="50491"/>
            </a:xfrm>
            <a:custGeom>
              <a:avLst/>
              <a:gdLst/>
              <a:ahLst/>
              <a:cxnLst/>
              <a:rect l="0" t="0" r="r" b="b"/>
              <a:pathLst>
                <a:path w="293" h="55" fill="none">
                  <a:moveTo>
                    <a:pt x="0" y="55"/>
                  </a:moveTo>
                  <a:lnTo>
                    <a:pt x="293" y="0"/>
                  </a:lnTo>
                </a:path>
              </a:pathLst>
            </a:custGeom>
            <a:noFill/>
            <a:ln w="30751" cap="rnd">
              <a:solidFill>
                <a:srgbClr val="9A9A9A"/>
              </a:solidFill>
              <a:round/>
            </a:ln>
          </p:spPr>
        </p:sp>
        <p:sp>
          <p:nvSpPr>
            <p:cNvPr id="123" name="Átomo O_8"/>
            <p:cNvSpPr/>
            <p:nvPr/>
          </p:nvSpPr>
          <p:spPr>
            <a:xfrm>
              <a:off x="713332" y="5075216"/>
              <a:ext cx="200670" cy="20067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24" name="Átomo H_3"/>
            <p:cNvSpPr/>
            <p:nvPr/>
          </p:nvSpPr>
          <p:spPr>
            <a:xfrm>
              <a:off x="738352" y="4432823"/>
              <a:ext cx="127978" cy="12797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5" name="Flecha 175_2"/>
            <p:cNvSpPr/>
            <p:nvPr/>
          </p:nvSpPr>
          <p:spPr>
            <a:xfrm>
              <a:off x="1583894" y="4702552"/>
              <a:ext cx="139536" cy="139404"/>
            </a:xfrm>
            <a:custGeom>
              <a:avLst/>
              <a:gdLst/>
              <a:ahLst/>
              <a:cxnLst/>
              <a:rect l="0" t="0" r="r" b="b"/>
              <a:pathLst>
                <a:path w="152" h="152" fill="none">
                  <a:moveTo>
                    <a:pt x="0" y="0"/>
                  </a:moveTo>
                  <a:lnTo>
                    <a:pt x="152" y="152"/>
                  </a:lnTo>
                </a:path>
              </a:pathLst>
            </a:custGeom>
            <a:noFill/>
            <a:ln w="30751" cap="rnd">
              <a:solidFill>
                <a:srgbClr val="9A9A9A"/>
              </a:solidFill>
              <a:round/>
            </a:ln>
          </p:spPr>
        </p:sp>
        <p:sp>
          <p:nvSpPr>
            <p:cNvPr id="126" name="Flecha 177_2"/>
            <p:cNvSpPr/>
            <p:nvPr/>
          </p:nvSpPr>
          <p:spPr>
            <a:xfrm>
              <a:off x="813666" y="4956353"/>
              <a:ext cx="242943" cy="219198"/>
            </a:xfrm>
            <a:custGeom>
              <a:avLst/>
              <a:gdLst/>
              <a:ahLst/>
              <a:cxnLst/>
              <a:rect l="0" t="0" r="r" b="b"/>
              <a:pathLst>
                <a:path w="265" h="239" fill="none">
                  <a:moveTo>
                    <a:pt x="265" y="0"/>
                  </a:moveTo>
                  <a:lnTo>
                    <a:pt x="0" y="239"/>
                  </a:lnTo>
                </a:path>
              </a:pathLst>
            </a:custGeom>
            <a:noFill/>
            <a:ln w="30751" cap="rnd">
              <a:solidFill>
                <a:srgbClr val="9A9A9A"/>
              </a:solidFill>
              <a:round/>
            </a:ln>
          </p:spPr>
        </p:sp>
        <p:sp>
          <p:nvSpPr>
            <p:cNvPr id="127" name="Flecha 179_2"/>
            <p:cNvSpPr/>
            <p:nvPr/>
          </p:nvSpPr>
          <p:spPr>
            <a:xfrm>
              <a:off x="654010" y="5175551"/>
              <a:ext cx="159656" cy="38625"/>
            </a:xfrm>
            <a:custGeom>
              <a:avLst/>
              <a:gdLst/>
              <a:ahLst/>
              <a:cxnLst/>
              <a:rect l="0" t="0" r="r" b="b"/>
              <a:pathLst>
                <a:path w="174" h="42" fill="none">
                  <a:moveTo>
                    <a:pt x="174" y="0"/>
                  </a:moveTo>
                  <a:lnTo>
                    <a:pt x="0" y="42"/>
                  </a:lnTo>
                </a:path>
              </a:pathLst>
            </a:custGeom>
            <a:noFill/>
            <a:ln w="30751" cap="rnd">
              <a:solidFill>
                <a:srgbClr val="9A9A9A"/>
              </a:solidFill>
              <a:round/>
            </a:ln>
          </p:spPr>
        </p:sp>
        <p:sp>
          <p:nvSpPr>
            <p:cNvPr id="128" name="Flecha 181_2"/>
            <p:cNvSpPr/>
            <p:nvPr/>
          </p:nvSpPr>
          <p:spPr>
            <a:xfrm>
              <a:off x="802340" y="4496812"/>
              <a:ext cx="97063" cy="131198"/>
            </a:xfrm>
            <a:custGeom>
              <a:avLst/>
              <a:gdLst/>
              <a:ahLst/>
              <a:cxnLst/>
              <a:rect l="0" t="0" r="r" b="b"/>
              <a:pathLst>
                <a:path w="106" h="143" fill="none">
                  <a:moveTo>
                    <a:pt x="106" y="143"/>
                  </a:moveTo>
                  <a:lnTo>
                    <a:pt x="0" y="0"/>
                  </a:lnTo>
                </a:path>
              </a:pathLst>
            </a:custGeom>
            <a:noFill/>
            <a:ln w="30751" cap="rnd">
              <a:solidFill>
                <a:srgbClr val="9A9A9A"/>
              </a:solidFill>
              <a:round/>
            </a:ln>
          </p:spPr>
        </p:sp>
        <p:sp>
          <p:nvSpPr>
            <p:cNvPr id="129" name="Átomo H_4"/>
            <p:cNvSpPr/>
            <p:nvPr/>
          </p:nvSpPr>
          <p:spPr>
            <a:xfrm>
              <a:off x="1658311" y="4776837"/>
              <a:ext cx="130238" cy="13023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0" name="Átomo C_41"/>
            <p:cNvSpPr/>
            <p:nvPr/>
          </p:nvSpPr>
          <p:spPr>
            <a:xfrm>
              <a:off x="948024" y="4847768"/>
              <a:ext cx="217170" cy="21717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1" name="Átomo H_5"/>
            <p:cNvSpPr/>
            <p:nvPr/>
          </p:nvSpPr>
          <p:spPr>
            <a:xfrm>
              <a:off x="588371" y="5148537"/>
              <a:ext cx="131279" cy="13127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2" name="Flecha 186_2"/>
            <p:cNvSpPr/>
            <p:nvPr/>
          </p:nvSpPr>
          <p:spPr>
            <a:xfrm>
              <a:off x="899403" y="4628010"/>
              <a:ext cx="157206" cy="328343"/>
            </a:xfrm>
            <a:custGeom>
              <a:avLst/>
              <a:gdLst/>
              <a:ahLst/>
              <a:cxnLst/>
              <a:rect l="0" t="0" r="r" b="b"/>
              <a:pathLst>
                <a:path w="171" h="359" fill="none">
                  <a:moveTo>
                    <a:pt x="0" y="0"/>
                  </a:moveTo>
                  <a:lnTo>
                    <a:pt x="171" y="359"/>
                  </a:lnTo>
                </a:path>
              </a:pathLst>
            </a:custGeom>
            <a:noFill/>
            <a:ln w="30751" cap="rnd">
              <a:solidFill>
                <a:srgbClr val="9A9A9A"/>
              </a:solidFill>
              <a:round/>
            </a:ln>
          </p:spPr>
        </p:sp>
        <p:sp>
          <p:nvSpPr>
            <p:cNvPr id="133" name="Átomo C_42"/>
            <p:cNvSpPr/>
            <p:nvPr/>
          </p:nvSpPr>
          <p:spPr>
            <a:xfrm>
              <a:off x="789085" y="4517692"/>
              <a:ext cx="220637" cy="22063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4" name="Flecha 189_2"/>
            <p:cNvSpPr/>
            <p:nvPr/>
          </p:nvSpPr>
          <p:spPr>
            <a:xfrm>
              <a:off x="1056609" y="4956353"/>
              <a:ext cx="112778" cy="113511"/>
            </a:xfrm>
            <a:custGeom>
              <a:avLst/>
              <a:gdLst/>
              <a:ahLst/>
              <a:cxnLst/>
              <a:rect l="0" t="0" r="r" b="b"/>
              <a:pathLst>
                <a:path w="123" h="124" fill="none">
                  <a:moveTo>
                    <a:pt x="0" y="0"/>
                  </a:moveTo>
                  <a:lnTo>
                    <a:pt x="123" y="124"/>
                  </a:lnTo>
                </a:path>
              </a:pathLst>
            </a:custGeom>
            <a:noFill/>
            <a:ln w="30751" cap="rnd">
              <a:solidFill>
                <a:srgbClr val="9A9A9A"/>
              </a:solidFill>
              <a:round/>
            </a:ln>
          </p:spPr>
        </p:sp>
        <p:sp>
          <p:nvSpPr>
            <p:cNvPr id="135" name="Átomo H_6"/>
            <p:cNvSpPr/>
            <p:nvPr/>
          </p:nvSpPr>
          <p:spPr>
            <a:xfrm>
              <a:off x="1253913" y="4336609"/>
              <a:ext cx="132883" cy="13288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6" name="Flecha 192_2"/>
            <p:cNvSpPr/>
            <p:nvPr/>
          </p:nvSpPr>
          <p:spPr>
            <a:xfrm>
              <a:off x="690660" y="4628010"/>
              <a:ext cx="208743" cy="44109"/>
            </a:xfrm>
            <a:custGeom>
              <a:avLst/>
              <a:gdLst/>
              <a:ahLst/>
              <a:cxnLst/>
              <a:rect l="0" t="0" r="r" b="b"/>
              <a:pathLst>
                <a:path w="228" h="48" fill="none">
                  <a:moveTo>
                    <a:pt x="228" y="0"/>
                  </a:moveTo>
                  <a:lnTo>
                    <a:pt x="0" y="48"/>
                  </a:lnTo>
                </a:path>
              </a:pathLst>
            </a:custGeom>
            <a:noFill/>
            <a:ln w="30751" cap="rnd">
              <a:solidFill>
                <a:srgbClr val="9A9A9A"/>
              </a:solidFill>
              <a:round/>
            </a:ln>
          </p:spPr>
        </p:sp>
        <p:sp>
          <p:nvSpPr>
            <p:cNvPr id="137" name="Flecha 194_2"/>
            <p:cNvSpPr/>
            <p:nvPr/>
          </p:nvSpPr>
          <p:spPr>
            <a:xfrm>
              <a:off x="899403" y="4420681"/>
              <a:ext cx="227043" cy="207329"/>
            </a:xfrm>
            <a:custGeom>
              <a:avLst/>
              <a:gdLst/>
              <a:ahLst/>
              <a:cxnLst/>
              <a:rect l="0" t="0" r="r" b="b"/>
              <a:pathLst>
                <a:path w="248" h="226" fill="none">
                  <a:moveTo>
                    <a:pt x="248" y="0"/>
                  </a:moveTo>
                  <a:lnTo>
                    <a:pt x="0" y="226"/>
                  </a:lnTo>
                </a:path>
              </a:pathLst>
            </a:custGeom>
            <a:noFill/>
            <a:ln w="30751" cap="rnd">
              <a:solidFill>
                <a:srgbClr val="9A9A9A"/>
              </a:solidFill>
              <a:round/>
            </a:ln>
          </p:spPr>
        </p:sp>
        <p:sp>
          <p:nvSpPr>
            <p:cNvPr id="138" name="Flecha 196_2"/>
            <p:cNvSpPr/>
            <p:nvPr/>
          </p:nvSpPr>
          <p:spPr>
            <a:xfrm>
              <a:off x="1126446" y="4403050"/>
              <a:ext cx="193908" cy="17631"/>
            </a:xfrm>
            <a:custGeom>
              <a:avLst/>
              <a:gdLst/>
              <a:ahLst/>
              <a:cxnLst/>
              <a:rect l="0" t="0" r="r" b="b"/>
              <a:pathLst>
                <a:path w="212" h="19" fill="none">
                  <a:moveTo>
                    <a:pt x="0" y="19"/>
                  </a:moveTo>
                  <a:lnTo>
                    <a:pt x="212" y="0"/>
                  </a:lnTo>
                </a:path>
              </a:pathLst>
            </a:custGeom>
            <a:noFill/>
            <a:ln w="30751" cap="rnd">
              <a:solidFill>
                <a:srgbClr val="9A9A9A"/>
              </a:solidFill>
              <a:round/>
            </a:ln>
          </p:spPr>
        </p:sp>
        <p:sp>
          <p:nvSpPr>
            <p:cNvPr id="139" name="Átomo H_7"/>
            <p:cNvSpPr/>
            <p:nvPr/>
          </p:nvSpPr>
          <p:spPr>
            <a:xfrm>
              <a:off x="1102006" y="5002483"/>
              <a:ext cx="134762" cy="13476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0" name="Átomo H_8"/>
            <p:cNvSpPr/>
            <p:nvPr/>
          </p:nvSpPr>
          <p:spPr>
            <a:xfrm>
              <a:off x="622780" y="4604239"/>
              <a:ext cx="135760" cy="13576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41" name="Átomo O_9"/>
            <p:cNvSpPr/>
            <p:nvPr/>
          </p:nvSpPr>
          <p:spPr>
            <a:xfrm>
              <a:off x="1019738" y="4313973"/>
              <a:ext cx="213417" cy="21341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42" name="Forma 201"/>
            <p:cNvSpPr txBox="1"/>
            <p:nvPr/>
          </p:nvSpPr>
          <p:spPr>
            <a:xfrm>
              <a:off x="182880" y="5429274"/>
              <a:ext cx="201168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Glicerol</a:t>
              </a:r>
              <a:endParaRPr lang="es-AR" sz="1300" dirty="0">
                <a:latin typeface="Fira Sans Condensed"/>
              </a:endParaRPr>
            </a:p>
          </p:txBody>
        </p:sp>
      </p:grpSp>
      <p:sp>
        <p:nvSpPr>
          <p:cNvPr id="14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par>
                          <p:cTn id="34" fill="hold">
                            <p:stCondLst>
                              <p:cond delay="175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50"/>
                                        <p:tgtEl>
                                          <p:spTgt spid="15"/>
                                        </p:tgtEl>
                                      </p:cBhvr>
                                    </p:animEffect>
                                  </p:childTnLst>
                                </p:cTn>
                              </p:par>
                            </p:childTnLst>
                          </p:cTn>
                        </p:par>
                        <p:par>
                          <p:cTn id="38" fill="hold">
                            <p:stCondLst>
                              <p:cond delay="20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50"/>
                                        <p:tgtEl>
                                          <p:spTgt spid="16"/>
                                        </p:tgtEl>
                                      </p:cBhvr>
                                    </p:animEffect>
                                  </p:childTnLst>
                                </p:cTn>
                              </p:par>
                            </p:childTnLst>
                          </p:cTn>
                        </p:par>
                        <p:par>
                          <p:cTn id="42" fill="hold">
                            <p:stCondLst>
                              <p:cond delay="2250"/>
                            </p:stCondLst>
                            <p:childTnLst>
                              <p:par>
                                <p:cTn id="39" presetID="10"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Tejido adiposo histología" descr="Ilustración biomédica (Servier Medical Art, CC BY)"/>
          <p:cNvPicPr>
            <a:picLocks noChangeAspect="1"/>
          </p:cNvPicPr>
          <p:nvPr/>
        </p:nvPicPr>
        <p:blipFill>
          <a:blip r:embed="rId2"/>
          <a:stretch>
            <a:fillRect/>
          </a:stretch>
        </p:blipFill>
        <p:spPr>
          <a:xfrm>
            <a:off x="365760" y="1097280"/>
            <a:ext cx="2926080" cy="3879273"/>
          </a:xfrm>
          <a:prstGeom prst="rect">
            <a:avLst/>
          </a:prstGeom>
        </p:spPr>
      </p:pic>
      <p:grpSp>
        <p:nvGrpSpPr>
          <p:cNvPr id="8" name="Componente 0"/>
          <p:cNvGrpSpPr/>
          <p:nvPr/>
        </p:nvGrpSpPr>
        <p:grpSpPr>
          <a:xfrm>
            <a:off x="3676783" y="1097280"/>
            <a:ext cx="3867017" cy="566928"/>
            <a:chOff x="3676783" y="1097280"/>
            <a:chExt cx="3867017" cy="566928"/>
          </a:xfrm>
        </p:grpSpPr>
        <p:pic>
          <p:nvPicPr>
            <p:cNvPr id="9" name="Imagen adipocyte-1" descr="Ilustración biomédica (Servier Medical Art, CC BY)"/>
            <p:cNvPicPr>
              <a:picLocks noChangeAspect="1"/>
            </p:cNvPicPr>
            <p:nvPr/>
          </p:nvPicPr>
          <p:blipFill>
            <a:blip r:embed="rId3"/>
            <a:stretch>
              <a:fillRect/>
            </a:stretch>
          </p:blipFill>
          <p:spPr>
            <a:xfrm>
              <a:off x="3676783" y="1097280"/>
              <a:ext cx="555994" cy="566928"/>
            </a:xfrm>
            <a:prstGeom prst="rect">
              <a:avLst/>
            </a:prstGeom>
          </p:spPr>
        </p:pic>
        <p:sp>
          <p:nvSpPr>
            <p:cNvPr id="10" name="Recuadro Adipocitos"/>
            <p:cNvSpPr/>
            <p:nvPr/>
          </p:nvSpPr>
          <p:spPr>
            <a:xfrm>
              <a:off x="4434840" y="1133856"/>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Adipocitos</a:t>
              </a:r>
              <a:endParaRPr lang="es-AR" sz="1250" dirty="0">
                <a:latin typeface="Fira Sans Condensed"/>
              </a:endParaRPr>
            </a:p>
          </p:txBody>
        </p:sp>
      </p:grpSp>
      <p:grpSp>
        <p:nvGrpSpPr>
          <p:cNvPr id="11" name="Componente 1"/>
          <p:cNvGrpSpPr/>
          <p:nvPr/>
        </p:nvGrpSpPr>
        <p:grpSpPr>
          <a:xfrm>
            <a:off x="3749040" y="1792224"/>
            <a:ext cx="3794760" cy="512064"/>
            <a:chOff x="3749040" y="1792224"/>
            <a:chExt cx="3794760" cy="512064"/>
          </a:xfrm>
        </p:grpSpPr>
        <p:sp>
          <p:nvSpPr>
            <p:cNvPr id="12" name="Esfera"/>
            <p:cNvSpPr/>
            <p:nvPr/>
          </p:nvSpPr>
          <p:spPr>
            <a:xfrm>
              <a:off x="3749040" y="1801368"/>
              <a:ext cx="457200" cy="457200"/>
            </a:xfrm>
            <a:prstGeom prst="ellipse">
              <a:avLst/>
            </a:prstGeom>
            <a:gradFill rotWithShape="1">
              <a:gsLst>
                <a:gs pos="0">
                  <a:srgbClr val="FFFFFF"/>
                </a:gs>
                <a:gs pos="30000">
                  <a:srgbClr val="C39BD3"/>
                </a:gs>
                <a:gs pos="100000">
                  <a:srgbClr val="614D69"/>
                </a:gs>
              </a:gsLst>
              <a:path path="circle">
                <a:fillToRect l="30000" t="25000" r="70000" b="75000"/>
              </a:path>
            </a:gradFill>
            <a:ln>
              <a:noFill/>
            </a:ln>
          </p:spPr>
        </p:sp>
        <p:sp>
          <p:nvSpPr>
            <p:cNvPr id="13" name="Recuadro Preadipocitos y célula"/>
            <p:cNvSpPr/>
            <p:nvPr/>
          </p:nvSpPr>
          <p:spPr>
            <a:xfrm>
              <a:off x="4434840" y="1792224"/>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Preadipocitos y células madre estromales</a:t>
              </a:r>
              <a:endParaRPr lang="es-AR" sz="1250" dirty="0">
                <a:latin typeface="Fira Sans Condensed"/>
              </a:endParaRPr>
            </a:p>
          </p:txBody>
        </p:sp>
      </p:grpSp>
      <p:grpSp>
        <p:nvGrpSpPr>
          <p:cNvPr id="14" name="Componente 2"/>
          <p:cNvGrpSpPr/>
          <p:nvPr/>
        </p:nvGrpSpPr>
        <p:grpSpPr>
          <a:xfrm>
            <a:off x="3749040" y="2450592"/>
            <a:ext cx="3794760" cy="512064"/>
            <a:chOff x="3749040" y="2450592"/>
            <a:chExt cx="3794760" cy="512064"/>
          </a:xfrm>
        </p:grpSpPr>
        <p:sp>
          <p:nvSpPr>
            <p:cNvPr id="15" name="Esfera_2"/>
            <p:cNvSpPr/>
            <p:nvPr/>
          </p:nvSpPr>
          <p:spPr>
            <a:xfrm>
              <a:off x="3749040" y="2459736"/>
              <a:ext cx="457200" cy="457200"/>
            </a:xfrm>
            <a:prstGeom prst="ellipse">
              <a:avLst/>
            </a:prstGeom>
            <a:gradFill rotWithShape="1">
              <a:gsLst>
                <a:gs pos="0">
                  <a:srgbClr val="FFFFFF"/>
                </a:gs>
                <a:gs pos="30000">
                  <a:srgbClr val="C39BD3"/>
                </a:gs>
                <a:gs pos="100000">
                  <a:srgbClr val="614D69"/>
                </a:gs>
              </a:gsLst>
              <a:path path="circle">
                <a:fillToRect l="30000" t="25000" r="70000" b="75000"/>
              </a:path>
            </a:gradFill>
            <a:ln>
              <a:noFill/>
            </a:ln>
          </p:spPr>
        </p:sp>
        <p:sp>
          <p:nvSpPr>
            <p:cNvPr id="16" name="Recuadro Fibroblastos · matriz "/>
            <p:cNvSpPr/>
            <p:nvPr/>
          </p:nvSpPr>
          <p:spPr>
            <a:xfrm>
              <a:off x="4434840" y="2450592"/>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Fibroblastos · matriz extracelular</a:t>
              </a:r>
              <a:endParaRPr lang="es-AR" sz="1250" dirty="0">
                <a:latin typeface="Fira Sans Condensed"/>
              </a:endParaRPr>
            </a:p>
          </p:txBody>
        </p:sp>
      </p:grpSp>
      <p:grpSp>
        <p:nvGrpSpPr>
          <p:cNvPr id="17" name="Componente 3"/>
          <p:cNvGrpSpPr/>
          <p:nvPr/>
        </p:nvGrpSpPr>
        <p:grpSpPr>
          <a:xfrm>
            <a:off x="3611880" y="3108960"/>
            <a:ext cx="3931920" cy="512064"/>
            <a:chOff x="3611880" y="3108960"/>
            <a:chExt cx="3931920" cy="512064"/>
          </a:xfrm>
        </p:grpSpPr>
        <p:pic>
          <p:nvPicPr>
            <p:cNvPr id="18" name="Imagen capillary" descr="Ilustración biomédica (Servier Medical Art, CC BY)"/>
            <p:cNvPicPr>
              <a:picLocks noChangeAspect="1"/>
            </p:cNvPicPr>
            <p:nvPr/>
          </p:nvPicPr>
          <p:blipFill>
            <a:blip r:embed="rId4"/>
            <a:stretch>
              <a:fillRect/>
            </a:stretch>
          </p:blipFill>
          <p:spPr>
            <a:xfrm>
              <a:off x="3611880" y="3159660"/>
              <a:ext cx="685800" cy="392376"/>
            </a:xfrm>
            <a:prstGeom prst="rect">
              <a:avLst/>
            </a:prstGeom>
          </p:spPr>
        </p:pic>
        <p:sp>
          <p:nvSpPr>
            <p:cNvPr id="19" name="Recuadro Endotelio (muy vascula"/>
            <p:cNvSpPr/>
            <p:nvPr/>
          </p:nvSpPr>
          <p:spPr>
            <a:xfrm>
              <a:off x="4434840" y="3108960"/>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Endotelio (muy vascularizado)</a:t>
              </a:r>
              <a:endParaRPr lang="es-AR" sz="1250" dirty="0">
                <a:latin typeface="Fira Sans Condensed"/>
              </a:endParaRPr>
            </a:p>
          </p:txBody>
        </p:sp>
      </p:grpSp>
      <p:grpSp>
        <p:nvGrpSpPr>
          <p:cNvPr id="20" name="Componente 4"/>
          <p:cNvGrpSpPr/>
          <p:nvPr/>
        </p:nvGrpSpPr>
        <p:grpSpPr>
          <a:xfrm>
            <a:off x="3692981" y="3730752"/>
            <a:ext cx="3850819" cy="566928"/>
            <a:chOff x="3692981" y="3730752"/>
            <a:chExt cx="3850819" cy="566928"/>
          </a:xfrm>
        </p:grpSpPr>
        <p:pic>
          <p:nvPicPr>
            <p:cNvPr id="21" name="Imagen macrophage" descr="Ilustración biomédica (Servier Medical Art, CC BY)"/>
            <p:cNvPicPr>
              <a:picLocks noChangeAspect="1"/>
            </p:cNvPicPr>
            <p:nvPr/>
          </p:nvPicPr>
          <p:blipFill>
            <a:blip r:embed="rId5"/>
            <a:stretch>
              <a:fillRect/>
            </a:stretch>
          </p:blipFill>
          <p:spPr>
            <a:xfrm>
              <a:off x="3692981" y="3730752"/>
              <a:ext cx="523599" cy="566928"/>
            </a:xfrm>
            <a:prstGeom prst="rect">
              <a:avLst/>
            </a:prstGeom>
          </p:spPr>
        </p:pic>
        <p:sp>
          <p:nvSpPr>
            <p:cNvPr id="22" name="Recuadro Macrófagos y linfocito"/>
            <p:cNvSpPr/>
            <p:nvPr/>
          </p:nvSpPr>
          <p:spPr>
            <a:xfrm>
              <a:off x="4434840" y="3767328"/>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Macrófagos y linfocitos</a:t>
              </a:r>
              <a:endParaRPr lang="es-AR" sz="1250" dirty="0">
                <a:latin typeface="Fira Sans Condensed"/>
              </a:endParaRPr>
            </a:p>
          </p:txBody>
        </p:sp>
      </p:grpSp>
      <p:grpSp>
        <p:nvGrpSpPr>
          <p:cNvPr id="23" name="Componente 5"/>
          <p:cNvGrpSpPr/>
          <p:nvPr/>
        </p:nvGrpSpPr>
        <p:grpSpPr>
          <a:xfrm>
            <a:off x="3783487" y="4389120"/>
            <a:ext cx="3760313" cy="566928"/>
            <a:chOff x="3783487" y="4389120"/>
            <a:chExt cx="3760313" cy="566928"/>
          </a:xfrm>
        </p:grpSpPr>
        <p:pic>
          <p:nvPicPr>
            <p:cNvPr id="24" name="Imagen Pyramidal_Neuron" descr="Ilustración biomédica (Servier Medical Art, CC BY)"/>
            <p:cNvPicPr>
              <a:picLocks noChangeAspect="1"/>
            </p:cNvPicPr>
            <p:nvPr/>
          </p:nvPicPr>
          <p:blipFill>
            <a:blip r:embed="rId6"/>
            <a:stretch>
              <a:fillRect/>
            </a:stretch>
          </p:blipFill>
          <p:spPr>
            <a:xfrm>
              <a:off x="3783487" y="4389120"/>
              <a:ext cx="342586" cy="566928"/>
            </a:xfrm>
            <a:prstGeom prst="rect">
              <a:avLst/>
            </a:prstGeom>
          </p:spPr>
        </p:pic>
        <p:sp>
          <p:nvSpPr>
            <p:cNvPr id="25" name="Recuadro Inervación simpática"/>
            <p:cNvSpPr/>
            <p:nvPr/>
          </p:nvSpPr>
          <p:spPr>
            <a:xfrm>
              <a:off x="4434840" y="4425696"/>
              <a:ext cx="3108960" cy="512064"/>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Inervación simpática</a:t>
              </a:r>
              <a:endParaRPr lang="es-AR" sz="1250" dirty="0">
                <a:latin typeface="Fira Sans Condensed"/>
              </a:endParaRPr>
            </a:p>
          </p:txBody>
        </p:sp>
      </p:grpSp>
      <p:grpSp>
        <p:nvGrpSpPr>
          <p:cNvPr id="26" name="Cuadro Funciones"/>
          <p:cNvGrpSpPr/>
          <p:nvPr/>
        </p:nvGrpSpPr>
        <p:grpSpPr>
          <a:xfrm>
            <a:off x="7818120" y="1097280"/>
            <a:ext cx="4023360" cy="3886200"/>
            <a:chOff x="7818120" y="1097280"/>
            <a:chExt cx="4023360" cy="3886200"/>
          </a:xfrm>
        </p:grpSpPr>
        <p:sp>
          <p:nvSpPr>
            <p:cNvPr id="27" name="Forma 26"/>
            <p:cNvSpPr/>
            <p:nvPr/>
          </p:nvSpPr>
          <p:spPr>
            <a:xfrm>
              <a:off x="7818120" y="1298448"/>
              <a:ext cx="4023360" cy="3685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Reserva energética</a:t>
              </a:r>
              <a:r>
                <a:rPr lang="es-AR" sz="1550" dirty="0">
                  <a:solidFill>
                    <a:srgbClr val="1E1E1E"/>
                  </a:solidFill>
                  <a:latin typeface="Fira Sans Condensed"/>
                  <a:ea typeface="Fira Sans Condensed"/>
                  <a:cs typeface="Fira Sans Condensed"/>
                  <a:sym typeface="Fira Sans Condensed"/>
                </a:rPr>
                <a:t> (TAG)</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Aislamiento térmico</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Amortiguación mecánica</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Regulación del flujo de ácidos grasos</a:t>
              </a:r>
              <a:endParaRPr lang="es-AR" sz="1550" dirty="0">
                <a:latin typeface="Fira Sans Condensed"/>
              </a:endParaRPr>
            </a:p>
            <a:p>
              <a:pPr algn="l" marL="147637" indent="-147637">
                <a:spcAft>
                  <a:spcPts val="400"/>
                </a:spcAft>
                <a:buClr>
                  <a:srgbClr val="1E1E1E"/>
                </a:buClr>
                <a:buFont typeface="Arial"/>
                <a:buChar char="•"/>
              </a:pPr>
              <a:r>
                <a:rPr lang="es-AR" sz="1550" dirty="0">
                  <a:solidFill>
                    <a:srgbClr val="1E1E1E"/>
                  </a:solidFill>
                  <a:latin typeface="Fira Sans Condensed"/>
                  <a:ea typeface="Fira Sans Condensed"/>
                  <a:cs typeface="Fira Sans Condensed"/>
                  <a:sym typeface="Fira Sans Condensed"/>
                </a:rPr>
                <a:t>Señalización </a:t>
              </a:r>
              <a:r>
                <a:rPr lang="es-AR" sz="1550" b="1" dirty="0">
                  <a:solidFill>
                    <a:srgbClr val="1E1E1E"/>
                  </a:solidFill>
                  <a:latin typeface="Fira Sans Condensed"/>
                  <a:ea typeface="Fira Sans Condensed"/>
                  <a:cs typeface="Fira Sans Condensed"/>
                  <a:sym typeface="Fira Sans Condensed"/>
                </a:rPr>
                <a:t>endocrina, paracrina y autocrina</a:t>
              </a:r>
              <a:r>
                <a:rPr lang="es-AR" sz="1550" dirty="0">
                  <a:solidFill>
                    <a:srgbClr val="1E1E1E"/>
                  </a:solidFill>
                  <a:latin typeface="Fira Sans Condensed"/>
                  <a:ea typeface="Fira Sans Condensed"/>
                  <a:cs typeface="Fira Sans Condensed"/>
                  <a:sym typeface="Fira Sans Condensed"/>
                </a:rPr>
                <a:t> (adipocinas)</a:t>
              </a:r>
              <a:endParaRPr lang="es-AR" sz="1550" dirty="0">
                <a:latin typeface="Fira Sans Condensed"/>
              </a:endParaRPr>
            </a:p>
          </p:txBody>
        </p:sp>
        <p:sp>
          <p:nvSpPr>
            <p:cNvPr id="28" name="Forma 27"/>
            <p:cNvSpPr/>
            <p:nvPr/>
          </p:nvSpPr>
          <p:spPr>
            <a:xfrm>
              <a:off x="7955280" y="1097280"/>
              <a:ext cx="124696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FUNCIONES</a:t>
              </a:r>
              <a:endParaRPr lang="es-AR" sz="1400" dirty="0">
                <a:latin typeface="Fira Sans Condensed"/>
              </a:endParaRPr>
            </a:p>
          </p:txBody>
        </p:sp>
      </p:grpSp>
      <p:sp>
        <p:nvSpPr>
          <p:cNvPr id="29" name="Perla clínica"/>
          <p:cNvSpPr/>
          <p:nvPr/>
        </p:nvSpPr>
        <p:spPr>
          <a:xfrm>
            <a:off x="365760" y="5166360"/>
            <a:ext cx="11475720" cy="10972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No todo tejido adiposo tiene el mismo riesgo metabólico: importan </a:t>
            </a:r>
            <a:r>
              <a:rPr lang="es-AR" sz="1550" b="1" dirty="0">
                <a:solidFill>
                  <a:srgbClr val="FFFFFF"/>
                </a:solidFill>
                <a:latin typeface="Fira Sans Condensed"/>
                <a:ea typeface="Fira Sans Condensed"/>
                <a:cs typeface="Fira Sans Condensed"/>
                <a:sym typeface="Fira Sans Condensed"/>
              </a:rPr>
              <a:t>localización, capacidad de expansión, especies lipídicas y estado inflamatorio</a:t>
            </a:r>
            <a:r>
              <a:rPr lang="es-AR" sz="1550" dirty="0">
                <a:solidFill>
                  <a:srgbClr val="FFFFFF"/>
                </a:solidFill>
                <a:latin typeface="Fira Sans Condensed"/>
                <a:ea typeface="Fira Sans Condensed"/>
                <a:cs typeface="Fira Sans Condensed"/>
                <a:sym typeface="Fira Sans Condensed"/>
              </a:rPr>
              <a:t>.</a:t>
            </a:r>
            <a:endParaRPr lang="es-AR" sz="1550"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EL TEJIDO ADIPOSO NO ES UN DEPÓSITO PASIVO</a:t>
            </a:r>
            <a:endParaRPr lang="es-AR" sz="33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250"/>
                                        <p:tgtEl>
                                          <p:spTgt spid="11"/>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50"/>
                                        <p:tgtEl>
                                          <p:spTgt spid="14"/>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50"/>
                                        <p:tgtEl>
                                          <p:spTgt spid="20"/>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50"/>
                                        <p:tgtEl>
                                          <p:spTgt spid="23"/>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p:cTn id="35" dur="500" fill="hold"/>
                                        <p:tgtEl>
                                          <p:spTgt spid="29"/>
                                        </p:tgtEl>
                                        <p:attrNameLst>
                                          <p:attrName>ppt_w</p:attrName>
                                        </p:attrNameLst>
                                      </p:cBhvr>
                                      <p:tavLst>
                                        <p:tav tm="0">
                                          <p:val>
                                            <p:fltVal val="0"/>
                                          </p:val>
                                        </p:tav>
                                        <p:tav tm="100000">
                                          <p:val>
                                            <p:strVal val="#ppt_w"/>
                                          </p:val>
                                        </p:tav>
                                      </p:tavLst>
                                    </p:anim>
                                    <p:anim calcmode="lin" valueType="num">
                                      <p:cBhvr>
                                        <p:cTn id="36" dur="500" fill="hold"/>
                                        <p:tgtEl>
                                          <p:spTgt spid="29"/>
                                        </p:tgtEl>
                                        <p:attrNameLst>
                                          <p:attrName>ppt_h</p:attrName>
                                        </p:attrNameLst>
                                      </p:cBhvr>
                                      <p:tavLst>
                                        <p:tav tm="0">
                                          <p:val>
                                            <p:fltVal val="0"/>
                                          </p:val>
                                        </p:tav>
                                        <p:tav tm="100000">
                                          <p:val>
                                            <p:strVal val="#ppt_h"/>
                                          </p:val>
                                        </p:tav>
                                      </p:tavLst>
                                    </p:anim>
                                    <p:animEffect transition="in" filter="fade">
                                      <p:cBhvr>
                                        <p:cTn id="3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Saludable"/>
          <p:cNvGrpSpPr/>
          <p:nvPr/>
        </p:nvGrpSpPr>
        <p:grpSpPr>
          <a:xfrm>
            <a:off x="365760" y="1097280"/>
            <a:ext cx="5486400" cy="5166360"/>
            <a:chOff x="365760" y="1097280"/>
            <a:chExt cx="5486400" cy="5166360"/>
          </a:xfrm>
        </p:grpSpPr>
        <p:sp>
          <p:nvSpPr>
            <p:cNvPr id="7" name="Recuadro EXPANSIÓN RELATIVAMENT"/>
            <p:cNvSpPr/>
            <p:nvPr/>
          </p:nvSpPr>
          <p:spPr>
            <a:xfrm>
              <a:off x="365760" y="1097280"/>
              <a:ext cx="5486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EXPANSIÓN RELATIVAMENTE SALUDABLE</a:t>
              </a:r>
              <a:endParaRPr lang="es-AR" sz="1500" dirty="0">
                <a:latin typeface="Fira Sans Condensed"/>
              </a:endParaRPr>
            </a:p>
          </p:txBody>
        </p:sp>
        <p:grpSp>
          <p:nvGrpSpPr>
            <p:cNvPr id="8" name="Adipocito sano 0"/>
            <p:cNvGrpSpPr/>
            <p:nvPr/>
          </p:nvGrpSpPr>
          <p:grpSpPr>
            <a:xfrm>
              <a:off x="640080" y="1828800"/>
              <a:ext cx="914400" cy="914400"/>
              <a:chOff x="640080" y="1828800"/>
              <a:chExt cx="914400" cy="914400"/>
            </a:xfrm>
          </p:grpSpPr>
          <p:sp>
            <p:nvSpPr>
              <p:cNvPr id="9" name="Forma 8"/>
              <p:cNvSpPr/>
              <p:nvPr/>
            </p:nvSpPr>
            <p:spPr>
              <a:xfrm>
                <a:off x="640080" y="182880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0" name="Gota lipídica"/>
              <p:cNvSpPr/>
              <p:nvPr/>
            </p:nvSpPr>
            <p:spPr>
              <a:xfrm>
                <a:off x="685800" y="187452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1" name="Forma 10"/>
              <p:cNvSpPr/>
              <p:nvPr/>
            </p:nvSpPr>
            <p:spPr>
              <a:xfrm rot="2400000">
                <a:off x="1298448" y="188366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2" name="Mitocondria"/>
              <p:cNvGrpSpPr/>
              <p:nvPr/>
            </p:nvGrpSpPr>
            <p:grpSpPr>
              <a:xfrm>
                <a:off x="713232" y="2505456"/>
                <a:ext cx="91440" cy="45720"/>
                <a:chOff x="713232" y="2505456"/>
                <a:chExt cx="91440" cy="45720"/>
              </a:xfrm>
            </p:grpSpPr>
            <p:sp>
              <p:nvSpPr>
                <p:cNvPr id="13" name="Forma 12"/>
                <p:cNvSpPr/>
                <p:nvPr/>
              </p:nvSpPr>
              <p:spPr>
                <a:xfrm rot="-2400000">
                  <a:off x="713232" y="250545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4" name="Forma 13"/>
                <p:cNvSpPr/>
                <p:nvPr/>
              </p:nvSpPr>
              <p:spPr>
                <a:xfrm rot="-2400000">
                  <a:off x="719633" y="2511857"/>
                  <a:ext cx="78638" cy="32918"/>
                </a:xfrm>
                <a:prstGeom prst="ellipse">
                  <a:avLst/>
                </a:prstGeom>
                <a:solidFill>
                  <a:srgbClr val="F8D8B4"/>
                </a:solidFill>
                <a:ln w="9525" cap="rnd">
                  <a:solidFill>
                    <a:srgbClr val="B2732B"/>
                  </a:solidFill>
                  <a:round/>
                </a:ln>
              </p:spPr>
            </p:sp>
            <p:sp>
              <p:nvSpPr>
                <p:cNvPr id="15" name="Forma 14"/>
                <p:cNvSpPr/>
                <p:nvPr/>
              </p:nvSpPr>
              <p:spPr>
                <a:xfrm rot="-2400000">
                  <a:off x="719633" y="251185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6" name="Adipocito sano 1"/>
            <p:cNvGrpSpPr/>
            <p:nvPr/>
          </p:nvGrpSpPr>
          <p:grpSpPr>
            <a:xfrm>
              <a:off x="1645920" y="1920240"/>
              <a:ext cx="960120" cy="960120"/>
              <a:chOff x="1645920" y="1920240"/>
              <a:chExt cx="960120" cy="960120"/>
            </a:xfrm>
          </p:grpSpPr>
          <p:sp>
            <p:nvSpPr>
              <p:cNvPr id="17" name="Forma 16"/>
              <p:cNvSpPr/>
              <p:nvPr/>
            </p:nvSpPr>
            <p:spPr>
              <a:xfrm>
                <a:off x="1645920" y="1920240"/>
                <a:ext cx="960120" cy="9601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8" name="Gota lipídica_2"/>
              <p:cNvSpPr/>
              <p:nvPr/>
            </p:nvSpPr>
            <p:spPr>
              <a:xfrm>
                <a:off x="1693926" y="1968246"/>
                <a:ext cx="864108" cy="86410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9" name="Forma 18"/>
              <p:cNvSpPr/>
              <p:nvPr/>
            </p:nvSpPr>
            <p:spPr>
              <a:xfrm rot="2400000">
                <a:off x="2337206" y="1977847"/>
                <a:ext cx="211226" cy="115214"/>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0" name="Mitocondria_2"/>
              <p:cNvGrpSpPr/>
              <p:nvPr/>
            </p:nvGrpSpPr>
            <p:grpSpPr>
              <a:xfrm>
                <a:off x="1722730" y="2630729"/>
                <a:ext cx="96012" cy="48006"/>
                <a:chOff x="1722730" y="2630729"/>
                <a:chExt cx="96012" cy="48006"/>
              </a:xfrm>
            </p:grpSpPr>
            <p:sp>
              <p:nvSpPr>
                <p:cNvPr id="21" name="Forma 20"/>
                <p:cNvSpPr/>
                <p:nvPr/>
              </p:nvSpPr>
              <p:spPr>
                <a:xfrm rot="-2400000">
                  <a:off x="1722730" y="2630729"/>
                  <a:ext cx="96012" cy="4800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2" name="Forma 21"/>
                <p:cNvSpPr/>
                <p:nvPr/>
              </p:nvSpPr>
              <p:spPr>
                <a:xfrm rot="-2400000">
                  <a:off x="1729450" y="2637450"/>
                  <a:ext cx="82570" cy="34564"/>
                </a:xfrm>
                <a:prstGeom prst="ellipse">
                  <a:avLst/>
                </a:prstGeom>
                <a:solidFill>
                  <a:srgbClr val="F8D8B4"/>
                </a:solidFill>
                <a:ln w="9525" cap="rnd">
                  <a:solidFill>
                    <a:srgbClr val="B2732B"/>
                  </a:solidFill>
                  <a:round/>
                </a:ln>
              </p:spPr>
            </p:sp>
            <p:sp>
              <p:nvSpPr>
                <p:cNvPr id="23" name="Forma 22"/>
                <p:cNvSpPr/>
                <p:nvPr/>
              </p:nvSpPr>
              <p:spPr>
                <a:xfrm rot="-2400000">
                  <a:off x="1729450" y="2637450"/>
                  <a:ext cx="82570" cy="3456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4" name="Adipocito sano 2"/>
            <p:cNvGrpSpPr/>
            <p:nvPr/>
          </p:nvGrpSpPr>
          <p:grpSpPr>
            <a:xfrm>
              <a:off x="2697480" y="1828800"/>
              <a:ext cx="914400" cy="914400"/>
              <a:chOff x="2697480" y="1828800"/>
              <a:chExt cx="914400" cy="914400"/>
            </a:xfrm>
          </p:grpSpPr>
          <p:sp>
            <p:nvSpPr>
              <p:cNvPr id="25" name="Forma 24"/>
              <p:cNvSpPr/>
              <p:nvPr/>
            </p:nvSpPr>
            <p:spPr>
              <a:xfrm>
                <a:off x="2697480" y="182880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6" name="Gota lipídica_3"/>
              <p:cNvSpPr/>
              <p:nvPr/>
            </p:nvSpPr>
            <p:spPr>
              <a:xfrm>
                <a:off x="2743200" y="187452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7" name="Forma 26"/>
              <p:cNvSpPr/>
              <p:nvPr/>
            </p:nvSpPr>
            <p:spPr>
              <a:xfrm rot="2400000">
                <a:off x="3355848" y="188366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8" name="Mitocondria_3"/>
              <p:cNvGrpSpPr/>
              <p:nvPr/>
            </p:nvGrpSpPr>
            <p:grpSpPr>
              <a:xfrm>
                <a:off x="2770632" y="2505456"/>
                <a:ext cx="91440" cy="45720"/>
                <a:chOff x="2770632" y="2505456"/>
                <a:chExt cx="91440" cy="45720"/>
              </a:xfrm>
            </p:grpSpPr>
            <p:sp>
              <p:nvSpPr>
                <p:cNvPr id="29" name="Forma 28"/>
                <p:cNvSpPr/>
                <p:nvPr/>
              </p:nvSpPr>
              <p:spPr>
                <a:xfrm rot="-2400000">
                  <a:off x="2770632" y="250545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0" name="Forma 29"/>
                <p:cNvSpPr/>
                <p:nvPr/>
              </p:nvSpPr>
              <p:spPr>
                <a:xfrm rot="-2400000">
                  <a:off x="2777033" y="2511857"/>
                  <a:ext cx="78638" cy="32918"/>
                </a:xfrm>
                <a:prstGeom prst="ellipse">
                  <a:avLst/>
                </a:prstGeom>
                <a:solidFill>
                  <a:srgbClr val="F8D8B4"/>
                </a:solidFill>
                <a:ln w="9525" cap="rnd">
                  <a:solidFill>
                    <a:srgbClr val="B2732B"/>
                  </a:solidFill>
                  <a:round/>
                </a:ln>
              </p:spPr>
            </p:sp>
            <p:sp>
              <p:nvSpPr>
                <p:cNvPr id="31" name="Forma 30"/>
                <p:cNvSpPr/>
                <p:nvPr/>
              </p:nvSpPr>
              <p:spPr>
                <a:xfrm rot="-2400000">
                  <a:off x="2777033" y="251185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2" name="Adipocito sano 3"/>
            <p:cNvGrpSpPr/>
            <p:nvPr/>
          </p:nvGrpSpPr>
          <p:grpSpPr>
            <a:xfrm>
              <a:off x="3703320" y="1920240"/>
              <a:ext cx="914400" cy="914400"/>
              <a:chOff x="3703320" y="1920240"/>
              <a:chExt cx="914400" cy="914400"/>
            </a:xfrm>
          </p:grpSpPr>
          <p:sp>
            <p:nvSpPr>
              <p:cNvPr id="33" name="Forma 32"/>
              <p:cNvSpPr/>
              <p:nvPr/>
            </p:nvSpPr>
            <p:spPr>
              <a:xfrm>
                <a:off x="3703320" y="192024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4" name="Gota lipídica_4"/>
              <p:cNvSpPr/>
              <p:nvPr/>
            </p:nvSpPr>
            <p:spPr>
              <a:xfrm>
                <a:off x="3749040" y="196596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5" name="Forma 34"/>
              <p:cNvSpPr/>
              <p:nvPr/>
            </p:nvSpPr>
            <p:spPr>
              <a:xfrm rot="2400000">
                <a:off x="4361688" y="197510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6" name="Mitocondria_4"/>
              <p:cNvGrpSpPr/>
              <p:nvPr/>
            </p:nvGrpSpPr>
            <p:grpSpPr>
              <a:xfrm>
                <a:off x="3776472" y="2596896"/>
                <a:ext cx="91440" cy="45720"/>
                <a:chOff x="3776472" y="2596896"/>
                <a:chExt cx="91440" cy="45720"/>
              </a:xfrm>
            </p:grpSpPr>
            <p:sp>
              <p:nvSpPr>
                <p:cNvPr id="37" name="Forma 36"/>
                <p:cNvSpPr/>
                <p:nvPr/>
              </p:nvSpPr>
              <p:spPr>
                <a:xfrm rot="-2400000">
                  <a:off x="3776472" y="259689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8" name="Forma 37"/>
                <p:cNvSpPr/>
                <p:nvPr/>
              </p:nvSpPr>
              <p:spPr>
                <a:xfrm rot="-2400000">
                  <a:off x="3782873" y="2603297"/>
                  <a:ext cx="78638" cy="32918"/>
                </a:xfrm>
                <a:prstGeom prst="ellipse">
                  <a:avLst/>
                </a:prstGeom>
                <a:solidFill>
                  <a:srgbClr val="F8D8B4"/>
                </a:solidFill>
                <a:ln w="9525" cap="rnd">
                  <a:solidFill>
                    <a:srgbClr val="B2732B"/>
                  </a:solidFill>
                  <a:round/>
                </a:ln>
              </p:spPr>
            </p:sp>
            <p:sp>
              <p:nvSpPr>
                <p:cNvPr id="39" name="Forma 38"/>
                <p:cNvSpPr/>
                <p:nvPr/>
              </p:nvSpPr>
              <p:spPr>
                <a:xfrm rot="-2400000">
                  <a:off x="3782873" y="260329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0" name="Adipocito sano 4"/>
            <p:cNvGrpSpPr/>
            <p:nvPr/>
          </p:nvGrpSpPr>
          <p:grpSpPr>
            <a:xfrm>
              <a:off x="4663440" y="1828800"/>
              <a:ext cx="914400" cy="914400"/>
              <a:chOff x="4663440" y="1828800"/>
              <a:chExt cx="914400" cy="914400"/>
            </a:xfrm>
          </p:grpSpPr>
          <p:sp>
            <p:nvSpPr>
              <p:cNvPr id="41" name="Forma 40"/>
              <p:cNvSpPr/>
              <p:nvPr/>
            </p:nvSpPr>
            <p:spPr>
              <a:xfrm>
                <a:off x="4663440" y="182880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2" name="Gota lipídica_5"/>
              <p:cNvSpPr/>
              <p:nvPr/>
            </p:nvSpPr>
            <p:spPr>
              <a:xfrm>
                <a:off x="4709160" y="187452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3" name="Forma 42"/>
              <p:cNvSpPr/>
              <p:nvPr/>
            </p:nvSpPr>
            <p:spPr>
              <a:xfrm rot="2400000">
                <a:off x="5321808" y="188366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4" name="Mitocondria_5"/>
              <p:cNvGrpSpPr/>
              <p:nvPr/>
            </p:nvGrpSpPr>
            <p:grpSpPr>
              <a:xfrm>
                <a:off x="4736592" y="2505456"/>
                <a:ext cx="91440" cy="45720"/>
                <a:chOff x="4736592" y="2505456"/>
                <a:chExt cx="91440" cy="45720"/>
              </a:xfrm>
            </p:grpSpPr>
            <p:sp>
              <p:nvSpPr>
                <p:cNvPr id="45" name="Forma 44"/>
                <p:cNvSpPr/>
                <p:nvPr/>
              </p:nvSpPr>
              <p:spPr>
                <a:xfrm rot="-2400000">
                  <a:off x="4736592" y="250545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6" name="Forma 45"/>
                <p:cNvSpPr/>
                <p:nvPr/>
              </p:nvSpPr>
              <p:spPr>
                <a:xfrm rot="-2400000">
                  <a:off x="4742993" y="2511857"/>
                  <a:ext cx="78638" cy="32918"/>
                </a:xfrm>
                <a:prstGeom prst="ellipse">
                  <a:avLst/>
                </a:prstGeom>
                <a:solidFill>
                  <a:srgbClr val="F8D8B4"/>
                </a:solidFill>
                <a:ln w="9525" cap="rnd">
                  <a:solidFill>
                    <a:srgbClr val="B2732B"/>
                  </a:solidFill>
                  <a:round/>
                </a:ln>
              </p:spPr>
            </p:sp>
            <p:sp>
              <p:nvSpPr>
                <p:cNvPr id="47" name="Forma 46"/>
                <p:cNvSpPr/>
                <p:nvPr/>
              </p:nvSpPr>
              <p:spPr>
                <a:xfrm rot="-2400000">
                  <a:off x="4742993" y="251185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8" name="Adipocito sano 5"/>
            <p:cNvGrpSpPr/>
            <p:nvPr/>
          </p:nvGrpSpPr>
          <p:grpSpPr>
            <a:xfrm>
              <a:off x="1097280" y="2834640"/>
              <a:ext cx="914400" cy="914400"/>
              <a:chOff x="1097280" y="2834640"/>
              <a:chExt cx="914400" cy="914400"/>
            </a:xfrm>
          </p:grpSpPr>
          <p:sp>
            <p:nvSpPr>
              <p:cNvPr id="49" name="Forma 48"/>
              <p:cNvSpPr/>
              <p:nvPr/>
            </p:nvSpPr>
            <p:spPr>
              <a:xfrm>
                <a:off x="1097280" y="283464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50" name="Gota lipídica_6"/>
              <p:cNvSpPr/>
              <p:nvPr/>
            </p:nvSpPr>
            <p:spPr>
              <a:xfrm>
                <a:off x="1143000" y="288036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1" name="Forma 50"/>
              <p:cNvSpPr/>
              <p:nvPr/>
            </p:nvSpPr>
            <p:spPr>
              <a:xfrm rot="2400000">
                <a:off x="1755648" y="288950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2" name="Mitocondria_6"/>
              <p:cNvGrpSpPr/>
              <p:nvPr/>
            </p:nvGrpSpPr>
            <p:grpSpPr>
              <a:xfrm>
                <a:off x="1170432" y="3511296"/>
                <a:ext cx="91440" cy="45720"/>
                <a:chOff x="1170432" y="3511296"/>
                <a:chExt cx="91440" cy="45720"/>
              </a:xfrm>
            </p:grpSpPr>
            <p:sp>
              <p:nvSpPr>
                <p:cNvPr id="53" name="Forma 52"/>
                <p:cNvSpPr/>
                <p:nvPr/>
              </p:nvSpPr>
              <p:spPr>
                <a:xfrm rot="-2400000">
                  <a:off x="1170432" y="351129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4" name="Forma 53"/>
                <p:cNvSpPr/>
                <p:nvPr/>
              </p:nvSpPr>
              <p:spPr>
                <a:xfrm rot="-2400000">
                  <a:off x="1176833" y="3517697"/>
                  <a:ext cx="78638" cy="32918"/>
                </a:xfrm>
                <a:prstGeom prst="ellipse">
                  <a:avLst/>
                </a:prstGeom>
                <a:solidFill>
                  <a:srgbClr val="F8D8B4"/>
                </a:solidFill>
                <a:ln w="9525" cap="rnd">
                  <a:solidFill>
                    <a:srgbClr val="B2732B"/>
                  </a:solidFill>
                  <a:round/>
                </a:ln>
              </p:spPr>
            </p:sp>
            <p:sp>
              <p:nvSpPr>
                <p:cNvPr id="55" name="Forma 54"/>
                <p:cNvSpPr/>
                <p:nvPr/>
              </p:nvSpPr>
              <p:spPr>
                <a:xfrm rot="-2400000">
                  <a:off x="1176833" y="351769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6" name="Adipocito sano 6"/>
            <p:cNvGrpSpPr/>
            <p:nvPr/>
          </p:nvGrpSpPr>
          <p:grpSpPr>
            <a:xfrm>
              <a:off x="2148840" y="2880360"/>
              <a:ext cx="960120" cy="960120"/>
              <a:chOff x="2148840" y="2880360"/>
              <a:chExt cx="960120" cy="960120"/>
            </a:xfrm>
          </p:grpSpPr>
          <p:sp>
            <p:nvSpPr>
              <p:cNvPr id="57" name="Forma 56"/>
              <p:cNvSpPr/>
              <p:nvPr/>
            </p:nvSpPr>
            <p:spPr>
              <a:xfrm>
                <a:off x="2148840" y="2880360"/>
                <a:ext cx="960120" cy="9601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58" name="Gota lipídica_7"/>
              <p:cNvSpPr/>
              <p:nvPr/>
            </p:nvSpPr>
            <p:spPr>
              <a:xfrm>
                <a:off x="2196846" y="2928366"/>
                <a:ext cx="864108" cy="86410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9" name="Forma 58"/>
              <p:cNvSpPr/>
              <p:nvPr/>
            </p:nvSpPr>
            <p:spPr>
              <a:xfrm rot="2400000">
                <a:off x="2840126" y="2937967"/>
                <a:ext cx="211226" cy="115214"/>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60" name="Mitocondria_7"/>
              <p:cNvGrpSpPr/>
              <p:nvPr/>
            </p:nvGrpSpPr>
            <p:grpSpPr>
              <a:xfrm>
                <a:off x="2225650" y="3590849"/>
                <a:ext cx="96012" cy="48006"/>
                <a:chOff x="2225650" y="3590849"/>
                <a:chExt cx="96012" cy="48006"/>
              </a:xfrm>
            </p:grpSpPr>
            <p:sp>
              <p:nvSpPr>
                <p:cNvPr id="61" name="Forma 60"/>
                <p:cNvSpPr/>
                <p:nvPr/>
              </p:nvSpPr>
              <p:spPr>
                <a:xfrm rot="-2400000">
                  <a:off x="2225650" y="3590849"/>
                  <a:ext cx="96012" cy="4800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62" name="Forma 61"/>
                <p:cNvSpPr/>
                <p:nvPr/>
              </p:nvSpPr>
              <p:spPr>
                <a:xfrm rot="-2400000">
                  <a:off x="2232370" y="3597570"/>
                  <a:ext cx="82570" cy="34564"/>
                </a:xfrm>
                <a:prstGeom prst="ellipse">
                  <a:avLst/>
                </a:prstGeom>
                <a:solidFill>
                  <a:srgbClr val="F8D8B4"/>
                </a:solidFill>
                <a:ln w="9525" cap="rnd">
                  <a:solidFill>
                    <a:srgbClr val="B2732B"/>
                  </a:solidFill>
                  <a:round/>
                </a:ln>
              </p:spPr>
            </p:sp>
            <p:sp>
              <p:nvSpPr>
                <p:cNvPr id="63" name="Forma 62"/>
                <p:cNvSpPr/>
                <p:nvPr/>
              </p:nvSpPr>
              <p:spPr>
                <a:xfrm rot="-2400000">
                  <a:off x="2232370" y="3597570"/>
                  <a:ext cx="82570" cy="3456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64" name="Adipocito sano 7"/>
            <p:cNvGrpSpPr/>
            <p:nvPr/>
          </p:nvGrpSpPr>
          <p:grpSpPr>
            <a:xfrm>
              <a:off x="3200400" y="2834640"/>
              <a:ext cx="914400" cy="914400"/>
              <a:chOff x="3200400" y="2834640"/>
              <a:chExt cx="914400" cy="914400"/>
            </a:xfrm>
          </p:grpSpPr>
          <p:sp>
            <p:nvSpPr>
              <p:cNvPr id="65" name="Forma 64"/>
              <p:cNvSpPr/>
              <p:nvPr/>
            </p:nvSpPr>
            <p:spPr>
              <a:xfrm>
                <a:off x="3200400" y="2834640"/>
                <a:ext cx="914400" cy="9144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66" name="Gota lipídica_8"/>
              <p:cNvSpPr/>
              <p:nvPr/>
            </p:nvSpPr>
            <p:spPr>
              <a:xfrm>
                <a:off x="3246120" y="2880360"/>
                <a:ext cx="822960" cy="82296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67" name="Forma 66"/>
              <p:cNvSpPr/>
              <p:nvPr/>
            </p:nvSpPr>
            <p:spPr>
              <a:xfrm rot="2400000">
                <a:off x="3858768" y="2889504"/>
                <a:ext cx="201168" cy="109728"/>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68" name="Mitocondria_8"/>
              <p:cNvGrpSpPr/>
              <p:nvPr/>
            </p:nvGrpSpPr>
            <p:grpSpPr>
              <a:xfrm>
                <a:off x="3273552" y="3511296"/>
                <a:ext cx="91440" cy="45720"/>
                <a:chOff x="3273552" y="3511296"/>
                <a:chExt cx="91440" cy="45720"/>
              </a:xfrm>
            </p:grpSpPr>
            <p:sp>
              <p:nvSpPr>
                <p:cNvPr id="69" name="Forma 68"/>
                <p:cNvSpPr/>
                <p:nvPr/>
              </p:nvSpPr>
              <p:spPr>
                <a:xfrm rot="-2400000">
                  <a:off x="3273552" y="3511296"/>
                  <a:ext cx="91440" cy="4572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70" name="Forma 69"/>
                <p:cNvSpPr/>
                <p:nvPr/>
              </p:nvSpPr>
              <p:spPr>
                <a:xfrm rot="-2400000">
                  <a:off x="3279953" y="3517697"/>
                  <a:ext cx="78638" cy="32918"/>
                </a:xfrm>
                <a:prstGeom prst="ellipse">
                  <a:avLst/>
                </a:prstGeom>
                <a:solidFill>
                  <a:srgbClr val="F8D8B4"/>
                </a:solidFill>
                <a:ln w="9525" cap="rnd">
                  <a:solidFill>
                    <a:srgbClr val="B2732B"/>
                  </a:solidFill>
                  <a:round/>
                </a:ln>
              </p:spPr>
            </p:sp>
            <p:sp>
              <p:nvSpPr>
                <p:cNvPr id="71" name="Forma 70"/>
                <p:cNvSpPr/>
                <p:nvPr/>
              </p:nvSpPr>
              <p:spPr>
                <a:xfrm rot="-2400000">
                  <a:off x="3279953" y="3517697"/>
                  <a:ext cx="78638" cy="3291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72" name="Adipocito sano 8"/>
            <p:cNvGrpSpPr/>
            <p:nvPr/>
          </p:nvGrpSpPr>
          <p:grpSpPr>
            <a:xfrm>
              <a:off x="4206240" y="2880360"/>
              <a:ext cx="960120" cy="960120"/>
              <a:chOff x="4206240" y="2880360"/>
              <a:chExt cx="960120" cy="960120"/>
            </a:xfrm>
          </p:grpSpPr>
          <p:sp>
            <p:nvSpPr>
              <p:cNvPr id="73" name="Forma 72"/>
              <p:cNvSpPr/>
              <p:nvPr/>
            </p:nvSpPr>
            <p:spPr>
              <a:xfrm>
                <a:off x="4206240" y="2880360"/>
                <a:ext cx="960120" cy="9601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74" name="Gota lipídica_9"/>
              <p:cNvSpPr/>
              <p:nvPr/>
            </p:nvSpPr>
            <p:spPr>
              <a:xfrm>
                <a:off x="4254246" y="2928366"/>
                <a:ext cx="864108" cy="86410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75" name="Forma 74"/>
              <p:cNvSpPr/>
              <p:nvPr/>
            </p:nvSpPr>
            <p:spPr>
              <a:xfrm rot="2400000">
                <a:off x="4897526" y="2937967"/>
                <a:ext cx="211226" cy="115214"/>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76" name="Mitocondria_9"/>
              <p:cNvGrpSpPr/>
              <p:nvPr/>
            </p:nvGrpSpPr>
            <p:grpSpPr>
              <a:xfrm>
                <a:off x="4283050" y="3590849"/>
                <a:ext cx="96012" cy="48006"/>
                <a:chOff x="4283050" y="3590849"/>
                <a:chExt cx="96012" cy="48006"/>
              </a:xfrm>
            </p:grpSpPr>
            <p:sp>
              <p:nvSpPr>
                <p:cNvPr id="77" name="Forma 76"/>
                <p:cNvSpPr/>
                <p:nvPr/>
              </p:nvSpPr>
              <p:spPr>
                <a:xfrm rot="-2400000">
                  <a:off x="4283050" y="3590849"/>
                  <a:ext cx="96012" cy="4800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78" name="Forma 77"/>
                <p:cNvSpPr/>
                <p:nvPr/>
              </p:nvSpPr>
              <p:spPr>
                <a:xfrm rot="-2400000">
                  <a:off x="4289770" y="3597570"/>
                  <a:ext cx="82570" cy="34564"/>
                </a:xfrm>
                <a:prstGeom prst="ellipse">
                  <a:avLst/>
                </a:prstGeom>
                <a:solidFill>
                  <a:srgbClr val="F8D8B4"/>
                </a:solidFill>
                <a:ln w="9525" cap="rnd">
                  <a:solidFill>
                    <a:srgbClr val="B2732B"/>
                  </a:solidFill>
                  <a:round/>
                </a:ln>
              </p:spPr>
            </p:sp>
            <p:sp>
              <p:nvSpPr>
                <p:cNvPr id="79" name="Forma 78"/>
                <p:cNvSpPr/>
                <p:nvPr/>
              </p:nvSpPr>
              <p:spPr>
                <a:xfrm rot="-2400000">
                  <a:off x="4289770" y="3597570"/>
                  <a:ext cx="82570" cy="3456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80" name="Capilar sano"/>
            <p:cNvGrpSpPr/>
            <p:nvPr/>
          </p:nvGrpSpPr>
          <p:grpSpPr>
            <a:xfrm>
              <a:off x="548640" y="3886200"/>
              <a:ext cx="5120640" cy="320040"/>
              <a:chOff x="548640" y="3886200"/>
              <a:chExt cx="5120640" cy="320040"/>
            </a:xfrm>
          </p:grpSpPr>
          <p:sp>
            <p:nvSpPr>
              <p:cNvPr id="81" name="Forma 80"/>
              <p:cNvSpPr/>
              <p:nvPr/>
            </p:nvSpPr>
            <p:spPr>
              <a:xfrm>
                <a:off x="548640" y="3886200"/>
                <a:ext cx="5120640" cy="32004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82" name="Forma 81"/>
              <p:cNvSpPr/>
              <p:nvPr/>
            </p:nvSpPr>
            <p:spPr>
              <a:xfrm>
                <a:off x="596646" y="3943807"/>
                <a:ext cx="5024628" cy="204826"/>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83" name="Eritrocito"/>
              <p:cNvSpPr/>
              <p:nvPr/>
            </p:nvSpPr>
            <p:spPr>
              <a:xfrm>
                <a:off x="954701" y="4042046"/>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4" name="Eritrocito_2"/>
              <p:cNvSpPr/>
              <p:nvPr/>
            </p:nvSpPr>
            <p:spPr>
              <a:xfrm>
                <a:off x="1473760" y="3973001"/>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5" name="Eritrocito_3"/>
              <p:cNvSpPr/>
              <p:nvPr/>
            </p:nvSpPr>
            <p:spPr>
              <a:xfrm>
                <a:off x="2537146" y="4025095"/>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6" name="Eritrocito_4"/>
              <p:cNvSpPr/>
              <p:nvPr/>
            </p:nvSpPr>
            <p:spPr>
              <a:xfrm>
                <a:off x="3294154" y="3990864"/>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7" name="Eritrocito_5"/>
              <p:cNvSpPr/>
              <p:nvPr/>
            </p:nvSpPr>
            <p:spPr>
              <a:xfrm>
                <a:off x="4084236" y="4014760"/>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88" name="Eritrocito_6"/>
              <p:cNvSpPr/>
              <p:nvPr/>
            </p:nvSpPr>
            <p:spPr>
              <a:xfrm>
                <a:off x="4886981" y="3978882"/>
                <a:ext cx="134417" cy="134417"/>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89" name="Forma 88"/>
            <p:cNvSpPr/>
            <p:nvPr/>
          </p:nvSpPr>
          <p:spPr>
            <a:xfrm>
              <a:off x="365760" y="4389120"/>
              <a:ext cx="5486400" cy="1874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Hipertrofia </a:t>
              </a:r>
              <a:r>
                <a:rPr lang="es-AR" sz="1450" b="1" dirty="0">
                  <a:solidFill>
                    <a:srgbClr val="1E1E1E"/>
                  </a:solidFill>
                  <a:latin typeface="Fira Sans Condensed"/>
                  <a:ea typeface="Fira Sans Condensed"/>
                  <a:cs typeface="Fira Sans Condensed"/>
                  <a:sym typeface="Fira Sans Condensed"/>
                </a:rPr>
                <a:t>moderada</a:t>
              </a:r>
              <a:r>
                <a:rPr lang="es-AR" sz="1450" dirty="0">
                  <a:solidFill>
                    <a:srgbClr val="1E1E1E"/>
                  </a:solidFill>
                  <a:latin typeface="Fira Sans Condensed"/>
                  <a:ea typeface="Fira Sans Condensed"/>
                  <a:cs typeface="Fira Sans Condensed"/>
                  <a:sym typeface="Fira Sans Condensed"/>
                </a:rPr>
                <a:t> + reclutamiento de adipocitos nuevos (</a:t>
              </a:r>
              <a:r>
                <a:rPr lang="es-AR" sz="1450" b="1" dirty="0">
                  <a:solidFill>
                    <a:srgbClr val="1E1E1E"/>
                  </a:solidFill>
                  <a:latin typeface="Fira Sans Condensed"/>
                  <a:ea typeface="Fira Sans Condensed"/>
                  <a:cs typeface="Fira Sans Condensed"/>
                  <a:sym typeface="Fira Sans Condensed"/>
                </a:rPr>
                <a:t>hiperplasia</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Angiogénesis</a:t>
              </a:r>
              <a:r>
                <a:rPr lang="es-AR" sz="1450" dirty="0">
                  <a:solidFill>
                    <a:srgbClr val="1E1E1E"/>
                  </a:solidFill>
                  <a:latin typeface="Fira Sans Condensed"/>
                  <a:ea typeface="Fira Sans Condensed"/>
                  <a:cs typeface="Fira Sans Condensed"/>
                  <a:sym typeface="Fira Sans Condensed"/>
                </a:rPr>
                <a:t> apropiada · matriz </a:t>
              </a:r>
              <a:r>
                <a:rPr lang="es-AR" sz="1450" b="1" dirty="0">
                  <a:solidFill>
                    <a:srgbClr val="1E1E1E"/>
                  </a:solidFill>
                  <a:latin typeface="Fira Sans Condensed"/>
                  <a:ea typeface="Fira Sans Condensed"/>
                  <a:cs typeface="Fira Sans Condensed"/>
                  <a:sym typeface="Fira Sans Condensed"/>
                </a:rPr>
                <a:t>flexible</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TAG almacenados con seguridad</a:t>
              </a:r>
              <a:endParaRPr lang="es-AR" sz="1450" dirty="0">
                <a:latin typeface="Fira Sans Condensed"/>
              </a:endParaRPr>
            </a:p>
          </p:txBody>
        </p:sp>
      </p:grpSp>
      <p:grpSp>
        <p:nvGrpSpPr>
          <p:cNvPr id="90" name="Disfuncional"/>
          <p:cNvGrpSpPr/>
          <p:nvPr/>
        </p:nvGrpSpPr>
        <p:grpSpPr>
          <a:xfrm>
            <a:off x="6355080" y="1097280"/>
            <a:ext cx="5486400" cy="5166360"/>
            <a:chOff x="6355080" y="1097280"/>
            <a:chExt cx="5486400" cy="5166360"/>
          </a:xfrm>
        </p:grpSpPr>
        <p:sp>
          <p:nvSpPr>
            <p:cNvPr id="91" name="Recuadro EXPANSIÓN DISFUNCIONAL"/>
            <p:cNvSpPr/>
            <p:nvPr/>
          </p:nvSpPr>
          <p:spPr>
            <a:xfrm>
              <a:off x="6355080" y="1097280"/>
              <a:ext cx="548640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EXPANSIÓN DISFUNCIONAL</a:t>
              </a:r>
              <a:endParaRPr lang="es-AR" sz="1500" dirty="0">
                <a:latin typeface="Fira Sans Condensed"/>
              </a:endParaRPr>
            </a:p>
          </p:txBody>
        </p:sp>
        <p:grpSp>
          <p:nvGrpSpPr>
            <p:cNvPr id="92" name="Adipocito grande 0"/>
            <p:cNvGrpSpPr/>
            <p:nvPr/>
          </p:nvGrpSpPr>
          <p:grpSpPr>
            <a:xfrm>
              <a:off x="6492240" y="1783080"/>
              <a:ext cx="1737360" cy="1737360"/>
              <a:chOff x="6492240" y="1783080"/>
              <a:chExt cx="1737360" cy="1737360"/>
            </a:xfrm>
          </p:grpSpPr>
          <p:sp>
            <p:nvSpPr>
              <p:cNvPr id="93" name="Forma 92"/>
              <p:cNvSpPr/>
              <p:nvPr/>
            </p:nvSpPr>
            <p:spPr>
              <a:xfrm>
                <a:off x="6492240" y="1783080"/>
                <a:ext cx="1737360" cy="17373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4" name="Gota lipídica_10"/>
              <p:cNvSpPr/>
              <p:nvPr/>
            </p:nvSpPr>
            <p:spPr>
              <a:xfrm>
                <a:off x="6579108" y="1869948"/>
                <a:ext cx="1563624" cy="156362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95" name="Forma 94"/>
              <p:cNvSpPr/>
              <p:nvPr/>
            </p:nvSpPr>
            <p:spPr>
              <a:xfrm rot="2400000">
                <a:off x="7743139" y="1887322"/>
                <a:ext cx="382219" cy="208483"/>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96" name="Mitocondria_10"/>
              <p:cNvGrpSpPr/>
              <p:nvPr/>
            </p:nvGrpSpPr>
            <p:grpSpPr>
              <a:xfrm>
                <a:off x="6631229" y="3068726"/>
                <a:ext cx="173736" cy="86868"/>
                <a:chOff x="6631229" y="3068726"/>
                <a:chExt cx="173736" cy="86868"/>
              </a:xfrm>
            </p:grpSpPr>
            <p:sp>
              <p:nvSpPr>
                <p:cNvPr id="97" name="Forma 96"/>
                <p:cNvSpPr/>
                <p:nvPr/>
              </p:nvSpPr>
              <p:spPr>
                <a:xfrm rot="-2400000">
                  <a:off x="6631229" y="3068726"/>
                  <a:ext cx="173736" cy="8686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98" name="Forma 97"/>
                <p:cNvSpPr/>
                <p:nvPr/>
              </p:nvSpPr>
              <p:spPr>
                <a:xfrm rot="-2400000">
                  <a:off x="6643390" y="3080888"/>
                  <a:ext cx="149413" cy="62545"/>
                </a:xfrm>
                <a:prstGeom prst="ellipse">
                  <a:avLst/>
                </a:prstGeom>
                <a:solidFill>
                  <a:srgbClr val="F8D8B4"/>
                </a:solidFill>
                <a:ln w="9525" cap="rnd">
                  <a:solidFill>
                    <a:srgbClr val="B2732B"/>
                  </a:solidFill>
                  <a:round/>
                </a:ln>
              </p:spPr>
            </p:sp>
            <p:sp>
              <p:nvSpPr>
                <p:cNvPr id="99" name="Forma 98"/>
                <p:cNvSpPr/>
                <p:nvPr/>
              </p:nvSpPr>
              <p:spPr>
                <a:xfrm rot="-2400000">
                  <a:off x="6643390" y="3080888"/>
                  <a:ext cx="149413" cy="62545"/>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00" name="Adipocito grande 1"/>
            <p:cNvGrpSpPr/>
            <p:nvPr/>
          </p:nvGrpSpPr>
          <p:grpSpPr>
            <a:xfrm>
              <a:off x="8275320" y="1783080"/>
              <a:ext cx="1828800" cy="1828800"/>
              <a:chOff x="8275320" y="1783080"/>
              <a:chExt cx="1828800" cy="1828800"/>
            </a:xfrm>
          </p:grpSpPr>
          <p:sp>
            <p:nvSpPr>
              <p:cNvPr id="101" name="Forma 100"/>
              <p:cNvSpPr/>
              <p:nvPr/>
            </p:nvSpPr>
            <p:spPr>
              <a:xfrm>
                <a:off x="8275320" y="1783080"/>
                <a:ext cx="1828800" cy="18288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02" name="Gota lipídica_11"/>
              <p:cNvSpPr/>
              <p:nvPr/>
            </p:nvSpPr>
            <p:spPr>
              <a:xfrm>
                <a:off x="8366760" y="1874520"/>
                <a:ext cx="1645920" cy="164592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3" name="Forma 102"/>
              <p:cNvSpPr/>
              <p:nvPr/>
            </p:nvSpPr>
            <p:spPr>
              <a:xfrm rot="2400000">
                <a:off x="9592056" y="1892808"/>
                <a:ext cx="402336" cy="21945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04" name="Mitocondria_11"/>
              <p:cNvGrpSpPr/>
              <p:nvPr/>
            </p:nvGrpSpPr>
            <p:grpSpPr>
              <a:xfrm>
                <a:off x="8421624" y="3136392"/>
                <a:ext cx="182880" cy="91440"/>
                <a:chOff x="8421624" y="3136392"/>
                <a:chExt cx="182880" cy="91440"/>
              </a:xfrm>
            </p:grpSpPr>
            <p:sp>
              <p:nvSpPr>
                <p:cNvPr id="105" name="Forma 104"/>
                <p:cNvSpPr/>
                <p:nvPr/>
              </p:nvSpPr>
              <p:spPr>
                <a:xfrm rot="-2400000">
                  <a:off x="8421624" y="3136392"/>
                  <a:ext cx="182880" cy="914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06" name="Forma 105"/>
                <p:cNvSpPr/>
                <p:nvPr/>
              </p:nvSpPr>
              <p:spPr>
                <a:xfrm rot="-2400000">
                  <a:off x="8434426" y="3149194"/>
                  <a:ext cx="157277" cy="65837"/>
                </a:xfrm>
                <a:prstGeom prst="ellipse">
                  <a:avLst/>
                </a:prstGeom>
                <a:solidFill>
                  <a:srgbClr val="F8D8B4"/>
                </a:solidFill>
                <a:ln w="9525" cap="rnd">
                  <a:solidFill>
                    <a:srgbClr val="B2732B"/>
                  </a:solidFill>
                  <a:round/>
                </a:ln>
              </p:spPr>
            </p:sp>
            <p:sp>
              <p:nvSpPr>
                <p:cNvPr id="107" name="Forma 106"/>
                <p:cNvSpPr/>
                <p:nvPr/>
              </p:nvSpPr>
              <p:spPr>
                <a:xfrm rot="-2400000">
                  <a:off x="8434426" y="3149194"/>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08" name="Adipocito grande 2"/>
            <p:cNvGrpSpPr/>
            <p:nvPr/>
          </p:nvGrpSpPr>
          <p:grpSpPr>
            <a:xfrm>
              <a:off x="10149840" y="1828800"/>
              <a:ext cx="1600200" cy="1600200"/>
              <a:chOff x="10149840" y="1828800"/>
              <a:chExt cx="1600200" cy="1600200"/>
            </a:xfrm>
          </p:grpSpPr>
          <p:sp>
            <p:nvSpPr>
              <p:cNvPr id="109" name="Forma 108"/>
              <p:cNvSpPr/>
              <p:nvPr/>
            </p:nvSpPr>
            <p:spPr>
              <a:xfrm>
                <a:off x="10149840" y="1828800"/>
                <a:ext cx="1600200" cy="16002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10" name="Gota lipídica_12"/>
              <p:cNvSpPr/>
              <p:nvPr/>
            </p:nvSpPr>
            <p:spPr>
              <a:xfrm>
                <a:off x="10229850" y="1908810"/>
                <a:ext cx="1440180" cy="144018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11" name="Forma 110"/>
              <p:cNvSpPr/>
              <p:nvPr/>
            </p:nvSpPr>
            <p:spPr>
              <a:xfrm rot="2400000">
                <a:off x="11301984" y="1924812"/>
                <a:ext cx="352044" cy="192024"/>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2" name="Mitocondria_12"/>
              <p:cNvGrpSpPr/>
              <p:nvPr/>
            </p:nvGrpSpPr>
            <p:grpSpPr>
              <a:xfrm>
                <a:off x="10277856" y="3012948"/>
                <a:ext cx="160020" cy="80010"/>
                <a:chOff x="10277856" y="3012948"/>
                <a:chExt cx="160020" cy="80010"/>
              </a:xfrm>
            </p:grpSpPr>
            <p:sp>
              <p:nvSpPr>
                <p:cNvPr id="113" name="Forma 112"/>
                <p:cNvSpPr/>
                <p:nvPr/>
              </p:nvSpPr>
              <p:spPr>
                <a:xfrm rot="-2400000">
                  <a:off x="10277856" y="3012948"/>
                  <a:ext cx="160020" cy="8001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14" name="Forma 113"/>
                <p:cNvSpPr/>
                <p:nvPr/>
              </p:nvSpPr>
              <p:spPr>
                <a:xfrm rot="-2400000">
                  <a:off x="10289057" y="3024149"/>
                  <a:ext cx="137617" cy="57607"/>
                </a:xfrm>
                <a:prstGeom prst="ellipse">
                  <a:avLst/>
                </a:prstGeom>
                <a:solidFill>
                  <a:srgbClr val="F8D8B4"/>
                </a:solidFill>
                <a:ln w="9525" cap="rnd">
                  <a:solidFill>
                    <a:srgbClr val="B2732B"/>
                  </a:solidFill>
                  <a:round/>
                </a:ln>
              </p:spPr>
            </p:sp>
            <p:sp>
              <p:nvSpPr>
                <p:cNvPr id="115" name="Forma 114"/>
                <p:cNvSpPr/>
                <p:nvPr/>
              </p:nvSpPr>
              <p:spPr>
                <a:xfrm rot="-2400000">
                  <a:off x="10289057" y="3024149"/>
                  <a:ext cx="137617" cy="5760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pic>
          <p:nvPicPr>
            <p:cNvPr id="116" name="Macrófago disf" descr="Ilustración biomédica (Servier Medical Art, CC BY)"/>
            <p:cNvPicPr>
              <a:picLocks noChangeAspect="1"/>
            </p:cNvPicPr>
            <p:nvPr/>
          </p:nvPicPr>
          <p:blipFill>
            <a:blip r:embed="rId2"/>
            <a:stretch>
              <a:fillRect/>
            </a:stretch>
          </p:blipFill>
          <p:spPr>
            <a:xfrm>
              <a:off x="9692640" y="2926080"/>
              <a:ext cx="822960" cy="891063"/>
            </a:xfrm>
            <a:prstGeom prst="rect">
              <a:avLst/>
            </a:prstGeom>
          </p:spPr>
        </p:pic>
        <p:sp>
          <p:nvSpPr>
            <p:cNvPr id="117" name="Forma 116"/>
            <p:cNvSpPr/>
            <p:nvPr/>
          </p:nvSpPr>
          <p:spPr>
            <a:xfrm>
              <a:off x="6355080" y="4389120"/>
              <a:ext cx="5486400" cy="1874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Adipocitos </a:t>
              </a:r>
              <a:r>
                <a:rPr lang="es-AR" sz="1450" b="1" dirty="0">
                  <a:solidFill>
                    <a:srgbClr val="1E1E1E"/>
                  </a:solidFill>
                  <a:latin typeface="Fira Sans Condensed"/>
                  <a:ea typeface="Fira Sans Condensed"/>
                  <a:cs typeface="Fira Sans Condensed"/>
                  <a:sym typeface="Fira Sans Condensed"/>
                </a:rPr>
                <a:t>muy hipertrofiados</a:t>
              </a:r>
              <a:r>
                <a:rPr lang="es-AR" sz="1450" dirty="0">
                  <a:solidFill>
                    <a:srgbClr val="1E1E1E"/>
                  </a:solidFill>
                  <a:latin typeface="Fira Sans Condensed"/>
                  <a:ea typeface="Fira Sans Condensed"/>
                  <a:cs typeface="Fira Sans Condensed"/>
                  <a:sym typeface="Fira Sans Condensed"/>
                </a:rPr>
                <a:t> · </a:t>
              </a:r>
              <a:r>
                <a:rPr lang="es-AR" sz="1450" b="1" dirty="0">
                  <a:solidFill>
                    <a:srgbClr val="1E1E1E"/>
                  </a:solidFill>
                  <a:latin typeface="Fira Sans Condensed"/>
                  <a:ea typeface="Fira Sans Condensed"/>
                  <a:cs typeface="Fira Sans Condensed"/>
                  <a:sym typeface="Fira Sans Condensed"/>
                </a:rPr>
                <a:t>hipoxia</a:t>
              </a:r>
              <a:r>
                <a:rPr lang="es-AR" sz="1450" dirty="0">
                  <a:solidFill>
                    <a:srgbClr val="1E1E1E"/>
                  </a:solidFill>
                  <a:latin typeface="Fira Sans Condensed"/>
                  <a:ea typeface="Fira Sans Condensed"/>
                  <a:cs typeface="Fira Sans Condensed"/>
                  <a:sym typeface="Fira Sans Condensed"/>
                </a:rPr>
                <a:t> regional · </a:t>
              </a:r>
              <a:r>
                <a:rPr lang="es-AR" sz="1450" b="1" dirty="0">
                  <a:solidFill>
                    <a:srgbClr val="1E1E1E"/>
                  </a:solidFill>
                  <a:latin typeface="Fira Sans Condensed"/>
                  <a:ea typeface="Fira Sans Condensed"/>
                  <a:cs typeface="Fira Sans Condensed"/>
                  <a:sym typeface="Fira Sans Condensed"/>
                </a:rPr>
                <a:t>fibrosis</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Estrés del </a:t>
              </a:r>
              <a:r>
                <a:rPr lang="es-AR" sz="1450" b="1" dirty="0">
                  <a:solidFill>
                    <a:srgbClr val="1E1E1E"/>
                  </a:solidFill>
                  <a:latin typeface="Fira Sans Condensed"/>
                  <a:ea typeface="Fira Sans Condensed"/>
                  <a:cs typeface="Fira Sans Condensed"/>
                  <a:sym typeface="Fira Sans Condensed"/>
                </a:rPr>
                <a:t>RE</a:t>
              </a:r>
              <a:r>
                <a:rPr lang="es-AR" sz="1450" dirty="0">
                  <a:solidFill>
                    <a:srgbClr val="1E1E1E"/>
                  </a:solidFill>
                  <a:latin typeface="Fira Sans Condensed"/>
                  <a:ea typeface="Fira Sans Condensed"/>
                  <a:cs typeface="Fira Sans Condensed"/>
                  <a:sym typeface="Fira Sans Condensed"/>
                </a:rPr>
                <a:t> · </a:t>
              </a:r>
              <a:r>
                <a:rPr lang="es-AR" sz="1450" b="1" dirty="0">
                  <a:solidFill>
                    <a:srgbClr val="1E1E1E"/>
                  </a:solidFill>
                  <a:latin typeface="Fira Sans Condensed"/>
                  <a:ea typeface="Fira Sans Condensed"/>
                  <a:cs typeface="Fira Sans Condensed"/>
                  <a:sym typeface="Fira Sans Condensed"/>
                </a:rPr>
                <a:t>inflamación</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Derrame de lípidos</a:t>
              </a:r>
              <a:r>
                <a:rPr lang="es-AR" sz="1450" dirty="0">
                  <a:solidFill>
                    <a:srgbClr val="1E1E1E"/>
                  </a:solidFill>
                  <a:latin typeface="Fira Sans Condensed"/>
                  <a:ea typeface="Fira Sans Condensed"/>
                  <a:cs typeface="Fira Sans Condensed"/>
                  <a:sym typeface="Fira Sans Condensed"/>
                </a:rPr>
                <a:t> a hígado, músculo, páncreas y corazón</a:t>
              </a:r>
              <a:endParaRPr lang="es-AR" sz="1450" dirty="0">
                <a:latin typeface="Fira Sans Condensed"/>
              </a:endParaRPr>
            </a:p>
          </p:txBody>
        </p:sp>
      </p:grpSp>
      <p:sp>
        <p:nvSpPr>
          <p:cNvPr id="4"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EXPANSIBILIDAD: EXPANSIÓN SALUDABLE FRENTE A DISFUNCIONAL</a:t>
            </a:r>
            <a:endParaRPr lang="es-AR" sz="24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1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pic>
        <p:nvPicPr>
          <p:cNvPr id="7" name="Cuerpo depósitos" descr="Ilustración biomédica (Servier Medical Art, CC BY)"/>
          <p:cNvPicPr>
            <a:picLocks noChangeAspect="1"/>
          </p:cNvPicPr>
          <p:nvPr/>
        </p:nvPicPr>
        <p:blipFill>
          <a:blip r:embed="rId2"/>
          <a:stretch>
            <a:fillRect/>
          </a:stretch>
        </p:blipFill>
        <p:spPr>
          <a:xfrm>
            <a:off x="457200" y="1051560"/>
            <a:ext cx="2895546" cy="5257800"/>
          </a:xfrm>
          <a:prstGeom prst="rect">
            <a:avLst/>
          </a:prstGeom>
        </p:spPr>
      </p:pic>
      <p:sp>
        <p:nvSpPr>
          <p:cNvPr id="8" name="Marca subcutánea"/>
          <p:cNvSpPr/>
          <p:nvPr/>
        </p:nvSpPr>
        <p:spPr>
          <a:xfrm>
            <a:off x="822960" y="2834640"/>
            <a:ext cx="2194560" cy="2011680"/>
          </a:xfrm>
          <a:prstGeom prst="ellipse">
            <a:avLst/>
          </a:prstGeom>
          <a:noFill/>
          <a:ln w="63500" cap="rnd">
            <a:solidFill>
              <a:srgbClr val="F39C12"/>
            </a:solidFill>
            <a:prstDash val="dash"/>
            <a:round/>
          </a:ln>
        </p:spPr>
      </p:sp>
      <p:sp>
        <p:nvSpPr>
          <p:cNvPr id="9" name="Marca visceral"/>
          <p:cNvSpPr/>
          <p:nvPr/>
        </p:nvSpPr>
        <p:spPr>
          <a:xfrm>
            <a:off x="1325880" y="3154680"/>
            <a:ext cx="1188720" cy="1097280"/>
          </a:xfrm>
          <a:prstGeom prst="ellipse">
            <a:avLst/>
          </a:prstGeom>
          <a:solidFill>
            <a:srgbClr val="C00000">
              <a:alpha val="45000"/>
            </a:srgbClr>
          </a:solidFill>
          <a:ln w="25400" cap="rnd">
            <a:solidFill>
              <a:srgbClr val="C00000"/>
            </a:solidFill>
            <a:round/>
          </a:ln>
        </p:spPr>
      </p:sp>
      <p:grpSp>
        <p:nvGrpSpPr>
          <p:cNvPr id="10" name="Subcutáneo"/>
          <p:cNvGrpSpPr/>
          <p:nvPr/>
        </p:nvGrpSpPr>
        <p:grpSpPr>
          <a:xfrm>
            <a:off x="3749040" y="1097280"/>
            <a:ext cx="3931920" cy="2304288"/>
            <a:chOff x="3749040" y="1097280"/>
            <a:chExt cx="3931920" cy="2304288"/>
          </a:xfrm>
        </p:grpSpPr>
        <p:sp>
          <p:nvSpPr>
            <p:cNvPr id="11" name="Recuadro SUBCUTÁNEO"/>
            <p:cNvSpPr/>
            <p:nvPr/>
          </p:nvSpPr>
          <p:spPr>
            <a:xfrm>
              <a:off x="3749040" y="1097280"/>
              <a:ext cx="39319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SUBCUTÁNEO</a:t>
              </a:r>
              <a:endParaRPr lang="es-AR" sz="1500" dirty="0">
                <a:latin typeface="Fira Sans Condensed"/>
              </a:endParaRPr>
            </a:p>
          </p:txBody>
        </p:sp>
        <p:sp>
          <p:nvSpPr>
            <p:cNvPr id="12" name="Forma 11"/>
            <p:cNvSpPr/>
            <p:nvPr/>
          </p:nvSpPr>
          <p:spPr>
            <a:xfrm>
              <a:off x="3749040" y="1664208"/>
              <a:ext cx="3931920" cy="17373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Bajo la piel, abdominal o </a:t>
              </a:r>
              <a:r>
                <a:rPr lang="es-AR" sz="1350" b="1" dirty="0">
                  <a:solidFill>
                    <a:srgbClr val="1E1E1E"/>
                  </a:solidFill>
                  <a:latin typeface="Fira Sans Condensed"/>
                  <a:ea typeface="Fira Sans Condensed"/>
                  <a:cs typeface="Fira Sans Condensed"/>
                  <a:sym typeface="Fira Sans Condensed"/>
                </a:rPr>
                <a:t>glúteo-femoral</a:t>
              </a:r>
              <a:r>
                <a:rPr lang="es-AR" sz="1350" dirty="0">
                  <a:solidFill>
                    <a:srgbClr val="1E1E1E"/>
                  </a:solidFill>
                  <a:latin typeface="Fira Sans Condensed"/>
                  <a:ea typeface="Fira Sans Condensed"/>
                  <a:cs typeface="Fira Sans Condensed"/>
                  <a:sym typeface="Fira Sans Condensed"/>
                </a:rPr>
                <a:t>. Protección, aislamiento, almacenamiento </a:t>
              </a:r>
              <a:r>
                <a:rPr lang="es-AR" sz="1350" b="1" dirty="0">
                  <a:solidFill>
                    <a:srgbClr val="1E1E1E"/>
                  </a:solidFill>
                  <a:latin typeface="Fira Sans Condensed"/>
                  <a:ea typeface="Fira Sans Condensed"/>
                  <a:cs typeface="Fira Sans Condensed"/>
                  <a:sym typeface="Fira Sans Condensed"/>
                </a:rPr>
                <a:t>relativamente seguro</a:t>
              </a:r>
              <a:r>
                <a:rPr lang="es-AR" sz="1350" dirty="0">
                  <a:solidFill>
                    <a:srgbClr val="1E1E1E"/>
                  </a:solidFill>
                  <a:latin typeface="Fira Sans Condensed"/>
                  <a:ea typeface="Fira Sans Condensed"/>
                  <a:cs typeface="Fira Sans Condensed"/>
                  <a:sym typeface="Fira Sans Condensed"/>
                </a:rPr>
                <a:t>; el glúteo-femoral se asocia con </a:t>
              </a:r>
              <a:r>
                <a:rPr lang="es-AR" sz="1350" b="1" dirty="0">
                  <a:solidFill>
                    <a:srgbClr val="1E1E1E"/>
                  </a:solidFill>
                  <a:latin typeface="Fira Sans Condensed"/>
                  <a:ea typeface="Fira Sans Condensed"/>
                  <a:cs typeface="Fira Sans Condensed"/>
                  <a:sym typeface="Fira Sans Condensed"/>
                </a:rPr>
                <a:t>menor riesgo</a:t>
              </a:r>
              <a:r>
                <a:rPr lang="es-AR" sz="1350" dirty="0">
                  <a:solidFill>
                    <a:srgbClr val="1E1E1E"/>
                  </a:solidFill>
                  <a:latin typeface="Fira Sans Condensed"/>
                  <a:ea typeface="Fira Sans Condensed"/>
                  <a:cs typeface="Fira Sans Condensed"/>
                  <a:sym typeface="Fira Sans Condensed"/>
                </a:rPr>
                <a:t> para igual adiposidad global.</a:t>
              </a:r>
              <a:endParaRPr lang="es-AR" sz="1350" dirty="0">
                <a:latin typeface="Fira Sans Condensed"/>
              </a:endParaRPr>
            </a:p>
          </p:txBody>
        </p:sp>
      </p:grpSp>
      <p:grpSp>
        <p:nvGrpSpPr>
          <p:cNvPr id="13" name="Visceral"/>
          <p:cNvGrpSpPr/>
          <p:nvPr/>
        </p:nvGrpSpPr>
        <p:grpSpPr>
          <a:xfrm>
            <a:off x="7909560" y="1097280"/>
            <a:ext cx="3931920" cy="2304288"/>
            <a:chOff x="7909560" y="1097280"/>
            <a:chExt cx="3931920" cy="2304288"/>
          </a:xfrm>
        </p:grpSpPr>
        <p:sp>
          <p:nvSpPr>
            <p:cNvPr id="14" name="Recuadro VISCERAL"/>
            <p:cNvSpPr/>
            <p:nvPr/>
          </p:nvSpPr>
          <p:spPr>
            <a:xfrm>
              <a:off x="7909560" y="1097280"/>
              <a:ext cx="393192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VISCERAL</a:t>
              </a:r>
              <a:endParaRPr lang="es-AR" sz="1500" dirty="0">
                <a:latin typeface="Fira Sans Condensed"/>
              </a:endParaRPr>
            </a:p>
          </p:txBody>
        </p:sp>
        <p:sp>
          <p:nvSpPr>
            <p:cNvPr id="15" name="Forma 14"/>
            <p:cNvSpPr/>
            <p:nvPr/>
          </p:nvSpPr>
          <p:spPr>
            <a:xfrm>
              <a:off x="7909560" y="1664208"/>
              <a:ext cx="3931920" cy="17373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Omental/mesentérico. </a:t>
              </a:r>
              <a:r>
                <a:rPr lang="es-AR" sz="1350" b="1" dirty="0">
                  <a:solidFill>
                    <a:srgbClr val="1E1E1E"/>
                  </a:solidFill>
                  <a:latin typeface="Fira Sans Condensed"/>
                  <a:ea typeface="Fira Sans Condensed"/>
                  <a:cs typeface="Fira Sans Condensed"/>
                  <a:sym typeface="Fira Sans Condensed"/>
                </a:rPr>
                <a:t>Mayor actividad lipolítica e inflamatoria</a:t>
              </a:r>
              <a:r>
                <a:rPr lang="es-AR" sz="1350" dirty="0">
                  <a:solidFill>
                    <a:srgbClr val="1E1E1E"/>
                  </a:solidFill>
                  <a:latin typeface="Fira Sans Condensed"/>
                  <a:ea typeface="Fira Sans Condensed"/>
                  <a:cs typeface="Fira Sans Condensed"/>
                  <a:sym typeface="Fira Sans Condensed"/>
                </a:rPr>
                <a:t>; parte drena al </a:t>
              </a:r>
              <a:r>
                <a:rPr lang="es-AR" sz="1350" b="1" dirty="0">
                  <a:solidFill>
                    <a:srgbClr val="1E1E1E"/>
                  </a:solidFill>
                  <a:latin typeface="Fira Sans Condensed"/>
                  <a:ea typeface="Fira Sans Condensed"/>
                  <a:cs typeface="Fira Sans Condensed"/>
                  <a:sym typeface="Fira Sans Condensed"/>
                </a:rPr>
                <a:t>hígado por la porta</a:t>
              </a:r>
              <a:r>
                <a:rPr lang="es-AR" sz="1350" dirty="0">
                  <a:solidFill>
                    <a:srgbClr val="1E1E1E"/>
                  </a:solidFill>
                  <a:latin typeface="Fira Sans Condensed"/>
                  <a:ea typeface="Fira Sans Condensed"/>
                  <a:cs typeface="Fira Sans Condensed"/>
                  <a:sym typeface="Fira Sans Condensed"/>
                </a:rPr>
                <a:t>: resistencia hepática, dislipidemia aterogénica, ECV.</a:t>
              </a:r>
              <a:endParaRPr lang="es-AR" sz="1350" dirty="0">
                <a:latin typeface="Fira Sans Condensed"/>
              </a:endParaRPr>
            </a:p>
          </p:txBody>
        </p:sp>
      </p:grpSp>
      <p:grpSp>
        <p:nvGrpSpPr>
          <p:cNvPr id="16" name="Porta"/>
          <p:cNvGrpSpPr/>
          <p:nvPr/>
        </p:nvGrpSpPr>
        <p:grpSpPr>
          <a:xfrm>
            <a:off x="2514600" y="3246120"/>
            <a:ext cx="3429000" cy="1871175"/>
            <a:chOff x="2514600" y="3246120"/>
            <a:chExt cx="3429000" cy="1871175"/>
          </a:xfrm>
        </p:grpSpPr>
        <p:pic>
          <p:nvPicPr>
            <p:cNvPr id="17" name="Hígado porta" descr="Ilustración biomédica (Servier Medical Art, CC BY)"/>
            <p:cNvPicPr>
              <a:picLocks noChangeAspect="1"/>
            </p:cNvPicPr>
            <p:nvPr/>
          </p:nvPicPr>
          <p:blipFill>
            <a:blip r:embed="rId3"/>
            <a:stretch>
              <a:fillRect/>
            </a:stretch>
          </p:blipFill>
          <p:spPr>
            <a:xfrm>
              <a:off x="3931920" y="3657600"/>
              <a:ext cx="2011680" cy="1459695"/>
            </a:xfrm>
            <a:prstGeom prst="rect">
              <a:avLst/>
            </a:prstGeom>
          </p:spPr>
        </p:pic>
        <p:sp>
          <p:nvSpPr>
            <p:cNvPr id="18" name="Flecha 17_2"/>
            <p:cNvSpPr/>
            <p:nvPr/>
          </p:nvSpPr>
          <p:spPr>
            <a:xfrm>
              <a:off x="2560320" y="3657600"/>
              <a:ext cx="1371600" cy="457200"/>
            </a:xfrm>
            <a:custGeom>
              <a:avLst/>
              <a:gdLst/>
              <a:ahLst/>
              <a:cxnLst/>
              <a:rect l="0" t="0" r="r" b="b"/>
              <a:pathLst>
                <a:path w="1500" h="500" fill="none">
                  <a:moveTo>
                    <a:pt x="0" y="0"/>
                  </a:moveTo>
                  <a:lnTo>
                    <a:pt x="1500" y="500"/>
                  </a:lnTo>
                </a:path>
              </a:pathLst>
            </a:custGeom>
            <a:noFill/>
            <a:ln w="50800" cap="rnd">
              <a:solidFill>
                <a:srgbClr val="2563B0"/>
              </a:solidFill>
              <a:prstDash val="dash"/>
              <a:round/>
              <a:tailEnd type="triangle" w="med" len="med"/>
            </a:ln>
          </p:spPr>
        </p:sp>
        <p:sp>
          <p:nvSpPr>
            <p:cNvPr id="19" name="Forma 19"/>
            <p:cNvSpPr txBox="1"/>
            <p:nvPr/>
          </p:nvSpPr>
          <p:spPr>
            <a:xfrm>
              <a:off x="2514600" y="3246120"/>
              <a:ext cx="1554480" cy="320040"/>
            </a:xfrm>
            <a:prstGeom prst="rect">
              <a:avLst/>
            </a:prstGeom>
            <a:noFill/>
            <a:ln>
              <a:noFill/>
            </a:ln>
          </p:spPr>
          <p:txBody>
            <a:bodyPr wrap="square" lIns="0" tIns="0" rIns="0" bIns="0" anchor="ctr" rtlCol="0">
              <a:noAutofit/>
            </a:bodyPr>
            <a:lstStyle/>
            <a:p>
              <a:pPr algn="ctr">
                <a:spcAft>
                  <a:spcPts val="300"/>
                </a:spcAft>
                <a:buNone/>
              </a:pPr>
              <a:r>
                <a:rPr lang="es-AR" sz="1050" b="1" dirty="0">
                  <a:solidFill>
                    <a:srgbClr val="2563B0"/>
                  </a:solidFill>
                  <a:effectLst>
                    <a:glow rad="101600">
                      <a:srgbClr val="FFFFFF">
                        <a:alpha val="70000"/>
                      </a:srgbClr>
                    </a:glow>
                  </a:effectLst>
                  <a:latin typeface="Fira Sans Condensed"/>
                  <a:ea typeface="Fira Sans Condensed"/>
                  <a:cs typeface="Fira Sans Condensed"/>
                  <a:sym typeface="Fira Sans Condensed"/>
                </a:rPr>
                <a:t>AGNE · citocinas por porta</a:t>
              </a:r>
              <a:endParaRPr lang="es-AR" sz="1050" dirty="0">
                <a:latin typeface="Fira Sans Condensed"/>
              </a:endParaRPr>
            </a:p>
          </p:txBody>
        </p:sp>
      </p:grpSp>
      <p:grpSp>
        <p:nvGrpSpPr>
          <p:cNvPr id="20" name="Cuadro Ectópico"/>
          <p:cNvGrpSpPr/>
          <p:nvPr/>
        </p:nvGrpSpPr>
        <p:grpSpPr>
          <a:xfrm>
            <a:off x="6263640" y="3611880"/>
            <a:ext cx="5577840" cy="1508760"/>
            <a:chOff x="6263640" y="3611880"/>
            <a:chExt cx="5577840" cy="1508760"/>
          </a:xfrm>
        </p:grpSpPr>
        <p:sp>
          <p:nvSpPr>
            <p:cNvPr id="21" name="Forma 21"/>
            <p:cNvSpPr/>
            <p:nvPr/>
          </p:nvSpPr>
          <p:spPr>
            <a:xfrm>
              <a:off x="6263640" y="3813048"/>
              <a:ext cx="5577840" cy="13075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Grasa ectópica</a:t>
              </a:r>
              <a:r>
                <a:rPr lang="es-AR" sz="1450" dirty="0">
                  <a:solidFill>
                    <a:srgbClr val="1E1E1E"/>
                  </a:solidFill>
                  <a:latin typeface="Fira Sans Condensed"/>
                  <a:ea typeface="Fira Sans Condensed"/>
                  <a:cs typeface="Fira Sans Condensed"/>
                  <a:sym typeface="Fira Sans Condensed"/>
                </a:rPr>
                <a:t>: TAG e intermediarios lipídicos en </a:t>
              </a:r>
              <a:r>
                <a:rPr lang="es-AR" sz="1450" b="1" dirty="0">
                  <a:solidFill>
                    <a:srgbClr val="1E1E1E"/>
                  </a:solidFill>
                  <a:latin typeface="Fira Sans Condensed"/>
                  <a:ea typeface="Fira Sans Condensed"/>
                  <a:cs typeface="Fira Sans Condensed"/>
                  <a:sym typeface="Fira Sans Condensed"/>
                </a:rPr>
                <a:t>hígado, músculo, páncreas y corazón</a:t>
              </a:r>
              <a:r>
                <a:rPr lang="es-AR" sz="1450" dirty="0">
                  <a:solidFill>
                    <a:srgbClr val="1E1E1E"/>
                  </a:solidFill>
                  <a:latin typeface="Fira Sans Condensed"/>
                  <a:ea typeface="Fira Sans Condensed"/>
                  <a:cs typeface="Fira Sans Condensed"/>
                  <a:sym typeface="Fira Sans Condensed"/>
                </a:rPr>
                <a:t>: base de la </a:t>
              </a:r>
              <a:r>
                <a:rPr lang="es-AR" sz="1450" b="1" dirty="0">
                  <a:solidFill>
                    <a:srgbClr val="1E1E1E"/>
                  </a:solidFill>
                  <a:latin typeface="Fira Sans Condensed"/>
                  <a:ea typeface="Fira Sans Condensed"/>
                  <a:cs typeface="Fira Sans Condensed"/>
                  <a:sym typeface="Fira Sans Condensed"/>
                </a:rPr>
                <a:t>lipotoxicidad</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22" name="Forma 22"/>
            <p:cNvSpPr/>
            <p:nvPr/>
          </p:nvSpPr>
          <p:spPr>
            <a:xfrm>
              <a:off x="6400800" y="3611880"/>
              <a:ext cx="112786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ECTÓPICO</a:t>
              </a:r>
              <a:endParaRPr lang="es-AR" sz="1400" dirty="0">
                <a:latin typeface="Fira Sans Condensed"/>
              </a:endParaRPr>
            </a:p>
          </p:txBody>
        </p:sp>
      </p:grpSp>
      <p:sp>
        <p:nvSpPr>
          <p:cNvPr id="23" name="Perla clínica"/>
          <p:cNvSpPr/>
          <p:nvPr/>
        </p:nvSpPr>
        <p:spPr>
          <a:xfrm>
            <a:off x="3749040" y="5349240"/>
            <a:ext cx="8092440" cy="9144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Subcutánea abdominal ≠ visceral. La </a:t>
            </a:r>
            <a:r>
              <a:rPr lang="es-AR" sz="1400" b="1" dirty="0">
                <a:solidFill>
                  <a:srgbClr val="FFFFFF"/>
                </a:solidFill>
                <a:latin typeface="Fira Sans Condensed"/>
                <a:ea typeface="Fira Sans Condensed"/>
                <a:cs typeface="Fira Sans Condensed"/>
                <a:sym typeface="Fira Sans Condensed"/>
              </a:rPr>
              <a:t>cintura estima</a:t>
            </a:r>
            <a:r>
              <a:rPr lang="es-AR" sz="1400" dirty="0">
                <a:solidFill>
                  <a:srgbClr val="FFFFFF"/>
                </a:solidFill>
                <a:latin typeface="Fira Sans Condensed"/>
                <a:ea typeface="Fira Sans Condensed"/>
                <a:cs typeface="Fira Sans Condensed"/>
                <a:sym typeface="Fira Sans Condensed"/>
              </a:rPr>
              <a:t> adiposidad central, pero </a:t>
            </a:r>
            <a:r>
              <a:rPr lang="es-AR" sz="1400" b="1" dirty="0">
                <a:solidFill>
                  <a:srgbClr val="FFFFFF"/>
                </a:solidFill>
                <a:latin typeface="Fira Sans Condensed"/>
                <a:ea typeface="Fira Sans Condensed"/>
                <a:cs typeface="Fira Sans Condensed"/>
                <a:sym typeface="Fira Sans Condensed"/>
              </a:rPr>
              <a:t>no mide</a:t>
            </a:r>
            <a:r>
              <a:rPr lang="es-AR" sz="1400" dirty="0">
                <a:solidFill>
                  <a:srgbClr val="FFFFFF"/>
                </a:solidFill>
                <a:latin typeface="Fira Sans Condensed"/>
                <a:ea typeface="Fira Sans Condensed"/>
                <a:cs typeface="Fira Sans Condensed"/>
                <a:sym typeface="Fira Sans Condensed"/>
              </a:rPr>
              <a:t> grasa visceral. Son tendencias, no dicotomías absolutas.</a:t>
            </a:r>
            <a:endParaRPr lang="es-AR" sz="14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SUBCUTÁNEO, VISCERAL Y ECTÓPICO</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animEffect transition="in" filter="fade">
                                      <p:cBhvr>
                                        <p:cTn id="18" dur="500"/>
                                        <p:tgtEl>
                                          <p:spTgt spid="9"/>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34" fill="hold">
                      <p:stCondLst>
                        <p:cond delay="indefinite"/>
                      </p:stCondLst>
                      <p:childTnLst>
                        <p:par>
                          <p:cTn id="33"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41" fill="hold">
                      <p:stCondLst>
                        <p:cond delay="indefinite"/>
                      </p:stCondLst>
                      <p:childTnLst>
                        <p:par>
                          <p:cTn id="40"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ppt_w</p:attrName>
                                        </p:attrNameLst>
                                      </p:cBhvr>
                                      <p:tavLst>
                                        <p:tav tm="0">
                                          <p:val>
                                            <p:fltVal val="0"/>
                                          </p:val>
                                        </p:tav>
                                        <p:tav tm="100000">
                                          <p:val>
                                            <p:strVal val="#ppt_w"/>
                                          </p:val>
                                        </p:tav>
                                      </p:tavLst>
                                    </p:anim>
                                    <p:anim calcmode="lin" valueType="num">
                                      <p:cBhvr>
                                        <p:cTn id="38" dur="500" fill="hold"/>
                                        <p:tgtEl>
                                          <p:spTgt spid="23"/>
                                        </p:tgtEl>
                                        <p:attrNameLst>
                                          <p:attrName>ppt_h</p:attrName>
                                        </p:attrNameLst>
                                      </p:cBhvr>
                                      <p:tavLst>
                                        <p:tav tm="0">
                                          <p:val>
                                            <p:fltVal val="0"/>
                                          </p:val>
                                        </p:tav>
                                        <p:tav tm="100000">
                                          <p:val>
                                            <p:strVal val="#ppt_h"/>
                                          </p:val>
                                        </p:tav>
                                      </p:tavLst>
                                    </p:anim>
                                    <p:animEffect transition="in" filter="fade">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3" grpId="0" animBg="1"/>
    </p:bld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Blanco tipo"/>
          <p:cNvGrpSpPr/>
          <p:nvPr/>
        </p:nvGrpSpPr>
        <p:grpSpPr>
          <a:xfrm>
            <a:off x="548640" y="1143000"/>
            <a:ext cx="1828800" cy="1828800"/>
            <a:chOff x="548640" y="1143000"/>
            <a:chExt cx="1828800" cy="1828800"/>
          </a:xfrm>
        </p:grpSpPr>
        <p:sp>
          <p:nvSpPr>
            <p:cNvPr id="8" name="Forma 7"/>
            <p:cNvSpPr/>
            <p:nvPr/>
          </p:nvSpPr>
          <p:spPr>
            <a:xfrm>
              <a:off x="548640" y="1143000"/>
              <a:ext cx="1828800" cy="182880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640080" y="1234440"/>
              <a:ext cx="1645920" cy="1645920"/>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865376" y="1252728"/>
              <a:ext cx="402336" cy="21945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694944" y="2496312"/>
              <a:ext cx="182880" cy="91440"/>
              <a:chOff x="694944" y="2496312"/>
              <a:chExt cx="182880" cy="91440"/>
            </a:xfrm>
          </p:grpSpPr>
          <p:sp>
            <p:nvSpPr>
              <p:cNvPr id="12" name="Forma 11"/>
              <p:cNvSpPr/>
              <p:nvPr/>
            </p:nvSpPr>
            <p:spPr>
              <a:xfrm rot="-2400000">
                <a:off x="694944" y="2496312"/>
                <a:ext cx="182880" cy="91440"/>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707746" y="2509114"/>
                <a:ext cx="157277" cy="65837"/>
              </a:xfrm>
              <a:prstGeom prst="ellipse">
                <a:avLst/>
              </a:prstGeom>
              <a:solidFill>
                <a:srgbClr val="F8D8B4"/>
              </a:solidFill>
              <a:ln w="9525" cap="rnd">
                <a:solidFill>
                  <a:srgbClr val="B2732B"/>
                </a:solidFill>
                <a:round/>
              </a:ln>
            </p:spPr>
          </p:sp>
          <p:sp>
            <p:nvSpPr>
              <p:cNvPr id="14" name="Forma 13"/>
              <p:cNvSpPr/>
              <p:nvPr/>
            </p:nvSpPr>
            <p:spPr>
              <a:xfrm rot="-2400000">
                <a:off x="707746" y="2509114"/>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Pardo tipo"/>
          <p:cNvGrpSpPr/>
          <p:nvPr/>
        </p:nvGrpSpPr>
        <p:grpSpPr>
          <a:xfrm>
            <a:off x="548640" y="3063240"/>
            <a:ext cx="1828800" cy="1828800"/>
            <a:chOff x="548640" y="3063240"/>
            <a:chExt cx="1828800" cy="1828800"/>
          </a:xfrm>
        </p:grpSpPr>
        <p:sp>
          <p:nvSpPr>
            <p:cNvPr id="16" name="Forma 15"/>
            <p:cNvSpPr/>
            <p:nvPr/>
          </p:nvSpPr>
          <p:spPr>
            <a:xfrm>
              <a:off x="548640" y="3063240"/>
              <a:ext cx="1828800" cy="1828800"/>
            </a:xfrm>
            <a:custGeom>
              <a:avLst/>
              <a:gdLst/>
              <a:ahLst/>
              <a:cxnLst/>
              <a:rect l="0" t="0" r="r" b="b"/>
              <a:pathLst>
                <a:path w="1000" h="1000">
                  <a:moveTo>
                    <a:pt x="150" y="120"/>
                  </a:moveTo>
                  <a:cubicBezTo>
                    <a:pt x="197" y="75"/>
                    <a:pt x="429" y="29"/>
                    <a:pt x="500" y="30"/>
                  </a:cubicBezTo>
                  <a:cubicBezTo>
                    <a:pt x="571" y="31"/>
                    <a:pt x="813" y="83"/>
                    <a:pt x="860" y="130"/>
                  </a:cubicBezTo>
                  <a:cubicBezTo>
                    <a:pt x="907" y="177"/>
                    <a:pt x="971" y="425"/>
                    <a:pt x="970" y="500"/>
                  </a:cubicBezTo>
                  <a:cubicBezTo>
                    <a:pt x="969" y="575"/>
                    <a:pt x="899" y="833"/>
                    <a:pt x="850" y="880"/>
                  </a:cubicBezTo>
                  <a:cubicBezTo>
                    <a:pt x="801" y="927"/>
                    <a:pt x="553" y="972"/>
                    <a:pt x="480" y="970"/>
                  </a:cubicBezTo>
                  <a:cubicBezTo>
                    <a:pt x="407" y="968"/>
                    <a:pt x="165" y="909"/>
                    <a:pt x="120" y="860"/>
                  </a:cubicBezTo>
                  <a:cubicBezTo>
                    <a:pt x="75" y="811"/>
                    <a:pt x="27" y="554"/>
                    <a:pt x="30" y="480"/>
                  </a:cubicBezTo>
                  <a:cubicBezTo>
                    <a:pt x="33" y="406"/>
                    <a:pt x="103" y="165"/>
                    <a:pt x="150" y="120"/>
                  </a:cubicBezTo>
                  <a:close/>
                </a:path>
              </a:pathLst>
            </a:custGeom>
            <a:gradFill rotWithShape="1">
              <a:gsLst>
                <a:gs pos="0">
                  <a:srgbClr val="E1B0A4"/>
                </a:gs>
                <a:gs pos="55000">
                  <a:srgbClr val="C9715A"/>
                </a:gs>
                <a:gs pos="100000">
                  <a:srgbClr val="965443"/>
                </a:gs>
              </a:gsLst>
              <a:path path="circle">
                <a:fillToRect l="32000" t="28000" r="68000" b="72000"/>
              </a:path>
            </a:gradFill>
            <a:ln w="22225" cap="rnd">
              <a:solidFill>
                <a:srgbClr val="6E2C1E"/>
              </a:solidFill>
              <a:round/>
            </a:ln>
            <a:effectLst>
              <a:outerShdw blurRad="101600" dist="50800" dir="2700000" algn="tl" rotWithShape="0">
                <a:srgbClr val="000000">
                  <a:alpha val="30000"/>
                </a:srgbClr>
              </a:outerShdw>
            </a:effectLst>
          </p:spPr>
        </p:sp>
        <p:sp>
          <p:nvSpPr>
            <p:cNvPr id="17" name="Gotas lipídicas"/>
            <p:cNvSpPr/>
            <p:nvPr/>
          </p:nvSpPr>
          <p:spPr>
            <a:xfrm>
              <a:off x="548640" y="3063240"/>
              <a:ext cx="1828800" cy="1828800"/>
            </a:xfrm>
            <a:custGeom>
              <a:avLst/>
              <a:gdLst/>
              <a:ahLst/>
              <a:cxnLst/>
              <a:rect l="0" t="0" r="r" b="b"/>
              <a:pathLst>
                <a:path w="1000" h="1000">
                  <a:moveTo>
                    <a:pt x="355" y="260"/>
                  </a:moveTo>
                  <a:cubicBezTo>
                    <a:pt x="355" y="312"/>
                    <a:pt x="312" y="355"/>
                    <a:pt x="260" y="355"/>
                  </a:cubicBezTo>
                  <a:cubicBezTo>
                    <a:pt x="207" y="355"/>
                    <a:pt x="165" y="312"/>
                    <a:pt x="165" y="260"/>
                  </a:cubicBezTo>
                  <a:cubicBezTo>
                    <a:pt x="165" y="207"/>
                    <a:pt x="207" y="165"/>
                    <a:pt x="260" y="165"/>
                  </a:cubicBezTo>
                  <a:cubicBezTo>
                    <a:pt x="312" y="165"/>
                    <a:pt x="355" y="207"/>
                    <a:pt x="355" y="260"/>
                  </a:cubicBezTo>
                  <a:close/>
                  <a:moveTo>
                    <a:pt x="785" y="250"/>
                  </a:moveTo>
                  <a:cubicBezTo>
                    <a:pt x="785" y="296"/>
                    <a:pt x="746" y="335"/>
                    <a:pt x="700" y="335"/>
                  </a:cubicBezTo>
                  <a:cubicBezTo>
                    <a:pt x="653" y="335"/>
                    <a:pt x="615" y="296"/>
                    <a:pt x="615" y="250"/>
                  </a:cubicBezTo>
                  <a:cubicBezTo>
                    <a:pt x="615" y="203"/>
                    <a:pt x="653" y="165"/>
                    <a:pt x="700" y="165"/>
                  </a:cubicBezTo>
                  <a:cubicBezTo>
                    <a:pt x="746" y="165"/>
                    <a:pt x="785" y="203"/>
                    <a:pt x="785" y="250"/>
                  </a:cubicBezTo>
                  <a:close/>
                  <a:moveTo>
                    <a:pt x="870" y="620"/>
                  </a:moveTo>
                  <a:cubicBezTo>
                    <a:pt x="870" y="669"/>
                    <a:pt x="829" y="710"/>
                    <a:pt x="780" y="710"/>
                  </a:cubicBezTo>
                  <a:cubicBezTo>
                    <a:pt x="730" y="710"/>
                    <a:pt x="690" y="669"/>
                    <a:pt x="690" y="620"/>
                  </a:cubicBezTo>
                  <a:cubicBezTo>
                    <a:pt x="690" y="570"/>
                    <a:pt x="730" y="530"/>
                    <a:pt x="780" y="530"/>
                  </a:cubicBezTo>
                  <a:cubicBezTo>
                    <a:pt x="829" y="530"/>
                    <a:pt x="870" y="570"/>
                    <a:pt x="870" y="620"/>
                  </a:cubicBezTo>
                  <a:close/>
                  <a:moveTo>
                    <a:pt x="385" y="720"/>
                  </a:moveTo>
                  <a:cubicBezTo>
                    <a:pt x="385" y="766"/>
                    <a:pt x="346" y="805"/>
                    <a:pt x="300" y="805"/>
                  </a:cubicBezTo>
                  <a:cubicBezTo>
                    <a:pt x="253" y="805"/>
                    <a:pt x="215" y="766"/>
                    <a:pt x="215" y="720"/>
                  </a:cubicBezTo>
                  <a:cubicBezTo>
                    <a:pt x="215" y="673"/>
                    <a:pt x="253" y="635"/>
                    <a:pt x="300" y="635"/>
                  </a:cubicBezTo>
                  <a:cubicBezTo>
                    <a:pt x="346" y="635"/>
                    <a:pt x="385" y="673"/>
                    <a:pt x="385" y="720"/>
                  </a:cubicBezTo>
                  <a:close/>
                  <a:moveTo>
                    <a:pt x="590" y="820"/>
                  </a:moveTo>
                  <a:cubicBezTo>
                    <a:pt x="590" y="858"/>
                    <a:pt x="558" y="890"/>
                    <a:pt x="520" y="890"/>
                  </a:cubicBezTo>
                  <a:cubicBezTo>
                    <a:pt x="481" y="890"/>
                    <a:pt x="450" y="858"/>
                    <a:pt x="450" y="820"/>
                  </a:cubicBezTo>
                  <a:cubicBezTo>
                    <a:pt x="450" y="781"/>
                    <a:pt x="481" y="750"/>
                    <a:pt x="520" y="750"/>
                  </a:cubicBezTo>
                  <a:cubicBezTo>
                    <a:pt x="558" y="750"/>
                    <a:pt x="590" y="781"/>
                    <a:pt x="590" y="820"/>
                  </a:cubicBezTo>
                  <a:close/>
                  <a:moveTo>
                    <a:pt x="245" y="500"/>
                  </a:moveTo>
                  <a:cubicBezTo>
                    <a:pt x="245" y="535"/>
                    <a:pt x="215" y="565"/>
                    <a:pt x="180" y="565"/>
                  </a:cubicBezTo>
                  <a:cubicBezTo>
                    <a:pt x="144" y="565"/>
                    <a:pt x="115" y="535"/>
                    <a:pt x="115" y="500"/>
                  </a:cubicBezTo>
                  <a:cubicBezTo>
                    <a:pt x="115" y="464"/>
                    <a:pt x="144" y="435"/>
                    <a:pt x="180" y="435"/>
                  </a:cubicBezTo>
                  <a:cubicBezTo>
                    <a:pt x="215" y="435"/>
                    <a:pt x="245" y="464"/>
                    <a:pt x="245" y="500"/>
                  </a:cubicBezTo>
                  <a:close/>
                  <a:moveTo>
                    <a:pt x="820" y="420"/>
                  </a:moveTo>
                  <a:cubicBezTo>
                    <a:pt x="820" y="453"/>
                    <a:pt x="793" y="480"/>
                    <a:pt x="760" y="480"/>
                  </a:cubicBezTo>
                  <a:cubicBezTo>
                    <a:pt x="726" y="480"/>
                    <a:pt x="700" y="453"/>
                    <a:pt x="700" y="420"/>
                  </a:cubicBezTo>
                  <a:cubicBezTo>
                    <a:pt x="700" y="386"/>
                    <a:pt x="726" y="360"/>
                    <a:pt x="760" y="360"/>
                  </a:cubicBezTo>
                  <a:cubicBezTo>
                    <a:pt x="793" y="360"/>
                    <a:pt x="820" y="386"/>
                    <a:pt x="820" y="420"/>
                  </a:cubicBezTo>
                  <a:close/>
                </a:path>
              </a:pathLst>
            </a:custGeom>
            <a:gradFill rotWithShape="1">
              <a:gsLst>
                <a:gs pos="0">
                  <a:srgbClr val="FFF6C2"/>
                </a:gs>
                <a:gs pos="100000">
                  <a:srgbClr val="E9B90B"/>
                </a:gs>
              </a:gsLst>
              <a:path path="circle">
                <a:fillToRect l="35000" t="30000" r="65000" b="70000"/>
              </a:path>
            </a:gradFill>
            <a:ln w="9525" cap="rnd">
              <a:solidFill>
                <a:srgbClr val="9A7D0A"/>
              </a:solidFill>
              <a:round/>
            </a:ln>
          </p:spPr>
        </p:sp>
        <p:grpSp>
          <p:nvGrpSpPr>
            <p:cNvPr id="18" name="Mitocondria_2"/>
            <p:cNvGrpSpPr/>
            <p:nvPr/>
          </p:nvGrpSpPr>
          <p:grpSpPr>
            <a:xfrm>
              <a:off x="1188720" y="3282696"/>
              <a:ext cx="292608" cy="146304"/>
              <a:chOff x="1188720" y="3282696"/>
              <a:chExt cx="292608" cy="146304"/>
            </a:xfrm>
          </p:grpSpPr>
          <p:sp>
            <p:nvSpPr>
              <p:cNvPr id="19" name="Forma 18"/>
              <p:cNvSpPr/>
              <p:nvPr/>
            </p:nvSpPr>
            <p:spPr>
              <a:xfrm rot="600000">
                <a:off x="1188720" y="3282696"/>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20" name="Forma 19"/>
              <p:cNvSpPr/>
              <p:nvPr/>
            </p:nvSpPr>
            <p:spPr>
              <a:xfrm rot="600000">
                <a:off x="1209203" y="3303179"/>
                <a:ext cx="251643" cy="105339"/>
              </a:xfrm>
              <a:prstGeom prst="ellipse">
                <a:avLst/>
              </a:prstGeom>
              <a:solidFill>
                <a:srgbClr val="E7BFA9"/>
              </a:solidFill>
              <a:ln w="9525" cap="rnd">
                <a:solidFill>
                  <a:srgbClr val="904217"/>
                </a:solidFill>
                <a:round/>
              </a:ln>
            </p:spPr>
          </p:sp>
          <p:sp>
            <p:nvSpPr>
              <p:cNvPr id="21" name="Forma 20"/>
              <p:cNvSpPr/>
              <p:nvPr/>
            </p:nvSpPr>
            <p:spPr>
              <a:xfrm rot="600000">
                <a:off x="1209203" y="3303179"/>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22" name="Mitocondria_3"/>
            <p:cNvGrpSpPr/>
            <p:nvPr/>
          </p:nvGrpSpPr>
          <p:grpSpPr>
            <a:xfrm>
              <a:off x="1463040" y="3611880"/>
              <a:ext cx="292608" cy="146304"/>
              <a:chOff x="1463040" y="3611880"/>
              <a:chExt cx="292608" cy="146304"/>
            </a:xfrm>
          </p:grpSpPr>
          <p:sp>
            <p:nvSpPr>
              <p:cNvPr id="23" name="Forma 22"/>
              <p:cNvSpPr/>
              <p:nvPr/>
            </p:nvSpPr>
            <p:spPr>
              <a:xfrm rot="-1800000">
                <a:off x="1463040" y="3611880"/>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24" name="Forma 23"/>
              <p:cNvSpPr/>
              <p:nvPr/>
            </p:nvSpPr>
            <p:spPr>
              <a:xfrm rot="-1800000">
                <a:off x="1483523" y="3632363"/>
                <a:ext cx="251643" cy="105339"/>
              </a:xfrm>
              <a:prstGeom prst="ellipse">
                <a:avLst/>
              </a:prstGeom>
              <a:solidFill>
                <a:srgbClr val="E7BFA9"/>
              </a:solidFill>
              <a:ln w="9525" cap="rnd">
                <a:solidFill>
                  <a:srgbClr val="904217"/>
                </a:solidFill>
                <a:round/>
              </a:ln>
            </p:spPr>
          </p:sp>
          <p:sp>
            <p:nvSpPr>
              <p:cNvPr id="25" name="Forma 24"/>
              <p:cNvSpPr/>
              <p:nvPr/>
            </p:nvSpPr>
            <p:spPr>
              <a:xfrm rot="-1800000">
                <a:off x="1483523" y="3632363"/>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26" name="Mitocondria_4"/>
            <p:cNvGrpSpPr/>
            <p:nvPr/>
          </p:nvGrpSpPr>
          <p:grpSpPr>
            <a:xfrm>
              <a:off x="768096" y="4197096"/>
              <a:ext cx="292608" cy="146304"/>
              <a:chOff x="768096" y="4197096"/>
              <a:chExt cx="292608" cy="146304"/>
            </a:xfrm>
          </p:grpSpPr>
          <p:sp>
            <p:nvSpPr>
              <p:cNvPr id="27" name="Forma 26"/>
              <p:cNvSpPr/>
              <p:nvPr/>
            </p:nvSpPr>
            <p:spPr>
              <a:xfrm rot="3600000">
                <a:off x="768096" y="4197096"/>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28" name="Forma 27"/>
              <p:cNvSpPr/>
              <p:nvPr/>
            </p:nvSpPr>
            <p:spPr>
              <a:xfrm rot="3600000">
                <a:off x="788579" y="4217579"/>
                <a:ext cx="251643" cy="105339"/>
              </a:xfrm>
              <a:prstGeom prst="ellipse">
                <a:avLst/>
              </a:prstGeom>
              <a:solidFill>
                <a:srgbClr val="E7BFA9"/>
              </a:solidFill>
              <a:ln w="9525" cap="rnd">
                <a:solidFill>
                  <a:srgbClr val="904217"/>
                </a:solidFill>
                <a:round/>
              </a:ln>
            </p:spPr>
          </p:sp>
          <p:sp>
            <p:nvSpPr>
              <p:cNvPr id="29" name="Forma 28"/>
              <p:cNvSpPr/>
              <p:nvPr/>
            </p:nvSpPr>
            <p:spPr>
              <a:xfrm rot="3600000">
                <a:off x="788579" y="4217579"/>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0" name="Mitocondria_5"/>
            <p:cNvGrpSpPr/>
            <p:nvPr/>
          </p:nvGrpSpPr>
          <p:grpSpPr>
            <a:xfrm>
              <a:off x="1609344" y="4160520"/>
              <a:ext cx="292608" cy="146304"/>
              <a:chOff x="1609344" y="4160520"/>
              <a:chExt cx="292608" cy="146304"/>
            </a:xfrm>
          </p:grpSpPr>
          <p:sp>
            <p:nvSpPr>
              <p:cNvPr id="31" name="Forma 30"/>
              <p:cNvSpPr/>
              <p:nvPr/>
            </p:nvSpPr>
            <p:spPr>
              <a:xfrm rot="1200000">
                <a:off x="1609344" y="4160520"/>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32" name="Forma 31"/>
              <p:cNvSpPr/>
              <p:nvPr/>
            </p:nvSpPr>
            <p:spPr>
              <a:xfrm rot="1200000">
                <a:off x="1629827" y="4181003"/>
                <a:ext cx="251643" cy="105339"/>
              </a:xfrm>
              <a:prstGeom prst="ellipse">
                <a:avLst/>
              </a:prstGeom>
              <a:solidFill>
                <a:srgbClr val="E7BFA9"/>
              </a:solidFill>
              <a:ln w="9525" cap="rnd">
                <a:solidFill>
                  <a:srgbClr val="904217"/>
                </a:solidFill>
                <a:round/>
              </a:ln>
            </p:spPr>
          </p:sp>
          <p:sp>
            <p:nvSpPr>
              <p:cNvPr id="33" name="Forma 32"/>
              <p:cNvSpPr/>
              <p:nvPr/>
            </p:nvSpPr>
            <p:spPr>
              <a:xfrm rot="1200000">
                <a:off x="1629827" y="4181003"/>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4" name="Mitocondria_6"/>
            <p:cNvGrpSpPr/>
            <p:nvPr/>
          </p:nvGrpSpPr>
          <p:grpSpPr>
            <a:xfrm>
              <a:off x="1682496" y="4599432"/>
              <a:ext cx="292608" cy="146304"/>
              <a:chOff x="1682496" y="4599432"/>
              <a:chExt cx="292608" cy="146304"/>
            </a:xfrm>
          </p:grpSpPr>
          <p:sp>
            <p:nvSpPr>
              <p:cNvPr id="35" name="Forma 34"/>
              <p:cNvSpPr/>
              <p:nvPr/>
            </p:nvSpPr>
            <p:spPr>
              <a:xfrm rot="-600000">
                <a:off x="1682496" y="4599432"/>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36" name="Forma 35"/>
              <p:cNvSpPr/>
              <p:nvPr/>
            </p:nvSpPr>
            <p:spPr>
              <a:xfrm rot="-600000">
                <a:off x="1702979" y="4619915"/>
                <a:ext cx="251643" cy="105339"/>
              </a:xfrm>
              <a:prstGeom prst="ellipse">
                <a:avLst/>
              </a:prstGeom>
              <a:solidFill>
                <a:srgbClr val="E7BFA9"/>
              </a:solidFill>
              <a:ln w="9525" cap="rnd">
                <a:solidFill>
                  <a:srgbClr val="904217"/>
                </a:solidFill>
                <a:round/>
              </a:ln>
            </p:spPr>
          </p:sp>
          <p:sp>
            <p:nvSpPr>
              <p:cNvPr id="37" name="Forma 36"/>
              <p:cNvSpPr/>
              <p:nvPr/>
            </p:nvSpPr>
            <p:spPr>
              <a:xfrm rot="-600000">
                <a:off x="1702979" y="4619915"/>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8" name="Mitocondria_7"/>
            <p:cNvGrpSpPr/>
            <p:nvPr/>
          </p:nvGrpSpPr>
          <p:grpSpPr>
            <a:xfrm>
              <a:off x="1207008" y="3977640"/>
              <a:ext cx="292608" cy="146304"/>
              <a:chOff x="1207008" y="3977640"/>
              <a:chExt cx="292608" cy="146304"/>
            </a:xfrm>
          </p:grpSpPr>
          <p:sp>
            <p:nvSpPr>
              <p:cNvPr id="39" name="Forma 38"/>
              <p:cNvSpPr/>
              <p:nvPr/>
            </p:nvSpPr>
            <p:spPr>
              <a:xfrm rot="4800000">
                <a:off x="1207008" y="3977640"/>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40" name="Forma 39"/>
              <p:cNvSpPr/>
              <p:nvPr/>
            </p:nvSpPr>
            <p:spPr>
              <a:xfrm rot="4800000">
                <a:off x="1227491" y="3998123"/>
                <a:ext cx="251643" cy="105339"/>
              </a:xfrm>
              <a:prstGeom prst="ellipse">
                <a:avLst/>
              </a:prstGeom>
              <a:solidFill>
                <a:srgbClr val="E7BFA9"/>
              </a:solidFill>
              <a:ln w="9525" cap="rnd">
                <a:solidFill>
                  <a:srgbClr val="904217"/>
                </a:solidFill>
                <a:round/>
              </a:ln>
            </p:spPr>
          </p:sp>
          <p:sp>
            <p:nvSpPr>
              <p:cNvPr id="41" name="Forma 40"/>
              <p:cNvSpPr/>
              <p:nvPr/>
            </p:nvSpPr>
            <p:spPr>
              <a:xfrm rot="4800000">
                <a:off x="1227491" y="3998123"/>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42" name="Mitocondria_8"/>
            <p:cNvGrpSpPr/>
            <p:nvPr/>
          </p:nvGrpSpPr>
          <p:grpSpPr>
            <a:xfrm>
              <a:off x="2011680" y="4526280"/>
              <a:ext cx="292608" cy="146304"/>
              <a:chOff x="2011680" y="4526280"/>
              <a:chExt cx="292608" cy="146304"/>
            </a:xfrm>
          </p:grpSpPr>
          <p:sp>
            <p:nvSpPr>
              <p:cNvPr id="43" name="Forma 42"/>
              <p:cNvSpPr/>
              <p:nvPr/>
            </p:nvSpPr>
            <p:spPr>
              <a:xfrm rot="2400000">
                <a:off x="2011680" y="4526280"/>
                <a:ext cx="292608" cy="146304"/>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44" name="Forma 43"/>
              <p:cNvSpPr/>
              <p:nvPr/>
            </p:nvSpPr>
            <p:spPr>
              <a:xfrm rot="2400000">
                <a:off x="2032163" y="4546763"/>
                <a:ext cx="251643" cy="105339"/>
              </a:xfrm>
              <a:prstGeom prst="ellipse">
                <a:avLst/>
              </a:prstGeom>
              <a:solidFill>
                <a:srgbClr val="E7BFA9"/>
              </a:solidFill>
              <a:ln w="9525" cap="rnd">
                <a:solidFill>
                  <a:srgbClr val="904217"/>
                </a:solidFill>
                <a:round/>
              </a:ln>
            </p:spPr>
          </p:sp>
          <p:sp>
            <p:nvSpPr>
              <p:cNvPr id="45" name="Forma 44"/>
              <p:cNvSpPr/>
              <p:nvPr/>
            </p:nvSpPr>
            <p:spPr>
              <a:xfrm rot="2400000">
                <a:off x="2032163" y="4546763"/>
                <a:ext cx="251643" cy="10533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46" name="Núcleo"/>
            <p:cNvGrpSpPr/>
            <p:nvPr/>
          </p:nvGrpSpPr>
          <p:grpSpPr>
            <a:xfrm>
              <a:off x="1280160" y="3758184"/>
              <a:ext cx="365760" cy="329184"/>
              <a:chOff x="1280160" y="3758184"/>
              <a:chExt cx="365760" cy="329184"/>
            </a:xfrm>
          </p:grpSpPr>
          <p:sp>
            <p:nvSpPr>
              <p:cNvPr id="47" name="Forma 46"/>
              <p:cNvSpPr/>
              <p:nvPr/>
            </p:nvSpPr>
            <p:spPr>
              <a:xfrm>
                <a:off x="1280160" y="3758184"/>
                <a:ext cx="365760" cy="329184"/>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48" name="Forma 47"/>
              <p:cNvSpPr/>
              <p:nvPr/>
            </p:nvSpPr>
            <p:spPr>
              <a:xfrm>
                <a:off x="1470355" y="3867912"/>
                <a:ext cx="80467" cy="73152"/>
              </a:xfrm>
              <a:prstGeom prst="ellipse">
                <a:avLst/>
              </a:prstGeom>
              <a:solidFill>
                <a:srgbClr val="513B6B"/>
              </a:solidFill>
              <a:ln>
                <a:noFill/>
              </a:ln>
            </p:spPr>
          </p:sp>
        </p:grpSp>
      </p:grpSp>
      <p:grpSp>
        <p:nvGrpSpPr>
          <p:cNvPr id="49" name="Beige tipo"/>
          <p:cNvGrpSpPr/>
          <p:nvPr/>
        </p:nvGrpSpPr>
        <p:grpSpPr>
          <a:xfrm>
            <a:off x="411480" y="4892040"/>
            <a:ext cx="2148840" cy="1280160"/>
            <a:chOff x="411480" y="4892040"/>
            <a:chExt cx="2148840" cy="1280160"/>
          </a:xfrm>
        </p:grpSpPr>
        <p:grpSp>
          <p:nvGrpSpPr>
            <p:cNvPr id="50" name="!!Adipocito blanco"/>
            <p:cNvGrpSpPr/>
            <p:nvPr/>
          </p:nvGrpSpPr>
          <p:grpSpPr>
            <a:xfrm>
              <a:off x="411480" y="4892040"/>
              <a:ext cx="1280160" cy="1280160"/>
              <a:chOff x="411480" y="4892040"/>
              <a:chExt cx="1280160" cy="1280160"/>
            </a:xfrm>
          </p:grpSpPr>
          <p:sp>
            <p:nvSpPr>
              <p:cNvPr id="51" name="Forma 50"/>
              <p:cNvSpPr/>
              <p:nvPr/>
            </p:nvSpPr>
            <p:spPr>
              <a:xfrm>
                <a:off x="411480" y="4892040"/>
                <a:ext cx="1280160" cy="12801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52" name="Gota lipídica_2"/>
              <p:cNvSpPr/>
              <p:nvPr/>
            </p:nvSpPr>
            <p:spPr>
              <a:xfrm>
                <a:off x="475488" y="4956048"/>
                <a:ext cx="1152144" cy="115214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3" name="Forma 52"/>
              <p:cNvSpPr/>
              <p:nvPr/>
            </p:nvSpPr>
            <p:spPr>
              <a:xfrm rot="2400000">
                <a:off x="1333195" y="4968850"/>
                <a:ext cx="281635" cy="153619"/>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4" name="Mitocondria_9"/>
              <p:cNvGrpSpPr/>
              <p:nvPr/>
            </p:nvGrpSpPr>
            <p:grpSpPr>
              <a:xfrm>
                <a:off x="513893" y="5839358"/>
                <a:ext cx="128016" cy="64008"/>
                <a:chOff x="513893" y="5839358"/>
                <a:chExt cx="128016" cy="64008"/>
              </a:xfrm>
            </p:grpSpPr>
            <p:sp>
              <p:nvSpPr>
                <p:cNvPr id="55" name="Forma 54"/>
                <p:cNvSpPr/>
                <p:nvPr/>
              </p:nvSpPr>
              <p:spPr>
                <a:xfrm rot="-2400000">
                  <a:off x="513893" y="5839358"/>
                  <a:ext cx="128016" cy="6400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6" name="Forma 55"/>
                <p:cNvSpPr/>
                <p:nvPr/>
              </p:nvSpPr>
              <p:spPr>
                <a:xfrm rot="-2400000">
                  <a:off x="522854" y="5848320"/>
                  <a:ext cx="110094" cy="46086"/>
                </a:xfrm>
                <a:prstGeom prst="ellipse">
                  <a:avLst/>
                </a:prstGeom>
                <a:solidFill>
                  <a:srgbClr val="F8D8B4"/>
                </a:solidFill>
                <a:ln w="9525" cap="rnd">
                  <a:solidFill>
                    <a:srgbClr val="B2732B"/>
                  </a:solidFill>
                  <a:round/>
                </a:ln>
              </p:spPr>
            </p:sp>
            <p:sp>
              <p:nvSpPr>
                <p:cNvPr id="57" name="Forma 56"/>
                <p:cNvSpPr/>
                <p:nvPr/>
              </p:nvSpPr>
              <p:spPr>
                <a:xfrm rot="-2400000">
                  <a:off x="522854" y="5848320"/>
                  <a:ext cx="110094" cy="4608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8" name="!!Adipocito marrón"/>
            <p:cNvGrpSpPr/>
            <p:nvPr/>
          </p:nvGrpSpPr>
          <p:grpSpPr>
            <a:xfrm>
              <a:off x="1417320" y="4983480"/>
              <a:ext cx="1143000" cy="1143000"/>
              <a:chOff x="1417320" y="4983480"/>
              <a:chExt cx="1143000" cy="1143000"/>
            </a:xfrm>
          </p:grpSpPr>
          <p:sp>
            <p:nvSpPr>
              <p:cNvPr id="59" name="Forma 58"/>
              <p:cNvSpPr/>
              <p:nvPr/>
            </p:nvSpPr>
            <p:spPr>
              <a:xfrm>
                <a:off x="1417320" y="4983480"/>
                <a:ext cx="1143000" cy="1143000"/>
              </a:xfrm>
              <a:custGeom>
                <a:avLst/>
                <a:gdLst/>
                <a:ahLst/>
                <a:cxnLst/>
                <a:rect l="0" t="0" r="r" b="b"/>
                <a:pathLst>
                  <a:path w="1000" h="1000">
                    <a:moveTo>
                      <a:pt x="150" y="120"/>
                    </a:moveTo>
                    <a:cubicBezTo>
                      <a:pt x="197" y="75"/>
                      <a:pt x="429" y="29"/>
                      <a:pt x="500" y="30"/>
                    </a:cubicBezTo>
                    <a:cubicBezTo>
                      <a:pt x="571" y="31"/>
                      <a:pt x="813" y="83"/>
                      <a:pt x="860" y="130"/>
                    </a:cubicBezTo>
                    <a:cubicBezTo>
                      <a:pt x="907" y="177"/>
                      <a:pt x="971" y="425"/>
                      <a:pt x="970" y="500"/>
                    </a:cubicBezTo>
                    <a:cubicBezTo>
                      <a:pt x="969" y="575"/>
                      <a:pt x="899" y="833"/>
                      <a:pt x="850" y="880"/>
                    </a:cubicBezTo>
                    <a:cubicBezTo>
                      <a:pt x="801" y="927"/>
                      <a:pt x="553" y="972"/>
                      <a:pt x="480" y="970"/>
                    </a:cubicBezTo>
                    <a:cubicBezTo>
                      <a:pt x="407" y="968"/>
                      <a:pt x="165" y="909"/>
                      <a:pt x="120" y="860"/>
                    </a:cubicBezTo>
                    <a:cubicBezTo>
                      <a:pt x="75" y="811"/>
                      <a:pt x="27" y="554"/>
                      <a:pt x="30" y="480"/>
                    </a:cubicBezTo>
                    <a:cubicBezTo>
                      <a:pt x="33" y="406"/>
                      <a:pt x="103" y="165"/>
                      <a:pt x="150" y="120"/>
                    </a:cubicBezTo>
                    <a:close/>
                  </a:path>
                </a:pathLst>
              </a:custGeom>
              <a:gradFill rotWithShape="1">
                <a:gsLst>
                  <a:gs pos="0">
                    <a:srgbClr val="E1B0A4"/>
                  </a:gs>
                  <a:gs pos="55000">
                    <a:srgbClr val="C9715A"/>
                  </a:gs>
                  <a:gs pos="100000">
                    <a:srgbClr val="965443"/>
                  </a:gs>
                </a:gsLst>
                <a:path path="circle">
                  <a:fillToRect l="32000" t="28000" r="68000" b="72000"/>
                </a:path>
              </a:gradFill>
              <a:ln w="22225" cap="rnd">
                <a:solidFill>
                  <a:srgbClr val="6E2C1E"/>
                </a:solidFill>
                <a:round/>
              </a:ln>
              <a:effectLst>
                <a:outerShdw blurRad="101600" dist="50800" dir="2700000" algn="tl" rotWithShape="0">
                  <a:srgbClr val="000000">
                    <a:alpha val="30000"/>
                  </a:srgbClr>
                </a:outerShdw>
              </a:effectLst>
            </p:spPr>
          </p:sp>
          <p:sp>
            <p:nvSpPr>
              <p:cNvPr id="60" name="Gotas lipídicas_2"/>
              <p:cNvSpPr/>
              <p:nvPr/>
            </p:nvSpPr>
            <p:spPr>
              <a:xfrm>
                <a:off x="1417320" y="4983480"/>
                <a:ext cx="1143000" cy="1143000"/>
              </a:xfrm>
              <a:custGeom>
                <a:avLst/>
                <a:gdLst/>
                <a:ahLst/>
                <a:cxnLst/>
                <a:rect l="0" t="0" r="r" b="b"/>
                <a:pathLst>
                  <a:path w="1000" h="1000">
                    <a:moveTo>
                      <a:pt x="355" y="260"/>
                    </a:moveTo>
                    <a:cubicBezTo>
                      <a:pt x="355" y="312"/>
                      <a:pt x="312" y="355"/>
                      <a:pt x="260" y="355"/>
                    </a:cubicBezTo>
                    <a:cubicBezTo>
                      <a:pt x="207" y="355"/>
                      <a:pt x="165" y="312"/>
                      <a:pt x="165" y="260"/>
                    </a:cubicBezTo>
                    <a:cubicBezTo>
                      <a:pt x="165" y="207"/>
                      <a:pt x="207" y="165"/>
                      <a:pt x="260" y="165"/>
                    </a:cubicBezTo>
                    <a:cubicBezTo>
                      <a:pt x="312" y="165"/>
                      <a:pt x="355" y="207"/>
                      <a:pt x="355" y="260"/>
                    </a:cubicBezTo>
                    <a:close/>
                    <a:moveTo>
                      <a:pt x="785" y="250"/>
                    </a:moveTo>
                    <a:cubicBezTo>
                      <a:pt x="785" y="296"/>
                      <a:pt x="746" y="335"/>
                      <a:pt x="700" y="335"/>
                    </a:cubicBezTo>
                    <a:cubicBezTo>
                      <a:pt x="653" y="335"/>
                      <a:pt x="615" y="296"/>
                      <a:pt x="615" y="250"/>
                    </a:cubicBezTo>
                    <a:cubicBezTo>
                      <a:pt x="615" y="203"/>
                      <a:pt x="653" y="165"/>
                      <a:pt x="700" y="165"/>
                    </a:cubicBezTo>
                    <a:cubicBezTo>
                      <a:pt x="746" y="165"/>
                      <a:pt x="785" y="203"/>
                      <a:pt x="785" y="250"/>
                    </a:cubicBezTo>
                    <a:close/>
                    <a:moveTo>
                      <a:pt x="870" y="620"/>
                    </a:moveTo>
                    <a:cubicBezTo>
                      <a:pt x="870" y="669"/>
                      <a:pt x="829" y="710"/>
                      <a:pt x="780" y="710"/>
                    </a:cubicBezTo>
                    <a:cubicBezTo>
                      <a:pt x="730" y="710"/>
                      <a:pt x="690" y="669"/>
                      <a:pt x="690" y="620"/>
                    </a:cubicBezTo>
                    <a:cubicBezTo>
                      <a:pt x="690" y="570"/>
                      <a:pt x="730" y="530"/>
                      <a:pt x="780" y="530"/>
                    </a:cubicBezTo>
                    <a:cubicBezTo>
                      <a:pt x="829" y="530"/>
                      <a:pt x="870" y="570"/>
                      <a:pt x="870" y="620"/>
                    </a:cubicBezTo>
                    <a:close/>
                    <a:moveTo>
                      <a:pt x="385" y="720"/>
                    </a:moveTo>
                    <a:cubicBezTo>
                      <a:pt x="385" y="766"/>
                      <a:pt x="346" y="805"/>
                      <a:pt x="300" y="805"/>
                    </a:cubicBezTo>
                    <a:cubicBezTo>
                      <a:pt x="253" y="805"/>
                      <a:pt x="215" y="766"/>
                      <a:pt x="215" y="720"/>
                    </a:cubicBezTo>
                    <a:cubicBezTo>
                      <a:pt x="215" y="673"/>
                      <a:pt x="253" y="635"/>
                      <a:pt x="300" y="635"/>
                    </a:cubicBezTo>
                    <a:cubicBezTo>
                      <a:pt x="346" y="635"/>
                      <a:pt x="385" y="673"/>
                      <a:pt x="385" y="720"/>
                    </a:cubicBezTo>
                    <a:close/>
                    <a:moveTo>
                      <a:pt x="590" y="820"/>
                    </a:moveTo>
                    <a:cubicBezTo>
                      <a:pt x="590" y="858"/>
                      <a:pt x="558" y="890"/>
                      <a:pt x="520" y="890"/>
                    </a:cubicBezTo>
                    <a:cubicBezTo>
                      <a:pt x="481" y="890"/>
                      <a:pt x="450" y="858"/>
                      <a:pt x="450" y="820"/>
                    </a:cubicBezTo>
                    <a:cubicBezTo>
                      <a:pt x="450" y="781"/>
                      <a:pt x="481" y="750"/>
                      <a:pt x="520" y="750"/>
                    </a:cubicBezTo>
                    <a:cubicBezTo>
                      <a:pt x="558" y="750"/>
                      <a:pt x="590" y="781"/>
                      <a:pt x="590" y="820"/>
                    </a:cubicBezTo>
                    <a:close/>
                    <a:moveTo>
                      <a:pt x="245" y="500"/>
                    </a:moveTo>
                    <a:cubicBezTo>
                      <a:pt x="245" y="535"/>
                      <a:pt x="215" y="565"/>
                      <a:pt x="180" y="565"/>
                    </a:cubicBezTo>
                    <a:cubicBezTo>
                      <a:pt x="144" y="565"/>
                      <a:pt x="115" y="535"/>
                      <a:pt x="115" y="500"/>
                    </a:cubicBezTo>
                    <a:cubicBezTo>
                      <a:pt x="115" y="464"/>
                      <a:pt x="144" y="435"/>
                      <a:pt x="180" y="435"/>
                    </a:cubicBezTo>
                    <a:cubicBezTo>
                      <a:pt x="215" y="435"/>
                      <a:pt x="245" y="464"/>
                      <a:pt x="245" y="500"/>
                    </a:cubicBezTo>
                    <a:close/>
                    <a:moveTo>
                      <a:pt x="820" y="420"/>
                    </a:moveTo>
                    <a:cubicBezTo>
                      <a:pt x="820" y="453"/>
                      <a:pt x="793" y="480"/>
                      <a:pt x="760" y="480"/>
                    </a:cubicBezTo>
                    <a:cubicBezTo>
                      <a:pt x="726" y="480"/>
                      <a:pt x="700" y="453"/>
                      <a:pt x="700" y="420"/>
                    </a:cubicBezTo>
                    <a:cubicBezTo>
                      <a:pt x="700" y="386"/>
                      <a:pt x="726" y="360"/>
                      <a:pt x="760" y="360"/>
                    </a:cubicBezTo>
                    <a:cubicBezTo>
                      <a:pt x="793" y="360"/>
                      <a:pt x="820" y="386"/>
                      <a:pt x="820" y="420"/>
                    </a:cubicBezTo>
                    <a:close/>
                  </a:path>
                </a:pathLst>
              </a:custGeom>
              <a:gradFill rotWithShape="1">
                <a:gsLst>
                  <a:gs pos="0">
                    <a:srgbClr val="FFF6C2"/>
                  </a:gs>
                  <a:gs pos="100000">
                    <a:srgbClr val="E9B90B"/>
                  </a:gs>
                </a:gsLst>
                <a:path path="circle">
                  <a:fillToRect l="35000" t="30000" r="65000" b="70000"/>
                </a:path>
              </a:gradFill>
              <a:ln w="9525" cap="rnd">
                <a:solidFill>
                  <a:srgbClr val="9A7D0A"/>
                </a:solidFill>
                <a:round/>
              </a:ln>
            </p:spPr>
          </p:sp>
          <p:grpSp>
            <p:nvGrpSpPr>
              <p:cNvPr id="61" name="Mitocondria_10"/>
              <p:cNvGrpSpPr/>
              <p:nvPr/>
            </p:nvGrpSpPr>
            <p:grpSpPr>
              <a:xfrm>
                <a:off x="1817370" y="5120640"/>
                <a:ext cx="182880" cy="91440"/>
                <a:chOff x="1817370" y="5120640"/>
                <a:chExt cx="182880" cy="91440"/>
              </a:xfrm>
            </p:grpSpPr>
            <p:sp>
              <p:nvSpPr>
                <p:cNvPr id="62" name="Forma 61"/>
                <p:cNvSpPr/>
                <p:nvPr/>
              </p:nvSpPr>
              <p:spPr>
                <a:xfrm rot="600000">
                  <a:off x="1817370" y="512064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63" name="Forma 62"/>
                <p:cNvSpPr/>
                <p:nvPr/>
              </p:nvSpPr>
              <p:spPr>
                <a:xfrm rot="600000">
                  <a:off x="1830172" y="5133442"/>
                  <a:ext cx="157277" cy="65837"/>
                </a:xfrm>
                <a:prstGeom prst="ellipse">
                  <a:avLst/>
                </a:prstGeom>
                <a:solidFill>
                  <a:srgbClr val="E7BFA9"/>
                </a:solidFill>
                <a:ln w="9525" cap="rnd">
                  <a:solidFill>
                    <a:srgbClr val="904217"/>
                  </a:solidFill>
                  <a:round/>
                </a:ln>
              </p:spPr>
            </p:sp>
            <p:sp>
              <p:nvSpPr>
                <p:cNvPr id="64" name="Forma 63"/>
                <p:cNvSpPr/>
                <p:nvPr/>
              </p:nvSpPr>
              <p:spPr>
                <a:xfrm rot="600000">
                  <a:off x="1830172" y="513344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65" name="Mitocondria_11"/>
              <p:cNvGrpSpPr/>
              <p:nvPr/>
            </p:nvGrpSpPr>
            <p:grpSpPr>
              <a:xfrm>
                <a:off x="1988820" y="5326380"/>
                <a:ext cx="182880" cy="91440"/>
                <a:chOff x="1988820" y="5326380"/>
                <a:chExt cx="182880" cy="91440"/>
              </a:xfrm>
            </p:grpSpPr>
            <p:sp>
              <p:nvSpPr>
                <p:cNvPr id="66" name="Forma 65"/>
                <p:cNvSpPr/>
                <p:nvPr/>
              </p:nvSpPr>
              <p:spPr>
                <a:xfrm rot="-1800000">
                  <a:off x="1988820" y="532638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67" name="Forma 66"/>
                <p:cNvSpPr/>
                <p:nvPr/>
              </p:nvSpPr>
              <p:spPr>
                <a:xfrm rot="-1800000">
                  <a:off x="2001622" y="5339182"/>
                  <a:ext cx="157277" cy="65837"/>
                </a:xfrm>
                <a:prstGeom prst="ellipse">
                  <a:avLst/>
                </a:prstGeom>
                <a:solidFill>
                  <a:srgbClr val="E7BFA9"/>
                </a:solidFill>
                <a:ln w="9525" cap="rnd">
                  <a:solidFill>
                    <a:srgbClr val="904217"/>
                  </a:solidFill>
                  <a:round/>
                </a:ln>
              </p:spPr>
            </p:sp>
            <p:sp>
              <p:nvSpPr>
                <p:cNvPr id="68" name="Forma 67"/>
                <p:cNvSpPr/>
                <p:nvPr/>
              </p:nvSpPr>
              <p:spPr>
                <a:xfrm rot="-1800000">
                  <a:off x="2001622" y="533918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69" name="Mitocondria_12"/>
              <p:cNvGrpSpPr/>
              <p:nvPr/>
            </p:nvGrpSpPr>
            <p:grpSpPr>
              <a:xfrm>
                <a:off x="1554480" y="5692140"/>
                <a:ext cx="182880" cy="91440"/>
                <a:chOff x="1554480" y="5692140"/>
                <a:chExt cx="182880" cy="91440"/>
              </a:xfrm>
            </p:grpSpPr>
            <p:sp>
              <p:nvSpPr>
                <p:cNvPr id="70" name="Forma 69"/>
                <p:cNvSpPr/>
                <p:nvPr/>
              </p:nvSpPr>
              <p:spPr>
                <a:xfrm rot="3600000">
                  <a:off x="1554480" y="569214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71" name="Forma 70"/>
                <p:cNvSpPr/>
                <p:nvPr/>
              </p:nvSpPr>
              <p:spPr>
                <a:xfrm rot="3600000">
                  <a:off x="1567282" y="5704942"/>
                  <a:ext cx="157277" cy="65837"/>
                </a:xfrm>
                <a:prstGeom prst="ellipse">
                  <a:avLst/>
                </a:prstGeom>
                <a:solidFill>
                  <a:srgbClr val="E7BFA9"/>
                </a:solidFill>
                <a:ln w="9525" cap="rnd">
                  <a:solidFill>
                    <a:srgbClr val="904217"/>
                  </a:solidFill>
                  <a:round/>
                </a:ln>
              </p:spPr>
            </p:sp>
            <p:sp>
              <p:nvSpPr>
                <p:cNvPr id="72" name="Forma 71"/>
                <p:cNvSpPr/>
                <p:nvPr/>
              </p:nvSpPr>
              <p:spPr>
                <a:xfrm rot="3600000">
                  <a:off x="1567282" y="570494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73" name="Mitocondria_13"/>
              <p:cNvGrpSpPr/>
              <p:nvPr/>
            </p:nvGrpSpPr>
            <p:grpSpPr>
              <a:xfrm>
                <a:off x="2080260" y="5669280"/>
                <a:ext cx="182880" cy="91440"/>
                <a:chOff x="2080260" y="5669280"/>
                <a:chExt cx="182880" cy="91440"/>
              </a:xfrm>
            </p:grpSpPr>
            <p:sp>
              <p:nvSpPr>
                <p:cNvPr id="74" name="Forma 73"/>
                <p:cNvSpPr/>
                <p:nvPr/>
              </p:nvSpPr>
              <p:spPr>
                <a:xfrm rot="1200000">
                  <a:off x="2080260" y="566928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75" name="Forma 74"/>
                <p:cNvSpPr/>
                <p:nvPr/>
              </p:nvSpPr>
              <p:spPr>
                <a:xfrm rot="1200000">
                  <a:off x="2093062" y="5682082"/>
                  <a:ext cx="157277" cy="65837"/>
                </a:xfrm>
                <a:prstGeom prst="ellipse">
                  <a:avLst/>
                </a:prstGeom>
                <a:solidFill>
                  <a:srgbClr val="E7BFA9"/>
                </a:solidFill>
                <a:ln w="9525" cap="rnd">
                  <a:solidFill>
                    <a:srgbClr val="904217"/>
                  </a:solidFill>
                  <a:round/>
                </a:ln>
              </p:spPr>
            </p:sp>
            <p:sp>
              <p:nvSpPr>
                <p:cNvPr id="76" name="Forma 75"/>
                <p:cNvSpPr/>
                <p:nvPr/>
              </p:nvSpPr>
              <p:spPr>
                <a:xfrm rot="1200000">
                  <a:off x="2093062" y="568208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77" name="Mitocondria_14"/>
              <p:cNvGrpSpPr/>
              <p:nvPr/>
            </p:nvGrpSpPr>
            <p:grpSpPr>
              <a:xfrm>
                <a:off x="2125980" y="5943600"/>
                <a:ext cx="182880" cy="91440"/>
                <a:chOff x="2125980" y="5943600"/>
                <a:chExt cx="182880" cy="91440"/>
              </a:xfrm>
            </p:grpSpPr>
            <p:sp>
              <p:nvSpPr>
                <p:cNvPr id="78" name="Forma 77"/>
                <p:cNvSpPr/>
                <p:nvPr/>
              </p:nvSpPr>
              <p:spPr>
                <a:xfrm rot="-600000">
                  <a:off x="2125980" y="594360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79" name="Forma 78"/>
                <p:cNvSpPr/>
                <p:nvPr/>
              </p:nvSpPr>
              <p:spPr>
                <a:xfrm rot="-600000">
                  <a:off x="2138782" y="5956402"/>
                  <a:ext cx="157277" cy="65837"/>
                </a:xfrm>
                <a:prstGeom prst="ellipse">
                  <a:avLst/>
                </a:prstGeom>
                <a:solidFill>
                  <a:srgbClr val="E7BFA9"/>
                </a:solidFill>
                <a:ln w="9525" cap="rnd">
                  <a:solidFill>
                    <a:srgbClr val="904217"/>
                  </a:solidFill>
                  <a:round/>
                </a:ln>
              </p:spPr>
            </p:sp>
            <p:sp>
              <p:nvSpPr>
                <p:cNvPr id="80" name="Forma 79"/>
                <p:cNvSpPr/>
                <p:nvPr/>
              </p:nvSpPr>
              <p:spPr>
                <a:xfrm rot="-600000">
                  <a:off x="2138782" y="595640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81" name="Mitocondria_15"/>
              <p:cNvGrpSpPr/>
              <p:nvPr/>
            </p:nvGrpSpPr>
            <p:grpSpPr>
              <a:xfrm>
                <a:off x="1828800" y="5554980"/>
                <a:ext cx="182880" cy="91440"/>
                <a:chOff x="1828800" y="5554980"/>
                <a:chExt cx="182880" cy="91440"/>
              </a:xfrm>
            </p:grpSpPr>
            <p:sp>
              <p:nvSpPr>
                <p:cNvPr id="82" name="Forma 81"/>
                <p:cNvSpPr/>
                <p:nvPr/>
              </p:nvSpPr>
              <p:spPr>
                <a:xfrm rot="4800000">
                  <a:off x="1828800" y="555498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83" name="Forma 82"/>
                <p:cNvSpPr/>
                <p:nvPr/>
              </p:nvSpPr>
              <p:spPr>
                <a:xfrm rot="4800000">
                  <a:off x="1841602" y="5567782"/>
                  <a:ext cx="157277" cy="65837"/>
                </a:xfrm>
                <a:prstGeom prst="ellipse">
                  <a:avLst/>
                </a:prstGeom>
                <a:solidFill>
                  <a:srgbClr val="E7BFA9"/>
                </a:solidFill>
                <a:ln w="9525" cap="rnd">
                  <a:solidFill>
                    <a:srgbClr val="904217"/>
                  </a:solidFill>
                  <a:round/>
                </a:ln>
              </p:spPr>
            </p:sp>
            <p:sp>
              <p:nvSpPr>
                <p:cNvPr id="84" name="Forma 83"/>
                <p:cNvSpPr/>
                <p:nvPr/>
              </p:nvSpPr>
              <p:spPr>
                <a:xfrm rot="4800000">
                  <a:off x="1841602" y="556778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85" name="Mitocondria_16"/>
              <p:cNvGrpSpPr/>
              <p:nvPr/>
            </p:nvGrpSpPr>
            <p:grpSpPr>
              <a:xfrm>
                <a:off x="2331720" y="5897880"/>
                <a:ext cx="182880" cy="91440"/>
                <a:chOff x="2331720" y="5897880"/>
                <a:chExt cx="182880" cy="91440"/>
              </a:xfrm>
            </p:grpSpPr>
            <p:sp>
              <p:nvSpPr>
                <p:cNvPr id="86" name="Forma 85"/>
                <p:cNvSpPr/>
                <p:nvPr/>
              </p:nvSpPr>
              <p:spPr>
                <a:xfrm rot="2400000">
                  <a:off x="2331720" y="5897880"/>
                  <a:ext cx="182880" cy="91440"/>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87" name="Forma 86"/>
                <p:cNvSpPr/>
                <p:nvPr/>
              </p:nvSpPr>
              <p:spPr>
                <a:xfrm rot="2400000">
                  <a:off x="2344522" y="5910682"/>
                  <a:ext cx="157277" cy="65837"/>
                </a:xfrm>
                <a:prstGeom prst="ellipse">
                  <a:avLst/>
                </a:prstGeom>
                <a:solidFill>
                  <a:srgbClr val="E7BFA9"/>
                </a:solidFill>
                <a:ln w="9525" cap="rnd">
                  <a:solidFill>
                    <a:srgbClr val="904217"/>
                  </a:solidFill>
                  <a:round/>
                </a:ln>
              </p:spPr>
            </p:sp>
            <p:sp>
              <p:nvSpPr>
                <p:cNvPr id="88" name="Forma 87"/>
                <p:cNvSpPr/>
                <p:nvPr/>
              </p:nvSpPr>
              <p:spPr>
                <a:xfrm rot="2400000">
                  <a:off x="2344522" y="5910682"/>
                  <a:ext cx="157277" cy="65837"/>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89" name="Núcleo_2"/>
              <p:cNvGrpSpPr/>
              <p:nvPr/>
            </p:nvGrpSpPr>
            <p:grpSpPr>
              <a:xfrm>
                <a:off x="1874520" y="5417820"/>
                <a:ext cx="228600" cy="205740"/>
                <a:chOff x="1874520" y="5417820"/>
                <a:chExt cx="228600" cy="205740"/>
              </a:xfrm>
            </p:grpSpPr>
            <p:sp>
              <p:nvSpPr>
                <p:cNvPr id="90" name="Forma 89"/>
                <p:cNvSpPr/>
                <p:nvPr/>
              </p:nvSpPr>
              <p:spPr>
                <a:xfrm>
                  <a:off x="1874520" y="5417820"/>
                  <a:ext cx="228600" cy="205740"/>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91" name="Forma 90"/>
                <p:cNvSpPr/>
                <p:nvPr/>
              </p:nvSpPr>
              <p:spPr>
                <a:xfrm>
                  <a:off x="1993392" y="5486400"/>
                  <a:ext cx="50292" cy="45720"/>
                </a:xfrm>
                <a:prstGeom prst="ellipse">
                  <a:avLst/>
                </a:prstGeom>
                <a:solidFill>
                  <a:srgbClr val="513B6B"/>
                </a:solidFill>
                <a:ln>
                  <a:noFill/>
                </a:ln>
              </p:spPr>
            </p:sp>
          </p:grpSp>
        </p:grpSp>
      </p:grpSp>
      <p:graphicFrame>
        <p:nvGraphicFramePr>
          <p:cNvPr id="92" name="Tabla tipos"/>
          <p:cNvGraphicFramePr>
            <a:graphicFrameLocks noGrp="1"/>
          </p:cNvGraphicFramePr>
          <p:nvPr/>
        </p:nvGraphicFramePr>
        <p:xfrm>
          <a:off x="2651760" y="1143000"/>
          <a:ext cx="9189720" cy="4846320"/>
        </p:xfrm>
        <a:graphic>
          <a:graphicData uri="http://schemas.openxmlformats.org/drawingml/2006/table">
            <a:tbl>
              <a:tblPr firstRow="1" bandRow="1"/>
              <a:tblGrid>
                <a:gridCol w="1554480"/>
                <a:gridCol w="3840480"/>
                <a:gridCol w="3794760"/>
              </a:tblGrid>
              <a:tr h="45720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Tipo</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Morfología y marcadores</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Función predominante</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146304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Blanco (WAT)</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Unilocular: gota grande, núcleo periférico; perilipinas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Almacenar/ceder TAG; adipocinas; amortiguar flujos de AG</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146304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Pardo (BAT)</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Multilocular, muchas mitocondrias, UCP1 alta; muy vascularizado e inervado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Termogénesis sin escalofríos por desacoplamiento mitocondrial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146304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Beige / brite</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Termogénicos inducibles dentro de depósitos blancos; UCP1 variable</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Termogénesis adaptativa (frío, simpático); interés experimental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ADIPOCITOS BLANCOS, PARDOS Y BEIGE</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9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119</a:t>
            </a:r>
            <a:endParaRPr lang="es-AR" sz="1000" dirty="0">
              <a:latin typeface="Fira Sans Condensed"/>
            </a:endParaRP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Espacio intermembrana"/>
          <p:cNvSpPr/>
          <p:nvPr/>
        </p:nvSpPr>
        <p:spPr>
          <a:xfrm>
            <a:off x="365760" y="1097280"/>
            <a:ext cx="7315200" cy="1463040"/>
          </a:xfrm>
          <a:prstGeom prst="rect">
            <a:avLst/>
          </a:prstGeom>
          <a:solidFill>
            <a:srgbClr val="FADBD8">
              <a:alpha val="70000"/>
            </a:srgbClr>
          </a:solidFill>
          <a:ln w="12700" cap="rnd">
            <a:solidFill>
              <a:srgbClr val="1E1E1E"/>
            </a:solidFill>
            <a:round/>
          </a:ln>
        </p:spPr>
      </p:sp>
      <p:sp>
        <p:nvSpPr>
          <p:cNvPr id="7" name="Forma 6"/>
          <p:cNvSpPr txBox="1"/>
          <p:nvPr/>
        </p:nvSpPr>
        <p:spPr>
          <a:xfrm>
            <a:off x="457200" y="1143000"/>
            <a:ext cx="36576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ESPACIO INTERMEMBRANA (H⁺ alto)</a:t>
            </a:r>
            <a:endParaRPr lang="es-AR" sz="1200" dirty="0">
              <a:latin typeface="Fira Sans Condensed"/>
            </a:endParaRPr>
          </a:p>
        </p:txBody>
      </p:sp>
      <p:grpSp>
        <p:nvGrpSpPr>
          <p:cNvPr id="8" name="Membrana interna"/>
          <p:cNvGrpSpPr/>
          <p:nvPr/>
        </p:nvGrpSpPr>
        <p:grpSpPr>
          <a:xfrm>
            <a:off x="365760" y="2560320"/>
            <a:ext cx="7315200" cy="457200"/>
            <a:chOff x="365760" y="2560320"/>
            <a:chExt cx="7315200" cy="457200"/>
          </a:xfrm>
        </p:grpSpPr>
        <p:sp>
          <p:nvSpPr>
            <p:cNvPr id="9" name="Forma 8"/>
            <p:cNvSpPr/>
            <p:nvPr/>
          </p:nvSpPr>
          <p:spPr>
            <a:xfrm>
              <a:off x="365760" y="2642616"/>
              <a:ext cx="7315200" cy="292608"/>
            </a:xfrm>
            <a:prstGeom prst="rect">
              <a:avLst/>
            </a:prstGeom>
            <a:solidFill>
              <a:srgbClr val="FDEBD0"/>
            </a:solidFill>
            <a:ln>
              <a:noFill/>
            </a:ln>
          </p:spPr>
        </p:sp>
        <p:sp>
          <p:nvSpPr>
            <p:cNvPr id="10" name="Forma 9"/>
            <p:cNvSpPr/>
            <p:nvPr/>
          </p:nvSpPr>
          <p:spPr>
            <a:xfrm>
              <a:off x="365760" y="2560320"/>
              <a:ext cx="7315200" cy="457200"/>
            </a:xfrm>
            <a:custGeom>
              <a:avLst/>
              <a:gdLst/>
              <a:ahLst/>
              <a:cxnLst/>
              <a:rect l="0" t="0" r="r" b="b"/>
              <a:pathLst>
                <a:path w="8000" h="500">
                  <a:moveTo>
                    <a:pt x="97" y="47"/>
                  </a:moveTo>
                  <a:cubicBezTo>
                    <a:pt x="97" y="72"/>
                    <a:pt x="75" y="94"/>
                    <a:pt x="50" y="94"/>
                  </a:cubicBezTo>
                  <a:cubicBezTo>
                    <a:pt x="24" y="94"/>
                    <a:pt x="3" y="72"/>
                    <a:pt x="3" y="47"/>
                  </a:cubicBezTo>
                  <a:cubicBezTo>
                    <a:pt x="3" y="21"/>
                    <a:pt x="24" y="0"/>
                    <a:pt x="50" y="0"/>
                  </a:cubicBezTo>
                  <a:cubicBezTo>
                    <a:pt x="75" y="0"/>
                    <a:pt x="97" y="21"/>
                    <a:pt x="97" y="47"/>
                  </a:cubicBezTo>
                  <a:close/>
                  <a:moveTo>
                    <a:pt x="197" y="47"/>
                  </a:moveTo>
                  <a:cubicBezTo>
                    <a:pt x="197" y="72"/>
                    <a:pt x="175" y="94"/>
                    <a:pt x="150" y="94"/>
                  </a:cubicBezTo>
                  <a:cubicBezTo>
                    <a:pt x="124" y="94"/>
                    <a:pt x="103" y="72"/>
                    <a:pt x="103" y="47"/>
                  </a:cubicBezTo>
                  <a:cubicBezTo>
                    <a:pt x="103" y="21"/>
                    <a:pt x="124" y="0"/>
                    <a:pt x="150" y="0"/>
                  </a:cubicBezTo>
                  <a:cubicBezTo>
                    <a:pt x="175" y="0"/>
                    <a:pt x="197" y="21"/>
                    <a:pt x="197" y="47"/>
                  </a:cubicBezTo>
                  <a:close/>
                  <a:moveTo>
                    <a:pt x="297" y="47"/>
                  </a:moveTo>
                  <a:cubicBezTo>
                    <a:pt x="297" y="72"/>
                    <a:pt x="275" y="94"/>
                    <a:pt x="250" y="94"/>
                  </a:cubicBezTo>
                  <a:cubicBezTo>
                    <a:pt x="224" y="94"/>
                    <a:pt x="203" y="72"/>
                    <a:pt x="203" y="47"/>
                  </a:cubicBezTo>
                  <a:cubicBezTo>
                    <a:pt x="203" y="21"/>
                    <a:pt x="224" y="0"/>
                    <a:pt x="250" y="0"/>
                  </a:cubicBezTo>
                  <a:cubicBezTo>
                    <a:pt x="275" y="0"/>
                    <a:pt x="297" y="21"/>
                    <a:pt x="297" y="47"/>
                  </a:cubicBezTo>
                  <a:close/>
                  <a:moveTo>
                    <a:pt x="397" y="47"/>
                  </a:moveTo>
                  <a:cubicBezTo>
                    <a:pt x="397" y="72"/>
                    <a:pt x="375" y="94"/>
                    <a:pt x="350" y="94"/>
                  </a:cubicBezTo>
                  <a:cubicBezTo>
                    <a:pt x="324" y="94"/>
                    <a:pt x="303" y="72"/>
                    <a:pt x="303" y="47"/>
                  </a:cubicBezTo>
                  <a:cubicBezTo>
                    <a:pt x="303" y="21"/>
                    <a:pt x="324" y="0"/>
                    <a:pt x="350" y="0"/>
                  </a:cubicBezTo>
                  <a:cubicBezTo>
                    <a:pt x="375" y="0"/>
                    <a:pt x="397" y="21"/>
                    <a:pt x="397" y="47"/>
                  </a:cubicBezTo>
                  <a:close/>
                  <a:moveTo>
                    <a:pt x="497" y="47"/>
                  </a:moveTo>
                  <a:cubicBezTo>
                    <a:pt x="497" y="72"/>
                    <a:pt x="475" y="94"/>
                    <a:pt x="450" y="94"/>
                  </a:cubicBezTo>
                  <a:cubicBezTo>
                    <a:pt x="424" y="94"/>
                    <a:pt x="403" y="72"/>
                    <a:pt x="403" y="47"/>
                  </a:cubicBezTo>
                  <a:cubicBezTo>
                    <a:pt x="403" y="21"/>
                    <a:pt x="424" y="0"/>
                    <a:pt x="450" y="0"/>
                  </a:cubicBezTo>
                  <a:cubicBezTo>
                    <a:pt x="475" y="0"/>
                    <a:pt x="497" y="21"/>
                    <a:pt x="497" y="47"/>
                  </a:cubicBezTo>
                  <a:close/>
                  <a:moveTo>
                    <a:pt x="597" y="47"/>
                  </a:moveTo>
                  <a:cubicBezTo>
                    <a:pt x="597" y="72"/>
                    <a:pt x="575" y="94"/>
                    <a:pt x="550" y="94"/>
                  </a:cubicBezTo>
                  <a:cubicBezTo>
                    <a:pt x="524" y="94"/>
                    <a:pt x="503" y="72"/>
                    <a:pt x="503" y="47"/>
                  </a:cubicBezTo>
                  <a:cubicBezTo>
                    <a:pt x="503" y="21"/>
                    <a:pt x="524" y="0"/>
                    <a:pt x="550" y="0"/>
                  </a:cubicBezTo>
                  <a:cubicBezTo>
                    <a:pt x="575" y="0"/>
                    <a:pt x="597" y="21"/>
                    <a:pt x="597" y="47"/>
                  </a:cubicBezTo>
                  <a:close/>
                  <a:moveTo>
                    <a:pt x="697" y="47"/>
                  </a:moveTo>
                  <a:cubicBezTo>
                    <a:pt x="697" y="72"/>
                    <a:pt x="675" y="94"/>
                    <a:pt x="650" y="94"/>
                  </a:cubicBezTo>
                  <a:cubicBezTo>
                    <a:pt x="624" y="94"/>
                    <a:pt x="603" y="72"/>
                    <a:pt x="603" y="47"/>
                  </a:cubicBezTo>
                  <a:cubicBezTo>
                    <a:pt x="603" y="21"/>
                    <a:pt x="624" y="0"/>
                    <a:pt x="650" y="0"/>
                  </a:cubicBezTo>
                  <a:cubicBezTo>
                    <a:pt x="675" y="0"/>
                    <a:pt x="697" y="21"/>
                    <a:pt x="697" y="47"/>
                  </a:cubicBezTo>
                  <a:close/>
                  <a:moveTo>
                    <a:pt x="797" y="47"/>
                  </a:moveTo>
                  <a:cubicBezTo>
                    <a:pt x="797" y="72"/>
                    <a:pt x="775" y="94"/>
                    <a:pt x="750" y="94"/>
                  </a:cubicBezTo>
                  <a:cubicBezTo>
                    <a:pt x="724" y="94"/>
                    <a:pt x="703" y="72"/>
                    <a:pt x="703" y="47"/>
                  </a:cubicBezTo>
                  <a:cubicBezTo>
                    <a:pt x="703" y="21"/>
                    <a:pt x="724" y="0"/>
                    <a:pt x="750" y="0"/>
                  </a:cubicBezTo>
                  <a:cubicBezTo>
                    <a:pt x="775" y="0"/>
                    <a:pt x="797" y="21"/>
                    <a:pt x="797" y="47"/>
                  </a:cubicBezTo>
                  <a:close/>
                  <a:moveTo>
                    <a:pt x="897" y="47"/>
                  </a:moveTo>
                  <a:cubicBezTo>
                    <a:pt x="897" y="72"/>
                    <a:pt x="875" y="94"/>
                    <a:pt x="850" y="94"/>
                  </a:cubicBezTo>
                  <a:cubicBezTo>
                    <a:pt x="824" y="94"/>
                    <a:pt x="803" y="72"/>
                    <a:pt x="803" y="47"/>
                  </a:cubicBezTo>
                  <a:cubicBezTo>
                    <a:pt x="803" y="21"/>
                    <a:pt x="824" y="0"/>
                    <a:pt x="850" y="0"/>
                  </a:cubicBezTo>
                  <a:cubicBezTo>
                    <a:pt x="875" y="0"/>
                    <a:pt x="897" y="21"/>
                    <a:pt x="897" y="47"/>
                  </a:cubicBezTo>
                  <a:close/>
                  <a:moveTo>
                    <a:pt x="997" y="47"/>
                  </a:moveTo>
                  <a:cubicBezTo>
                    <a:pt x="997" y="72"/>
                    <a:pt x="975" y="94"/>
                    <a:pt x="950" y="94"/>
                  </a:cubicBezTo>
                  <a:cubicBezTo>
                    <a:pt x="924" y="94"/>
                    <a:pt x="903" y="72"/>
                    <a:pt x="903" y="47"/>
                  </a:cubicBezTo>
                  <a:cubicBezTo>
                    <a:pt x="903" y="21"/>
                    <a:pt x="924" y="0"/>
                    <a:pt x="950" y="0"/>
                  </a:cubicBezTo>
                  <a:cubicBezTo>
                    <a:pt x="975" y="0"/>
                    <a:pt x="997" y="21"/>
                    <a:pt x="997" y="47"/>
                  </a:cubicBezTo>
                  <a:close/>
                  <a:moveTo>
                    <a:pt x="1097" y="47"/>
                  </a:moveTo>
                  <a:cubicBezTo>
                    <a:pt x="1097" y="72"/>
                    <a:pt x="1075" y="94"/>
                    <a:pt x="1050" y="94"/>
                  </a:cubicBezTo>
                  <a:cubicBezTo>
                    <a:pt x="1024" y="94"/>
                    <a:pt x="1003" y="72"/>
                    <a:pt x="1003" y="47"/>
                  </a:cubicBezTo>
                  <a:cubicBezTo>
                    <a:pt x="1003" y="21"/>
                    <a:pt x="1024" y="0"/>
                    <a:pt x="1050" y="0"/>
                  </a:cubicBezTo>
                  <a:cubicBezTo>
                    <a:pt x="1075" y="0"/>
                    <a:pt x="1097" y="21"/>
                    <a:pt x="1097" y="47"/>
                  </a:cubicBezTo>
                  <a:close/>
                  <a:moveTo>
                    <a:pt x="1197" y="47"/>
                  </a:moveTo>
                  <a:cubicBezTo>
                    <a:pt x="1197" y="72"/>
                    <a:pt x="1175" y="94"/>
                    <a:pt x="1150" y="94"/>
                  </a:cubicBezTo>
                  <a:cubicBezTo>
                    <a:pt x="1124" y="94"/>
                    <a:pt x="1103" y="72"/>
                    <a:pt x="1103" y="47"/>
                  </a:cubicBezTo>
                  <a:cubicBezTo>
                    <a:pt x="1103" y="21"/>
                    <a:pt x="1124" y="0"/>
                    <a:pt x="1150" y="0"/>
                  </a:cubicBezTo>
                  <a:cubicBezTo>
                    <a:pt x="1175" y="0"/>
                    <a:pt x="1197" y="21"/>
                    <a:pt x="1197" y="47"/>
                  </a:cubicBezTo>
                  <a:close/>
                  <a:moveTo>
                    <a:pt x="1297" y="47"/>
                  </a:moveTo>
                  <a:cubicBezTo>
                    <a:pt x="1297" y="72"/>
                    <a:pt x="1275" y="94"/>
                    <a:pt x="1250" y="94"/>
                  </a:cubicBezTo>
                  <a:cubicBezTo>
                    <a:pt x="1224" y="94"/>
                    <a:pt x="1203" y="72"/>
                    <a:pt x="1203" y="47"/>
                  </a:cubicBezTo>
                  <a:cubicBezTo>
                    <a:pt x="1203" y="21"/>
                    <a:pt x="1224" y="0"/>
                    <a:pt x="1250" y="0"/>
                  </a:cubicBezTo>
                  <a:cubicBezTo>
                    <a:pt x="1275" y="0"/>
                    <a:pt x="1297" y="21"/>
                    <a:pt x="1297" y="47"/>
                  </a:cubicBezTo>
                  <a:close/>
                  <a:moveTo>
                    <a:pt x="1397" y="47"/>
                  </a:moveTo>
                  <a:cubicBezTo>
                    <a:pt x="1397" y="72"/>
                    <a:pt x="1375" y="94"/>
                    <a:pt x="1350" y="94"/>
                  </a:cubicBezTo>
                  <a:cubicBezTo>
                    <a:pt x="1324" y="94"/>
                    <a:pt x="1303" y="72"/>
                    <a:pt x="1303" y="47"/>
                  </a:cubicBezTo>
                  <a:cubicBezTo>
                    <a:pt x="1303" y="21"/>
                    <a:pt x="1324" y="0"/>
                    <a:pt x="1350" y="0"/>
                  </a:cubicBezTo>
                  <a:cubicBezTo>
                    <a:pt x="1375" y="0"/>
                    <a:pt x="1397" y="21"/>
                    <a:pt x="1397" y="47"/>
                  </a:cubicBezTo>
                  <a:close/>
                  <a:moveTo>
                    <a:pt x="1497" y="47"/>
                  </a:moveTo>
                  <a:cubicBezTo>
                    <a:pt x="1497" y="72"/>
                    <a:pt x="1475" y="94"/>
                    <a:pt x="1450" y="94"/>
                  </a:cubicBezTo>
                  <a:cubicBezTo>
                    <a:pt x="1424" y="94"/>
                    <a:pt x="1403" y="72"/>
                    <a:pt x="1403" y="47"/>
                  </a:cubicBezTo>
                  <a:cubicBezTo>
                    <a:pt x="1403" y="21"/>
                    <a:pt x="1424" y="0"/>
                    <a:pt x="1450" y="0"/>
                  </a:cubicBezTo>
                  <a:cubicBezTo>
                    <a:pt x="1475" y="0"/>
                    <a:pt x="1497" y="21"/>
                    <a:pt x="1497" y="47"/>
                  </a:cubicBezTo>
                  <a:close/>
                  <a:moveTo>
                    <a:pt x="1597" y="47"/>
                  </a:moveTo>
                  <a:cubicBezTo>
                    <a:pt x="1597" y="72"/>
                    <a:pt x="1575" y="94"/>
                    <a:pt x="1550" y="94"/>
                  </a:cubicBezTo>
                  <a:cubicBezTo>
                    <a:pt x="1524" y="94"/>
                    <a:pt x="1503" y="72"/>
                    <a:pt x="1503" y="47"/>
                  </a:cubicBezTo>
                  <a:cubicBezTo>
                    <a:pt x="1503" y="21"/>
                    <a:pt x="1524" y="0"/>
                    <a:pt x="1550" y="0"/>
                  </a:cubicBezTo>
                  <a:cubicBezTo>
                    <a:pt x="1575" y="0"/>
                    <a:pt x="1597" y="21"/>
                    <a:pt x="1597" y="47"/>
                  </a:cubicBezTo>
                  <a:close/>
                  <a:moveTo>
                    <a:pt x="1697" y="47"/>
                  </a:moveTo>
                  <a:cubicBezTo>
                    <a:pt x="1697" y="72"/>
                    <a:pt x="1675" y="94"/>
                    <a:pt x="1650" y="94"/>
                  </a:cubicBezTo>
                  <a:cubicBezTo>
                    <a:pt x="1624" y="94"/>
                    <a:pt x="1603" y="72"/>
                    <a:pt x="1603" y="47"/>
                  </a:cubicBezTo>
                  <a:cubicBezTo>
                    <a:pt x="1603" y="21"/>
                    <a:pt x="1624" y="0"/>
                    <a:pt x="1650" y="0"/>
                  </a:cubicBezTo>
                  <a:cubicBezTo>
                    <a:pt x="1675" y="0"/>
                    <a:pt x="1697" y="21"/>
                    <a:pt x="1697" y="47"/>
                  </a:cubicBezTo>
                  <a:close/>
                  <a:moveTo>
                    <a:pt x="1797" y="47"/>
                  </a:moveTo>
                  <a:cubicBezTo>
                    <a:pt x="1797" y="72"/>
                    <a:pt x="1775" y="94"/>
                    <a:pt x="1750" y="94"/>
                  </a:cubicBezTo>
                  <a:cubicBezTo>
                    <a:pt x="1724" y="94"/>
                    <a:pt x="1703" y="72"/>
                    <a:pt x="1703" y="47"/>
                  </a:cubicBezTo>
                  <a:cubicBezTo>
                    <a:pt x="1703" y="21"/>
                    <a:pt x="1724" y="0"/>
                    <a:pt x="1750" y="0"/>
                  </a:cubicBezTo>
                  <a:cubicBezTo>
                    <a:pt x="1775" y="0"/>
                    <a:pt x="1797" y="21"/>
                    <a:pt x="1797" y="47"/>
                  </a:cubicBezTo>
                  <a:close/>
                  <a:moveTo>
                    <a:pt x="1897" y="47"/>
                  </a:moveTo>
                  <a:cubicBezTo>
                    <a:pt x="1897" y="72"/>
                    <a:pt x="1875" y="94"/>
                    <a:pt x="1850" y="94"/>
                  </a:cubicBezTo>
                  <a:cubicBezTo>
                    <a:pt x="1824" y="94"/>
                    <a:pt x="1803" y="72"/>
                    <a:pt x="1803" y="47"/>
                  </a:cubicBezTo>
                  <a:cubicBezTo>
                    <a:pt x="1803" y="21"/>
                    <a:pt x="1824" y="0"/>
                    <a:pt x="1850" y="0"/>
                  </a:cubicBezTo>
                  <a:cubicBezTo>
                    <a:pt x="1875" y="0"/>
                    <a:pt x="1897" y="21"/>
                    <a:pt x="1897" y="47"/>
                  </a:cubicBezTo>
                  <a:close/>
                  <a:moveTo>
                    <a:pt x="1997" y="47"/>
                  </a:moveTo>
                  <a:cubicBezTo>
                    <a:pt x="1997" y="72"/>
                    <a:pt x="1975" y="94"/>
                    <a:pt x="1950" y="94"/>
                  </a:cubicBezTo>
                  <a:cubicBezTo>
                    <a:pt x="1924" y="94"/>
                    <a:pt x="1903" y="72"/>
                    <a:pt x="1903" y="47"/>
                  </a:cubicBezTo>
                  <a:cubicBezTo>
                    <a:pt x="1903" y="21"/>
                    <a:pt x="1924" y="0"/>
                    <a:pt x="1950" y="0"/>
                  </a:cubicBezTo>
                  <a:cubicBezTo>
                    <a:pt x="1975" y="0"/>
                    <a:pt x="1997" y="21"/>
                    <a:pt x="1997" y="47"/>
                  </a:cubicBezTo>
                  <a:close/>
                  <a:moveTo>
                    <a:pt x="2097" y="47"/>
                  </a:moveTo>
                  <a:cubicBezTo>
                    <a:pt x="2097" y="72"/>
                    <a:pt x="2075" y="94"/>
                    <a:pt x="2050" y="94"/>
                  </a:cubicBezTo>
                  <a:cubicBezTo>
                    <a:pt x="2024" y="94"/>
                    <a:pt x="2003" y="72"/>
                    <a:pt x="2003" y="47"/>
                  </a:cubicBezTo>
                  <a:cubicBezTo>
                    <a:pt x="2003" y="21"/>
                    <a:pt x="2024" y="0"/>
                    <a:pt x="2050" y="0"/>
                  </a:cubicBezTo>
                  <a:cubicBezTo>
                    <a:pt x="2075" y="0"/>
                    <a:pt x="2097" y="21"/>
                    <a:pt x="2097" y="47"/>
                  </a:cubicBezTo>
                  <a:close/>
                  <a:moveTo>
                    <a:pt x="2197" y="47"/>
                  </a:moveTo>
                  <a:cubicBezTo>
                    <a:pt x="2197" y="72"/>
                    <a:pt x="2175" y="94"/>
                    <a:pt x="2150" y="94"/>
                  </a:cubicBezTo>
                  <a:cubicBezTo>
                    <a:pt x="2124" y="94"/>
                    <a:pt x="2103" y="72"/>
                    <a:pt x="2103" y="47"/>
                  </a:cubicBezTo>
                  <a:cubicBezTo>
                    <a:pt x="2103" y="21"/>
                    <a:pt x="2124" y="0"/>
                    <a:pt x="2150" y="0"/>
                  </a:cubicBezTo>
                  <a:cubicBezTo>
                    <a:pt x="2175" y="0"/>
                    <a:pt x="2197" y="21"/>
                    <a:pt x="2197" y="47"/>
                  </a:cubicBezTo>
                  <a:close/>
                  <a:moveTo>
                    <a:pt x="2297" y="47"/>
                  </a:moveTo>
                  <a:cubicBezTo>
                    <a:pt x="2297" y="72"/>
                    <a:pt x="2275" y="94"/>
                    <a:pt x="2250" y="94"/>
                  </a:cubicBezTo>
                  <a:cubicBezTo>
                    <a:pt x="2224" y="94"/>
                    <a:pt x="2203" y="72"/>
                    <a:pt x="2203" y="47"/>
                  </a:cubicBezTo>
                  <a:cubicBezTo>
                    <a:pt x="2203" y="21"/>
                    <a:pt x="2224" y="0"/>
                    <a:pt x="2250" y="0"/>
                  </a:cubicBezTo>
                  <a:cubicBezTo>
                    <a:pt x="2275" y="0"/>
                    <a:pt x="2297" y="21"/>
                    <a:pt x="2297" y="47"/>
                  </a:cubicBezTo>
                  <a:close/>
                  <a:moveTo>
                    <a:pt x="2397" y="47"/>
                  </a:moveTo>
                  <a:cubicBezTo>
                    <a:pt x="2397" y="72"/>
                    <a:pt x="2375" y="94"/>
                    <a:pt x="2350" y="94"/>
                  </a:cubicBezTo>
                  <a:cubicBezTo>
                    <a:pt x="2324" y="94"/>
                    <a:pt x="2303" y="72"/>
                    <a:pt x="2303" y="47"/>
                  </a:cubicBezTo>
                  <a:cubicBezTo>
                    <a:pt x="2303" y="21"/>
                    <a:pt x="2324" y="0"/>
                    <a:pt x="2350" y="0"/>
                  </a:cubicBezTo>
                  <a:cubicBezTo>
                    <a:pt x="2375" y="0"/>
                    <a:pt x="2397" y="21"/>
                    <a:pt x="2397" y="47"/>
                  </a:cubicBezTo>
                  <a:close/>
                  <a:moveTo>
                    <a:pt x="2497" y="47"/>
                  </a:moveTo>
                  <a:cubicBezTo>
                    <a:pt x="2497" y="72"/>
                    <a:pt x="2475" y="94"/>
                    <a:pt x="2450" y="94"/>
                  </a:cubicBezTo>
                  <a:cubicBezTo>
                    <a:pt x="2424" y="94"/>
                    <a:pt x="2403" y="72"/>
                    <a:pt x="2403" y="47"/>
                  </a:cubicBezTo>
                  <a:cubicBezTo>
                    <a:pt x="2403" y="21"/>
                    <a:pt x="2424" y="0"/>
                    <a:pt x="2450" y="0"/>
                  </a:cubicBezTo>
                  <a:cubicBezTo>
                    <a:pt x="2475" y="0"/>
                    <a:pt x="2497" y="21"/>
                    <a:pt x="2497" y="47"/>
                  </a:cubicBezTo>
                  <a:close/>
                  <a:moveTo>
                    <a:pt x="2597" y="47"/>
                  </a:moveTo>
                  <a:cubicBezTo>
                    <a:pt x="2597" y="72"/>
                    <a:pt x="2575" y="94"/>
                    <a:pt x="2550" y="94"/>
                  </a:cubicBezTo>
                  <a:cubicBezTo>
                    <a:pt x="2524" y="94"/>
                    <a:pt x="2503" y="72"/>
                    <a:pt x="2503" y="47"/>
                  </a:cubicBezTo>
                  <a:cubicBezTo>
                    <a:pt x="2503" y="21"/>
                    <a:pt x="2524" y="0"/>
                    <a:pt x="2550" y="0"/>
                  </a:cubicBezTo>
                  <a:cubicBezTo>
                    <a:pt x="2575" y="0"/>
                    <a:pt x="2597" y="21"/>
                    <a:pt x="2597" y="47"/>
                  </a:cubicBezTo>
                  <a:close/>
                  <a:moveTo>
                    <a:pt x="2697" y="47"/>
                  </a:moveTo>
                  <a:cubicBezTo>
                    <a:pt x="2697" y="72"/>
                    <a:pt x="2675" y="94"/>
                    <a:pt x="2650" y="94"/>
                  </a:cubicBezTo>
                  <a:cubicBezTo>
                    <a:pt x="2624" y="94"/>
                    <a:pt x="2603" y="72"/>
                    <a:pt x="2603" y="47"/>
                  </a:cubicBezTo>
                  <a:cubicBezTo>
                    <a:pt x="2603" y="21"/>
                    <a:pt x="2624" y="0"/>
                    <a:pt x="2650" y="0"/>
                  </a:cubicBezTo>
                  <a:cubicBezTo>
                    <a:pt x="2675" y="0"/>
                    <a:pt x="2697" y="21"/>
                    <a:pt x="2697" y="47"/>
                  </a:cubicBezTo>
                  <a:close/>
                  <a:moveTo>
                    <a:pt x="2797" y="47"/>
                  </a:moveTo>
                  <a:cubicBezTo>
                    <a:pt x="2797" y="72"/>
                    <a:pt x="2775" y="94"/>
                    <a:pt x="2750" y="94"/>
                  </a:cubicBezTo>
                  <a:cubicBezTo>
                    <a:pt x="2724" y="94"/>
                    <a:pt x="2703" y="72"/>
                    <a:pt x="2703" y="47"/>
                  </a:cubicBezTo>
                  <a:cubicBezTo>
                    <a:pt x="2703" y="21"/>
                    <a:pt x="2724" y="0"/>
                    <a:pt x="2750" y="0"/>
                  </a:cubicBezTo>
                  <a:cubicBezTo>
                    <a:pt x="2775" y="0"/>
                    <a:pt x="2797" y="21"/>
                    <a:pt x="2797" y="47"/>
                  </a:cubicBezTo>
                  <a:close/>
                  <a:moveTo>
                    <a:pt x="2897" y="47"/>
                  </a:moveTo>
                  <a:cubicBezTo>
                    <a:pt x="2897" y="72"/>
                    <a:pt x="2875" y="94"/>
                    <a:pt x="2850" y="94"/>
                  </a:cubicBezTo>
                  <a:cubicBezTo>
                    <a:pt x="2824" y="94"/>
                    <a:pt x="2803" y="72"/>
                    <a:pt x="2803" y="47"/>
                  </a:cubicBezTo>
                  <a:cubicBezTo>
                    <a:pt x="2803" y="21"/>
                    <a:pt x="2824" y="0"/>
                    <a:pt x="2850" y="0"/>
                  </a:cubicBezTo>
                  <a:cubicBezTo>
                    <a:pt x="2875" y="0"/>
                    <a:pt x="2897" y="21"/>
                    <a:pt x="2897" y="47"/>
                  </a:cubicBezTo>
                  <a:close/>
                  <a:moveTo>
                    <a:pt x="2997" y="47"/>
                  </a:moveTo>
                  <a:cubicBezTo>
                    <a:pt x="2997" y="72"/>
                    <a:pt x="2975" y="94"/>
                    <a:pt x="2950" y="94"/>
                  </a:cubicBezTo>
                  <a:cubicBezTo>
                    <a:pt x="2924" y="94"/>
                    <a:pt x="2903" y="72"/>
                    <a:pt x="2903" y="47"/>
                  </a:cubicBezTo>
                  <a:cubicBezTo>
                    <a:pt x="2903" y="21"/>
                    <a:pt x="2924" y="0"/>
                    <a:pt x="2950" y="0"/>
                  </a:cubicBezTo>
                  <a:cubicBezTo>
                    <a:pt x="2975" y="0"/>
                    <a:pt x="2997" y="21"/>
                    <a:pt x="2997" y="47"/>
                  </a:cubicBezTo>
                  <a:close/>
                  <a:moveTo>
                    <a:pt x="3097" y="47"/>
                  </a:moveTo>
                  <a:cubicBezTo>
                    <a:pt x="3097" y="72"/>
                    <a:pt x="3075" y="94"/>
                    <a:pt x="3050" y="94"/>
                  </a:cubicBezTo>
                  <a:cubicBezTo>
                    <a:pt x="3024" y="94"/>
                    <a:pt x="3003" y="72"/>
                    <a:pt x="3003" y="47"/>
                  </a:cubicBezTo>
                  <a:cubicBezTo>
                    <a:pt x="3003" y="21"/>
                    <a:pt x="3024" y="0"/>
                    <a:pt x="3050" y="0"/>
                  </a:cubicBezTo>
                  <a:cubicBezTo>
                    <a:pt x="3075" y="0"/>
                    <a:pt x="3097" y="21"/>
                    <a:pt x="3097" y="47"/>
                  </a:cubicBezTo>
                  <a:close/>
                  <a:moveTo>
                    <a:pt x="3197" y="47"/>
                  </a:moveTo>
                  <a:cubicBezTo>
                    <a:pt x="3197" y="72"/>
                    <a:pt x="3175" y="94"/>
                    <a:pt x="3150" y="94"/>
                  </a:cubicBezTo>
                  <a:cubicBezTo>
                    <a:pt x="3124" y="94"/>
                    <a:pt x="3103" y="72"/>
                    <a:pt x="3103" y="47"/>
                  </a:cubicBezTo>
                  <a:cubicBezTo>
                    <a:pt x="3103" y="21"/>
                    <a:pt x="3124" y="0"/>
                    <a:pt x="3150" y="0"/>
                  </a:cubicBezTo>
                  <a:cubicBezTo>
                    <a:pt x="3175" y="0"/>
                    <a:pt x="3197" y="21"/>
                    <a:pt x="3197" y="47"/>
                  </a:cubicBezTo>
                  <a:close/>
                  <a:moveTo>
                    <a:pt x="3297" y="47"/>
                  </a:moveTo>
                  <a:cubicBezTo>
                    <a:pt x="3297" y="72"/>
                    <a:pt x="3275" y="94"/>
                    <a:pt x="3250" y="94"/>
                  </a:cubicBezTo>
                  <a:cubicBezTo>
                    <a:pt x="3224" y="94"/>
                    <a:pt x="3203" y="72"/>
                    <a:pt x="3203" y="47"/>
                  </a:cubicBezTo>
                  <a:cubicBezTo>
                    <a:pt x="3203" y="21"/>
                    <a:pt x="3224" y="0"/>
                    <a:pt x="3250" y="0"/>
                  </a:cubicBezTo>
                  <a:cubicBezTo>
                    <a:pt x="3275" y="0"/>
                    <a:pt x="3297" y="21"/>
                    <a:pt x="3297" y="47"/>
                  </a:cubicBezTo>
                  <a:close/>
                  <a:moveTo>
                    <a:pt x="3397" y="47"/>
                  </a:moveTo>
                  <a:cubicBezTo>
                    <a:pt x="3397" y="72"/>
                    <a:pt x="3375" y="94"/>
                    <a:pt x="3350" y="94"/>
                  </a:cubicBezTo>
                  <a:cubicBezTo>
                    <a:pt x="3324" y="94"/>
                    <a:pt x="3303" y="72"/>
                    <a:pt x="3303" y="47"/>
                  </a:cubicBezTo>
                  <a:cubicBezTo>
                    <a:pt x="3303" y="21"/>
                    <a:pt x="3324" y="0"/>
                    <a:pt x="3350" y="0"/>
                  </a:cubicBezTo>
                  <a:cubicBezTo>
                    <a:pt x="3375" y="0"/>
                    <a:pt x="3397" y="21"/>
                    <a:pt x="3397" y="47"/>
                  </a:cubicBezTo>
                  <a:close/>
                  <a:moveTo>
                    <a:pt x="3497" y="47"/>
                  </a:moveTo>
                  <a:cubicBezTo>
                    <a:pt x="3497" y="72"/>
                    <a:pt x="3475" y="94"/>
                    <a:pt x="3450" y="94"/>
                  </a:cubicBezTo>
                  <a:cubicBezTo>
                    <a:pt x="3424" y="94"/>
                    <a:pt x="3403" y="72"/>
                    <a:pt x="3403" y="47"/>
                  </a:cubicBezTo>
                  <a:cubicBezTo>
                    <a:pt x="3403" y="21"/>
                    <a:pt x="3424" y="0"/>
                    <a:pt x="3450" y="0"/>
                  </a:cubicBezTo>
                  <a:cubicBezTo>
                    <a:pt x="3475" y="0"/>
                    <a:pt x="3497" y="21"/>
                    <a:pt x="3497" y="47"/>
                  </a:cubicBezTo>
                  <a:close/>
                  <a:moveTo>
                    <a:pt x="3597" y="47"/>
                  </a:moveTo>
                  <a:cubicBezTo>
                    <a:pt x="3597" y="72"/>
                    <a:pt x="3575" y="94"/>
                    <a:pt x="3550" y="94"/>
                  </a:cubicBezTo>
                  <a:cubicBezTo>
                    <a:pt x="3524" y="94"/>
                    <a:pt x="3503" y="72"/>
                    <a:pt x="3503" y="47"/>
                  </a:cubicBezTo>
                  <a:cubicBezTo>
                    <a:pt x="3503" y="21"/>
                    <a:pt x="3524" y="0"/>
                    <a:pt x="3550" y="0"/>
                  </a:cubicBezTo>
                  <a:cubicBezTo>
                    <a:pt x="3575" y="0"/>
                    <a:pt x="3597" y="21"/>
                    <a:pt x="3597" y="47"/>
                  </a:cubicBezTo>
                  <a:close/>
                  <a:moveTo>
                    <a:pt x="3697" y="47"/>
                  </a:moveTo>
                  <a:cubicBezTo>
                    <a:pt x="3697" y="72"/>
                    <a:pt x="3675" y="94"/>
                    <a:pt x="3650" y="94"/>
                  </a:cubicBezTo>
                  <a:cubicBezTo>
                    <a:pt x="3624" y="94"/>
                    <a:pt x="3603" y="72"/>
                    <a:pt x="3603" y="47"/>
                  </a:cubicBezTo>
                  <a:cubicBezTo>
                    <a:pt x="3603" y="21"/>
                    <a:pt x="3624" y="0"/>
                    <a:pt x="3650" y="0"/>
                  </a:cubicBezTo>
                  <a:cubicBezTo>
                    <a:pt x="3675" y="0"/>
                    <a:pt x="3697" y="21"/>
                    <a:pt x="3697" y="47"/>
                  </a:cubicBezTo>
                  <a:close/>
                  <a:moveTo>
                    <a:pt x="3797" y="47"/>
                  </a:moveTo>
                  <a:cubicBezTo>
                    <a:pt x="3797" y="72"/>
                    <a:pt x="3775" y="94"/>
                    <a:pt x="3750" y="94"/>
                  </a:cubicBezTo>
                  <a:cubicBezTo>
                    <a:pt x="3724" y="94"/>
                    <a:pt x="3703" y="72"/>
                    <a:pt x="3703" y="47"/>
                  </a:cubicBezTo>
                  <a:cubicBezTo>
                    <a:pt x="3703" y="21"/>
                    <a:pt x="3724" y="0"/>
                    <a:pt x="3750" y="0"/>
                  </a:cubicBezTo>
                  <a:cubicBezTo>
                    <a:pt x="3775" y="0"/>
                    <a:pt x="3797" y="21"/>
                    <a:pt x="3797" y="47"/>
                  </a:cubicBezTo>
                  <a:close/>
                  <a:moveTo>
                    <a:pt x="3897" y="47"/>
                  </a:moveTo>
                  <a:cubicBezTo>
                    <a:pt x="3897" y="72"/>
                    <a:pt x="3875" y="94"/>
                    <a:pt x="3850" y="94"/>
                  </a:cubicBezTo>
                  <a:cubicBezTo>
                    <a:pt x="3824" y="94"/>
                    <a:pt x="3803" y="72"/>
                    <a:pt x="3803" y="47"/>
                  </a:cubicBezTo>
                  <a:cubicBezTo>
                    <a:pt x="3803" y="21"/>
                    <a:pt x="3824" y="0"/>
                    <a:pt x="3850" y="0"/>
                  </a:cubicBezTo>
                  <a:cubicBezTo>
                    <a:pt x="3875" y="0"/>
                    <a:pt x="3897" y="21"/>
                    <a:pt x="3897" y="47"/>
                  </a:cubicBezTo>
                  <a:close/>
                  <a:moveTo>
                    <a:pt x="3997" y="47"/>
                  </a:moveTo>
                  <a:cubicBezTo>
                    <a:pt x="3997" y="72"/>
                    <a:pt x="3975" y="94"/>
                    <a:pt x="3950" y="94"/>
                  </a:cubicBezTo>
                  <a:cubicBezTo>
                    <a:pt x="3924" y="94"/>
                    <a:pt x="3903" y="72"/>
                    <a:pt x="3903" y="47"/>
                  </a:cubicBezTo>
                  <a:cubicBezTo>
                    <a:pt x="3903" y="21"/>
                    <a:pt x="3924" y="0"/>
                    <a:pt x="3950" y="0"/>
                  </a:cubicBezTo>
                  <a:cubicBezTo>
                    <a:pt x="3975" y="0"/>
                    <a:pt x="3997" y="21"/>
                    <a:pt x="3997" y="47"/>
                  </a:cubicBezTo>
                  <a:close/>
                  <a:moveTo>
                    <a:pt x="4097" y="47"/>
                  </a:moveTo>
                  <a:cubicBezTo>
                    <a:pt x="4097" y="72"/>
                    <a:pt x="4075" y="94"/>
                    <a:pt x="4050" y="94"/>
                  </a:cubicBezTo>
                  <a:cubicBezTo>
                    <a:pt x="4024" y="94"/>
                    <a:pt x="4003" y="72"/>
                    <a:pt x="4003" y="47"/>
                  </a:cubicBezTo>
                  <a:cubicBezTo>
                    <a:pt x="4003" y="21"/>
                    <a:pt x="4024" y="0"/>
                    <a:pt x="4050" y="0"/>
                  </a:cubicBezTo>
                  <a:cubicBezTo>
                    <a:pt x="4075" y="0"/>
                    <a:pt x="4097" y="21"/>
                    <a:pt x="4097" y="47"/>
                  </a:cubicBezTo>
                  <a:close/>
                  <a:moveTo>
                    <a:pt x="4197" y="47"/>
                  </a:moveTo>
                  <a:cubicBezTo>
                    <a:pt x="4197" y="72"/>
                    <a:pt x="4175" y="94"/>
                    <a:pt x="4150" y="94"/>
                  </a:cubicBezTo>
                  <a:cubicBezTo>
                    <a:pt x="4124" y="94"/>
                    <a:pt x="4103" y="72"/>
                    <a:pt x="4103" y="47"/>
                  </a:cubicBezTo>
                  <a:cubicBezTo>
                    <a:pt x="4103" y="21"/>
                    <a:pt x="4124" y="0"/>
                    <a:pt x="4150" y="0"/>
                  </a:cubicBezTo>
                  <a:cubicBezTo>
                    <a:pt x="4175" y="0"/>
                    <a:pt x="4197" y="21"/>
                    <a:pt x="4197" y="47"/>
                  </a:cubicBezTo>
                  <a:close/>
                  <a:moveTo>
                    <a:pt x="4297" y="47"/>
                  </a:moveTo>
                  <a:cubicBezTo>
                    <a:pt x="4297" y="72"/>
                    <a:pt x="4275" y="94"/>
                    <a:pt x="4250" y="94"/>
                  </a:cubicBezTo>
                  <a:cubicBezTo>
                    <a:pt x="4224" y="94"/>
                    <a:pt x="4203" y="72"/>
                    <a:pt x="4203" y="47"/>
                  </a:cubicBezTo>
                  <a:cubicBezTo>
                    <a:pt x="4203" y="21"/>
                    <a:pt x="4224" y="0"/>
                    <a:pt x="4250" y="0"/>
                  </a:cubicBezTo>
                  <a:cubicBezTo>
                    <a:pt x="4275" y="0"/>
                    <a:pt x="4297" y="21"/>
                    <a:pt x="4297" y="47"/>
                  </a:cubicBezTo>
                  <a:close/>
                  <a:moveTo>
                    <a:pt x="4397" y="47"/>
                  </a:moveTo>
                  <a:cubicBezTo>
                    <a:pt x="4397" y="72"/>
                    <a:pt x="4375" y="94"/>
                    <a:pt x="4350" y="94"/>
                  </a:cubicBezTo>
                  <a:cubicBezTo>
                    <a:pt x="4324" y="94"/>
                    <a:pt x="4303" y="72"/>
                    <a:pt x="4303" y="47"/>
                  </a:cubicBezTo>
                  <a:cubicBezTo>
                    <a:pt x="4303" y="21"/>
                    <a:pt x="4324" y="0"/>
                    <a:pt x="4350" y="0"/>
                  </a:cubicBezTo>
                  <a:cubicBezTo>
                    <a:pt x="4375" y="0"/>
                    <a:pt x="4397" y="21"/>
                    <a:pt x="4397" y="47"/>
                  </a:cubicBezTo>
                  <a:close/>
                  <a:moveTo>
                    <a:pt x="4497" y="47"/>
                  </a:moveTo>
                  <a:cubicBezTo>
                    <a:pt x="4497" y="72"/>
                    <a:pt x="4475" y="94"/>
                    <a:pt x="4450" y="94"/>
                  </a:cubicBezTo>
                  <a:cubicBezTo>
                    <a:pt x="4424" y="94"/>
                    <a:pt x="4403" y="72"/>
                    <a:pt x="4403" y="47"/>
                  </a:cubicBezTo>
                  <a:cubicBezTo>
                    <a:pt x="4403" y="21"/>
                    <a:pt x="4424" y="0"/>
                    <a:pt x="4450" y="0"/>
                  </a:cubicBezTo>
                  <a:cubicBezTo>
                    <a:pt x="4475" y="0"/>
                    <a:pt x="4497" y="21"/>
                    <a:pt x="4497" y="47"/>
                  </a:cubicBezTo>
                  <a:close/>
                  <a:moveTo>
                    <a:pt x="4597" y="47"/>
                  </a:moveTo>
                  <a:cubicBezTo>
                    <a:pt x="4597" y="72"/>
                    <a:pt x="4575" y="94"/>
                    <a:pt x="4550" y="94"/>
                  </a:cubicBezTo>
                  <a:cubicBezTo>
                    <a:pt x="4524" y="94"/>
                    <a:pt x="4503" y="72"/>
                    <a:pt x="4503" y="47"/>
                  </a:cubicBezTo>
                  <a:cubicBezTo>
                    <a:pt x="4503" y="21"/>
                    <a:pt x="4524" y="0"/>
                    <a:pt x="4550" y="0"/>
                  </a:cubicBezTo>
                  <a:cubicBezTo>
                    <a:pt x="4575" y="0"/>
                    <a:pt x="4597" y="21"/>
                    <a:pt x="4597" y="47"/>
                  </a:cubicBezTo>
                  <a:close/>
                  <a:moveTo>
                    <a:pt x="4697" y="47"/>
                  </a:moveTo>
                  <a:cubicBezTo>
                    <a:pt x="4697" y="72"/>
                    <a:pt x="4675" y="94"/>
                    <a:pt x="4650" y="94"/>
                  </a:cubicBezTo>
                  <a:cubicBezTo>
                    <a:pt x="4624" y="94"/>
                    <a:pt x="4603" y="72"/>
                    <a:pt x="4603" y="47"/>
                  </a:cubicBezTo>
                  <a:cubicBezTo>
                    <a:pt x="4603" y="21"/>
                    <a:pt x="4624" y="0"/>
                    <a:pt x="4650" y="0"/>
                  </a:cubicBezTo>
                  <a:cubicBezTo>
                    <a:pt x="4675" y="0"/>
                    <a:pt x="4697" y="21"/>
                    <a:pt x="4697" y="47"/>
                  </a:cubicBezTo>
                  <a:close/>
                  <a:moveTo>
                    <a:pt x="4797" y="47"/>
                  </a:moveTo>
                  <a:cubicBezTo>
                    <a:pt x="4797" y="72"/>
                    <a:pt x="4775" y="94"/>
                    <a:pt x="4750" y="94"/>
                  </a:cubicBezTo>
                  <a:cubicBezTo>
                    <a:pt x="4724" y="94"/>
                    <a:pt x="4703" y="72"/>
                    <a:pt x="4703" y="47"/>
                  </a:cubicBezTo>
                  <a:cubicBezTo>
                    <a:pt x="4703" y="21"/>
                    <a:pt x="4724" y="0"/>
                    <a:pt x="4750" y="0"/>
                  </a:cubicBezTo>
                  <a:cubicBezTo>
                    <a:pt x="4775" y="0"/>
                    <a:pt x="4797" y="21"/>
                    <a:pt x="4797" y="47"/>
                  </a:cubicBezTo>
                  <a:close/>
                  <a:moveTo>
                    <a:pt x="4897" y="47"/>
                  </a:moveTo>
                  <a:cubicBezTo>
                    <a:pt x="4897" y="72"/>
                    <a:pt x="4875" y="94"/>
                    <a:pt x="4850" y="94"/>
                  </a:cubicBezTo>
                  <a:cubicBezTo>
                    <a:pt x="4824" y="94"/>
                    <a:pt x="4803" y="72"/>
                    <a:pt x="4803" y="47"/>
                  </a:cubicBezTo>
                  <a:cubicBezTo>
                    <a:pt x="4803" y="21"/>
                    <a:pt x="4824" y="0"/>
                    <a:pt x="4850" y="0"/>
                  </a:cubicBezTo>
                  <a:cubicBezTo>
                    <a:pt x="4875" y="0"/>
                    <a:pt x="4897" y="21"/>
                    <a:pt x="4897" y="47"/>
                  </a:cubicBezTo>
                  <a:close/>
                  <a:moveTo>
                    <a:pt x="4997" y="47"/>
                  </a:moveTo>
                  <a:cubicBezTo>
                    <a:pt x="4997" y="72"/>
                    <a:pt x="4975" y="94"/>
                    <a:pt x="4950" y="94"/>
                  </a:cubicBezTo>
                  <a:cubicBezTo>
                    <a:pt x="4924" y="94"/>
                    <a:pt x="4903" y="72"/>
                    <a:pt x="4903" y="47"/>
                  </a:cubicBezTo>
                  <a:cubicBezTo>
                    <a:pt x="4903" y="21"/>
                    <a:pt x="4924" y="0"/>
                    <a:pt x="4950" y="0"/>
                  </a:cubicBezTo>
                  <a:cubicBezTo>
                    <a:pt x="4975" y="0"/>
                    <a:pt x="4997" y="21"/>
                    <a:pt x="4997" y="47"/>
                  </a:cubicBezTo>
                  <a:close/>
                  <a:moveTo>
                    <a:pt x="5097" y="47"/>
                  </a:moveTo>
                  <a:cubicBezTo>
                    <a:pt x="5097" y="72"/>
                    <a:pt x="5075" y="94"/>
                    <a:pt x="5050" y="94"/>
                  </a:cubicBezTo>
                  <a:cubicBezTo>
                    <a:pt x="5024" y="94"/>
                    <a:pt x="5003" y="72"/>
                    <a:pt x="5003" y="47"/>
                  </a:cubicBezTo>
                  <a:cubicBezTo>
                    <a:pt x="5003" y="21"/>
                    <a:pt x="5024" y="0"/>
                    <a:pt x="5050" y="0"/>
                  </a:cubicBezTo>
                  <a:cubicBezTo>
                    <a:pt x="5075" y="0"/>
                    <a:pt x="5097" y="21"/>
                    <a:pt x="5097" y="47"/>
                  </a:cubicBezTo>
                  <a:close/>
                  <a:moveTo>
                    <a:pt x="5197" y="47"/>
                  </a:moveTo>
                  <a:cubicBezTo>
                    <a:pt x="5197" y="72"/>
                    <a:pt x="5175" y="94"/>
                    <a:pt x="5150" y="94"/>
                  </a:cubicBezTo>
                  <a:cubicBezTo>
                    <a:pt x="5124" y="94"/>
                    <a:pt x="5103" y="72"/>
                    <a:pt x="5103" y="47"/>
                  </a:cubicBezTo>
                  <a:cubicBezTo>
                    <a:pt x="5103" y="21"/>
                    <a:pt x="5124" y="0"/>
                    <a:pt x="5150" y="0"/>
                  </a:cubicBezTo>
                  <a:cubicBezTo>
                    <a:pt x="5175" y="0"/>
                    <a:pt x="5197" y="21"/>
                    <a:pt x="5197" y="47"/>
                  </a:cubicBezTo>
                  <a:close/>
                  <a:moveTo>
                    <a:pt x="5297" y="47"/>
                  </a:moveTo>
                  <a:cubicBezTo>
                    <a:pt x="5297" y="72"/>
                    <a:pt x="5275" y="94"/>
                    <a:pt x="5250" y="94"/>
                  </a:cubicBezTo>
                  <a:cubicBezTo>
                    <a:pt x="5224" y="94"/>
                    <a:pt x="5203" y="72"/>
                    <a:pt x="5203" y="47"/>
                  </a:cubicBezTo>
                  <a:cubicBezTo>
                    <a:pt x="5203" y="21"/>
                    <a:pt x="5224" y="0"/>
                    <a:pt x="5250" y="0"/>
                  </a:cubicBezTo>
                  <a:cubicBezTo>
                    <a:pt x="5275" y="0"/>
                    <a:pt x="5297" y="21"/>
                    <a:pt x="5297" y="47"/>
                  </a:cubicBezTo>
                  <a:close/>
                  <a:moveTo>
                    <a:pt x="5397" y="47"/>
                  </a:moveTo>
                  <a:cubicBezTo>
                    <a:pt x="5397" y="72"/>
                    <a:pt x="5375" y="94"/>
                    <a:pt x="5350" y="94"/>
                  </a:cubicBezTo>
                  <a:cubicBezTo>
                    <a:pt x="5324" y="94"/>
                    <a:pt x="5303" y="72"/>
                    <a:pt x="5303" y="47"/>
                  </a:cubicBezTo>
                  <a:cubicBezTo>
                    <a:pt x="5303" y="21"/>
                    <a:pt x="5324" y="0"/>
                    <a:pt x="5350" y="0"/>
                  </a:cubicBezTo>
                  <a:cubicBezTo>
                    <a:pt x="5375" y="0"/>
                    <a:pt x="5397" y="21"/>
                    <a:pt x="5397" y="47"/>
                  </a:cubicBezTo>
                  <a:close/>
                  <a:moveTo>
                    <a:pt x="5497" y="47"/>
                  </a:moveTo>
                  <a:cubicBezTo>
                    <a:pt x="5497" y="72"/>
                    <a:pt x="5475" y="94"/>
                    <a:pt x="5450" y="94"/>
                  </a:cubicBezTo>
                  <a:cubicBezTo>
                    <a:pt x="5424" y="94"/>
                    <a:pt x="5403" y="72"/>
                    <a:pt x="5403" y="47"/>
                  </a:cubicBezTo>
                  <a:cubicBezTo>
                    <a:pt x="5403" y="21"/>
                    <a:pt x="5424" y="0"/>
                    <a:pt x="5450" y="0"/>
                  </a:cubicBezTo>
                  <a:cubicBezTo>
                    <a:pt x="5475" y="0"/>
                    <a:pt x="5497" y="21"/>
                    <a:pt x="5497" y="47"/>
                  </a:cubicBezTo>
                  <a:close/>
                  <a:moveTo>
                    <a:pt x="5597" y="47"/>
                  </a:moveTo>
                  <a:cubicBezTo>
                    <a:pt x="5597" y="72"/>
                    <a:pt x="5575" y="94"/>
                    <a:pt x="5550" y="94"/>
                  </a:cubicBezTo>
                  <a:cubicBezTo>
                    <a:pt x="5524" y="94"/>
                    <a:pt x="5503" y="72"/>
                    <a:pt x="5503" y="47"/>
                  </a:cubicBezTo>
                  <a:cubicBezTo>
                    <a:pt x="5503" y="21"/>
                    <a:pt x="5524" y="0"/>
                    <a:pt x="5550" y="0"/>
                  </a:cubicBezTo>
                  <a:cubicBezTo>
                    <a:pt x="5575" y="0"/>
                    <a:pt x="5597" y="21"/>
                    <a:pt x="5597" y="47"/>
                  </a:cubicBezTo>
                  <a:close/>
                  <a:moveTo>
                    <a:pt x="5697" y="47"/>
                  </a:moveTo>
                  <a:cubicBezTo>
                    <a:pt x="5697" y="72"/>
                    <a:pt x="5675" y="94"/>
                    <a:pt x="5650" y="94"/>
                  </a:cubicBezTo>
                  <a:cubicBezTo>
                    <a:pt x="5624" y="94"/>
                    <a:pt x="5603" y="72"/>
                    <a:pt x="5603" y="47"/>
                  </a:cubicBezTo>
                  <a:cubicBezTo>
                    <a:pt x="5603" y="21"/>
                    <a:pt x="5624" y="0"/>
                    <a:pt x="5650" y="0"/>
                  </a:cubicBezTo>
                  <a:cubicBezTo>
                    <a:pt x="5675" y="0"/>
                    <a:pt x="5697" y="21"/>
                    <a:pt x="5697" y="47"/>
                  </a:cubicBezTo>
                  <a:close/>
                  <a:moveTo>
                    <a:pt x="5797" y="47"/>
                  </a:moveTo>
                  <a:cubicBezTo>
                    <a:pt x="5797" y="72"/>
                    <a:pt x="5775" y="94"/>
                    <a:pt x="5750" y="94"/>
                  </a:cubicBezTo>
                  <a:cubicBezTo>
                    <a:pt x="5724" y="94"/>
                    <a:pt x="5703" y="72"/>
                    <a:pt x="5703" y="47"/>
                  </a:cubicBezTo>
                  <a:cubicBezTo>
                    <a:pt x="5703" y="21"/>
                    <a:pt x="5724" y="0"/>
                    <a:pt x="5750" y="0"/>
                  </a:cubicBezTo>
                  <a:cubicBezTo>
                    <a:pt x="5775" y="0"/>
                    <a:pt x="5797" y="21"/>
                    <a:pt x="5797" y="47"/>
                  </a:cubicBezTo>
                  <a:close/>
                  <a:moveTo>
                    <a:pt x="5897" y="47"/>
                  </a:moveTo>
                  <a:cubicBezTo>
                    <a:pt x="5897" y="72"/>
                    <a:pt x="5875" y="94"/>
                    <a:pt x="5850" y="94"/>
                  </a:cubicBezTo>
                  <a:cubicBezTo>
                    <a:pt x="5824" y="94"/>
                    <a:pt x="5803" y="72"/>
                    <a:pt x="5803" y="47"/>
                  </a:cubicBezTo>
                  <a:cubicBezTo>
                    <a:pt x="5803" y="21"/>
                    <a:pt x="5824" y="0"/>
                    <a:pt x="5850" y="0"/>
                  </a:cubicBezTo>
                  <a:cubicBezTo>
                    <a:pt x="5875" y="0"/>
                    <a:pt x="5897" y="21"/>
                    <a:pt x="5897" y="47"/>
                  </a:cubicBezTo>
                  <a:close/>
                  <a:moveTo>
                    <a:pt x="5997" y="47"/>
                  </a:moveTo>
                  <a:cubicBezTo>
                    <a:pt x="5997" y="72"/>
                    <a:pt x="5975" y="94"/>
                    <a:pt x="5950" y="94"/>
                  </a:cubicBezTo>
                  <a:cubicBezTo>
                    <a:pt x="5924" y="94"/>
                    <a:pt x="5903" y="72"/>
                    <a:pt x="5903" y="47"/>
                  </a:cubicBezTo>
                  <a:cubicBezTo>
                    <a:pt x="5903" y="21"/>
                    <a:pt x="5924" y="0"/>
                    <a:pt x="5950" y="0"/>
                  </a:cubicBezTo>
                  <a:cubicBezTo>
                    <a:pt x="5975" y="0"/>
                    <a:pt x="5997" y="21"/>
                    <a:pt x="5997" y="47"/>
                  </a:cubicBezTo>
                  <a:close/>
                  <a:moveTo>
                    <a:pt x="6097" y="47"/>
                  </a:moveTo>
                  <a:cubicBezTo>
                    <a:pt x="6097" y="72"/>
                    <a:pt x="6075" y="94"/>
                    <a:pt x="6050" y="94"/>
                  </a:cubicBezTo>
                  <a:cubicBezTo>
                    <a:pt x="6024" y="94"/>
                    <a:pt x="6003" y="72"/>
                    <a:pt x="6003" y="47"/>
                  </a:cubicBezTo>
                  <a:cubicBezTo>
                    <a:pt x="6003" y="21"/>
                    <a:pt x="6024" y="0"/>
                    <a:pt x="6050" y="0"/>
                  </a:cubicBezTo>
                  <a:cubicBezTo>
                    <a:pt x="6075" y="0"/>
                    <a:pt x="6097" y="21"/>
                    <a:pt x="6097" y="47"/>
                  </a:cubicBezTo>
                  <a:close/>
                  <a:moveTo>
                    <a:pt x="6197" y="47"/>
                  </a:moveTo>
                  <a:cubicBezTo>
                    <a:pt x="6197" y="72"/>
                    <a:pt x="6175" y="94"/>
                    <a:pt x="6150" y="94"/>
                  </a:cubicBezTo>
                  <a:cubicBezTo>
                    <a:pt x="6124" y="94"/>
                    <a:pt x="6103" y="72"/>
                    <a:pt x="6103" y="47"/>
                  </a:cubicBezTo>
                  <a:cubicBezTo>
                    <a:pt x="6103" y="21"/>
                    <a:pt x="6124" y="0"/>
                    <a:pt x="6150" y="0"/>
                  </a:cubicBezTo>
                  <a:cubicBezTo>
                    <a:pt x="6175" y="0"/>
                    <a:pt x="6197" y="21"/>
                    <a:pt x="6197" y="47"/>
                  </a:cubicBezTo>
                  <a:close/>
                  <a:moveTo>
                    <a:pt x="6297" y="47"/>
                  </a:moveTo>
                  <a:cubicBezTo>
                    <a:pt x="6297" y="72"/>
                    <a:pt x="6275" y="94"/>
                    <a:pt x="6250" y="94"/>
                  </a:cubicBezTo>
                  <a:cubicBezTo>
                    <a:pt x="6224" y="94"/>
                    <a:pt x="6203" y="72"/>
                    <a:pt x="6203" y="47"/>
                  </a:cubicBezTo>
                  <a:cubicBezTo>
                    <a:pt x="6203" y="21"/>
                    <a:pt x="6224" y="0"/>
                    <a:pt x="6250" y="0"/>
                  </a:cubicBezTo>
                  <a:cubicBezTo>
                    <a:pt x="6275" y="0"/>
                    <a:pt x="6297" y="21"/>
                    <a:pt x="6297" y="47"/>
                  </a:cubicBezTo>
                  <a:close/>
                  <a:moveTo>
                    <a:pt x="6397" y="47"/>
                  </a:moveTo>
                  <a:cubicBezTo>
                    <a:pt x="6397" y="72"/>
                    <a:pt x="6375" y="94"/>
                    <a:pt x="6350" y="94"/>
                  </a:cubicBezTo>
                  <a:cubicBezTo>
                    <a:pt x="6324" y="94"/>
                    <a:pt x="6303" y="72"/>
                    <a:pt x="6303" y="47"/>
                  </a:cubicBezTo>
                  <a:cubicBezTo>
                    <a:pt x="6303" y="21"/>
                    <a:pt x="6324" y="0"/>
                    <a:pt x="6350" y="0"/>
                  </a:cubicBezTo>
                  <a:cubicBezTo>
                    <a:pt x="6375" y="0"/>
                    <a:pt x="6397" y="21"/>
                    <a:pt x="6397" y="47"/>
                  </a:cubicBezTo>
                  <a:close/>
                  <a:moveTo>
                    <a:pt x="6497" y="47"/>
                  </a:moveTo>
                  <a:cubicBezTo>
                    <a:pt x="6497" y="72"/>
                    <a:pt x="6475" y="94"/>
                    <a:pt x="6450" y="94"/>
                  </a:cubicBezTo>
                  <a:cubicBezTo>
                    <a:pt x="6424" y="94"/>
                    <a:pt x="6403" y="72"/>
                    <a:pt x="6403" y="47"/>
                  </a:cubicBezTo>
                  <a:cubicBezTo>
                    <a:pt x="6403" y="21"/>
                    <a:pt x="6424" y="0"/>
                    <a:pt x="6450" y="0"/>
                  </a:cubicBezTo>
                  <a:cubicBezTo>
                    <a:pt x="6475" y="0"/>
                    <a:pt x="6497" y="21"/>
                    <a:pt x="6497" y="47"/>
                  </a:cubicBezTo>
                  <a:close/>
                  <a:moveTo>
                    <a:pt x="6597" y="47"/>
                  </a:moveTo>
                  <a:cubicBezTo>
                    <a:pt x="6597" y="72"/>
                    <a:pt x="6575" y="94"/>
                    <a:pt x="6550" y="94"/>
                  </a:cubicBezTo>
                  <a:cubicBezTo>
                    <a:pt x="6524" y="94"/>
                    <a:pt x="6503" y="72"/>
                    <a:pt x="6503" y="47"/>
                  </a:cubicBezTo>
                  <a:cubicBezTo>
                    <a:pt x="6503" y="21"/>
                    <a:pt x="6524" y="0"/>
                    <a:pt x="6550" y="0"/>
                  </a:cubicBezTo>
                  <a:cubicBezTo>
                    <a:pt x="6575" y="0"/>
                    <a:pt x="6597" y="21"/>
                    <a:pt x="6597" y="47"/>
                  </a:cubicBezTo>
                  <a:close/>
                  <a:moveTo>
                    <a:pt x="6697" y="47"/>
                  </a:moveTo>
                  <a:cubicBezTo>
                    <a:pt x="6697" y="72"/>
                    <a:pt x="6675" y="94"/>
                    <a:pt x="6650" y="94"/>
                  </a:cubicBezTo>
                  <a:cubicBezTo>
                    <a:pt x="6624" y="94"/>
                    <a:pt x="6603" y="72"/>
                    <a:pt x="6603" y="47"/>
                  </a:cubicBezTo>
                  <a:cubicBezTo>
                    <a:pt x="6603" y="21"/>
                    <a:pt x="6624" y="0"/>
                    <a:pt x="6650" y="0"/>
                  </a:cubicBezTo>
                  <a:cubicBezTo>
                    <a:pt x="6675" y="0"/>
                    <a:pt x="6697" y="21"/>
                    <a:pt x="6697" y="47"/>
                  </a:cubicBezTo>
                  <a:close/>
                  <a:moveTo>
                    <a:pt x="6797" y="47"/>
                  </a:moveTo>
                  <a:cubicBezTo>
                    <a:pt x="6797" y="72"/>
                    <a:pt x="6775" y="94"/>
                    <a:pt x="6750" y="94"/>
                  </a:cubicBezTo>
                  <a:cubicBezTo>
                    <a:pt x="6724" y="94"/>
                    <a:pt x="6703" y="72"/>
                    <a:pt x="6703" y="47"/>
                  </a:cubicBezTo>
                  <a:cubicBezTo>
                    <a:pt x="6703" y="21"/>
                    <a:pt x="6724" y="0"/>
                    <a:pt x="6750" y="0"/>
                  </a:cubicBezTo>
                  <a:cubicBezTo>
                    <a:pt x="6775" y="0"/>
                    <a:pt x="6797" y="21"/>
                    <a:pt x="6797" y="47"/>
                  </a:cubicBezTo>
                  <a:close/>
                  <a:moveTo>
                    <a:pt x="6897" y="47"/>
                  </a:moveTo>
                  <a:cubicBezTo>
                    <a:pt x="6897" y="72"/>
                    <a:pt x="6875" y="94"/>
                    <a:pt x="6850" y="94"/>
                  </a:cubicBezTo>
                  <a:cubicBezTo>
                    <a:pt x="6824" y="94"/>
                    <a:pt x="6803" y="72"/>
                    <a:pt x="6803" y="47"/>
                  </a:cubicBezTo>
                  <a:cubicBezTo>
                    <a:pt x="6803" y="21"/>
                    <a:pt x="6824" y="0"/>
                    <a:pt x="6850" y="0"/>
                  </a:cubicBezTo>
                  <a:cubicBezTo>
                    <a:pt x="6875" y="0"/>
                    <a:pt x="6897" y="21"/>
                    <a:pt x="6897" y="47"/>
                  </a:cubicBezTo>
                  <a:close/>
                  <a:moveTo>
                    <a:pt x="6997" y="47"/>
                  </a:moveTo>
                  <a:cubicBezTo>
                    <a:pt x="6997" y="72"/>
                    <a:pt x="6975" y="94"/>
                    <a:pt x="6950" y="94"/>
                  </a:cubicBezTo>
                  <a:cubicBezTo>
                    <a:pt x="6924" y="94"/>
                    <a:pt x="6903" y="72"/>
                    <a:pt x="6903" y="47"/>
                  </a:cubicBezTo>
                  <a:cubicBezTo>
                    <a:pt x="6903" y="21"/>
                    <a:pt x="6924" y="0"/>
                    <a:pt x="6950" y="0"/>
                  </a:cubicBezTo>
                  <a:cubicBezTo>
                    <a:pt x="6975" y="0"/>
                    <a:pt x="6997" y="21"/>
                    <a:pt x="6997" y="47"/>
                  </a:cubicBezTo>
                  <a:close/>
                  <a:moveTo>
                    <a:pt x="7097" y="47"/>
                  </a:moveTo>
                  <a:cubicBezTo>
                    <a:pt x="7097" y="72"/>
                    <a:pt x="7075" y="94"/>
                    <a:pt x="7050" y="94"/>
                  </a:cubicBezTo>
                  <a:cubicBezTo>
                    <a:pt x="7024" y="94"/>
                    <a:pt x="7003" y="72"/>
                    <a:pt x="7003" y="47"/>
                  </a:cubicBezTo>
                  <a:cubicBezTo>
                    <a:pt x="7003" y="21"/>
                    <a:pt x="7024" y="0"/>
                    <a:pt x="7050" y="0"/>
                  </a:cubicBezTo>
                  <a:cubicBezTo>
                    <a:pt x="7075" y="0"/>
                    <a:pt x="7097" y="21"/>
                    <a:pt x="7097" y="47"/>
                  </a:cubicBezTo>
                  <a:close/>
                  <a:moveTo>
                    <a:pt x="7197" y="47"/>
                  </a:moveTo>
                  <a:cubicBezTo>
                    <a:pt x="7197" y="72"/>
                    <a:pt x="7175" y="94"/>
                    <a:pt x="7150" y="94"/>
                  </a:cubicBezTo>
                  <a:cubicBezTo>
                    <a:pt x="7124" y="94"/>
                    <a:pt x="7103" y="72"/>
                    <a:pt x="7103" y="47"/>
                  </a:cubicBezTo>
                  <a:cubicBezTo>
                    <a:pt x="7103" y="21"/>
                    <a:pt x="7124" y="0"/>
                    <a:pt x="7150" y="0"/>
                  </a:cubicBezTo>
                  <a:cubicBezTo>
                    <a:pt x="7175" y="0"/>
                    <a:pt x="7197" y="21"/>
                    <a:pt x="7197" y="47"/>
                  </a:cubicBezTo>
                  <a:close/>
                  <a:moveTo>
                    <a:pt x="7297" y="47"/>
                  </a:moveTo>
                  <a:cubicBezTo>
                    <a:pt x="7297" y="72"/>
                    <a:pt x="7275" y="94"/>
                    <a:pt x="7250" y="94"/>
                  </a:cubicBezTo>
                  <a:cubicBezTo>
                    <a:pt x="7224" y="94"/>
                    <a:pt x="7203" y="72"/>
                    <a:pt x="7203" y="47"/>
                  </a:cubicBezTo>
                  <a:cubicBezTo>
                    <a:pt x="7203" y="21"/>
                    <a:pt x="7224" y="0"/>
                    <a:pt x="7250" y="0"/>
                  </a:cubicBezTo>
                  <a:cubicBezTo>
                    <a:pt x="7275" y="0"/>
                    <a:pt x="7297" y="21"/>
                    <a:pt x="7297" y="47"/>
                  </a:cubicBezTo>
                  <a:close/>
                  <a:moveTo>
                    <a:pt x="7397" y="47"/>
                  </a:moveTo>
                  <a:cubicBezTo>
                    <a:pt x="7397" y="72"/>
                    <a:pt x="7375" y="94"/>
                    <a:pt x="7350" y="94"/>
                  </a:cubicBezTo>
                  <a:cubicBezTo>
                    <a:pt x="7324" y="94"/>
                    <a:pt x="7303" y="72"/>
                    <a:pt x="7303" y="47"/>
                  </a:cubicBezTo>
                  <a:cubicBezTo>
                    <a:pt x="7303" y="21"/>
                    <a:pt x="7324" y="0"/>
                    <a:pt x="7350" y="0"/>
                  </a:cubicBezTo>
                  <a:cubicBezTo>
                    <a:pt x="7375" y="0"/>
                    <a:pt x="7397" y="21"/>
                    <a:pt x="7397" y="47"/>
                  </a:cubicBezTo>
                  <a:close/>
                  <a:moveTo>
                    <a:pt x="7497" y="47"/>
                  </a:moveTo>
                  <a:cubicBezTo>
                    <a:pt x="7497" y="72"/>
                    <a:pt x="7475" y="94"/>
                    <a:pt x="7450" y="94"/>
                  </a:cubicBezTo>
                  <a:cubicBezTo>
                    <a:pt x="7424" y="94"/>
                    <a:pt x="7403" y="72"/>
                    <a:pt x="7403" y="47"/>
                  </a:cubicBezTo>
                  <a:cubicBezTo>
                    <a:pt x="7403" y="21"/>
                    <a:pt x="7424" y="0"/>
                    <a:pt x="7450" y="0"/>
                  </a:cubicBezTo>
                  <a:cubicBezTo>
                    <a:pt x="7475" y="0"/>
                    <a:pt x="7497" y="21"/>
                    <a:pt x="7497" y="47"/>
                  </a:cubicBezTo>
                  <a:close/>
                  <a:moveTo>
                    <a:pt x="7597" y="47"/>
                  </a:moveTo>
                  <a:cubicBezTo>
                    <a:pt x="7597" y="72"/>
                    <a:pt x="7575" y="94"/>
                    <a:pt x="7550" y="94"/>
                  </a:cubicBezTo>
                  <a:cubicBezTo>
                    <a:pt x="7524" y="94"/>
                    <a:pt x="7503" y="72"/>
                    <a:pt x="7503" y="47"/>
                  </a:cubicBezTo>
                  <a:cubicBezTo>
                    <a:pt x="7503" y="21"/>
                    <a:pt x="7524" y="0"/>
                    <a:pt x="7550" y="0"/>
                  </a:cubicBezTo>
                  <a:cubicBezTo>
                    <a:pt x="7575" y="0"/>
                    <a:pt x="7597" y="21"/>
                    <a:pt x="7597" y="47"/>
                  </a:cubicBezTo>
                  <a:close/>
                  <a:moveTo>
                    <a:pt x="7697" y="47"/>
                  </a:moveTo>
                  <a:cubicBezTo>
                    <a:pt x="7697" y="72"/>
                    <a:pt x="7675" y="94"/>
                    <a:pt x="7650" y="94"/>
                  </a:cubicBezTo>
                  <a:cubicBezTo>
                    <a:pt x="7624" y="94"/>
                    <a:pt x="7603" y="72"/>
                    <a:pt x="7603" y="47"/>
                  </a:cubicBezTo>
                  <a:cubicBezTo>
                    <a:pt x="7603" y="21"/>
                    <a:pt x="7624" y="0"/>
                    <a:pt x="7650" y="0"/>
                  </a:cubicBezTo>
                  <a:cubicBezTo>
                    <a:pt x="7675" y="0"/>
                    <a:pt x="7697" y="21"/>
                    <a:pt x="7697" y="47"/>
                  </a:cubicBezTo>
                  <a:close/>
                  <a:moveTo>
                    <a:pt x="7797" y="47"/>
                  </a:moveTo>
                  <a:cubicBezTo>
                    <a:pt x="7797" y="72"/>
                    <a:pt x="7775" y="94"/>
                    <a:pt x="7750" y="94"/>
                  </a:cubicBezTo>
                  <a:cubicBezTo>
                    <a:pt x="7724" y="94"/>
                    <a:pt x="7703" y="72"/>
                    <a:pt x="7703" y="47"/>
                  </a:cubicBezTo>
                  <a:cubicBezTo>
                    <a:pt x="7703" y="21"/>
                    <a:pt x="7724" y="0"/>
                    <a:pt x="7750" y="0"/>
                  </a:cubicBezTo>
                  <a:cubicBezTo>
                    <a:pt x="7775" y="0"/>
                    <a:pt x="7797" y="21"/>
                    <a:pt x="7797" y="47"/>
                  </a:cubicBezTo>
                  <a:close/>
                  <a:moveTo>
                    <a:pt x="7897" y="47"/>
                  </a:moveTo>
                  <a:cubicBezTo>
                    <a:pt x="7897" y="72"/>
                    <a:pt x="7875" y="94"/>
                    <a:pt x="7850" y="94"/>
                  </a:cubicBezTo>
                  <a:cubicBezTo>
                    <a:pt x="7824" y="94"/>
                    <a:pt x="7803" y="72"/>
                    <a:pt x="7803" y="47"/>
                  </a:cubicBezTo>
                  <a:cubicBezTo>
                    <a:pt x="7803" y="21"/>
                    <a:pt x="7824" y="0"/>
                    <a:pt x="7850" y="0"/>
                  </a:cubicBezTo>
                  <a:cubicBezTo>
                    <a:pt x="7875" y="0"/>
                    <a:pt x="7897" y="21"/>
                    <a:pt x="7897" y="47"/>
                  </a:cubicBezTo>
                  <a:close/>
                  <a:moveTo>
                    <a:pt x="7997" y="47"/>
                  </a:moveTo>
                  <a:cubicBezTo>
                    <a:pt x="7997" y="72"/>
                    <a:pt x="7975" y="94"/>
                    <a:pt x="7950" y="94"/>
                  </a:cubicBezTo>
                  <a:cubicBezTo>
                    <a:pt x="7924" y="94"/>
                    <a:pt x="7903" y="72"/>
                    <a:pt x="7903" y="47"/>
                  </a:cubicBezTo>
                  <a:cubicBezTo>
                    <a:pt x="7903" y="21"/>
                    <a:pt x="7924" y="0"/>
                    <a:pt x="7950" y="0"/>
                  </a:cubicBezTo>
                  <a:cubicBezTo>
                    <a:pt x="7975" y="0"/>
                    <a:pt x="7997" y="21"/>
                    <a:pt x="7997" y="47"/>
                  </a:cubicBezTo>
                  <a:close/>
                  <a:moveTo>
                    <a:pt x="97" y="453"/>
                  </a:moveTo>
                  <a:cubicBezTo>
                    <a:pt x="97" y="478"/>
                    <a:pt x="75" y="500"/>
                    <a:pt x="50" y="500"/>
                  </a:cubicBezTo>
                  <a:cubicBezTo>
                    <a:pt x="24" y="500"/>
                    <a:pt x="3" y="478"/>
                    <a:pt x="3" y="453"/>
                  </a:cubicBezTo>
                  <a:cubicBezTo>
                    <a:pt x="3" y="427"/>
                    <a:pt x="24" y="406"/>
                    <a:pt x="50" y="406"/>
                  </a:cubicBezTo>
                  <a:cubicBezTo>
                    <a:pt x="75" y="406"/>
                    <a:pt x="97" y="427"/>
                    <a:pt x="97" y="453"/>
                  </a:cubicBezTo>
                  <a:close/>
                  <a:moveTo>
                    <a:pt x="197" y="453"/>
                  </a:moveTo>
                  <a:cubicBezTo>
                    <a:pt x="197" y="478"/>
                    <a:pt x="175" y="500"/>
                    <a:pt x="150" y="500"/>
                  </a:cubicBezTo>
                  <a:cubicBezTo>
                    <a:pt x="124" y="500"/>
                    <a:pt x="103" y="478"/>
                    <a:pt x="103" y="453"/>
                  </a:cubicBezTo>
                  <a:cubicBezTo>
                    <a:pt x="103" y="427"/>
                    <a:pt x="124" y="406"/>
                    <a:pt x="150" y="406"/>
                  </a:cubicBezTo>
                  <a:cubicBezTo>
                    <a:pt x="175" y="406"/>
                    <a:pt x="197" y="427"/>
                    <a:pt x="197" y="453"/>
                  </a:cubicBezTo>
                  <a:close/>
                  <a:moveTo>
                    <a:pt x="297" y="453"/>
                  </a:moveTo>
                  <a:cubicBezTo>
                    <a:pt x="297" y="478"/>
                    <a:pt x="275" y="500"/>
                    <a:pt x="250" y="500"/>
                  </a:cubicBezTo>
                  <a:cubicBezTo>
                    <a:pt x="224" y="500"/>
                    <a:pt x="203" y="478"/>
                    <a:pt x="203" y="453"/>
                  </a:cubicBezTo>
                  <a:cubicBezTo>
                    <a:pt x="203" y="427"/>
                    <a:pt x="224" y="406"/>
                    <a:pt x="250" y="406"/>
                  </a:cubicBezTo>
                  <a:cubicBezTo>
                    <a:pt x="275" y="406"/>
                    <a:pt x="297" y="427"/>
                    <a:pt x="297" y="453"/>
                  </a:cubicBezTo>
                  <a:close/>
                  <a:moveTo>
                    <a:pt x="397" y="453"/>
                  </a:moveTo>
                  <a:cubicBezTo>
                    <a:pt x="397" y="478"/>
                    <a:pt x="375" y="500"/>
                    <a:pt x="350" y="500"/>
                  </a:cubicBezTo>
                  <a:cubicBezTo>
                    <a:pt x="324" y="500"/>
                    <a:pt x="303" y="478"/>
                    <a:pt x="303" y="453"/>
                  </a:cubicBezTo>
                  <a:cubicBezTo>
                    <a:pt x="303" y="427"/>
                    <a:pt x="324" y="406"/>
                    <a:pt x="350" y="406"/>
                  </a:cubicBezTo>
                  <a:cubicBezTo>
                    <a:pt x="375" y="406"/>
                    <a:pt x="397" y="427"/>
                    <a:pt x="397" y="453"/>
                  </a:cubicBezTo>
                  <a:close/>
                  <a:moveTo>
                    <a:pt x="497" y="453"/>
                  </a:moveTo>
                  <a:cubicBezTo>
                    <a:pt x="497" y="478"/>
                    <a:pt x="475" y="500"/>
                    <a:pt x="450" y="500"/>
                  </a:cubicBezTo>
                  <a:cubicBezTo>
                    <a:pt x="424" y="500"/>
                    <a:pt x="403" y="478"/>
                    <a:pt x="403" y="453"/>
                  </a:cubicBezTo>
                  <a:cubicBezTo>
                    <a:pt x="403" y="427"/>
                    <a:pt x="424" y="406"/>
                    <a:pt x="450" y="406"/>
                  </a:cubicBezTo>
                  <a:cubicBezTo>
                    <a:pt x="475" y="406"/>
                    <a:pt x="497" y="427"/>
                    <a:pt x="497" y="453"/>
                  </a:cubicBezTo>
                  <a:close/>
                  <a:moveTo>
                    <a:pt x="597" y="453"/>
                  </a:moveTo>
                  <a:cubicBezTo>
                    <a:pt x="597" y="478"/>
                    <a:pt x="575" y="500"/>
                    <a:pt x="550" y="500"/>
                  </a:cubicBezTo>
                  <a:cubicBezTo>
                    <a:pt x="524" y="500"/>
                    <a:pt x="503" y="478"/>
                    <a:pt x="503" y="453"/>
                  </a:cubicBezTo>
                  <a:cubicBezTo>
                    <a:pt x="503" y="427"/>
                    <a:pt x="524" y="406"/>
                    <a:pt x="550" y="406"/>
                  </a:cubicBezTo>
                  <a:cubicBezTo>
                    <a:pt x="575" y="406"/>
                    <a:pt x="597" y="427"/>
                    <a:pt x="597" y="453"/>
                  </a:cubicBezTo>
                  <a:close/>
                  <a:moveTo>
                    <a:pt x="697" y="453"/>
                  </a:moveTo>
                  <a:cubicBezTo>
                    <a:pt x="697" y="478"/>
                    <a:pt x="675" y="500"/>
                    <a:pt x="650" y="500"/>
                  </a:cubicBezTo>
                  <a:cubicBezTo>
                    <a:pt x="624" y="500"/>
                    <a:pt x="603" y="478"/>
                    <a:pt x="603" y="453"/>
                  </a:cubicBezTo>
                  <a:cubicBezTo>
                    <a:pt x="603" y="427"/>
                    <a:pt x="624" y="406"/>
                    <a:pt x="650" y="406"/>
                  </a:cubicBezTo>
                  <a:cubicBezTo>
                    <a:pt x="675" y="406"/>
                    <a:pt x="697" y="427"/>
                    <a:pt x="697" y="453"/>
                  </a:cubicBezTo>
                  <a:close/>
                  <a:moveTo>
                    <a:pt x="797" y="453"/>
                  </a:moveTo>
                  <a:cubicBezTo>
                    <a:pt x="797" y="478"/>
                    <a:pt x="775" y="500"/>
                    <a:pt x="750" y="500"/>
                  </a:cubicBezTo>
                  <a:cubicBezTo>
                    <a:pt x="724" y="500"/>
                    <a:pt x="703" y="478"/>
                    <a:pt x="703" y="453"/>
                  </a:cubicBezTo>
                  <a:cubicBezTo>
                    <a:pt x="703" y="427"/>
                    <a:pt x="724" y="406"/>
                    <a:pt x="750" y="406"/>
                  </a:cubicBezTo>
                  <a:cubicBezTo>
                    <a:pt x="775" y="406"/>
                    <a:pt x="797" y="427"/>
                    <a:pt x="797" y="453"/>
                  </a:cubicBezTo>
                  <a:close/>
                  <a:moveTo>
                    <a:pt x="897" y="453"/>
                  </a:moveTo>
                  <a:cubicBezTo>
                    <a:pt x="897" y="478"/>
                    <a:pt x="875" y="500"/>
                    <a:pt x="850" y="500"/>
                  </a:cubicBezTo>
                  <a:cubicBezTo>
                    <a:pt x="824" y="500"/>
                    <a:pt x="803" y="478"/>
                    <a:pt x="803" y="453"/>
                  </a:cubicBezTo>
                  <a:cubicBezTo>
                    <a:pt x="803" y="427"/>
                    <a:pt x="824" y="406"/>
                    <a:pt x="850" y="406"/>
                  </a:cubicBezTo>
                  <a:cubicBezTo>
                    <a:pt x="875" y="406"/>
                    <a:pt x="897" y="427"/>
                    <a:pt x="897" y="453"/>
                  </a:cubicBezTo>
                  <a:close/>
                  <a:moveTo>
                    <a:pt x="997" y="453"/>
                  </a:moveTo>
                  <a:cubicBezTo>
                    <a:pt x="997" y="478"/>
                    <a:pt x="975" y="500"/>
                    <a:pt x="950" y="500"/>
                  </a:cubicBezTo>
                  <a:cubicBezTo>
                    <a:pt x="924" y="500"/>
                    <a:pt x="903" y="478"/>
                    <a:pt x="903" y="453"/>
                  </a:cubicBezTo>
                  <a:cubicBezTo>
                    <a:pt x="903" y="427"/>
                    <a:pt x="924" y="406"/>
                    <a:pt x="950" y="406"/>
                  </a:cubicBezTo>
                  <a:cubicBezTo>
                    <a:pt x="975" y="406"/>
                    <a:pt x="997" y="427"/>
                    <a:pt x="997" y="453"/>
                  </a:cubicBezTo>
                  <a:close/>
                  <a:moveTo>
                    <a:pt x="1097" y="453"/>
                  </a:moveTo>
                  <a:cubicBezTo>
                    <a:pt x="1097" y="478"/>
                    <a:pt x="1075" y="500"/>
                    <a:pt x="1050" y="500"/>
                  </a:cubicBezTo>
                  <a:cubicBezTo>
                    <a:pt x="1024" y="500"/>
                    <a:pt x="1003" y="478"/>
                    <a:pt x="1003" y="453"/>
                  </a:cubicBezTo>
                  <a:cubicBezTo>
                    <a:pt x="1003" y="427"/>
                    <a:pt x="1024" y="406"/>
                    <a:pt x="1050" y="406"/>
                  </a:cubicBezTo>
                  <a:cubicBezTo>
                    <a:pt x="1075" y="406"/>
                    <a:pt x="1097" y="427"/>
                    <a:pt x="1097" y="453"/>
                  </a:cubicBezTo>
                  <a:close/>
                  <a:moveTo>
                    <a:pt x="1197" y="453"/>
                  </a:moveTo>
                  <a:cubicBezTo>
                    <a:pt x="1197" y="478"/>
                    <a:pt x="1175" y="500"/>
                    <a:pt x="1150" y="500"/>
                  </a:cubicBezTo>
                  <a:cubicBezTo>
                    <a:pt x="1124" y="500"/>
                    <a:pt x="1103" y="478"/>
                    <a:pt x="1103" y="453"/>
                  </a:cubicBezTo>
                  <a:cubicBezTo>
                    <a:pt x="1103" y="427"/>
                    <a:pt x="1124" y="406"/>
                    <a:pt x="1150" y="406"/>
                  </a:cubicBezTo>
                  <a:cubicBezTo>
                    <a:pt x="1175" y="406"/>
                    <a:pt x="1197" y="427"/>
                    <a:pt x="1197" y="453"/>
                  </a:cubicBezTo>
                  <a:close/>
                  <a:moveTo>
                    <a:pt x="1297" y="453"/>
                  </a:moveTo>
                  <a:cubicBezTo>
                    <a:pt x="1297" y="478"/>
                    <a:pt x="1275" y="500"/>
                    <a:pt x="1250" y="500"/>
                  </a:cubicBezTo>
                  <a:cubicBezTo>
                    <a:pt x="1224" y="500"/>
                    <a:pt x="1203" y="478"/>
                    <a:pt x="1203" y="453"/>
                  </a:cubicBezTo>
                  <a:cubicBezTo>
                    <a:pt x="1203" y="427"/>
                    <a:pt x="1224" y="406"/>
                    <a:pt x="1250" y="406"/>
                  </a:cubicBezTo>
                  <a:cubicBezTo>
                    <a:pt x="1275" y="406"/>
                    <a:pt x="1297" y="427"/>
                    <a:pt x="1297" y="453"/>
                  </a:cubicBezTo>
                  <a:close/>
                  <a:moveTo>
                    <a:pt x="1397" y="453"/>
                  </a:moveTo>
                  <a:cubicBezTo>
                    <a:pt x="1397" y="478"/>
                    <a:pt x="1375" y="500"/>
                    <a:pt x="1350" y="500"/>
                  </a:cubicBezTo>
                  <a:cubicBezTo>
                    <a:pt x="1324" y="500"/>
                    <a:pt x="1303" y="478"/>
                    <a:pt x="1303" y="453"/>
                  </a:cubicBezTo>
                  <a:cubicBezTo>
                    <a:pt x="1303" y="427"/>
                    <a:pt x="1324" y="406"/>
                    <a:pt x="1350" y="406"/>
                  </a:cubicBezTo>
                  <a:cubicBezTo>
                    <a:pt x="1375" y="406"/>
                    <a:pt x="1397" y="427"/>
                    <a:pt x="1397" y="453"/>
                  </a:cubicBezTo>
                  <a:close/>
                  <a:moveTo>
                    <a:pt x="1497" y="453"/>
                  </a:moveTo>
                  <a:cubicBezTo>
                    <a:pt x="1497" y="478"/>
                    <a:pt x="1475" y="500"/>
                    <a:pt x="1450" y="500"/>
                  </a:cubicBezTo>
                  <a:cubicBezTo>
                    <a:pt x="1424" y="500"/>
                    <a:pt x="1403" y="478"/>
                    <a:pt x="1403" y="453"/>
                  </a:cubicBezTo>
                  <a:cubicBezTo>
                    <a:pt x="1403" y="427"/>
                    <a:pt x="1424" y="406"/>
                    <a:pt x="1450" y="406"/>
                  </a:cubicBezTo>
                  <a:cubicBezTo>
                    <a:pt x="1475" y="406"/>
                    <a:pt x="1497" y="427"/>
                    <a:pt x="1497" y="453"/>
                  </a:cubicBezTo>
                  <a:close/>
                  <a:moveTo>
                    <a:pt x="1597" y="453"/>
                  </a:moveTo>
                  <a:cubicBezTo>
                    <a:pt x="1597" y="478"/>
                    <a:pt x="1575" y="500"/>
                    <a:pt x="1550" y="500"/>
                  </a:cubicBezTo>
                  <a:cubicBezTo>
                    <a:pt x="1524" y="500"/>
                    <a:pt x="1503" y="478"/>
                    <a:pt x="1503" y="453"/>
                  </a:cubicBezTo>
                  <a:cubicBezTo>
                    <a:pt x="1503" y="427"/>
                    <a:pt x="1524" y="406"/>
                    <a:pt x="1550" y="406"/>
                  </a:cubicBezTo>
                  <a:cubicBezTo>
                    <a:pt x="1575" y="406"/>
                    <a:pt x="1597" y="427"/>
                    <a:pt x="1597" y="453"/>
                  </a:cubicBezTo>
                  <a:close/>
                  <a:moveTo>
                    <a:pt x="1697" y="453"/>
                  </a:moveTo>
                  <a:cubicBezTo>
                    <a:pt x="1697" y="478"/>
                    <a:pt x="1675" y="500"/>
                    <a:pt x="1650" y="500"/>
                  </a:cubicBezTo>
                  <a:cubicBezTo>
                    <a:pt x="1624" y="500"/>
                    <a:pt x="1603" y="478"/>
                    <a:pt x="1603" y="453"/>
                  </a:cubicBezTo>
                  <a:cubicBezTo>
                    <a:pt x="1603" y="427"/>
                    <a:pt x="1624" y="406"/>
                    <a:pt x="1650" y="406"/>
                  </a:cubicBezTo>
                  <a:cubicBezTo>
                    <a:pt x="1675" y="406"/>
                    <a:pt x="1697" y="427"/>
                    <a:pt x="1697" y="453"/>
                  </a:cubicBezTo>
                  <a:close/>
                  <a:moveTo>
                    <a:pt x="1797" y="453"/>
                  </a:moveTo>
                  <a:cubicBezTo>
                    <a:pt x="1797" y="478"/>
                    <a:pt x="1775" y="500"/>
                    <a:pt x="1750" y="500"/>
                  </a:cubicBezTo>
                  <a:cubicBezTo>
                    <a:pt x="1724" y="500"/>
                    <a:pt x="1703" y="478"/>
                    <a:pt x="1703" y="453"/>
                  </a:cubicBezTo>
                  <a:cubicBezTo>
                    <a:pt x="1703" y="427"/>
                    <a:pt x="1724" y="406"/>
                    <a:pt x="1750" y="406"/>
                  </a:cubicBezTo>
                  <a:cubicBezTo>
                    <a:pt x="1775" y="406"/>
                    <a:pt x="1797" y="427"/>
                    <a:pt x="1797" y="453"/>
                  </a:cubicBezTo>
                  <a:close/>
                  <a:moveTo>
                    <a:pt x="1897" y="453"/>
                  </a:moveTo>
                  <a:cubicBezTo>
                    <a:pt x="1897" y="478"/>
                    <a:pt x="1875" y="500"/>
                    <a:pt x="1850" y="500"/>
                  </a:cubicBezTo>
                  <a:cubicBezTo>
                    <a:pt x="1824" y="500"/>
                    <a:pt x="1803" y="478"/>
                    <a:pt x="1803" y="453"/>
                  </a:cubicBezTo>
                  <a:cubicBezTo>
                    <a:pt x="1803" y="427"/>
                    <a:pt x="1824" y="406"/>
                    <a:pt x="1850" y="406"/>
                  </a:cubicBezTo>
                  <a:cubicBezTo>
                    <a:pt x="1875" y="406"/>
                    <a:pt x="1897" y="427"/>
                    <a:pt x="1897" y="453"/>
                  </a:cubicBezTo>
                  <a:close/>
                  <a:moveTo>
                    <a:pt x="1997" y="453"/>
                  </a:moveTo>
                  <a:cubicBezTo>
                    <a:pt x="1997" y="478"/>
                    <a:pt x="1975" y="500"/>
                    <a:pt x="1950" y="500"/>
                  </a:cubicBezTo>
                  <a:cubicBezTo>
                    <a:pt x="1924" y="500"/>
                    <a:pt x="1903" y="478"/>
                    <a:pt x="1903" y="453"/>
                  </a:cubicBezTo>
                  <a:cubicBezTo>
                    <a:pt x="1903" y="427"/>
                    <a:pt x="1924" y="406"/>
                    <a:pt x="1950" y="406"/>
                  </a:cubicBezTo>
                  <a:cubicBezTo>
                    <a:pt x="1975" y="406"/>
                    <a:pt x="1997" y="427"/>
                    <a:pt x="1997" y="453"/>
                  </a:cubicBezTo>
                  <a:close/>
                  <a:moveTo>
                    <a:pt x="2097" y="453"/>
                  </a:moveTo>
                  <a:cubicBezTo>
                    <a:pt x="2097" y="478"/>
                    <a:pt x="2075" y="500"/>
                    <a:pt x="2050" y="500"/>
                  </a:cubicBezTo>
                  <a:cubicBezTo>
                    <a:pt x="2024" y="500"/>
                    <a:pt x="2003" y="478"/>
                    <a:pt x="2003" y="453"/>
                  </a:cubicBezTo>
                  <a:cubicBezTo>
                    <a:pt x="2003" y="427"/>
                    <a:pt x="2024" y="406"/>
                    <a:pt x="2050" y="406"/>
                  </a:cubicBezTo>
                  <a:cubicBezTo>
                    <a:pt x="2075" y="406"/>
                    <a:pt x="2097" y="427"/>
                    <a:pt x="2097" y="453"/>
                  </a:cubicBezTo>
                  <a:close/>
                  <a:moveTo>
                    <a:pt x="2197" y="453"/>
                  </a:moveTo>
                  <a:cubicBezTo>
                    <a:pt x="2197" y="478"/>
                    <a:pt x="2175" y="500"/>
                    <a:pt x="2150" y="500"/>
                  </a:cubicBezTo>
                  <a:cubicBezTo>
                    <a:pt x="2124" y="500"/>
                    <a:pt x="2103" y="478"/>
                    <a:pt x="2103" y="453"/>
                  </a:cubicBezTo>
                  <a:cubicBezTo>
                    <a:pt x="2103" y="427"/>
                    <a:pt x="2124" y="406"/>
                    <a:pt x="2150" y="406"/>
                  </a:cubicBezTo>
                  <a:cubicBezTo>
                    <a:pt x="2175" y="406"/>
                    <a:pt x="2197" y="427"/>
                    <a:pt x="2197" y="453"/>
                  </a:cubicBezTo>
                  <a:close/>
                  <a:moveTo>
                    <a:pt x="2297" y="453"/>
                  </a:moveTo>
                  <a:cubicBezTo>
                    <a:pt x="2297" y="478"/>
                    <a:pt x="2275" y="500"/>
                    <a:pt x="2250" y="500"/>
                  </a:cubicBezTo>
                  <a:cubicBezTo>
                    <a:pt x="2224" y="500"/>
                    <a:pt x="2203" y="478"/>
                    <a:pt x="2203" y="453"/>
                  </a:cubicBezTo>
                  <a:cubicBezTo>
                    <a:pt x="2203" y="427"/>
                    <a:pt x="2224" y="406"/>
                    <a:pt x="2250" y="406"/>
                  </a:cubicBezTo>
                  <a:cubicBezTo>
                    <a:pt x="2275" y="406"/>
                    <a:pt x="2297" y="427"/>
                    <a:pt x="2297" y="453"/>
                  </a:cubicBezTo>
                  <a:close/>
                  <a:moveTo>
                    <a:pt x="2397" y="453"/>
                  </a:moveTo>
                  <a:cubicBezTo>
                    <a:pt x="2397" y="478"/>
                    <a:pt x="2375" y="500"/>
                    <a:pt x="2350" y="500"/>
                  </a:cubicBezTo>
                  <a:cubicBezTo>
                    <a:pt x="2324" y="500"/>
                    <a:pt x="2303" y="478"/>
                    <a:pt x="2303" y="453"/>
                  </a:cubicBezTo>
                  <a:cubicBezTo>
                    <a:pt x="2303" y="427"/>
                    <a:pt x="2324" y="406"/>
                    <a:pt x="2350" y="406"/>
                  </a:cubicBezTo>
                  <a:cubicBezTo>
                    <a:pt x="2375" y="406"/>
                    <a:pt x="2397" y="427"/>
                    <a:pt x="2397" y="453"/>
                  </a:cubicBezTo>
                  <a:close/>
                  <a:moveTo>
                    <a:pt x="2497" y="453"/>
                  </a:moveTo>
                  <a:cubicBezTo>
                    <a:pt x="2497" y="478"/>
                    <a:pt x="2475" y="500"/>
                    <a:pt x="2450" y="500"/>
                  </a:cubicBezTo>
                  <a:cubicBezTo>
                    <a:pt x="2424" y="500"/>
                    <a:pt x="2403" y="478"/>
                    <a:pt x="2403" y="453"/>
                  </a:cubicBezTo>
                  <a:cubicBezTo>
                    <a:pt x="2403" y="427"/>
                    <a:pt x="2424" y="406"/>
                    <a:pt x="2450" y="406"/>
                  </a:cubicBezTo>
                  <a:cubicBezTo>
                    <a:pt x="2475" y="406"/>
                    <a:pt x="2497" y="427"/>
                    <a:pt x="2497" y="453"/>
                  </a:cubicBezTo>
                  <a:close/>
                  <a:moveTo>
                    <a:pt x="2597" y="453"/>
                  </a:moveTo>
                  <a:cubicBezTo>
                    <a:pt x="2597" y="478"/>
                    <a:pt x="2575" y="500"/>
                    <a:pt x="2550" y="500"/>
                  </a:cubicBezTo>
                  <a:cubicBezTo>
                    <a:pt x="2524" y="500"/>
                    <a:pt x="2503" y="478"/>
                    <a:pt x="2503" y="453"/>
                  </a:cubicBezTo>
                  <a:cubicBezTo>
                    <a:pt x="2503" y="427"/>
                    <a:pt x="2524" y="406"/>
                    <a:pt x="2550" y="406"/>
                  </a:cubicBezTo>
                  <a:cubicBezTo>
                    <a:pt x="2575" y="406"/>
                    <a:pt x="2597" y="427"/>
                    <a:pt x="2597" y="453"/>
                  </a:cubicBezTo>
                  <a:close/>
                  <a:moveTo>
                    <a:pt x="2697" y="453"/>
                  </a:moveTo>
                  <a:cubicBezTo>
                    <a:pt x="2697" y="478"/>
                    <a:pt x="2675" y="500"/>
                    <a:pt x="2650" y="500"/>
                  </a:cubicBezTo>
                  <a:cubicBezTo>
                    <a:pt x="2624" y="500"/>
                    <a:pt x="2603" y="478"/>
                    <a:pt x="2603" y="453"/>
                  </a:cubicBezTo>
                  <a:cubicBezTo>
                    <a:pt x="2603" y="427"/>
                    <a:pt x="2624" y="406"/>
                    <a:pt x="2650" y="406"/>
                  </a:cubicBezTo>
                  <a:cubicBezTo>
                    <a:pt x="2675" y="406"/>
                    <a:pt x="2697" y="427"/>
                    <a:pt x="2697" y="453"/>
                  </a:cubicBezTo>
                  <a:close/>
                  <a:moveTo>
                    <a:pt x="2797" y="453"/>
                  </a:moveTo>
                  <a:cubicBezTo>
                    <a:pt x="2797" y="478"/>
                    <a:pt x="2775" y="500"/>
                    <a:pt x="2750" y="500"/>
                  </a:cubicBezTo>
                  <a:cubicBezTo>
                    <a:pt x="2724" y="500"/>
                    <a:pt x="2703" y="478"/>
                    <a:pt x="2703" y="453"/>
                  </a:cubicBezTo>
                  <a:cubicBezTo>
                    <a:pt x="2703" y="427"/>
                    <a:pt x="2724" y="406"/>
                    <a:pt x="2750" y="406"/>
                  </a:cubicBezTo>
                  <a:cubicBezTo>
                    <a:pt x="2775" y="406"/>
                    <a:pt x="2797" y="427"/>
                    <a:pt x="2797" y="453"/>
                  </a:cubicBezTo>
                  <a:close/>
                  <a:moveTo>
                    <a:pt x="2897" y="453"/>
                  </a:moveTo>
                  <a:cubicBezTo>
                    <a:pt x="2897" y="478"/>
                    <a:pt x="2875" y="500"/>
                    <a:pt x="2850" y="500"/>
                  </a:cubicBezTo>
                  <a:cubicBezTo>
                    <a:pt x="2824" y="500"/>
                    <a:pt x="2803" y="478"/>
                    <a:pt x="2803" y="453"/>
                  </a:cubicBezTo>
                  <a:cubicBezTo>
                    <a:pt x="2803" y="427"/>
                    <a:pt x="2824" y="406"/>
                    <a:pt x="2850" y="406"/>
                  </a:cubicBezTo>
                  <a:cubicBezTo>
                    <a:pt x="2875" y="406"/>
                    <a:pt x="2897" y="427"/>
                    <a:pt x="2897" y="453"/>
                  </a:cubicBezTo>
                  <a:close/>
                  <a:moveTo>
                    <a:pt x="2997" y="453"/>
                  </a:moveTo>
                  <a:cubicBezTo>
                    <a:pt x="2997" y="478"/>
                    <a:pt x="2975" y="500"/>
                    <a:pt x="2950" y="500"/>
                  </a:cubicBezTo>
                  <a:cubicBezTo>
                    <a:pt x="2924" y="500"/>
                    <a:pt x="2903" y="478"/>
                    <a:pt x="2903" y="453"/>
                  </a:cubicBezTo>
                  <a:cubicBezTo>
                    <a:pt x="2903" y="427"/>
                    <a:pt x="2924" y="406"/>
                    <a:pt x="2950" y="406"/>
                  </a:cubicBezTo>
                  <a:cubicBezTo>
                    <a:pt x="2975" y="406"/>
                    <a:pt x="2997" y="427"/>
                    <a:pt x="2997" y="453"/>
                  </a:cubicBezTo>
                  <a:close/>
                  <a:moveTo>
                    <a:pt x="3097" y="453"/>
                  </a:moveTo>
                  <a:cubicBezTo>
                    <a:pt x="3097" y="478"/>
                    <a:pt x="3075" y="500"/>
                    <a:pt x="3050" y="500"/>
                  </a:cubicBezTo>
                  <a:cubicBezTo>
                    <a:pt x="3024" y="500"/>
                    <a:pt x="3003" y="478"/>
                    <a:pt x="3003" y="453"/>
                  </a:cubicBezTo>
                  <a:cubicBezTo>
                    <a:pt x="3003" y="427"/>
                    <a:pt x="3024" y="406"/>
                    <a:pt x="3050" y="406"/>
                  </a:cubicBezTo>
                  <a:cubicBezTo>
                    <a:pt x="3075" y="406"/>
                    <a:pt x="3097" y="427"/>
                    <a:pt x="3097" y="453"/>
                  </a:cubicBezTo>
                  <a:close/>
                  <a:moveTo>
                    <a:pt x="3197" y="453"/>
                  </a:moveTo>
                  <a:cubicBezTo>
                    <a:pt x="3197" y="478"/>
                    <a:pt x="3175" y="500"/>
                    <a:pt x="3150" y="500"/>
                  </a:cubicBezTo>
                  <a:cubicBezTo>
                    <a:pt x="3124" y="500"/>
                    <a:pt x="3103" y="478"/>
                    <a:pt x="3103" y="453"/>
                  </a:cubicBezTo>
                  <a:cubicBezTo>
                    <a:pt x="3103" y="427"/>
                    <a:pt x="3124" y="406"/>
                    <a:pt x="3150" y="406"/>
                  </a:cubicBezTo>
                  <a:cubicBezTo>
                    <a:pt x="3175" y="406"/>
                    <a:pt x="3197" y="427"/>
                    <a:pt x="3197" y="453"/>
                  </a:cubicBezTo>
                  <a:close/>
                  <a:moveTo>
                    <a:pt x="3297" y="453"/>
                  </a:moveTo>
                  <a:cubicBezTo>
                    <a:pt x="3297" y="478"/>
                    <a:pt x="3275" y="500"/>
                    <a:pt x="3250" y="500"/>
                  </a:cubicBezTo>
                  <a:cubicBezTo>
                    <a:pt x="3224" y="500"/>
                    <a:pt x="3203" y="478"/>
                    <a:pt x="3203" y="453"/>
                  </a:cubicBezTo>
                  <a:cubicBezTo>
                    <a:pt x="3203" y="427"/>
                    <a:pt x="3224" y="406"/>
                    <a:pt x="3250" y="406"/>
                  </a:cubicBezTo>
                  <a:cubicBezTo>
                    <a:pt x="3275" y="406"/>
                    <a:pt x="3297" y="427"/>
                    <a:pt x="3297" y="453"/>
                  </a:cubicBezTo>
                  <a:close/>
                  <a:moveTo>
                    <a:pt x="3397" y="453"/>
                  </a:moveTo>
                  <a:cubicBezTo>
                    <a:pt x="3397" y="478"/>
                    <a:pt x="3375" y="500"/>
                    <a:pt x="3350" y="500"/>
                  </a:cubicBezTo>
                  <a:cubicBezTo>
                    <a:pt x="3324" y="500"/>
                    <a:pt x="3303" y="478"/>
                    <a:pt x="3303" y="453"/>
                  </a:cubicBezTo>
                  <a:cubicBezTo>
                    <a:pt x="3303" y="427"/>
                    <a:pt x="3324" y="406"/>
                    <a:pt x="3350" y="406"/>
                  </a:cubicBezTo>
                  <a:cubicBezTo>
                    <a:pt x="3375" y="406"/>
                    <a:pt x="3397" y="427"/>
                    <a:pt x="3397" y="453"/>
                  </a:cubicBezTo>
                  <a:close/>
                  <a:moveTo>
                    <a:pt x="3497" y="453"/>
                  </a:moveTo>
                  <a:cubicBezTo>
                    <a:pt x="3497" y="478"/>
                    <a:pt x="3475" y="500"/>
                    <a:pt x="3450" y="500"/>
                  </a:cubicBezTo>
                  <a:cubicBezTo>
                    <a:pt x="3424" y="500"/>
                    <a:pt x="3403" y="478"/>
                    <a:pt x="3403" y="453"/>
                  </a:cubicBezTo>
                  <a:cubicBezTo>
                    <a:pt x="3403" y="427"/>
                    <a:pt x="3424" y="406"/>
                    <a:pt x="3450" y="406"/>
                  </a:cubicBezTo>
                  <a:cubicBezTo>
                    <a:pt x="3475" y="406"/>
                    <a:pt x="3497" y="427"/>
                    <a:pt x="3497" y="453"/>
                  </a:cubicBezTo>
                  <a:close/>
                  <a:moveTo>
                    <a:pt x="3597" y="453"/>
                  </a:moveTo>
                  <a:cubicBezTo>
                    <a:pt x="3597" y="478"/>
                    <a:pt x="3575" y="500"/>
                    <a:pt x="3550" y="500"/>
                  </a:cubicBezTo>
                  <a:cubicBezTo>
                    <a:pt x="3524" y="500"/>
                    <a:pt x="3503" y="478"/>
                    <a:pt x="3503" y="453"/>
                  </a:cubicBezTo>
                  <a:cubicBezTo>
                    <a:pt x="3503" y="427"/>
                    <a:pt x="3524" y="406"/>
                    <a:pt x="3550" y="406"/>
                  </a:cubicBezTo>
                  <a:cubicBezTo>
                    <a:pt x="3575" y="406"/>
                    <a:pt x="3597" y="427"/>
                    <a:pt x="3597" y="453"/>
                  </a:cubicBezTo>
                  <a:close/>
                  <a:moveTo>
                    <a:pt x="3697" y="453"/>
                  </a:moveTo>
                  <a:cubicBezTo>
                    <a:pt x="3697" y="478"/>
                    <a:pt x="3675" y="500"/>
                    <a:pt x="3650" y="500"/>
                  </a:cubicBezTo>
                  <a:cubicBezTo>
                    <a:pt x="3624" y="500"/>
                    <a:pt x="3603" y="478"/>
                    <a:pt x="3603" y="453"/>
                  </a:cubicBezTo>
                  <a:cubicBezTo>
                    <a:pt x="3603" y="427"/>
                    <a:pt x="3624" y="406"/>
                    <a:pt x="3650" y="406"/>
                  </a:cubicBezTo>
                  <a:cubicBezTo>
                    <a:pt x="3675" y="406"/>
                    <a:pt x="3697" y="427"/>
                    <a:pt x="3697" y="453"/>
                  </a:cubicBezTo>
                  <a:close/>
                  <a:moveTo>
                    <a:pt x="3797" y="453"/>
                  </a:moveTo>
                  <a:cubicBezTo>
                    <a:pt x="3797" y="478"/>
                    <a:pt x="3775" y="500"/>
                    <a:pt x="3750" y="500"/>
                  </a:cubicBezTo>
                  <a:cubicBezTo>
                    <a:pt x="3724" y="500"/>
                    <a:pt x="3703" y="478"/>
                    <a:pt x="3703" y="453"/>
                  </a:cubicBezTo>
                  <a:cubicBezTo>
                    <a:pt x="3703" y="427"/>
                    <a:pt x="3724" y="406"/>
                    <a:pt x="3750" y="406"/>
                  </a:cubicBezTo>
                  <a:cubicBezTo>
                    <a:pt x="3775" y="406"/>
                    <a:pt x="3797" y="427"/>
                    <a:pt x="3797" y="453"/>
                  </a:cubicBezTo>
                  <a:close/>
                  <a:moveTo>
                    <a:pt x="3897" y="453"/>
                  </a:moveTo>
                  <a:cubicBezTo>
                    <a:pt x="3897" y="478"/>
                    <a:pt x="3875" y="500"/>
                    <a:pt x="3850" y="500"/>
                  </a:cubicBezTo>
                  <a:cubicBezTo>
                    <a:pt x="3824" y="500"/>
                    <a:pt x="3803" y="478"/>
                    <a:pt x="3803" y="453"/>
                  </a:cubicBezTo>
                  <a:cubicBezTo>
                    <a:pt x="3803" y="427"/>
                    <a:pt x="3824" y="406"/>
                    <a:pt x="3850" y="406"/>
                  </a:cubicBezTo>
                  <a:cubicBezTo>
                    <a:pt x="3875" y="406"/>
                    <a:pt x="3897" y="427"/>
                    <a:pt x="3897" y="453"/>
                  </a:cubicBezTo>
                  <a:close/>
                  <a:moveTo>
                    <a:pt x="3997" y="453"/>
                  </a:moveTo>
                  <a:cubicBezTo>
                    <a:pt x="3997" y="478"/>
                    <a:pt x="3975" y="500"/>
                    <a:pt x="3950" y="500"/>
                  </a:cubicBezTo>
                  <a:cubicBezTo>
                    <a:pt x="3924" y="500"/>
                    <a:pt x="3903" y="478"/>
                    <a:pt x="3903" y="453"/>
                  </a:cubicBezTo>
                  <a:cubicBezTo>
                    <a:pt x="3903" y="427"/>
                    <a:pt x="3924" y="406"/>
                    <a:pt x="3950" y="406"/>
                  </a:cubicBezTo>
                  <a:cubicBezTo>
                    <a:pt x="3975" y="406"/>
                    <a:pt x="3997" y="427"/>
                    <a:pt x="3997" y="453"/>
                  </a:cubicBezTo>
                  <a:close/>
                  <a:moveTo>
                    <a:pt x="4097" y="453"/>
                  </a:moveTo>
                  <a:cubicBezTo>
                    <a:pt x="4097" y="478"/>
                    <a:pt x="4075" y="500"/>
                    <a:pt x="4050" y="500"/>
                  </a:cubicBezTo>
                  <a:cubicBezTo>
                    <a:pt x="4024" y="500"/>
                    <a:pt x="4003" y="478"/>
                    <a:pt x="4003" y="453"/>
                  </a:cubicBezTo>
                  <a:cubicBezTo>
                    <a:pt x="4003" y="427"/>
                    <a:pt x="4024" y="406"/>
                    <a:pt x="4050" y="406"/>
                  </a:cubicBezTo>
                  <a:cubicBezTo>
                    <a:pt x="4075" y="406"/>
                    <a:pt x="4097" y="427"/>
                    <a:pt x="4097" y="453"/>
                  </a:cubicBezTo>
                  <a:close/>
                  <a:moveTo>
                    <a:pt x="4197" y="453"/>
                  </a:moveTo>
                  <a:cubicBezTo>
                    <a:pt x="4197" y="478"/>
                    <a:pt x="4175" y="500"/>
                    <a:pt x="4150" y="500"/>
                  </a:cubicBezTo>
                  <a:cubicBezTo>
                    <a:pt x="4124" y="500"/>
                    <a:pt x="4103" y="478"/>
                    <a:pt x="4103" y="453"/>
                  </a:cubicBezTo>
                  <a:cubicBezTo>
                    <a:pt x="4103" y="427"/>
                    <a:pt x="4124" y="406"/>
                    <a:pt x="4150" y="406"/>
                  </a:cubicBezTo>
                  <a:cubicBezTo>
                    <a:pt x="4175" y="406"/>
                    <a:pt x="4197" y="427"/>
                    <a:pt x="4197" y="453"/>
                  </a:cubicBezTo>
                  <a:close/>
                  <a:moveTo>
                    <a:pt x="4297" y="453"/>
                  </a:moveTo>
                  <a:cubicBezTo>
                    <a:pt x="4297" y="478"/>
                    <a:pt x="4275" y="500"/>
                    <a:pt x="4250" y="500"/>
                  </a:cubicBezTo>
                  <a:cubicBezTo>
                    <a:pt x="4224" y="500"/>
                    <a:pt x="4203" y="478"/>
                    <a:pt x="4203" y="453"/>
                  </a:cubicBezTo>
                  <a:cubicBezTo>
                    <a:pt x="4203" y="427"/>
                    <a:pt x="4224" y="406"/>
                    <a:pt x="4250" y="406"/>
                  </a:cubicBezTo>
                  <a:cubicBezTo>
                    <a:pt x="4275" y="406"/>
                    <a:pt x="4297" y="427"/>
                    <a:pt x="4297" y="453"/>
                  </a:cubicBezTo>
                  <a:close/>
                  <a:moveTo>
                    <a:pt x="4397" y="453"/>
                  </a:moveTo>
                  <a:cubicBezTo>
                    <a:pt x="4397" y="478"/>
                    <a:pt x="4375" y="500"/>
                    <a:pt x="4350" y="500"/>
                  </a:cubicBezTo>
                  <a:cubicBezTo>
                    <a:pt x="4324" y="500"/>
                    <a:pt x="4303" y="478"/>
                    <a:pt x="4303" y="453"/>
                  </a:cubicBezTo>
                  <a:cubicBezTo>
                    <a:pt x="4303" y="427"/>
                    <a:pt x="4324" y="406"/>
                    <a:pt x="4350" y="406"/>
                  </a:cubicBezTo>
                  <a:cubicBezTo>
                    <a:pt x="4375" y="406"/>
                    <a:pt x="4397" y="427"/>
                    <a:pt x="4397" y="453"/>
                  </a:cubicBezTo>
                  <a:close/>
                  <a:moveTo>
                    <a:pt x="4497" y="453"/>
                  </a:moveTo>
                  <a:cubicBezTo>
                    <a:pt x="4497" y="478"/>
                    <a:pt x="4475" y="500"/>
                    <a:pt x="4450" y="500"/>
                  </a:cubicBezTo>
                  <a:cubicBezTo>
                    <a:pt x="4424" y="500"/>
                    <a:pt x="4403" y="478"/>
                    <a:pt x="4403" y="453"/>
                  </a:cubicBezTo>
                  <a:cubicBezTo>
                    <a:pt x="4403" y="427"/>
                    <a:pt x="4424" y="406"/>
                    <a:pt x="4450" y="406"/>
                  </a:cubicBezTo>
                  <a:cubicBezTo>
                    <a:pt x="4475" y="406"/>
                    <a:pt x="4497" y="427"/>
                    <a:pt x="4497" y="453"/>
                  </a:cubicBezTo>
                  <a:close/>
                  <a:moveTo>
                    <a:pt x="4597" y="453"/>
                  </a:moveTo>
                  <a:cubicBezTo>
                    <a:pt x="4597" y="478"/>
                    <a:pt x="4575" y="500"/>
                    <a:pt x="4550" y="500"/>
                  </a:cubicBezTo>
                  <a:cubicBezTo>
                    <a:pt x="4524" y="500"/>
                    <a:pt x="4503" y="478"/>
                    <a:pt x="4503" y="453"/>
                  </a:cubicBezTo>
                  <a:cubicBezTo>
                    <a:pt x="4503" y="427"/>
                    <a:pt x="4524" y="406"/>
                    <a:pt x="4550" y="406"/>
                  </a:cubicBezTo>
                  <a:cubicBezTo>
                    <a:pt x="4575" y="406"/>
                    <a:pt x="4597" y="427"/>
                    <a:pt x="4597" y="453"/>
                  </a:cubicBezTo>
                  <a:close/>
                  <a:moveTo>
                    <a:pt x="4697" y="453"/>
                  </a:moveTo>
                  <a:cubicBezTo>
                    <a:pt x="4697" y="478"/>
                    <a:pt x="4675" y="500"/>
                    <a:pt x="4650" y="500"/>
                  </a:cubicBezTo>
                  <a:cubicBezTo>
                    <a:pt x="4624" y="500"/>
                    <a:pt x="4603" y="478"/>
                    <a:pt x="4603" y="453"/>
                  </a:cubicBezTo>
                  <a:cubicBezTo>
                    <a:pt x="4603" y="427"/>
                    <a:pt x="4624" y="406"/>
                    <a:pt x="4650" y="406"/>
                  </a:cubicBezTo>
                  <a:cubicBezTo>
                    <a:pt x="4675" y="406"/>
                    <a:pt x="4697" y="427"/>
                    <a:pt x="4697" y="453"/>
                  </a:cubicBezTo>
                  <a:close/>
                  <a:moveTo>
                    <a:pt x="4797" y="453"/>
                  </a:moveTo>
                  <a:cubicBezTo>
                    <a:pt x="4797" y="478"/>
                    <a:pt x="4775" y="500"/>
                    <a:pt x="4750" y="500"/>
                  </a:cubicBezTo>
                  <a:cubicBezTo>
                    <a:pt x="4724" y="500"/>
                    <a:pt x="4703" y="478"/>
                    <a:pt x="4703" y="453"/>
                  </a:cubicBezTo>
                  <a:cubicBezTo>
                    <a:pt x="4703" y="427"/>
                    <a:pt x="4724" y="406"/>
                    <a:pt x="4750" y="406"/>
                  </a:cubicBezTo>
                  <a:cubicBezTo>
                    <a:pt x="4775" y="406"/>
                    <a:pt x="4797" y="427"/>
                    <a:pt x="4797" y="453"/>
                  </a:cubicBezTo>
                  <a:close/>
                  <a:moveTo>
                    <a:pt x="4897" y="453"/>
                  </a:moveTo>
                  <a:cubicBezTo>
                    <a:pt x="4897" y="478"/>
                    <a:pt x="4875" y="500"/>
                    <a:pt x="4850" y="500"/>
                  </a:cubicBezTo>
                  <a:cubicBezTo>
                    <a:pt x="4824" y="500"/>
                    <a:pt x="4803" y="478"/>
                    <a:pt x="4803" y="453"/>
                  </a:cubicBezTo>
                  <a:cubicBezTo>
                    <a:pt x="4803" y="427"/>
                    <a:pt x="4824" y="406"/>
                    <a:pt x="4850" y="406"/>
                  </a:cubicBezTo>
                  <a:cubicBezTo>
                    <a:pt x="4875" y="406"/>
                    <a:pt x="4897" y="427"/>
                    <a:pt x="4897" y="453"/>
                  </a:cubicBezTo>
                  <a:close/>
                  <a:moveTo>
                    <a:pt x="4997" y="453"/>
                  </a:moveTo>
                  <a:cubicBezTo>
                    <a:pt x="4997" y="478"/>
                    <a:pt x="4975" y="500"/>
                    <a:pt x="4950" y="500"/>
                  </a:cubicBezTo>
                  <a:cubicBezTo>
                    <a:pt x="4924" y="500"/>
                    <a:pt x="4903" y="478"/>
                    <a:pt x="4903" y="453"/>
                  </a:cubicBezTo>
                  <a:cubicBezTo>
                    <a:pt x="4903" y="427"/>
                    <a:pt x="4924" y="406"/>
                    <a:pt x="4950" y="406"/>
                  </a:cubicBezTo>
                  <a:cubicBezTo>
                    <a:pt x="4975" y="406"/>
                    <a:pt x="4997" y="427"/>
                    <a:pt x="4997" y="453"/>
                  </a:cubicBezTo>
                  <a:close/>
                  <a:moveTo>
                    <a:pt x="5097" y="453"/>
                  </a:moveTo>
                  <a:cubicBezTo>
                    <a:pt x="5097" y="478"/>
                    <a:pt x="5075" y="500"/>
                    <a:pt x="5050" y="500"/>
                  </a:cubicBezTo>
                  <a:cubicBezTo>
                    <a:pt x="5024" y="500"/>
                    <a:pt x="5003" y="478"/>
                    <a:pt x="5003" y="453"/>
                  </a:cubicBezTo>
                  <a:cubicBezTo>
                    <a:pt x="5003" y="427"/>
                    <a:pt x="5024" y="406"/>
                    <a:pt x="5050" y="406"/>
                  </a:cubicBezTo>
                  <a:cubicBezTo>
                    <a:pt x="5075" y="406"/>
                    <a:pt x="5097" y="427"/>
                    <a:pt x="5097" y="453"/>
                  </a:cubicBezTo>
                  <a:close/>
                  <a:moveTo>
                    <a:pt x="5197" y="453"/>
                  </a:moveTo>
                  <a:cubicBezTo>
                    <a:pt x="5197" y="478"/>
                    <a:pt x="5175" y="500"/>
                    <a:pt x="5150" y="500"/>
                  </a:cubicBezTo>
                  <a:cubicBezTo>
                    <a:pt x="5124" y="500"/>
                    <a:pt x="5103" y="478"/>
                    <a:pt x="5103" y="453"/>
                  </a:cubicBezTo>
                  <a:cubicBezTo>
                    <a:pt x="5103" y="427"/>
                    <a:pt x="5124" y="406"/>
                    <a:pt x="5150" y="406"/>
                  </a:cubicBezTo>
                  <a:cubicBezTo>
                    <a:pt x="5175" y="406"/>
                    <a:pt x="5197" y="427"/>
                    <a:pt x="5197" y="453"/>
                  </a:cubicBezTo>
                  <a:close/>
                  <a:moveTo>
                    <a:pt x="5297" y="453"/>
                  </a:moveTo>
                  <a:cubicBezTo>
                    <a:pt x="5297" y="478"/>
                    <a:pt x="5275" y="500"/>
                    <a:pt x="5250" y="500"/>
                  </a:cubicBezTo>
                  <a:cubicBezTo>
                    <a:pt x="5224" y="500"/>
                    <a:pt x="5203" y="478"/>
                    <a:pt x="5203" y="453"/>
                  </a:cubicBezTo>
                  <a:cubicBezTo>
                    <a:pt x="5203" y="427"/>
                    <a:pt x="5224" y="406"/>
                    <a:pt x="5250" y="406"/>
                  </a:cubicBezTo>
                  <a:cubicBezTo>
                    <a:pt x="5275" y="406"/>
                    <a:pt x="5297" y="427"/>
                    <a:pt x="5297" y="453"/>
                  </a:cubicBezTo>
                  <a:close/>
                  <a:moveTo>
                    <a:pt x="5397" y="453"/>
                  </a:moveTo>
                  <a:cubicBezTo>
                    <a:pt x="5397" y="478"/>
                    <a:pt x="5375" y="500"/>
                    <a:pt x="5350" y="500"/>
                  </a:cubicBezTo>
                  <a:cubicBezTo>
                    <a:pt x="5324" y="500"/>
                    <a:pt x="5303" y="478"/>
                    <a:pt x="5303" y="453"/>
                  </a:cubicBezTo>
                  <a:cubicBezTo>
                    <a:pt x="5303" y="427"/>
                    <a:pt x="5324" y="406"/>
                    <a:pt x="5350" y="406"/>
                  </a:cubicBezTo>
                  <a:cubicBezTo>
                    <a:pt x="5375" y="406"/>
                    <a:pt x="5397" y="427"/>
                    <a:pt x="5397" y="453"/>
                  </a:cubicBezTo>
                  <a:close/>
                  <a:moveTo>
                    <a:pt x="5497" y="453"/>
                  </a:moveTo>
                  <a:cubicBezTo>
                    <a:pt x="5497" y="478"/>
                    <a:pt x="5475" y="500"/>
                    <a:pt x="5450" y="500"/>
                  </a:cubicBezTo>
                  <a:cubicBezTo>
                    <a:pt x="5424" y="500"/>
                    <a:pt x="5403" y="478"/>
                    <a:pt x="5403" y="453"/>
                  </a:cubicBezTo>
                  <a:cubicBezTo>
                    <a:pt x="5403" y="427"/>
                    <a:pt x="5424" y="406"/>
                    <a:pt x="5450" y="406"/>
                  </a:cubicBezTo>
                  <a:cubicBezTo>
                    <a:pt x="5475" y="406"/>
                    <a:pt x="5497" y="427"/>
                    <a:pt x="5497" y="453"/>
                  </a:cubicBezTo>
                  <a:close/>
                  <a:moveTo>
                    <a:pt x="5597" y="453"/>
                  </a:moveTo>
                  <a:cubicBezTo>
                    <a:pt x="5597" y="478"/>
                    <a:pt x="5575" y="500"/>
                    <a:pt x="5550" y="500"/>
                  </a:cubicBezTo>
                  <a:cubicBezTo>
                    <a:pt x="5524" y="500"/>
                    <a:pt x="5503" y="478"/>
                    <a:pt x="5503" y="453"/>
                  </a:cubicBezTo>
                  <a:cubicBezTo>
                    <a:pt x="5503" y="427"/>
                    <a:pt x="5524" y="406"/>
                    <a:pt x="5550" y="406"/>
                  </a:cubicBezTo>
                  <a:cubicBezTo>
                    <a:pt x="5575" y="406"/>
                    <a:pt x="5597" y="427"/>
                    <a:pt x="5597" y="453"/>
                  </a:cubicBezTo>
                  <a:close/>
                  <a:moveTo>
                    <a:pt x="5697" y="453"/>
                  </a:moveTo>
                  <a:cubicBezTo>
                    <a:pt x="5697" y="478"/>
                    <a:pt x="5675" y="500"/>
                    <a:pt x="5650" y="500"/>
                  </a:cubicBezTo>
                  <a:cubicBezTo>
                    <a:pt x="5624" y="500"/>
                    <a:pt x="5603" y="478"/>
                    <a:pt x="5603" y="453"/>
                  </a:cubicBezTo>
                  <a:cubicBezTo>
                    <a:pt x="5603" y="427"/>
                    <a:pt x="5624" y="406"/>
                    <a:pt x="5650" y="406"/>
                  </a:cubicBezTo>
                  <a:cubicBezTo>
                    <a:pt x="5675" y="406"/>
                    <a:pt x="5697" y="427"/>
                    <a:pt x="5697" y="453"/>
                  </a:cubicBezTo>
                  <a:close/>
                  <a:moveTo>
                    <a:pt x="5797" y="453"/>
                  </a:moveTo>
                  <a:cubicBezTo>
                    <a:pt x="5797" y="478"/>
                    <a:pt x="5775" y="500"/>
                    <a:pt x="5750" y="500"/>
                  </a:cubicBezTo>
                  <a:cubicBezTo>
                    <a:pt x="5724" y="500"/>
                    <a:pt x="5703" y="478"/>
                    <a:pt x="5703" y="453"/>
                  </a:cubicBezTo>
                  <a:cubicBezTo>
                    <a:pt x="5703" y="427"/>
                    <a:pt x="5724" y="406"/>
                    <a:pt x="5750" y="406"/>
                  </a:cubicBezTo>
                  <a:cubicBezTo>
                    <a:pt x="5775" y="406"/>
                    <a:pt x="5797" y="427"/>
                    <a:pt x="5797" y="453"/>
                  </a:cubicBezTo>
                  <a:close/>
                  <a:moveTo>
                    <a:pt x="5897" y="453"/>
                  </a:moveTo>
                  <a:cubicBezTo>
                    <a:pt x="5897" y="478"/>
                    <a:pt x="5875" y="500"/>
                    <a:pt x="5850" y="500"/>
                  </a:cubicBezTo>
                  <a:cubicBezTo>
                    <a:pt x="5824" y="500"/>
                    <a:pt x="5803" y="478"/>
                    <a:pt x="5803" y="453"/>
                  </a:cubicBezTo>
                  <a:cubicBezTo>
                    <a:pt x="5803" y="427"/>
                    <a:pt x="5824" y="406"/>
                    <a:pt x="5850" y="406"/>
                  </a:cubicBezTo>
                  <a:cubicBezTo>
                    <a:pt x="5875" y="406"/>
                    <a:pt x="5897" y="427"/>
                    <a:pt x="5897" y="453"/>
                  </a:cubicBezTo>
                  <a:close/>
                  <a:moveTo>
                    <a:pt x="5997" y="453"/>
                  </a:moveTo>
                  <a:cubicBezTo>
                    <a:pt x="5997" y="478"/>
                    <a:pt x="5975" y="500"/>
                    <a:pt x="5950" y="500"/>
                  </a:cubicBezTo>
                  <a:cubicBezTo>
                    <a:pt x="5924" y="500"/>
                    <a:pt x="5903" y="478"/>
                    <a:pt x="5903" y="453"/>
                  </a:cubicBezTo>
                  <a:cubicBezTo>
                    <a:pt x="5903" y="427"/>
                    <a:pt x="5924" y="406"/>
                    <a:pt x="5950" y="406"/>
                  </a:cubicBezTo>
                  <a:cubicBezTo>
                    <a:pt x="5975" y="406"/>
                    <a:pt x="5997" y="427"/>
                    <a:pt x="5997" y="453"/>
                  </a:cubicBezTo>
                  <a:close/>
                  <a:moveTo>
                    <a:pt x="6097" y="453"/>
                  </a:moveTo>
                  <a:cubicBezTo>
                    <a:pt x="6097" y="478"/>
                    <a:pt x="6075" y="500"/>
                    <a:pt x="6050" y="500"/>
                  </a:cubicBezTo>
                  <a:cubicBezTo>
                    <a:pt x="6024" y="500"/>
                    <a:pt x="6003" y="478"/>
                    <a:pt x="6003" y="453"/>
                  </a:cubicBezTo>
                  <a:cubicBezTo>
                    <a:pt x="6003" y="427"/>
                    <a:pt x="6024" y="406"/>
                    <a:pt x="6050" y="406"/>
                  </a:cubicBezTo>
                  <a:cubicBezTo>
                    <a:pt x="6075" y="406"/>
                    <a:pt x="6097" y="427"/>
                    <a:pt x="6097" y="453"/>
                  </a:cubicBezTo>
                  <a:close/>
                  <a:moveTo>
                    <a:pt x="6197" y="453"/>
                  </a:moveTo>
                  <a:cubicBezTo>
                    <a:pt x="6197" y="478"/>
                    <a:pt x="6175" y="500"/>
                    <a:pt x="6150" y="500"/>
                  </a:cubicBezTo>
                  <a:cubicBezTo>
                    <a:pt x="6124" y="500"/>
                    <a:pt x="6103" y="478"/>
                    <a:pt x="6103" y="453"/>
                  </a:cubicBezTo>
                  <a:cubicBezTo>
                    <a:pt x="6103" y="427"/>
                    <a:pt x="6124" y="406"/>
                    <a:pt x="6150" y="406"/>
                  </a:cubicBezTo>
                  <a:cubicBezTo>
                    <a:pt x="6175" y="406"/>
                    <a:pt x="6197" y="427"/>
                    <a:pt x="6197" y="453"/>
                  </a:cubicBezTo>
                  <a:close/>
                  <a:moveTo>
                    <a:pt x="6297" y="453"/>
                  </a:moveTo>
                  <a:cubicBezTo>
                    <a:pt x="6297" y="478"/>
                    <a:pt x="6275" y="500"/>
                    <a:pt x="6250" y="500"/>
                  </a:cubicBezTo>
                  <a:cubicBezTo>
                    <a:pt x="6224" y="500"/>
                    <a:pt x="6203" y="478"/>
                    <a:pt x="6203" y="453"/>
                  </a:cubicBezTo>
                  <a:cubicBezTo>
                    <a:pt x="6203" y="427"/>
                    <a:pt x="6224" y="406"/>
                    <a:pt x="6250" y="406"/>
                  </a:cubicBezTo>
                  <a:cubicBezTo>
                    <a:pt x="6275" y="406"/>
                    <a:pt x="6297" y="427"/>
                    <a:pt x="6297" y="453"/>
                  </a:cubicBezTo>
                  <a:close/>
                  <a:moveTo>
                    <a:pt x="6397" y="453"/>
                  </a:moveTo>
                  <a:cubicBezTo>
                    <a:pt x="6397" y="478"/>
                    <a:pt x="6375" y="500"/>
                    <a:pt x="6350" y="500"/>
                  </a:cubicBezTo>
                  <a:cubicBezTo>
                    <a:pt x="6324" y="500"/>
                    <a:pt x="6303" y="478"/>
                    <a:pt x="6303" y="453"/>
                  </a:cubicBezTo>
                  <a:cubicBezTo>
                    <a:pt x="6303" y="427"/>
                    <a:pt x="6324" y="406"/>
                    <a:pt x="6350" y="406"/>
                  </a:cubicBezTo>
                  <a:cubicBezTo>
                    <a:pt x="6375" y="406"/>
                    <a:pt x="6397" y="427"/>
                    <a:pt x="6397" y="453"/>
                  </a:cubicBezTo>
                  <a:close/>
                  <a:moveTo>
                    <a:pt x="6497" y="453"/>
                  </a:moveTo>
                  <a:cubicBezTo>
                    <a:pt x="6497" y="478"/>
                    <a:pt x="6475" y="500"/>
                    <a:pt x="6450" y="500"/>
                  </a:cubicBezTo>
                  <a:cubicBezTo>
                    <a:pt x="6424" y="500"/>
                    <a:pt x="6403" y="478"/>
                    <a:pt x="6403" y="453"/>
                  </a:cubicBezTo>
                  <a:cubicBezTo>
                    <a:pt x="6403" y="427"/>
                    <a:pt x="6424" y="406"/>
                    <a:pt x="6450" y="406"/>
                  </a:cubicBezTo>
                  <a:cubicBezTo>
                    <a:pt x="6475" y="406"/>
                    <a:pt x="6497" y="427"/>
                    <a:pt x="6497" y="453"/>
                  </a:cubicBezTo>
                  <a:close/>
                  <a:moveTo>
                    <a:pt x="6597" y="453"/>
                  </a:moveTo>
                  <a:cubicBezTo>
                    <a:pt x="6597" y="478"/>
                    <a:pt x="6575" y="500"/>
                    <a:pt x="6550" y="500"/>
                  </a:cubicBezTo>
                  <a:cubicBezTo>
                    <a:pt x="6524" y="500"/>
                    <a:pt x="6503" y="478"/>
                    <a:pt x="6503" y="453"/>
                  </a:cubicBezTo>
                  <a:cubicBezTo>
                    <a:pt x="6503" y="427"/>
                    <a:pt x="6524" y="406"/>
                    <a:pt x="6550" y="406"/>
                  </a:cubicBezTo>
                  <a:cubicBezTo>
                    <a:pt x="6575" y="406"/>
                    <a:pt x="6597" y="427"/>
                    <a:pt x="6597" y="453"/>
                  </a:cubicBezTo>
                  <a:close/>
                  <a:moveTo>
                    <a:pt x="6697" y="453"/>
                  </a:moveTo>
                  <a:cubicBezTo>
                    <a:pt x="6697" y="478"/>
                    <a:pt x="6675" y="500"/>
                    <a:pt x="6650" y="500"/>
                  </a:cubicBezTo>
                  <a:cubicBezTo>
                    <a:pt x="6624" y="500"/>
                    <a:pt x="6603" y="478"/>
                    <a:pt x="6603" y="453"/>
                  </a:cubicBezTo>
                  <a:cubicBezTo>
                    <a:pt x="6603" y="427"/>
                    <a:pt x="6624" y="406"/>
                    <a:pt x="6650" y="406"/>
                  </a:cubicBezTo>
                  <a:cubicBezTo>
                    <a:pt x="6675" y="406"/>
                    <a:pt x="6697" y="427"/>
                    <a:pt x="6697" y="453"/>
                  </a:cubicBezTo>
                  <a:close/>
                  <a:moveTo>
                    <a:pt x="6797" y="453"/>
                  </a:moveTo>
                  <a:cubicBezTo>
                    <a:pt x="6797" y="478"/>
                    <a:pt x="6775" y="500"/>
                    <a:pt x="6750" y="500"/>
                  </a:cubicBezTo>
                  <a:cubicBezTo>
                    <a:pt x="6724" y="500"/>
                    <a:pt x="6703" y="478"/>
                    <a:pt x="6703" y="453"/>
                  </a:cubicBezTo>
                  <a:cubicBezTo>
                    <a:pt x="6703" y="427"/>
                    <a:pt x="6724" y="406"/>
                    <a:pt x="6750" y="406"/>
                  </a:cubicBezTo>
                  <a:cubicBezTo>
                    <a:pt x="6775" y="406"/>
                    <a:pt x="6797" y="427"/>
                    <a:pt x="6797" y="453"/>
                  </a:cubicBezTo>
                  <a:close/>
                  <a:moveTo>
                    <a:pt x="6897" y="453"/>
                  </a:moveTo>
                  <a:cubicBezTo>
                    <a:pt x="6897" y="478"/>
                    <a:pt x="6875" y="500"/>
                    <a:pt x="6850" y="500"/>
                  </a:cubicBezTo>
                  <a:cubicBezTo>
                    <a:pt x="6824" y="500"/>
                    <a:pt x="6803" y="478"/>
                    <a:pt x="6803" y="453"/>
                  </a:cubicBezTo>
                  <a:cubicBezTo>
                    <a:pt x="6803" y="427"/>
                    <a:pt x="6824" y="406"/>
                    <a:pt x="6850" y="406"/>
                  </a:cubicBezTo>
                  <a:cubicBezTo>
                    <a:pt x="6875" y="406"/>
                    <a:pt x="6897" y="427"/>
                    <a:pt x="6897" y="453"/>
                  </a:cubicBezTo>
                  <a:close/>
                  <a:moveTo>
                    <a:pt x="6997" y="453"/>
                  </a:moveTo>
                  <a:cubicBezTo>
                    <a:pt x="6997" y="478"/>
                    <a:pt x="6975" y="500"/>
                    <a:pt x="6950" y="500"/>
                  </a:cubicBezTo>
                  <a:cubicBezTo>
                    <a:pt x="6924" y="500"/>
                    <a:pt x="6903" y="478"/>
                    <a:pt x="6903" y="453"/>
                  </a:cubicBezTo>
                  <a:cubicBezTo>
                    <a:pt x="6903" y="427"/>
                    <a:pt x="6924" y="406"/>
                    <a:pt x="6950" y="406"/>
                  </a:cubicBezTo>
                  <a:cubicBezTo>
                    <a:pt x="6975" y="406"/>
                    <a:pt x="6997" y="427"/>
                    <a:pt x="6997" y="453"/>
                  </a:cubicBezTo>
                  <a:close/>
                  <a:moveTo>
                    <a:pt x="7097" y="453"/>
                  </a:moveTo>
                  <a:cubicBezTo>
                    <a:pt x="7097" y="478"/>
                    <a:pt x="7075" y="500"/>
                    <a:pt x="7050" y="500"/>
                  </a:cubicBezTo>
                  <a:cubicBezTo>
                    <a:pt x="7024" y="500"/>
                    <a:pt x="7003" y="478"/>
                    <a:pt x="7003" y="453"/>
                  </a:cubicBezTo>
                  <a:cubicBezTo>
                    <a:pt x="7003" y="427"/>
                    <a:pt x="7024" y="406"/>
                    <a:pt x="7050" y="406"/>
                  </a:cubicBezTo>
                  <a:cubicBezTo>
                    <a:pt x="7075" y="406"/>
                    <a:pt x="7097" y="427"/>
                    <a:pt x="7097" y="453"/>
                  </a:cubicBezTo>
                  <a:close/>
                  <a:moveTo>
                    <a:pt x="7197" y="453"/>
                  </a:moveTo>
                  <a:cubicBezTo>
                    <a:pt x="7197" y="478"/>
                    <a:pt x="7175" y="500"/>
                    <a:pt x="7150" y="500"/>
                  </a:cubicBezTo>
                  <a:cubicBezTo>
                    <a:pt x="7124" y="500"/>
                    <a:pt x="7103" y="478"/>
                    <a:pt x="7103" y="453"/>
                  </a:cubicBezTo>
                  <a:cubicBezTo>
                    <a:pt x="7103" y="427"/>
                    <a:pt x="7124" y="406"/>
                    <a:pt x="7150" y="406"/>
                  </a:cubicBezTo>
                  <a:cubicBezTo>
                    <a:pt x="7175" y="406"/>
                    <a:pt x="7197" y="427"/>
                    <a:pt x="7197" y="453"/>
                  </a:cubicBezTo>
                  <a:close/>
                  <a:moveTo>
                    <a:pt x="7297" y="453"/>
                  </a:moveTo>
                  <a:cubicBezTo>
                    <a:pt x="7297" y="478"/>
                    <a:pt x="7275" y="500"/>
                    <a:pt x="7250" y="500"/>
                  </a:cubicBezTo>
                  <a:cubicBezTo>
                    <a:pt x="7224" y="500"/>
                    <a:pt x="7203" y="478"/>
                    <a:pt x="7203" y="453"/>
                  </a:cubicBezTo>
                  <a:cubicBezTo>
                    <a:pt x="7203" y="427"/>
                    <a:pt x="7224" y="406"/>
                    <a:pt x="7250" y="406"/>
                  </a:cubicBezTo>
                  <a:cubicBezTo>
                    <a:pt x="7275" y="406"/>
                    <a:pt x="7297" y="427"/>
                    <a:pt x="7297" y="453"/>
                  </a:cubicBezTo>
                  <a:close/>
                  <a:moveTo>
                    <a:pt x="7397" y="453"/>
                  </a:moveTo>
                  <a:cubicBezTo>
                    <a:pt x="7397" y="478"/>
                    <a:pt x="7375" y="500"/>
                    <a:pt x="7350" y="500"/>
                  </a:cubicBezTo>
                  <a:cubicBezTo>
                    <a:pt x="7324" y="500"/>
                    <a:pt x="7303" y="478"/>
                    <a:pt x="7303" y="453"/>
                  </a:cubicBezTo>
                  <a:cubicBezTo>
                    <a:pt x="7303" y="427"/>
                    <a:pt x="7324" y="406"/>
                    <a:pt x="7350" y="406"/>
                  </a:cubicBezTo>
                  <a:cubicBezTo>
                    <a:pt x="7375" y="406"/>
                    <a:pt x="7397" y="427"/>
                    <a:pt x="7397" y="453"/>
                  </a:cubicBezTo>
                  <a:close/>
                  <a:moveTo>
                    <a:pt x="7497" y="453"/>
                  </a:moveTo>
                  <a:cubicBezTo>
                    <a:pt x="7497" y="478"/>
                    <a:pt x="7475" y="500"/>
                    <a:pt x="7450" y="500"/>
                  </a:cubicBezTo>
                  <a:cubicBezTo>
                    <a:pt x="7424" y="500"/>
                    <a:pt x="7403" y="478"/>
                    <a:pt x="7403" y="453"/>
                  </a:cubicBezTo>
                  <a:cubicBezTo>
                    <a:pt x="7403" y="427"/>
                    <a:pt x="7424" y="406"/>
                    <a:pt x="7450" y="406"/>
                  </a:cubicBezTo>
                  <a:cubicBezTo>
                    <a:pt x="7475" y="406"/>
                    <a:pt x="7497" y="427"/>
                    <a:pt x="7497" y="453"/>
                  </a:cubicBezTo>
                  <a:close/>
                  <a:moveTo>
                    <a:pt x="7597" y="453"/>
                  </a:moveTo>
                  <a:cubicBezTo>
                    <a:pt x="7597" y="478"/>
                    <a:pt x="7575" y="500"/>
                    <a:pt x="7550" y="500"/>
                  </a:cubicBezTo>
                  <a:cubicBezTo>
                    <a:pt x="7524" y="500"/>
                    <a:pt x="7503" y="478"/>
                    <a:pt x="7503" y="453"/>
                  </a:cubicBezTo>
                  <a:cubicBezTo>
                    <a:pt x="7503" y="427"/>
                    <a:pt x="7524" y="406"/>
                    <a:pt x="7550" y="406"/>
                  </a:cubicBezTo>
                  <a:cubicBezTo>
                    <a:pt x="7575" y="406"/>
                    <a:pt x="7597" y="427"/>
                    <a:pt x="7597" y="453"/>
                  </a:cubicBezTo>
                  <a:close/>
                  <a:moveTo>
                    <a:pt x="7697" y="453"/>
                  </a:moveTo>
                  <a:cubicBezTo>
                    <a:pt x="7697" y="478"/>
                    <a:pt x="7675" y="500"/>
                    <a:pt x="7650" y="500"/>
                  </a:cubicBezTo>
                  <a:cubicBezTo>
                    <a:pt x="7624" y="500"/>
                    <a:pt x="7603" y="478"/>
                    <a:pt x="7603" y="453"/>
                  </a:cubicBezTo>
                  <a:cubicBezTo>
                    <a:pt x="7603" y="427"/>
                    <a:pt x="7624" y="406"/>
                    <a:pt x="7650" y="406"/>
                  </a:cubicBezTo>
                  <a:cubicBezTo>
                    <a:pt x="7675" y="406"/>
                    <a:pt x="7697" y="427"/>
                    <a:pt x="7697" y="453"/>
                  </a:cubicBezTo>
                  <a:close/>
                  <a:moveTo>
                    <a:pt x="7797" y="453"/>
                  </a:moveTo>
                  <a:cubicBezTo>
                    <a:pt x="7797" y="478"/>
                    <a:pt x="7775" y="500"/>
                    <a:pt x="7750" y="500"/>
                  </a:cubicBezTo>
                  <a:cubicBezTo>
                    <a:pt x="7724" y="500"/>
                    <a:pt x="7703" y="478"/>
                    <a:pt x="7703" y="453"/>
                  </a:cubicBezTo>
                  <a:cubicBezTo>
                    <a:pt x="7703" y="427"/>
                    <a:pt x="7724" y="406"/>
                    <a:pt x="7750" y="406"/>
                  </a:cubicBezTo>
                  <a:cubicBezTo>
                    <a:pt x="7775" y="406"/>
                    <a:pt x="7797" y="427"/>
                    <a:pt x="7797" y="453"/>
                  </a:cubicBezTo>
                  <a:close/>
                  <a:moveTo>
                    <a:pt x="7897" y="453"/>
                  </a:moveTo>
                  <a:cubicBezTo>
                    <a:pt x="7897" y="478"/>
                    <a:pt x="7875" y="500"/>
                    <a:pt x="7850" y="500"/>
                  </a:cubicBezTo>
                  <a:cubicBezTo>
                    <a:pt x="7824" y="500"/>
                    <a:pt x="7803" y="478"/>
                    <a:pt x="7803" y="453"/>
                  </a:cubicBezTo>
                  <a:cubicBezTo>
                    <a:pt x="7803" y="427"/>
                    <a:pt x="7824" y="406"/>
                    <a:pt x="7850" y="406"/>
                  </a:cubicBezTo>
                  <a:cubicBezTo>
                    <a:pt x="7875" y="406"/>
                    <a:pt x="7897" y="427"/>
                    <a:pt x="7897" y="453"/>
                  </a:cubicBezTo>
                  <a:close/>
                  <a:moveTo>
                    <a:pt x="7997" y="453"/>
                  </a:moveTo>
                  <a:cubicBezTo>
                    <a:pt x="7997" y="478"/>
                    <a:pt x="7975" y="500"/>
                    <a:pt x="7950" y="500"/>
                  </a:cubicBezTo>
                  <a:cubicBezTo>
                    <a:pt x="7924" y="500"/>
                    <a:pt x="7903" y="478"/>
                    <a:pt x="7903" y="453"/>
                  </a:cubicBezTo>
                  <a:cubicBezTo>
                    <a:pt x="7903" y="427"/>
                    <a:pt x="7924" y="406"/>
                    <a:pt x="7950" y="406"/>
                  </a:cubicBezTo>
                  <a:cubicBezTo>
                    <a:pt x="7975" y="406"/>
                    <a:pt x="7997" y="427"/>
                    <a:pt x="7997" y="453"/>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1" name="Forma 10"/>
            <p:cNvSpPr/>
            <p:nvPr/>
          </p:nvSpPr>
          <p:spPr>
            <a:xfrm>
              <a:off x="365760" y="2560320"/>
              <a:ext cx="7315200" cy="457200"/>
            </a:xfrm>
            <a:custGeom>
              <a:avLst/>
              <a:gdLst/>
              <a:ahLst/>
              <a:cxnLst/>
              <a:rect l="0" t="0" r="r" b="b"/>
              <a:pathLst>
                <a:path w="8000" h="500" fill="none">
                  <a:moveTo>
                    <a:pt x="35" y="94"/>
                  </a:moveTo>
                  <a:lnTo>
                    <a:pt x="35" y="240"/>
                  </a:lnTo>
                </a:path>
                <a:path w="8000" h="500" fill="none">
                  <a:moveTo>
                    <a:pt x="65" y="94"/>
                  </a:moveTo>
                  <a:lnTo>
                    <a:pt x="65" y="240"/>
                  </a:lnTo>
                </a:path>
                <a:path w="8000" h="500" fill="none">
                  <a:moveTo>
                    <a:pt x="35" y="406"/>
                  </a:moveTo>
                  <a:lnTo>
                    <a:pt x="35" y="260"/>
                  </a:lnTo>
                </a:path>
                <a:path w="8000" h="500" fill="none">
                  <a:moveTo>
                    <a:pt x="65" y="406"/>
                  </a:moveTo>
                  <a:lnTo>
                    <a:pt x="65" y="260"/>
                  </a:lnTo>
                </a:path>
                <a:path w="8000" h="500" fill="none">
                  <a:moveTo>
                    <a:pt x="135" y="94"/>
                  </a:moveTo>
                  <a:lnTo>
                    <a:pt x="135" y="240"/>
                  </a:lnTo>
                </a:path>
                <a:path w="8000" h="500" fill="none">
                  <a:moveTo>
                    <a:pt x="165" y="94"/>
                  </a:moveTo>
                  <a:lnTo>
                    <a:pt x="165" y="240"/>
                  </a:lnTo>
                </a:path>
                <a:path w="8000" h="500" fill="none">
                  <a:moveTo>
                    <a:pt x="135" y="406"/>
                  </a:moveTo>
                  <a:lnTo>
                    <a:pt x="135" y="260"/>
                  </a:lnTo>
                </a:path>
                <a:path w="8000" h="500" fill="none">
                  <a:moveTo>
                    <a:pt x="165" y="406"/>
                  </a:moveTo>
                  <a:lnTo>
                    <a:pt x="165" y="260"/>
                  </a:lnTo>
                </a:path>
                <a:path w="8000" h="500" fill="none">
                  <a:moveTo>
                    <a:pt x="235" y="94"/>
                  </a:moveTo>
                  <a:lnTo>
                    <a:pt x="235" y="240"/>
                  </a:lnTo>
                </a:path>
                <a:path w="8000" h="500" fill="none">
                  <a:moveTo>
                    <a:pt x="265" y="94"/>
                  </a:moveTo>
                  <a:lnTo>
                    <a:pt x="265" y="240"/>
                  </a:lnTo>
                </a:path>
                <a:path w="8000" h="500" fill="none">
                  <a:moveTo>
                    <a:pt x="235" y="406"/>
                  </a:moveTo>
                  <a:lnTo>
                    <a:pt x="235" y="260"/>
                  </a:lnTo>
                </a:path>
                <a:path w="8000" h="500" fill="none">
                  <a:moveTo>
                    <a:pt x="265" y="406"/>
                  </a:moveTo>
                  <a:lnTo>
                    <a:pt x="265" y="260"/>
                  </a:lnTo>
                </a:path>
                <a:path w="8000" h="500" fill="none">
                  <a:moveTo>
                    <a:pt x="335" y="94"/>
                  </a:moveTo>
                  <a:lnTo>
                    <a:pt x="335" y="240"/>
                  </a:lnTo>
                </a:path>
                <a:path w="8000" h="500" fill="none">
                  <a:moveTo>
                    <a:pt x="365" y="94"/>
                  </a:moveTo>
                  <a:lnTo>
                    <a:pt x="365" y="240"/>
                  </a:lnTo>
                </a:path>
                <a:path w="8000" h="500" fill="none">
                  <a:moveTo>
                    <a:pt x="335" y="406"/>
                  </a:moveTo>
                  <a:lnTo>
                    <a:pt x="335" y="260"/>
                  </a:lnTo>
                </a:path>
                <a:path w="8000" h="500" fill="none">
                  <a:moveTo>
                    <a:pt x="365" y="406"/>
                  </a:moveTo>
                  <a:lnTo>
                    <a:pt x="365" y="260"/>
                  </a:lnTo>
                </a:path>
                <a:path w="8000" h="500" fill="none">
                  <a:moveTo>
                    <a:pt x="435" y="94"/>
                  </a:moveTo>
                  <a:lnTo>
                    <a:pt x="435" y="240"/>
                  </a:lnTo>
                </a:path>
                <a:path w="8000" h="500" fill="none">
                  <a:moveTo>
                    <a:pt x="465" y="94"/>
                  </a:moveTo>
                  <a:lnTo>
                    <a:pt x="465" y="240"/>
                  </a:lnTo>
                </a:path>
                <a:path w="8000" h="500" fill="none">
                  <a:moveTo>
                    <a:pt x="435" y="406"/>
                  </a:moveTo>
                  <a:lnTo>
                    <a:pt x="435" y="260"/>
                  </a:lnTo>
                </a:path>
                <a:path w="8000" h="500" fill="none">
                  <a:moveTo>
                    <a:pt x="465" y="406"/>
                  </a:moveTo>
                  <a:lnTo>
                    <a:pt x="465" y="260"/>
                  </a:lnTo>
                </a:path>
                <a:path w="8000" h="500" fill="none">
                  <a:moveTo>
                    <a:pt x="535" y="94"/>
                  </a:moveTo>
                  <a:lnTo>
                    <a:pt x="535" y="240"/>
                  </a:lnTo>
                </a:path>
                <a:path w="8000" h="500" fill="none">
                  <a:moveTo>
                    <a:pt x="565" y="94"/>
                  </a:moveTo>
                  <a:lnTo>
                    <a:pt x="565" y="240"/>
                  </a:lnTo>
                </a:path>
                <a:path w="8000" h="500" fill="none">
                  <a:moveTo>
                    <a:pt x="535" y="406"/>
                  </a:moveTo>
                  <a:lnTo>
                    <a:pt x="535" y="260"/>
                  </a:lnTo>
                </a:path>
                <a:path w="8000" h="500" fill="none">
                  <a:moveTo>
                    <a:pt x="565" y="406"/>
                  </a:moveTo>
                  <a:lnTo>
                    <a:pt x="565" y="260"/>
                  </a:lnTo>
                </a:path>
                <a:path w="8000" h="500" fill="none">
                  <a:moveTo>
                    <a:pt x="635" y="94"/>
                  </a:moveTo>
                  <a:lnTo>
                    <a:pt x="635" y="240"/>
                  </a:lnTo>
                </a:path>
                <a:path w="8000" h="500" fill="none">
                  <a:moveTo>
                    <a:pt x="665" y="94"/>
                  </a:moveTo>
                  <a:lnTo>
                    <a:pt x="665" y="240"/>
                  </a:lnTo>
                </a:path>
                <a:path w="8000" h="500" fill="none">
                  <a:moveTo>
                    <a:pt x="635" y="406"/>
                  </a:moveTo>
                  <a:lnTo>
                    <a:pt x="635" y="260"/>
                  </a:lnTo>
                </a:path>
                <a:path w="8000" h="500" fill="none">
                  <a:moveTo>
                    <a:pt x="665" y="406"/>
                  </a:moveTo>
                  <a:lnTo>
                    <a:pt x="665" y="260"/>
                  </a:lnTo>
                </a:path>
                <a:path w="8000" h="500" fill="none">
                  <a:moveTo>
                    <a:pt x="735" y="94"/>
                  </a:moveTo>
                  <a:lnTo>
                    <a:pt x="735" y="240"/>
                  </a:lnTo>
                </a:path>
                <a:path w="8000" h="500" fill="none">
                  <a:moveTo>
                    <a:pt x="765" y="94"/>
                  </a:moveTo>
                  <a:lnTo>
                    <a:pt x="765" y="240"/>
                  </a:lnTo>
                </a:path>
                <a:path w="8000" h="500" fill="none">
                  <a:moveTo>
                    <a:pt x="735" y="406"/>
                  </a:moveTo>
                  <a:lnTo>
                    <a:pt x="735" y="260"/>
                  </a:lnTo>
                </a:path>
                <a:path w="8000" h="500" fill="none">
                  <a:moveTo>
                    <a:pt x="765" y="406"/>
                  </a:moveTo>
                  <a:lnTo>
                    <a:pt x="765" y="260"/>
                  </a:lnTo>
                </a:path>
                <a:path w="8000" h="500" fill="none">
                  <a:moveTo>
                    <a:pt x="835" y="94"/>
                  </a:moveTo>
                  <a:lnTo>
                    <a:pt x="835" y="240"/>
                  </a:lnTo>
                </a:path>
                <a:path w="8000" h="500" fill="none">
                  <a:moveTo>
                    <a:pt x="865" y="94"/>
                  </a:moveTo>
                  <a:lnTo>
                    <a:pt x="865" y="240"/>
                  </a:lnTo>
                </a:path>
                <a:path w="8000" h="500" fill="none">
                  <a:moveTo>
                    <a:pt x="835" y="406"/>
                  </a:moveTo>
                  <a:lnTo>
                    <a:pt x="835" y="260"/>
                  </a:lnTo>
                </a:path>
                <a:path w="8000" h="500" fill="none">
                  <a:moveTo>
                    <a:pt x="865" y="406"/>
                  </a:moveTo>
                  <a:lnTo>
                    <a:pt x="865" y="260"/>
                  </a:lnTo>
                </a:path>
                <a:path w="8000" h="500" fill="none">
                  <a:moveTo>
                    <a:pt x="935" y="94"/>
                  </a:moveTo>
                  <a:lnTo>
                    <a:pt x="935" y="240"/>
                  </a:lnTo>
                </a:path>
                <a:path w="8000" h="500" fill="none">
                  <a:moveTo>
                    <a:pt x="965" y="94"/>
                  </a:moveTo>
                  <a:lnTo>
                    <a:pt x="965" y="240"/>
                  </a:lnTo>
                </a:path>
                <a:path w="8000" h="500" fill="none">
                  <a:moveTo>
                    <a:pt x="935" y="406"/>
                  </a:moveTo>
                  <a:lnTo>
                    <a:pt x="935" y="260"/>
                  </a:lnTo>
                </a:path>
                <a:path w="8000" h="500" fill="none">
                  <a:moveTo>
                    <a:pt x="965" y="406"/>
                  </a:moveTo>
                  <a:lnTo>
                    <a:pt x="965" y="260"/>
                  </a:lnTo>
                </a:path>
                <a:path w="8000" h="500" fill="none">
                  <a:moveTo>
                    <a:pt x="1035" y="94"/>
                  </a:moveTo>
                  <a:lnTo>
                    <a:pt x="1035" y="240"/>
                  </a:lnTo>
                </a:path>
                <a:path w="8000" h="500" fill="none">
                  <a:moveTo>
                    <a:pt x="1065" y="94"/>
                  </a:moveTo>
                  <a:lnTo>
                    <a:pt x="1065" y="240"/>
                  </a:lnTo>
                </a:path>
                <a:path w="8000" h="500" fill="none">
                  <a:moveTo>
                    <a:pt x="1035" y="406"/>
                  </a:moveTo>
                  <a:lnTo>
                    <a:pt x="1035" y="260"/>
                  </a:lnTo>
                </a:path>
                <a:path w="8000" h="500" fill="none">
                  <a:moveTo>
                    <a:pt x="1065" y="406"/>
                  </a:moveTo>
                  <a:lnTo>
                    <a:pt x="1065" y="260"/>
                  </a:lnTo>
                </a:path>
                <a:path w="8000" h="500" fill="none">
                  <a:moveTo>
                    <a:pt x="1135" y="94"/>
                  </a:moveTo>
                  <a:lnTo>
                    <a:pt x="1135" y="240"/>
                  </a:lnTo>
                </a:path>
                <a:path w="8000" h="500" fill="none">
                  <a:moveTo>
                    <a:pt x="1165" y="94"/>
                  </a:moveTo>
                  <a:lnTo>
                    <a:pt x="1165" y="240"/>
                  </a:lnTo>
                </a:path>
                <a:path w="8000" h="500" fill="none">
                  <a:moveTo>
                    <a:pt x="1135" y="406"/>
                  </a:moveTo>
                  <a:lnTo>
                    <a:pt x="1135" y="260"/>
                  </a:lnTo>
                </a:path>
                <a:path w="8000" h="500" fill="none">
                  <a:moveTo>
                    <a:pt x="1165" y="406"/>
                  </a:moveTo>
                  <a:lnTo>
                    <a:pt x="1165" y="260"/>
                  </a:lnTo>
                </a:path>
                <a:path w="8000" h="500" fill="none">
                  <a:moveTo>
                    <a:pt x="1235" y="94"/>
                  </a:moveTo>
                  <a:lnTo>
                    <a:pt x="1235" y="240"/>
                  </a:lnTo>
                </a:path>
                <a:path w="8000" h="500" fill="none">
                  <a:moveTo>
                    <a:pt x="1265" y="94"/>
                  </a:moveTo>
                  <a:lnTo>
                    <a:pt x="1265" y="240"/>
                  </a:lnTo>
                </a:path>
                <a:path w="8000" h="500" fill="none">
                  <a:moveTo>
                    <a:pt x="1235" y="406"/>
                  </a:moveTo>
                  <a:lnTo>
                    <a:pt x="1235" y="260"/>
                  </a:lnTo>
                </a:path>
                <a:path w="8000" h="500" fill="none">
                  <a:moveTo>
                    <a:pt x="1265" y="406"/>
                  </a:moveTo>
                  <a:lnTo>
                    <a:pt x="1265" y="260"/>
                  </a:lnTo>
                </a:path>
                <a:path w="8000" h="500" fill="none">
                  <a:moveTo>
                    <a:pt x="1335" y="94"/>
                  </a:moveTo>
                  <a:lnTo>
                    <a:pt x="1335" y="240"/>
                  </a:lnTo>
                </a:path>
                <a:path w="8000" h="500" fill="none">
                  <a:moveTo>
                    <a:pt x="1365" y="94"/>
                  </a:moveTo>
                  <a:lnTo>
                    <a:pt x="1365" y="240"/>
                  </a:lnTo>
                </a:path>
                <a:path w="8000" h="500" fill="none">
                  <a:moveTo>
                    <a:pt x="1335" y="406"/>
                  </a:moveTo>
                  <a:lnTo>
                    <a:pt x="1335" y="260"/>
                  </a:lnTo>
                </a:path>
                <a:path w="8000" h="500" fill="none">
                  <a:moveTo>
                    <a:pt x="1365" y="406"/>
                  </a:moveTo>
                  <a:lnTo>
                    <a:pt x="1365" y="260"/>
                  </a:lnTo>
                </a:path>
                <a:path w="8000" h="500" fill="none">
                  <a:moveTo>
                    <a:pt x="1435" y="94"/>
                  </a:moveTo>
                  <a:lnTo>
                    <a:pt x="1435" y="240"/>
                  </a:lnTo>
                </a:path>
                <a:path w="8000" h="500" fill="none">
                  <a:moveTo>
                    <a:pt x="1465" y="94"/>
                  </a:moveTo>
                  <a:lnTo>
                    <a:pt x="1465" y="240"/>
                  </a:lnTo>
                </a:path>
                <a:path w="8000" h="500" fill="none">
                  <a:moveTo>
                    <a:pt x="1435" y="406"/>
                  </a:moveTo>
                  <a:lnTo>
                    <a:pt x="1435" y="260"/>
                  </a:lnTo>
                </a:path>
                <a:path w="8000" h="500" fill="none">
                  <a:moveTo>
                    <a:pt x="1465" y="406"/>
                  </a:moveTo>
                  <a:lnTo>
                    <a:pt x="1465" y="260"/>
                  </a:lnTo>
                </a:path>
                <a:path w="8000" h="500" fill="none">
                  <a:moveTo>
                    <a:pt x="1535" y="94"/>
                  </a:moveTo>
                  <a:lnTo>
                    <a:pt x="1535" y="240"/>
                  </a:lnTo>
                </a:path>
                <a:path w="8000" h="500" fill="none">
                  <a:moveTo>
                    <a:pt x="1565" y="94"/>
                  </a:moveTo>
                  <a:lnTo>
                    <a:pt x="1565" y="240"/>
                  </a:lnTo>
                </a:path>
                <a:path w="8000" h="500" fill="none">
                  <a:moveTo>
                    <a:pt x="1535" y="406"/>
                  </a:moveTo>
                  <a:lnTo>
                    <a:pt x="1535" y="260"/>
                  </a:lnTo>
                </a:path>
                <a:path w="8000" h="500" fill="none">
                  <a:moveTo>
                    <a:pt x="1565" y="406"/>
                  </a:moveTo>
                  <a:lnTo>
                    <a:pt x="1565" y="260"/>
                  </a:lnTo>
                </a:path>
                <a:path w="8000" h="500" fill="none">
                  <a:moveTo>
                    <a:pt x="1635" y="94"/>
                  </a:moveTo>
                  <a:lnTo>
                    <a:pt x="1635" y="240"/>
                  </a:lnTo>
                </a:path>
                <a:path w="8000" h="500" fill="none">
                  <a:moveTo>
                    <a:pt x="1665" y="94"/>
                  </a:moveTo>
                  <a:lnTo>
                    <a:pt x="1665" y="240"/>
                  </a:lnTo>
                </a:path>
                <a:path w="8000" h="500" fill="none">
                  <a:moveTo>
                    <a:pt x="1635" y="406"/>
                  </a:moveTo>
                  <a:lnTo>
                    <a:pt x="1635" y="260"/>
                  </a:lnTo>
                </a:path>
                <a:path w="8000" h="500" fill="none">
                  <a:moveTo>
                    <a:pt x="1665" y="406"/>
                  </a:moveTo>
                  <a:lnTo>
                    <a:pt x="1665" y="260"/>
                  </a:lnTo>
                </a:path>
                <a:path w="8000" h="500" fill="none">
                  <a:moveTo>
                    <a:pt x="1735" y="94"/>
                  </a:moveTo>
                  <a:lnTo>
                    <a:pt x="1735" y="240"/>
                  </a:lnTo>
                </a:path>
                <a:path w="8000" h="500" fill="none">
                  <a:moveTo>
                    <a:pt x="1765" y="94"/>
                  </a:moveTo>
                  <a:lnTo>
                    <a:pt x="1765" y="240"/>
                  </a:lnTo>
                </a:path>
                <a:path w="8000" h="500" fill="none">
                  <a:moveTo>
                    <a:pt x="1735" y="406"/>
                  </a:moveTo>
                  <a:lnTo>
                    <a:pt x="1735" y="260"/>
                  </a:lnTo>
                </a:path>
                <a:path w="8000" h="500" fill="none">
                  <a:moveTo>
                    <a:pt x="1765" y="406"/>
                  </a:moveTo>
                  <a:lnTo>
                    <a:pt x="1765" y="260"/>
                  </a:lnTo>
                </a:path>
                <a:path w="8000" h="500" fill="none">
                  <a:moveTo>
                    <a:pt x="1835" y="94"/>
                  </a:moveTo>
                  <a:lnTo>
                    <a:pt x="1835" y="240"/>
                  </a:lnTo>
                </a:path>
                <a:path w="8000" h="500" fill="none">
                  <a:moveTo>
                    <a:pt x="1865" y="94"/>
                  </a:moveTo>
                  <a:lnTo>
                    <a:pt x="1865" y="240"/>
                  </a:lnTo>
                </a:path>
                <a:path w="8000" h="500" fill="none">
                  <a:moveTo>
                    <a:pt x="1835" y="406"/>
                  </a:moveTo>
                  <a:lnTo>
                    <a:pt x="1835" y="260"/>
                  </a:lnTo>
                </a:path>
                <a:path w="8000" h="500" fill="none">
                  <a:moveTo>
                    <a:pt x="1865" y="406"/>
                  </a:moveTo>
                  <a:lnTo>
                    <a:pt x="1865" y="260"/>
                  </a:lnTo>
                </a:path>
                <a:path w="8000" h="500" fill="none">
                  <a:moveTo>
                    <a:pt x="1935" y="94"/>
                  </a:moveTo>
                  <a:lnTo>
                    <a:pt x="1935" y="240"/>
                  </a:lnTo>
                </a:path>
                <a:path w="8000" h="500" fill="none">
                  <a:moveTo>
                    <a:pt x="1965" y="94"/>
                  </a:moveTo>
                  <a:lnTo>
                    <a:pt x="1965" y="240"/>
                  </a:lnTo>
                </a:path>
                <a:path w="8000" h="500" fill="none">
                  <a:moveTo>
                    <a:pt x="1935" y="406"/>
                  </a:moveTo>
                  <a:lnTo>
                    <a:pt x="1935" y="260"/>
                  </a:lnTo>
                </a:path>
                <a:path w="8000" h="500" fill="none">
                  <a:moveTo>
                    <a:pt x="1965" y="406"/>
                  </a:moveTo>
                  <a:lnTo>
                    <a:pt x="1965" y="260"/>
                  </a:lnTo>
                </a:path>
                <a:path w="8000" h="500" fill="none">
                  <a:moveTo>
                    <a:pt x="2035" y="94"/>
                  </a:moveTo>
                  <a:lnTo>
                    <a:pt x="2035" y="240"/>
                  </a:lnTo>
                </a:path>
                <a:path w="8000" h="500" fill="none">
                  <a:moveTo>
                    <a:pt x="2065" y="94"/>
                  </a:moveTo>
                  <a:lnTo>
                    <a:pt x="2065" y="240"/>
                  </a:lnTo>
                </a:path>
                <a:path w="8000" h="500" fill="none">
                  <a:moveTo>
                    <a:pt x="2035" y="406"/>
                  </a:moveTo>
                  <a:lnTo>
                    <a:pt x="2035" y="260"/>
                  </a:lnTo>
                </a:path>
                <a:path w="8000" h="500" fill="none">
                  <a:moveTo>
                    <a:pt x="2065" y="406"/>
                  </a:moveTo>
                  <a:lnTo>
                    <a:pt x="2065" y="260"/>
                  </a:lnTo>
                </a:path>
                <a:path w="8000" h="500" fill="none">
                  <a:moveTo>
                    <a:pt x="2135" y="94"/>
                  </a:moveTo>
                  <a:lnTo>
                    <a:pt x="2135" y="240"/>
                  </a:lnTo>
                </a:path>
                <a:path w="8000" h="500" fill="none">
                  <a:moveTo>
                    <a:pt x="2165" y="94"/>
                  </a:moveTo>
                  <a:lnTo>
                    <a:pt x="2165" y="240"/>
                  </a:lnTo>
                </a:path>
                <a:path w="8000" h="500" fill="none">
                  <a:moveTo>
                    <a:pt x="2135" y="406"/>
                  </a:moveTo>
                  <a:lnTo>
                    <a:pt x="2135" y="260"/>
                  </a:lnTo>
                </a:path>
                <a:path w="8000" h="500" fill="none">
                  <a:moveTo>
                    <a:pt x="2165" y="406"/>
                  </a:moveTo>
                  <a:lnTo>
                    <a:pt x="2165" y="260"/>
                  </a:lnTo>
                </a:path>
                <a:path w="8000" h="500" fill="none">
                  <a:moveTo>
                    <a:pt x="2235" y="94"/>
                  </a:moveTo>
                  <a:lnTo>
                    <a:pt x="2235" y="240"/>
                  </a:lnTo>
                </a:path>
                <a:path w="8000" h="500" fill="none">
                  <a:moveTo>
                    <a:pt x="2265" y="94"/>
                  </a:moveTo>
                  <a:lnTo>
                    <a:pt x="2265" y="240"/>
                  </a:lnTo>
                </a:path>
                <a:path w="8000" h="500" fill="none">
                  <a:moveTo>
                    <a:pt x="2235" y="406"/>
                  </a:moveTo>
                  <a:lnTo>
                    <a:pt x="2235" y="260"/>
                  </a:lnTo>
                </a:path>
                <a:path w="8000" h="500" fill="none">
                  <a:moveTo>
                    <a:pt x="2265" y="406"/>
                  </a:moveTo>
                  <a:lnTo>
                    <a:pt x="2265" y="260"/>
                  </a:lnTo>
                </a:path>
                <a:path w="8000" h="500" fill="none">
                  <a:moveTo>
                    <a:pt x="2335" y="94"/>
                  </a:moveTo>
                  <a:lnTo>
                    <a:pt x="2335" y="240"/>
                  </a:lnTo>
                </a:path>
                <a:path w="8000" h="500" fill="none">
                  <a:moveTo>
                    <a:pt x="2365" y="94"/>
                  </a:moveTo>
                  <a:lnTo>
                    <a:pt x="2365" y="240"/>
                  </a:lnTo>
                </a:path>
                <a:path w="8000" h="500" fill="none">
                  <a:moveTo>
                    <a:pt x="2335" y="406"/>
                  </a:moveTo>
                  <a:lnTo>
                    <a:pt x="2335" y="260"/>
                  </a:lnTo>
                </a:path>
                <a:path w="8000" h="500" fill="none">
                  <a:moveTo>
                    <a:pt x="2365" y="406"/>
                  </a:moveTo>
                  <a:lnTo>
                    <a:pt x="2365" y="260"/>
                  </a:lnTo>
                </a:path>
                <a:path w="8000" h="500" fill="none">
                  <a:moveTo>
                    <a:pt x="2435" y="94"/>
                  </a:moveTo>
                  <a:lnTo>
                    <a:pt x="2435" y="240"/>
                  </a:lnTo>
                </a:path>
                <a:path w="8000" h="500" fill="none">
                  <a:moveTo>
                    <a:pt x="2465" y="94"/>
                  </a:moveTo>
                  <a:lnTo>
                    <a:pt x="2465" y="240"/>
                  </a:lnTo>
                </a:path>
                <a:path w="8000" h="500" fill="none">
                  <a:moveTo>
                    <a:pt x="2435" y="406"/>
                  </a:moveTo>
                  <a:lnTo>
                    <a:pt x="2435" y="260"/>
                  </a:lnTo>
                </a:path>
                <a:path w="8000" h="500" fill="none">
                  <a:moveTo>
                    <a:pt x="2465" y="406"/>
                  </a:moveTo>
                  <a:lnTo>
                    <a:pt x="2465" y="260"/>
                  </a:lnTo>
                </a:path>
                <a:path w="8000" h="500" fill="none">
                  <a:moveTo>
                    <a:pt x="2535" y="94"/>
                  </a:moveTo>
                  <a:lnTo>
                    <a:pt x="2535" y="240"/>
                  </a:lnTo>
                </a:path>
                <a:path w="8000" h="500" fill="none">
                  <a:moveTo>
                    <a:pt x="2565" y="94"/>
                  </a:moveTo>
                  <a:lnTo>
                    <a:pt x="2565" y="240"/>
                  </a:lnTo>
                </a:path>
                <a:path w="8000" h="500" fill="none">
                  <a:moveTo>
                    <a:pt x="2535" y="406"/>
                  </a:moveTo>
                  <a:lnTo>
                    <a:pt x="2535" y="260"/>
                  </a:lnTo>
                </a:path>
                <a:path w="8000" h="500" fill="none">
                  <a:moveTo>
                    <a:pt x="2565" y="406"/>
                  </a:moveTo>
                  <a:lnTo>
                    <a:pt x="2565" y="260"/>
                  </a:lnTo>
                </a:path>
                <a:path w="8000" h="500" fill="none">
                  <a:moveTo>
                    <a:pt x="2635" y="94"/>
                  </a:moveTo>
                  <a:lnTo>
                    <a:pt x="2635" y="240"/>
                  </a:lnTo>
                </a:path>
                <a:path w="8000" h="500" fill="none">
                  <a:moveTo>
                    <a:pt x="2665" y="94"/>
                  </a:moveTo>
                  <a:lnTo>
                    <a:pt x="2665" y="240"/>
                  </a:lnTo>
                </a:path>
                <a:path w="8000" h="500" fill="none">
                  <a:moveTo>
                    <a:pt x="2635" y="406"/>
                  </a:moveTo>
                  <a:lnTo>
                    <a:pt x="2635" y="260"/>
                  </a:lnTo>
                </a:path>
                <a:path w="8000" h="500" fill="none">
                  <a:moveTo>
                    <a:pt x="2665" y="406"/>
                  </a:moveTo>
                  <a:lnTo>
                    <a:pt x="2665" y="260"/>
                  </a:lnTo>
                </a:path>
                <a:path w="8000" h="500" fill="none">
                  <a:moveTo>
                    <a:pt x="2735" y="94"/>
                  </a:moveTo>
                  <a:lnTo>
                    <a:pt x="2735" y="240"/>
                  </a:lnTo>
                </a:path>
                <a:path w="8000" h="500" fill="none">
                  <a:moveTo>
                    <a:pt x="2765" y="94"/>
                  </a:moveTo>
                  <a:lnTo>
                    <a:pt x="2765" y="240"/>
                  </a:lnTo>
                </a:path>
                <a:path w="8000" h="500" fill="none">
                  <a:moveTo>
                    <a:pt x="2735" y="406"/>
                  </a:moveTo>
                  <a:lnTo>
                    <a:pt x="2735" y="260"/>
                  </a:lnTo>
                </a:path>
                <a:path w="8000" h="500" fill="none">
                  <a:moveTo>
                    <a:pt x="2765" y="406"/>
                  </a:moveTo>
                  <a:lnTo>
                    <a:pt x="2765" y="260"/>
                  </a:lnTo>
                </a:path>
                <a:path w="8000" h="500" fill="none">
                  <a:moveTo>
                    <a:pt x="2835" y="94"/>
                  </a:moveTo>
                  <a:lnTo>
                    <a:pt x="2835" y="240"/>
                  </a:lnTo>
                </a:path>
                <a:path w="8000" h="500" fill="none">
                  <a:moveTo>
                    <a:pt x="2865" y="94"/>
                  </a:moveTo>
                  <a:lnTo>
                    <a:pt x="2865" y="240"/>
                  </a:lnTo>
                </a:path>
                <a:path w="8000" h="500" fill="none">
                  <a:moveTo>
                    <a:pt x="2835" y="406"/>
                  </a:moveTo>
                  <a:lnTo>
                    <a:pt x="2835" y="260"/>
                  </a:lnTo>
                </a:path>
                <a:path w="8000" h="500" fill="none">
                  <a:moveTo>
                    <a:pt x="2865" y="406"/>
                  </a:moveTo>
                  <a:lnTo>
                    <a:pt x="2865" y="260"/>
                  </a:lnTo>
                </a:path>
                <a:path w="8000" h="500" fill="none">
                  <a:moveTo>
                    <a:pt x="2935" y="94"/>
                  </a:moveTo>
                  <a:lnTo>
                    <a:pt x="2935" y="240"/>
                  </a:lnTo>
                </a:path>
                <a:path w="8000" h="500" fill="none">
                  <a:moveTo>
                    <a:pt x="2965" y="94"/>
                  </a:moveTo>
                  <a:lnTo>
                    <a:pt x="2965" y="240"/>
                  </a:lnTo>
                </a:path>
                <a:path w="8000" h="500" fill="none">
                  <a:moveTo>
                    <a:pt x="2935" y="406"/>
                  </a:moveTo>
                  <a:lnTo>
                    <a:pt x="2935" y="260"/>
                  </a:lnTo>
                </a:path>
                <a:path w="8000" h="500" fill="none">
                  <a:moveTo>
                    <a:pt x="2965" y="406"/>
                  </a:moveTo>
                  <a:lnTo>
                    <a:pt x="2965" y="260"/>
                  </a:lnTo>
                </a:path>
                <a:path w="8000" h="500" fill="none">
                  <a:moveTo>
                    <a:pt x="3035" y="94"/>
                  </a:moveTo>
                  <a:lnTo>
                    <a:pt x="3035" y="240"/>
                  </a:lnTo>
                </a:path>
                <a:path w="8000" h="500" fill="none">
                  <a:moveTo>
                    <a:pt x="3065" y="94"/>
                  </a:moveTo>
                  <a:lnTo>
                    <a:pt x="3065" y="240"/>
                  </a:lnTo>
                </a:path>
                <a:path w="8000" h="500" fill="none">
                  <a:moveTo>
                    <a:pt x="3035" y="406"/>
                  </a:moveTo>
                  <a:lnTo>
                    <a:pt x="3035" y="260"/>
                  </a:lnTo>
                </a:path>
                <a:path w="8000" h="500" fill="none">
                  <a:moveTo>
                    <a:pt x="3065" y="406"/>
                  </a:moveTo>
                  <a:lnTo>
                    <a:pt x="3065" y="260"/>
                  </a:lnTo>
                </a:path>
                <a:path w="8000" h="500" fill="none">
                  <a:moveTo>
                    <a:pt x="3135" y="94"/>
                  </a:moveTo>
                  <a:lnTo>
                    <a:pt x="3135" y="240"/>
                  </a:lnTo>
                </a:path>
                <a:path w="8000" h="500" fill="none">
                  <a:moveTo>
                    <a:pt x="3165" y="94"/>
                  </a:moveTo>
                  <a:lnTo>
                    <a:pt x="3165" y="240"/>
                  </a:lnTo>
                </a:path>
                <a:path w="8000" h="500" fill="none">
                  <a:moveTo>
                    <a:pt x="3135" y="406"/>
                  </a:moveTo>
                  <a:lnTo>
                    <a:pt x="3135" y="260"/>
                  </a:lnTo>
                </a:path>
                <a:path w="8000" h="500" fill="none">
                  <a:moveTo>
                    <a:pt x="3165" y="406"/>
                  </a:moveTo>
                  <a:lnTo>
                    <a:pt x="3165" y="260"/>
                  </a:lnTo>
                </a:path>
                <a:path w="8000" h="500" fill="none">
                  <a:moveTo>
                    <a:pt x="3235" y="94"/>
                  </a:moveTo>
                  <a:lnTo>
                    <a:pt x="3235" y="240"/>
                  </a:lnTo>
                </a:path>
                <a:path w="8000" h="500" fill="none">
                  <a:moveTo>
                    <a:pt x="3265" y="94"/>
                  </a:moveTo>
                  <a:lnTo>
                    <a:pt x="3265" y="240"/>
                  </a:lnTo>
                </a:path>
                <a:path w="8000" h="500" fill="none">
                  <a:moveTo>
                    <a:pt x="3235" y="406"/>
                  </a:moveTo>
                  <a:lnTo>
                    <a:pt x="3235" y="260"/>
                  </a:lnTo>
                </a:path>
                <a:path w="8000" h="500" fill="none">
                  <a:moveTo>
                    <a:pt x="3265" y="406"/>
                  </a:moveTo>
                  <a:lnTo>
                    <a:pt x="3265" y="260"/>
                  </a:lnTo>
                </a:path>
                <a:path w="8000" h="500" fill="none">
                  <a:moveTo>
                    <a:pt x="3335" y="94"/>
                  </a:moveTo>
                  <a:lnTo>
                    <a:pt x="3335" y="240"/>
                  </a:lnTo>
                </a:path>
                <a:path w="8000" h="500" fill="none">
                  <a:moveTo>
                    <a:pt x="3365" y="94"/>
                  </a:moveTo>
                  <a:lnTo>
                    <a:pt x="3365" y="240"/>
                  </a:lnTo>
                </a:path>
                <a:path w="8000" h="500" fill="none">
                  <a:moveTo>
                    <a:pt x="3335" y="406"/>
                  </a:moveTo>
                  <a:lnTo>
                    <a:pt x="3335" y="260"/>
                  </a:lnTo>
                </a:path>
                <a:path w="8000" h="500" fill="none">
                  <a:moveTo>
                    <a:pt x="3365" y="406"/>
                  </a:moveTo>
                  <a:lnTo>
                    <a:pt x="3365" y="260"/>
                  </a:lnTo>
                </a:path>
                <a:path w="8000" h="500" fill="none">
                  <a:moveTo>
                    <a:pt x="3435" y="94"/>
                  </a:moveTo>
                  <a:lnTo>
                    <a:pt x="3435" y="240"/>
                  </a:lnTo>
                </a:path>
                <a:path w="8000" h="500" fill="none">
                  <a:moveTo>
                    <a:pt x="3465" y="94"/>
                  </a:moveTo>
                  <a:lnTo>
                    <a:pt x="3465" y="240"/>
                  </a:lnTo>
                </a:path>
                <a:path w="8000" h="500" fill="none">
                  <a:moveTo>
                    <a:pt x="3435" y="406"/>
                  </a:moveTo>
                  <a:lnTo>
                    <a:pt x="3435" y="260"/>
                  </a:lnTo>
                </a:path>
                <a:path w="8000" h="500" fill="none">
                  <a:moveTo>
                    <a:pt x="3465" y="406"/>
                  </a:moveTo>
                  <a:lnTo>
                    <a:pt x="3465" y="260"/>
                  </a:lnTo>
                </a:path>
                <a:path w="8000" h="500" fill="none">
                  <a:moveTo>
                    <a:pt x="3535" y="94"/>
                  </a:moveTo>
                  <a:lnTo>
                    <a:pt x="3535" y="240"/>
                  </a:lnTo>
                </a:path>
                <a:path w="8000" h="500" fill="none">
                  <a:moveTo>
                    <a:pt x="3565" y="94"/>
                  </a:moveTo>
                  <a:lnTo>
                    <a:pt x="3565" y="240"/>
                  </a:lnTo>
                </a:path>
                <a:path w="8000" h="500" fill="none">
                  <a:moveTo>
                    <a:pt x="3535" y="406"/>
                  </a:moveTo>
                  <a:lnTo>
                    <a:pt x="3535" y="260"/>
                  </a:lnTo>
                </a:path>
                <a:path w="8000" h="500" fill="none">
                  <a:moveTo>
                    <a:pt x="3565" y="406"/>
                  </a:moveTo>
                  <a:lnTo>
                    <a:pt x="3565" y="260"/>
                  </a:lnTo>
                </a:path>
                <a:path w="8000" h="500" fill="none">
                  <a:moveTo>
                    <a:pt x="3635" y="94"/>
                  </a:moveTo>
                  <a:lnTo>
                    <a:pt x="3635" y="240"/>
                  </a:lnTo>
                </a:path>
                <a:path w="8000" h="500" fill="none">
                  <a:moveTo>
                    <a:pt x="3665" y="94"/>
                  </a:moveTo>
                  <a:lnTo>
                    <a:pt x="3665" y="240"/>
                  </a:lnTo>
                </a:path>
                <a:path w="8000" h="500" fill="none">
                  <a:moveTo>
                    <a:pt x="3635" y="406"/>
                  </a:moveTo>
                  <a:lnTo>
                    <a:pt x="3635" y="260"/>
                  </a:lnTo>
                </a:path>
                <a:path w="8000" h="500" fill="none">
                  <a:moveTo>
                    <a:pt x="3665" y="406"/>
                  </a:moveTo>
                  <a:lnTo>
                    <a:pt x="3665" y="260"/>
                  </a:lnTo>
                </a:path>
                <a:path w="8000" h="500" fill="none">
                  <a:moveTo>
                    <a:pt x="3735" y="94"/>
                  </a:moveTo>
                  <a:lnTo>
                    <a:pt x="3735" y="240"/>
                  </a:lnTo>
                </a:path>
                <a:path w="8000" h="500" fill="none">
                  <a:moveTo>
                    <a:pt x="3765" y="94"/>
                  </a:moveTo>
                  <a:lnTo>
                    <a:pt x="3765" y="240"/>
                  </a:lnTo>
                </a:path>
                <a:path w="8000" h="500" fill="none">
                  <a:moveTo>
                    <a:pt x="3735" y="406"/>
                  </a:moveTo>
                  <a:lnTo>
                    <a:pt x="3735" y="260"/>
                  </a:lnTo>
                </a:path>
                <a:path w="8000" h="500" fill="none">
                  <a:moveTo>
                    <a:pt x="3765" y="406"/>
                  </a:moveTo>
                  <a:lnTo>
                    <a:pt x="3765" y="260"/>
                  </a:lnTo>
                </a:path>
                <a:path w="8000" h="500" fill="none">
                  <a:moveTo>
                    <a:pt x="3835" y="94"/>
                  </a:moveTo>
                  <a:lnTo>
                    <a:pt x="3835" y="240"/>
                  </a:lnTo>
                </a:path>
                <a:path w="8000" h="500" fill="none">
                  <a:moveTo>
                    <a:pt x="3865" y="94"/>
                  </a:moveTo>
                  <a:lnTo>
                    <a:pt x="3865" y="240"/>
                  </a:lnTo>
                </a:path>
                <a:path w="8000" h="500" fill="none">
                  <a:moveTo>
                    <a:pt x="3835" y="406"/>
                  </a:moveTo>
                  <a:lnTo>
                    <a:pt x="3835" y="260"/>
                  </a:lnTo>
                </a:path>
                <a:path w="8000" h="500" fill="none">
                  <a:moveTo>
                    <a:pt x="3865" y="406"/>
                  </a:moveTo>
                  <a:lnTo>
                    <a:pt x="3865" y="260"/>
                  </a:lnTo>
                </a:path>
                <a:path w="8000" h="500" fill="none">
                  <a:moveTo>
                    <a:pt x="3935" y="94"/>
                  </a:moveTo>
                  <a:lnTo>
                    <a:pt x="3935" y="240"/>
                  </a:lnTo>
                </a:path>
                <a:path w="8000" h="500" fill="none">
                  <a:moveTo>
                    <a:pt x="3965" y="94"/>
                  </a:moveTo>
                  <a:lnTo>
                    <a:pt x="3965" y="240"/>
                  </a:lnTo>
                </a:path>
                <a:path w="8000" h="500" fill="none">
                  <a:moveTo>
                    <a:pt x="3935" y="406"/>
                  </a:moveTo>
                  <a:lnTo>
                    <a:pt x="3935" y="260"/>
                  </a:lnTo>
                </a:path>
                <a:path w="8000" h="500" fill="none">
                  <a:moveTo>
                    <a:pt x="3965" y="406"/>
                  </a:moveTo>
                  <a:lnTo>
                    <a:pt x="3965" y="260"/>
                  </a:lnTo>
                </a:path>
                <a:path w="8000" h="500" fill="none">
                  <a:moveTo>
                    <a:pt x="4035" y="94"/>
                  </a:moveTo>
                  <a:lnTo>
                    <a:pt x="4035" y="240"/>
                  </a:lnTo>
                </a:path>
                <a:path w="8000" h="500" fill="none">
                  <a:moveTo>
                    <a:pt x="4065" y="94"/>
                  </a:moveTo>
                  <a:lnTo>
                    <a:pt x="4065" y="240"/>
                  </a:lnTo>
                </a:path>
                <a:path w="8000" h="500" fill="none">
                  <a:moveTo>
                    <a:pt x="4035" y="406"/>
                  </a:moveTo>
                  <a:lnTo>
                    <a:pt x="4035" y="260"/>
                  </a:lnTo>
                </a:path>
                <a:path w="8000" h="500" fill="none">
                  <a:moveTo>
                    <a:pt x="4065" y="406"/>
                  </a:moveTo>
                  <a:lnTo>
                    <a:pt x="4065" y="260"/>
                  </a:lnTo>
                </a:path>
                <a:path w="8000" h="500" fill="none">
                  <a:moveTo>
                    <a:pt x="4135" y="94"/>
                  </a:moveTo>
                  <a:lnTo>
                    <a:pt x="4135" y="240"/>
                  </a:lnTo>
                </a:path>
                <a:path w="8000" h="500" fill="none">
                  <a:moveTo>
                    <a:pt x="4165" y="94"/>
                  </a:moveTo>
                  <a:lnTo>
                    <a:pt x="4165" y="240"/>
                  </a:lnTo>
                </a:path>
                <a:path w="8000" h="500" fill="none">
                  <a:moveTo>
                    <a:pt x="4135" y="406"/>
                  </a:moveTo>
                  <a:lnTo>
                    <a:pt x="4135" y="260"/>
                  </a:lnTo>
                </a:path>
                <a:path w="8000" h="500" fill="none">
                  <a:moveTo>
                    <a:pt x="4165" y="406"/>
                  </a:moveTo>
                  <a:lnTo>
                    <a:pt x="4165" y="260"/>
                  </a:lnTo>
                </a:path>
                <a:path w="8000" h="500" fill="none">
                  <a:moveTo>
                    <a:pt x="4235" y="94"/>
                  </a:moveTo>
                  <a:lnTo>
                    <a:pt x="4235" y="240"/>
                  </a:lnTo>
                </a:path>
                <a:path w="8000" h="500" fill="none">
                  <a:moveTo>
                    <a:pt x="4265" y="94"/>
                  </a:moveTo>
                  <a:lnTo>
                    <a:pt x="4265" y="240"/>
                  </a:lnTo>
                </a:path>
                <a:path w="8000" h="500" fill="none">
                  <a:moveTo>
                    <a:pt x="4235" y="406"/>
                  </a:moveTo>
                  <a:lnTo>
                    <a:pt x="4235" y="260"/>
                  </a:lnTo>
                </a:path>
                <a:path w="8000" h="500" fill="none">
                  <a:moveTo>
                    <a:pt x="4265" y="406"/>
                  </a:moveTo>
                  <a:lnTo>
                    <a:pt x="4265" y="260"/>
                  </a:lnTo>
                </a:path>
                <a:path w="8000" h="500" fill="none">
                  <a:moveTo>
                    <a:pt x="4335" y="94"/>
                  </a:moveTo>
                  <a:lnTo>
                    <a:pt x="4335" y="240"/>
                  </a:lnTo>
                </a:path>
                <a:path w="8000" h="500" fill="none">
                  <a:moveTo>
                    <a:pt x="4365" y="94"/>
                  </a:moveTo>
                  <a:lnTo>
                    <a:pt x="4365" y="240"/>
                  </a:lnTo>
                </a:path>
                <a:path w="8000" h="500" fill="none">
                  <a:moveTo>
                    <a:pt x="4335" y="406"/>
                  </a:moveTo>
                  <a:lnTo>
                    <a:pt x="4335" y="260"/>
                  </a:lnTo>
                </a:path>
                <a:path w="8000" h="500" fill="none">
                  <a:moveTo>
                    <a:pt x="4365" y="406"/>
                  </a:moveTo>
                  <a:lnTo>
                    <a:pt x="4365" y="260"/>
                  </a:lnTo>
                </a:path>
                <a:path w="8000" h="500" fill="none">
                  <a:moveTo>
                    <a:pt x="4435" y="94"/>
                  </a:moveTo>
                  <a:lnTo>
                    <a:pt x="4435" y="240"/>
                  </a:lnTo>
                </a:path>
                <a:path w="8000" h="500" fill="none">
                  <a:moveTo>
                    <a:pt x="4465" y="94"/>
                  </a:moveTo>
                  <a:lnTo>
                    <a:pt x="4465" y="240"/>
                  </a:lnTo>
                </a:path>
                <a:path w="8000" h="500" fill="none">
                  <a:moveTo>
                    <a:pt x="4435" y="406"/>
                  </a:moveTo>
                  <a:lnTo>
                    <a:pt x="4435" y="260"/>
                  </a:lnTo>
                </a:path>
                <a:path w="8000" h="500" fill="none">
                  <a:moveTo>
                    <a:pt x="4465" y="406"/>
                  </a:moveTo>
                  <a:lnTo>
                    <a:pt x="4465" y="260"/>
                  </a:lnTo>
                </a:path>
                <a:path w="8000" h="500" fill="none">
                  <a:moveTo>
                    <a:pt x="4535" y="94"/>
                  </a:moveTo>
                  <a:lnTo>
                    <a:pt x="4535" y="240"/>
                  </a:lnTo>
                </a:path>
                <a:path w="8000" h="500" fill="none">
                  <a:moveTo>
                    <a:pt x="4565" y="94"/>
                  </a:moveTo>
                  <a:lnTo>
                    <a:pt x="4565" y="240"/>
                  </a:lnTo>
                </a:path>
                <a:path w="8000" h="500" fill="none">
                  <a:moveTo>
                    <a:pt x="4535" y="406"/>
                  </a:moveTo>
                  <a:lnTo>
                    <a:pt x="4535" y="260"/>
                  </a:lnTo>
                </a:path>
                <a:path w="8000" h="500" fill="none">
                  <a:moveTo>
                    <a:pt x="4565" y="406"/>
                  </a:moveTo>
                  <a:lnTo>
                    <a:pt x="4565" y="260"/>
                  </a:lnTo>
                </a:path>
                <a:path w="8000" h="500" fill="none">
                  <a:moveTo>
                    <a:pt x="4635" y="94"/>
                  </a:moveTo>
                  <a:lnTo>
                    <a:pt x="4635" y="240"/>
                  </a:lnTo>
                </a:path>
                <a:path w="8000" h="500" fill="none">
                  <a:moveTo>
                    <a:pt x="4665" y="94"/>
                  </a:moveTo>
                  <a:lnTo>
                    <a:pt x="4665" y="240"/>
                  </a:lnTo>
                </a:path>
                <a:path w="8000" h="500" fill="none">
                  <a:moveTo>
                    <a:pt x="4635" y="406"/>
                  </a:moveTo>
                  <a:lnTo>
                    <a:pt x="4635" y="260"/>
                  </a:lnTo>
                </a:path>
                <a:path w="8000" h="500" fill="none">
                  <a:moveTo>
                    <a:pt x="4665" y="406"/>
                  </a:moveTo>
                  <a:lnTo>
                    <a:pt x="4665" y="260"/>
                  </a:lnTo>
                </a:path>
                <a:path w="8000" h="500" fill="none">
                  <a:moveTo>
                    <a:pt x="4735" y="94"/>
                  </a:moveTo>
                  <a:lnTo>
                    <a:pt x="4735" y="240"/>
                  </a:lnTo>
                </a:path>
                <a:path w="8000" h="500" fill="none">
                  <a:moveTo>
                    <a:pt x="4765" y="94"/>
                  </a:moveTo>
                  <a:lnTo>
                    <a:pt x="4765" y="240"/>
                  </a:lnTo>
                </a:path>
                <a:path w="8000" h="500" fill="none">
                  <a:moveTo>
                    <a:pt x="4735" y="406"/>
                  </a:moveTo>
                  <a:lnTo>
                    <a:pt x="4735" y="260"/>
                  </a:lnTo>
                </a:path>
                <a:path w="8000" h="500" fill="none">
                  <a:moveTo>
                    <a:pt x="4765" y="406"/>
                  </a:moveTo>
                  <a:lnTo>
                    <a:pt x="4765" y="260"/>
                  </a:lnTo>
                </a:path>
                <a:path w="8000" h="500" fill="none">
                  <a:moveTo>
                    <a:pt x="4835" y="94"/>
                  </a:moveTo>
                  <a:lnTo>
                    <a:pt x="4835" y="240"/>
                  </a:lnTo>
                </a:path>
                <a:path w="8000" h="500" fill="none">
                  <a:moveTo>
                    <a:pt x="4865" y="94"/>
                  </a:moveTo>
                  <a:lnTo>
                    <a:pt x="4865" y="240"/>
                  </a:lnTo>
                </a:path>
                <a:path w="8000" h="500" fill="none">
                  <a:moveTo>
                    <a:pt x="4835" y="406"/>
                  </a:moveTo>
                  <a:lnTo>
                    <a:pt x="4835" y="260"/>
                  </a:lnTo>
                </a:path>
                <a:path w="8000" h="500" fill="none">
                  <a:moveTo>
                    <a:pt x="4865" y="406"/>
                  </a:moveTo>
                  <a:lnTo>
                    <a:pt x="4865" y="260"/>
                  </a:lnTo>
                </a:path>
                <a:path w="8000" h="500" fill="none">
                  <a:moveTo>
                    <a:pt x="4935" y="94"/>
                  </a:moveTo>
                  <a:lnTo>
                    <a:pt x="4935" y="240"/>
                  </a:lnTo>
                </a:path>
                <a:path w="8000" h="500" fill="none">
                  <a:moveTo>
                    <a:pt x="4965" y="94"/>
                  </a:moveTo>
                  <a:lnTo>
                    <a:pt x="4965" y="240"/>
                  </a:lnTo>
                </a:path>
                <a:path w="8000" h="500" fill="none">
                  <a:moveTo>
                    <a:pt x="4935" y="406"/>
                  </a:moveTo>
                  <a:lnTo>
                    <a:pt x="4935" y="260"/>
                  </a:lnTo>
                </a:path>
                <a:path w="8000" h="500" fill="none">
                  <a:moveTo>
                    <a:pt x="4965" y="406"/>
                  </a:moveTo>
                  <a:lnTo>
                    <a:pt x="4965" y="260"/>
                  </a:lnTo>
                </a:path>
                <a:path w="8000" h="500" fill="none">
                  <a:moveTo>
                    <a:pt x="5035" y="94"/>
                  </a:moveTo>
                  <a:lnTo>
                    <a:pt x="5035" y="240"/>
                  </a:lnTo>
                </a:path>
                <a:path w="8000" h="500" fill="none">
                  <a:moveTo>
                    <a:pt x="5065" y="94"/>
                  </a:moveTo>
                  <a:lnTo>
                    <a:pt x="5065" y="240"/>
                  </a:lnTo>
                </a:path>
                <a:path w="8000" h="500" fill="none">
                  <a:moveTo>
                    <a:pt x="5035" y="406"/>
                  </a:moveTo>
                  <a:lnTo>
                    <a:pt x="5035" y="260"/>
                  </a:lnTo>
                </a:path>
                <a:path w="8000" h="500" fill="none">
                  <a:moveTo>
                    <a:pt x="5065" y="406"/>
                  </a:moveTo>
                  <a:lnTo>
                    <a:pt x="5065" y="260"/>
                  </a:lnTo>
                </a:path>
                <a:path w="8000" h="500" fill="none">
                  <a:moveTo>
                    <a:pt x="5135" y="94"/>
                  </a:moveTo>
                  <a:lnTo>
                    <a:pt x="5135" y="240"/>
                  </a:lnTo>
                </a:path>
                <a:path w="8000" h="500" fill="none">
                  <a:moveTo>
                    <a:pt x="5165" y="94"/>
                  </a:moveTo>
                  <a:lnTo>
                    <a:pt x="5165" y="240"/>
                  </a:lnTo>
                </a:path>
                <a:path w="8000" h="500" fill="none">
                  <a:moveTo>
                    <a:pt x="5135" y="406"/>
                  </a:moveTo>
                  <a:lnTo>
                    <a:pt x="5135" y="260"/>
                  </a:lnTo>
                </a:path>
                <a:path w="8000" h="500" fill="none">
                  <a:moveTo>
                    <a:pt x="5165" y="406"/>
                  </a:moveTo>
                  <a:lnTo>
                    <a:pt x="5165" y="260"/>
                  </a:lnTo>
                </a:path>
                <a:path w="8000" h="500" fill="none">
                  <a:moveTo>
                    <a:pt x="5235" y="94"/>
                  </a:moveTo>
                  <a:lnTo>
                    <a:pt x="5235" y="240"/>
                  </a:lnTo>
                </a:path>
                <a:path w="8000" h="500" fill="none">
                  <a:moveTo>
                    <a:pt x="5265" y="94"/>
                  </a:moveTo>
                  <a:lnTo>
                    <a:pt x="5265" y="240"/>
                  </a:lnTo>
                </a:path>
                <a:path w="8000" h="500" fill="none">
                  <a:moveTo>
                    <a:pt x="5235" y="406"/>
                  </a:moveTo>
                  <a:lnTo>
                    <a:pt x="5235" y="260"/>
                  </a:lnTo>
                </a:path>
                <a:path w="8000" h="500" fill="none">
                  <a:moveTo>
                    <a:pt x="5265" y="406"/>
                  </a:moveTo>
                  <a:lnTo>
                    <a:pt x="5265" y="260"/>
                  </a:lnTo>
                </a:path>
                <a:path w="8000" h="500" fill="none">
                  <a:moveTo>
                    <a:pt x="5335" y="94"/>
                  </a:moveTo>
                  <a:lnTo>
                    <a:pt x="5335" y="240"/>
                  </a:lnTo>
                </a:path>
                <a:path w="8000" h="500" fill="none">
                  <a:moveTo>
                    <a:pt x="5365" y="94"/>
                  </a:moveTo>
                  <a:lnTo>
                    <a:pt x="5365" y="240"/>
                  </a:lnTo>
                </a:path>
                <a:path w="8000" h="500" fill="none">
                  <a:moveTo>
                    <a:pt x="5335" y="406"/>
                  </a:moveTo>
                  <a:lnTo>
                    <a:pt x="5335" y="260"/>
                  </a:lnTo>
                </a:path>
                <a:path w="8000" h="500" fill="none">
                  <a:moveTo>
                    <a:pt x="5365" y="406"/>
                  </a:moveTo>
                  <a:lnTo>
                    <a:pt x="5365" y="260"/>
                  </a:lnTo>
                </a:path>
                <a:path w="8000" h="500" fill="none">
                  <a:moveTo>
                    <a:pt x="5435" y="94"/>
                  </a:moveTo>
                  <a:lnTo>
                    <a:pt x="5435" y="240"/>
                  </a:lnTo>
                </a:path>
                <a:path w="8000" h="500" fill="none">
                  <a:moveTo>
                    <a:pt x="5465" y="94"/>
                  </a:moveTo>
                  <a:lnTo>
                    <a:pt x="5465" y="240"/>
                  </a:lnTo>
                </a:path>
                <a:path w="8000" h="500" fill="none">
                  <a:moveTo>
                    <a:pt x="5435" y="406"/>
                  </a:moveTo>
                  <a:lnTo>
                    <a:pt x="5435" y="260"/>
                  </a:lnTo>
                </a:path>
                <a:path w="8000" h="500" fill="none">
                  <a:moveTo>
                    <a:pt x="5465" y="406"/>
                  </a:moveTo>
                  <a:lnTo>
                    <a:pt x="5465" y="260"/>
                  </a:lnTo>
                </a:path>
                <a:path w="8000" h="500" fill="none">
                  <a:moveTo>
                    <a:pt x="5535" y="94"/>
                  </a:moveTo>
                  <a:lnTo>
                    <a:pt x="5535" y="240"/>
                  </a:lnTo>
                </a:path>
                <a:path w="8000" h="500" fill="none">
                  <a:moveTo>
                    <a:pt x="5565" y="94"/>
                  </a:moveTo>
                  <a:lnTo>
                    <a:pt x="5565" y="240"/>
                  </a:lnTo>
                </a:path>
                <a:path w="8000" h="500" fill="none">
                  <a:moveTo>
                    <a:pt x="5535" y="406"/>
                  </a:moveTo>
                  <a:lnTo>
                    <a:pt x="5535" y="260"/>
                  </a:lnTo>
                </a:path>
                <a:path w="8000" h="500" fill="none">
                  <a:moveTo>
                    <a:pt x="5565" y="406"/>
                  </a:moveTo>
                  <a:lnTo>
                    <a:pt x="5565" y="260"/>
                  </a:lnTo>
                </a:path>
                <a:path w="8000" h="500" fill="none">
                  <a:moveTo>
                    <a:pt x="5635" y="94"/>
                  </a:moveTo>
                  <a:lnTo>
                    <a:pt x="5635" y="240"/>
                  </a:lnTo>
                </a:path>
                <a:path w="8000" h="500" fill="none">
                  <a:moveTo>
                    <a:pt x="5665" y="94"/>
                  </a:moveTo>
                  <a:lnTo>
                    <a:pt x="5665" y="240"/>
                  </a:lnTo>
                </a:path>
                <a:path w="8000" h="500" fill="none">
                  <a:moveTo>
                    <a:pt x="5635" y="406"/>
                  </a:moveTo>
                  <a:lnTo>
                    <a:pt x="5635" y="260"/>
                  </a:lnTo>
                </a:path>
                <a:path w="8000" h="500" fill="none">
                  <a:moveTo>
                    <a:pt x="5665" y="406"/>
                  </a:moveTo>
                  <a:lnTo>
                    <a:pt x="5665" y="260"/>
                  </a:lnTo>
                </a:path>
                <a:path w="8000" h="500" fill="none">
                  <a:moveTo>
                    <a:pt x="5735" y="94"/>
                  </a:moveTo>
                  <a:lnTo>
                    <a:pt x="5735" y="240"/>
                  </a:lnTo>
                </a:path>
                <a:path w="8000" h="500" fill="none">
                  <a:moveTo>
                    <a:pt x="5765" y="94"/>
                  </a:moveTo>
                  <a:lnTo>
                    <a:pt x="5765" y="240"/>
                  </a:lnTo>
                </a:path>
                <a:path w="8000" h="500" fill="none">
                  <a:moveTo>
                    <a:pt x="5735" y="406"/>
                  </a:moveTo>
                  <a:lnTo>
                    <a:pt x="5735" y="260"/>
                  </a:lnTo>
                </a:path>
                <a:path w="8000" h="500" fill="none">
                  <a:moveTo>
                    <a:pt x="5765" y="406"/>
                  </a:moveTo>
                  <a:lnTo>
                    <a:pt x="5765" y="260"/>
                  </a:lnTo>
                </a:path>
                <a:path w="8000" h="500" fill="none">
                  <a:moveTo>
                    <a:pt x="5835" y="94"/>
                  </a:moveTo>
                  <a:lnTo>
                    <a:pt x="5835" y="240"/>
                  </a:lnTo>
                </a:path>
                <a:path w="8000" h="500" fill="none">
                  <a:moveTo>
                    <a:pt x="5865" y="94"/>
                  </a:moveTo>
                  <a:lnTo>
                    <a:pt x="5865" y="240"/>
                  </a:lnTo>
                </a:path>
                <a:path w="8000" h="500" fill="none">
                  <a:moveTo>
                    <a:pt x="5835" y="406"/>
                  </a:moveTo>
                  <a:lnTo>
                    <a:pt x="5835" y="260"/>
                  </a:lnTo>
                </a:path>
                <a:path w="8000" h="500" fill="none">
                  <a:moveTo>
                    <a:pt x="5865" y="406"/>
                  </a:moveTo>
                  <a:lnTo>
                    <a:pt x="5865" y="260"/>
                  </a:lnTo>
                </a:path>
                <a:path w="8000" h="500" fill="none">
                  <a:moveTo>
                    <a:pt x="5935" y="94"/>
                  </a:moveTo>
                  <a:lnTo>
                    <a:pt x="5935" y="240"/>
                  </a:lnTo>
                </a:path>
                <a:path w="8000" h="500" fill="none">
                  <a:moveTo>
                    <a:pt x="5965" y="94"/>
                  </a:moveTo>
                  <a:lnTo>
                    <a:pt x="5965" y="240"/>
                  </a:lnTo>
                </a:path>
                <a:path w="8000" h="500" fill="none">
                  <a:moveTo>
                    <a:pt x="5935" y="406"/>
                  </a:moveTo>
                  <a:lnTo>
                    <a:pt x="5935" y="260"/>
                  </a:lnTo>
                </a:path>
                <a:path w="8000" h="500" fill="none">
                  <a:moveTo>
                    <a:pt x="5965" y="406"/>
                  </a:moveTo>
                  <a:lnTo>
                    <a:pt x="5965" y="260"/>
                  </a:lnTo>
                </a:path>
                <a:path w="8000" h="500" fill="none">
                  <a:moveTo>
                    <a:pt x="6035" y="94"/>
                  </a:moveTo>
                  <a:lnTo>
                    <a:pt x="6035" y="240"/>
                  </a:lnTo>
                </a:path>
                <a:path w="8000" h="500" fill="none">
                  <a:moveTo>
                    <a:pt x="6065" y="94"/>
                  </a:moveTo>
                  <a:lnTo>
                    <a:pt x="6065" y="240"/>
                  </a:lnTo>
                </a:path>
                <a:path w="8000" h="500" fill="none">
                  <a:moveTo>
                    <a:pt x="6035" y="406"/>
                  </a:moveTo>
                  <a:lnTo>
                    <a:pt x="6035" y="260"/>
                  </a:lnTo>
                </a:path>
                <a:path w="8000" h="500" fill="none">
                  <a:moveTo>
                    <a:pt x="6065" y="406"/>
                  </a:moveTo>
                  <a:lnTo>
                    <a:pt x="6065" y="260"/>
                  </a:lnTo>
                </a:path>
                <a:path w="8000" h="500" fill="none">
                  <a:moveTo>
                    <a:pt x="6135" y="94"/>
                  </a:moveTo>
                  <a:lnTo>
                    <a:pt x="6135" y="240"/>
                  </a:lnTo>
                </a:path>
                <a:path w="8000" h="500" fill="none">
                  <a:moveTo>
                    <a:pt x="6165" y="94"/>
                  </a:moveTo>
                  <a:lnTo>
                    <a:pt x="6165" y="240"/>
                  </a:lnTo>
                </a:path>
                <a:path w="8000" h="500" fill="none">
                  <a:moveTo>
                    <a:pt x="6135" y="406"/>
                  </a:moveTo>
                  <a:lnTo>
                    <a:pt x="6135" y="260"/>
                  </a:lnTo>
                </a:path>
                <a:path w="8000" h="500" fill="none">
                  <a:moveTo>
                    <a:pt x="6165" y="406"/>
                  </a:moveTo>
                  <a:lnTo>
                    <a:pt x="6165" y="260"/>
                  </a:lnTo>
                </a:path>
                <a:path w="8000" h="500" fill="none">
                  <a:moveTo>
                    <a:pt x="6235" y="94"/>
                  </a:moveTo>
                  <a:lnTo>
                    <a:pt x="6235" y="240"/>
                  </a:lnTo>
                </a:path>
                <a:path w="8000" h="500" fill="none">
                  <a:moveTo>
                    <a:pt x="6265" y="94"/>
                  </a:moveTo>
                  <a:lnTo>
                    <a:pt x="6265" y="240"/>
                  </a:lnTo>
                </a:path>
                <a:path w="8000" h="500" fill="none">
                  <a:moveTo>
                    <a:pt x="6235" y="406"/>
                  </a:moveTo>
                  <a:lnTo>
                    <a:pt x="6235" y="260"/>
                  </a:lnTo>
                </a:path>
                <a:path w="8000" h="500" fill="none">
                  <a:moveTo>
                    <a:pt x="6265" y="406"/>
                  </a:moveTo>
                  <a:lnTo>
                    <a:pt x="6265" y="260"/>
                  </a:lnTo>
                </a:path>
                <a:path w="8000" h="500" fill="none">
                  <a:moveTo>
                    <a:pt x="6335" y="94"/>
                  </a:moveTo>
                  <a:lnTo>
                    <a:pt x="6335" y="240"/>
                  </a:lnTo>
                </a:path>
                <a:path w="8000" h="500" fill="none">
                  <a:moveTo>
                    <a:pt x="6365" y="94"/>
                  </a:moveTo>
                  <a:lnTo>
                    <a:pt x="6365" y="240"/>
                  </a:lnTo>
                </a:path>
                <a:path w="8000" h="500" fill="none">
                  <a:moveTo>
                    <a:pt x="6335" y="406"/>
                  </a:moveTo>
                  <a:lnTo>
                    <a:pt x="6335" y="260"/>
                  </a:lnTo>
                </a:path>
                <a:path w="8000" h="500" fill="none">
                  <a:moveTo>
                    <a:pt x="6365" y="406"/>
                  </a:moveTo>
                  <a:lnTo>
                    <a:pt x="6365" y="260"/>
                  </a:lnTo>
                </a:path>
                <a:path w="8000" h="500" fill="none">
                  <a:moveTo>
                    <a:pt x="6435" y="94"/>
                  </a:moveTo>
                  <a:lnTo>
                    <a:pt x="6435" y="240"/>
                  </a:lnTo>
                </a:path>
                <a:path w="8000" h="500" fill="none">
                  <a:moveTo>
                    <a:pt x="6465" y="94"/>
                  </a:moveTo>
                  <a:lnTo>
                    <a:pt x="6465" y="240"/>
                  </a:lnTo>
                </a:path>
                <a:path w="8000" h="500" fill="none">
                  <a:moveTo>
                    <a:pt x="6435" y="406"/>
                  </a:moveTo>
                  <a:lnTo>
                    <a:pt x="6435" y="260"/>
                  </a:lnTo>
                </a:path>
                <a:path w="8000" h="500" fill="none">
                  <a:moveTo>
                    <a:pt x="6465" y="406"/>
                  </a:moveTo>
                  <a:lnTo>
                    <a:pt x="6465" y="260"/>
                  </a:lnTo>
                </a:path>
                <a:path w="8000" h="500" fill="none">
                  <a:moveTo>
                    <a:pt x="6535" y="94"/>
                  </a:moveTo>
                  <a:lnTo>
                    <a:pt x="6535" y="240"/>
                  </a:lnTo>
                </a:path>
                <a:path w="8000" h="500" fill="none">
                  <a:moveTo>
                    <a:pt x="6565" y="94"/>
                  </a:moveTo>
                  <a:lnTo>
                    <a:pt x="6565" y="240"/>
                  </a:lnTo>
                </a:path>
                <a:path w="8000" h="500" fill="none">
                  <a:moveTo>
                    <a:pt x="6535" y="406"/>
                  </a:moveTo>
                  <a:lnTo>
                    <a:pt x="6535" y="260"/>
                  </a:lnTo>
                </a:path>
                <a:path w="8000" h="500" fill="none">
                  <a:moveTo>
                    <a:pt x="6565" y="406"/>
                  </a:moveTo>
                  <a:lnTo>
                    <a:pt x="6565" y="260"/>
                  </a:lnTo>
                </a:path>
                <a:path w="8000" h="500" fill="none">
                  <a:moveTo>
                    <a:pt x="6635" y="94"/>
                  </a:moveTo>
                  <a:lnTo>
                    <a:pt x="6635" y="240"/>
                  </a:lnTo>
                </a:path>
                <a:path w="8000" h="500" fill="none">
                  <a:moveTo>
                    <a:pt x="6665" y="94"/>
                  </a:moveTo>
                  <a:lnTo>
                    <a:pt x="6665" y="240"/>
                  </a:lnTo>
                </a:path>
                <a:path w="8000" h="500" fill="none">
                  <a:moveTo>
                    <a:pt x="6635" y="406"/>
                  </a:moveTo>
                  <a:lnTo>
                    <a:pt x="6635" y="260"/>
                  </a:lnTo>
                </a:path>
                <a:path w="8000" h="500" fill="none">
                  <a:moveTo>
                    <a:pt x="6665" y="406"/>
                  </a:moveTo>
                  <a:lnTo>
                    <a:pt x="6665" y="260"/>
                  </a:lnTo>
                </a:path>
                <a:path w="8000" h="500" fill="none">
                  <a:moveTo>
                    <a:pt x="6735" y="94"/>
                  </a:moveTo>
                  <a:lnTo>
                    <a:pt x="6735" y="240"/>
                  </a:lnTo>
                </a:path>
                <a:path w="8000" h="500" fill="none">
                  <a:moveTo>
                    <a:pt x="6765" y="94"/>
                  </a:moveTo>
                  <a:lnTo>
                    <a:pt x="6765" y="240"/>
                  </a:lnTo>
                </a:path>
                <a:path w="8000" h="500" fill="none">
                  <a:moveTo>
                    <a:pt x="6735" y="406"/>
                  </a:moveTo>
                  <a:lnTo>
                    <a:pt x="6735" y="260"/>
                  </a:lnTo>
                </a:path>
                <a:path w="8000" h="500" fill="none">
                  <a:moveTo>
                    <a:pt x="6765" y="406"/>
                  </a:moveTo>
                  <a:lnTo>
                    <a:pt x="6765" y="260"/>
                  </a:lnTo>
                </a:path>
                <a:path w="8000" h="500" fill="none">
                  <a:moveTo>
                    <a:pt x="6835" y="94"/>
                  </a:moveTo>
                  <a:lnTo>
                    <a:pt x="6835" y="240"/>
                  </a:lnTo>
                </a:path>
                <a:path w="8000" h="500" fill="none">
                  <a:moveTo>
                    <a:pt x="6865" y="94"/>
                  </a:moveTo>
                  <a:lnTo>
                    <a:pt x="6865" y="240"/>
                  </a:lnTo>
                </a:path>
                <a:path w="8000" h="500" fill="none">
                  <a:moveTo>
                    <a:pt x="6835" y="406"/>
                  </a:moveTo>
                  <a:lnTo>
                    <a:pt x="6835" y="260"/>
                  </a:lnTo>
                </a:path>
                <a:path w="8000" h="500" fill="none">
                  <a:moveTo>
                    <a:pt x="6865" y="406"/>
                  </a:moveTo>
                  <a:lnTo>
                    <a:pt x="6865" y="260"/>
                  </a:lnTo>
                </a:path>
                <a:path w="8000" h="500" fill="none">
                  <a:moveTo>
                    <a:pt x="6935" y="94"/>
                  </a:moveTo>
                  <a:lnTo>
                    <a:pt x="6935" y="240"/>
                  </a:lnTo>
                </a:path>
                <a:path w="8000" h="500" fill="none">
                  <a:moveTo>
                    <a:pt x="6965" y="94"/>
                  </a:moveTo>
                  <a:lnTo>
                    <a:pt x="6965" y="240"/>
                  </a:lnTo>
                </a:path>
                <a:path w="8000" h="500" fill="none">
                  <a:moveTo>
                    <a:pt x="6935" y="406"/>
                  </a:moveTo>
                  <a:lnTo>
                    <a:pt x="6935" y="260"/>
                  </a:lnTo>
                </a:path>
                <a:path w="8000" h="500" fill="none">
                  <a:moveTo>
                    <a:pt x="6965" y="406"/>
                  </a:moveTo>
                  <a:lnTo>
                    <a:pt x="6965" y="260"/>
                  </a:lnTo>
                </a:path>
                <a:path w="8000" h="500" fill="none">
                  <a:moveTo>
                    <a:pt x="7035" y="94"/>
                  </a:moveTo>
                  <a:lnTo>
                    <a:pt x="7035" y="240"/>
                  </a:lnTo>
                </a:path>
                <a:path w="8000" h="500" fill="none">
                  <a:moveTo>
                    <a:pt x="7065" y="94"/>
                  </a:moveTo>
                  <a:lnTo>
                    <a:pt x="7065" y="240"/>
                  </a:lnTo>
                </a:path>
                <a:path w="8000" h="500" fill="none">
                  <a:moveTo>
                    <a:pt x="7035" y="406"/>
                  </a:moveTo>
                  <a:lnTo>
                    <a:pt x="7035" y="260"/>
                  </a:lnTo>
                </a:path>
                <a:path w="8000" h="500" fill="none">
                  <a:moveTo>
                    <a:pt x="7065" y="406"/>
                  </a:moveTo>
                  <a:lnTo>
                    <a:pt x="7065" y="260"/>
                  </a:lnTo>
                </a:path>
                <a:path w="8000" h="500" fill="none">
                  <a:moveTo>
                    <a:pt x="7135" y="94"/>
                  </a:moveTo>
                  <a:lnTo>
                    <a:pt x="7135" y="240"/>
                  </a:lnTo>
                </a:path>
                <a:path w="8000" h="500" fill="none">
                  <a:moveTo>
                    <a:pt x="7165" y="94"/>
                  </a:moveTo>
                  <a:lnTo>
                    <a:pt x="7165" y="240"/>
                  </a:lnTo>
                </a:path>
                <a:path w="8000" h="500" fill="none">
                  <a:moveTo>
                    <a:pt x="7135" y="406"/>
                  </a:moveTo>
                  <a:lnTo>
                    <a:pt x="7135" y="260"/>
                  </a:lnTo>
                </a:path>
                <a:path w="8000" h="500" fill="none">
                  <a:moveTo>
                    <a:pt x="7165" y="406"/>
                  </a:moveTo>
                  <a:lnTo>
                    <a:pt x="7165" y="260"/>
                  </a:lnTo>
                </a:path>
                <a:path w="8000" h="500" fill="none">
                  <a:moveTo>
                    <a:pt x="7235" y="94"/>
                  </a:moveTo>
                  <a:lnTo>
                    <a:pt x="7235" y="240"/>
                  </a:lnTo>
                </a:path>
                <a:path w="8000" h="500" fill="none">
                  <a:moveTo>
                    <a:pt x="7265" y="94"/>
                  </a:moveTo>
                  <a:lnTo>
                    <a:pt x="7265" y="240"/>
                  </a:lnTo>
                </a:path>
                <a:path w="8000" h="500" fill="none">
                  <a:moveTo>
                    <a:pt x="7235" y="406"/>
                  </a:moveTo>
                  <a:lnTo>
                    <a:pt x="7235" y="260"/>
                  </a:lnTo>
                </a:path>
                <a:path w="8000" h="500" fill="none">
                  <a:moveTo>
                    <a:pt x="7265" y="406"/>
                  </a:moveTo>
                  <a:lnTo>
                    <a:pt x="7265" y="260"/>
                  </a:lnTo>
                </a:path>
                <a:path w="8000" h="500" fill="none">
                  <a:moveTo>
                    <a:pt x="7335" y="94"/>
                  </a:moveTo>
                  <a:lnTo>
                    <a:pt x="7335" y="240"/>
                  </a:lnTo>
                </a:path>
                <a:path w="8000" h="500" fill="none">
                  <a:moveTo>
                    <a:pt x="7365" y="94"/>
                  </a:moveTo>
                  <a:lnTo>
                    <a:pt x="7365" y="240"/>
                  </a:lnTo>
                </a:path>
                <a:path w="8000" h="500" fill="none">
                  <a:moveTo>
                    <a:pt x="7335" y="406"/>
                  </a:moveTo>
                  <a:lnTo>
                    <a:pt x="7335" y="260"/>
                  </a:lnTo>
                </a:path>
                <a:path w="8000" h="500" fill="none">
                  <a:moveTo>
                    <a:pt x="7365" y="406"/>
                  </a:moveTo>
                  <a:lnTo>
                    <a:pt x="7365" y="260"/>
                  </a:lnTo>
                </a:path>
                <a:path w="8000" h="500" fill="none">
                  <a:moveTo>
                    <a:pt x="7435" y="94"/>
                  </a:moveTo>
                  <a:lnTo>
                    <a:pt x="7435" y="240"/>
                  </a:lnTo>
                </a:path>
                <a:path w="8000" h="500" fill="none">
                  <a:moveTo>
                    <a:pt x="7465" y="94"/>
                  </a:moveTo>
                  <a:lnTo>
                    <a:pt x="7465" y="240"/>
                  </a:lnTo>
                </a:path>
                <a:path w="8000" h="500" fill="none">
                  <a:moveTo>
                    <a:pt x="7435" y="406"/>
                  </a:moveTo>
                  <a:lnTo>
                    <a:pt x="7435" y="260"/>
                  </a:lnTo>
                </a:path>
                <a:path w="8000" h="500" fill="none">
                  <a:moveTo>
                    <a:pt x="7465" y="406"/>
                  </a:moveTo>
                  <a:lnTo>
                    <a:pt x="7465" y="260"/>
                  </a:lnTo>
                </a:path>
                <a:path w="8000" h="500" fill="none">
                  <a:moveTo>
                    <a:pt x="7535" y="94"/>
                  </a:moveTo>
                  <a:lnTo>
                    <a:pt x="7535" y="240"/>
                  </a:lnTo>
                </a:path>
                <a:path w="8000" h="500" fill="none">
                  <a:moveTo>
                    <a:pt x="7565" y="94"/>
                  </a:moveTo>
                  <a:lnTo>
                    <a:pt x="7565" y="240"/>
                  </a:lnTo>
                </a:path>
                <a:path w="8000" h="500" fill="none">
                  <a:moveTo>
                    <a:pt x="7535" y="406"/>
                  </a:moveTo>
                  <a:lnTo>
                    <a:pt x="7535" y="260"/>
                  </a:lnTo>
                </a:path>
                <a:path w="8000" h="500" fill="none">
                  <a:moveTo>
                    <a:pt x="7565" y="406"/>
                  </a:moveTo>
                  <a:lnTo>
                    <a:pt x="7565" y="260"/>
                  </a:lnTo>
                </a:path>
                <a:path w="8000" h="500" fill="none">
                  <a:moveTo>
                    <a:pt x="7635" y="94"/>
                  </a:moveTo>
                  <a:lnTo>
                    <a:pt x="7635" y="240"/>
                  </a:lnTo>
                </a:path>
                <a:path w="8000" h="500" fill="none">
                  <a:moveTo>
                    <a:pt x="7665" y="94"/>
                  </a:moveTo>
                  <a:lnTo>
                    <a:pt x="7665" y="240"/>
                  </a:lnTo>
                </a:path>
                <a:path w="8000" h="500" fill="none">
                  <a:moveTo>
                    <a:pt x="7635" y="406"/>
                  </a:moveTo>
                  <a:lnTo>
                    <a:pt x="7635" y="260"/>
                  </a:lnTo>
                </a:path>
                <a:path w="8000" h="500" fill="none">
                  <a:moveTo>
                    <a:pt x="7665" y="406"/>
                  </a:moveTo>
                  <a:lnTo>
                    <a:pt x="7665" y="260"/>
                  </a:lnTo>
                </a:path>
                <a:path w="8000" h="500" fill="none">
                  <a:moveTo>
                    <a:pt x="7735" y="94"/>
                  </a:moveTo>
                  <a:lnTo>
                    <a:pt x="7735" y="240"/>
                  </a:lnTo>
                </a:path>
                <a:path w="8000" h="500" fill="none">
                  <a:moveTo>
                    <a:pt x="7765" y="94"/>
                  </a:moveTo>
                  <a:lnTo>
                    <a:pt x="7765" y="240"/>
                  </a:lnTo>
                </a:path>
                <a:path w="8000" h="500" fill="none">
                  <a:moveTo>
                    <a:pt x="7735" y="406"/>
                  </a:moveTo>
                  <a:lnTo>
                    <a:pt x="7735" y="260"/>
                  </a:lnTo>
                </a:path>
                <a:path w="8000" h="500" fill="none">
                  <a:moveTo>
                    <a:pt x="7765" y="406"/>
                  </a:moveTo>
                  <a:lnTo>
                    <a:pt x="7765" y="260"/>
                  </a:lnTo>
                </a:path>
                <a:path w="8000" h="500" fill="none">
                  <a:moveTo>
                    <a:pt x="7835" y="94"/>
                  </a:moveTo>
                  <a:lnTo>
                    <a:pt x="7835" y="240"/>
                  </a:lnTo>
                </a:path>
                <a:path w="8000" h="500" fill="none">
                  <a:moveTo>
                    <a:pt x="7865" y="94"/>
                  </a:moveTo>
                  <a:lnTo>
                    <a:pt x="7865" y="240"/>
                  </a:lnTo>
                </a:path>
                <a:path w="8000" h="500" fill="none">
                  <a:moveTo>
                    <a:pt x="7835" y="406"/>
                  </a:moveTo>
                  <a:lnTo>
                    <a:pt x="7835" y="260"/>
                  </a:lnTo>
                </a:path>
                <a:path w="8000" h="500" fill="none">
                  <a:moveTo>
                    <a:pt x="7865" y="406"/>
                  </a:moveTo>
                  <a:lnTo>
                    <a:pt x="7865" y="260"/>
                  </a:lnTo>
                </a:path>
                <a:path w="8000" h="500" fill="none">
                  <a:moveTo>
                    <a:pt x="7935" y="94"/>
                  </a:moveTo>
                  <a:lnTo>
                    <a:pt x="7935" y="240"/>
                  </a:lnTo>
                </a:path>
                <a:path w="8000" h="500" fill="none">
                  <a:moveTo>
                    <a:pt x="7965" y="94"/>
                  </a:moveTo>
                  <a:lnTo>
                    <a:pt x="7965" y="240"/>
                  </a:lnTo>
                </a:path>
                <a:path w="8000" h="500" fill="none">
                  <a:moveTo>
                    <a:pt x="7935" y="406"/>
                  </a:moveTo>
                  <a:lnTo>
                    <a:pt x="7935" y="260"/>
                  </a:lnTo>
                </a:path>
                <a:path w="8000" h="500" fill="none">
                  <a:moveTo>
                    <a:pt x="7965" y="406"/>
                  </a:moveTo>
                  <a:lnTo>
                    <a:pt x="7965" y="260"/>
                  </a:lnTo>
                </a:path>
              </a:pathLst>
            </a:custGeom>
            <a:noFill/>
            <a:ln w="9525" cap="rnd">
              <a:solidFill>
                <a:srgbClr val="A49887"/>
              </a:solidFill>
              <a:round/>
            </a:ln>
          </p:spPr>
        </p:sp>
      </p:grpSp>
      <p:sp>
        <p:nvSpPr>
          <p:cNvPr id="12" name="Matriz"/>
          <p:cNvSpPr/>
          <p:nvPr/>
        </p:nvSpPr>
        <p:spPr>
          <a:xfrm>
            <a:off x="365760" y="3017520"/>
            <a:ext cx="7315200" cy="2194560"/>
          </a:xfrm>
          <a:prstGeom prst="rect">
            <a:avLst/>
          </a:prstGeom>
          <a:solidFill>
            <a:srgbClr val="FCF3CF">
              <a:alpha val="70000"/>
            </a:srgbClr>
          </a:solidFill>
          <a:ln w="12700" cap="rnd">
            <a:solidFill>
              <a:srgbClr val="1E1E1E"/>
            </a:solidFill>
            <a:round/>
          </a:ln>
        </p:spPr>
      </p:sp>
      <p:sp>
        <p:nvSpPr>
          <p:cNvPr id="13" name="Forma 12"/>
          <p:cNvSpPr txBox="1"/>
          <p:nvPr/>
        </p:nvSpPr>
        <p:spPr>
          <a:xfrm>
            <a:off x="457200" y="4846320"/>
            <a:ext cx="27432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MATRIZ</a:t>
            </a:r>
            <a:endParaRPr lang="es-AR" sz="1200" dirty="0">
              <a:latin typeface="Fira Sans Condensed"/>
            </a:endParaRPr>
          </a:p>
        </p:txBody>
      </p:sp>
      <p:sp>
        <p:nvSpPr>
          <p:cNvPr id="14" name="Cadena resp"/>
          <p:cNvSpPr/>
          <p:nvPr/>
        </p:nvSpPr>
        <p:spPr>
          <a:xfrm>
            <a:off x="731520" y="2331720"/>
            <a:ext cx="1828800" cy="914400"/>
          </a:xfrm>
          <a:prstGeom prst="roundRect">
            <a:avLst/>
          </a:prstGeom>
          <a:gradFill rotWithShape="1">
            <a:gsLst>
              <a:gs pos="0">
                <a:srgbClr val="9DCDED"/>
              </a:gs>
              <a:gs pos="55000">
                <a:srgbClr val="5DADE2"/>
              </a:gs>
              <a:gs pos="100000">
                <a:srgbClr val="41799E"/>
              </a:gs>
            </a:gsLst>
            <a:path path="circle">
              <a:fillToRect l="32000" t="28000" r="68000" b="72000"/>
            </a:path>
          </a:gradFill>
          <a:ln w="19050" cap="rnd">
            <a:solidFill>
              <a:srgbClr val="1F618D"/>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Cadena</a:t>
            </a:r>
            <a:endParaRPr lang="es-AR" sz="1200" dirty="0">
              <a:latin typeface="Fira Sans Condensed"/>
            </a:endParaRPr>
          </a:p>
          <a:p>
            <a:pPr algn="ctr">
              <a:spcAft>
                <a:spcPts val="300"/>
              </a:spcAft>
              <a:buNone/>
            </a:pPr>
            <a:r>
              <a:rPr lang="es-AR" sz="1200" b="1" dirty="0">
                <a:solidFill>
                  <a:srgbClr val="1E1E1E"/>
                </a:solidFill>
                <a:latin typeface="Fira Sans Condensed"/>
                <a:ea typeface="Fira Sans Condensed"/>
                <a:cs typeface="Fira Sans Condensed"/>
                <a:sym typeface="Fira Sans Condensed"/>
              </a:rPr>
              <a:t>respiratoria</a:t>
            </a:r>
            <a:endParaRPr lang="es-AR" sz="1200" dirty="0">
              <a:latin typeface="Fira Sans Condensed"/>
            </a:endParaRPr>
          </a:p>
        </p:txBody>
      </p:sp>
      <p:sp>
        <p:nvSpPr>
          <p:cNvPr id="15" name="ATP sintasa"/>
          <p:cNvSpPr/>
          <p:nvPr/>
        </p:nvSpPr>
        <p:spPr>
          <a:xfrm>
            <a:off x="3291840" y="2240280"/>
            <a:ext cx="1280160" cy="1143000"/>
          </a:xfrm>
          <a:prstGeom prst="roundRect">
            <a:avLst/>
          </a:prstGeom>
          <a:gradFill rotWithShape="1">
            <a:gsLst>
              <a:gs pos="0">
                <a:srgbClr val="F9CF8D"/>
              </a:gs>
              <a:gs pos="55000">
                <a:srgbClr val="F5B041"/>
              </a:gs>
              <a:gs pos="100000">
                <a:srgbClr val="AB7B2D"/>
              </a:gs>
            </a:gsLst>
            <a:path path="circle">
              <a:fillToRect l="32000" t="28000" r="68000" b="72000"/>
            </a:path>
          </a:gradFill>
          <a:ln w="19050" cap="rnd">
            <a:solidFill>
              <a:srgbClr val="9C640C"/>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ATP</a:t>
            </a:r>
            <a:endParaRPr lang="es-AR" sz="1200" dirty="0">
              <a:latin typeface="Fira Sans Condensed"/>
            </a:endParaRPr>
          </a:p>
          <a:p>
            <a:pPr algn="ctr">
              <a:spcAft>
                <a:spcPts val="300"/>
              </a:spcAft>
              <a:buNone/>
            </a:pPr>
            <a:r>
              <a:rPr lang="es-AR" sz="1200" b="1" dirty="0">
                <a:solidFill>
                  <a:srgbClr val="1E1E1E"/>
                </a:solidFill>
                <a:latin typeface="Fira Sans Condensed"/>
                <a:ea typeface="Fira Sans Condensed"/>
                <a:cs typeface="Fira Sans Condensed"/>
                <a:sym typeface="Fira Sans Condensed"/>
              </a:rPr>
              <a:t>sintasa</a:t>
            </a:r>
            <a:endParaRPr lang="es-AR" sz="1200" dirty="0">
              <a:latin typeface="Fira Sans Condensed"/>
            </a:endParaRPr>
          </a:p>
        </p:txBody>
      </p:sp>
      <p:sp>
        <p:nvSpPr>
          <p:cNvPr id="16" name="UCP1"/>
          <p:cNvSpPr/>
          <p:nvPr/>
        </p:nvSpPr>
        <p:spPr>
          <a:xfrm>
            <a:off x="5486400" y="2286000"/>
            <a:ext cx="1097280" cy="1005840"/>
          </a:xfrm>
          <a:prstGeom prst="roundRect">
            <a:avLst/>
          </a:prstGeom>
          <a:gradFill rotWithShape="1">
            <a:gsLst>
              <a:gs pos="0">
                <a:srgbClr val="D9887F"/>
              </a:gs>
              <a:gs pos="55000">
                <a:srgbClr val="C0392B"/>
              </a:gs>
              <a:gs pos="100000">
                <a:srgbClr val="86271E"/>
              </a:gs>
            </a:gsLst>
            <a:path path="circle">
              <a:fillToRect l="32000" t="28000" r="68000" b="72000"/>
            </a:path>
          </a:gradFill>
          <a:ln w="19050" cap="rnd">
            <a:solidFill>
              <a:srgbClr val="641E16"/>
            </a:solidFill>
            <a:round/>
          </a:ln>
        </p:spPr>
        <p:txBody>
          <a:bodyPr wrap="square" lIns="73152" tIns="45720" rIns="73152" bIns="45720" anchor="ctr" rtlCol="0">
            <a:noAutofit/>
          </a:bodyPr>
          <a:lstStyle/>
          <a:p>
            <a:pPr algn="ctr">
              <a:spcAft>
                <a:spcPts val="300"/>
              </a:spcAft>
              <a:buNone/>
            </a:pPr>
            <a:r>
              <a:rPr lang="es-AR" sz="1500" b="1" dirty="0">
                <a:solidFill>
                  <a:srgbClr val="FFFFFF"/>
                </a:solidFill>
                <a:latin typeface="Fira Sans Condensed"/>
                <a:ea typeface="Fira Sans Condensed"/>
                <a:cs typeface="Fira Sans Condensed"/>
                <a:sym typeface="Fira Sans Condensed"/>
              </a:rPr>
              <a:t>UCP1</a:t>
            </a:r>
            <a:endParaRPr lang="es-AR" sz="1500" dirty="0">
              <a:latin typeface="Fira Sans Condensed"/>
            </a:endParaRPr>
          </a:p>
        </p:txBody>
      </p:sp>
      <p:sp>
        <p:nvSpPr>
          <p:cNvPr id="17" name="H mito 0"/>
          <p:cNvSpPr/>
          <p:nvPr/>
        </p:nvSpPr>
        <p:spPr>
          <a:xfrm>
            <a:off x="82296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18" name="H mito 1"/>
          <p:cNvSpPr/>
          <p:nvPr/>
        </p:nvSpPr>
        <p:spPr>
          <a:xfrm>
            <a:off x="132588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19" name="H mito 2"/>
          <p:cNvSpPr/>
          <p:nvPr/>
        </p:nvSpPr>
        <p:spPr>
          <a:xfrm>
            <a:off x="182880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20" name="H mito 3"/>
          <p:cNvSpPr/>
          <p:nvPr/>
        </p:nvSpPr>
        <p:spPr>
          <a:xfrm>
            <a:off x="233172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21" name="H mito 4"/>
          <p:cNvSpPr/>
          <p:nvPr/>
        </p:nvSpPr>
        <p:spPr>
          <a:xfrm>
            <a:off x="283464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22" name="H mito 5"/>
          <p:cNvSpPr/>
          <p:nvPr/>
        </p:nvSpPr>
        <p:spPr>
          <a:xfrm>
            <a:off x="3337560" y="1554480"/>
            <a:ext cx="329184" cy="329184"/>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H⁺</a:t>
            </a:r>
            <a:endParaRPr lang="es-AR" sz="1000" dirty="0">
              <a:latin typeface="Fira Sans Condensed"/>
            </a:endParaRPr>
          </a:p>
        </p:txBody>
      </p:sp>
      <p:sp>
        <p:nvSpPr>
          <p:cNvPr id="23" name="ATP formado"/>
          <p:cNvSpPr/>
          <p:nvPr/>
        </p:nvSpPr>
        <p:spPr>
          <a:xfrm>
            <a:off x="3703320" y="3840480"/>
            <a:ext cx="502920" cy="502920"/>
          </a:xfrm>
          <a:prstGeom prst="ellipse">
            <a:avLst/>
          </a:prstGeom>
          <a:gradFill rotWithShape="1">
            <a:gsLst>
              <a:gs pos="0">
                <a:srgbClr val="FFD659"/>
              </a:gs>
              <a:gs pos="55000">
                <a:srgbClr val="FFC000"/>
              </a:gs>
              <a:gs pos="100000">
                <a:srgbClr val="CC9900"/>
              </a:gs>
            </a:gsLst>
            <a:path path="circle">
              <a:fillToRect l="32000" t="28000" r="68000" b="72000"/>
            </a:path>
          </a:gradFill>
          <a:ln w="12700" cap="rnd">
            <a:solidFill>
              <a:srgbClr val="8C6900"/>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ATP</a:t>
            </a:r>
            <a:endParaRPr lang="es-AR" sz="1300" dirty="0">
              <a:latin typeface="Fira Sans Condensed"/>
            </a:endParaRPr>
          </a:p>
        </p:txBody>
      </p:sp>
      <p:grpSp>
        <p:nvGrpSpPr>
          <p:cNvPr id="24" name="Calor"/>
          <p:cNvGrpSpPr/>
          <p:nvPr/>
        </p:nvGrpSpPr>
        <p:grpSpPr>
          <a:xfrm>
            <a:off x="5120640" y="3657600"/>
            <a:ext cx="2011680" cy="1234440"/>
            <a:chOff x="5120640" y="3657600"/>
            <a:chExt cx="2011680" cy="1234440"/>
          </a:xfrm>
        </p:grpSpPr>
        <p:sp>
          <p:nvSpPr>
            <p:cNvPr id="25" name="Llama"/>
            <p:cNvSpPr/>
            <p:nvPr/>
          </p:nvSpPr>
          <p:spPr>
            <a:xfrm>
              <a:off x="5669280" y="3657600"/>
              <a:ext cx="822960" cy="1069848"/>
            </a:xfrm>
            <a:custGeom>
              <a:avLst/>
              <a:gdLst/>
              <a:ahLst/>
              <a:cxnLst/>
              <a:rect l="0" t="0" r="r" b="b"/>
              <a:pathLst>
                <a:path w="1000" h="1000">
                  <a:moveTo>
                    <a:pt x="500" y="0"/>
                  </a:moveTo>
                  <a:cubicBezTo>
                    <a:pt x="555" y="-36"/>
                    <a:pt x="683" y="191"/>
                    <a:pt x="750" y="300"/>
                  </a:cubicBezTo>
                  <a:cubicBezTo>
                    <a:pt x="816" y="408"/>
                    <a:pt x="908" y="536"/>
                    <a:pt x="900" y="650"/>
                  </a:cubicBezTo>
                  <a:cubicBezTo>
                    <a:pt x="891" y="763"/>
                    <a:pt x="800" y="925"/>
                    <a:pt x="700" y="980"/>
                  </a:cubicBezTo>
                  <a:cubicBezTo>
                    <a:pt x="600" y="1035"/>
                    <a:pt x="400" y="1035"/>
                    <a:pt x="300" y="980"/>
                  </a:cubicBezTo>
                  <a:cubicBezTo>
                    <a:pt x="200" y="925"/>
                    <a:pt x="100" y="743"/>
                    <a:pt x="100" y="650"/>
                  </a:cubicBezTo>
                  <a:cubicBezTo>
                    <a:pt x="100" y="556"/>
                    <a:pt x="246" y="441"/>
                    <a:pt x="300" y="420"/>
                  </a:cubicBezTo>
                  <a:cubicBezTo>
                    <a:pt x="353" y="398"/>
                    <a:pt x="386" y="590"/>
                    <a:pt x="420" y="520"/>
                  </a:cubicBezTo>
                  <a:cubicBezTo>
                    <a:pt x="453" y="450"/>
                    <a:pt x="445" y="36"/>
                    <a:pt x="500" y="0"/>
                  </a:cubicBezTo>
                  <a:close/>
                </a:path>
              </a:pathLst>
            </a:custGeom>
            <a:gradFill rotWithShape="1">
              <a:gsLst>
                <a:gs pos="0">
                  <a:srgbClr val="FFE066"/>
                </a:gs>
                <a:gs pos="60000">
                  <a:srgbClr val="F39C12"/>
                </a:gs>
                <a:gs pos="100000">
                  <a:srgbClr val="E74C3C"/>
                </a:gs>
              </a:gsLst>
              <a:lin ang="16200000" scaled="0"/>
            </a:gradFill>
            <a:ln w="15875" cap="rnd">
              <a:solidFill>
                <a:srgbClr val="A04000"/>
              </a:solidFill>
              <a:round/>
            </a:ln>
          </p:spPr>
        </p:sp>
        <p:sp>
          <p:nvSpPr>
            <p:cNvPr id="26" name="Forma 25"/>
            <p:cNvSpPr txBox="1"/>
            <p:nvPr/>
          </p:nvSpPr>
          <p:spPr>
            <a:xfrm>
              <a:off x="5120640" y="4572000"/>
              <a:ext cx="2011680" cy="320040"/>
            </a:xfrm>
            <a:prstGeom prst="rect">
              <a:avLst/>
            </a:prstGeom>
            <a:noFill/>
            <a:ln>
              <a:noFill/>
            </a:ln>
          </p:spPr>
          <p:txBody>
            <a:bodyPr wrap="square" lIns="0" tIns="0" rIns="0" bIns="0" anchor="ctr" rtlCol="0">
              <a:noAutofit/>
            </a:bodyPr>
            <a:lstStyle/>
            <a:p>
              <a:pPr algn="ctr">
                <a:spcAft>
                  <a:spcPts val="300"/>
                </a:spcAft>
                <a:buNone/>
              </a:pPr>
              <a:r>
                <a:rPr lang="es-AR" sz="15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CALOR</a:t>
              </a:r>
              <a:endParaRPr lang="es-AR" sz="1500" dirty="0">
                <a:latin typeface="Fira Sans Condensed"/>
              </a:endParaRPr>
            </a:p>
          </p:txBody>
        </p:sp>
      </p:grpSp>
      <p:grpSp>
        <p:nvGrpSpPr>
          <p:cNvPr id="27" name="Paso 1"/>
          <p:cNvGrpSpPr/>
          <p:nvPr/>
        </p:nvGrpSpPr>
        <p:grpSpPr>
          <a:xfrm>
            <a:off x="7955280" y="1097280"/>
            <a:ext cx="3886200" cy="576072"/>
            <a:chOff x="7955280" y="1097280"/>
            <a:chExt cx="3886200" cy="576072"/>
          </a:xfrm>
        </p:grpSpPr>
        <p:sp>
          <p:nvSpPr>
            <p:cNvPr id="28" name="Forma 27"/>
            <p:cNvSpPr/>
            <p:nvPr/>
          </p:nvSpPr>
          <p:spPr>
            <a:xfrm>
              <a:off x="7955280" y="1097280"/>
              <a:ext cx="388620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La cadena respiratoria </a:t>
              </a:r>
              <a:r>
                <a:rPr lang="es-AR" sz="1350" b="1" dirty="0">
                  <a:solidFill>
                    <a:srgbClr val="1E1E1E"/>
                  </a:solidFill>
                  <a:latin typeface="Fira Sans Condensed"/>
                  <a:ea typeface="Fira Sans Condensed"/>
                  <a:cs typeface="Fira Sans Condensed"/>
                  <a:sym typeface="Fira Sans Condensed"/>
                </a:rPr>
                <a:t>expulsa H⁺</a:t>
              </a:r>
              <a:r>
                <a:rPr lang="es-AR" sz="1350" dirty="0">
                  <a:solidFill>
                    <a:srgbClr val="1E1E1E"/>
                  </a:solidFill>
                  <a:latin typeface="Fira Sans Condensed"/>
                  <a:ea typeface="Fira Sans Condensed"/>
                  <a:cs typeface="Fira Sans Condensed"/>
                  <a:sym typeface="Fira Sans Condensed"/>
                </a:rPr>
                <a:t> al espacio intermembrana.</a:t>
              </a:r>
              <a:endParaRPr lang="es-AR" sz="1350" dirty="0">
                <a:latin typeface="Fira Sans Condensed"/>
              </a:endParaRPr>
            </a:p>
          </p:txBody>
        </p:sp>
        <p:sp>
          <p:nvSpPr>
            <p:cNvPr id="29" name="Forma 28"/>
            <p:cNvSpPr/>
            <p:nvPr/>
          </p:nvSpPr>
          <p:spPr>
            <a:xfrm>
              <a:off x="8046720" y="121158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30" name="Paso 2"/>
          <p:cNvGrpSpPr/>
          <p:nvPr/>
        </p:nvGrpSpPr>
        <p:grpSpPr>
          <a:xfrm>
            <a:off x="7955280" y="1764792"/>
            <a:ext cx="3886200" cy="576072"/>
            <a:chOff x="7955280" y="1764792"/>
            <a:chExt cx="3886200" cy="576072"/>
          </a:xfrm>
        </p:grpSpPr>
        <p:sp>
          <p:nvSpPr>
            <p:cNvPr id="31" name="Forma 30"/>
            <p:cNvSpPr/>
            <p:nvPr/>
          </p:nvSpPr>
          <p:spPr>
            <a:xfrm>
              <a:off x="7955280" y="1764792"/>
              <a:ext cx="388620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Normalmente el gradiente vuelve por la </a:t>
              </a:r>
              <a:r>
                <a:rPr lang="es-AR" sz="1350" b="1" dirty="0">
                  <a:solidFill>
                    <a:srgbClr val="1E1E1E"/>
                  </a:solidFill>
                  <a:latin typeface="Fira Sans Condensed"/>
                  <a:ea typeface="Fira Sans Condensed"/>
                  <a:cs typeface="Fira Sans Condensed"/>
                  <a:sym typeface="Fira Sans Condensed"/>
                </a:rPr>
                <a:t>ATP sintasa</a:t>
              </a:r>
              <a:r>
                <a:rPr lang="es-AR" sz="1350" dirty="0">
                  <a:solidFill>
                    <a:srgbClr val="1E1E1E"/>
                  </a:solidFill>
                  <a:latin typeface="Fira Sans Condensed"/>
                  <a:ea typeface="Fira Sans Condensed"/>
                  <a:cs typeface="Fira Sans Condensed"/>
                  <a:sym typeface="Fira Sans Condensed"/>
                </a:rPr>
                <a:t> → ATP.</a:t>
              </a:r>
              <a:endParaRPr lang="es-AR" sz="1350" dirty="0">
                <a:latin typeface="Fira Sans Condensed"/>
              </a:endParaRPr>
            </a:p>
          </p:txBody>
        </p:sp>
        <p:sp>
          <p:nvSpPr>
            <p:cNvPr id="32" name="Forma 31"/>
            <p:cNvSpPr/>
            <p:nvPr/>
          </p:nvSpPr>
          <p:spPr>
            <a:xfrm>
              <a:off x="8046720" y="187909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33" name="Paso 3"/>
          <p:cNvGrpSpPr/>
          <p:nvPr/>
        </p:nvGrpSpPr>
        <p:grpSpPr>
          <a:xfrm>
            <a:off x="7955280" y="2432304"/>
            <a:ext cx="3886200" cy="781812"/>
            <a:chOff x="7955280" y="2432304"/>
            <a:chExt cx="3886200" cy="781812"/>
          </a:xfrm>
        </p:grpSpPr>
        <p:sp>
          <p:nvSpPr>
            <p:cNvPr id="34" name="Forma 33"/>
            <p:cNvSpPr/>
            <p:nvPr/>
          </p:nvSpPr>
          <p:spPr>
            <a:xfrm>
              <a:off x="7955280" y="2432304"/>
              <a:ext cx="3886200" cy="78181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UCP1</a:t>
              </a:r>
              <a:r>
                <a:rPr lang="es-AR" sz="1350" dirty="0">
                  <a:solidFill>
                    <a:srgbClr val="1E1E1E"/>
                  </a:solidFill>
                  <a:latin typeface="Fira Sans Condensed"/>
                  <a:ea typeface="Fira Sans Condensed"/>
                  <a:cs typeface="Fira Sans Condensed"/>
                  <a:sym typeface="Fira Sans Condensed"/>
                </a:rPr>
                <a:t> permite el retorno de H⁺ </a:t>
              </a:r>
              <a:r>
                <a:rPr lang="es-AR" sz="1350" b="1" dirty="0">
                  <a:solidFill>
                    <a:srgbClr val="1E1E1E"/>
                  </a:solidFill>
                  <a:latin typeface="Fira Sans Condensed"/>
                  <a:ea typeface="Fira Sans Condensed"/>
                  <a:cs typeface="Fira Sans Condensed"/>
                  <a:sym typeface="Fira Sans Condensed"/>
                </a:rPr>
                <a:t>sin</a:t>
              </a:r>
              <a:r>
                <a:rPr lang="es-AR" sz="1350" dirty="0">
                  <a:solidFill>
                    <a:srgbClr val="1E1E1E"/>
                  </a:solidFill>
                  <a:latin typeface="Fira Sans Condensed"/>
                  <a:ea typeface="Fira Sans Condensed"/>
                  <a:cs typeface="Fira Sans Condensed"/>
                  <a:sym typeface="Fira Sans Condensed"/>
                </a:rPr>
                <a:t> sintetizar ATP → la energía se </a:t>
              </a:r>
              <a:r>
                <a:rPr lang="es-AR" sz="1350" b="1" dirty="0">
                  <a:solidFill>
                    <a:srgbClr val="1E1E1E"/>
                  </a:solidFill>
                  <a:latin typeface="Fira Sans Condensed"/>
                  <a:ea typeface="Fira Sans Condensed"/>
                  <a:cs typeface="Fira Sans Condensed"/>
                  <a:sym typeface="Fira Sans Condensed"/>
                </a:rPr>
                <a:t>disipa como calor</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35" name="Forma 34"/>
            <p:cNvSpPr/>
            <p:nvPr/>
          </p:nvSpPr>
          <p:spPr>
            <a:xfrm>
              <a:off x="8046720" y="264947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36" name="Paso 4"/>
          <p:cNvGrpSpPr/>
          <p:nvPr/>
        </p:nvGrpSpPr>
        <p:grpSpPr>
          <a:xfrm>
            <a:off x="7955280" y="3305556"/>
            <a:ext cx="3886200" cy="576072"/>
            <a:chOff x="7955280" y="3305556"/>
            <a:chExt cx="3886200" cy="576072"/>
          </a:xfrm>
        </p:grpSpPr>
        <p:sp>
          <p:nvSpPr>
            <p:cNvPr id="37" name="Forma 36"/>
            <p:cNvSpPr/>
            <p:nvPr/>
          </p:nvSpPr>
          <p:spPr>
            <a:xfrm>
              <a:off x="7955280" y="3305556"/>
              <a:ext cx="388620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Los </a:t>
              </a:r>
              <a:r>
                <a:rPr lang="es-AR" sz="1350" b="1" dirty="0">
                  <a:solidFill>
                    <a:srgbClr val="1E1E1E"/>
                  </a:solidFill>
                  <a:latin typeface="Fira Sans Condensed"/>
                  <a:ea typeface="Fira Sans Condensed"/>
                  <a:cs typeface="Fira Sans Condensed"/>
                  <a:sym typeface="Fira Sans Condensed"/>
                </a:rPr>
                <a:t>ácidos grasos</a:t>
              </a:r>
              <a:r>
                <a:rPr lang="es-AR" sz="1350" dirty="0">
                  <a:solidFill>
                    <a:srgbClr val="1E1E1E"/>
                  </a:solidFill>
                  <a:latin typeface="Fira Sans Condensed"/>
                  <a:ea typeface="Fira Sans Condensed"/>
                  <a:cs typeface="Fira Sans Condensed"/>
                  <a:sym typeface="Fira Sans Condensed"/>
                </a:rPr>
                <a:t> liberados por lipólisis activan UCP1.</a:t>
              </a:r>
              <a:endParaRPr lang="es-AR" sz="1350" dirty="0">
                <a:latin typeface="Fira Sans Condensed"/>
              </a:endParaRPr>
            </a:p>
          </p:txBody>
        </p:sp>
        <p:sp>
          <p:nvSpPr>
            <p:cNvPr id="38" name="Forma 37"/>
            <p:cNvSpPr/>
            <p:nvPr/>
          </p:nvSpPr>
          <p:spPr>
            <a:xfrm>
              <a:off x="8046720" y="341985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UCP1: PROTONES QUE VUELVEN SIN FABRICAR ATP</a:t>
            </a:r>
            <a:endParaRPr lang="es-AR" sz="33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500"/>
                                        <p:tgtEl>
                                          <p:spTgt spid="27"/>
                                        </p:tgtEl>
                                      </p:cBhvr>
                                    </p:animEffect>
                                  </p:childTnLst>
                                </p:cTn>
                              </p:par>
                            </p:childTnLst>
                          </p:cTn>
                        </p:par>
                        <p:par>
                          <p:cTn id="12" fill="hold">
                            <p:stCondLst>
                              <p:cond delay="500"/>
                            </p:stCondLst>
                            <p:childTnLst>
                              <p:par>
                                <p:cTn id="7" presetID="53" presetClass="entr" presetSubtype="16" fill="hold" grpId="0" nodeType="afterEffect">
                                  <p:stCondLst>
                                    <p:cond delay="0"/>
                                  </p:stCondLst>
                                  <p:childTnLst>
                                    <p:set>
                                      <p:cBhvr>
                                        <p:cTn id="8" dur="1" fill="hold">
                                          <p:stCondLst>
                                            <p:cond delay="0"/>
                                          </p:stCondLst>
                                        </p:cTn>
                                        <p:tgtEl>
                                          <p:spTgt spid="17"/>
                                        </p:tgtEl>
                                        <p:attrNameLst>
                                          <p:attrName>style.visibility</p:attrName>
                                        </p:attrNameLst>
                                      </p:cBhvr>
                                      <p:to>
                                        <p:strVal val="visible"/>
                                      </p:to>
                                    </p:set>
                                    <p:anim calcmode="lin" valueType="num">
                                      <p:cBhvr>
                                        <p:cTn id="9" dur="150" fill="hold"/>
                                        <p:tgtEl>
                                          <p:spTgt spid="17"/>
                                        </p:tgtEl>
                                        <p:attrNameLst>
                                          <p:attrName>ppt_w</p:attrName>
                                        </p:attrNameLst>
                                      </p:cBhvr>
                                      <p:tavLst>
                                        <p:tav tm="0">
                                          <p:val>
                                            <p:fltVal val="0"/>
                                          </p:val>
                                        </p:tav>
                                        <p:tav tm="100000">
                                          <p:val>
                                            <p:strVal val="#ppt_w"/>
                                          </p:val>
                                        </p:tav>
                                      </p:tavLst>
                                    </p:anim>
                                    <p:anim calcmode="lin" valueType="num">
                                      <p:cBhvr>
                                        <p:cTn id="10" dur="150" fill="hold"/>
                                        <p:tgtEl>
                                          <p:spTgt spid="17"/>
                                        </p:tgtEl>
                                        <p:attrNameLst>
                                          <p:attrName>ppt_h</p:attrName>
                                        </p:attrNameLst>
                                      </p:cBhvr>
                                      <p:tavLst>
                                        <p:tav tm="0">
                                          <p:val>
                                            <p:fltVal val="0"/>
                                          </p:val>
                                        </p:tav>
                                        <p:tav tm="100000">
                                          <p:val>
                                            <p:strVal val="#ppt_h"/>
                                          </p:val>
                                        </p:tav>
                                      </p:tavLst>
                                    </p:anim>
                                    <p:animEffect transition="in" filter="fade">
                                      <p:cBhvr>
                                        <p:cTn id="11" dur="150"/>
                                        <p:tgtEl>
                                          <p:spTgt spid="17"/>
                                        </p:tgtEl>
                                      </p:cBhvr>
                                    </p:animEffect>
                                  </p:childTnLst>
                                </p:cTn>
                              </p:par>
                            </p:childTnLst>
                          </p:cTn>
                        </p:par>
                        <p:par>
                          <p:cTn id="18" fill="hold">
                            <p:stCondLst>
                              <p:cond delay="650"/>
                            </p:stCondLst>
                            <p:childTnLst>
                              <p:par>
                                <p:cTn id="13" presetID="53" presetClass="entr" presetSubtype="16"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150" fill="hold"/>
                                        <p:tgtEl>
                                          <p:spTgt spid="18"/>
                                        </p:tgtEl>
                                        <p:attrNameLst>
                                          <p:attrName>ppt_w</p:attrName>
                                        </p:attrNameLst>
                                      </p:cBhvr>
                                      <p:tavLst>
                                        <p:tav tm="0">
                                          <p:val>
                                            <p:fltVal val="0"/>
                                          </p:val>
                                        </p:tav>
                                        <p:tav tm="100000">
                                          <p:val>
                                            <p:strVal val="#ppt_w"/>
                                          </p:val>
                                        </p:tav>
                                      </p:tavLst>
                                    </p:anim>
                                    <p:anim calcmode="lin" valueType="num">
                                      <p:cBhvr>
                                        <p:cTn id="16" dur="150" fill="hold"/>
                                        <p:tgtEl>
                                          <p:spTgt spid="18"/>
                                        </p:tgtEl>
                                        <p:attrNameLst>
                                          <p:attrName>ppt_h</p:attrName>
                                        </p:attrNameLst>
                                      </p:cBhvr>
                                      <p:tavLst>
                                        <p:tav tm="0">
                                          <p:val>
                                            <p:fltVal val="0"/>
                                          </p:val>
                                        </p:tav>
                                        <p:tav tm="100000">
                                          <p:val>
                                            <p:strVal val="#ppt_h"/>
                                          </p:val>
                                        </p:tav>
                                      </p:tavLst>
                                    </p:anim>
                                    <p:animEffect transition="in" filter="fade">
                                      <p:cBhvr>
                                        <p:cTn id="17" dur="150"/>
                                        <p:tgtEl>
                                          <p:spTgt spid="18"/>
                                        </p:tgtEl>
                                      </p:cBhvr>
                                    </p:animEffect>
                                  </p:childTnLst>
                                </p:cTn>
                              </p:par>
                            </p:childTnLst>
                          </p:cTn>
                        </p:par>
                        <p:par>
                          <p:cTn id="24" fill="hold">
                            <p:stCondLst>
                              <p:cond delay="800"/>
                            </p:stCondLst>
                            <p:childTnLst>
                              <p:par>
                                <p:cTn id="19" presetID="53" presetClass="entr" presetSubtype="16"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p:cTn id="21" dur="150" fill="hold"/>
                                        <p:tgtEl>
                                          <p:spTgt spid="19"/>
                                        </p:tgtEl>
                                        <p:attrNameLst>
                                          <p:attrName>ppt_w</p:attrName>
                                        </p:attrNameLst>
                                      </p:cBhvr>
                                      <p:tavLst>
                                        <p:tav tm="0">
                                          <p:val>
                                            <p:fltVal val="0"/>
                                          </p:val>
                                        </p:tav>
                                        <p:tav tm="100000">
                                          <p:val>
                                            <p:strVal val="#ppt_w"/>
                                          </p:val>
                                        </p:tav>
                                      </p:tavLst>
                                    </p:anim>
                                    <p:anim calcmode="lin" valueType="num">
                                      <p:cBhvr>
                                        <p:cTn id="22" dur="150" fill="hold"/>
                                        <p:tgtEl>
                                          <p:spTgt spid="19"/>
                                        </p:tgtEl>
                                        <p:attrNameLst>
                                          <p:attrName>ppt_h</p:attrName>
                                        </p:attrNameLst>
                                      </p:cBhvr>
                                      <p:tavLst>
                                        <p:tav tm="0">
                                          <p:val>
                                            <p:fltVal val="0"/>
                                          </p:val>
                                        </p:tav>
                                        <p:tav tm="100000">
                                          <p:val>
                                            <p:strVal val="#ppt_h"/>
                                          </p:val>
                                        </p:tav>
                                      </p:tavLst>
                                    </p:anim>
                                    <p:animEffect transition="in" filter="fade">
                                      <p:cBhvr>
                                        <p:cTn id="23" dur="150"/>
                                        <p:tgtEl>
                                          <p:spTgt spid="19"/>
                                        </p:tgtEl>
                                      </p:cBhvr>
                                    </p:animEffect>
                                  </p:childTnLst>
                                </p:cTn>
                              </p:par>
                            </p:childTnLst>
                          </p:cTn>
                        </p:par>
                        <p:par>
                          <p:cTn id="30" fill="hold">
                            <p:stCondLst>
                              <p:cond delay="950"/>
                            </p:stCondLst>
                            <p:childTnLst>
                              <p:par>
                                <p:cTn id="25" presetID="53" presetClass="entr" presetSubtype="16"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150" fill="hold"/>
                                        <p:tgtEl>
                                          <p:spTgt spid="20"/>
                                        </p:tgtEl>
                                        <p:attrNameLst>
                                          <p:attrName>ppt_w</p:attrName>
                                        </p:attrNameLst>
                                      </p:cBhvr>
                                      <p:tavLst>
                                        <p:tav tm="0">
                                          <p:val>
                                            <p:fltVal val="0"/>
                                          </p:val>
                                        </p:tav>
                                        <p:tav tm="100000">
                                          <p:val>
                                            <p:strVal val="#ppt_w"/>
                                          </p:val>
                                        </p:tav>
                                      </p:tavLst>
                                    </p:anim>
                                    <p:anim calcmode="lin" valueType="num">
                                      <p:cBhvr>
                                        <p:cTn id="28" dur="150" fill="hold"/>
                                        <p:tgtEl>
                                          <p:spTgt spid="20"/>
                                        </p:tgtEl>
                                        <p:attrNameLst>
                                          <p:attrName>ppt_h</p:attrName>
                                        </p:attrNameLst>
                                      </p:cBhvr>
                                      <p:tavLst>
                                        <p:tav tm="0">
                                          <p:val>
                                            <p:fltVal val="0"/>
                                          </p:val>
                                        </p:tav>
                                        <p:tav tm="100000">
                                          <p:val>
                                            <p:strVal val="#ppt_h"/>
                                          </p:val>
                                        </p:tav>
                                      </p:tavLst>
                                    </p:anim>
                                    <p:animEffect transition="in" filter="fade">
                                      <p:cBhvr>
                                        <p:cTn id="29" dur="150"/>
                                        <p:tgtEl>
                                          <p:spTgt spid="20"/>
                                        </p:tgtEl>
                                      </p:cBhvr>
                                    </p:animEffect>
                                  </p:childTnLst>
                                </p:cTn>
                              </p:par>
                            </p:childTnLst>
                          </p:cTn>
                        </p:par>
                        <p:par>
                          <p:cTn id="36" fill="hold">
                            <p:stCondLst>
                              <p:cond delay="1100"/>
                            </p:stCondLst>
                            <p:childTnLst>
                              <p:par>
                                <p:cTn id="31" presetID="53" presetClass="entr" presetSubtype="16"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150" fill="hold"/>
                                        <p:tgtEl>
                                          <p:spTgt spid="21"/>
                                        </p:tgtEl>
                                        <p:attrNameLst>
                                          <p:attrName>ppt_w</p:attrName>
                                        </p:attrNameLst>
                                      </p:cBhvr>
                                      <p:tavLst>
                                        <p:tav tm="0">
                                          <p:val>
                                            <p:fltVal val="0"/>
                                          </p:val>
                                        </p:tav>
                                        <p:tav tm="100000">
                                          <p:val>
                                            <p:strVal val="#ppt_w"/>
                                          </p:val>
                                        </p:tav>
                                      </p:tavLst>
                                    </p:anim>
                                    <p:anim calcmode="lin" valueType="num">
                                      <p:cBhvr>
                                        <p:cTn id="34" dur="150" fill="hold"/>
                                        <p:tgtEl>
                                          <p:spTgt spid="21"/>
                                        </p:tgtEl>
                                        <p:attrNameLst>
                                          <p:attrName>ppt_h</p:attrName>
                                        </p:attrNameLst>
                                      </p:cBhvr>
                                      <p:tavLst>
                                        <p:tav tm="0">
                                          <p:val>
                                            <p:fltVal val="0"/>
                                          </p:val>
                                        </p:tav>
                                        <p:tav tm="100000">
                                          <p:val>
                                            <p:strVal val="#ppt_h"/>
                                          </p:val>
                                        </p:tav>
                                      </p:tavLst>
                                    </p:anim>
                                    <p:animEffect transition="in" filter="fade">
                                      <p:cBhvr>
                                        <p:cTn id="35" dur="150"/>
                                        <p:tgtEl>
                                          <p:spTgt spid="21"/>
                                        </p:tgtEl>
                                      </p:cBhvr>
                                    </p:animEffect>
                                  </p:childTnLst>
                                </p:cTn>
                              </p:par>
                            </p:childTnLst>
                          </p:cTn>
                        </p:par>
                        <p:par>
                          <p:cTn id="42" fill="hold">
                            <p:stCondLst>
                              <p:cond delay="1250"/>
                            </p:stCondLst>
                            <p:childTnLst>
                              <p:par>
                                <p:cTn id="37" presetID="53" presetClass="entr" presetSubtype="16"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150" fill="hold"/>
                                        <p:tgtEl>
                                          <p:spTgt spid="22"/>
                                        </p:tgtEl>
                                        <p:attrNameLst>
                                          <p:attrName>ppt_w</p:attrName>
                                        </p:attrNameLst>
                                      </p:cBhvr>
                                      <p:tavLst>
                                        <p:tav tm="0">
                                          <p:val>
                                            <p:fltVal val="0"/>
                                          </p:val>
                                        </p:tav>
                                        <p:tav tm="100000">
                                          <p:val>
                                            <p:strVal val="#ppt_w"/>
                                          </p:val>
                                        </p:tav>
                                      </p:tavLst>
                                    </p:anim>
                                    <p:anim calcmode="lin" valueType="num">
                                      <p:cBhvr>
                                        <p:cTn id="40" dur="150" fill="hold"/>
                                        <p:tgtEl>
                                          <p:spTgt spid="22"/>
                                        </p:tgtEl>
                                        <p:attrNameLst>
                                          <p:attrName>ppt_h</p:attrName>
                                        </p:attrNameLst>
                                      </p:cBhvr>
                                      <p:tavLst>
                                        <p:tav tm="0">
                                          <p:val>
                                            <p:fltVal val="0"/>
                                          </p:val>
                                        </p:tav>
                                        <p:tav tm="100000">
                                          <p:val>
                                            <p:strVal val="#ppt_h"/>
                                          </p:val>
                                        </p:tav>
                                      </p:tavLst>
                                    </p:anim>
                                    <p:animEffect transition="in" filter="fade">
                                      <p:cBhvr>
                                        <p:cTn id="41" dur="150"/>
                                        <p:tgtEl>
                                          <p:spTgt spid="22"/>
                                        </p:tgtEl>
                                      </p:cBhvr>
                                    </p:animEffect>
                                  </p:childTnLst>
                                </p:cTn>
                              </p:par>
                            </p:childTnLst>
                          </p:cTn>
                        </p:par>
                      </p:childTnLst>
                    </p:cTn>
                  </p:par>
                  <p:par>
                    <p:cTn id="56" fill="hold">
                      <p:stCondLst>
                        <p:cond delay="indefinite"/>
                      </p:stCondLst>
                      <p:childTnLst>
                        <p:par>
                          <p:cTn id="49"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0" presetClass="path" presetSubtype="0" accel="20000" decel="20000" fill="hold" grpId="0" nodeType="withEffect">
                                  <p:stCondLst>
                                    <p:cond delay="0"/>
                                  </p:stCondLst>
                                  <p:childTnLst>
                                    <p:animMotion origin="layout" path="M 0 0 L 0.2513 0.2133 E" pathEditMode="relative" ptsTypes="">
                                      <p:cBhvr>
                                        <p:cTn id="48" dur="1200" fill="hold"/>
                                        <p:tgtEl>
                                          <p:spTgt spid="17"/>
                                        </p:tgtEl>
                                        <p:attrNameLst>
                                          <p:attrName>ppt_x</p:attrName>
                                          <p:attrName>ppt_y</p:attrName>
                                        </p:attrNameLst>
                                      </p:cBhvr>
                                      <p:rCtr x="12562" y="10666"/>
                                    </p:animMotion>
                                  </p:childTnLst>
                                </p:cTn>
                              </p:par>
                            </p:childTnLst>
                          </p:cTn>
                        </p:par>
                        <p:par>
                          <p:cTn id="55" fill="hold">
                            <p:stCondLst>
                              <p:cond delay="1200"/>
                            </p:stCondLst>
                            <p:childTnLst>
                              <p:par>
                                <p:cTn id="50" presetID="53" presetClass="entr" presetSubtype="16" fill="hold" grpId="0"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p:cTn id="52" dur="500" fill="hold"/>
                                        <p:tgtEl>
                                          <p:spTgt spid="23"/>
                                        </p:tgtEl>
                                        <p:attrNameLst>
                                          <p:attrName>ppt_w</p:attrName>
                                        </p:attrNameLst>
                                      </p:cBhvr>
                                      <p:tavLst>
                                        <p:tav tm="0">
                                          <p:val>
                                            <p:fltVal val="0"/>
                                          </p:val>
                                        </p:tav>
                                        <p:tav tm="100000">
                                          <p:val>
                                            <p:strVal val="#ppt_w"/>
                                          </p:val>
                                        </p:tav>
                                      </p:tavLst>
                                    </p:anim>
                                    <p:anim calcmode="lin" valueType="num">
                                      <p:cBhvr>
                                        <p:cTn id="53" dur="500" fill="hold"/>
                                        <p:tgtEl>
                                          <p:spTgt spid="23"/>
                                        </p:tgtEl>
                                        <p:attrNameLst>
                                          <p:attrName>ppt_h</p:attrName>
                                        </p:attrNameLst>
                                      </p:cBhvr>
                                      <p:tavLst>
                                        <p:tav tm="0">
                                          <p:val>
                                            <p:fltVal val="0"/>
                                          </p:val>
                                        </p:tav>
                                        <p:tav tm="100000">
                                          <p:val>
                                            <p:strVal val="#ppt_h"/>
                                          </p:val>
                                        </p:tav>
                                      </p:tavLst>
                                    </p:anim>
                                    <p:animEffect transition="in" filter="fade">
                                      <p:cBhvr>
                                        <p:cTn id="54" dur="500"/>
                                        <p:tgtEl>
                                          <p:spTgt spid="23"/>
                                        </p:tgtEl>
                                      </p:cBhvr>
                                    </p:animEffect>
                                  </p:childTnLst>
                                </p:cTn>
                              </p:par>
                            </p:childTnLst>
                          </p:cTn>
                        </p:par>
                      </p:childTnLst>
                    </p:cTn>
                  </p:par>
                  <p:par>
                    <p:cTn id="70" fill="hold">
                      <p:stCondLst>
                        <p:cond delay="indefinite"/>
                      </p:stCondLst>
                      <p:childTnLst>
                        <p:par>
                          <p:cTn id="62"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00"/>
                                        <p:tgtEl>
                                          <p:spTgt spid="33"/>
                                        </p:tgtEl>
                                      </p:cBhvr>
                                    </p:animEffect>
                                  </p:childTnLst>
                                </p:cTn>
                              </p:par>
                              <p:par>
                                <p:cTn id="60" presetID="0" presetClass="path" presetSubtype="0" accel="20000" decel="20000" fill="hold" grpId="0" nodeType="withEffect">
                                  <p:stCondLst>
                                    <p:cond delay="0"/>
                                  </p:stCondLst>
                                  <p:childTnLst>
                                    <p:animMotion origin="layout" path="M 0 0 L 0.2925 0.2000 E" pathEditMode="relative" ptsTypes="">
                                      <p:cBhvr>
                                        <p:cTn id="61" dur="1200" fill="hold"/>
                                        <p:tgtEl>
                                          <p:spTgt spid="20"/>
                                        </p:tgtEl>
                                        <p:attrNameLst>
                                          <p:attrName>ppt_x</p:attrName>
                                          <p:attrName>ppt_y</p:attrName>
                                        </p:attrNameLst>
                                      </p:cBhvr>
                                      <p:rCtr x="14625" y="10000"/>
                                    </p:animMotion>
                                  </p:childTnLst>
                                </p:cTn>
                              </p:par>
                            </p:childTnLst>
                          </p:cTn>
                        </p:par>
                        <p:par>
                          <p:cTn id="65" fill="hold">
                            <p:stCondLst>
                              <p:cond delay="200"/>
                            </p:stCondLst>
                            <p:childTnLst>
                              <p:par>
                                <p:cTn id="63" presetID="0" presetClass="path" presetSubtype="0" accel="20000" decel="20000" fill="hold" grpId="0" nodeType="afterEffect">
                                  <p:stCondLst>
                                    <p:cond delay="0"/>
                                  </p:stCondLst>
                                  <p:childTnLst>
                                    <p:animMotion origin="layout" path="M 0 0 L 0.2513 0.2000 E" pathEditMode="relative" ptsTypes="">
                                      <p:cBhvr>
                                        <p:cTn id="64" dur="1200" fill="hold"/>
                                        <p:tgtEl>
                                          <p:spTgt spid="21"/>
                                        </p:tgtEl>
                                        <p:attrNameLst>
                                          <p:attrName>ppt_x</p:attrName>
                                          <p:attrName>ppt_y</p:attrName>
                                        </p:attrNameLst>
                                      </p:cBhvr>
                                      <p:rCtr x="12562" y="10000"/>
                                    </p:animMotion>
                                  </p:childTnLst>
                                </p:cTn>
                              </p:par>
                            </p:childTnLst>
                          </p:cTn>
                        </p:par>
                        <p:par>
                          <p:cTn id="69" fill="hold">
                            <p:stCondLst>
                              <p:cond delay="1400"/>
                            </p:stCondLst>
                            <p:childTnLst>
                              <p:par>
                                <p:cTn id="66" presetID="10" presetClass="entr" presetSubtype="0" fill="hold" grpId="0"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75" fill="hold">
                      <p:stCondLst>
                        <p:cond delay="indefinite"/>
                      </p:stCondLst>
                      <p:childTnLst>
                        <p:par>
                          <p:cTn id="74"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sp>
        <p:nvSpPr>
          <p:cNvPr id="7" name="Flecha f→h"/>
          <p:cNvSpPr/>
          <p:nvPr/>
        </p:nvSpPr>
        <p:spPr>
          <a:xfrm>
            <a:off x="2231136" y="146304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8" name="Flecha h→sn"/>
          <p:cNvSpPr/>
          <p:nvPr/>
        </p:nvSpPr>
        <p:spPr>
          <a:xfrm>
            <a:off x="4791456" y="146304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9" name="Flecha sn→na"/>
          <p:cNvSpPr/>
          <p:nvPr/>
        </p:nvSpPr>
        <p:spPr>
          <a:xfrm>
            <a:off x="7626096" y="146304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10" name="Flecha na→b"/>
          <p:cNvSpPr/>
          <p:nvPr/>
        </p:nvSpPr>
        <p:spPr>
          <a:xfrm>
            <a:off x="9052560" y="1773936"/>
            <a:ext cx="9144" cy="384048"/>
          </a:xfrm>
          <a:custGeom>
            <a:avLst/>
            <a:gdLst/>
            <a:ahLst/>
            <a:cxnLst/>
            <a:rect l="0" t="0" r="r" b="b"/>
            <a:pathLst>
              <a:path w="10" h="419" fill="none">
                <a:moveTo>
                  <a:pt x="0" y="0"/>
                </a:moveTo>
                <a:lnTo>
                  <a:pt x="0" y="419"/>
                </a:lnTo>
              </a:path>
            </a:pathLst>
          </a:custGeom>
          <a:noFill/>
          <a:ln w="28575" cap="rnd">
            <a:solidFill>
              <a:srgbClr val="1E1E1E"/>
            </a:solidFill>
            <a:round/>
            <a:tailEnd type="triangle" w="med" len="med"/>
          </a:ln>
        </p:spPr>
      </p:sp>
      <p:sp>
        <p:nvSpPr>
          <p:cNvPr id="11" name="Flecha b→c"/>
          <p:cNvSpPr/>
          <p:nvPr/>
        </p:nvSpPr>
        <p:spPr>
          <a:xfrm>
            <a:off x="7626096" y="2468880"/>
            <a:ext cx="384048" cy="9144"/>
          </a:xfrm>
          <a:custGeom>
            <a:avLst/>
            <a:gdLst/>
            <a:ahLst/>
            <a:cxnLst/>
            <a:rect l="0" t="0" r="r" b="b"/>
            <a:pathLst>
              <a:path w="420" h="10" fill="none">
                <a:moveTo>
                  <a:pt x="420" y="0"/>
                </a:moveTo>
                <a:lnTo>
                  <a:pt x="0" y="0"/>
                </a:lnTo>
              </a:path>
            </a:pathLst>
          </a:custGeom>
          <a:noFill/>
          <a:ln w="28575" cap="rnd">
            <a:solidFill>
              <a:srgbClr val="1E1E1E"/>
            </a:solidFill>
            <a:round/>
            <a:tailEnd type="triangle" w="med" len="med"/>
          </a:ln>
        </p:spPr>
      </p:sp>
      <p:sp>
        <p:nvSpPr>
          <p:cNvPr id="12" name="Flecha c→l"/>
          <p:cNvSpPr/>
          <p:nvPr/>
        </p:nvSpPr>
        <p:spPr>
          <a:xfrm>
            <a:off x="4791456" y="2468880"/>
            <a:ext cx="384048" cy="9144"/>
          </a:xfrm>
          <a:custGeom>
            <a:avLst/>
            <a:gdLst/>
            <a:ahLst/>
            <a:cxnLst/>
            <a:rect l="0" t="0" r="r" b="b"/>
            <a:pathLst>
              <a:path w="420" h="10" fill="none">
                <a:moveTo>
                  <a:pt x="420" y="0"/>
                </a:moveTo>
                <a:lnTo>
                  <a:pt x="0" y="0"/>
                </a:lnTo>
              </a:path>
            </a:pathLst>
          </a:custGeom>
          <a:noFill/>
          <a:ln w="28575" cap="rnd">
            <a:solidFill>
              <a:srgbClr val="1E1E1E"/>
            </a:solidFill>
            <a:round/>
            <a:tailEnd type="triangle" w="med" len="med"/>
          </a:ln>
        </p:spPr>
      </p:sp>
      <p:sp>
        <p:nvSpPr>
          <p:cNvPr id="13" name="Flecha l→ag"/>
          <p:cNvSpPr/>
          <p:nvPr/>
        </p:nvSpPr>
        <p:spPr>
          <a:xfrm>
            <a:off x="2231136" y="2468880"/>
            <a:ext cx="384048" cy="9144"/>
          </a:xfrm>
          <a:custGeom>
            <a:avLst/>
            <a:gdLst/>
            <a:ahLst/>
            <a:cxnLst/>
            <a:rect l="0" t="0" r="r" b="b"/>
            <a:pathLst>
              <a:path w="419" h="10" fill="none">
                <a:moveTo>
                  <a:pt x="419" y="0"/>
                </a:moveTo>
                <a:lnTo>
                  <a:pt x="0" y="0"/>
                </a:lnTo>
              </a:path>
            </a:pathLst>
          </a:custGeom>
          <a:noFill/>
          <a:ln w="28575" cap="rnd">
            <a:solidFill>
              <a:srgbClr val="1E1E1E"/>
            </a:solidFill>
            <a:round/>
            <a:tailEnd type="triangle" w="med" len="med"/>
          </a:ln>
        </p:spPr>
      </p:sp>
      <p:sp>
        <p:nvSpPr>
          <p:cNvPr id="14" name="Flecha c→p"/>
          <p:cNvSpPr/>
          <p:nvPr/>
        </p:nvSpPr>
        <p:spPr>
          <a:xfrm>
            <a:off x="5440680" y="2779776"/>
            <a:ext cx="640080" cy="384048"/>
          </a:xfrm>
          <a:custGeom>
            <a:avLst/>
            <a:gdLst/>
            <a:ahLst/>
            <a:cxnLst/>
            <a:rect l="0" t="0" r="r" b="b"/>
            <a:pathLst>
              <a:path w="700" h="419" fill="none">
                <a:moveTo>
                  <a:pt x="700" y="0"/>
                </a:moveTo>
                <a:lnTo>
                  <a:pt x="0" y="419"/>
                </a:lnTo>
              </a:path>
            </a:pathLst>
          </a:custGeom>
          <a:noFill/>
          <a:ln w="28575" cap="rnd">
            <a:solidFill>
              <a:srgbClr val="1E1E1E"/>
            </a:solidFill>
            <a:round/>
            <a:tailEnd type="triangle" w="med" len="med"/>
          </a:ln>
        </p:spPr>
      </p:sp>
      <p:sp>
        <p:nvSpPr>
          <p:cNvPr id="15" name="Nodo f"/>
          <p:cNvSpPr/>
          <p:nvPr/>
        </p:nvSpPr>
        <p:spPr>
          <a:xfrm>
            <a:off x="365760" y="1188720"/>
            <a:ext cx="18288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Frío</a:t>
            </a:r>
            <a:endParaRPr lang="es-AR" sz="1700" dirty="0">
              <a:latin typeface="Fira Sans Condensed"/>
            </a:endParaRPr>
          </a:p>
        </p:txBody>
      </p:sp>
      <p:sp>
        <p:nvSpPr>
          <p:cNvPr id="16" name="Nodo h"/>
          <p:cNvSpPr/>
          <p:nvPr/>
        </p:nvSpPr>
        <p:spPr>
          <a:xfrm>
            <a:off x="2651760" y="1188720"/>
            <a:ext cx="210312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Hipotálamo</a:t>
            </a:r>
            <a:endParaRPr lang="es-AR" sz="1600" dirty="0">
              <a:latin typeface="Fira Sans Condensed"/>
            </a:endParaRPr>
          </a:p>
        </p:txBody>
      </p:sp>
      <p:sp>
        <p:nvSpPr>
          <p:cNvPr id="17" name="Nodo sn"/>
          <p:cNvSpPr/>
          <p:nvPr/>
        </p:nvSpPr>
        <p:spPr>
          <a:xfrm>
            <a:off x="5212080" y="1188720"/>
            <a:ext cx="237744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Sistema simpático</a:t>
            </a:r>
            <a:endParaRPr lang="es-AR" sz="1500" dirty="0">
              <a:latin typeface="Fira Sans Condensed"/>
            </a:endParaRPr>
          </a:p>
        </p:txBody>
      </p:sp>
      <p:sp>
        <p:nvSpPr>
          <p:cNvPr id="18" name="Nodo na"/>
          <p:cNvSpPr/>
          <p:nvPr/>
        </p:nvSpPr>
        <p:spPr>
          <a:xfrm>
            <a:off x="8046720" y="1188720"/>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Noradrenalina</a:t>
            </a:r>
            <a:endParaRPr lang="es-AR" sz="1500" dirty="0">
              <a:latin typeface="Fira Sans Condensed"/>
            </a:endParaRPr>
          </a:p>
        </p:txBody>
      </p:sp>
      <p:sp>
        <p:nvSpPr>
          <p:cNvPr id="19" name="Nodo b"/>
          <p:cNvSpPr/>
          <p:nvPr/>
        </p:nvSpPr>
        <p:spPr>
          <a:xfrm>
            <a:off x="8046720" y="2194560"/>
            <a:ext cx="20116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Receptores β</a:t>
            </a:r>
            <a:endParaRPr lang="es-AR" sz="1500" dirty="0">
              <a:latin typeface="Fira Sans Condensed"/>
            </a:endParaRPr>
          </a:p>
        </p:txBody>
      </p:sp>
      <p:sp>
        <p:nvSpPr>
          <p:cNvPr id="20" name="Nodo c"/>
          <p:cNvSpPr/>
          <p:nvPr/>
        </p:nvSpPr>
        <p:spPr>
          <a:xfrm>
            <a:off x="5212080" y="2194560"/>
            <a:ext cx="237744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AMPc → PKA</a:t>
            </a:r>
            <a:endParaRPr lang="es-AR" sz="1600" dirty="0">
              <a:latin typeface="Fira Sans Condensed"/>
            </a:endParaRPr>
          </a:p>
        </p:txBody>
      </p:sp>
      <p:sp>
        <p:nvSpPr>
          <p:cNvPr id="21" name="Nodo l"/>
          <p:cNvSpPr/>
          <p:nvPr/>
        </p:nvSpPr>
        <p:spPr>
          <a:xfrm>
            <a:off x="2651760" y="2194560"/>
            <a:ext cx="21031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Lipólisis</a:t>
            </a:r>
            <a:endParaRPr lang="es-AR" sz="1600" dirty="0">
              <a:latin typeface="Fira Sans Condensed"/>
            </a:endParaRPr>
          </a:p>
        </p:txBody>
      </p:sp>
      <p:sp>
        <p:nvSpPr>
          <p:cNvPr id="22" name="Nodo ag"/>
          <p:cNvSpPr/>
          <p:nvPr/>
        </p:nvSpPr>
        <p:spPr>
          <a:xfrm>
            <a:off x="365760" y="2194560"/>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AG ACTIVAN UCP1</a:t>
            </a:r>
            <a:endParaRPr lang="es-AR" sz="1300" dirty="0">
              <a:latin typeface="Fira Sans Condensed"/>
            </a:endParaRPr>
          </a:p>
        </p:txBody>
      </p:sp>
      <p:sp>
        <p:nvSpPr>
          <p:cNvPr id="23" name="Nodo p"/>
          <p:cNvSpPr/>
          <p:nvPr/>
        </p:nvSpPr>
        <p:spPr>
          <a:xfrm>
            <a:off x="2651760" y="3200400"/>
            <a:ext cx="49377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Programa termogénico: PGC-1α · PPAR · hormonas tiroideas → biogénesis mitocondrial</a:t>
            </a:r>
            <a:endParaRPr lang="es-AR" sz="1250" dirty="0">
              <a:latin typeface="Fira Sans Condensed"/>
            </a:endParaRPr>
          </a:p>
        </p:txBody>
      </p:sp>
      <p:grpSp>
        <p:nvGrpSpPr>
          <p:cNvPr id="24" name="Pardo termo"/>
          <p:cNvGrpSpPr/>
          <p:nvPr/>
        </p:nvGrpSpPr>
        <p:grpSpPr>
          <a:xfrm>
            <a:off x="10241280" y="2103120"/>
            <a:ext cx="1554480" cy="1554480"/>
            <a:chOff x="10241280" y="2103120"/>
            <a:chExt cx="1554480" cy="1554480"/>
          </a:xfrm>
        </p:grpSpPr>
        <p:sp>
          <p:nvSpPr>
            <p:cNvPr id="25" name="Forma 24"/>
            <p:cNvSpPr/>
            <p:nvPr/>
          </p:nvSpPr>
          <p:spPr>
            <a:xfrm>
              <a:off x="10241280" y="2103120"/>
              <a:ext cx="1554480" cy="1554480"/>
            </a:xfrm>
            <a:custGeom>
              <a:avLst/>
              <a:gdLst/>
              <a:ahLst/>
              <a:cxnLst/>
              <a:rect l="0" t="0" r="r" b="b"/>
              <a:pathLst>
                <a:path w="1000" h="1000">
                  <a:moveTo>
                    <a:pt x="150" y="120"/>
                  </a:moveTo>
                  <a:cubicBezTo>
                    <a:pt x="197" y="75"/>
                    <a:pt x="429" y="29"/>
                    <a:pt x="500" y="30"/>
                  </a:cubicBezTo>
                  <a:cubicBezTo>
                    <a:pt x="571" y="31"/>
                    <a:pt x="813" y="83"/>
                    <a:pt x="860" y="130"/>
                  </a:cubicBezTo>
                  <a:cubicBezTo>
                    <a:pt x="907" y="177"/>
                    <a:pt x="971" y="425"/>
                    <a:pt x="970" y="500"/>
                  </a:cubicBezTo>
                  <a:cubicBezTo>
                    <a:pt x="969" y="575"/>
                    <a:pt x="899" y="833"/>
                    <a:pt x="850" y="880"/>
                  </a:cubicBezTo>
                  <a:cubicBezTo>
                    <a:pt x="801" y="927"/>
                    <a:pt x="553" y="972"/>
                    <a:pt x="480" y="970"/>
                  </a:cubicBezTo>
                  <a:cubicBezTo>
                    <a:pt x="407" y="968"/>
                    <a:pt x="165" y="909"/>
                    <a:pt x="120" y="860"/>
                  </a:cubicBezTo>
                  <a:cubicBezTo>
                    <a:pt x="75" y="811"/>
                    <a:pt x="27" y="554"/>
                    <a:pt x="30" y="480"/>
                  </a:cubicBezTo>
                  <a:cubicBezTo>
                    <a:pt x="33" y="406"/>
                    <a:pt x="103" y="165"/>
                    <a:pt x="150" y="120"/>
                  </a:cubicBezTo>
                  <a:close/>
                </a:path>
              </a:pathLst>
            </a:custGeom>
            <a:gradFill rotWithShape="1">
              <a:gsLst>
                <a:gs pos="0">
                  <a:srgbClr val="E1B0A4"/>
                </a:gs>
                <a:gs pos="55000">
                  <a:srgbClr val="C9715A"/>
                </a:gs>
                <a:gs pos="100000">
                  <a:srgbClr val="965443"/>
                </a:gs>
              </a:gsLst>
              <a:path path="circle">
                <a:fillToRect l="32000" t="28000" r="68000" b="72000"/>
              </a:path>
            </a:gradFill>
            <a:ln w="22225" cap="rnd">
              <a:solidFill>
                <a:srgbClr val="6E2C1E"/>
              </a:solidFill>
              <a:round/>
            </a:ln>
            <a:effectLst>
              <a:outerShdw blurRad="101600" dist="50800" dir="2700000" algn="tl" rotWithShape="0">
                <a:srgbClr val="000000">
                  <a:alpha val="30000"/>
                </a:srgbClr>
              </a:outerShdw>
            </a:effectLst>
          </p:spPr>
        </p:sp>
        <p:sp>
          <p:nvSpPr>
            <p:cNvPr id="26" name="Gotas lipídicas"/>
            <p:cNvSpPr/>
            <p:nvPr/>
          </p:nvSpPr>
          <p:spPr>
            <a:xfrm>
              <a:off x="10241280" y="2103120"/>
              <a:ext cx="1554480" cy="1554480"/>
            </a:xfrm>
            <a:custGeom>
              <a:avLst/>
              <a:gdLst/>
              <a:ahLst/>
              <a:cxnLst/>
              <a:rect l="0" t="0" r="r" b="b"/>
              <a:pathLst>
                <a:path w="1000" h="1000">
                  <a:moveTo>
                    <a:pt x="355" y="260"/>
                  </a:moveTo>
                  <a:cubicBezTo>
                    <a:pt x="355" y="312"/>
                    <a:pt x="312" y="355"/>
                    <a:pt x="260" y="355"/>
                  </a:cubicBezTo>
                  <a:cubicBezTo>
                    <a:pt x="207" y="355"/>
                    <a:pt x="165" y="312"/>
                    <a:pt x="165" y="260"/>
                  </a:cubicBezTo>
                  <a:cubicBezTo>
                    <a:pt x="165" y="207"/>
                    <a:pt x="207" y="165"/>
                    <a:pt x="260" y="165"/>
                  </a:cubicBezTo>
                  <a:cubicBezTo>
                    <a:pt x="312" y="165"/>
                    <a:pt x="355" y="207"/>
                    <a:pt x="355" y="260"/>
                  </a:cubicBezTo>
                  <a:close/>
                  <a:moveTo>
                    <a:pt x="785" y="250"/>
                  </a:moveTo>
                  <a:cubicBezTo>
                    <a:pt x="785" y="296"/>
                    <a:pt x="746" y="335"/>
                    <a:pt x="700" y="335"/>
                  </a:cubicBezTo>
                  <a:cubicBezTo>
                    <a:pt x="653" y="335"/>
                    <a:pt x="615" y="296"/>
                    <a:pt x="615" y="250"/>
                  </a:cubicBezTo>
                  <a:cubicBezTo>
                    <a:pt x="615" y="203"/>
                    <a:pt x="653" y="165"/>
                    <a:pt x="700" y="165"/>
                  </a:cubicBezTo>
                  <a:cubicBezTo>
                    <a:pt x="746" y="165"/>
                    <a:pt x="785" y="203"/>
                    <a:pt x="785" y="250"/>
                  </a:cubicBezTo>
                  <a:close/>
                  <a:moveTo>
                    <a:pt x="870" y="620"/>
                  </a:moveTo>
                  <a:cubicBezTo>
                    <a:pt x="870" y="669"/>
                    <a:pt x="829" y="710"/>
                    <a:pt x="780" y="710"/>
                  </a:cubicBezTo>
                  <a:cubicBezTo>
                    <a:pt x="730" y="710"/>
                    <a:pt x="690" y="669"/>
                    <a:pt x="690" y="620"/>
                  </a:cubicBezTo>
                  <a:cubicBezTo>
                    <a:pt x="690" y="570"/>
                    <a:pt x="730" y="530"/>
                    <a:pt x="780" y="530"/>
                  </a:cubicBezTo>
                  <a:cubicBezTo>
                    <a:pt x="829" y="530"/>
                    <a:pt x="870" y="570"/>
                    <a:pt x="870" y="620"/>
                  </a:cubicBezTo>
                  <a:close/>
                  <a:moveTo>
                    <a:pt x="385" y="720"/>
                  </a:moveTo>
                  <a:cubicBezTo>
                    <a:pt x="385" y="766"/>
                    <a:pt x="346" y="805"/>
                    <a:pt x="300" y="805"/>
                  </a:cubicBezTo>
                  <a:cubicBezTo>
                    <a:pt x="253" y="805"/>
                    <a:pt x="215" y="766"/>
                    <a:pt x="215" y="720"/>
                  </a:cubicBezTo>
                  <a:cubicBezTo>
                    <a:pt x="215" y="673"/>
                    <a:pt x="253" y="635"/>
                    <a:pt x="300" y="635"/>
                  </a:cubicBezTo>
                  <a:cubicBezTo>
                    <a:pt x="346" y="635"/>
                    <a:pt x="385" y="673"/>
                    <a:pt x="385" y="720"/>
                  </a:cubicBezTo>
                  <a:close/>
                  <a:moveTo>
                    <a:pt x="590" y="820"/>
                  </a:moveTo>
                  <a:cubicBezTo>
                    <a:pt x="590" y="858"/>
                    <a:pt x="558" y="890"/>
                    <a:pt x="520" y="890"/>
                  </a:cubicBezTo>
                  <a:cubicBezTo>
                    <a:pt x="481" y="890"/>
                    <a:pt x="450" y="858"/>
                    <a:pt x="450" y="820"/>
                  </a:cubicBezTo>
                  <a:cubicBezTo>
                    <a:pt x="450" y="781"/>
                    <a:pt x="481" y="750"/>
                    <a:pt x="520" y="750"/>
                  </a:cubicBezTo>
                  <a:cubicBezTo>
                    <a:pt x="558" y="750"/>
                    <a:pt x="590" y="781"/>
                    <a:pt x="590" y="820"/>
                  </a:cubicBezTo>
                  <a:close/>
                  <a:moveTo>
                    <a:pt x="245" y="500"/>
                  </a:moveTo>
                  <a:cubicBezTo>
                    <a:pt x="245" y="535"/>
                    <a:pt x="215" y="565"/>
                    <a:pt x="180" y="565"/>
                  </a:cubicBezTo>
                  <a:cubicBezTo>
                    <a:pt x="144" y="565"/>
                    <a:pt x="115" y="535"/>
                    <a:pt x="115" y="500"/>
                  </a:cubicBezTo>
                  <a:cubicBezTo>
                    <a:pt x="115" y="464"/>
                    <a:pt x="144" y="435"/>
                    <a:pt x="180" y="435"/>
                  </a:cubicBezTo>
                  <a:cubicBezTo>
                    <a:pt x="215" y="435"/>
                    <a:pt x="245" y="464"/>
                    <a:pt x="245" y="500"/>
                  </a:cubicBezTo>
                  <a:close/>
                  <a:moveTo>
                    <a:pt x="820" y="420"/>
                  </a:moveTo>
                  <a:cubicBezTo>
                    <a:pt x="820" y="453"/>
                    <a:pt x="793" y="480"/>
                    <a:pt x="760" y="480"/>
                  </a:cubicBezTo>
                  <a:cubicBezTo>
                    <a:pt x="726" y="480"/>
                    <a:pt x="700" y="453"/>
                    <a:pt x="700" y="420"/>
                  </a:cubicBezTo>
                  <a:cubicBezTo>
                    <a:pt x="700" y="386"/>
                    <a:pt x="726" y="360"/>
                    <a:pt x="760" y="360"/>
                  </a:cubicBezTo>
                  <a:cubicBezTo>
                    <a:pt x="793" y="360"/>
                    <a:pt x="820" y="386"/>
                    <a:pt x="820" y="420"/>
                  </a:cubicBezTo>
                  <a:close/>
                </a:path>
              </a:pathLst>
            </a:custGeom>
            <a:gradFill rotWithShape="1">
              <a:gsLst>
                <a:gs pos="0">
                  <a:srgbClr val="FFF6C2"/>
                </a:gs>
                <a:gs pos="100000">
                  <a:srgbClr val="E9B90B"/>
                </a:gs>
              </a:gsLst>
              <a:path path="circle">
                <a:fillToRect l="35000" t="30000" r="65000" b="70000"/>
              </a:path>
            </a:gradFill>
            <a:ln w="9525" cap="rnd">
              <a:solidFill>
                <a:srgbClr val="9A7D0A"/>
              </a:solidFill>
              <a:round/>
            </a:ln>
          </p:spPr>
        </p:sp>
        <p:grpSp>
          <p:nvGrpSpPr>
            <p:cNvPr id="27" name="Mitocondria"/>
            <p:cNvGrpSpPr/>
            <p:nvPr/>
          </p:nvGrpSpPr>
          <p:grpSpPr>
            <a:xfrm>
              <a:off x="10785348" y="2289658"/>
              <a:ext cx="248717" cy="124358"/>
              <a:chOff x="10785348" y="2289658"/>
              <a:chExt cx="248717" cy="124358"/>
            </a:xfrm>
          </p:grpSpPr>
          <p:sp>
            <p:nvSpPr>
              <p:cNvPr id="28" name="Forma 27"/>
              <p:cNvSpPr/>
              <p:nvPr/>
            </p:nvSpPr>
            <p:spPr>
              <a:xfrm rot="600000">
                <a:off x="10785348" y="2289658"/>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29" name="Forma 28"/>
              <p:cNvSpPr/>
              <p:nvPr/>
            </p:nvSpPr>
            <p:spPr>
              <a:xfrm rot="600000">
                <a:off x="10802758" y="2307068"/>
                <a:ext cx="213896" cy="89538"/>
              </a:xfrm>
              <a:prstGeom prst="ellipse">
                <a:avLst/>
              </a:prstGeom>
              <a:solidFill>
                <a:srgbClr val="E7BFA9"/>
              </a:solidFill>
              <a:ln w="9525" cap="rnd">
                <a:solidFill>
                  <a:srgbClr val="904217"/>
                </a:solidFill>
                <a:round/>
              </a:ln>
            </p:spPr>
          </p:sp>
          <p:sp>
            <p:nvSpPr>
              <p:cNvPr id="30" name="Forma 29"/>
              <p:cNvSpPr/>
              <p:nvPr/>
            </p:nvSpPr>
            <p:spPr>
              <a:xfrm rot="600000">
                <a:off x="10802758" y="2307068"/>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1" name="Mitocondria_2"/>
            <p:cNvGrpSpPr/>
            <p:nvPr/>
          </p:nvGrpSpPr>
          <p:grpSpPr>
            <a:xfrm>
              <a:off x="11018520" y="2569464"/>
              <a:ext cx="248717" cy="124358"/>
              <a:chOff x="11018520" y="2569464"/>
              <a:chExt cx="248717" cy="124358"/>
            </a:xfrm>
          </p:grpSpPr>
          <p:sp>
            <p:nvSpPr>
              <p:cNvPr id="32" name="Forma 31"/>
              <p:cNvSpPr/>
              <p:nvPr/>
            </p:nvSpPr>
            <p:spPr>
              <a:xfrm rot="-1800000">
                <a:off x="11018520" y="2569464"/>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33" name="Forma 32"/>
              <p:cNvSpPr/>
              <p:nvPr/>
            </p:nvSpPr>
            <p:spPr>
              <a:xfrm rot="-1800000">
                <a:off x="11035930" y="2586874"/>
                <a:ext cx="213896" cy="89538"/>
              </a:xfrm>
              <a:prstGeom prst="ellipse">
                <a:avLst/>
              </a:prstGeom>
              <a:solidFill>
                <a:srgbClr val="E7BFA9"/>
              </a:solidFill>
              <a:ln w="9525" cap="rnd">
                <a:solidFill>
                  <a:srgbClr val="904217"/>
                </a:solidFill>
                <a:round/>
              </a:ln>
            </p:spPr>
          </p:sp>
          <p:sp>
            <p:nvSpPr>
              <p:cNvPr id="34" name="Forma 33"/>
              <p:cNvSpPr/>
              <p:nvPr/>
            </p:nvSpPr>
            <p:spPr>
              <a:xfrm rot="-1800000">
                <a:off x="11035930" y="2586874"/>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5" name="Mitocondria_3"/>
            <p:cNvGrpSpPr/>
            <p:nvPr/>
          </p:nvGrpSpPr>
          <p:grpSpPr>
            <a:xfrm>
              <a:off x="10427818" y="3066898"/>
              <a:ext cx="248717" cy="124358"/>
              <a:chOff x="10427818" y="3066898"/>
              <a:chExt cx="248717" cy="124358"/>
            </a:xfrm>
          </p:grpSpPr>
          <p:sp>
            <p:nvSpPr>
              <p:cNvPr id="36" name="Forma 35"/>
              <p:cNvSpPr/>
              <p:nvPr/>
            </p:nvSpPr>
            <p:spPr>
              <a:xfrm rot="3600000">
                <a:off x="10427818" y="3066898"/>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37" name="Forma 36"/>
              <p:cNvSpPr/>
              <p:nvPr/>
            </p:nvSpPr>
            <p:spPr>
              <a:xfrm rot="3600000">
                <a:off x="10445228" y="3084308"/>
                <a:ext cx="213896" cy="89538"/>
              </a:xfrm>
              <a:prstGeom prst="ellipse">
                <a:avLst/>
              </a:prstGeom>
              <a:solidFill>
                <a:srgbClr val="E7BFA9"/>
              </a:solidFill>
              <a:ln w="9525" cap="rnd">
                <a:solidFill>
                  <a:srgbClr val="904217"/>
                </a:solidFill>
                <a:round/>
              </a:ln>
            </p:spPr>
          </p:sp>
          <p:sp>
            <p:nvSpPr>
              <p:cNvPr id="38" name="Forma 37"/>
              <p:cNvSpPr/>
              <p:nvPr/>
            </p:nvSpPr>
            <p:spPr>
              <a:xfrm rot="3600000">
                <a:off x="10445228" y="3084308"/>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39" name="Mitocondria_4"/>
            <p:cNvGrpSpPr/>
            <p:nvPr/>
          </p:nvGrpSpPr>
          <p:grpSpPr>
            <a:xfrm>
              <a:off x="11142878" y="3035808"/>
              <a:ext cx="248717" cy="124358"/>
              <a:chOff x="11142878" y="3035808"/>
              <a:chExt cx="248717" cy="124358"/>
            </a:xfrm>
          </p:grpSpPr>
          <p:sp>
            <p:nvSpPr>
              <p:cNvPr id="40" name="Forma 39"/>
              <p:cNvSpPr/>
              <p:nvPr/>
            </p:nvSpPr>
            <p:spPr>
              <a:xfrm rot="1200000">
                <a:off x="11142878" y="3035808"/>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41" name="Forma 40"/>
              <p:cNvSpPr/>
              <p:nvPr/>
            </p:nvSpPr>
            <p:spPr>
              <a:xfrm rot="1200000">
                <a:off x="11160289" y="3053218"/>
                <a:ext cx="213896" cy="89538"/>
              </a:xfrm>
              <a:prstGeom prst="ellipse">
                <a:avLst/>
              </a:prstGeom>
              <a:solidFill>
                <a:srgbClr val="E7BFA9"/>
              </a:solidFill>
              <a:ln w="9525" cap="rnd">
                <a:solidFill>
                  <a:srgbClr val="904217"/>
                </a:solidFill>
                <a:round/>
              </a:ln>
            </p:spPr>
          </p:sp>
          <p:sp>
            <p:nvSpPr>
              <p:cNvPr id="42" name="Forma 41"/>
              <p:cNvSpPr/>
              <p:nvPr/>
            </p:nvSpPr>
            <p:spPr>
              <a:xfrm rot="1200000">
                <a:off x="11160289" y="3053218"/>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43" name="Mitocondria_5"/>
            <p:cNvGrpSpPr/>
            <p:nvPr/>
          </p:nvGrpSpPr>
          <p:grpSpPr>
            <a:xfrm>
              <a:off x="11205058" y="3408883"/>
              <a:ext cx="248717" cy="124358"/>
              <a:chOff x="11205058" y="3408883"/>
              <a:chExt cx="248717" cy="124358"/>
            </a:xfrm>
          </p:grpSpPr>
          <p:sp>
            <p:nvSpPr>
              <p:cNvPr id="44" name="Forma 43"/>
              <p:cNvSpPr/>
              <p:nvPr/>
            </p:nvSpPr>
            <p:spPr>
              <a:xfrm rot="-600000">
                <a:off x="11205058" y="3408883"/>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45" name="Forma 44"/>
              <p:cNvSpPr/>
              <p:nvPr/>
            </p:nvSpPr>
            <p:spPr>
              <a:xfrm rot="-600000">
                <a:off x="11222468" y="3426293"/>
                <a:ext cx="213896" cy="89538"/>
              </a:xfrm>
              <a:prstGeom prst="ellipse">
                <a:avLst/>
              </a:prstGeom>
              <a:solidFill>
                <a:srgbClr val="E7BFA9"/>
              </a:solidFill>
              <a:ln w="9525" cap="rnd">
                <a:solidFill>
                  <a:srgbClr val="904217"/>
                </a:solidFill>
                <a:round/>
              </a:ln>
            </p:spPr>
          </p:sp>
          <p:sp>
            <p:nvSpPr>
              <p:cNvPr id="46" name="Forma 45"/>
              <p:cNvSpPr/>
              <p:nvPr/>
            </p:nvSpPr>
            <p:spPr>
              <a:xfrm rot="-600000">
                <a:off x="11222468" y="3426293"/>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47" name="Mitocondria_6"/>
            <p:cNvGrpSpPr/>
            <p:nvPr/>
          </p:nvGrpSpPr>
          <p:grpSpPr>
            <a:xfrm>
              <a:off x="10800893" y="2880360"/>
              <a:ext cx="248717" cy="124358"/>
              <a:chOff x="10800893" y="2880360"/>
              <a:chExt cx="248717" cy="124358"/>
            </a:xfrm>
          </p:grpSpPr>
          <p:sp>
            <p:nvSpPr>
              <p:cNvPr id="48" name="Forma 47"/>
              <p:cNvSpPr/>
              <p:nvPr/>
            </p:nvSpPr>
            <p:spPr>
              <a:xfrm rot="4800000">
                <a:off x="10800893" y="2880360"/>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49" name="Forma 48"/>
              <p:cNvSpPr/>
              <p:nvPr/>
            </p:nvSpPr>
            <p:spPr>
              <a:xfrm rot="4800000">
                <a:off x="10818303" y="2897770"/>
                <a:ext cx="213896" cy="89538"/>
              </a:xfrm>
              <a:prstGeom prst="ellipse">
                <a:avLst/>
              </a:prstGeom>
              <a:solidFill>
                <a:srgbClr val="E7BFA9"/>
              </a:solidFill>
              <a:ln w="9525" cap="rnd">
                <a:solidFill>
                  <a:srgbClr val="904217"/>
                </a:solidFill>
                <a:round/>
              </a:ln>
            </p:spPr>
          </p:sp>
          <p:sp>
            <p:nvSpPr>
              <p:cNvPr id="50" name="Forma 49"/>
              <p:cNvSpPr/>
              <p:nvPr/>
            </p:nvSpPr>
            <p:spPr>
              <a:xfrm rot="4800000">
                <a:off x="10818303" y="2897770"/>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51" name="Mitocondria_7"/>
            <p:cNvGrpSpPr/>
            <p:nvPr/>
          </p:nvGrpSpPr>
          <p:grpSpPr>
            <a:xfrm>
              <a:off x="11484864" y="3346704"/>
              <a:ext cx="248717" cy="124358"/>
              <a:chOff x="11484864" y="3346704"/>
              <a:chExt cx="248717" cy="124358"/>
            </a:xfrm>
          </p:grpSpPr>
          <p:sp>
            <p:nvSpPr>
              <p:cNvPr id="52" name="Forma 51"/>
              <p:cNvSpPr/>
              <p:nvPr/>
            </p:nvSpPr>
            <p:spPr>
              <a:xfrm rot="2400000">
                <a:off x="11484864" y="3346704"/>
                <a:ext cx="248717" cy="124358"/>
              </a:xfrm>
              <a:prstGeom prst="ellipse">
                <a:avLst/>
              </a:prstGeom>
              <a:gradFill rotWithShape="1">
                <a:gsLst>
                  <a:gs pos="0">
                    <a:srgbClr val="D6926D"/>
                  </a:gs>
                  <a:gs pos="55000">
                    <a:srgbClr val="C0581F"/>
                  </a:gs>
                  <a:gs pos="100000">
                    <a:srgbClr val="863D15"/>
                  </a:gs>
                </a:gsLst>
                <a:path path="circle">
                  <a:fillToRect l="32000" t="28000" r="68000" b="72000"/>
                </a:path>
              </a:gradFill>
              <a:ln w="12700" cap="rnd">
                <a:solidFill>
                  <a:srgbClr val="602C0F"/>
                </a:solidFill>
                <a:round/>
              </a:ln>
            </p:spPr>
          </p:sp>
          <p:sp>
            <p:nvSpPr>
              <p:cNvPr id="53" name="Forma 52"/>
              <p:cNvSpPr/>
              <p:nvPr/>
            </p:nvSpPr>
            <p:spPr>
              <a:xfrm rot="2400000">
                <a:off x="11502274" y="3364114"/>
                <a:ext cx="213896" cy="89538"/>
              </a:xfrm>
              <a:prstGeom prst="ellipse">
                <a:avLst/>
              </a:prstGeom>
              <a:solidFill>
                <a:srgbClr val="E7BFA9"/>
              </a:solidFill>
              <a:ln w="9525" cap="rnd">
                <a:solidFill>
                  <a:srgbClr val="904217"/>
                </a:solidFill>
                <a:round/>
              </a:ln>
            </p:spPr>
          </p:sp>
          <p:sp>
            <p:nvSpPr>
              <p:cNvPr id="54" name="Forma 53"/>
              <p:cNvSpPr/>
              <p:nvPr/>
            </p:nvSpPr>
            <p:spPr>
              <a:xfrm rot="2400000">
                <a:off x="11502274" y="3364114"/>
                <a:ext cx="213896" cy="8953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7C3914"/>
                </a:solidFill>
                <a:round/>
              </a:ln>
            </p:spPr>
          </p:sp>
        </p:grpSp>
        <p:grpSp>
          <p:nvGrpSpPr>
            <p:cNvPr id="55" name="Núcleo"/>
            <p:cNvGrpSpPr/>
            <p:nvPr/>
          </p:nvGrpSpPr>
          <p:grpSpPr>
            <a:xfrm>
              <a:off x="10863072" y="2693822"/>
              <a:ext cx="310896" cy="279806"/>
              <a:chOff x="10863072" y="2693822"/>
              <a:chExt cx="310896" cy="279806"/>
            </a:xfrm>
          </p:grpSpPr>
          <p:sp>
            <p:nvSpPr>
              <p:cNvPr id="56" name="Forma 55"/>
              <p:cNvSpPr/>
              <p:nvPr/>
            </p:nvSpPr>
            <p:spPr>
              <a:xfrm>
                <a:off x="10863072" y="2693822"/>
                <a:ext cx="310896" cy="279806"/>
              </a:xfrm>
              <a:prstGeom prst="ellipse">
                <a:avLst/>
              </a:prstGeom>
              <a:gradFill rotWithShape="1">
                <a:gsLst>
                  <a:gs pos="0">
                    <a:srgbClr val="B7A4CE"/>
                  </a:gs>
                  <a:gs pos="55000">
                    <a:srgbClr val="7D5BA6"/>
                  </a:gs>
                  <a:gs pos="100000">
                    <a:srgbClr val="573F74"/>
                  </a:gs>
                </a:gsLst>
                <a:path path="circle">
                  <a:fillToRect l="32000" t="28000" r="68000" b="72000"/>
                </a:path>
              </a:gradFill>
              <a:ln w="12700" cap="rnd">
                <a:solidFill>
                  <a:srgbClr val="4B3663"/>
                </a:solidFill>
                <a:round/>
              </a:ln>
            </p:spPr>
          </p:sp>
          <p:sp>
            <p:nvSpPr>
              <p:cNvPr id="57" name="Forma 56"/>
              <p:cNvSpPr/>
              <p:nvPr/>
            </p:nvSpPr>
            <p:spPr>
              <a:xfrm>
                <a:off x="11024738" y="2787091"/>
                <a:ext cx="68397" cy="62179"/>
              </a:xfrm>
              <a:prstGeom prst="ellipse">
                <a:avLst/>
              </a:prstGeom>
              <a:solidFill>
                <a:srgbClr val="513B6B"/>
              </a:solidFill>
              <a:ln>
                <a:noFill/>
              </a:ln>
            </p:spPr>
          </p:sp>
        </p:grpSp>
      </p:grpSp>
      <p:sp>
        <p:nvSpPr>
          <p:cNvPr id="58" name="Perla clínica"/>
          <p:cNvSpPr/>
          <p:nvPr/>
        </p:nvSpPr>
        <p:spPr>
          <a:xfrm>
            <a:off x="365760" y="4206240"/>
            <a:ext cx="11475720" cy="10972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b="1" dirty="0">
                <a:solidFill>
                  <a:srgbClr val="FFFFFF"/>
                </a:solidFill>
                <a:latin typeface="Fira Sans Condensed"/>
                <a:ea typeface="Fira Sans Condensed"/>
                <a:cs typeface="Fira Sans Condensed"/>
                <a:sym typeface="Fira Sans Condensed"/>
              </a:rPr>
              <a:t>Matiz de evidencia</a:t>
            </a:r>
            <a:r>
              <a:rPr lang="es-AR" sz="1450" dirty="0">
                <a:solidFill>
                  <a:srgbClr val="FFFFFF"/>
                </a:solidFill>
                <a:latin typeface="Fira Sans Condensed"/>
                <a:ea typeface="Fira Sans Condensed"/>
                <a:cs typeface="Fira Sans Condensed"/>
                <a:sym typeface="Fira Sans Condensed"/>
              </a:rPr>
              <a:t>: la grasa parda activa existe en adultos, pero «convertir blanco en pardo» para tratar obesidad sigue siendo </a:t>
            </a:r>
            <a:r>
              <a:rPr lang="es-AR" sz="1450" b="1" dirty="0">
                <a:solidFill>
                  <a:srgbClr val="FFFFFF"/>
                </a:solidFill>
                <a:latin typeface="Fira Sans Condensed"/>
                <a:ea typeface="Fira Sans Condensed"/>
                <a:cs typeface="Fira Sans Condensed"/>
                <a:sym typeface="Fira Sans Condensed"/>
              </a:rPr>
              <a:t>investigación</a:t>
            </a:r>
            <a:r>
              <a:rPr lang="es-AR" sz="1450" dirty="0">
                <a:solidFill>
                  <a:srgbClr val="FFFFFF"/>
                </a:solidFill>
                <a:latin typeface="Fira Sans Condensed"/>
                <a:ea typeface="Fira Sans Condensed"/>
                <a:cs typeface="Fira Sans Condensed"/>
                <a:sym typeface="Fira Sans Condensed"/>
              </a:rPr>
              <a:t>, no tratamiento estándar. Las «futuras estrategias» de 2009 se leen en su contexto histórico.</a:t>
            </a:r>
            <a:endParaRPr lang="es-AR" sz="14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TERMOGÉNESIS ADAPTATIVA: DEL FRÍO A UCP1</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5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childTnLst>
                          </p:cTn>
                        </p:par>
                      </p:childTnLst>
                    </p:cTn>
                  </p:par>
                  <p:par>
                    <p:cTn id="48" fill="hold">
                      <p:stCondLst>
                        <p:cond delay="indefinite"/>
                      </p:stCondLst>
                      <p:childTnLst>
                        <p:par>
                          <p:cTn id="35"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childTnLst>
                          </p:cTn>
                        </p:par>
                        <p:par>
                          <p:cTn id="39"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childTnLst>
                          </p:cTn>
                        </p:par>
                        <p:par>
                          <p:cTn id="43" fill="hold">
                            <p:stCondLst>
                              <p:cond delay="900"/>
                            </p:stCondLst>
                            <p:childTnLst>
                              <p:par>
                                <p:cTn id="40" presetID="22" presetClass="entr" presetSubtype="2"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right)">
                                      <p:cBhvr>
                                        <p:cTn id="42" dur="500"/>
                                        <p:tgtEl>
                                          <p:spTgt spid="11"/>
                                        </p:tgtEl>
                                      </p:cBhvr>
                                    </p:animEffect>
                                  </p:childTnLst>
                                </p:cTn>
                              </p:par>
                            </p:childTnLst>
                          </p:cTn>
                        </p:par>
                        <p:par>
                          <p:cTn id="47" fill="hold">
                            <p:stCondLst>
                              <p:cond delay="140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childTnLst>
                          </p:cTn>
                        </p:par>
                      </p:childTnLst>
                    </p:cTn>
                  </p:par>
                  <p:par>
                    <p:cTn id="65" fill="hold">
                      <p:stCondLst>
                        <p:cond delay="indefinite"/>
                      </p:stCondLst>
                      <p:childTnLst>
                        <p:par>
                          <p:cTn id="52"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right)">
                                      <p:cBhvr>
                                        <p:cTn id="51" dur="500"/>
                                        <p:tgtEl>
                                          <p:spTgt spid="12"/>
                                        </p:tgtEl>
                                      </p:cBhvr>
                                    </p:animEffect>
                                  </p:childTnLst>
                                </p:cTn>
                              </p:par>
                            </p:childTnLst>
                          </p:cTn>
                        </p:par>
                        <p:par>
                          <p:cTn id="56"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childTnLst>
                                </p:cTn>
                              </p:par>
                            </p:childTnLst>
                          </p:cTn>
                        </p:par>
                        <p:par>
                          <p:cTn id="60" fill="hold">
                            <p:stCondLst>
                              <p:cond delay="900"/>
                            </p:stCondLst>
                            <p:childTnLst>
                              <p:par>
                                <p:cTn id="57" presetID="22" presetClass="entr" presetSubtype="2" fill="hold" grpId="0" nodeType="after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right)">
                                      <p:cBhvr>
                                        <p:cTn id="59" dur="500"/>
                                        <p:tgtEl>
                                          <p:spTgt spid="13"/>
                                        </p:tgtEl>
                                      </p:cBhvr>
                                    </p:animEffect>
                                  </p:childTnLst>
                                </p:cTn>
                              </p:par>
                            </p:childTnLst>
                          </p:cTn>
                        </p:par>
                        <p:par>
                          <p:cTn id="64" fill="hold">
                            <p:stCondLst>
                              <p:cond delay="14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childTnLst>
                          </p:cTn>
                        </p:par>
                      </p:childTnLst>
                    </p:cTn>
                  </p:par>
                  <p:par>
                    <p:cTn id="74" fill="hold">
                      <p:stCondLst>
                        <p:cond delay="indefinite"/>
                      </p:stCondLst>
                      <p:childTnLst>
                        <p:par>
                          <p:cTn id="69"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up)">
                                      <p:cBhvr>
                                        <p:cTn id="68" dur="500"/>
                                        <p:tgtEl>
                                          <p:spTgt spid="14"/>
                                        </p:tgtEl>
                                      </p:cBhvr>
                                    </p:animEffect>
                                  </p:childTnLst>
                                </p:cTn>
                              </p:par>
                            </p:childTnLst>
                          </p:cTn>
                        </p:par>
                        <p:par>
                          <p:cTn id="73"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400"/>
                                        <p:tgtEl>
                                          <p:spTgt spid="23"/>
                                        </p:tgtEl>
                                      </p:cBhvr>
                                    </p:animEffect>
                                  </p:childTnLst>
                                </p:cTn>
                              </p:par>
                            </p:childTnLst>
                          </p:cTn>
                        </p:par>
                      </p:childTnLst>
                    </p:cTn>
                  </p:par>
                  <p:par>
                    <p:cTn id="81" fill="hold">
                      <p:stCondLst>
                        <p:cond delay="indefinite"/>
                      </p:stCondLst>
                      <p:childTnLst>
                        <p:par>
                          <p:cTn id="80"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58"/>
                                        </p:tgtEl>
                                        <p:attrNameLst>
                                          <p:attrName>style.visibility</p:attrName>
                                        </p:attrNameLst>
                                      </p:cBhvr>
                                      <p:to>
                                        <p:strVal val="visible"/>
                                      </p:to>
                                    </p:set>
                                    <p:anim calcmode="lin" valueType="num">
                                      <p:cBhvr>
                                        <p:cTn id="77" dur="500" fill="hold"/>
                                        <p:tgtEl>
                                          <p:spTgt spid="58"/>
                                        </p:tgtEl>
                                        <p:attrNameLst>
                                          <p:attrName>ppt_w</p:attrName>
                                        </p:attrNameLst>
                                      </p:cBhvr>
                                      <p:tavLst>
                                        <p:tav tm="0">
                                          <p:val>
                                            <p:fltVal val="0"/>
                                          </p:val>
                                        </p:tav>
                                        <p:tav tm="100000">
                                          <p:val>
                                            <p:strVal val="#ppt_w"/>
                                          </p:val>
                                        </p:tav>
                                      </p:tavLst>
                                    </p:anim>
                                    <p:anim calcmode="lin" valueType="num">
                                      <p:cBhvr>
                                        <p:cTn id="78" dur="500" fill="hold"/>
                                        <p:tgtEl>
                                          <p:spTgt spid="58"/>
                                        </p:tgtEl>
                                        <p:attrNameLst>
                                          <p:attrName>ppt_h</p:attrName>
                                        </p:attrNameLst>
                                      </p:cBhvr>
                                      <p:tavLst>
                                        <p:tav tm="0">
                                          <p:val>
                                            <p:fltVal val="0"/>
                                          </p:val>
                                        </p:tav>
                                        <p:tav tm="100000">
                                          <p:val>
                                            <p:strVal val="#ppt_h"/>
                                          </p:val>
                                        </p:tav>
                                      </p:tavLst>
                                    </p:anim>
                                    <p:animEffect transition="in" filter="fade">
                                      <p:cBhvr>
                                        <p:cTn id="7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6" grpId="0" animBg="1"/>
      <p:bldP spid="8" grpId="0" animBg="1"/>
      <p:bldP spid="17" grpId="0" animBg="1"/>
      <p:bldP spid="9" grpId="0" animBg="1"/>
      <p:bldP spid="18" grpId="0" animBg="1"/>
      <p:bldP spid="10" grpId="0" animBg="1"/>
      <p:bldP spid="19" grpId="0" animBg="1"/>
      <p:bldP spid="11" grpId="0" animBg="1"/>
      <p:bldP spid="20" grpId="0" animBg="1"/>
      <p:bldP spid="12" grpId="0" animBg="1"/>
      <p:bldP spid="21" grpId="0" animBg="1"/>
      <p:bldP spid="13" grpId="0" animBg="1"/>
      <p:bldP spid="22" grpId="0" animBg="1"/>
      <p:bldP spid="14" grpId="0" animBg="1"/>
      <p:bldP spid="23" grpId="0" animBg="1"/>
      <p:bldP spid="58" grpId="0" animBg="1"/>
    </p:bld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Etapa 0"/>
          <p:cNvGrpSpPr/>
          <p:nvPr/>
        </p:nvGrpSpPr>
        <p:grpSpPr>
          <a:xfrm>
            <a:off x="365760" y="1234440"/>
            <a:ext cx="2468880" cy="1737360"/>
            <a:chOff x="365760" y="1234440"/>
            <a:chExt cx="2468880" cy="1737360"/>
          </a:xfrm>
        </p:grpSpPr>
        <p:sp>
          <p:nvSpPr>
            <p:cNvPr id="8" name="Célula 0"/>
            <p:cNvSpPr/>
            <p:nvPr/>
          </p:nvSpPr>
          <p:spPr>
            <a:xfrm>
              <a:off x="1005840" y="1234440"/>
              <a:ext cx="987552" cy="987552"/>
            </a:xfrm>
            <a:prstGeom prst="ellipse">
              <a:avLst/>
            </a:prstGeom>
            <a:gradFill rotWithShape="1">
              <a:gsLst>
                <a:gs pos="0">
                  <a:srgbClr val="FFFFFF"/>
                </a:gs>
                <a:gs pos="30000">
                  <a:srgbClr val="C39BD3"/>
                </a:gs>
                <a:gs pos="100000">
                  <a:srgbClr val="614D69"/>
                </a:gs>
              </a:gsLst>
              <a:path path="circle">
                <a:fillToRect l="30000" t="25000" r="70000" b="75000"/>
              </a:path>
            </a:gradFill>
            <a:ln>
              <a:noFill/>
            </a:ln>
          </p:spPr>
        </p:sp>
        <p:sp>
          <p:nvSpPr>
            <p:cNvPr id="9" name="Forma 8"/>
            <p:cNvSpPr txBox="1"/>
            <p:nvPr/>
          </p:nvSpPr>
          <p:spPr>
            <a:xfrm>
              <a:off x="365760" y="2514600"/>
              <a:ext cx="2468880" cy="45720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Progenitora mesenquimal</a:t>
              </a:r>
              <a:endParaRPr lang="es-AR" sz="1300" dirty="0">
                <a:latin typeface="Fira Sans Condensed"/>
              </a:endParaRPr>
            </a:p>
          </p:txBody>
        </p:sp>
      </p:grpSp>
      <p:grpSp>
        <p:nvGrpSpPr>
          <p:cNvPr id="10" name="Etapa 1"/>
          <p:cNvGrpSpPr/>
          <p:nvPr/>
        </p:nvGrpSpPr>
        <p:grpSpPr>
          <a:xfrm>
            <a:off x="3108960" y="1234440"/>
            <a:ext cx="2468880" cy="1737360"/>
            <a:chOff x="3108960" y="1234440"/>
            <a:chExt cx="2468880" cy="1737360"/>
          </a:xfrm>
        </p:grpSpPr>
        <p:sp>
          <p:nvSpPr>
            <p:cNvPr id="11" name="Célula 1"/>
            <p:cNvSpPr/>
            <p:nvPr/>
          </p:nvSpPr>
          <p:spPr>
            <a:xfrm>
              <a:off x="3749040" y="1234440"/>
              <a:ext cx="1097280" cy="1097280"/>
            </a:xfrm>
            <a:prstGeom prst="ellipse">
              <a:avLst/>
            </a:prstGeom>
            <a:gradFill rotWithShape="1">
              <a:gsLst>
                <a:gs pos="0">
                  <a:srgbClr val="FFFFFF"/>
                </a:gs>
                <a:gs pos="30000">
                  <a:srgbClr val="F5CBA7"/>
                </a:gs>
                <a:gs pos="100000">
                  <a:srgbClr val="7A6553"/>
                </a:gs>
              </a:gsLst>
              <a:path path="circle">
                <a:fillToRect l="30000" t="25000" r="70000" b="75000"/>
              </a:path>
            </a:gradFill>
            <a:ln>
              <a:noFill/>
            </a:ln>
          </p:spPr>
        </p:sp>
        <p:sp>
          <p:nvSpPr>
            <p:cNvPr id="12" name="Forma 11"/>
            <p:cNvSpPr txBox="1"/>
            <p:nvPr/>
          </p:nvSpPr>
          <p:spPr>
            <a:xfrm>
              <a:off x="3108960" y="2514600"/>
              <a:ext cx="2468880" cy="45720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Preadipocito comprometido</a:t>
              </a:r>
              <a:endParaRPr lang="es-AR" sz="1300" dirty="0">
                <a:latin typeface="Fira Sans Condensed"/>
              </a:endParaRPr>
            </a:p>
          </p:txBody>
        </p:sp>
      </p:grpSp>
      <p:grpSp>
        <p:nvGrpSpPr>
          <p:cNvPr id="13" name="Etapa 2"/>
          <p:cNvGrpSpPr/>
          <p:nvPr/>
        </p:nvGrpSpPr>
        <p:grpSpPr>
          <a:xfrm>
            <a:off x="5852160" y="1234440"/>
            <a:ext cx="2468880" cy="1737360"/>
            <a:chOff x="5852160" y="1234440"/>
            <a:chExt cx="2468880" cy="1737360"/>
          </a:xfrm>
        </p:grpSpPr>
        <p:sp>
          <p:nvSpPr>
            <p:cNvPr id="14" name="Célula 2"/>
            <p:cNvSpPr/>
            <p:nvPr/>
          </p:nvSpPr>
          <p:spPr>
            <a:xfrm>
              <a:off x="6492240" y="1234440"/>
              <a:ext cx="1261872" cy="1261872"/>
            </a:xfrm>
            <a:prstGeom prst="ellipse">
              <a:avLst/>
            </a:prstGeom>
            <a:gradFill rotWithShape="1">
              <a:gsLst>
                <a:gs pos="0">
                  <a:srgbClr val="FFFFFF"/>
                </a:gs>
                <a:gs pos="30000">
                  <a:srgbClr val="F8C471"/>
                </a:gs>
                <a:gs pos="100000">
                  <a:srgbClr val="7C6238"/>
                </a:gs>
              </a:gsLst>
              <a:path path="circle">
                <a:fillToRect l="30000" t="25000" r="70000" b="75000"/>
              </a:path>
            </a:gradFill>
            <a:ln>
              <a:noFill/>
            </a:ln>
          </p:spPr>
        </p:sp>
        <p:sp>
          <p:nvSpPr>
            <p:cNvPr id="15" name="Forma 14"/>
            <p:cNvSpPr txBox="1"/>
            <p:nvPr/>
          </p:nvSpPr>
          <p:spPr>
            <a:xfrm>
              <a:off x="5852160" y="2514600"/>
              <a:ext cx="2468880" cy="45720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Diferenciación</a:t>
              </a:r>
              <a:endParaRPr lang="es-AR" sz="1300" dirty="0">
                <a:latin typeface="Fira Sans Condensed"/>
              </a:endParaRPr>
            </a:p>
          </p:txBody>
        </p:sp>
      </p:grpSp>
      <p:grpSp>
        <p:nvGrpSpPr>
          <p:cNvPr id="16" name="Adipocito maduro"/>
          <p:cNvGrpSpPr/>
          <p:nvPr/>
        </p:nvGrpSpPr>
        <p:grpSpPr>
          <a:xfrm>
            <a:off x="8595360" y="1051560"/>
            <a:ext cx="2468880" cy="1920240"/>
            <a:chOff x="8595360" y="1051560"/>
            <a:chExt cx="2468880" cy="1920240"/>
          </a:xfrm>
        </p:grpSpPr>
        <p:grpSp>
          <p:nvGrpSpPr>
            <p:cNvPr id="17" name="!!Adipocito blanco"/>
            <p:cNvGrpSpPr/>
            <p:nvPr/>
          </p:nvGrpSpPr>
          <p:grpSpPr>
            <a:xfrm>
              <a:off x="9098280" y="1051560"/>
              <a:ext cx="1463040" cy="1463040"/>
              <a:chOff x="9098280" y="1051560"/>
              <a:chExt cx="1463040" cy="1463040"/>
            </a:xfrm>
          </p:grpSpPr>
          <p:sp>
            <p:nvSpPr>
              <p:cNvPr id="18" name="Forma 17"/>
              <p:cNvSpPr/>
              <p:nvPr/>
            </p:nvSpPr>
            <p:spPr>
              <a:xfrm>
                <a:off x="9098280" y="1051560"/>
                <a:ext cx="1463040" cy="146304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9" name="Gota lipídica"/>
              <p:cNvSpPr/>
              <p:nvPr/>
            </p:nvSpPr>
            <p:spPr>
              <a:xfrm>
                <a:off x="9171432" y="1124712"/>
                <a:ext cx="1316736" cy="1316736"/>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0" name="Forma 19"/>
              <p:cNvSpPr/>
              <p:nvPr/>
            </p:nvSpPr>
            <p:spPr>
              <a:xfrm rot="2400000">
                <a:off x="10151669" y="1139342"/>
                <a:ext cx="321869" cy="175565"/>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1" name="Mitocondria"/>
              <p:cNvGrpSpPr/>
              <p:nvPr/>
            </p:nvGrpSpPr>
            <p:grpSpPr>
              <a:xfrm>
                <a:off x="9215323" y="2134210"/>
                <a:ext cx="146304" cy="73152"/>
                <a:chOff x="9215323" y="2134210"/>
                <a:chExt cx="146304" cy="73152"/>
              </a:xfrm>
            </p:grpSpPr>
            <p:sp>
              <p:nvSpPr>
                <p:cNvPr id="22" name="Forma 21"/>
                <p:cNvSpPr/>
                <p:nvPr/>
              </p:nvSpPr>
              <p:spPr>
                <a:xfrm rot="-2400000">
                  <a:off x="9215323" y="2134210"/>
                  <a:ext cx="146304" cy="73152"/>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3" name="Forma 22"/>
                <p:cNvSpPr/>
                <p:nvPr/>
              </p:nvSpPr>
              <p:spPr>
                <a:xfrm rot="-2400000">
                  <a:off x="9225564" y="2144451"/>
                  <a:ext cx="125821" cy="52669"/>
                </a:xfrm>
                <a:prstGeom prst="ellipse">
                  <a:avLst/>
                </a:prstGeom>
                <a:solidFill>
                  <a:srgbClr val="F8D8B4"/>
                </a:solidFill>
                <a:ln w="9525" cap="rnd">
                  <a:solidFill>
                    <a:srgbClr val="B2732B"/>
                  </a:solidFill>
                  <a:round/>
                </a:ln>
              </p:spPr>
            </p:sp>
            <p:sp>
              <p:nvSpPr>
                <p:cNvPr id="24" name="Forma 23"/>
                <p:cNvSpPr/>
                <p:nvPr/>
              </p:nvSpPr>
              <p:spPr>
                <a:xfrm rot="-2400000">
                  <a:off x="9225564" y="2144451"/>
                  <a:ext cx="125821" cy="52669"/>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sp>
          <p:nvSpPr>
            <p:cNvPr id="25" name="Forma 24"/>
            <p:cNvSpPr txBox="1"/>
            <p:nvPr/>
          </p:nvSpPr>
          <p:spPr>
            <a:xfrm>
              <a:off x="8595360" y="2514600"/>
              <a:ext cx="2468880" cy="45720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Adipocito con gota</a:t>
              </a:r>
              <a:endParaRPr lang="es-AR" sz="1300" dirty="0">
                <a:latin typeface="Fira Sans Condensed"/>
              </a:endParaRPr>
            </a:p>
          </p:txBody>
        </p:sp>
      </p:grpSp>
      <p:sp>
        <p:nvSpPr>
          <p:cNvPr id="26" name="Flecha 25_2"/>
          <p:cNvSpPr/>
          <p:nvPr/>
        </p:nvSpPr>
        <p:spPr>
          <a:xfrm>
            <a:off x="2514600" y="1691640"/>
            <a:ext cx="1097280" cy="9144"/>
          </a:xfrm>
          <a:custGeom>
            <a:avLst/>
            <a:gdLst/>
            <a:ahLst/>
            <a:cxnLst/>
            <a:rect l="0" t="0" r="r" b="b"/>
            <a:pathLst>
              <a:path w="1200" h="10" fill="none">
                <a:moveTo>
                  <a:pt x="0" y="0"/>
                </a:moveTo>
                <a:lnTo>
                  <a:pt x="1200" y="0"/>
                </a:lnTo>
              </a:path>
            </a:pathLst>
          </a:custGeom>
          <a:noFill/>
          <a:ln w="38100" cap="rnd">
            <a:solidFill>
              <a:srgbClr val="1E1E1E"/>
            </a:solidFill>
            <a:round/>
            <a:tailEnd type="triangle" w="med" len="med"/>
          </a:ln>
        </p:spPr>
      </p:sp>
      <p:sp>
        <p:nvSpPr>
          <p:cNvPr id="27" name="Flecha 27_2"/>
          <p:cNvSpPr/>
          <p:nvPr/>
        </p:nvSpPr>
        <p:spPr>
          <a:xfrm>
            <a:off x="5257800" y="1691640"/>
            <a:ext cx="1097280" cy="9144"/>
          </a:xfrm>
          <a:custGeom>
            <a:avLst/>
            <a:gdLst/>
            <a:ahLst/>
            <a:cxnLst/>
            <a:rect l="0" t="0" r="r" b="b"/>
            <a:pathLst>
              <a:path w="1200" h="10" fill="none">
                <a:moveTo>
                  <a:pt x="0" y="0"/>
                </a:moveTo>
                <a:lnTo>
                  <a:pt x="1200" y="0"/>
                </a:lnTo>
              </a:path>
            </a:pathLst>
          </a:custGeom>
          <a:noFill/>
          <a:ln w="38100" cap="rnd">
            <a:solidFill>
              <a:srgbClr val="1E1E1E"/>
            </a:solidFill>
            <a:round/>
            <a:tailEnd type="triangle" w="med" len="med"/>
          </a:ln>
        </p:spPr>
      </p:sp>
      <p:sp>
        <p:nvSpPr>
          <p:cNvPr id="28" name="Flecha 29_2"/>
          <p:cNvSpPr/>
          <p:nvPr/>
        </p:nvSpPr>
        <p:spPr>
          <a:xfrm>
            <a:off x="8183880" y="1691640"/>
            <a:ext cx="822960" cy="9144"/>
          </a:xfrm>
          <a:custGeom>
            <a:avLst/>
            <a:gdLst/>
            <a:ahLst/>
            <a:cxnLst/>
            <a:rect l="0" t="0" r="r" b="b"/>
            <a:pathLst>
              <a:path w="900" h="10" fill="none">
                <a:moveTo>
                  <a:pt x="0" y="0"/>
                </a:moveTo>
                <a:lnTo>
                  <a:pt x="900" y="0"/>
                </a:lnTo>
              </a:path>
            </a:pathLst>
          </a:custGeom>
          <a:noFill/>
          <a:ln w="38100" cap="rnd">
            <a:solidFill>
              <a:srgbClr val="1E1E1E"/>
            </a:solidFill>
            <a:round/>
            <a:tailEnd type="triangle" w="med" len="med"/>
          </a:ln>
        </p:spPr>
      </p:sp>
      <p:sp>
        <p:nvSpPr>
          <p:cNvPr id="29" name="Flecha cb→pp"/>
          <p:cNvSpPr/>
          <p:nvPr/>
        </p:nvSpPr>
        <p:spPr>
          <a:xfrm>
            <a:off x="3145536" y="3520440"/>
            <a:ext cx="475488" cy="9144"/>
          </a:xfrm>
          <a:custGeom>
            <a:avLst/>
            <a:gdLst/>
            <a:ahLst/>
            <a:cxnLst/>
            <a:rect l="0" t="0" r="r" b="b"/>
            <a:pathLst>
              <a:path w="520" h="10" fill="none">
                <a:moveTo>
                  <a:pt x="0" y="0"/>
                </a:moveTo>
                <a:lnTo>
                  <a:pt x="520" y="0"/>
                </a:lnTo>
              </a:path>
            </a:pathLst>
          </a:custGeom>
          <a:noFill/>
          <a:ln w="28575" cap="rnd">
            <a:solidFill>
              <a:srgbClr val="1E1E1E"/>
            </a:solidFill>
            <a:round/>
            <a:tailEnd type="triangle" w="med" len="med"/>
          </a:ln>
        </p:spPr>
      </p:sp>
      <p:sp>
        <p:nvSpPr>
          <p:cNvPr id="30" name="Flecha pp→ca"/>
          <p:cNvSpPr/>
          <p:nvPr/>
        </p:nvSpPr>
        <p:spPr>
          <a:xfrm>
            <a:off x="6437376" y="3520440"/>
            <a:ext cx="475488" cy="9144"/>
          </a:xfrm>
          <a:custGeom>
            <a:avLst/>
            <a:gdLst/>
            <a:ahLst/>
            <a:cxnLst/>
            <a:rect l="0" t="0" r="r" b="b"/>
            <a:pathLst>
              <a:path w="519" h="10" fill="none">
                <a:moveTo>
                  <a:pt x="0" y="0"/>
                </a:moveTo>
                <a:lnTo>
                  <a:pt x="519" y="0"/>
                </a:lnTo>
              </a:path>
            </a:pathLst>
          </a:custGeom>
          <a:noFill/>
          <a:ln w="28575" cap="rnd">
            <a:solidFill>
              <a:srgbClr val="1E1E1E"/>
            </a:solidFill>
            <a:round/>
            <a:headEnd type="triangle" w="med" len="med"/>
            <a:tailEnd type="triangle" w="med" len="med"/>
          </a:ln>
        </p:spPr>
      </p:sp>
      <p:sp>
        <p:nvSpPr>
          <p:cNvPr id="31" name="Flecha pp→gn"/>
          <p:cNvSpPr/>
          <p:nvPr/>
        </p:nvSpPr>
        <p:spPr>
          <a:xfrm>
            <a:off x="5709285" y="3831336"/>
            <a:ext cx="1360170" cy="338328"/>
          </a:xfrm>
          <a:custGeom>
            <a:avLst/>
            <a:gdLst/>
            <a:ahLst/>
            <a:cxnLst/>
            <a:rect l="0" t="0" r="r" b="b"/>
            <a:pathLst>
              <a:path w="1487" h="370" fill="none">
                <a:moveTo>
                  <a:pt x="0" y="0"/>
                </a:moveTo>
                <a:lnTo>
                  <a:pt x="1487" y="370"/>
                </a:lnTo>
              </a:path>
            </a:pathLst>
          </a:custGeom>
          <a:noFill/>
          <a:ln w="28575" cap="rnd">
            <a:solidFill>
              <a:srgbClr val="1E1E1E"/>
            </a:solidFill>
            <a:round/>
            <a:tailEnd type="triangle" w="med" len="med"/>
          </a:ln>
        </p:spPr>
      </p:sp>
      <p:sp>
        <p:nvSpPr>
          <p:cNvPr id="32" name="Flecha in→ca"/>
          <p:cNvSpPr/>
          <p:nvPr/>
        </p:nvSpPr>
        <p:spPr>
          <a:xfrm>
            <a:off x="9363456" y="3520440"/>
            <a:ext cx="201168" cy="9144"/>
          </a:xfrm>
          <a:custGeom>
            <a:avLst/>
            <a:gdLst/>
            <a:ahLst/>
            <a:cxnLst/>
            <a:rect l="0" t="0" r="r" b="b"/>
            <a:pathLst>
              <a:path w="220" h="10" fill="none">
                <a:moveTo>
                  <a:pt x="220" y="0"/>
                </a:moveTo>
                <a:lnTo>
                  <a:pt x="0" y="0"/>
                </a:lnTo>
              </a:path>
            </a:pathLst>
          </a:custGeom>
          <a:noFill/>
          <a:ln w="28575" cap="rnd">
            <a:solidFill>
              <a:srgbClr val="1E8C3A"/>
            </a:solidFill>
            <a:round/>
            <a:tailEnd type="triangle" w="med" len="med"/>
          </a:ln>
        </p:spPr>
      </p:sp>
      <p:grpSp>
        <p:nvGrpSpPr>
          <p:cNvPr id="33" name="Flecha wn→pp"/>
          <p:cNvGrpSpPr/>
          <p:nvPr/>
        </p:nvGrpSpPr>
        <p:grpSpPr>
          <a:xfrm>
            <a:off x="3154680" y="3739896"/>
            <a:ext cx="1060704" cy="740664"/>
            <a:chOff x="3154680" y="3739896"/>
            <a:chExt cx="1060704" cy="740664"/>
          </a:xfrm>
        </p:grpSpPr>
        <p:sp>
          <p:nvSpPr>
            <p:cNvPr id="34" name="Flecha 36_2"/>
            <p:cNvSpPr/>
            <p:nvPr/>
          </p:nvSpPr>
          <p:spPr>
            <a:xfrm>
              <a:off x="3154680" y="3840480"/>
              <a:ext cx="1051560" cy="640080"/>
            </a:xfrm>
            <a:custGeom>
              <a:avLst/>
              <a:gdLst/>
              <a:ahLst/>
              <a:cxnLst/>
              <a:rect l="0" t="0" r="r" b="b"/>
              <a:pathLst>
                <a:path w="1149" h="700" fill="none">
                  <a:moveTo>
                    <a:pt x="0" y="700"/>
                  </a:moveTo>
                  <a:lnTo>
                    <a:pt x="299" y="700"/>
                  </a:lnTo>
                  <a:lnTo>
                    <a:pt x="299" y="0"/>
                  </a:lnTo>
                  <a:lnTo>
                    <a:pt x="1149" y="0"/>
                  </a:lnTo>
                </a:path>
              </a:pathLst>
            </a:custGeom>
            <a:noFill/>
            <a:ln w="34925" cap="rnd">
              <a:solidFill>
                <a:srgbClr val="C00000"/>
              </a:solidFill>
              <a:round/>
            </a:ln>
          </p:spPr>
        </p:sp>
        <p:sp>
          <p:nvSpPr>
            <p:cNvPr id="35" name="Flecha 38_2"/>
            <p:cNvSpPr/>
            <p:nvPr/>
          </p:nvSpPr>
          <p:spPr>
            <a:xfrm>
              <a:off x="4206240" y="3739896"/>
              <a:ext cx="9144" cy="201168"/>
            </a:xfrm>
            <a:custGeom>
              <a:avLst/>
              <a:gdLst/>
              <a:ahLst/>
              <a:cxnLst/>
              <a:rect l="0" t="0" r="r" b="b"/>
              <a:pathLst>
                <a:path w="10" h="220" fill="none">
                  <a:moveTo>
                    <a:pt x="0" y="0"/>
                  </a:moveTo>
                  <a:lnTo>
                    <a:pt x="0" y="220"/>
                  </a:lnTo>
                </a:path>
              </a:pathLst>
            </a:custGeom>
            <a:noFill/>
            <a:ln w="55880" cap="rnd">
              <a:solidFill>
                <a:srgbClr val="C00000"/>
              </a:solidFill>
              <a:round/>
            </a:ln>
          </p:spPr>
        </p:sp>
      </p:grpSp>
      <p:sp>
        <p:nvSpPr>
          <p:cNvPr id="36" name="Nodo cb"/>
          <p:cNvSpPr/>
          <p:nvPr/>
        </p:nvSpPr>
        <p:spPr>
          <a:xfrm>
            <a:off x="365760" y="3246120"/>
            <a:ext cx="2743200" cy="54864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C/EBPβ · C/EBPδ (tempranos)</a:t>
            </a:r>
            <a:endParaRPr lang="es-AR" sz="1300" dirty="0">
              <a:latin typeface="Fira Sans Condensed"/>
            </a:endParaRPr>
          </a:p>
        </p:txBody>
      </p:sp>
      <p:sp>
        <p:nvSpPr>
          <p:cNvPr id="37" name="Nodo pp"/>
          <p:cNvSpPr/>
          <p:nvPr/>
        </p:nvSpPr>
        <p:spPr>
          <a:xfrm>
            <a:off x="3657600" y="324612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PPARγ : RXR</a:t>
            </a:r>
            <a:endParaRPr lang="es-AR" sz="1700" dirty="0">
              <a:latin typeface="Fira Sans Condensed"/>
            </a:endParaRPr>
          </a:p>
        </p:txBody>
      </p:sp>
      <p:sp>
        <p:nvSpPr>
          <p:cNvPr id="38" name="Nodo ca"/>
          <p:cNvSpPr/>
          <p:nvPr/>
        </p:nvSpPr>
        <p:spPr>
          <a:xfrm>
            <a:off x="6949440" y="3246120"/>
            <a:ext cx="2377440" cy="54864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C/EBPα</a:t>
            </a:r>
            <a:endParaRPr lang="es-AR" sz="1600" dirty="0">
              <a:latin typeface="Fira Sans Condensed"/>
            </a:endParaRPr>
          </a:p>
        </p:txBody>
      </p:sp>
      <p:sp>
        <p:nvSpPr>
          <p:cNvPr id="39" name="Nodo gn"/>
          <p:cNvSpPr/>
          <p:nvPr/>
        </p:nvSpPr>
        <p:spPr>
          <a:xfrm>
            <a:off x="3657600" y="4206240"/>
            <a:ext cx="818388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Genes adipocitarios: adiponectina · FABP4 · LPL · GLUT4 · perilipinas · enzimas de esterificación</a:t>
            </a:r>
            <a:endParaRPr lang="es-AR" sz="1300" dirty="0">
              <a:latin typeface="Fira Sans Condensed"/>
            </a:endParaRPr>
          </a:p>
        </p:txBody>
      </p:sp>
      <p:sp>
        <p:nvSpPr>
          <p:cNvPr id="40" name="Nodo in"/>
          <p:cNvSpPr/>
          <p:nvPr/>
        </p:nvSpPr>
        <p:spPr>
          <a:xfrm>
            <a:off x="9601200" y="3246120"/>
            <a:ext cx="22402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Insulina · IGF-1</a:t>
            </a:r>
            <a:endParaRPr lang="es-AR" sz="1350" dirty="0">
              <a:latin typeface="Fira Sans Condensed"/>
            </a:endParaRPr>
          </a:p>
        </p:txBody>
      </p:sp>
      <p:sp>
        <p:nvSpPr>
          <p:cNvPr id="41" name="Nodo wn"/>
          <p:cNvSpPr/>
          <p:nvPr/>
        </p:nvSpPr>
        <p:spPr>
          <a:xfrm>
            <a:off x="365760" y="4206240"/>
            <a:ext cx="2743200" cy="5943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Wnt/β-catenina</a:t>
            </a:r>
            <a:endParaRPr lang="es-AR" sz="1400" dirty="0">
              <a:latin typeface="Fira Sans Condensed"/>
            </a:endParaRPr>
          </a:p>
        </p:txBody>
      </p:sp>
      <p:sp>
        <p:nvSpPr>
          <p:cNvPr id="42" name="Forma 46"/>
          <p:cNvSpPr/>
          <p:nvPr/>
        </p:nvSpPr>
        <p:spPr>
          <a:xfrm>
            <a:off x="365760" y="5029200"/>
            <a:ext cx="114757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PPARγ</a:t>
            </a:r>
            <a:r>
              <a:rPr lang="es-AR" sz="1400" dirty="0">
                <a:solidFill>
                  <a:srgbClr val="1E1E1E"/>
                </a:solidFill>
                <a:latin typeface="Fira Sans Condensed"/>
                <a:ea typeface="Fira Sans Condensed"/>
                <a:cs typeface="Fira Sans Condensed"/>
                <a:sym typeface="Fira Sans Condensed"/>
              </a:rPr>
              <a:t> es el regulador central: factor de transcripción nuclear que </a:t>
            </a:r>
            <a:r>
              <a:rPr lang="es-AR" sz="1400" b="1" dirty="0">
                <a:solidFill>
                  <a:srgbClr val="1E1E1E"/>
                </a:solidFill>
                <a:latin typeface="Fira Sans Condensed"/>
                <a:ea typeface="Fira Sans Condensed"/>
                <a:cs typeface="Fira Sans Condensed"/>
                <a:sym typeface="Fira Sans Condensed"/>
              </a:rPr>
              <a:t>heterodimeriza con RXR</a:t>
            </a:r>
            <a:r>
              <a:rPr lang="es-AR" sz="1400" dirty="0">
                <a:solidFill>
                  <a:srgbClr val="1E1E1E"/>
                </a:solidFill>
                <a:latin typeface="Fira Sans Condensed"/>
                <a:ea typeface="Fira Sans Condensed"/>
                <a:cs typeface="Fira Sans Condensed"/>
                <a:sym typeface="Fira Sans Condensed"/>
              </a:rPr>
              <a:t>. C/EBPβ/δ actúan temprano; </a:t>
            </a:r>
            <a:r>
              <a:rPr lang="es-AR" sz="1400" b="1" dirty="0">
                <a:solidFill>
                  <a:srgbClr val="1E1E1E"/>
                </a:solidFill>
                <a:latin typeface="Fira Sans Condensed"/>
                <a:ea typeface="Fira Sans Condensed"/>
                <a:cs typeface="Fira Sans Condensed"/>
                <a:sym typeface="Fira Sans Condensed"/>
              </a:rPr>
              <a:t>C/EBPα</a:t>
            </a:r>
            <a:r>
              <a:rPr lang="es-AR" sz="1400" dirty="0">
                <a:solidFill>
                  <a:srgbClr val="1E1E1E"/>
                </a:solidFill>
                <a:latin typeface="Fira Sans Condensed"/>
                <a:ea typeface="Fira Sans Condensed"/>
                <a:cs typeface="Fira Sans Condensed"/>
                <a:sym typeface="Fira Sans Condensed"/>
              </a:rPr>
              <a:t> consolida el programa junto con PPARγ. Wnt/β-catenina puede </a:t>
            </a:r>
            <a:r>
              <a:rPr lang="es-AR" sz="1400" b="1" dirty="0">
                <a:solidFill>
                  <a:srgbClr val="1E1E1E"/>
                </a:solidFill>
                <a:latin typeface="Fira Sans Condensed"/>
                <a:ea typeface="Fira Sans Condensed"/>
                <a:cs typeface="Fira Sans Condensed"/>
                <a:sym typeface="Fira Sans Condensed"/>
              </a:rPr>
              <a:t>oponerse</a:t>
            </a:r>
            <a:r>
              <a:rPr lang="es-AR" sz="1400" dirty="0">
                <a:solidFill>
                  <a:srgbClr val="1E1E1E"/>
                </a:solidFill>
                <a:latin typeface="Fira Sans Condensed"/>
                <a:ea typeface="Fira Sans Condensed"/>
                <a:cs typeface="Fira Sans Condensed"/>
                <a:sym typeface="Fira Sans Condensed"/>
              </a:rPr>
              <a:t> en determinados contextos.</a:t>
            </a:r>
            <a:endParaRPr lang="es-AR" sz="1400" dirty="0">
              <a:latin typeface="Fira Sans Condensed"/>
            </a:endParaRPr>
          </a:p>
        </p:txBody>
      </p:sp>
      <p:sp>
        <p:nvSpPr>
          <p:cNvPr id="5"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ADIPOGÉNESIS: DE CÉLULA MESENQUIMAL A ADIPOCITO MADURO</a:t>
            </a:r>
            <a:endParaRPr lang="es-AR" sz="25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4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6"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600"/>
                                        <p:tgtEl>
                                          <p:spTgt spid="26"/>
                                        </p:tgtEl>
                                      </p:cBhvr>
                                    </p:animEffect>
                                  </p:childTnLst>
                                </p:cTn>
                              </p:par>
                            </p:childTnLst>
                          </p:cTn>
                        </p:par>
                        <p:par>
                          <p:cTn id="15" fill="hold">
                            <p:stCondLst>
                              <p:cond delay="6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25" fill="hold">
                      <p:stCondLst>
                        <p:cond delay="indefinite"/>
                      </p:stCondLst>
                      <p:childTnLst>
                        <p:par>
                          <p:cTn id="20"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600"/>
                                        <p:tgtEl>
                                          <p:spTgt spid="27"/>
                                        </p:tgtEl>
                                      </p:cBhvr>
                                    </p:animEffect>
                                  </p:childTnLst>
                                </p:cTn>
                              </p:par>
                            </p:childTnLst>
                          </p:cTn>
                        </p:par>
                        <p:par>
                          <p:cTn id="24" fill="hold">
                            <p:stCondLst>
                              <p:cond delay="6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34" fill="hold">
                      <p:stCondLst>
                        <p:cond delay="indefinite"/>
                      </p:stCondLst>
                      <p:childTnLst>
                        <p:par>
                          <p:cTn id="29"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600"/>
                                        <p:tgtEl>
                                          <p:spTgt spid="28"/>
                                        </p:tgtEl>
                                      </p:cBhvr>
                                    </p:animEffect>
                                  </p:childTnLst>
                                </p:cTn>
                              </p:par>
                            </p:childTnLst>
                          </p:cTn>
                        </p:par>
                        <p:par>
                          <p:cTn id="33" fill="hold">
                            <p:stCondLst>
                              <p:cond delay="60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47" fill="hold">
                      <p:stCondLst>
                        <p:cond delay="indefinite"/>
                      </p:stCondLst>
                      <p:childTnLst>
                        <p:par>
                          <p:cTn id="38"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childTnLst>
                          </p:cTn>
                        </p:par>
                        <p:par>
                          <p:cTn id="42" fill="hold">
                            <p:stCondLst>
                              <p:cond delay="400"/>
                            </p:stCondLst>
                            <p:childTnLst>
                              <p:par>
                                <p:cTn id="39" presetID="22" presetClass="entr" presetSubtype="8"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childTnLst>
                          </p:cTn>
                        </p:par>
                        <p:par>
                          <p:cTn id="46" fill="hold">
                            <p:stCondLst>
                              <p:cond delay="900"/>
                            </p:stCondLst>
                            <p:childTnLst>
                              <p:par>
                                <p:cTn id="43" presetID="10" presetClass="entr" presetSubtype="0" fill="hold" grpId="0"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400"/>
                                        <p:tgtEl>
                                          <p:spTgt spid="37"/>
                                        </p:tgtEl>
                                      </p:cBhvr>
                                    </p:animEffect>
                                  </p:childTnLst>
                                </p:cTn>
                              </p:par>
                            </p:childTnLst>
                          </p:cTn>
                        </p:par>
                      </p:childTnLst>
                    </p:cTn>
                  </p:par>
                  <p:par>
                    <p:cTn id="56" fill="hold">
                      <p:stCondLst>
                        <p:cond delay="indefinite"/>
                      </p:stCondLst>
                      <p:childTnLst>
                        <p:par>
                          <p:cTn id="51"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500"/>
                                        <p:tgtEl>
                                          <p:spTgt spid="30"/>
                                        </p:tgtEl>
                                      </p:cBhvr>
                                    </p:animEffect>
                                  </p:childTnLst>
                                </p:cTn>
                              </p:par>
                            </p:childTnLst>
                          </p:cTn>
                        </p:par>
                        <p:par>
                          <p:cTn id="55"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400"/>
                                        <p:tgtEl>
                                          <p:spTgt spid="38"/>
                                        </p:tgtEl>
                                      </p:cBhvr>
                                    </p:animEffect>
                                  </p:childTnLst>
                                </p:cTn>
                              </p:par>
                            </p:childTnLst>
                          </p:cTn>
                        </p:par>
                      </p:childTnLst>
                    </p:cTn>
                  </p:par>
                  <p:par>
                    <p:cTn id="65" fill="hold">
                      <p:stCondLst>
                        <p:cond delay="indefinite"/>
                      </p:stCondLst>
                      <p:childTnLst>
                        <p:par>
                          <p:cTn id="60"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500"/>
                                        <p:tgtEl>
                                          <p:spTgt spid="31"/>
                                        </p:tgtEl>
                                      </p:cBhvr>
                                    </p:animEffect>
                                  </p:childTnLst>
                                </p:cTn>
                              </p:par>
                            </p:childTnLst>
                          </p:cTn>
                        </p:par>
                        <p:par>
                          <p:cTn id="64"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childTnLst>
                          </p:cTn>
                        </p:par>
                      </p:childTnLst>
                    </p:cTn>
                  </p:par>
                  <p:par>
                    <p:cTn id="74" fill="hold">
                      <p:stCondLst>
                        <p:cond delay="indefinite"/>
                      </p:stCondLst>
                      <p:childTnLst>
                        <p:par>
                          <p:cTn id="69"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childTnLst>
                          </p:cTn>
                        </p:par>
                        <p:par>
                          <p:cTn id="73" fill="hold">
                            <p:stCondLst>
                              <p:cond delay="400"/>
                            </p:stCondLst>
                            <p:childTnLst>
                              <p:par>
                                <p:cTn id="70" presetID="22" presetClass="entr" presetSubtype="2"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right)">
                                      <p:cBhvr>
                                        <p:cTn id="72" dur="500"/>
                                        <p:tgtEl>
                                          <p:spTgt spid="32"/>
                                        </p:tgtEl>
                                      </p:cBhvr>
                                    </p:animEffect>
                                  </p:childTnLst>
                                </p:cTn>
                              </p:par>
                            </p:childTnLst>
                          </p:cTn>
                        </p:par>
                      </p:childTnLst>
                    </p:cTn>
                  </p:par>
                  <p:par>
                    <p:cTn id="83" fill="hold">
                      <p:stCondLst>
                        <p:cond delay="indefinite"/>
                      </p:stCondLst>
                      <p:childTnLst>
                        <p:par>
                          <p:cTn id="78"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childTnLst>
                          </p:cTn>
                        </p:par>
                        <p:par>
                          <p:cTn id="82" fill="hold">
                            <p:stCondLst>
                              <p:cond delay="400"/>
                            </p:stCondLst>
                            <p:childTnLst>
                              <p:par>
                                <p:cTn id="79" presetID="22" presetClass="entr" presetSubtype="8"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wipe(left)">
                                      <p:cBhvr>
                                        <p:cTn id="81" dur="500"/>
                                        <p:tgtEl>
                                          <p:spTgt spid="33"/>
                                        </p:tgtEl>
                                      </p:cBhvr>
                                    </p:animEffect>
                                  </p:childTnLst>
                                </p:cTn>
                              </p:par>
                            </p:childTnLst>
                          </p:cTn>
                        </p:par>
                      </p:childTnLst>
                    </p:cTn>
                  </p:par>
                  <p:par>
                    <p:cTn id="88" fill="hold">
                      <p:stCondLst>
                        <p:cond delay="indefinite"/>
                      </p:stCondLst>
                      <p:childTnLst>
                        <p:par>
                          <p:cTn id="87"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6" grpId="0" animBg="1"/>
      <p:bldP spid="29" grpId="0" animBg="1"/>
      <p:bldP spid="37" grpId="0" animBg="1"/>
      <p:bldP spid="30" grpId="0" animBg="1"/>
      <p:bldP spid="38" grpId="0" animBg="1"/>
      <p:bldP spid="31" grpId="0" animBg="1"/>
      <p:bldP spid="39" grpId="0" animBg="1"/>
      <p:bldP spid="40" grpId="0" animBg="1"/>
      <p:bldP spid="32" grpId="0" animBg="1"/>
      <p:bldP spid="41" grpId="0" animBg="1"/>
      <p:bldP spid="42" grpId="0" animBg="1"/>
    </p:bld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Hipertrofia"/>
          <p:cNvGrpSpPr/>
          <p:nvPr/>
        </p:nvGrpSpPr>
        <p:grpSpPr>
          <a:xfrm>
            <a:off x="365760" y="1097280"/>
            <a:ext cx="5486400" cy="5166360"/>
            <a:chOff x="365760" y="1097280"/>
            <a:chExt cx="5486400" cy="5166360"/>
          </a:xfrm>
        </p:grpSpPr>
        <p:sp>
          <p:nvSpPr>
            <p:cNvPr id="7" name="Recuadro HIPERTROFIA: más volum"/>
            <p:cNvSpPr/>
            <p:nvPr/>
          </p:nvSpPr>
          <p:spPr>
            <a:xfrm>
              <a:off x="365760" y="1097280"/>
              <a:ext cx="54864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HIPERTROFIA: más volumen por célula</a:t>
              </a:r>
              <a:endParaRPr lang="es-AR" sz="1500" dirty="0">
                <a:latin typeface="Fira Sans Condensed"/>
              </a:endParaRPr>
            </a:p>
          </p:txBody>
        </p:sp>
        <p:grpSp>
          <p:nvGrpSpPr>
            <p:cNvPr id="8" name="Antes h"/>
            <p:cNvGrpSpPr/>
            <p:nvPr/>
          </p:nvGrpSpPr>
          <p:grpSpPr>
            <a:xfrm>
              <a:off x="822960" y="1874520"/>
              <a:ext cx="1188720" cy="1188720"/>
              <a:chOff x="822960" y="1874520"/>
              <a:chExt cx="1188720" cy="1188720"/>
            </a:xfrm>
          </p:grpSpPr>
          <p:sp>
            <p:nvSpPr>
              <p:cNvPr id="9" name="Forma 8"/>
              <p:cNvSpPr/>
              <p:nvPr/>
            </p:nvSpPr>
            <p:spPr>
              <a:xfrm>
                <a:off x="822960" y="187452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0" name="Gota lipídica"/>
              <p:cNvSpPr/>
              <p:nvPr/>
            </p:nvSpPr>
            <p:spPr>
              <a:xfrm>
                <a:off x="882396" y="193395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1" name="Forma 10"/>
              <p:cNvSpPr/>
              <p:nvPr/>
            </p:nvSpPr>
            <p:spPr>
              <a:xfrm rot="2400000">
                <a:off x="1678838" y="194584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2" name="Mitocondria"/>
              <p:cNvGrpSpPr/>
              <p:nvPr/>
            </p:nvGrpSpPr>
            <p:grpSpPr>
              <a:xfrm>
                <a:off x="918058" y="2754173"/>
                <a:ext cx="118872" cy="59436"/>
                <a:chOff x="918058" y="2754173"/>
                <a:chExt cx="118872" cy="59436"/>
              </a:xfrm>
            </p:grpSpPr>
            <p:sp>
              <p:nvSpPr>
                <p:cNvPr id="13" name="Forma 12"/>
                <p:cNvSpPr/>
                <p:nvPr/>
              </p:nvSpPr>
              <p:spPr>
                <a:xfrm rot="-2400000">
                  <a:off x="918058" y="275417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4" name="Forma 13"/>
                <p:cNvSpPr/>
                <p:nvPr/>
              </p:nvSpPr>
              <p:spPr>
                <a:xfrm rot="-2400000">
                  <a:off x="926379" y="2762494"/>
                  <a:ext cx="102230" cy="42794"/>
                </a:xfrm>
                <a:prstGeom prst="ellipse">
                  <a:avLst/>
                </a:prstGeom>
                <a:solidFill>
                  <a:srgbClr val="F8D8B4"/>
                </a:solidFill>
                <a:ln w="9525" cap="rnd">
                  <a:solidFill>
                    <a:srgbClr val="B2732B"/>
                  </a:solidFill>
                  <a:round/>
                </a:ln>
              </p:spPr>
            </p:sp>
            <p:sp>
              <p:nvSpPr>
                <p:cNvPr id="15" name="Forma 14"/>
                <p:cNvSpPr/>
                <p:nvPr/>
              </p:nvSpPr>
              <p:spPr>
                <a:xfrm rot="-2400000">
                  <a:off x="926379" y="276249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sp>
          <p:nvSpPr>
            <p:cNvPr id="16" name="Flecha 15_2"/>
            <p:cNvSpPr/>
            <p:nvPr/>
          </p:nvSpPr>
          <p:spPr>
            <a:xfrm>
              <a:off x="2194560" y="2468880"/>
              <a:ext cx="640080" cy="9144"/>
            </a:xfrm>
            <a:custGeom>
              <a:avLst/>
              <a:gdLst/>
              <a:ahLst/>
              <a:cxnLst/>
              <a:rect l="0" t="0" r="r" b="b"/>
              <a:pathLst>
                <a:path w="700" h="10" fill="none">
                  <a:moveTo>
                    <a:pt x="0" y="0"/>
                  </a:moveTo>
                  <a:lnTo>
                    <a:pt x="700" y="0"/>
                  </a:lnTo>
                </a:path>
              </a:pathLst>
            </a:custGeom>
            <a:noFill/>
            <a:ln w="38100" cap="rnd">
              <a:solidFill>
                <a:srgbClr val="1E1E1E"/>
              </a:solidFill>
              <a:round/>
              <a:tailEnd type="triangle" w="med" len="med"/>
            </a:ln>
          </p:spPr>
        </p:sp>
        <p:grpSp>
          <p:nvGrpSpPr>
            <p:cNvPr id="17" name="Después h"/>
            <p:cNvGrpSpPr/>
            <p:nvPr/>
          </p:nvGrpSpPr>
          <p:grpSpPr>
            <a:xfrm>
              <a:off x="3017520" y="1783080"/>
              <a:ext cx="2377440" cy="2377440"/>
              <a:chOff x="3017520" y="1783080"/>
              <a:chExt cx="2377440" cy="2377440"/>
            </a:xfrm>
          </p:grpSpPr>
          <p:sp>
            <p:nvSpPr>
              <p:cNvPr id="18" name="Forma 18"/>
              <p:cNvSpPr/>
              <p:nvPr/>
            </p:nvSpPr>
            <p:spPr>
              <a:xfrm>
                <a:off x="3017520" y="1783080"/>
                <a:ext cx="2377440" cy="237744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9" name="Gota lipídica_2"/>
              <p:cNvSpPr/>
              <p:nvPr/>
            </p:nvSpPr>
            <p:spPr>
              <a:xfrm>
                <a:off x="3136392" y="1901952"/>
                <a:ext cx="2139696" cy="2139696"/>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0" name="Forma 20"/>
              <p:cNvSpPr/>
              <p:nvPr/>
            </p:nvSpPr>
            <p:spPr>
              <a:xfrm rot="2400000">
                <a:off x="4729277" y="1925726"/>
                <a:ext cx="523037" cy="285293"/>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1" name="Mitocondria_2"/>
              <p:cNvGrpSpPr/>
              <p:nvPr/>
            </p:nvGrpSpPr>
            <p:grpSpPr>
              <a:xfrm>
                <a:off x="3207715" y="3542386"/>
                <a:ext cx="237744" cy="118872"/>
                <a:chOff x="3207715" y="3542386"/>
                <a:chExt cx="237744" cy="118872"/>
              </a:xfrm>
            </p:grpSpPr>
            <p:sp>
              <p:nvSpPr>
                <p:cNvPr id="22" name="Forma 22"/>
                <p:cNvSpPr/>
                <p:nvPr/>
              </p:nvSpPr>
              <p:spPr>
                <a:xfrm rot="-2400000">
                  <a:off x="3207715" y="3542386"/>
                  <a:ext cx="237744" cy="118872"/>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3" name="Forma 23"/>
                <p:cNvSpPr/>
                <p:nvPr/>
              </p:nvSpPr>
              <p:spPr>
                <a:xfrm rot="-2400000">
                  <a:off x="3224357" y="3559028"/>
                  <a:ext cx="204460" cy="85588"/>
                </a:xfrm>
                <a:prstGeom prst="ellipse">
                  <a:avLst/>
                </a:prstGeom>
                <a:solidFill>
                  <a:srgbClr val="F8D8B4"/>
                </a:solidFill>
                <a:ln w="9525" cap="rnd">
                  <a:solidFill>
                    <a:srgbClr val="B2732B"/>
                  </a:solidFill>
                  <a:round/>
                </a:ln>
              </p:spPr>
            </p:sp>
            <p:sp>
              <p:nvSpPr>
                <p:cNvPr id="24" name="Forma 24"/>
                <p:cNvSpPr/>
                <p:nvPr/>
              </p:nvSpPr>
              <p:spPr>
                <a:xfrm rot="-2400000">
                  <a:off x="3224357" y="3559028"/>
                  <a:ext cx="204460" cy="85588"/>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sp>
          <p:nvSpPr>
            <p:cNvPr id="25" name="Forma 25"/>
            <p:cNvSpPr/>
            <p:nvPr/>
          </p:nvSpPr>
          <p:spPr>
            <a:xfrm>
              <a:off x="365760" y="4343400"/>
              <a:ext cx="5486400" cy="19202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Excesiva → irrigación relativa ↓, manejo de </a:t>
              </a:r>
              <a:r>
                <a:rPr lang="es-AR" sz="1500" b="1" dirty="0">
                  <a:solidFill>
                    <a:srgbClr val="1E1E1E"/>
                  </a:solidFill>
                  <a:latin typeface="Fira Sans Condensed"/>
                  <a:ea typeface="Fira Sans Condensed"/>
                  <a:cs typeface="Fira Sans Condensed"/>
                  <a:sym typeface="Fira Sans Condensed"/>
                </a:rPr>
                <a:t>O₂</a:t>
              </a:r>
              <a:r>
                <a:rPr lang="es-AR" sz="1500" dirty="0">
                  <a:solidFill>
                    <a:srgbClr val="1E1E1E"/>
                  </a:solidFill>
                  <a:latin typeface="Fira Sans Condensed"/>
                  <a:ea typeface="Fira Sans Condensed"/>
                  <a:cs typeface="Fira Sans Condensed"/>
                  <a:sym typeface="Fira Sans Condensed"/>
                </a:rPr>
                <a:t> alterado, </a:t>
              </a:r>
              <a:r>
                <a:rPr lang="es-AR" sz="1500" b="1" dirty="0">
                  <a:solidFill>
                    <a:srgbClr val="1E1E1E"/>
                  </a:solidFill>
                  <a:latin typeface="Fira Sans Condensed"/>
                  <a:ea typeface="Fira Sans Condensed"/>
                  <a:cs typeface="Fira Sans Condensed"/>
                  <a:sym typeface="Fira Sans Condensed"/>
                </a:rPr>
                <a:t>matriz</a:t>
              </a:r>
              <a:r>
                <a:rPr lang="es-AR" sz="1500" dirty="0">
                  <a:solidFill>
                    <a:srgbClr val="1E1E1E"/>
                  </a:solidFill>
                  <a:latin typeface="Fira Sans Condensed"/>
                  <a:ea typeface="Fira Sans Condensed"/>
                  <a:cs typeface="Fira Sans Condensed"/>
                  <a:sym typeface="Fira Sans Condensed"/>
                </a:rPr>
                <a:t> rígida y secreción de adipocinas </a:t>
              </a:r>
              <a:r>
                <a:rPr lang="es-AR" sz="1500" b="1" dirty="0">
                  <a:solidFill>
                    <a:srgbClr val="1E1E1E"/>
                  </a:solidFill>
                  <a:latin typeface="Fira Sans Condensed"/>
                  <a:ea typeface="Fira Sans Condensed"/>
                  <a:cs typeface="Fira Sans Condensed"/>
                  <a:sym typeface="Fira Sans Condensed"/>
                </a:rPr>
                <a:t>desfavorable</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grpSp>
      <p:grpSp>
        <p:nvGrpSpPr>
          <p:cNvPr id="26" name="Hiperplasia"/>
          <p:cNvGrpSpPr/>
          <p:nvPr/>
        </p:nvGrpSpPr>
        <p:grpSpPr>
          <a:xfrm>
            <a:off x="6355080" y="1097280"/>
            <a:ext cx="5486400" cy="5166360"/>
            <a:chOff x="6355080" y="1097280"/>
            <a:chExt cx="5486400" cy="5166360"/>
          </a:xfrm>
        </p:grpSpPr>
        <p:sp>
          <p:nvSpPr>
            <p:cNvPr id="27" name="Recuadro HIPERPLASIA: más célul"/>
            <p:cNvSpPr/>
            <p:nvPr/>
          </p:nvSpPr>
          <p:spPr>
            <a:xfrm>
              <a:off x="6355080" y="1097280"/>
              <a:ext cx="5486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HIPERPLASIA: más células desde precursores</a:t>
              </a:r>
              <a:endParaRPr lang="es-AR" sz="1500" dirty="0">
                <a:latin typeface="Fira Sans Condensed"/>
              </a:endParaRPr>
            </a:p>
          </p:txBody>
        </p:sp>
        <p:grpSp>
          <p:nvGrpSpPr>
            <p:cNvPr id="28" name="Antes p"/>
            <p:cNvGrpSpPr/>
            <p:nvPr/>
          </p:nvGrpSpPr>
          <p:grpSpPr>
            <a:xfrm>
              <a:off x="6675120" y="1874520"/>
              <a:ext cx="1188720" cy="1188720"/>
              <a:chOff x="6675120" y="1874520"/>
              <a:chExt cx="1188720" cy="1188720"/>
            </a:xfrm>
          </p:grpSpPr>
          <p:sp>
            <p:nvSpPr>
              <p:cNvPr id="29" name="Forma 29"/>
              <p:cNvSpPr/>
              <p:nvPr/>
            </p:nvSpPr>
            <p:spPr>
              <a:xfrm>
                <a:off x="6675120" y="187452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0" name="Gota lipídica_3"/>
              <p:cNvSpPr/>
              <p:nvPr/>
            </p:nvSpPr>
            <p:spPr>
              <a:xfrm>
                <a:off x="6734556" y="193395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1" name="Forma 31"/>
              <p:cNvSpPr/>
              <p:nvPr/>
            </p:nvSpPr>
            <p:spPr>
              <a:xfrm rot="2400000">
                <a:off x="7530998" y="194584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2" name="Mitocondria_3"/>
              <p:cNvGrpSpPr/>
              <p:nvPr/>
            </p:nvGrpSpPr>
            <p:grpSpPr>
              <a:xfrm>
                <a:off x="6770218" y="2754173"/>
                <a:ext cx="118872" cy="59436"/>
                <a:chOff x="6770218" y="2754173"/>
                <a:chExt cx="118872" cy="59436"/>
              </a:xfrm>
            </p:grpSpPr>
            <p:sp>
              <p:nvSpPr>
                <p:cNvPr id="33" name="Forma 33"/>
                <p:cNvSpPr/>
                <p:nvPr/>
              </p:nvSpPr>
              <p:spPr>
                <a:xfrm rot="-2400000">
                  <a:off x="6770218" y="275417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4" name="Forma 34"/>
                <p:cNvSpPr/>
                <p:nvPr/>
              </p:nvSpPr>
              <p:spPr>
                <a:xfrm rot="-2400000">
                  <a:off x="6778539" y="2762494"/>
                  <a:ext cx="102230" cy="42794"/>
                </a:xfrm>
                <a:prstGeom prst="ellipse">
                  <a:avLst/>
                </a:prstGeom>
                <a:solidFill>
                  <a:srgbClr val="F8D8B4"/>
                </a:solidFill>
                <a:ln w="9525" cap="rnd">
                  <a:solidFill>
                    <a:srgbClr val="B2732B"/>
                  </a:solidFill>
                  <a:round/>
                </a:ln>
              </p:spPr>
            </p:sp>
            <p:sp>
              <p:nvSpPr>
                <p:cNvPr id="35" name="Forma 35"/>
                <p:cNvSpPr/>
                <p:nvPr/>
              </p:nvSpPr>
              <p:spPr>
                <a:xfrm rot="-2400000">
                  <a:off x="6778539" y="276249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sp>
          <p:nvSpPr>
            <p:cNvPr id="36" name="Flecha 36_2"/>
            <p:cNvSpPr/>
            <p:nvPr/>
          </p:nvSpPr>
          <p:spPr>
            <a:xfrm>
              <a:off x="8046720" y="2468880"/>
              <a:ext cx="640080" cy="9144"/>
            </a:xfrm>
            <a:custGeom>
              <a:avLst/>
              <a:gdLst/>
              <a:ahLst/>
              <a:cxnLst/>
              <a:rect l="0" t="0" r="r" b="b"/>
              <a:pathLst>
                <a:path w="699" h="10" fill="none">
                  <a:moveTo>
                    <a:pt x="0" y="0"/>
                  </a:moveTo>
                  <a:lnTo>
                    <a:pt x="699" y="0"/>
                  </a:lnTo>
                </a:path>
              </a:pathLst>
            </a:custGeom>
            <a:noFill/>
            <a:ln w="38100" cap="rnd">
              <a:solidFill>
                <a:srgbClr val="1E1E1E"/>
              </a:solidFill>
              <a:round/>
              <a:tailEnd type="triangle" w="med" len="med"/>
            </a:ln>
          </p:spPr>
        </p:sp>
        <p:grpSp>
          <p:nvGrpSpPr>
            <p:cNvPr id="37" name="Hija 0"/>
            <p:cNvGrpSpPr/>
            <p:nvPr/>
          </p:nvGrpSpPr>
          <p:grpSpPr>
            <a:xfrm>
              <a:off x="8869680" y="1783080"/>
              <a:ext cx="1188720" cy="1188720"/>
              <a:chOff x="8869680" y="1783080"/>
              <a:chExt cx="1188720" cy="1188720"/>
            </a:xfrm>
          </p:grpSpPr>
          <p:sp>
            <p:nvSpPr>
              <p:cNvPr id="38" name="Forma 39"/>
              <p:cNvSpPr/>
              <p:nvPr/>
            </p:nvSpPr>
            <p:spPr>
              <a:xfrm>
                <a:off x="8869680" y="178308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9" name="Gota lipídica_4"/>
              <p:cNvSpPr/>
              <p:nvPr/>
            </p:nvSpPr>
            <p:spPr>
              <a:xfrm>
                <a:off x="8929116" y="184251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0" name="Forma 41"/>
              <p:cNvSpPr/>
              <p:nvPr/>
            </p:nvSpPr>
            <p:spPr>
              <a:xfrm rot="2400000">
                <a:off x="9725558" y="185440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1" name="Mitocondria_4"/>
              <p:cNvGrpSpPr/>
              <p:nvPr/>
            </p:nvGrpSpPr>
            <p:grpSpPr>
              <a:xfrm>
                <a:off x="8964778" y="2662733"/>
                <a:ext cx="118872" cy="59436"/>
                <a:chOff x="8964778" y="2662733"/>
                <a:chExt cx="118872" cy="59436"/>
              </a:xfrm>
            </p:grpSpPr>
            <p:sp>
              <p:nvSpPr>
                <p:cNvPr id="42" name="Forma 43"/>
                <p:cNvSpPr/>
                <p:nvPr/>
              </p:nvSpPr>
              <p:spPr>
                <a:xfrm rot="-2400000">
                  <a:off x="8964778" y="266273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3" name="Forma 44"/>
                <p:cNvSpPr/>
                <p:nvPr/>
              </p:nvSpPr>
              <p:spPr>
                <a:xfrm rot="-2400000">
                  <a:off x="8973099" y="2671054"/>
                  <a:ext cx="102230" cy="42794"/>
                </a:xfrm>
                <a:prstGeom prst="ellipse">
                  <a:avLst/>
                </a:prstGeom>
                <a:solidFill>
                  <a:srgbClr val="F8D8B4"/>
                </a:solidFill>
                <a:ln w="9525" cap="rnd">
                  <a:solidFill>
                    <a:srgbClr val="B2732B"/>
                  </a:solidFill>
                  <a:round/>
                </a:ln>
              </p:spPr>
            </p:sp>
            <p:sp>
              <p:nvSpPr>
                <p:cNvPr id="44" name="Forma 45"/>
                <p:cNvSpPr/>
                <p:nvPr/>
              </p:nvSpPr>
              <p:spPr>
                <a:xfrm rot="-2400000">
                  <a:off x="8973099" y="267105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5" name="Hija 1"/>
            <p:cNvGrpSpPr/>
            <p:nvPr/>
          </p:nvGrpSpPr>
          <p:grpSpPr>
            <a:xfrm>
              <a:off x="10104120" y="1783080"/>
              <a:ext cx="1188720" cy="1188720"/>
              <a:chOff x="10104120" y="1783080"/>
              <a:chExt cx="1188720" cy="1188720"/>
            </a:xfrm>
          </p:grpSpPr>
          <p:sp>
            <p:nvSpPr>
              <p:cNvPr id="46" name="Forma 47"/>
              <p:cNvSpPr/>
              <p:nvPr/>
            </p:nvSpPr>
            <p:spPr>
              <a:xfrm>
                <a:off x="10104120" y="178308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7" name="Gota lipídica_5"/>
              <p:cNvSpPr/>
              <p:nvPr/>
            </p:nvSpPr>
            <p:spPr>
              <a:xfrm>
                <a:off x="10163556" y="184251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8" name="Forma 49"/>
              <p:cNvSpPr/>
              <p:nvPr/>
            </p:nvSpPr>
            <p:spPr>
              <a:xfrm rot="2400000">
                <a:off x="10959998" y="185440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9" name="Mitocondria_5"/>
              <p:cNvGrpSpPr/>
              <p:nvPr/>
            </p:nvGrpSpPr>
            <p:grpSpPr>
              <a:xfrm>
                <a:off x="10199218" y="2662733"/>
                <a:ext cx="118872" cy="59436"/>
                <a:chOff x="10199218" y="2662733"/>
                <a:chExt cx="118872" cy="59436"/>
              </a:xfrm>
            </p:grpSpPr>
            <p:sp>
              <p:nvSpPr>
                <p:cNvPr id="50" name="Forma 51"/>
                <p:cNvSpPr/>
                <p:nvPr/>
              </p:nvSpPr>
              <p:spPr>
                <a:xfrm rot="-2400000">
                  <a:off x="10199218" y="266273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1" name="Forma 52"/>
                <p:cNvSpPr/>
                <p:nvPr/>
              </p:nvSpPr>
              <p:spPr>
                <a:xfrm rot="-2400000">
                  <a:off x="10207539" y="2671054"/>
                  <a:ext cx="102230" cy="42794"/>
                </a:xfrm>
                <a:prstGeom prst="ellipse">
                  <a:avLst/>
                </a:prstGeom>
                <a:solidFill>
                  <a:srgbClr val="F8D8B4"/>
                </a:solidFill>
                <a:ln w="9525" cap="rnd">
                  <a:solidFill>
                    <a:srgbClr val="B2732B"/>
                  </a:solidFill>
                  <a:round/>
                </a:ln>
              </p:spPr>
            </p:sp>
            <p:sp>
              <p:nvSpPr>
                <p:cNvPr id="52" name="Forma 53"/>
                <p:cNvSpPr/>
                <p:nvPr/>
              </p:nvSpPr>
              <p:spPr>
                <a:xfrm rot="-2400000">
                  <a:off x="10207539" y="267105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3" name="Hija 2"/>
            <p:cNvGrpSpPr/>
            <p:nvPr/>
          </p:nvGrpSpPr>
          <p:grpSpPr>
            <a:xfrm>
              <a:off x="8869680" y="3017520"/>
              <a:ext cx="1188720" cy="1188720"/>
              <a:chOff x="8869680" y="3017520"/>
              <a:chExt cx="1188720" cy="1188720"/>
            </a:xfrm>
          </p:grpSpPr>
          <p:sp>
            <p:nvSpPr>
              <p:cNvPr id="54" name="Forma 55"/>
              <p:cNvSpPr/>
              <p:nvPr/>
            </p:nvSpPr>
            <p:spPr>
              <a:xfrm>
                <a:off x="8869680" y="301752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55" name="Gota lipídica_6"/>
              <p:cNvSpPr/>
              <p:nvPr/>
            </p:nvSpPr>
            <p:spPr>
              <a:xfrm>
                <a:off x="8929116" y="307695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6" name="Forma 57"/>
              <p:cNvSpPr/>
              <p:nvPr/>
            </p:nvSpPr>
            <p:spPr>
              <a:xfrm rot="2400000">
                <a:off x="9725558" y="308884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7" name="Mitocondria_6"/>
              <p:cNvGrpSpPr/>
              <p:nvPr/>
            </p:nvGrpSpPr>
            <p:grpSpPr>
              <a:xfrm>
                <a:off x="8964778" y="3897173"/>
                <a:ext cx="118872" cy="59436"/>
                <a:chOff x="8964778" y="3897173"/>
                <a:chExt cx="118872" cy="59436"/>
              </a:xfrm>
            </p:grpSpPr>
            <p:sp>
              <p:nvSpPr>
                <p:cNvPr id="58" name="Forma 59"/>
                <p:cNvSpPr/>
                <p:nvPr/>
              </p:nvSpPr>
              <p:spPr>
                <a:xfrm rot="-2400000">
                  <a:off x="8964778" y="389717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9" name="Forma 60"/>
                <p:cNvSpPr/>
                <p:nvPr/>
              </p:nvSpPr>
              <p:spPr>
                <a:xfrm rot="-2400000">
                  <a:off x="8973099" y="3905494"/>
                  <a:ext cx="102230" cy="42794"/>
                </a:xfrm>
                <a:prstGeom prst="ellipse">
                  <a:avLst/>
                </a:prstGeom>
                <a:solidFill>
                  <a:srgbClr val="F8D8B4"/>
                </a:solidFill>
                <a:ln w="9525" cap="rnd">
                  <a:solidFill>
                    <a:srgbClr val="B2732B"/>
                  </a:solidFill>
                  <a:round/>
                </a:ln>
              </p:spPr>
            </p:sp>
            <p:sp>
              <p:nvSpPr>
                <p:cNvPr id="60" name="Forma 61"/>
                <p:cNvSpPr/>
                <p:nvPr/>
              </p:nvSpPr>
              <p:spPr>
                <a:xfrm rot="-2400000">
                  <a:off x="8973099" y="390549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61" name="Hija 3"/>
            <p:cNvGrpSpPr/>
            <p:nvPr/>
          </p:nvGrpSpPr>
          <p:grpSpPr>
            <a:xfrm>
              <a:off x="10104120" y="3017520"/>
              <a:ext cx="1188720" cy="1188720"/>
              <a:chOff x="10104120" y="3017520"/>
              <a:chExt cx="1188720" cy="1188720"/>
            </a:xfrm>
          </p:grpSpPr>
          <p:sp>
            <p:nvSpPr>
              <p:cNvPr id="62" name="Forma 63"/>
              <p:cNvSpPr/>
              <p:nvPr/>
            </p:nvSpPr>
            <p:spPr>
              <a:xfrm>
                <a:off x="10104120" y="3017520"/>
                <a:ext cx="1188720" cy="118872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63" name="Gota lipídica_7"/>
              <p:cNvSpPr/>
              <p:nvPr/>
            </p:nvSpPr>
            <p:spPr>
              <a:xfrm>
                <a:off x="10163556" y="3076956"/>
                <a:ext cx="1069848" cy="1069848"/>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64" name="Forma 65"/>
              <p:cNvSpPr/>
              <p:nvPr/>
            </p:nvSpPr>
            <p:spPr>
              <a:xfrm rot="2400000">
                <a:off x="10959998" y="3088843"/>
                <a:ext cx="261518" cy="14264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65" name="Mitocondria_7"/>
              <p:cNvGrpSpPr/>
              <p:nvPr/>
            </p:nvGrpSpPr>
            <p:grpSpPr>
              <a:xfrm>
                <a:off x="10199218" y="3897173"/>
                <a:ext cx="118872" cy="59436"/>
                <a:chOff x="10199218" y="3897173"/>
                <a:chExt cx="118872" cy="59436"/>
              </a:xfrm>
            </p:grpSpPr>
            <p:sp>
              <p:nvSpPr>
                <p:cNvPr id="66" name="Forma 67"/>
                <p:cNvSpPr/>
                <p:nvPr/>
              </p:nvSpPr>
              <p:spPr>
                <a:xfrm rot="-2400000">
                  <a:off x="10199218" y="3897173"/>
                  <a:ext cx="118872" cy="59436"/>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67" name="Forma 68"/>
                <p:cNvSpPr/>
                <p:nvPr/>
              </p:nvSpPr>
              <p:spPr>
                <a:xfrm rot="-2400000">
                  <a:off x="10207539" y="3905494"/>
                  <a:ext cx="102230" cy="42794"/>
                </a:xfrm>
                <a:prstGeom prst="ellipse">
                  <a:avLst/>
                </a:prstGeom>
                <a:solidFill>
                  <a:srgbClr val="F8D8B4"/>
                </a:solidFill>
                <a:ln w="9525" cap="rnd">
                  <a:solidFill>
                    <a:srgbClr val="B2732B"/>
                  </a:solidFill>
                  <a:round/>
                </a:ln>
              </p:spPr>
            </p:sp>
            <p:sp>
              <p:nvSpPr>
                <p:cNvPr id="68" name="Forma 69"/>
                <p:cNvSpPr/>
                <p:nvPr/>
              </p:nvSpPr>
              <p:spPr>
                <a:xfrm rot="-2400000">
                  <a:off x="10207539" y="3905494"/>
                  <a:ext cx="102230" cy="42794"/>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sp>
          <p:nvSpPr>
            <p:cNvPr id="69" name="Forma 70"/>
            <p:cNvSpPr/>
            <p:nvPr/>
          </p:nvSpPr>
          <p:spPr>
            <a:xfrm>
              <a:off x="6355080" y="4343400"/>
              <a:ext cx="5486400" cy="19202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Reparte el exceso energético en </a:t>
              </a:r>
              <a:r>
                <a:rPr lang="es-AR" sz="1500" b="1" dirty="0">
                  <a:solidFill>
                    <a:srgbClr val="1E1E1E"/>
                  </a:solidFill>
                  <a:latin typeface="Fira Sans Condensed"/>
                  <a:ea typeface="Fira Sans Condensed"/>
                  <a:cs typeface="Fira Sans Condensed"/>
                  <a:sym typeface="Fira Sans Condensed"/>
                </a:rPr>
                <a:t>más células con menos estrés</a:t>
              </a:r>
              <a:r>
                <a:rPr lang="es-AR" sz="1500" dirty="0">
                  <a:solidFill>
                    <a:srgbClr val="1E1E1E"/>
                  </a:solidFill>
                  <a:latin typeface="Fira Sans Condensed"/>
                  <a:ea typeface="Fira Sans Condensed"/>
                  <a:cs typeface="Fira Sans Condensed"/>
                  <a:sym typeface="Fira Sans Condensed"/>
                </a:rPr>
                <a:t> por célula. No interpretar automáticamente «más adipocitos = peor metabolismo».</a:t>
              </a:r>
              <a:endParaRPr lang="es-AR" sz="15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HIPERTROFIA FRENTE A HIPERPLASIA</a:t>
            </a:r>
            <a:endParaRPr lang="es-AR" sz="34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7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Capilar LPL"/>
          <p:cNvGrpSpPr/>
          <p:nvPr/>
        </p:nvGrpSpPr>
        <p:grpSpPr>
          <a:xfrm>
            <a:off x="365760" y="1097280"/>
            <a:ext cx="11475720" cy="1005840"/>
            <a:chOff x="365760" y="1097280"/>
            <a:chExt cx="11475720" cy="1005840"/>
          </a:xfrm>
        </p:grpSpPr>
        <p:sp>
          <p:nvSpPr>
            <p:cNvPr id="8" name="Forma 7"/>
            <p:cNvSpPr/>
            <p:nvPr/>
          </p:nvSpPr>
          <p:spPr>
            <a:xfrm>
              <a:off x="365760" y="1097280"/>
              <a:ext cx="11475720" cy="100584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9" name="Forma 8"/>
            <p:cNvSpPr/>
            <p:nvPr/>
          </p:nvSpPr>
          <p:spPr>
            <a:xfrm>
              <a:off x="516636" y="1278331"/>
              <a:ext cx="11173968" cy="643738"/>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10" name="Eritrocito"/>
            <p:cNvSpPr/>
            <p:nvPr/>
          </p:nvSpPr>
          <p:spPr>
            <a:xfrm>
              <a:off x="1075588" y="1587081"/>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Eritrocito_2"/>
            <p:cNvSpPr/>
            <p:nvPr/>
          </p:nvSpPr>
          <p:spPr>
            <a:xfrm>
              <a:off x="1758755" y="1370082"/>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Eritrocito_3"/>
            <p:cNvSpPr/>
            <p:nvPr/>
          </p:nvSpPr>
          <p:spPr>
            <a:xfrm>
              <a:off x="3158348" y="1533807"/>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Eritrocito_4"/>
            <p:cNvSpPr/>
            <p:nvPr/>
          </p:nvSpPr>
          <p:spPr>
            <a:xfrm>
              <a:off x="4154695" y="1426224"/>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Eritrocito_5"/>
            <p:cNvSpPr/>
            <p:nvPr/>
          </p:nvSpPr>
          <p:spPr>
            <a:xfrm>
              <a:off x="5194574" y="1501326"/>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ritrocito_6"/>
            <p:cNvSpPr/>
            <p:nvPr/>
          </p:nvSpPr>
          <p:spPr>
            <a:xfrm>
              <a:off x="6251118" y="1388567"/>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6" name="Eritrocito_7"/>
            <p:cNvSpPr/>
            <p:nvPr/>
          </p:nvSpPr>
          <p:spPr>
            <a:xfrm>
              <a:off x="7253969" y="1447698"/>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7" name="Eritrocito_8"/>
            <p:cNvSpPr/>
            <p:nvPr/>
          </p:nvSpPr>
          <p:spPr>
            <a:xfrm>
              <a:off x="8445857" y="1598897"/>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8" name="Eritrocito_9"/>
            <p:cNvSpPr/>
            <p:nvPr/>
          </p:nvSpPr>
          <p:spPr>
            <a:xfrm>
              <a:off x="9609592" y="1485579"/>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9" name="Eritrocito_10"/>
            <p:cNvSpPr/>
            <p:nvPr/>
          </p:nvSpPr>
          <p:spPr>
            <a:xfrm>
              <a:off x="10461338" y="1416192"/>
              <a:ext cx="422453" cy="422453"/>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sp>
        <p:nvSpPr>
          <p:cNvPr id="20" name="Forma 19"/>
          <p:cNvSpPr txBox="1"/>
          <p:nvPr/>
        </p:nvSpPr>
        <p:spPr>
          <a:xfrm>
            <a:off x="457200" y="2148840"/>
            <a:ext cx="2286000" cy="320040"/>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CAPILAR</a:t>
            </a:r>
            <a:endParaRPr lang="es-AR" sz="1200" dirty="0">
              <a:latin typeface="Fira Sans Condensed"/>
            </a:endParaRPr>
          </a:p>
        </p:txBody>
      </p:sp>
      <p:grpSp>
        <p:nvGrpSpPr>
          <p:cNvPr id="21" name="Quilomicrón"/>
          <p:cNvGrpSpPr/>
          <p:nvPr/>
        </p:nvGrpSpPr>
        <p:grpSpPr>
          <a:xfrm>
            <a:off x="2103120" y="1188720"/>
            <a:ext cx="777240" cy="777240"/>
            <a:chOff x="2103120" y="1188720"/>
            <a:chExt cx="777240" cy="777240"/>
          </a:xfrm>
        </p:grpSpPr>
        <p:sp>
          <p:nvSpPr>
            <p:cNvPr id="22" name="Forma 21"/>
            <p:cNvSpPr/>
            <p:nvPr/>
          </p:nvSpPr>
          <p:spPr>
            <a:xfrm>
              <a:off x="2103120" y="1188720"/>
              <a:ext cx="777240" cy="777240"/>
            </a:xfrm>
            <a:prstGeom prst="ellipse">
              <a:avLst/>
            </a:prstGeom>
            <a:gradFill rotWithShape="1">
              <a:gsLst>
                <a:gs pos="0">
                  <a:srgbClr val="FBF1C5"/>
                </a:gs>
                <a:gs pos="70000">
                  <a:srgbClr val="F7DC6F"/>
                </a:gs>
                <a:gs pos="100000">
                  <a:srgbClr val="C5B058"/>
                </a:gs>
              </a:gsLst>
              <a:path path="circle">
                <a:fillToRect l="40000" t="35000" r="60000" b="65000"/>
              </a:path>
            </a:gradFill>
            <a:ln w="12700" cap="rnd">
              <a:solidFill>
                <a:srgbClr val="8C6D1F"/>
              </a:solidFill>
              <a:round/>
            </a:ln>
            <a:effectLst>
              <a:outerShdw blurRad="101600" dist="50800" dir="2700000" algn="tl" rotWithShape="0">
                <a:srgbClr val="000000">
                  <a:alpha val="30000"/>
                </a:srgbClr>
              </a:outerShdw>
            </a:effectLst>
          </p:spPr>
        </p:sp>
        <p:sp>
          <p:nvSpPr>
            <p:cNvPr id="23" name="Forma 22"/>
            <p:cNvSpPr/>
            <p:nvPr/>
          </p:nvSpPr>
          <p:spPr>
            <a:xfrm>
              <a:off x="2103120" y="1188720"/>
              <a:ext cx="777240" cy="777240"/>
            </a:xfrm>
            <a:custGeom>
              <a:avLst/>
              <a:gdLst/>
              <a:ahLst/>
              <a:cxnLst/>
              <a:rect l="0" t="0" r="r" b="b"/>
              <a:pathLst>
                <a:path w="1000" h="1000">
                  <a:moveTo>
                    <a:pt x="998" y="500"/>
                  </a:moveTo>
                  <a:cubicBezTo>
                    <a:pt x="998" y="515"/>
                    <a:pt x="985" y="528"/>
                    <a:pt x="970" y="528"/>
                  </a:cubicBezTo>
                  <a:cubicBezTo>
                    <a:pt x="954" y="528"/>
                    <a:pt x="942" y="515"/>
                    <a:pt x="942" y="500"/>
                  </a:cubicBezTo>
                  <a:cubicBezTo>
                    <a:pt x="942" y="484"/>
                    <a:pt x="954" y="472"/>
                    <a:pt x="970" y="472"/>
                  </a:cubicBezTo>
                  <a:cubicBezTo>
                    <a:pt x="985" y="472"/>
                    <a:pt x="998" y="484"/>
                    <a:pt x="998" y="500"/>
                  </a:cubicBezTo>
                  <a:close/>
                  <a:moveTo>
                    <a:pt x="991" y="577"/>
                  </a:moveTo>
                  <a:cubicBezTo>
                    <a:pt x="991" y="592"/>
                    <a:pt x="978" y="605"/>
                    <a:pt x="963" y="605"/>
                  </a:cubicBezTo>
                  <a:cubicBezTo>
                    <a:pt x="947" y="605"/>
                    <a:pt x="935" y="592"/>
                    <a:pt x="935" y="577"/>
                  </a:cubicBezTo>
                  <a:cubicBezTo>
                    <a:pt x="935" y="561"/>
                    <a:pt x="947" y="549"/>
                    <a:pt x="963" y="549"/>
                  </a:cubicBezTo>
                  <a:cubicBezTo>
                    <a:pt x="978" y="549"/>
                    <a:pt x="991" y="561"/>
                    <a:pt x="991" y="577"/>
                  </a:cubicBezTo>
                  <a:close/>
                  <a:moveTo>
                    <a:pt x="972" y="652"/>
                  </a:moveTo>
                  <a:cubicBezTo>
                    <a:pt x="972" y="667"/>
                    <a:pt x="959" y="680"/>
                    <a:pt x="944" y="680"/>
                  </a:cubicBezTo>
                  <a:cubicBezTo>
                    <a:pt x="928" y="680"/>
                    <a:pt x="916" y="667"/>
                    <a:pt x="916" y="652"/>
                  </a:cubicBezTo>
                  <a:cubicBezTo>
                    <a:pt x="916" y="636"/>
                    <a:pt x="928" y="624"/>
                    <a:pt x="944" y="624"/>
                  </a:cubicBezTo>
                  <a:cubicBezTo>
                    <a:pt x="959" y="624"/>
                    <a:pt x="972" y="636"/>
                    <a:pt x="972" y="652"/>
                  </a:cubicBezTo>
                  <a:close/>
                  <a:moveTo>
                    <a:pt x="941" y="723"/>
                  </a:moveTo>
                  <a:cubicBezTo>
                    <a:pt x="941" y="738"/>
                    <a:pt x="928" y="751"/>
                    <a:pt x="913" y="751"/>
                  </a:cubicBezTo>
                  <a:cubicBezTo>
                    <a:pt x="897" y="751"/>
                    <a:pt x="885" y="738"/>
                    <a:pt x="885" y="723"/>
                  </a:cubicBezTo>
                  <a:cubicBezTo>
                    <a:pt x="885" y="707"/>
                    <a:pt x="897" y="695"/>
                    <a:pt x="913" y="695"/>
                  </a:cubicBezTo>
                  <a:cubicBezTo>
                    <a:pt x="928" y="695"/>
                    <a:pt x="941" y="707"/>
                    <a:pt x="941" y="723"/>
                  </a:cubicBezTo>
                  <a:close/>
                  <a:moveTo>
                    <a:pt x="898" y="788"/>
                  </a:moveTo>
                  <a:cubicBezTo>
                    <a:pt x="898" y="803"/>
                    <a:pt x="885" y="816"/>
                    <a:pt x="870" y="816"/>
                  </a:cubicBezTo>
                  <a:cubicBezTo>
                    <a:pt x="854" y="816"/>
                    <a:pt x="842" y="803"/>
                    <a:pt x="842" y="788"/>
                  </a:cubicBezTo>
                  <a:cubicBezTo>
                    <a:pt x="842" y="772"/>
                    <a:pt x="854" y="760"/>
                    <a:pt x="870" y="760"/>
                  </a:cubicBezTo>
                  <a:cubicBezTo>
                    <a:pt x="885" y="760"/>
                    <a:pt x="898" y="772"/>
                    <a:pt x="898" y="788"/>
                  </a:cubicBezTo>
                  <a:close/>
                  <a:moveTo>
                    <a:pt x="846" y="845"/>
                  </a:moveTo>
                  <a:cubicBezTo>
                    <a:pt x="846" y="860"/>
                    <a:pt x="833" y="873"/>
                    <a:pt x="818" y="873"/>
                  </a:cubicBezTo>
                  <a:cubicBezTo>
                    <a:pt x="802" y="873"/>
                    <a:pt x="790" y="860"/>
                    <a:pt x="790" y="845"/>
                  </a:cubicBezTo>
                  <a:cubicBezTo>
                    <a:pt x="790" y="829"/>
                    <a:pt x="802" y="817"/>
                    <a:pt x="818" y="817"/>
                  </a:cubicBezTo>
                  <a:cubicBezTo>
                    <a:pt x="833" y="817"/>
                    <a:pt x="846" y="829"/>
                    <a:pt x="846" y="845"/>
                  </a:cubicBezTo>
                  <a:close/>
                  <a:moveTo>
                    <a:pt x="785" y="893"/>
                  </a:moveTo>
                  <a:cubicBezTo>
                    <a:pt x="785" y="908"/>
                    <a:pt x="772" y="921"/>
                    <a:pt x="757" y="921"/>
                  </a:cubicBezTo>
                  <a:cubicBezTo>
                    <a:pt x="741" y="921"/>
                    <a:pt x="729" y="908"/>
                    <a:pt x="729" y="893"/>
                  </a:cubicBezTo>
                  <a:cubicBezTo>
                    <a:pt x="729" y="877"/>
                    <a:pt x="741" y="865"/>
                    <a:pt x="757" y="865"/>
                  </a:cubicBezTo>
                  <a:cubicBezTo>
                    <a:pt x="772" y="865"/>
                    <a:pt x="785" y="877"/>
                    <a:pt x="785" y="893"/>
                  </a:cubicBezTo>
                  <a:close/>
                  <a:moveTo>
                    <a:pt x="716" y="930"/>
                  </a:moveTo>
                  <a:cubicBezTo>
                    <a:pt x="716" y="945"/>
                    <a:pt x="703" y="958"/>
                    <a:pt x="688" y="958"/>
                  </a:cubicBezTo>
                  <a:cubicBezTo>
                    <a:pt x="672" y="958"/>
                    <a:pt x="660" y="945"/>
                    <a:pt x="660" y="930"/>
                  </a:cubicBezTo>
                  <a:cubicBezTo>
                    <a:pt x="660" y="914"/>
                    <a:pt x="672" y="902"/>
                    <a:pt x="688" y="902"/>
                  </a:cubicBezTo>
                  <a:cubicBezTo>
                    <a:pt x="703" y="902"/>
                    <a:pt x="716" y="914"/>
                    <a:pt x="716" y="930"/>
                  </a:cubicBezTo>
                  <a:close/>
                  <a:moveTo>
                    <a:pt x="643" y="955"/>
                  </a:moveTo>
                  <a:cubicBezTo>
                    <a:pt x="643" y="970"/>
                    <a:pt x="630" y="983"/>
                    <a:pt x="615" y="983"/>
                  </a:cubicBezTo>
                  <a:cubicBezTo>
                    <a:pt x="599" y="983"/>
                    <a:pt x="587" y="970"/>
                    <a:pt x="587" y="955"/>
                  </a:cubicBezTo>
                  <a:cubicBezTo>
                    <a:pt x="587" y="939"/>
                    <a:pt x="599" y="927"/>
                    <a:pt x="615" y="927"/>
                  </a:cubicBezTo>
                  <a:cubicBezTo>
                    <a:pt x="630" y="927"/>
                    <a:pt x="643" y="939"/>
                    <a:pt x="643" y="955"/>
                  </a:cubicBezTo>
                  <a:close/>
                  <a:moveTo>
                    <a:pt x="566" y="968"/>
                  </a:moveTo>
                  <a:cubicBezTo>
                    <a:pt x="566" y="983"/>
                    <a:pt x="553" y="996"/>
                    <a:pt x="538" y="996"/>
                  </a:cubicBezTo>
                  <a:cubicBezTo>
                    <a:pt x="522" y="996"/>
                    <a:pt x="510" y="983"/>
                    <a:pt x="510" y="968"/>
                  </a:cubicBezTo>
                  <a:cubicBezTo>
                    <a:pt x="510" y="952"/>
                    <a:pt x="522" y="940"/>
                    <a:pt x="538" y="940"/>
                  </a:cubicBezTo>
                  <a:cubicBezTo>
                    <a:pt x="553" y="940"/>
                    <a:pt x="566" y="952"/>
                    <a:pt x="566" y="968"/>
                  </a:cubicBezTo>
                  <a:close/>
                  <a:moveTo>
                    <a:pt x="489" y="968"/>
                  </a:moveTo>
                  <a:cubicBezTo>
                    <a:pt x="489" y="983"/>
                    <a:pt x="476" y="996"/>
                    <a:pt x="461" y="996"/>
                  </a:cubicBezTo>
                  <a:cubicBezTo>
                    <a:pt x="445" y="996"/>
                    <a:pt x="433" y="983"/>
                    <a:pt x="433" y="968"/>
                  </a:cubicBezTo>
                  <a:cubicBezTo>
                    <a:pt x="433" y="952"/>
                    <a:pt x="445" y="940"/>
                    <a:pt x="461" y="940"/>
                  </a:cubicBezTo>
                  <a:cubicBezTo>
                    <a:pt x="476" y="940"/>
                    <a:pt x="489" y="952"/>
                    <a:pt x="489" y="968"/>
                  </a:cubicBezTo>
                  <a:close/>
                  <a:moveTo>
                    <a:pt x="412" y="955"/>
                  </a:moveTo>
                  <a:cubicBezTo>
                    <a:pt x="412" y="970"/>
                    <a:pt x="399" y="983"/>
                    <a:pt x="384" y="983"/>
                  </a:cubicBezTo>
                  <a:cubicBezTo>
                    <a:pt x="368" y="983"/>
                    <a:pt x="356" y="970"/>
                    <a:pt x="356" y="955"/>
                  </a:cubicBezTo>
                  <a:cubicBezTo>
                    <a:pt x="356" y="939"/>
                    <a:pt x="368" y="927"/>
                    <a:pt x="384" y="927"/>
                  </a:cubicBezTo>
                  <a:cubicBezTo>
                    <a:pt x="399" y="927"/>
                    <a:pt x="412" y="939"/>
                    <a:pt x="412" y="955"/>
                  </a:cubicBezTo>
                  <a:close/>
                  <a:moveTo>
                    <a:pt x="339" y="930"/>
                  </a:moveTo>
                  <a:cubicBezTo>
                    <a:pt x="339" y="945"/>
                    <a:pt x="326" y="958"/>
                    <a:pt x="311" y="958"/>
                  </a:cubicBezTo>
                  <a:cubicBezTo>
                    <a:pt x="295" y="958"/>
                    <a:pt x="283" y="945"/>
                    <a:pt x="283" y="930"/>
                  </a:cubicBezTo>
                  <a:cubicBezTo>
                    <a:pt x="283" y="914"/>
                    <a:pt x="295" y="902"/>
                    <a:pt x="311" y="902"/>
                  </a:cubicBezTo>
                  <a:cubicBezTo>
                    <a:pt x="326" y="902"/>
                    <a:pt x="339" y="914"/>
                    <a:pt x="339" y="930"/>
                  </a:cubicBezTo>
                  <a:close/>
                  <a:moveTo>
                    <a:pt x="270" y="893"/>
                  </a:moveTo>
                  <a:cubicBezTo>
                    <a:pt x="270" y="908"/>
                    <a:pt x="257" y="921"/>
                    <a:pt x="242" y="921"/>
                  </a:cubicBezTo>
                  <a:cubicBezTo>
                    <a:pt x="226" y="921"/>
                    <a:pt x="214" y="908"/>
                    <a:pt x="214" y="893"/>
                  </a:cubicBezTo>
                  <a:cubicBezTo>
                    <a:pt x="214" y="877"/>
                    <a:pt x="226" y="865"/>
                    <a:pt x="242" y="865"/>
                  </a:cubicBezTo>
                  <a:cubicBezTo>
                    <a:pt x="257" y="865"/>
                    <a:pt x="270" y="877"/>
                    <a:pt x="270" y="893"/>
                  </a:cubicBezTo>
                  <a:close/>
                  <a:moveTo>
                    <a:pt x="209" y="845"/>
                  </a:moveTo>
                  <a:cubicBezTo>
                    <a:pt x="209" y="860"/>
                    <a:pt x="196" y="873"/>
                    <a:pt x="181" y="873"/>
                  </a:cubicBezTo>
                  <a:cubicBezTo>
                    <a:pt x="165" y="873"/>
                    <a:pt x="153" y="860"/>
                    <a:pt x="153" y="845"/>
                  </a:cubicBezTo>
                  <a:cubicBezTo>
                    <a:pt x="153" y="829"/>
                    <a:pt x="165" y="817"/>
                    <a:pt x="181" y="817"/>
                  </a:cubicBezTo>
                  <a:cubicBezTo>
                    <a:pt x="196" y="817"/>
                    <a:pt x="209" y="829"/>
                    <a:pt x="209" y="845"/>
                  </a:cubicBezTo>
                  <a:close/>
                  <a:moveTo>
                    <a:pt x="157" y="788"/>
                  </a:moveTo>
                  <a:cubicBezTo>
                    <a:pt x="157" y="803"/>
                    <a:pt x="144" y="816"/>
                    <a:pt x="129" y="816"/>
                  </a:cubicBezTo>
                  <a:cubicBezTo>
                    <a:pt x="113" y="816"/>
                    <a:pt x="101" y="803"/>
                    <a:pt x="101" y="788"/>
                  </a:cubicBezTo>
                  <a:cubicBezTo>
                    <a:pt x="101" y="772"/>
                    <a:pt x="113" y="760"/>
                    <a:pt x="129" y="760"/>
                  </a:cubicBezTo>
                  <a:cubicBezTo>
                    <a:pt x="144" y="760"/>
                    <a:pt x="157" y="772"/>
                    <a:pt x="157" y="788"/>
                  </a:cubicBezTo>
                  <a:close/>
                  <a:moveTo>
                    <a:pt x="114" y="723"/>
                  </a:moveTo>
                  <a:cubicBezTo>
                    <a:pt x="114" y="738"/>
                    <a:pt x="101" y="751"/>
                    <a:pt x="86" y="751"/>
                  </a:cubicBezTo>
                  <a:cubicBezTo>
                    <a:pt x="70" y="751"/>
                    <a:pt x="58" y="738"/>
                    <a:pt x="58" y="723"/>
                  </a:cubicBezTo>
                  <a:cubicBezTo>
                    <a:pt x="58" y="707"/>
                    <a:pt x="70" y="695"/>
                    <a:pt x="86" y="695"/>
                  </a:cubicBezTo>
                  <a:cubicBezTo>
                    <a:pt x="101" y="695"/>
                    <a:pt x="114" y="707"/>
                    <a:pt x="114" y="723"/>
                  </a:cubicBezTo>
                  <a:close/>
                  <a:moveTo>
                    <a:pt x="83" y="652"/>
                  </a:moveTo>
                  <a:cubicBezTo>
                    <a:pt x="83" y="667"/>
                    <a:pt x="70" y="680"/>
                    <a:pt x="55" y="680"/>
                  </a:cubicBezTo>
                  <a:cubicBezTo>
                    <a:pt x="39" y="680"/>
                    <a:pt x="27" y="667"/>
                    <a:pt x="27" y="652"/>
                  </a:cubicBezTo>
                  <a:cubicBezTo>
                    <a:pt x="27" y="636"/>
                    <a:pt x="39" y="624"/>
                    <a:pt x="55" y="624"/>
                  </a:cubicBezTo>
                  <a:cubicBezTo>
                    <a:pt x="70" y="624"/>
                    <a:pt x="83" y="636"/>
                    <a:pt x="83" y="652"/>
                  </a:cubicBezTo>
                  <a:close/>
                  <a:moveTo>
                    <a:pt x="64" y="577"/>
                  </a:moveTo>
                  <a:cubicBezTo>
                    <a:pt x="64" y="592"/>
                    <a:pt x="51" y="605"/>
                    <a:pt x="36" y="605"/>
                  </a:cubicBezTo>
                  <a:cubicBezTo>
                    <a:pt x="20" y="605"/>
                    <a:pt x="8" y="592"/>
                    <a:pt x="8" y="577"/>
                  </a:cubicBezTo>
                  <a:cubicBezTo>
                    <a:pt x="8" y="561"/>
                    <a:pt x="20" y="549"/>
                    <a:pt x="36" y="549"/>
                  </a:cubicBezTo>
                  <a:cubicBezTo>
                    <a:pt x="51" y="549"/>
                    <a:pt x="64" y="561"/>
                    <a:pt x="64" y="577"/>
                  </a:cubicBezTo>
                  <a:close/>
                  <a:moveTo>
                    <a:pt x="58" y="500"/>
                  </a:moveTo>
                  <a:cubicBezTo>
                    <a:pt x="58" y="515"/>
                    <a:pt x="45" y="528"/>
                    <a:pt x="30" y="528"/>
                  </a:cubicBezTo>
                  <a:cubicBezTo>
                    <a:pt x="14" y="528"/>
                    <a:pt x="2" y="515"/>
                    <a:pt x="2" y="500"/>
                  </a:cubicBezTo>
                  <a:cubicBezTo>
                    <a:pt x="2" y="484"/>
                    <a:pt x="14" y="472"/>
                    <a:pt x="30" y="472"/>
                  </a:cubicBezTo>
                  <a:cubicBezTo>
                    <a:pt x="45" y="472"/>
                    <a:pt x="58" y="484"/>
                    <a:pt x="58" y="500"/>
                  </a:cubicBezTo>
                  <a:close/>
                  <a:moveTo>
                    <a:pt x="64" y="422"/>
                  </a:moveTo>
                  <a:cubicBezTo>
                    <a:pt x="64" y="437"/>
                    <a:pt x="51" y="450"/>
                    <a:pt x="36" y="450"/>
                  </a:cubicBezTo>
                  <a:cubicBezTo>
                    <a:pt x="20" y="450"/>
                    <a:pt x="8" y="437"/>
                    <a:pt x="8" y="422"/>
                  </a:cubicBezTo>
                  <a:cubicBezTo>
                    <a:pt x="8" y="406"/>
                    <a:pt x="20" y="394"/>
                    <a:pt x="36" y="394"/>
                  </a:cubicBezTo>
                  <a:cubicBezTo>
                    <a:pt x="51" y="394"/>
                    <a:pt x="64" y="406"/>
                    <a:pt x="64" y="422"/>
                  </a:cubicBezTo>
                  <a:close/>
                  <a:moveTo>
                    <a:pt x="83" y="347"/>
                  </a:moveTo>
                  <a:cubicBezTo>
                    <a:pt x="83" y="362"/>
                    <a:pt x="70" y="375"/>
                    <a:pt x="55" y="375"/>
                  </a:cubicBezTo>
                  <a:cubicBezTo>
                    <a:pt x="39" y="375"/>
                    <a:pt x="27" y="362"/>
                    <a:pt x="27" y="347"/>
                  </a:cubicBezTo>
                  <a:cubicBezTo>
                    <a:pt x="27" y="331"/>
                    <a:pt x="39" y="319"/>
                    <a:pt x="55" y="319"/>
                  </a:cubicBezTo>
                  <a:cubicBezTo>
                    <a:pt x="70" y="319"/>
                    <a:pt x="83" y="331"/>
                    <a:pt x="83" y="347"/>
                  </a:cubicBezTo>
                  <a:close/>
                  <a:moveTo>
                    <a:pt x="114" y="276"/>
                  </a:moveTo>
                  <a:cubicBezTo>
                    <a:pt x="114" y="291"/>
                    <a:pt x="101" y="304"/>
                    <a:pt x="86" y="304"/>
                  </a:cubicBezTo>
                  <a:cubicBezTo>
                    <a:pt x="70" y="304"/>
                    <a:pt x="58" y="291"/>
                    <a:pt x="58" y="276"/>
                  </a:cubicBezTo>
                  <a:cubicBezTo>
                    <a:pt x="58" y="260"/>
                    <a:pt x="70" y="248"/>
                    <a:pt x="86" y="248"/>
                  </a:cubicBezTo>
                  <a:cubicBezTo>
                    <a:pt x="101" y="248"/>
                    <a:pt x="114" y="260"/>
                    <a:pt x="114" y="276"/>
                  </a:cubicBezTo>
                  <a:close/>
                  <a:moveTo>
                    <a:pt x="157" y="211"/>
                  </a:moveTo>
                  <a:cubicBezTo>
                    <a:pt x="157" y="226"/>
                    <a:pt x="144" y="239"/>
                    <a:pt x="129" y="239"/>
                  </a:cubicBezTo>
                  <a:cubicBezTo>
                    <a:pt x="113" y="239"/>
                    <a:pt x="101" y="226"/>
                    <a:pt x="101" y="211"/>
                  </a:cubicBezTo>
                  <a:cubicBezTo>
                    <a:pt x="101" y="195"/>
                    <a:pt x="113" y="183"/>
                    <a:pt x="129" y="183"/>
                  </a:cubicBezTo>
                  <a:cubicBezTo>
                    <a:pt x="144" y="183"/>
                    <a:pt x="157" y="195"/>
                    <a:pt x="157" y="211"/>
                  </a:cubicBezTo>
                  <a:close/>
                  <a:moveTo>
                    <a:pt x="209" y="154"/>
                  </a:moveTo>
                  <a:cubicBezTo>
                    <a:pt x="209" y="169"/>
                    <a:pt x="196" y="182"/>
                    <a:pt x="181" y="182"/>
                  </a:cubicBezTo>
                  <a:cubicBezTo>
                    <a:pt x="165" y="182"/>
                    <a:pt x="153" y="169"/>
                    <a:pt x="153" y="154"/>
                  </a:cubicBezTo>
                  <a:cubicBezTo>
                    <a:pt x="153" y="138"/>
                    <a:pt x="165" y="126"/>
                    <a:pt x="181" y="126"/>
                  </a:cubicBezTo>
                  <a:cubicBezTo>
                    <a:pt x="196" y="126"/>
                    <a:pt x="209" y="138"/>
                    <a:pt x="209" y="154"/>
                  </a:cubicBezTo>
                  <a:close/>
                  <a:moveTo>
                    <a:pt x="270" y="106"/>
                  </a:moveTo>
                  <a:cubicBezTo>
                    <a:pt x="270" y="121"/>
                    <a:pt x="257" y="134"/>
                    <a:pt x="242" y="134"/>
                  </a:cubicBezTo>
                  <a:cubicBezTo>
                    <a:pt x="226" y="134"/>
                    <a:pt x="214" y="121"/>
                    <a:pt x="214" y="106"/>
                  </a:cubicBezTo>
                  <a:cubicBezTo>
                    <a:pt x="214" y="90"/>
                    <a:pt x="226" y="78"/>
                    <a:pt x="242" y="78"/>
                  </a:cubicBezTo>
                  <a:cubicBezTo>
                    <a:pt x="257" y="78"/>
                    <a:pt x="270" y="90"/>
                    <a:pt x="270" y="106"/>
                  </a:cubicBezTo>
                  <a:close/>
                  <a:moveTo>
                    <a:pt x="339" y="69"/>
                  </a:moveTo>
                  <a:cubicBezTo>
                    <a:pt x="339" y="84"/>
                    <a:pt x="326" y="97"/>
                    <a:pt x="311" y="97"/>
                  </a:cubicBezTo>
                  <a:cubicBezTo>
                    <a:pt x="295" y="97"/>
                    <a:pt x="283" y="84"/>
                    <a:pt x="283" y="69"/>
                  </a:cubicBezTo>
                  <a:cubicBezTo>
                    <a:pt x="283" y="53"/>
                    <a:pt x="295" y="41"/>
                    <a:pt x="311" y="41"/>
                  </a:cubicBezTo>
                  <a:cubicBezTo>
                    <a:pt x="326" y="41"/>
                    <a:pt x="339" y="53"/>
                    <a:pt x="339" y="69"/>
                  </a:cubicBezTo>
                  <a:close/>
                  <a:moveTo>
                    <a:pt x="412" y="44"/>
                  </a:moveTo>
                  <a:cubicBezTo>
                    <a:pt x="412" y="59"/>
                    <a:pt x="399" y="72"/>
                    <a:pt x="384" y="72"/>
                  </a:cubicBezTo>
                  <a:cubicBezTo>
                    <a:pt x="368" y="72"/>
                    <a:pt x="356" y="59"/>
                    <a:pt x="356" y="44"/>
                  </a:cubicBezTo>
                  <a:cubicBezTo>
                    <a:pt x="356" y="28"/>
                    <a:pt x="368" y="16"/>
                    <a:pt x="384" y="16"/>
                  </a:cubicBezTo>
                  <a:cubicBezTo>
                    <a:pt x="399" y="16"/>
                    <a:pt x="412" y="28"/>
                    <a:pt x="412" y="44"/>
                  </a:cubicBezTo>
                  <a:close/>
                  <a:moveTo>
                    <a:pt x="489" y="31"/>
                  </a:moveTo>
                  <a:cubicBezTo>
                    <a:pt x="489" y="46"/>
                    <a:pt x="476" y="59"/>
                    <a:pt x="461" y="59"/>
                  </a:cubicBezTo>
                  <a:cubicBezTo>
                    <a:pt x="445" y="59"/>
                    <a:pt x="433" y="46"/>
                    <a:pt x="433" y="31"/>
                  </a:cubicBezTo>
                  <a:cubicBezTo>
                    <a:pt x="433" y="15"/>
                    <a:pt x="445" y="3"/>
                    <a:pt x="461" y="3"/>
                  </a:cubicBezTo>
                  <a:cubicBezTo>
                    <a:pt x="476" y="3"/>
                    <a:pt x="489" y="15"/>
                    <a:pt x="489" y="31"/>
                  </a:cubicBezTo>
                  <a:close/>
                  <a:moveTo>
                    <a:pt x="566" y="31"/>
                  </a:moveTo>
                  <a:cubicBezTo>
                    <a:pt x="566" y="46"/>
                    <a:pt x="553" y="59"/>
                    <a:pt x="538" y="59"/>
                  </a:cubicBezTo>
                  <a:cubicBezTo>
                    <a:pt x="522" y="59"/>
                    <a:pt x="510" y="46"/>
                    <a:pt x="510" y="31"/>
                  </a:cubicBezTo>
                  <a:cubicBezTo>
                    <a:pt x="510" y="15"/>
                    <a:pt x="522" y="3"/>
                    <a:pt x="538" y="3"/>
                  </a:cubicBezTo>
                  <a:cubicBezTo>
                    <a:pt x="553" y="3"/>
                    <a:pt x="566" y="15"/>
                    <a:pt x="566" y="31"/>
                  </a:cubicBezTo>
                  <a:close/>
                  <a:moveTo>
                    <a:pt x="643" y="44"/>
                  </a:moveTo>
                  <a:cubicBezTo>
                    <a:pt x="643" y="59"/>
                    <a:pt x="630" y="72"/>
                    <a:pt x="615" y="72"/>
                  </a:cubicBezTo>
                  <a:cubicBezTo>
                    <a:pt x="599" y="72"/>
                    <a:pt x="587" y="59"/>
                    <a:pt x="587" y="44"/>
                  </a:cubicBezTo>
                  <a:cubicBezTo>
                    <a:pt x="587" y="28"/>
                    <a:pt x="599" y="16"/>
                    <a:pt x="615" y="16"/>
                  </a:cubicBezTo>
                  <a:cubicBezTo>
                    <a:pt x="630" y="16"/>
                    <a:pt x="643" y="28"/>
                    <a:pt x="643" y="44"/>
                  </a:cubicBezTo>
                  <a:close/>
                  <a:moveTo>
                    <a:pt x="716" y="69"/>
                  </a:moveTo>
                  <a:cubicBezTo>
                    <a:pt x="716" y="84"/>
                    <a:pt x="703" y="97"/>
                    <a:pt x="688" y="97"/>
                  </a:cubicBezTo>
                  <a:cubicBezTo>
                    <a:pt x="672" y="97"/>
                    <a:pt x="660" y="84"/>
                    <a:pt x="660" y="69"/>
                  </a:cubicBezTo>
                  <a:cubicBezTo>
                    <a:pt x="660" y="53"/>
                    <a:pt x="672" y="41"/>
                    <a:pt x="688" y="41"/>
                  </a:cubicBezTo>
                  <a:cubicBezTo>
                    <a:pt x="703" y="41"/>
                    <a:pt x="716" y="53"/>
                    <a:pt x="716" y="69"/>
                  </a:cubicBezTo>
                  <a:close/>
                  <a:moveTo>
                    <a:pt x="785" y="106"/>
                  </a:moveTo>
                  <a:cubicBezTo>
                    <a:pt x="785" y="121"/>
                    <a:pt x="772" y="134"/>
                    <a:pt x="757" y="134"/>
                  </a:cubicBezTo>
                  <a:cubicBezTo>
                    <a:pt x="741" y="134"/>
                    <a:pt x="729" y="121"/>
                    <a:pt x="729" y="106"/>
                  </a:cubicBezTo>
                  <a:cubicBezTo>
                    <a:pt x="729" y="90"/>
                    <a:pt x="741" y="78"/>
                    <a:pt x="757" y="78"/>
                  </a:cubicBezTo>
                  <a:cubicBezTo>
                    <a:pt x="772" y="78"/>
                    <a:pt x="785" y="90"/>
                    <a:pt x="785" y="106"/>
                  </a:cubicBezTo>
                  <a:close/>
                  <a:moveTo>
                    <a:pt x="846" y="154"/>
                  </a:moveTo>
                  <a:cubicBezTo>
                    <a:pt x="846" y="169"/>
                    <a:pt x="833" y="182"/>
                    <a:pt x="818" y="182"/>
                  </a:cubicBezTo>
                  <a:cubicBezTo>
                    <a:pt x="802" y="182"/>
                    <a:pt x="790" y="169"/>
                    <a:pt x="790" y="154"/>
                  </a:cubicBezTo>
                  <a:cubicBezTo>
                    <a:pt x="790" y="138"/>
                    <a:pt x="802" y="126"/>
                    <a:pt x="818" y="126"/>
                  </a:cubicBezTo>
                  <a:cubicBezTo>
                    <a:pt x="833" y="126"/>
                    <a:pt x="846" y="138"/>
                    <a:pt x="846" y="154"/>
                  </a:cubicBezTo>
                  <a:close/>
                  <a:moveTo>
                    <a:pt x="898" y="211"/>
                  </a:moveTo>
                  <a:cubicBezTo>
                    <a:pt x="898" y="226"/>
                    <a:pt x="885" y="239"/>
                    <a:pt x="870" y="239"/>
                  </a:cubicBezTo>
                  <a:cubicBezTo>
                    <a:pt x="854" y="239"/>
                    <a:pt x="842" y="226"/>
                    <a:pt x="842" y="211"/>
                  </a:cubicBezTo>
                  <a:cubicBezTo>
                    <a:pt x="842" y="195"/>
                    <a:pt x="854" y="183"/>
                    <a:pt x="870" y="183"/>
                  </a:cubicBezTo>
                  <a:cubicBezTo>
                    <a:pt x="885" y="183"/>
                    <a:pt x="898" y="195"/>
                    <a:pt x="898" y="211"/>
                  </a:cubicBezTo>
                  <a:close/>
                  <a:moveTo>
                    <a:pt x="941" y="276"/>
                  </a:moveTo>
                  <a:cubicBezTo>
                    <a:pt x="941" y="291"/>
                    <a:pt x="928" y="304"/>
                    <a:pt x="913" y="304"/>
                  </a:cubicBezTo>
                  <a:cubicBezTo>
                    <a:pt x="897" y="304"/>
                    <a:pt x="885" y="291"/>
                    <a:pt x="885" y="276"/>
                  </a:cubicBezTo>
                  <a:cubicBezTo>
                    <a:pt x="885" y="260"/>
                    <a:pt x="897" y="248"/>
                    <a:pt x="913" y="248"/>
                  </a:cubicBezTo>
                  <a:cubicBezTo>
                    <a:pt x="928" y="248"/>
                    <a:pt x="941" y="260"/>
                    <a:pt x="941" y="276"/>
                  </a:cubicBezTo>
                  <a:close/>
                  <a:moveTo>
                    <a:pt x="972" y="347"/>
                  </a:moveTo>
                  <a:cubicBezTo>
                    <a:pt x="972" y="362"/>
                    <a:pt x="959" y="375"/>
                    <a:pt x="944" y="375"/>
                  </a:cubicBezTo>
                  <a:cubicBezTo>
                    <a:pt x="928" y="375"/>
                    <a:pt x="916" y="362"/>
                    <a:pt x="916" y="347"/>
                  </a:cubicBezTo>
                  <a:cubicBezTo>
                    <a:pt x="916" y="331"/>
                    <a:pt x="928" y="319"/>
                    <a:pt x="944" y="319"/>
                  </a:cubicBezTo>
                  <a:cubicBezTo>
                    <a:pt x="959" y="319"/>
                    <a:pt x="972" y="331"/>
                    <a:pt x="972" y="347"/>
                  </a:cubicBezTo>
                  <a:close/>
                  <a:moveTo>
                    <a:pt x="991" y="422"/>
                  </a:moveTo>
                  <a:cubicBezTo>
                    <a:pt x="991" y="437"/>
                    <a:pt x="978" y="450"/>
                    <a:pt x="963" y="450"/>
                  </a:cubicBezTo>
                  <a:cubicBezTo>
                    <a:pt x="947" y="450"/>
                    <a:pt x="935" y="437"/>
                    <a:pt x="935" y="422"/>
                  </a:cubicBezTo>
                  <a:cubicBezTo>
                    <a:pt x="935" y="406"/>
                    <a:pt x="947" y="394"/>
                    <a:pt x="963" y="394"/>
                  </a:cubicBezTo>
                  <a:cubicBezTo>
                    <a:pt x="978" y="394"/>
                    <a:pt x="991" y="406"/>
                    <a:pt x="991" y="42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922B21"/>
              </a:solidFill>
              <a:round/>
            </a:ln>
          </p:spPr>
        </p:sp>
        <p:sp>
          <p:nvSpPr>
            <p:cNvPr id="24" name="Forma 23"/>
            <p:cNvSpPr txBox="1"/>
            <p:nvPr/>
          </p:nvSpPr>
          <p:spPr>
            <a:xfrm>
              <a:off x="2103120" y="1421892"/>
              <a:ext cx="777240" cy="310896"/>
            </a:xfrm>
            <a:prstGeom prst="rect">
              <a:avLst/>
            </a:prstGeom>
            <a:noFill/>
            <a:ln>
              <a:noFill/>
            </a:ln>
          </p:spPr>
          <p:txBody>
            <a:bodyPr wrap="square" lIns="0" tIns="0" rIns="0" bIns="0" anchor="ctr" rtlCol="0">
              <a:noAutofit/>
            </a:bodyPr>
            <a:lstStyle/>
            <a:p>
              <a:pPr algn="ctr">
                <a:spcAft>
                  <a:spcPts val="300"/>
                </a:spcAft>
                <a:buNone/>
              </a:pPr>
              <a:r>
                <a:rPr lang="es-AR" sz="1360" b="1" dirty="0">
                  <a:solidFill>
                    <a:srgbClr val="1E1E1E"/>
                  </a:solidFill>
                  <a:latin typeface="Fira Sans Condensed"/>
                  <a:ea typeface="Fira Sans Condensed"/>
                  <a:cs typeface="Fira Sans Condensed"/>
                  <a:sym typeface="Fira Sans Condensed"/>
                </a:rPr>
                <a:t>QM</a:t>
              </a:r>
              <a:endParaRPr lang="es-AR" sz="1360" dirty="0">
                <a:latin typeface="Fira Sans Condensed"/>
              </a:endParaRPr>
            </a:p>
          </p:txBody>
        </p:sp>
      </p:grpSp>
      <p:grpSp>
        <p:nvGrpSpPr>
          <p:cNvPr id="25" name="VLDL"/>
          <p:cNvGrpSpPr/>
          <p:nvPr/>
        </p:nvGrpSpPr>
        <p:grpSpPr>
          <a:xfrm>
            <a:off x="3840480" y="1234440"/>
            <a:ext cx="685800" cy="685800"/>
            <a:chOff x="3840480" y="1234440"/>
            <a:chExt cx="685800" cy="685800"/>
          </a:xfrm>
        </p:grpSpPr>
        <p:sp>
          <p:nvSpPr>
            <p:cNvPr id="26" name="Forma 25"/>
            <p:cNvSpPr/>
            <p:nvPr/>
          </p:nvSpPr>
          <p:spPr>
            <a:xfrm>
              <a:off x="3840480" y="1234440"/>
              <a:ext cx="685800" cy="685800"/>
            </a:xfrm>
            <a:prstGeom prst="ellipse">
              <a:avLst/>
            </a:prstGeom>
            <a:gradFill rotWithShape="1">
              <a:gsLst>
                <a:gs pos="0">
                  <a:srgbClr val="FBEADB"/>
                </a:gs>
                <a:gs pos="70000">
                  <a:srgbClr val="F5CBA7"/>
                </a:gs>
                <a:gs pos="100000">
                  <a:srgbClr val="C4A285"/>
                </a:gs>
              </a:gsLst>
              <a:path path="circle">
                <a:fillToRect l="40000" t="35000" r="60000" b="65000"/>
              </a:path>
            </a:gradFill>
            <a:ln w="12700" cap="rnd">
              <a:solidFill>
                <a:srgbClr val="8C6D1F"/>
              </a:solidFill>
              <a:round/>
            </a:ln>
            <a:effectLst>
              <a:outerShdw blurRad="101600" dist="50800" dir="2700000" algn="tl" rotWithShape="0">
                <a:srgbClr val="000000">
                  <a:alpha val="30000"/>
                </a:srgbClr>
              </a:outerShdw>
            </a:effectLst>
          </p:spPr>
        </p:sp>
        <p:sp>
          <p:nvSpPr>
            <p:cNvPr id="27" name="Forma 26"/>
            <p:cNvSpPr/>
            <p:nvPr/>
          </p:nvSpPr>
          <p:spPr>
            <a:xfrm>
              <a:off x="3840480" y="1234440"/>
              <a:ext cx="685800" cy="685800"/>
            </a:xfrm>
            <a:custGeom>
              <a:avLst/>
              <a:gdLst/>
              <a:ahLst/>
              <a:cxnLst/>
              <a:rect l="0" t="0" r="r" b="b"/>
              <a:pathLst>
                <a:path w="1000" h="1000">
                  <a:moveTo>
                    <a:pt x="998" y="500"/>
                  </a:moveTo>
                  <a:cubicBezTo>
                    <a:pt x="998" y="515"/>
                    <a:pt x="985" y="528"/>
                    <a:pt x="970" y="528"/>
                  </a:cubicBezTo>
                  <a:cubicBezTo>
                    <a:pt x="954" y="528"/>
                    <a:pt x="942" y="515"/>
                    <a:pt x="942" y="500"/>
                  </a:cubicBezTo>
                  <a:cubicBezTo>
                    <a:pt x="942" y="484"/>
                    <a:pt x="954" y="472"/>
                    <a:pt x="970" y="472"/>
                  </a:cubicBezTo>
                  <a:cubicBezTo>
                    <a:pt x="985" y="472"/>
                    <a:pt x="998" y="484"/>
                    <a:pt x="998" y="500"/>
                  </a:cubicBezTo>
                  <a:close/>
                  <a:moveTo>
                    <a:pt x="989" y="588"/>
                  </a:moveTo>
                  <a:cubicBezTo>
                    <a:pt x="989" y="603"/>
                    <a:pt x="976" y="616"/>
                    <a:pt x="961" y="616"/>
                  </a:cubicBezTo>
                  <a:cubicBezTo>
                    <a:pt x="945" y="616"/>
                    <a:pt x="933" y="603"/>
                    <a:pt x="933" y="588"/>
                  </a:cubicBezTo>
                  <a:cubicBezTo>
                    <a:pt x="933" y="572"/>
                    <a:pt x="945" y="560"/>
                    <a:pt x="961" y="560"/>
                  </a:cubicBezTo>
                  <a:cubicBezTo>
                    <a:pt x="976" y="560"/>
                    <a:pt x="989" y="572"/>
                    <a:pt x="989" y="588"/>
                  </a:cubicBezTo>
                  <a:close/>
                  <a:moveTo>
                    <a:pt x="964" y="674"/>
                  </a:moveTo>
                  <a:cubicBezTo>
                    <a:pt x="964" y="689"/>
                    <a:pt x="951" y="702"/>
                    <a:pt x="936" y="702"/>
                  </a:cubicBezTo>
                  <a:cubicBezTo>
                    <a:pt x="920" y="702"/>
                    <a:pt x="908" y="689"/>
                    <a:pt x="908" y="674"/>
                  </a:cubicBezTo>
                  <a:cubicBezTo>
                    <a:pt x="908" y="658"/>
                    <a:pt x="920" y="646"/>
                    <a:pt x="936" y="646"/>
                  </a:cubicBezTo>
                  <a:cubicBezTo>
                    <a:pt x="951" y="646"/>
                    <a:pt x="964" y="658"/>
                    <a:pt x="964" y="674"/>
                  </a:cubicBezTo>
                  <a:close/>
                  <a:moveTo>
                    <a:pt x="923" y="754"/>
                  </a:moveTo>
                  <a:cubicBezTo>
                    <a:pt x="923" y="769"/>
                    <a:pt x="910" y="782"/>
                    <a:pt x="895" y="782"/>
                  </a:cubicBezTo>
                  <a:cubicBezTo>
                    <a:pt x="879" y="782"/>
                    <a:pt x="867" y="769"/>
                    <a:pt x="867" y="754"/>
                  </a:cubicBezTo>
                  <a:cubicBezTo>
                    <a:pt x="867" y="738"/>
                    <a:pt x="879" y="726"/>
                    <a:pt x="895" y="726"/>
                  </a:cubicBezTo>
                  <a:cubicBezTo>
                    <a:pt x="910" y="726"/>
                    <a:pt x="923" y="738"/>
                    <a:pt x="923" y="754"/>
                  </a:cubicBezTo>
                  <a:close/>
                  <a:moveTo>
                    <a:pt x="868" y="824"/>
                  </a:moveTo>
                  <a:cubicBezTo>
                    <a:pt x="868" y="839"/>
                    <a:pt x="855" y="852"/>
                    <a:pt x="840" y="852"/>
                  </a:cubicBezTo>
                  <a:cubicBezTo>
                    <a:pt x="824" y="852"/>
                    <a:pt x="812" y="839"/>
                    <a:pt x="812" y="824"/>
                  </a:cubicBezTo>
                  <a:cubicBezTo>
                    <a:pt x="812" y="808"/>
                    <a:pt x="824" y="796"/>
                    <a:pt x="840" y="796"/>
                  </a:cubicBezTo>
                  <a:cubicBezTo>
                    <a:pt x="855" y="796"/>
                    <a:pt x="868" y="808"/>
                    <a:pt x="868" y="824"/>
                  </a:cubicBezTo>
                  <a:close/>
                  <a:moveTo>
                    <a:pt x="800" y="882"/>
                  </a:moveTo>
                  <a:cubicBezTo>
                    <a:pt x="800" y="897"/>
                    <a:pt x="787" y="910"/>
                    <a:pt x="772" y="910"/>
                  </a:cubicBezTo>
                  <a:cubicBezTo>
                    <a:pt x="756" y="910"/>
                    <a:pt x="744" y="897"/>
                    <a:pt x="744" y="882"/>
                  </a:cubicBezTo>
                  <a:cubicBezTo>
                    <a:pt x="744" y="866"/>
                    <a:pt x="756" y="854"/>
                    <a:pt x="772" y="854"/>
                  </a:cubicBezTo>
                  <a:cubicBezTo>
                    <a:pt x="787" y="854"/>
                    <a:pt x="800" y="866"/>
                    <a:pt x="800" y="882"/>
                  </a:cubicBezTo>
                  <a:close/>
                  <a:moveTo>
                    <a:pt x="723" y="927"/>
                  </a:moveTo>
                  <a:cubicBezTo>
                    <a:pt x="723" y="942"/>
                    <a:pt x="710" y="955"/>
                    <a:pt x="695" y="955"/>
                  </a:cubicBezTo>
                  <a:cubicBezTo>
                    <a:pt x="679" y="955"/>
                    <a:pt x="667" y="942"/>
                    <a:pt x="667" y="927"/>
                  </a:cubicBezTo>
                  <a:cubicBezTo>
                    <a:pt x="667" y="911"/>
                    <a:pt x="679" y="899"/>
                    <a:pt x="695" y="899"/>
                  </a:cubicBezTo>
                  <a:cubicBezTo>
                    <a:pt x="710" y="899"/>
                    <a:pt x="723" y="911"/>
                    <a:pt x="723" y="927"/>
                  </a:cubicBezTo>
                  <a:close/>
                  <a:moveTo>
                    <a:pt x="638" y="956"/>
                  </a:moveTo>
                  <a:cubicBezTo>
                    <a:pt x="638" y="971"/>
                    <a:pt x="625" y="984"/>
                    <a:pt x="610" y="984"/>
                  </a:cubicBezTo>
                  <a:cubicBezTo>
                    <a:pt x="594" y="984"/>
                    <a:pt x="582" y="971"/>
                    <a:pt x="582" y="956"/>
                  </a:cubicBezTo>
                  <a:cubicBezTo>
                    <a:pt x="582" y="940"/>
                    <a:pt x="594" y="928"/>
                    <a:pt x="610" y="928"/>
                  </a:cubicBezTo>
                  <a:cubicBezTo>
                    <a:pt x="625" y="928"/>
                    <a:pt x="638" y="940"/>
                    <a:pt x="638" y="956"/>
                  </a:cubicBezTo>
                  <a:close/>
                  <a:moveTo>
                    <a:pt x="550" y="969"/>
                  </a:moveTo>
                  <a:cubicBezTo>
                    <a:pt x="550" y="984"/>
                    <a:pt x="537" y="997"/>
                    <a:pt x="522" y="997"/>
                  </a:cubicBezTo>
                  <a:cubicBezTo>
                    <a:pt x="506" y="997"/>
                    <a:pt x="494" y="984"/>
                    <a:pt x="494" y="969"/>
                  </a:cubicBezTo>
                  <a:cubicBezTo>
                    <a:pt x="494" y="953"/>
                    <a:pt x="506" y="941"/>
                    <a:pt x="522" y="941"/>
                  </a:cubicBezTo>
                  <a:cubicBezTo>
                    <a:pt x="537" y="941"/>
                    <a:pt x="550" y="953"/>
                    <a:pt x="550" y="969"/>
                  </a:cubicBezTo>
                  <a:close/>
                  <a:moveTo>
                    <a:pt x="461" y="965"/>
                  </a:moveTo>
                  <a:cubicBezTo>
                    <a:pt x="461" y="980"/>
                    <a:pt x="448" y="993"/>
                    <a:pt x="433" y="993"/>
                  </a:cubicBezTo>
                  <a:cubicBezTo>
                    <a:pt x="417" y="993"/>
                    <a:pt x="405" y="980"/>
                    <a:pt x="405" y="965"/>
                  </a:cubicBezTo>
                  <a:cubicBezTo>
                    <a:pt x="405" y="949"/>
                    <a:pt x="417" y="937"/>
                    <a:pt x="433" y="937"/>
                  </a:cubicBezTo>
                  <a:cubicBezTo>
                    <a:pt x="448" y="937"/>
                    <a:pt x="461" y="949"/>
                    <a:pt x="461" y="965"/>
                  </a:cubicBezTo>
                  <a:close/>
                  <a:moveTo>
                    <a:pt x="374" y="944"/>
                  </a:moveTo>
                  <a:cubicBezTo>
                    <a:pt x="374" y="959"/>
                    <a:pt x="361" y="972"/>
                    <a:pt x="346" y="972"/>
                  </a:cubicBezTo>
                  <a:cubicBezTo>
                    <a:pt x="330" y="972"/>
                    <a:pt x="318" y="959"/>
                    <a:pt x="318" y="944"/>
                  </a:cubicBezTo>
                  <a:cubicBezTo>
                    <a:pt x="318" y="928"/>
                    <a:pt x="330" y="916"/>
                    <a:pt x="346" y="916"/>
                  </a:cubicBezTo>
                  <a:cubicBezTo>
                    <a:pt x="361" y="916"/>
                    <a:pt x="374" y="928"/>
                    <a:pt x="374" y="944"/>
                  </a:cubicBezTo>
                  <a:close/>
                  <a:moveTo>
                    <a:pt x="293" y="907"/>
                  </a:moveTo>
                  <a:cubicBezTo>
                    <a:pt x="293" y="922"/>
                    <a:pt x="280" y="935"/>
                    <a:pt x="265" y="935"/>
                  </a:cubicBezTo>
                  <a:cubicBezTo>
                    <a:pt x="249" y="935"/>
                    <a:pt x="237" y="922"/>
                    <a:pt x="237" y="907"/>
                  </a:cubicBezTo>
                  <a:cubicBezTo>
                    <a:pt x="237" y="891"/>
                    <a:pt x="249" y="879"/>
                    <a:pt x="265" y="879"/>
                  </a:cubicBezTo>
                  <a:cubicBezTo>
                    <a:pt x="280" y="879"/>
                    <a:pt x="293" y="891"/>
                    <a:pt x="293" y="907"/>
                  </a:cubicBezTo>
                  <a:close/>
                  <a:moveTo>
                    <a:pt x="220" y="855"/>
                  </a:moveTo>
                  <a:cubicBezTo>
                    <a:pt x="220" y="870"/>
                    <a:pt x="207" y="883"/>
                    <a:pt x="192" y="883"/>
                  </a:cubicBezTo>
                  <a:cubicBezTo>
                    <a:pt x="176" y="883"/>
                    <a:pt x="164" y="870"/>
                    <a:pt x="164" y="855"/>
                  </a:cubicBezTo>
                  <a:cubicBezTo>
                    <a:pt x="164" y="839"/>
                    <a:pt x="176" y="827"/>
                    <a:pt x="192" y="827"/>
                  </a:cubicBezTo>
                  <a:cubicBezTo>
                    <a:pt x="207" y="827"/>
                    <a:pt x="220" y="839"/>
                    <a:pt x="220" y="855"/>
                  </a:cubicBezTo>
                  <a:close/>
                  <a:moveTo>
                    <a:pt x="158" y="790"/>
                  </a:moveTo>
                  <a:cubicBezTo>
                    <a:pt x="158" y="805"/>
                    <a:pt x="145" y="818"/>
                    <a:pt x="130" y="818"/>
                  </a:cubicBezTo>
                  <a:cubicBezTo>
                    <a:pt x="114" y="818"/>
                    <a:pt x="102" y="805"/>
                    <a:pt x="102" y="790"/>
                  </a:cubicBezTo>
                  <a:cubicBezTo>
                    <a:pt x="102" y="774"/>
                    <a:pt x="114" y="762"/>
                    <a:pt x="130" y="762"/>
                  </a:cubicBezTo>
                  <a:cubicBezTo>
                    <a:pt x="145" y="762"/>
                    <a:pt x="158" y="774"/>
                    <a:pt x="158" y="790"/>
                  </a:cubicBezTo>
                  <a:close/>
                  <a:moveTo>
                    <a:pt x="110" y="715"/>
                  </a:moveTo>
                  <a:cubicBezTo>
                    <a:pt x="110" y="730"/>
                    <a:pt x="97" y="743"/>
                    <a:pt x="82" y="743"/>
                  </a:cubicBezTo>
                  <a:cubicBezTo>
                    <a:pt x="66" y="743"/>
                    <a:pt x="54" y="730"/>
                    <a:pt x="54" y="715"/>
                  </a:cubicBezTo>
                  <a:cubicBezTo>
                    <a:pt x="54" y="699"/>
                    <a:pt x="66" y="687"/>
                    <a:pt x="82" y="687"/>
                  </a:cubicBezTo>
                  <a:cubicBezTo>
                    <a:pt x="97" y="687"/>
                    <a:pt x="110" y="699"/>
                    <a:pt x="110" y="715"/>
                  </a:cubicBezTo>
                  <a:close/>
                  <a:moveTo>
                    <a:pt x="77" y="632"/>
                  </a:moveTo>
                  <a:cubicBezTo>
                    <a:pt x="77" y="647"/>
                    <a:pt x="64" y="660"/>
                    <a:pt x="49" y="660"/>
                  </a:cubicBezTo>
                  <a:cubicBezTo>
                    <a:pt x="33" y="660"/>
                    <a:pt x="21" y="647"/>
                    <a:pt x="21" y="632"/>
                  </a:cubicBezTo>
                  <a:cubicBezTo>
                    <a:pt x="21" y="616"/>
                    <a:pt x="33" y="604"/>
                    <a:pt x="49" y="604"/>
                  </a:cubicBezTo>
                  <a:cubicBezTo>
                    <a:pt x="64" y="604"/>
                    <a:pt x="77" y="616"/>
                    <a:pt x="77" y="632"/>
                  </a:cubicBezTo>
                  <a:close/>
                  <a:moveTo>
                    <a:pt x="60" y="544"/>
                  </a:moveTo>
                  <a:cubicBezTo>
                    <a:pt x="60" y="559"/>
                    <a:pt x="47" y="572"/>
                    <a:pt x="32" y="572"/>
                  </a:cubicBezTo>
                  <a:cubicBezTo>
                    <a:pt x="16" y="572"/>
                    <a:pt x="4" y="559"/>
                    <a:pt x="4" y="544"/>
                  </a:cubicBezTo>
                  <a:cubicBezTo>
                    <a:pt x="4" y="528"/>
                    <a:pt x="16" y="516"/>
                    <a:pt x="32" y="516"/>
                  </a:cubicBezTo>
                  <a:cubicBezTo>
                    <a:pt x="47" y="516"/>
                    <a:pt x="60" y="528"/>
                    <a:pt x="60" y="544"/>
                  </a:cubicBezTo>
                  <a:close/>
                  <a:moveTo>
                    <a:pt x="60" y="455"/>
                  </a:moveTo>
                  <a:cubicBezTo>
                    <a:pt x="60" y="470"/>
                    <a:pt x="47" y="483"/>
                    <a:pt x="32" y="483"/>
                  </a:cubicBezTo>
                  <a:cubicBezTo>
                    <a:pt x="16" y="483"/>
                    <a:pt x="4" y="470"/>
                    <a:pt x="4" y="455"/>
                  </a:cubicBezTo>
                  <a:cubicBezTo>
                    <a:pt x="4" y="439"/>
                    <a:pt x="16" y="427"/>
                    <a:pt x="32" y="427"/>
                  </a:cubicBezTo>
                  <a:cubicBezTo>
                    <a:pt x="47" y="427"/>
                    <a:pt x="60" y="439"/>
                    <a:pt x="60" y="455"/>
                  </a:cubicBezTo>
                  <a:close/>
                  <a:moveTo>
                    <a:pt x="77" y="367"/>
                  </a:moveTo>
                  <a:cubicBezTo>
                    <a:pt x="77" y="382"/>
                    <a:pt x="64" y="395"/>
                    <a:pt x="49" y="395"/>
                  </a:cubicBezTo>
                  <a:cubicBezTo>
                    <a:pt x="33" y="395"/>
                    <a:pt x="21" y="382"/>
                    <a:pt x="21" y="367"/>
                  </a:cubicBezTo>
                  <a:cubicBezTo>
                    <a:pt x="21" y="351"/>
                    <a:pt x="33" y="339"/>
                    <a:pt x="49" y="339"/>
                  </a:cubicBezTo>
                  <a:cubicBezTo>
                    <a:pt x="64" y="339"/>
                    <a:pt x="77" y="351"/>
                    <a:pt x="77" y="367"/>
                  </a:cubicBezTo>
                  <a:close/>
                  <a:moveTo>
                    <a:pt x="110" y="284"/>
                  </a:moveTo>
                  <a:cubicBezTo>
                    <a:pt x="110" y="299"/>
                    <a:pt x="97" y="312"/>
                    <a:pt x="82" y="312"/>
                  </a:cubicBezTo>
                  <a:cubicBezTo>
                    <a:pt x="66" y="312"/>
                    <a:pt x="54" y="299"/>
                    <a:pt x="54" y="284"/>
                  </a:cubicBezTo>
                  <a:cubicBezTo>
                    <a:pt x="54" y="268"/>
                    <a:pt x="66" y="256"/>
                    <a:pt x="82" y="256"/>
                  </a:cubicBezTo>
                  <a:cubicBezTo>
                    <a:pt x="97" y="256"/>
                    <a:pt x="110" y="268"/>
                    <a:pt x="110" y="284"/>
                  </a:cubicBezTo>
                  <a:close/>
                  <a:moveTo>
                    <a:pt x="158" y="209"/>
                  </a:moveTo>
                  <a:cubicBezTo>
                    <a:pt x="158" y="224"/>
                    <a:pt x="145" y="237"/>
                    <a:pt x="130" y="237"/>
                  </a:cubicBezTo>
                  <a:cubicBezTo>
                    <a:pt x="114" y="237"/>
                    <a:pt x="102" y="224"/>
                    <a:pt x="102" y="209"/>
                  </a:cubicBezTo>
                  <a:cubicBezTo>
                    <a:pt x="102" y="193"/>
                    <a:pt x="114" y="181"/>
                    <a:pt x="130" y="181"/>
                  </a:cubicBezTo>
                  <a:cubicBezTo>
                    <a:pt x="145" y="181"/>
                    <a:pt x="158" y="193"/>
                    <a:pt x="158" y="209"/>
                  </a:cubicBezTo>
                  <a:close/>
                  <a:moveTo>
                    <a:pt x="220" y="144"/>
                  </a:moveTo>
                  <a:cubicBezTo>
                    <a:pt x="220" y="159"/>
                    <a:pt x="207" y="172"/>
                    <a:pt x="192" y="172"/>
                  </a:cubicBezTo>
                  <a:cubicBezTo>
                    <a:pt x="176" y="172"/>
                    <a:pt x="164" y="159"/>
                    <a:pt x="164" y="144"/>
                  </a:cubicBezTo>
                  <a:cubicBezTo>
                    <a:pt x="164" y="128"/>
                    <a:pt x="176" y="116"/>
                    <a:pt x="192" y="116"/>
                  </a:cubicBezTo>
                  <a:cubicBezTo>
                    <a:pt x="207" y="116"/>
                    <a:pt x="220" y="128"/>
                    <a:pt x="220" y="144"/>
                  </a:cubicBezTo>
                  <a:close/>
                  <a:moveTo>
                    <a:pt x="292" y="92"/>
                  </a:moveTo>
                  <a:cubicBezTo>
                    <a:pt x="292" y="107"/>
                    <a:pt x="279" y="120"/>
                    <a:pt x="264" y="120"/>
                  </a:cubicBezTo>
                  <a:cubicBezTo>
                    <a:pt x="248" y="120"/>
                    <a:pt x="236" y="107"/>
                    <a:pt x="236" y="92"/>
                  </a:cubicBezTo>
                  <a:cubicBezTo>
                    <a:pt x="236" y="76"/>
                    <a:pt x="248" y="64"/>
                    <a:pt x="264" y="64"/>
                  </a:cubicBezTo>
                  <a:cubicBezTo>
                    <a:pt x="279" y="64"/>
                    <a:pt x="292" y="76"/>
                    <a:pt x="292" y="92"/>
                  </a:cubicBezTo>
                  <a:close/>
                  <a:moveTo>
                    <a:pt x="374" y="55"/>
                  </a:moveTo>
                  <a:cubicBezTo>
                    <a:pt x="374" y="70"/>
                    <a:pt x="361" y="83"/>
                    <a:pt x="346" y="83"/>
                  </a:cubicBezTo>
                  <a:cubicBezTo>
                    <a:pt x="330" y="83"/>
                    <a:pt x="318" y="70"/>
                    <a:pt x="318" y="55"/>
                  </a:cubicBezTo>
                  <a:cubicBezTo>
                    <a:pt x="318" y="39"/>
                    <a:pt x="330" y="27"/>
                    <a:pt x="346" y="27"/>
                  </a:cubicBezTo>
                  <a:cubicBezTo>
                    <a:pt x="361" y="27"/>
                    <a:pt x="374" y="39"/>
                    <a:pt x="374" y="55"/>
                  </a:cubicBezTo>
                  <a:close/>
                  <a:moveTo>
                    <a:pt x="461" y="34"/>
                  </a:moveTo>
                  <a:cubicBezTo>
                    <a:pt x="461" y="49"/>
                    <a:pt x="448" y="62"/>
                    <a:pt x="433" y="62"/>
                  </a:cubicBezTo>
                  <a:cubicBezTo>
                    <a:pt x="417" y="62"/>
                    <a:pt x="405" y="49"/>
                    <a:pt x="405" y="34"/>
                  </a:cubicBezTo>
                  <a:cubicBezTo>
                    <a:pt x="405" y="18"/>
                    <a:pt x="417" y="6"/>
                    <a:pt x="433" y="6"/>
                  </a:cubicBezTo>
                  <a:cubicBezTo>
                    <a:pt x="448" y="6"/>
                    <a:pt x="461" y="18"/>
                    <a:pt x="461" y="34"/>
                  </a:cubicBezTo>
                  <a:close/>
                  <a:moveTo>
                    <a:pt x="550" y="30"/>
                  </a:moveTo>
                  <a:cubicBezTo>
                    <a:pt x="550" y="45"/>
                    <a:pt x="537" y="58"/>
                    <a:pt x="522" y="58"/>
                  </a:cubicBezTo>
                  <a:cubicBezTo>
                    <a:pt x="506" y="58"/>
                    <a:pt x="494" y="45"/>
                    <a:pt x="494" y="30"/>
                  </a:cubicBezTo>
                  <a:cubicBezTo>
                    <a:pt x="494" y="14"/>
                    <a:pt x="506" y="2"/>
                    <a:pt x="522" y="2"/>
                  </a:cubicBezTo>
                  <a:cubicBezTo>
                    <a:pt x="537" y="2"/>
                    <a:pt x="550" y="14"/>
                    <a:pt x="550" y="30"/>
                  </a:cubicBezTo>
                  <a:close/>
                  <a:moveTo>
                    <a:pt x="638" y="43"/>
                  </a:moveTo>
                  <a:cubicBezTo>
                    <a:pt x="638" y="58"/>
                    <a:pt x="625" y="71"/>
                    <a:pt x="610" y="71"/>
                  </a:cubicBezTo>
                  <a:cubicBezTo>
                    <a:pt x="594" y="71"/>
                    <a:pt x="582" y="58"/>
                    <a:pt x="582" y="43"/>
                  </a:cubicBezTo>
                  <a:cubicBezTo>
                    <a:pt x="582" y="27"/>
                    <a:pt x="594" y="15"/>
                    <a:pt x="610" y="15"/>
                  </a:cubicBezTo>
                  <a:cubicBezTo>
                    <a:pt x="625" y="15"/>
                    <a:pt x="638" y="27"/>
                    <a:pt x="638" y="43"/>
                  </a:cubicBezTo>
                  <a:close/>
                  <a:moveTo>
                    <a:pt x="723" y="72"/>
                  </a:moveTo>
                  <a:cubicBezTo>
                    <a:pt x="723" y="87"/>
                    <a:pt x="710" y="100"/>
                    <a:pt x="695" y="100"/>
                  </a:cubicBezTo>
                  <a:cubicBezTo>
                    <a:pt x="679" y="100"/>
                    <a:pt x="667" y="87"/>
                    <a:pt x="667" y="72"/>
                  </a:cubicBezTo>
                  <a:cubicBezTo>
                    <a:pt x="667" y="56"/>
                    <a:pt x="679" y="44"/>
                    <a:pt x="695" y="44"/>
                  </a:cubicBezTo>
                  <a:cubicBezTo>
                    <a:pt x="710" y="44"/>
                    <a:pt x="723" y="56"/>
                    <a:pt x="723" y="72"/>
                  </a:cubicBezTo>
                  <a:close/>
                  <a:moveTo>
                    <a:pt x="800" y="117"/>
                  </a:moveTo>
                  <a:cubicBezTo>
                    <a:pt x="800" y="132"/>
                    <a:pt x="787" y="145"/>
                    <a:pt x="772" y="145"/>
                  </a:cubicBezTo>
                  <a:cubicBezTo>
                    <a:pt x="756" y="145"/>
                    <a:pt x="744" y="132"/>
                    <a:pt x="744" y="117"/>
                  </a:cubicBezTo>
                  <a:cubicBezTo>
                    <a:pt x="744" y="101"/>
                    <a:pt x="756" y="89"/>
                    <a:pt x="772" y="89"/>
                  </a:cubicBezTo>
                  <a:cubicBezTo>
                    <a:pt x="787" y="89"/>
                    <a:pt x="800" y="101"/>
                    <a:pt x="800" y="117"/>
                  </a:cubicBezTo>
                  <a:close/>
                  <a:moveTo>
                    <a:pt x="868" y="175"/>
                  </a:moveTo>
                  <a:cubicBezTo>
                    <a:pt x="868" y="190"/>
                    <a:pt x="855" y="203"/>
                    <a:pt x="840" y="203"/>
                  </a:cubicBezTo>
                  <a:cubicBezTo>
                    <a:pt x="824" y="203"/>
                    <a:pt x="812" y="190"/>
                    <a:pt x="812" y="175"/>
                  </a:cubicBezTo>
                  <a:cubicBezTo>
                    <a:pt x="812" y="159"/>
                    <a:pt x="824" y="147"/>
                    <a:pt x="840" y="147"/>
                  </a:cubicBezTo>
                  <a:cubicBezTo>
                    <a:pt x="855" y="147"/>
                    <a:pt x="868" y="159"/>
                    <a:pt x="868" y="175"/>
                  </a:cubicBezTo>
                  <a:close/>
                  <a:moveTo>
                    <a:pt x="923" y="245"/>
                  </a:moveTo>
                  <a:cubicBezTo>
                    <a:pt x="923" y="260"/>
                    <a:pt x="910" y="273"/>
                    <a:pt x="895" y="273"/>
                  </a:cubicBezTo>
                  <a:cubicBezTo>
                    <a:pt x="879" y="273"/>
                    <a:pt x="867" y="260"/>
                    <a:pt x="867" y="245"/>
                  </a:cubicBezTo>
                  <a:cubicBezTo>
                    <a:pt x="867" y="229"/>
                    <a:pt x="879" y="217"/>
                    <a:pt x="895" y="217"/>
                  </a:cubicBezTo>
                  <a:cubicBezTo>
                    <a:pt x="910" y="217"/>
                    <a:pt x="923" y="229"/>
                    <a:pt x="923" y="245"/>
                  </a:cubicBezTo>
                  <a:close/>
                  <a:moveTo>
                    <a:pt x="964" y="325"/>
                  </a:moveTo>
                  <a:cubicBezTo>
                    <a:pt x="964" y="340"/>
                    <a:pt x="951" y="353"/>
                    <a:pt x="936" y="353"/>
                  </a:cubicBezTo>
                  <a:cubicBezTo>
                    <a:pt x="920" y="353"/>
                    <a:pt x="908" y="340"/>
                    <a:pt x="908" y="325"/>
                  </a:cubicBezTo>
                  <a:cubicBezTo>
                    <a:pt x="908" y="309"/>
                    <a:pt x="920" y="297"/>
                    <a:pt x="936" y="297"/>
                  </a:cubicBezTo>
                  <a:cubicBezTo>
                    <a:pt x="951" y="297"/>
                    <a:pt x="964" y="309"/>
                    <a:pt x="964" y="325"/>
                  </a:cubicBezTo>
                  <a:close/>
                  <a:moveTo>
                    <a:pt x="989" y="411"/>
                  </a:moveTo>
                  <a:cubicBezTo>
                    <a:pt x="989" y="426"/>
                    <a:pt x="976" y="439"/>
                    <a:pt x="961" y="439"/>
                  </a:cubicBezTo>
                  <a:cubicBezTo>
                    <a:pt x="945" y="439"/>
                    <a:pt x="933" y="426"/>
                    <a:pt x="933" y="411"/>
                  </a:cubicBezTo>
                  <a:cubicBezTo>
                    <a:pt x="933" y="395"/>
                    <a:pt x="945" y="383"/>
                    <a:pt x="961" y="383"/>
                  </a:cubicBezTo>
                  <a:cubicBezTo>
                    <a:pt x="976" y="383"/>
                    <a:pt x="989" y="395"/>
                    <a:pt x="989" y="411"/>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922B21"/>
              </a:solidFill>
              <a:round/>
            </a:ln>
          </p:spPr>
        </p:sp>
        <p:sp>
          <p:nvSpPr>
            <p:cNvPr id="28" name="Forma 27"/>
            <p:cNvSpPr txBox="1"/>
            <p:nvPr/>
          </p:nvSpPr>
          <p:spPr>
            <a:xfrm>
              <a:off x="3840480" y="1440180"/>
              <a:ext cx="685800" cy="27432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VLDL</a:t>
              </a:r>
              <a:endParaRPr lang="es-AR" sz="1200" dirty="0">
                <a:latin typeface="Fira Sans Condensed"/>
              </a:endParaRPr>
            </a:p>
          </p:txBody>
        </p:sp>
      </p:grpSp>
      <p:sp>
        <p:nvSpPr>
          <p:cNvPr id="29" name="LPL"/>
          <p:cNvSpPr/>
          <p:nvPr/>
        </p:nvSpPr>
        <p:spPr>
          <a:xfrm>
            <a:off x="2880360" y="2148840"/>
            <a:ext cx="914400" cy="4114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LPL</a:t>
            </a:r>
            <a:endParaRPr lang="es-AR" sz="1500" dirty="0">
              <a:latin typeface="Fira Sans Condensed"/>
            </a:endParaRPr>
          </a:p>
        </p:txBody>
      </p:sp>
      <p:sp>
        <p:nvSpPr>
          <p:cNvPr id="30" name="Endotelio"/>
          <p:cNvSpPr/>
          <p:nvPr/>
        </p:nvSpPr>
        <p:spPr>
          <a:xfrm>
            <a:off x="365760" y="2606040"/>
            <a:ext cx="11475720" cy="109728"/>
          </a:xfrm>
          <a:prstGeom prst="rect">
            <a:avLst/>
          </a:prstGeom>
          <a:solidFill>
            <a:srgbClr val="C0392B"/>
          </a:solidFill>
          <a:ln>
            <a:noFill/>
          </a:ln>
        </p:spPr>
      </p:sp>
      <p:sp>
        <p:nvSpPr>
          <p:cNvPr id="31" name="Adipocito LPL"/>
          <p:cNvSpPr/>
          <p:nvPr/>
        </p:nvSpPr>
        <p:spPr>
          <a:xfrm>
            <a:off x="822960" y="2971800"/>
            <a:ext cx="5486400" cy="3246120"/>
          </a:xfrm>
          <a:prstGeom prst="ellipse">
            <a:avLst/>
          </a:prstGeom>
          <a:gradFill rotWithShape="1">
            <a:gsLst>
              <a:gs pos="0">
                <a:srgbClr val="F9E7CF"/>
              </a:gs>
              <a:gs pos="55000">
                <a:srgbClr val="F6D7B0"/>
              </a:gs>
              <a:gs pos="100000">
                <a:srgbClr val="B8A184"/>
              </a:gs>
            </a:gsLst>
            <a:path path="circle">
              <a:fillToRect l="32000" t="28000" r="68000" b="72000"/>
            </a:path>
          </a:gradFill>
          <a:ln w="25400" cap="rnd">
            <a:solidFill>
              <a:srgbClr val="8C5A2B"/>
            </a:solidFill>
            <a:round/>
          </a:ln>
          <a:effectLst>
            <a:outerShdw blurRad="63500" dist="38100" dir="2700000" algn="tl" rotWithShape="0">
              <a:srgbClr val="000000">
                <a:alpha val="32000"/>
              </a:srgbClr>
            </a:outerShdw>
          </a:effectLst>
        </p:spPr>
      </p:sp>
      <p:sp>
        <p:nvSpPr>
          <p:cNvPr id="32" name="Gota LPL"/>
          <p:cNvSpPr/>
          <p:nvPr/>
        </p:nvSpPr>
        <p:spPr>
          <a:xfrm>
            <a:off x="1737360" y="3429000"/>
            <a:ext cx="3657600" cy="2331720"/>
          </a:xfrm>
          <a:prstGeom prst="ellipse">
            <a:avLst/>
          </a:prstGeom>
          <a:gradFill rotWithShape="1">
            <a:gsLst>
              <a:gs pos="0">
                <a:srgbClr val="FFF8D0"/>
              </a:gs>
              <a:gs pos="50000">
                <a:srgbClr val="F7DC6F"/>
              </a:gs>
              <a:gs pos="100000">
                <a:srgbClr val="D4AC0D"/>
              </a:gs>
            </a:gsLst>
            <a:path path="circle">
              <a:fillToRect l="35000" t="30000" r="65000" b="70000"/>
            </a:path>
          </a:gradFill>
          <a:ln w="15875" cap="rnd">
            <a:solidFill>
              <a:srgbClr val="B7950B"/>
            </a:solidFill>
            <a:round/>
          </a:ln>
        </p:spPr>
        <p:txBody>
          <a:bodyPr wrap="square" lIns="73152" tIns="45720" rIns="73152" bIns="45720" anchor="ctr" rtlCol="0">
            <a:noAutofit/>
          </a:bodyPr>
          <a:lstStyle/>
          <a:p>
            <a:pPr algn="ctr">
              <a:spcAft>
                <a:spcPts val="300"/>
              </a:spcAft>
              <a:buNone/>
            </a:pPr>
            <a:r>
              <a:rPr lang="es-AR" sz="1800" b="1" dirty="0">
                <a:solidFill>
                  <a:srgbClr val="7D6608"/>
                </a:solidFill>
                <a:latin typeface="Fira Sans Condensed"/>
                <a:ea typeface="Fira Sans Condensed"/>
                <a:cs typeface="Fira Sans Condensed"/>
                <a:sym typeface="Fira Sans Condensed"/>
              </a:rPr>
              <a:t>TAG</a:t>
            </a:r>
            <a:endParaRPr lang="es-AR" sz="1800" dirty="0">
              <a:latin typeface="Fira Sans Condensed"/>
            </a:endParaRPr>
          </a:p>
        </p:txBody>
      </p:sp>
      <p:sp>
        <p:nvSpPr>
          <p:cNvPr id="33" name="HSL"/>
          <p:cNvSpPr/>
          <p:nvPr/>
        </p:nvSpPr>
        <p:spPr>
          <a:xfrm>
            <a:off x="4709160" y="5029200"/>
            <a:ext cx="91440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HSL</a:t>
            </a:r>
            <a:endParaRPr lang="es-AR" sz="1500" dirty="0">
              <a:latin typeface="Fira Sans Condensed"/>
            </a:endParaRPr>
          </a:p>
        </p:txBody>
      </p:sp>
      <p:sp>
        <p:nvSpPr>
          <p:cNvPr id="34" name="AG LPL 0"/>
          <p:cNvSpPr/>
          <p:nvPr/>
        </p:nvSpPr>
        <p:spPr>
          <a:xfrm>
            <a:off x="3977640" y="2212848"/>
            <a:ext cx="292608" cy="29260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952" b="1" dirty="0">
                <a:solidFill>
                  <a:srgbClr val="1E1E1E"/>
                </a:solidFill>
                <a:latin typeface="Fira Sans Condensed"/>
                <a:ea typeface="Fira Sans Condensed"/>
                <a:cs typeface="Fira Sans Condensed"/>
                <a:sym typeface="Fira Sans Condensed"/>
              </a:rPr>
              <a:t>AG</a:t>
            </a:r>
            <a:endParaRPr lang="es-AR" sz="952" dirty="0">
              <a:latin typeface="Fira Sans Condensed"/>
            </a:endParaRPr>
          </a:p>
        </p:txBody>
      </p:sp>
      <p:sp>
        <p:nvSpPr>
          <p:cNvPr id="35" name="AG LPL 1"/>
          <p:cNvSpPr/>
          <p:nvPr/>
        </p:nvSpPr>
        <p:spPr>
          <a:xfrm>
            <a:off x="4361688" y="2212848"/>
            <a:ext cx="292608" cy="29260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952" b="1" dirty="0">
                <a:solidFill>
                  <a:srgbClr val="1E1E1E"/>
                </a:solidFill>
                <a:latin typeface="Fira Sans Condensed"/>
                <a:ea typeface="Fira Sans Condensed"/>
                <a:cs typeface="Fira Sans Condensed"/>
                <a:sym typeface="Fira Sans Condensed"/>
              </a:rPr>
              <a:t>AG</a:t>
            </a:r>
            <a:endParaRPr lang="es-AR" sz="952" dirty="0">
              <a:latin typeface="Fira Sans Condensed"/>
            </a:endParaRPr>
          </a:p>
        </p:txBody>
      </p:sp>
      <p:sp>
        <p:nvSpPr>
          <p:cNvPr id="36" name="AG LPL 2"/>
          <p:cNvSpPr/>
          <p:nvPr/>
        </p:nvSpPr>
        <p:spPr>
          <a:xfrm>
            <a:off x="4745736" y="2212848"/>
            <a:ext cx="292608" cy="29260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952" b="1" dirty="0">
                <a:solidFill>
                  <a:srgbClr val="1E1E1E"/>
                </a:solidFill>
                <a:latin typeface="Fira Sans Condensed"/>
                <a:ea typeface="Fira Sans Condensed"/>
                <a:cs typeface="Fira Sans Condensed"/>
                <a:sym typeface="Fira Sans Condensed"/>
              </a:rPr>
              <a:t>AG</a:t>
            </a:r>
            <a:endParaRPr lang="es-AR" sz="952" dirty="0">
              <a:latin typeface="Fira Sans Condensed"/>
            </a:endParaRPr>
          </a:p>
        </p:txBody>
      </p:sp>
      <p:grpSp>
        <p:nvGrpSpPr>
          <p:cNvPr id="37" name="Cuadro Espacio vascular"/>
          <p:cNvGrpSpPr/>
          <p:nvPr/>
        </p:nvGrpSpPr>
        <p:grpSpPr>
          <a:xfrm>
            <a:off x="6675120" y="2971800"/>
            <a:ext cx="5166360" cy="1508760"/>
            <a:chOff x="6675120" y="2971800"/>
            <a:chExt cx="5166360" cy="1508760"/>
          </a:xfrm>
        </p:grpSpPr>
        <p:sp>
          <p:nvSpPr>
            <p:cNvPr id="38" name="Forma 37"/>
            <p:cNvSpPr/>
            <p:nvPr/>
          </p:nvSpPr>
          <p:spPr>
            <a:xfrm>
              <a:off x="6675120" y="3172968"/>
              <a:ext cx="5166360" cy="13075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LPL</a:t>
              </a:r>
              <a:r>
                <a:rPr lang="es-AR" sz="1350" dirty="0">
                  <a:solidFill>
                    <a:srgbClr val="1E1E1E"/>
                  </a:solidFill>
                  <a:latin typeface="Fira Sans Condensed"/>
                  <a:ea typeface="Fira Sans Condensed"/>
                  <a:cs typeface="Fira Sans Condensed"/>
                  <a:sym typeface="Fira Sans Condensed"/>
                </a:rPr>
                <a:t>: sobre el </a:t>
              </a:r>
              <a:r>
                <a:rPr lang="es-AR" sz="1350" b="1" dirty="0">
                  <a:solidFill>
                    <a:srgbClr val="1E1E1E"/>
                  </a:solidFill>
                  <a:latin typeface="Fira Sans Condensed"/>
                  <a:ea typeface="Fira Sans Condensed"/>
                  <a:cs typeface="Fira Sans Condensed"/>
                  <a:sym typeface="Fira Sans Condensed"/>
                </a:rPr>
                <a:t>endotelio capilar</a:t>
              </a:r>
              <a:r>
                <a:rPr lang="es-AR" sz="1350" dirty="0">
                  <a:solidFill>
                    <a:srgbClr val="1E1E1E"/>
                  </a:solidFill>
                  <a:latin typeface="Fira Sans Condensed"/>
                  <a:ea typeface="Fira Sans Condensed"/>
                  <a:cs typeface="Fira Sans Condensed"/>
                  <a:sym typeface="Fira Sans Condensed"/>
                </a:rPr>
                <a:t>; hidroliza TAG de </a:t>
              </a:r>
              <a:r>
                <a:rPr lang="es-AR" sz="1350" b="1" dirty="0">
                  <a:solidFill>
                    <a:srgbClr val="1E1E1E"/>
                  </a:solidFill>
                  <a:latin typeface="Fira Sans Condensed"/>
                  <a:ea typeface="Fira Sans Condensed"/>
                  <a:cs typeface="Fira Sans Condensed"/>
                  <a:sym typeface="Fira Sans Condensed"/>
                </a:rPr>
                <a:t>quilomicrones y VLDL</a:t>
              </a:r>
              <a:r>
                <a:rPr lang="es-AR" sz="1350" dirty="0">
                  <a:solidFill>
                    <a:srgbClr val="1E1E1E"/>
                  </a:solidFill>
                  <a:latin typeface="Fira Sans Condensed"/>
                  <a:ea typeface="Fira Sans Condensed"/>
                  <a:cs typeface="Fira Sans Condensed"/>
                  <a:sym typeface="Fira Sans Condensed"/>
                </a:rPr>
                <a:t> → AG que entran al adipocito (CD36/FATP). La </a:t>
              </a:r>
              <a:r>
                <a:rPr lang="es-AR" sz="1350" b="1" dirty="0">
                  <a:solidFill>
                    <a:srgbClr val="1E1E1E"/>
                  </a:solidFill>
                  <a:latin typeface="Fira Sans Condensed"/>
                  <a:ea typeface="Fira Sans Condensed"/>
                  <a:cs typeface="Fira Sans Condensed"/>
                  <a:sym typeface="Fira Sans Condensed"/>
                </a:rPr>
                <a:t>insulina</a:t>
              </a:r>
              <a:r>
                <a:rPr lang="es-AR" sz="1350" dirty="0">
                  <a:solidFill>
                    <a:srgbClr val="1E1E1E"/>
                  </a:solidFill>
                  <a:latin typeface="Fira Sans Condensed"/>
                  <a:ea typeface="Fira Sans Condensed"/>
                  <a:cs typeface="Fira Sans Condensed"/>
                  <a:sym typeface="Fira Sans Condensed"/>
                </a:rPr>
                <a:t> la favorece en el adiposo.</a:t>
              </a:r>
              <a:endParaRPr lang="es-AR" sz="1350" dirty="0">
                <a:latin typeface="Fira Sans Condensed"/>
              </a:endParaRPr>
            </a:p>
          </p:txBody>
        </p:sp>
        <p:sp>
          <p:nvSpPr>
            <p:cNvPr id="39" name="Forma 38"/>
            <p:cNvSpPr/>
            <p:nvPr/>
          </p:nvSpPr>
          <p:spPr>
            <a:xfrm>
              <a:off x="6812280" y="2971800"/>
              <a:ext cx="186314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ESPACIO VASCULAR</a:t>
              </a:r>
              <a:endParaRPr lang="es-AR" sz="1400" dirty="0">
                <a:latin typeface="Fira Sans Condensed"/>
              </a:endParaRPr>
            </a:p>
          </p:txBody>
        </p:sp>
      </p:grpSp>
      <p:grpSp>
        <p:nvGrpSpPr>
          <p:cNvPr id="40" name="Cuadro Intracelular"/>
          <p:cNvGrpSpPr/>
          <p:nvPr/>
        </p:nvGrpSpPr>
        <p:grpSpPr>
          <a:xfrm>
            <a:off x="6675120" y="4709160"/>
            <a:ext cx="5166360" cy="1554480"/>
            <a:chOff x="6675120" y="4709160"/>
            <a:chExt cx="5166360" cy="1554480"/>
          </a:xfrm>
        </p:grpSpPr>
        <p:sp>
          <p:nvSpPr>
            <p:cNvPr id="41" name="Forma 40"/>
            <p:cNvSpPr/>
            <p:nvPr/>
          </p:nvSpPr>
          <p:spPr>
            <a:xfrm>
              <a:off x="6675120" y="4910328"/>
              <a:ext cx="5166360" cy="13533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HSL</a:t>
              </a:r>
              <a:r>
                <a:rPr lang="es-AR" sz="1350" dirty="0">
                  <a:solidFill>
                    <a:srgbClr val="1E1E1E"/>
                  </a:solidFill>
                  <a:latin typeface="Fira Sans Condensed"/>
                  <a:ea typeface="Fira Sans Condensed"/>
                  <a:cs typeface="Fira Sans Condensed"/>
                  <a:sym typeface="Fira Sans Condensed"/>
                </a:rPr>
                <a:t>: </a:t>
              </a:r>
              <a:r>
                <a:rPr lang="es-AR" sz="1350" b="1" dirty="0">
                  <a:solidFill>
                    <a:srgbClr val="1E1E1E"/>
                  </a:solidFill>
                  <a:latin typeface="Fira Sans Condensed"/>
                  <a:ea typeface="Fira Sans Condensed"/>
                  <a:cs typeface="Fira Sans Condensed"/>
                  <a:sym typeface="Fira Sans Condensed"/>
                </a:rPr>
                <a:t>dentro</a:t>
              </a:r>
              <a:r>
                <a:rPr lang="es-AR" sz="1350" dirty="0">
                  <a:solidFill>
                    <a:srgbClr val="1E1E1E"/>
                  </a:solidFill>
                  <a:latin typeface="Fira Sans Condensed"/>
                  <a:ea typeface="Fira Sans Condensed"/>
                  <a:cs typeface="Fira Sans Condensed"/>
                  <a:sym typeface="Fira Sans Condensed"/>
                </a:rPr>
                <a:t> del adipocito; hidroliza lípidos de la </a:t>
              </a:r>
              <a:r>
                <a:rPr lang="es-AR" sz="1350" b="1" dirty="0">
                  <a:solidFill>
                    <a:srgbClr val="1E1E1E"/>
                  </a:solidFill>
                  <a:latin typeface="Fira Sans Condensed"/>
                  <a:ea typeface="Fira Sans Condensed"/>
                  <a:cs typeface="Fira Sans Condensed"/>
                  <a:sym typeface="Fira Sans Condensed"/>
                </a:rPr>
                <a:t>gota</a:t>
              </a:r>
              <a:r>
                <a:rPr lang="es-AR" sz="1350" dirty="0">
                  <a:solidFill>
                    <a:srgbClr val="1E1E1E"/>
                  </a:solidFill>
                  <a:latin typeface="Fira Sans Condensed"/>
                  <a:ea typeface="Fira Sans Condensed"/>
                  <a:cs typeface="Fira Sans Condensed"/>
                  <a:sym typeface="Fira Sans Condensed"/>
                </a:rPr>
                <a:t> (lipólisis intracelular) junto con ATGL y MGL. </a:t>
              </a:r>
              <a:r>
                <a:rPr lang="es-AR" sz="1350" b="1" dirty="0">
                  <a:solidFill>
                    <a:srgbClr val="1E1E1E"/>
                  </a:solidFill>
                  <a:latin typeface="Fira Sans Condensed"/>
                  <a:ea typeface="Fira Sans Condensed"/>
                  <a:cs typeface="Fira Sans Condensed"/>
                  <a:sym typeface="Fira Sans Condensed"/>
                </a:rPr>
                <a:t>Catecolaminas</a:t>
              </a:r>
              <a:r>
                <a:rPr lang="es-AR" sz="1350" dirty="0">
                  <a:solidFill>
                    <a:srgbClr val="1E1E1E"/>
                  </a:solidFill>
                  <a:latin typeface="Fira Sans Condensed"/>
                  <a:ea typeface="Fira Sans Condensed"/>
                  <a:cs typeface="Fira Sans Condensed"/>
                  <a:sym typeface="Fira Sans Condensed"/>
                </a:rPr>
                <a:t> la activan; la insulina la frena.</a:t>
              </a:r>
              <a:endParaRPr lang="es-AR" sz="1350" dirty="0">
                <a:latin typeface="Fira Sans Condensed"/>
              </a:endParaRPr>
            </a:p>
          </p:txBody>
        </p:sp>
        <p:sp>
          <p:nvSpPr>
            <p:cNvPr id="42" name="Forma 41"/>
            <p:cNvSpPr/>
            <p:nvPr/>
          </p:nvSpPr>
          <p:spPr>
            <a:xfrm>
              <a:off x="6812280" y="4709160"/>
              <a:ext cx="1517300" cy="384048"/>
            </a:xfrm>
            <a:prstGeom prst="rect">
              <a:avLst/>
            </a:prstGeom>
            <a:solidFill>
              <a:srgbClr val="F4877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INTRACELULAR</a:t>
              </a:r>
              <a:endParaRPr lang="es-AR" sz="1400" dirty="0">
                <a:latin typeface="Fira Sans Condensed"/>
              </a:endParaRPr>
            </a:p>
          </p:txBody>
        </p:sp>
      </p:gr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LPL FRENTE A HSL: DOS LIPASAS, DOS COMPARTIMENTOS</a:t>
            </a:r>
            <a:endParaRPr lang="es-AR" sz="28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4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9"/>
                                        </p:tgtEl>
                                      </p:cBhvr>
                                      <p:by x="112000" y="112000"/>
                                    </p:animScale>
                                  </p:childTnLst>
                                </p:cTn>
                              </p:par>
                            </p:childTnLst>
                          </p:cTn>
                        </p:par>
                        <p:par>
                          <p:cTn id="9" fill="hold">
                            <p:stCondLst>
                              <p:cond delay="300"/>
                            </p:stCondLst>
                            <p:childTnLst>
                              <p:par>
                                <p:cTn id="6" presetID="10" presetClass="entr" presetSubtype="0" fill="hold" grpId="0" nodeType="afterEffect">
                                  <p:stCondLst>
                                    <p:cond delay="0"/>
                                  </p:stCondLst>
                                  <p:childTnLst>
                                    <p:set>
                                      <p:cBhvr>
                                        <p:cTn id="7" dur="1" fill="hold">
                                          <p:stCondLst>
                                            <p:cond delay="0"/>
                                          </p:stCondLst>
                                        </p:cTn>
                                        <p:tgtEl>
                                          <p:spTgt spid="34"/>
                                        </p:tgtEl>
                                        <p:attrNameLst>
                                          <p:attrName>style.visibility</p:attrName>
                                        </p:attrNameLst>
                                      </p:cBhvr>
                                      <p:to>
                                        <p:strVal val="visible"/>
                                      </p:to>
                                    </p:set>
                                    <p:animEffect transition="in" filter="fade">
                                      <p:cBhvr>
                                        <p:cTn id="8" dur="150"/>
                                        <p:tgtEl>
                                          <p:spTgt spid="34"/>
                                        </p:tgtEl>
                                      </p:cBhvr>
                                    </p:animEffect>
                                  </p:childTnLst>
                                </p:cTn>
                              </p:par>
                            </p:childTnLst>
                          </p:cTn>
                        </p:par>
                        <p:par>
                          <p:cTn id="13" fill="hold">
                            <p:stCondLst>
                              <p:cond delay="450"/>
                            </p:stCondLst>
                            <p:childTnLst>
                              <p:par>
                                <p:cTn id="10" presetID="10" presetClass="entr" presetSubtype="0" fill="hold" grpId="0" nodeType="after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50"/>
                                        <p:tgtEl>
                                          <p:spTgt spid="35"/>
                                        </p:tgtEl>
                                      </p:cBhvr>
                                    </p:animEffect>
                                  </p:childTnLst>
                                </p:cTn>
                              </p:par>
                            </p:childTnLst>
                          </p:cTn>
                        </p:par>
                        <p:par>
                          <p:cTn id="17"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150"/>
                                        <p:tgtEl>
                                          <p:spTgt spid="36"/>
                                        </p:tgtEl>
                                      </p:cBhvr>
                                    </p:animEffect>
                                  </p:childTnLst>
                                </p:cTn>
                              </p:par>
                            </p:childTnLst>
                          </p:cTn>
                        </p:par>
                      </p:childTnLst>
                    </p:cTn>
                  </p:par>
                  <p:par>
                    <p:cTn id="32" fill="hold">
                      <p:stCondLst>
                        <p:cond delay="indefinite"/>
                      </p:stCondLst>
                      <p:childTnLst>
                        <p:par>
                          <p:cTn id="21" fill="hold">
                            <p:stCondLst>
                              <p:cond delay="0"/>
                            </p:stCondLst>
                            <p:childTnLst>
                              <p:par>
                                <p:cTn id="19" presetID="0" presetClass="path" presetSubtype="0" accel="20000" decel="20000" fill="hold" grpId="0" nodeType="clickEffect">
                                  <p:stCondLst>
                                    <p:cond delay="0"/>
                                  </p:stCondLst>
                                  <p:childTnLst>
                                    <p:animMotion origin="layout" path="M 0 0 L 0.0000 0.2533 E" pathEditMode="relative" ptsTypes="">
                                      <p:cBhvr>
                                        <p:cTn id="20" dur="1200" fill="hold"/>
                                        <p:tgtEl>
                                          <p:spTgt spid="34"/>
                                        </p:tgtEl>
                                        <p:attrNameLst>
                                          <p:attrName>ppt_x</p:attrName>
                                          <p:attrName>ppt_y</p:attrName>
                                        </p:attrNameLst>
                                      </p:cBhvr>
                                      <p:rCtr x="0" y="12666"/>
                                    </p:animMotion>
                                  </p:childTnLst>
                                </p:cTn>
                              </p:par>
                            </p:childTnLst>
                          </p:cTn>
                        </p:par>
                        <p:par>
                          <p:cTn id="24" fill="hold">
                            <p:stCondLst>
                              <p:cond delay="200"/>
                            </p:stCondLst>
                            <p:childTnLst>
                              <p:par>
                                <p:cTn id="22" presetID="0" presetClass="path" presetSubtype="0" accel="20000" decel="20000" fill="hold" grpId="0" nodeType="afterEffect">
                                  <p:stCondLst>
                                    <p:cond delay="0"/>
                                  </p:stCondLst>
                                  <p:childTnLst>
                                    <p:animMotion origin="layout" path="M 0 0 L 0.0000 0.2533 E" pathEditMode="relative" ptsTypes="">
                                      <p:cBhvr>
                                        <p:cTn id="23" dur="1200" fill="hold"/>
                                        <p:tgtEl>
                                          <p:spTgt spid="35"/>
                                        </p:tgtEl>
                                        <p:attrNameLst>
                                          <p:attrName>ppt_x</p:attrName>
                                          <p:attrName>ppt_y</p:attrName>
                                        </p:attrNameLst>
                                      </p:cBhvr>
                                      <p:rCtr x="0" y="12666"/>
                                    </p:animMotion>
                                  </p:childTnLst>
                                </p:cTn>
                              </p:par>
                            </p:childTnLst>
                          </p:cTn>
                        </p:par>
                        <p:par>
                          <p:cTn id="27" fill="hold">
                            <p:stCondLst>
                              <p:cond delay="600"/>
                            </p:stCondLst>
                            <p:childTnLst>
                              <p:par>
                                <p:cTn id="25" presetID="0" presetClass="path" presetSubtype="0" accel="20000" decel="20000" fill="hold" grpId="0" nodeType="afterEffect">
                                  <p:stCondLst>
                                    <p:cond delay="0"/>
                                  </p:stCondLst>
                                  <p:childTnLst>
                                    <p:animMotion origin="layout" path="M 0 0 L 0.0000 0.2533 E" pathEditMode="relative" ptsTypes="">
                                      <p:cBhvr>
                                        <p:cTn id="26" dur="1200" fill="hold"/>
                                        <p:tgtEl>
                                          <p:spTgt spid="36"/>
                                        </p:tgtEl>
                                        <p:attrNameLst>
                                          <p:attrName>ppt_x</p:attrName>
                                          <p:attrName>ppt_y</p:attrName>
                                        </p:attrNameLst>
                                      </p:cBhvr>
                                      <p:rCtr x="0" y="12666"/>
                                    </p:animMotion>
                                  </p:childTnLst>
                                </p:cTn>
                              </p:par>
                            </p:childTnLst>
                          </p:cTn>
                        </p:par>
                        <p:par>
                          <p:cTn id="31" fill="hold">
                            <p:stCondLst>
                              <p:cond delay="1800"/>
                            </p:stCondLst>
                            <p:childTnLst>
                              <p:par>
                                <p:cTn id="28" presetID="10" presetClass="entr" presetSubtype="0" fill="hold" grpId="0" nodeType="after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par>
                    <p:cTn id="40" fill="hold">
                      <p:stCondLst>
                        <p:cond delay="indefinite"/>
                      </p:stCondLst>
                      <p:childTnLst>
                        <p:par>
                          <p:cTn id="35" fill="hold">
                            <p:stCondLst>
                              <p:cond delay="0"/>
                            </p:stCondLst>
                            <p:childTnLst>
                              <p:par>
                                <p:cTn id="33" presetID="6" presetClass="emph" presetSubtype="0" fill="hold" grpId="0" nodeType="clickEffect">
                                  <p:stCondLst>
                                    <p:cond delay="0"/>
                                  </p:stCondLst>
                                  <p:childTnLst>
                                    <p:animScale>
                                      <p:cBhvr>
                                        <p:cTn id="34" dur="300" autoRev="1" fill="hold"/>
                                        <p:tgtEl>
                                          <p:spTgt spid="33"/>
                                        </p:tgtEl>
                                      </p:cBhvr>
                                      <p:by x="112000" y="112000"/>
                                    </p:animScale>
                                  </p:childTnLst>
                                </p:cTn>
                              </p:par>
                            </p:childTnLst>
                          </p:cTn>
                        </p:par>
                        <p:par>
                          <p:cTn id="39" fill="hold">
                            <p:stCondLst>
                              <p:cond delay="300"/>
                            </p:stCondLst>
                            <p:childTnLst>
                              <p:par>
                                <p:cTn id="36" presetID="10" presetClass="entr" presetSubtype="0" fill="hold" grpId="0"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4" grpId="0" animBg="1"/>
      <p:bldP spid="35" grpId="0" animBg="1"/>
      <p:bldP spid="36" grpId="0" animBg="1"/>
      <p:bldP spid="33" grpId="0" animBg="1"/>
    </p:bld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sp>
        <p:nvSpPr>
          <p:cNvPr id="7" name="Flecha g→g4"/>
          <p:cNvSpPr/>
          <p:nvPr/>
        </p:nvSpPr>
        <p:spPr>
          <a:xfrm>
            <a:off x="1371600" y="1728216"/>
            <a:ext cx="9144" cy="246888"/>
          </a:xfrm>
          <a:custGeom>
            <a:avLst/>
            <a:gdLst/>
            <a:ahLst/>
            <a:cxnLst/>
            <a:rect l="0" t="0" r="r" b="b"/>
            <a:pathLst>
              <a:path w="10" h="270" fill="none">
                <a:moveTo>
                  <a:pt x="0" y="0"/>
                </a:moveTo>
                <a:lnTo>
                  <a:pt x="0" y="270"/>
                </a:lnTo>
              </a:path>
            </a:pathLst>
          </a:custGeom>
          <a:noFill/>
          <a:ln w="28575" cap="rnd">
            <a:solidFill>
              <a:srgbClr val="1E1E1E"/>
            </a:solidFill>
            <a:round/>
            <a:tailEnd type="triangle" w="med" len="med"/>
          </a:ln>
        </p:spPr>
      </p:sp>
      <p:sp>
        <p:nvSpPr>
          <p:cNvPr id="8" name="Flecha g4→gl"/>
          <p:cNvSpPr/>
          <p:nvPr/>
        </p:nvSpPr>
        <p:spPr>
          <a:xfrm>
            <a:off x="2414016" y="226314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9" name="Flecha gl→dh"/>
          <p:cNvSpPr/>
          <p:nvPr/>
        </p:nvSpPr>
        <p:spPr>
          <a:xfrm>
            <a:off x="3931920" y="2551176"/>
            <a:ext cx="9144" cy="338328"/>
          </a:xfrm>
          <a:custGeom>
            <a:avLst/>
            <a:gdLst/>
            <a:ahLst/>
            <a:cxnLst/>
            <a:rect l="0" t="0" r="r" b="b"/>
            <a:pathLst>
              <a:path w="10" h="370" fill="none">
                <a:moveTo>
                  <a:pt x="0" y="0"/>
                </a:moveTo>
                <a:lnTo>
                  <a:pt x="0" y="370"/>
                </a:lnTo>
              </a:path>
            </a:pathLst>
          </a:custGeom>
          <a:noFill/>
          <a:ln w="28575" cap="rnd">
            <a:solidFill>
              <a:srgbClr val="1E1E1E"/>
            </a:solidFill>
            <a:round/>
            <a:tailEnd type="triangle" w="med" len="med"/>
          </a:ln>
        </p:spPr>
      </p:sp>
      <p:grpSp>
        <p:nvGrpSpPr>
          <p:cNvPr id="10" name="Flecha dh→g3"/>
          <p:cNvGrpSpPr/>
          <p:nvPr/>
        </p:nvGrpSpPr>
        <p:grpSpPr>
          <a:xfrm>
            <a:off x="3931920" y="3465576"/>
            <a:ext cx="1945779" cy="521208"/>
            <a:chOff x="3931920" y="3465576"/>
            <a:chExt cx="1945779" cy="521208"/>
          </a:xfrm>
        </p:grpSpPr>
        <p:sp>
          <p:nvSpPr>
            <p:cNvPr id="11" name="Flecha 10_2"/>
            <p:cNvSpPr/>
            <p:nvPr/>
          </p:nvSpPr>
          <p:spPr>
            <a:xfrm>
              <a:off x="3931920" y="3465576"/>
              <a:ext cx="9144" cy="521208"/>
            </a:xfrm>
            <a:custGeom>
              <a:avLst/>
              <a:gdLst/>
              <a:ahLst/>
              <a:cxnLst/>
              <a:rect l="0" t="0" r="r" b="b"/>
              <a:pathLst>
                <a:path w="10" h="570" fill="none">
                  <a:moveTo>
                    <a:pt x="0" y="0"/>
                  </a:moveTo>
                  <a:lnTo>
                    <a:pt x="0" y="570"/>
                  </a:lnTo>
                </a:path>
              </a:pathLst>
            </a:custGeom>
            <a:noFill/>
            <a:ln w="28575" cap="rnd">
              <a:solidFill>
                <a:srgbClr val="1E1E1E"/>
              </a:solidFill>
              <a:round/>
              <a:tailEnd type="triangle" w="med" len="med"/>
            </a:ln>
          </p:spPr>
        </p:sp>
        <p:sp>
          <p:nvSpPr>
            <p:cNvPr id="12" name="Rótulo G3P deshidrogenasa"/>
            <p:cNvSpPr/>
            <p:nvPr/>
          </p:nvSpPr>
          <p:spPr>
            <a:xfrm>
              <a:off x="4455021" y="3598164"/>
              <a:ext cx="1422677" cy="206693"/>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G3P deshidrogenasa</a:t>
              </a:r>
              <a:endParaRPr lang="es-AR" sz="1050" dirty="0">
                <a:latin typeface="Fira Sans Condensed"/>
              </a:endParaRPr>
            </a:p>
          </p:txBody>
        </p:sp>
      </p:grpSp>
      <p:grpSp>
        <p:nvGrpSpPr>
          <p:cNvPr id="13" name="Flecha py→dh"/>
          <p:cNvGrpSpPr/>
          <p:nvPr/>
        </p:nvGrpSpPr>
        <p:grpSpPr>
          <a:xfrm>
            <a:off x="4491268" y="2702052"/>
            <a:ext cx="1715945" cy="484632"/>
            <a:chOff x="4491268" y="2702052"/>
            <a:chExt cx="1715945" cy="484632"/>
          </a:xfrm>
        </p:grpSpPr>
        <p:sp>
          <p:nvSpPr>
            <p:cNvPr id="14" name="Flecha 14_2"/>
            <p:cNvSpPr/>
            <p:nvPr/>
          </p:nvSpPr>
          <p:spPr>
            <a:xfrm>
              <a:off x="5065776" y="3177540"/>
              <a:ext cx="566928" cy="9144"/>
            </a:xfrm>
            <a:custGeom>
              <a:avLst/>
              <a:gdLst/>
              <a:ahLst/>
              <a:cxnLst/>
              <a:rect l="0" t="0" r="r" b="b"/>
              <a:pathLst>
                <a:path w="620" h="10" fill="none">
                  <a:moveTo>
                    <a:pt x="620" y="0"/>
                  </a:moveTo>
                  <a:lnTo>
                    <a:pt x="0" y="0"/>
                  </a:lnTo>
                </a:path>
              </a:pathLst>
            </a:custGeom>
            <a:noFill/>
            <a:ln w="28575" cap="rnd">
              <a:solidFill>
                <a:srgbClr val="1E1E1E"/>
              </a:solidFill>
              <a:round/>
              <a:tailEnd type="triangle" w="med" len="med"/>
            </a:ln>
          </p:spPr>
        </p:sp>
        <p:sp>
          <p:nvSpPr>
            <p:cNvPr id="15" name="Rótulo gliceroneogénesis "/>
            <p:cNvSpPr/>
            <p:nvPr/>
          </p:nvSpPr>
          <p:spPr>
            <a:xfrm>
              <a:off x="4491268" y="2702052"/>
              <a:ext cx="1715945"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gliceroneogénesis (PEPCK)</a:t>
              </a:r>
              <a:endParaRPr lang="es-AR" sz="1000" dirty="0">
                <a:latin typeface="Fira Sans Condensed"/>
              </a:endParaRPr>
            </a:p>
          </p:txBody>
        </p:sp>
      </p:grpSp>
      <p:grpSp>
        <p:nvGrpSpPr>
          <p:cNvPr id="16" name="Flecha gc→g3"/>
          <p:cNvGrpSpPr/>
          <p:nvPr/>
        </p:nvGrpSpPr>
        <p:grpSpPr>
          <a:xfrm>
            <a:off x="1947040" y="3863340"/>
            <a:ext cx="1317999" cy="466344"/>
            <a:chOff x="1947040" y="3863340"/>
            <a:chExt cx="1317999" cy="466344"/>
          </a:xfrm>
        </p:grpSpPr>
        <p:sp>
          <p:nvSpPr>
            <p:cNvPr id="17" name="Flecha 18_2"/>
            <p:cNvSpPr/>
            <p:nvPr/>
          </p:nvSpPr>
          <p:spPr>
            <a:xfrm>
              <a:off x="2414016" y="4320540"/>
              <a:ext cx="384048" cy="9144"/>
            </a:xfrm>
            <a:custGeom>
              <a:avLst/>
              <a:gdLst/>
              <a:ahLst/>
              <a:cxnLst/>
              <a:rect l="0" t="0" r="r" b="b"/>
              <a:pathLst>
                <a:path w="419" h="10" fill="none">
                  <a:moveTo>
                    <a:pt x="0" y="0"/>
                  </a:moveTo>
                  <a:lnTo>
                    <a:pt x="419" y="0"/>
                  </a:lnTo>
                </a:path>
              </a:pathLst>
            </a:custGeom>
            <a:noFill/>
            <a:ln w="28575" cap="rnd">
              <a:solidFill>
                <a:srgbClr val="C00000"/>
              </a:solidFill>
              <a:prstDash val="dash"/>
              <a:round/>
              <a:tailEnd type="triangle" w="med" len="med"/>
            </a:ln>
          </p:spPr>
        </p:sp>
        <p:sp>
          <p:nvSpPr>
            <p:cNvPr id="18" name="Rótulo glicerol cinasa BA"/>
            <p:cNvSpPr/>
            <p:nvPr/>
          </p:nvSpPr>
          <p:spPr>
            <a:xfrm>
              <a:off x="1947040" y="3863340"/>
              <a:ext cx="1317999" cy="19685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glicerol cinasa BAJA</a:t>
              </a:r>
              <a:endParaRPr lang="es-AR" sz="1000" dirty="0">
                <a:latin typeface="Fira Sans Condensed"/>
              </a:endParaRPr>
            </a:p>
          </p:txBody>
        </p:sp>
      </p:grpSp>
      <p:sp>
        <p:nvSpPr>
          <p:cNvPr id="19" name="Flecha gc→bl"/>
          <p:cNvSpPr/>
          <p:nvPr/>
        </p:nvSpPr>
        <p:spPr>
          <a:xfrm>
            <a:off x="1371600" y="4654296"/>
            <a:ext cx="9144" cy="429768"/>
          </a:xfrm>
          <a:custGeom>
            <a:avLst/>
            <a:gdLst/>
            <a:ahLst/>
            <a:cxnLst/>
            <a:rect l="0" t="0" r="r" b="b"/>
            <a:pathLst>
              <a:path w="10" h="469" fill="none">
                <a:moveTo>
                  <a:pt x="0" y="0"/>
                </a:moveTo>
                <a:lnTo>
                  <a:pt x="0" y="469"/>
                </a:lnTo>
              </a:path>
            </a:pathLst>
          </a:custGeom>
          <a:noFill/>
          <a:ln w="28575" cap="rnd">
            <a:solidFill>
              <a:srgbClr val="2563B0"/>
            </a:solidFill>
            <a:round/>
            <a:tailEnd type="triangle" w="med" len="med"/>
          </a:ln>
        </p:spPr>
      </p:sp>
      <p:sp>
        <p:nvSpPr>
          <p:cNvPr id="20" name="Nodo g"/>
          <p:cNvSpPr/>
          <p:nvPr/>
        </p:nvSpPr>
        <p:spPr>
          <a:xfrm>
            <a:off x="365760" y="1188720"/>
            <a:ext cx="20116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GLUCOSA</a:t>
            </a:r>
            <a:endParaRPr lang="es-AR" sz="1500" dirty="0">
              <a:latin typeface="Fira Sans Condensed"/>
            </a:endParaRPr>
          </a:p>
        </p:txBody>
      </p:sp>
      <p:sp>
        <p:nvSpPr>
          <p:cNvPr id="21" name="Nodo g4"/>
          <p:cNvSpPr/>
          <p:nvPr/>
        </p:nvSpPr>
        <p:spPr>
          <a:xfrm>
            <a:off x="365760" y="2011680"/>
            <a:ext cx="201168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GLUT4 (insulina)</a:t>
            </a:r>
            <a:endParaRPr lang="es-AR" sz="1300" dirty="0">
              <a:latin typeface="Fira Sans Condensed"/>
            </a:endParaRPr>
          </a:p>
        </p:txBody>
      </p:sp>
      <p:sp>
        <p:nvSpPr>
          <p:cNvPr id="22" name="Nodo gl"/>
          <p:cNvSpPr/>
          <p:nvPr/>
        </p:nvSpPr>
        <p:spPr>
          <a:xfrm>
            <a:off x="2834640" y="2011680"/>
            <a:ext cx="219456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Glucólisis</a:t>
            </a:r>
            <a:endParaRPr lang="es-AR" sz="1400" dirty="0">
              <a:latin typeface="Fira Sans Condensed"/>
            </a:endParaRPr>
          </a:p>
        </p:txBody>
      </p:sp>
      <p:sp>
        <p:nvSpPr>
          <p:cNvPr id="23" name="Nodo dh"/>
          <p:cNvSpPr/>
          <p:nvPr/>
        </p:nvSpPr>
        <p:spPr>
          <a:xfrm>
            <a:off x="2834640" y="2926080"/>
            <a:ext cx="21945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DHAP</a:t>
            </a:r>
            <a:endParaRPr lang="es-AR" sz="1500" dirty="0">
              <a:latin typeface="Fira Sans Condensed"/>
            </a:endParaRPr>
          </a:p>
        </p:txBody>
      </p:sp>
      <p:sp>
        <p:nvSpPr>
          <p:cNvPr id="24" name="Nodo g3"/>
          <p:cNvSpPr/>
          <p:nvPr/>
        </p:nvSpPr>
        <p:spPr>
          <a:xfrm>
            <a:off x="2834640" y="4023360"/>
            <a:ext cx="219456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GLICEROL-3-P</a:t>
            </a:r>
            <a:endParaRPr lang="es-AR" sz="1500" dirty="0">
              <a:latin typeface="Fira Sans Condensed"/>
            </a:endParaRPr>
          </a:p>
        </p:txBody>
      </p:sp>
      <p:sp>
        <p:nvSpPr>
          <p:cNvPr id="25" name="Nodo py"/>
          <p:cNvSpPr/>
          <p:nvPr/>
        </p:nvSpPr>
        <p:spPr>
          <a:xfrm>
            <a:off x="5669280" y="2926080"/>
            <a:ext cx="2377440" cy="5029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Piruvato y otros</a:t>
            </a:r>
            <a:endParaRPr lang="es-AR" sz="1300" dirty="0">
              <a:latin typeface="Fira Sans Condensed"/>
            </a:endParaRPr>
          </a:p>
        </p:txBody>
      </p:sp>
      <p:sp>
        <p:nvSpPr>
          <p:cNvPr id="26" name="Nodo gc"/>
          <p:cNvSpPr/>
          <p:nvPr/>
        </p:nvSpPr>
        <p:spPr>
          <a:xfrm>
            <a:off x="365760" y="4023360"/>
            <a:ext cx="201168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GLICEROL</a:t>
            </a:r>
            <a:endParaRPr lang="es-AR" sz="1500" dirty="0">
              <a:latin typeface="Fira Sans Condensed"/>
            </a:endParaRPr>
          </a:p>
        </p:txBody>
      </p:sp>
      <p:sp>
        <p:nvSpPr>
          <p:cNvPr id="27" name="Nodo bl"/>
          <p:cNvSpPr/>
          <p:nvPr/>
        </p:nvSpPr>
        <p:spPr>
          <a:xfrm>
            <a:off x="365760" y="5120640"/>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Sangre → hígado</a:t>
            </a:r>
            <a:endParaRPr lang="es-AR" sz="1300" dirty="0">
              <a:latin typeface="Fira Sans Condensed"/>
            </a:endParaRPr>
          </a:p>
        </p:txBody>
      </p:sp>
      <p:grpSp>
        <p:nvGrpSpPr>
          <p:cNvPr id="28" name="Glicerol 3D"/>
          <p:cNvGrpSpPr/>
          <p:nvPr/>
        </p:nvGrpSpPr>
        <p:grpSpPr>
          <a:xfrm>
            <a:off x="8321040" y="1270932"/>
            <a:ext cx="2286000" cy="1631888"/>
            <a:chOff x="8321040" y="1270932"/>
            <a:chExt cx="2286000" cy="1631888"/>
          </a:xfrm>
        </p:grpSpPr>
        <p:sp>
          <p:nvSpPr>
            <p:cNvPr id="29" name="Átomo H"/>
            <p:cNvSpPr/>
            <p:nvPr/>
          </p:nvSpPr>
          <p:spPr>
            <a:xfrm>
              <a:off x="9431494" y="1763511"/>
              <a:ext cx="143018" cy="14301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0" name="Flecha 32_2"/>
            <p:cNvSpPr/>
            <p:nvPr/>
          </p:nvSpPr>
          <p:spPr>
            <a:xfrm>
              <a:off x="9503003" y="1835020"/>
              <a:ext cx="122613" cy="138781"/>
            </a:xfrm>
            <a:custGeom>
              <a:avLst/>
              <a:gdLst/>
              <a:ahLst/>
              <a:cxnLst/>
              <a:rect l="0" t="0" r="r" b="b"/>
              <a:pathLst>
                <a:path w="134" h="151" fill="none">
                  <a:moveTo>
                    <a:pt x="134" y="151"/>
                  </a:moveTo>
                  <a:lnTo>
                    <a:pt x="0" y="0"/>
                  </a:lnTo>
                </a:path>
              </a:pathLst>
            </a:custGeom>
            <a:noFill/>
            <a:ln w="36517" cap="rnd">
              <a:solidFill>
                <a:srgbClr val="9A9A9A"/>
              </a:solidFill>
              <a:round/>
            </a:ln>
          </p:spPr>
        </p:sp>
        <p:sp>
          <p:nvSpPr>
            <p:cNvPr id="31" name="Átomo H_2"/>
            <p:cNvSpPr/>
            <p:nvPr/>
          </p:nvSpPr>
          <p:spPr>
            <a:xfrm>
              <a:off x="9674785" y="2181010"/>
              <a:ext cx="146445" cy="14644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2" name="Flecha 35_2"/>
            <p:cNvSpPr/>
            <p:nvPr/>
          </p:nvSpPr>
          <p:spPr>
            <a:xfrm>
              <a:off x="9625617" y="1973801"/>
              <a:ext cx="122390" cy="280432"/>
            </a:xfrm>
            <a:custGeom>
              <a:avLst/>
              <a:gdLst/>
              <a:ahLst/>
              <a:cxnLst/>
              <a:rect l="0" t="0" r="r" b="b"/>
              <a:pathLst>
                <a:path w="133" h="306" fill="none">
                  <a:moveTo>
                    <a:pt x="0" y="0"/>
                  </a:moveTo>
                  <a:lnTo>
                    <a:pt x="133" y="306"/>
                  </a:lnTo>
                </a:path>
              </a:pathLst>
            </a:custGeom>
            <a:noFill/>
            <a:ln w="36517" cap="rnd">
              <a:solidFill>
                <a:srgbClr val="9A9A9A"/>
              </a:solidFill>
              <a:round/>
            </a:ln>
          </p:spPr>
        </p:sp>
        <p:sp>
          <p:nvSpPr>
            <p:cNvPr id="33" name="Átomo C"/>
            <p:cNvSpPr/>
            <p:nvPr/>
          </p:nvSpPr>
          <p:spPr>
            <a:xfrm>
              <a:off x="9501969" y="1850153"/>
              <a:ext cx="247295" cy="2472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4" name="Flecha 38_2"/>
            <p:cNvSpPr/>
            <p:nvPr/>
          </p:nvSpPr>
          <p:spPr>
            <a:xfrm>
              <a:off x="9625617" y="1732371"/>
              <a:ext cx="307692" cy="241430"/>
            </a:xfrm>
            <a:custGeom>
              <a:avLst/>
              <a:gdLst/>
              <a:ahLst/>
              <a:cxnLst/>
              <a:rect l="0" t="0" r="r" b="b"/>
              <a:pathLst>
                <a:path w="336" h="264" fill="none">
                  <a:moveTo>
                    <a:pt x="0" y="264"/>
                  </a:moveTo>
                  <a:lnTo>
                    <a:pt x="336" y="0"/>
                  </a:lnTo>
                </a:path>
              </a:pathLst>
            </a:custGeom>
            <a:noFill/>
            <a:ln w="36517" cap="rnd">
              <a:solidFill>
                <a:srgbClr val="9A9A9A"/>
              </a:solidFill>
              <a:round/>
            </a:ln>
          </p:spPr>
        </p:sp>
        <p:sp>
          <p:nvSpPr>
            <p:cNvPr id="35" name="Átomo O"/>
            <p:cNvSpPr/>
            <p:nvPr/>
          </p:nvSpPr>
          <p:spPr>
            <a:xfrm>
              <a:off x="9814408" y="1613470"/>
              <a:ext cx="237802" cy="23780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6" name="Flecha 41_2"/>
            <p:cNvSpPr/>
            <p:nvPr/>
          </p:nvSpPr>
          <p:spPr>
            <a:xfrm>
              <a:off x="9307158" y="1973801"/>
              <a:ext cx="318458" cy="59959"/>
            </a:xfrm>
            <a:custGeom>
              <a:avLst/>
              <a:gdLst/>
              <a:ahLst/>
              <a:cxnLst/>
              <a:rect l="0" t="0" r="r" b="b"/>
              <a:pathLst>
                <a:path w="348" h="65" fill="none">
                  <a:moveTo>
                    <a:pt x="0" y="65"/>
                  </a:moveTo>
                  <a:lnTo>
                    <a:pt x="348" y="0"/>
                  </a:lnTo>
                </a:path>
              </a:pathLst>
            </a:custGeom>
            <a:noFill/>
            <a:ln w="36517" cap="rnd">
              <a:solidFill>
                <a:srgbClr val="9A9A9A"/>
              </a:solidFill>
              <a:round/>
            </a:ln>
          </p:spPr>
        </p:sp>
        <p:sp>
          <p:nvSpPr>
            <p:cNvPr id="37" name="Átomo O_2"/>
            <p:cNvSpPr/>
            <p:nvPr/>
          </p:nvSpPr>
          <p:spPr>
            <a:xfrm>
              <a:off x="8899516" y="2174910"/>
              <a:ext cx="238295" cy="23829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8" name="Átomo H_3"/>
            <p:cNvSpPr/>
            <p:nvPr/>
          </p:nvSpPr>
          <p:spPr>
            <a:xfrm>
              <a:off x="8929227" y="1412067"/>
              <a:ext cx="151973" cy="15197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9" name="Flecha 45_2"/>
            <p:cNvSpPr/>
            <p:nvPr/>
          </p:nvSpPr>
          <p:spPr>
            <a:xfrm>
              <a:off x="9933309" y="1732371"/>
              <a:ext cx="165699" cy="165542"/>
            </a:xfrm>
            <a:custGeom>
              <a:avLst/>
              <a:gdLst/>
              <a:ahLst/>
              <a:cxnLst/>
              <a:rect l="0" t="0" r="r" b="b"/>
              <a:pathLst>
                <a:path w="181" h="181" fill="none">
                  <a:moveTo>
                    <a:pt x="0" y="0"/>
                  </a:moveTo>
                  <a:lnTo>
                    <a:pt x="181" y="181"/>
                  </a:lnTo>
                </a:path>
              </a:pathLst>
            </a:custGeom>
            <a:noFill/>
            <a:ln w="36517" cap="rnd">
              <a:solidFill>
                <a:srgbClr val="9A9A9A"/>
              </a:solidFill>
              <a:round/>
            </a:ln>
          </p:spPr>
        </p:sp>
        <p:sp>
          <p:nvSpPr>
            <p:cNvPr id="40" name="Flecha 47_2"/>
            <p:cNvSpPr/>
            <p:nvPr/>
          </p:nvSpPr>
          <p:spPr>
            <a:xfrm>
              <a:off x="9018664" y="2033759"/>
              <a:ext cx="288495" cy="260298"/>
            </a:xfrm>
            <a:custGeom>
              <a:avLst/>
              <a:gdLst/>
              <a:ahLst/>
              <a:cxnLst/>
              <a:rect l="0" t="0" r="r" b="b"/>
              <a:pathLst>
                <a:path w="315" h="284" fill="none">
                  <a:moveTo>
                    <a:pt x="315" y="0"/>
                  </a:moveTo>
                  <a:lnTo>
                    <a:pt x="0" y="284"/>
                  </a:lnTo>
                </a:path>
              </a:pathLst>
            </a:custGeom>
            <a:noFill/>
            <a:ln w="36517" cap="rnd">
              <a:solidFill>
                <a:srgbClr val="9A9A9A"/>
              </a:solidFill>
              <a:round/>
            </a:ln>
          </p:spPr>
        </p:sp>
        <p:sp>
          <p:nvSpPr>
            <p:cNvPr id="41" name="Flecha 49_2"/>
            <p:cNvSpPr/>
            <p:nvPr/>
          </p:nvSpPr>
          <p:spPr>
            <a:xfrm>
              <a:off x="8829072" y="2294057"/>
              <a:ext cx="189592" cy="45867"/>
            </a:xfrm>
            <a:custGeom>
              <a:avLst/>
              <a:gdLst/>
              <a:ahLst/>
              <a:cxnLst/>
              <a:rect l="0" t="0" r="r" b="b"/>
              <a:pathLst>
                <a:path w="207" h="50" fill="none">
                  <a:moveTo>
                    <a:pt x="207" y="0"/>
                  </a:moveTo>
                  <a:lnTo>
                    <a:pt x="0" y="50"/>
                  </a:lnTo>
                </a:path>
              </a:pathLst>
            </a:custGeom>
            <a:noFill/>
            <a:ln w="36517" cap="rnd">
              <a:solidFill>
                <a:srgbClr val="9A9A9A"/>
              </a:solidFill>
              <a:round/>
            </a:ln>
          </p:spPr>
        </p:sp>
        <p:sp>
          <p:nvSpPr>
            <p:cNvPr id="42" name="Flecha 51_2"/>
            <p:cNvSpPr/>
            <p:nvPr/>
          </p:nvSpPr>
          <p:spPr>
            <a:xfrm>
              <a:off x="9005214" y="1488054"/>
              <a:ext cx="115262" cy="155798"/>
            </a:xfrm>
            <a:custGeom>
              <a:avLst/>
              <a:gdLst/>
              <a:ahLst/>
              <a:cxnLst/>
              <a:rect l="0" t="0" r="r" b="b"/>
              <a:pathLst>
                <a:path w="126" h="170" fill="none">
                  <a:moveTo>
                    <a:pt x="126" y="170"/>
                  </a:moveTo>
                  <a:lnTo>
                    <a:pt x="0" y="0"/>
                  </a:lnTo>
                </a:path>
              </a:pathLst>
            </a:custGeom>
            <a:noFill/>
            <a:ln w="36517" cap="rnd">
              <a:solidFill>
                <a:srgbClr val="9A9A9A"/>
              </a:solidFill>
              <a:round/>
            </a:ln>
          </p:spPr>
        </p:sp>
        <p:sp>
          <p:nvSpPr>
            <p:cNvPr id="43" name="Átomo H_4"/>
            <p:cNvSpPr/>
            <p:nvPr/>
          </p:nvSpPr>
          <p:spPr>
            <a:xfrm>
              <a:off x="10021679" y="1820584"/>
              <a:ext cx="154658" cy="15465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4" name="Átomo C_2"/>
            <p:cNvSpPr/>
            <p:nvPr/>
          </p:nvSpPr>
          <p:spPr>
            <a:xfrm>
              <a:off x="9178214" y="1904815"/>
              <a:ext cx="257889" cy="25788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5" name="Átomo H_5"/>
            <p:cNvSpPr/>
            <p:nvPr/>
          </p:nvSpPr>
          <p:spPr>
            <a:xfrm>
              <a:off x="8751125" y="2261977"/>
              <a:ext cx="155893" cy="1558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Flecha 56_2"/>
            <p:cNvSpPr/>
            <p:nvPr/>
          </p:nvSpPr>
          <p:spPr>
            <a:xfrm>
              <a:off x="9120476" y="1643852"/>
              <a:ext cx="186682" cy="389907"/>
            </a:xfrm>
            <a:custGeom>
              <a:avLst/>
              <a:gdLst/>
              <a:ahLst/>
              <a:cxnLst/>
              <a:rect l="0" t="0" r="r" b="b"/>
              <a:pathLst>
                <a:path w="204" h="426" fill="none">
                  <a:moveTo>
                    <a:pt x="0" y="0"/>
                  </a:moveTo>
                  <a:lnTo>
                    <a:pt x="204" y="426"/>
                  </a:lnTo>
                </a:path>
              </a:pathLst>
            </a:custGeom>
            <a:noFill/>
            <a:ln w="36517" cap="rnd">
              <a:solidFill>
                <a:srgbClr val="9A9A9A"/>
              </a:solidFill>
              <a:round/>
            </a:ln>
          </p:spPr>
        </p:sp>
        <p:sp>
          <p:nvSpPr>
            <p:cNvPr id="47" name="Átomo C_3"/>
            <p:cNvSpPr/>
            <p:nvPr/>
          </p:nvSpPr>
          <p:spPr>
            <a:xfrm>
              <a:off x="8989473" y="1512849"/>
              <a:ext cx="262006" cy="26200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Flecha 59_2"/>
            <p:cNvSpPr/>
            <p:nvPr/>
          </p:nvSpPr>
          <p:spPr>
            <a:xfrm>
              <a:off x="9307158" y="2033759"/>
              <a:ext cx="133923" cy="134795"/>
            </a:xfrm>
            <a:custGeom>
              <a:avLst/>
              <a:gdLst/>
              <a:ahLst/>
              <a:cxnLst/>
              <a:rect l="0" t="0" r="r" b="b"/>
              <a:pathLst>
                <a:path w="146" h="147" fill="none">
                  <a:moveTo>
                    <a:pt x="0" y="0"/>
                  </a:moveTo>
                  <a:lnTo>
                    <a:pt x="146" y="147"/>
                  </a:lnTo>
                </a:path>
              </a:pathLst>
            </a:custGeom>
            <a:noFill/>
            <a:ln w="36517" cap="rnd">
              <a:solidFill>
                <a:srgbClr val="9A9A9A"/>
              </a:solidFill>
              <a:round/>
            </a:ln>
          </p:spPr>
        </p:sp>
        <p:sp>
          <p:nvSpPr>
            <p:cNvPr id="49" name="Átomo H_6"/>
            <p:cNvSpPr/>
            <p:nvPr/>
          </p:nvSpPr>
          <p:spPr>
            <a:xfrm>
              <a:off x="9541457" y="1297813"/>
              <a:ext cx="157798" cy="15779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0" name="Flecha 62_2"/>
            <p:cNvSpPr/>
            <p:nvPr/>
          </p:nvSpPr>
          <p:spPr>
            <a:xfrm>
              <a:off x="8872594" y="1643852"/>
              <a:ext cx="247883" cy="52380"/>
            </a:xfrm>
            <a:custGeom>
              <a:avLst/>
              <a:gdLst/>
              <a:ahLst/>
              <a:cxnLst/>
              <a:rect l="0" t="0" r="r" b="b"/>
              <a:pathLst>
                <a:path w="271" h="57" fill="none">
                  <a:moveTo>
                    <a:pt x="271" y="0"/>
                  </a:moveTo>
                  <a:lnTo>
                    <a:pt x="0" y="57"/>
                  </a:lnTo>
                </a:path>
              </a:pathLst>
            </a:custGeom>
            <a:noFill/>
            <a:ln w="36517" cap="rnd">
              <a:solidFill>
                <a:srgbClr val="9A9A9A"/>
              </a:solidFill>
              <a:round/>
            </a:ln>
          </p:spPr>
        </p:sp>
        <p:sp>
          <p:nvSpPr>
            <p:cNvPr id="51" name="Flecha 64_2"/>
            <p:cNvSpPr/>
            <p:nvPr/>
          </p:nvSpPr>
          <p:spPr>
            <a:xfrm>
              <a:off x="9120476" y="1397649"/>
              <a:ext cx="269614" cy="246203"/>
            </a:xfrm>
            <a:custGeom>
              <a:avLst/>
              <a:gdLst/>
              <a:ahLst/>
              <a:cxnLst/>
              <a:rect l="0" t="0" r="r" b="b"/>
              <a:pathLst>
                <a:path w="294" h="269" fill="none">
                  <a:moveTo>
                    <a:pt x="294" y="0"/>
                  </a:moveTo>
                  <a:lnTo>
                    <a:pt x="0" y="269"/>
                  </a:lnTo>
                </a:path>
              </a:pathLst>
            </a:custGeom>
            <a:noFill/>
            <a:ln w="36517" cap="rnd">
              <a:solidFill>
                <a:srgbClr val="9A9A9A"/>
              </a:solidFill>
              <a:round/>
            </a:ln>
          </p:spPr>
        </p:sp>
        <p:sp>
          <p:nvSpPr>
            <p:cNvPr id="52" name="Flecha 66_2"/>
            <p:cNvSpPr/>
            <p:nvPr/>
          </p:nvSpPr>
          <p:spPr>
            <a:xfrm>
              <a:off x="9390090" y="1376712"/>
              <a:ext cx="230266" cy="20937"/>
            </a:xfrm>
            <a:custGeom>
              <a:avLst/>
              <a:gdLst/>
              <a:ahLst/>
              <a:cxnLst/>
              <a:rect l="0" t="0" r="r" b="b"/>
              <a:pathLst>
                <a:path w="251" h="22" fill="none">
                  <a:moveTo>
                    <a:pt x="0" y="22"/>
                  </a:moveTo>
                  <a:lnTo>
                    <a:pt x="251" y="0"/>
                  </a:lnTo>
                </a:path>
              </a:pathLst>
            </a:custGeom>
            <a:noFill/>
            <a:ln w="36517" cap="rnd">
              <a:solidFill>
                <a:srgbClr val="9A9A9A"/>
              </a:solidFill>
              <a:round/>
            </a:ln>
          </p:spPr>
        </p:sp>
        <p:sp>
          <p:nvSpPr>
            <p:cNvPr id="53" name="Átomo H_7"/>
            <p:cNvSpPr/>
            <p:nvPr/>
          </p:nvSpPr>
          <p:spPr>
            <a:xfrm>
              <a:off x="9361067" y="2088539"/>
              <a:ext cx="160029" cy="16002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4" name="Átomo H_8"/>
            <p:cNvSpPr/>
            <p:nvPr/>
          </p:nvSpPr>
          <p:spPr>
            <a:xfrm>
              <a:off x="8791986" y="1615624"/>
              <a:ext cx="161215" cy="16121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5" name="Átomo O_3"/>
            <p:cNvSpPr/>
            <p:nvPr/>
          </p:nvSpPr>
          <p:spPr>
            <a:xfrm>
              <a:off x="9263374" y="1270932"/>
              <a:ext cx="253433" cy="2534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6" name="Forma 71"/>
            <p:cNvSpPr txBox="1"/>
            <p:nvPr/>
          </p:nvSpPr>
          <p:spPr>
            <a:xfrm>
              <a:off x="8321040" y="2591924"/>
              <a:ext cx="228600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Glicerol</a:t>
              </a:r>
              <a:endParaRPr lang="es-AR" sz="1300" dirty="0">
                <a:latin typeface="Fira Sans Condensed"/>
              </a:endParaRPr>
            </a:p>
          </p:txBody>
        </p:sp>
      </p:grpSp>
      <p:grpSp>
        <p:nvGrpSpPr>
          <p:cNvPr id="57" name="Cuadro Claves"/>
          <p:cNvGrpSpPr/>
          <p:nvPr/>
        </p:nvGrpSpPr>
        <p:grpSpPr>
          <a:xfrm>
            <a:off x="5669280" y="3886200"/>
            <a:ext cx="6172200" cy="2377440"/>
            <a:chOff x="5669280" y="3886200"/>
            <a:chExt cx="6172200" cy="2377440"/>
          </a:xfrm>
        </p:grpSpPr>
        <p:sp>
          <p:nvSpPr>
            <p:cNvPr id="58" name="Forma 73"/>
            <p:cNvSpPr/>
            <p:nvPr/>
          </p:nvSpPr>
          <p:spPr>
            <a:xfrm>
              <a:off x="5669280" y="4087368"/>
              <a:ext cx="617220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Fuente principal: </a:t>
              </a:r>
              <a:r>
                <a:rPr lang="es-AR" sz="1350" b="1" dirty="0">
                  <a:solidFill>
                    <a:srgbClr val="1E1E1E"/>
                  </a:solidFill>
                  <a:latin typeface="Fira Sans Condensed"/>
                  <a:ea typeface="Fira Sans Condensed"/>
                  <a:cs typeface="Fira Sans Condensed"/>
                  <a:sym typeface="Fira Sans Condensed"/>
                </a:rPr>
                <a:t>glucólisis vía DHAP</a:t>
              </a:r>
              <a:r>
                <a:rPr lang="es-AR" sz="1350" dirty="0">
                  <a:solidFill>
                    <a:srgbClr val="1E1E1E"/>
                  </a:solidFill>
                  <a:latin typeface="Fira Sans Condensed"/>
                  <a:ea typeface="Fira Sans Condensed"/>
                  <a:cs typeface="Fira Sans Condensed"/>
                  <a:sym typeface="Fira Sans Condensed"/>
                </a:rPr>
                <a:t> (por eso la insulina y GLUT4 favorecen el almacenamiento).</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También </a:t>
              </a:r>
              <a:r>
                <a:rPr lang="es-AR" sz="1350" b="1" dirty="0">
                  <a:solidFill>
                    <a:srgbClr val="1E1E1E"/>
                  </a:solidFill>
                  <a:latin typeface="Fira Sans Condensed"/>
                  <a:ea typeface="Fira Sans Condensed"/>
                  <a:cs typeface="Fira Sans Condensed"/>
                  <a:sym typeface="Fira Sans Condensed"/>
                </a:rPr>
                <a:t>gliceroneogénesis</a:t>
              </a:r>
              <a:r>
                <a:rPr lang="es-AR" sz="1350" dirty="0">
                  <a:solidFill>
                    <a:srgbClr val="1E1E1E"/>
                  </a:solidFill>
                  <a:latin typeface="Fira Sans Condensed"/>
                  <a:ea typeface="Fira Sans Condensed"/>
                  <a:cs typeface="Fira Sans Condensed"/>
                  <a:sym typeface="Fira Sans Condensed"/>
                </a:rPr>
                <a:t> desde piruvato.</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La </a:t>
              </a:r>
              <a:r>
                <a:rPr lang="es-AR" sz="1350" b="1" dirty="0">
                  <a:solidFill>
                    <a:srgbClr val="1E1E1E"/>
                  </a:solidFill>
                  <a:latin typeface="Fira Sans Condensed"/>
                  <a:ea typeface="Fira Sans Condensed"/>
                  <a:cs typeface="Fira Sans Condensed"/>
                  <a:sym typeface="Fira Sans Condensed"/>
                </a:rPr>
                <a:t>glicerol cinasa</a:t>
              </a:r>
              <a:r>
                <a:rPr lang="es-AR" sz="1350" dirty="0">
                  <a:solidFill>
                    <a:srgbClr val="1E1E1E"/>
                  </a:solidFill>
                  <a:latin typeface="Fira Sans Condensed"/>
                  <a:ea typeface="Fira Sans Condensed"/>
                  <a:cs typeface="Fira Sans Condensed"/>
                  <a:sym typeface="Fira Sans Condensed"/>
                </a:rPr>
                <a:t> del adiposo blanco es </a:t>
              </a:r>
              <a:r>
                <a:rPr lang="es-AR" sz="1350" b="1" dirty="0">
                  <a:solidFill>
                    <a:srgbClr val="1E1E1E"/>
                  </a:solidFill>
                  <a:latin typeface="Fira Sans Condensed"/>
                  <a:ea typeface="Fira Sans Condensed"/>
                  <a:cs typeface="Fira Sans Condensed"/>
                  <a:sym typeface="Fira Sans Condensed"/>
                </a:rPr>
                <a:t>baja</a:t>
              </a:r>
              <a:r>
                <a:rPr lang="es-AR" sz="1350" dirty="0">
                  <a:solidFill>
                    <a:srgbClr val="1E1E1E"/>
                  </a:solidFill>
                  <a:latin typeface="Fira Sans Condensed"/>
                  <a:ea typeface="Fira Sans Condensed"/>
                  <a:cs typeface="Fira Sans Condensed"/>
                  <a:sym typeface="Fira Sans Condensed"/>
                </a:rPr>
                <a:t> frente al hígado: el glicerol de la lipólisis sale en gran proporción a la </a:t>
              </a:r>
              <a:r>
                <a:rPr lang="es-AR" sz="1350" b="1" dirty="0">
                  <a:solidFill>
                    <a:srgbClr val="1E1E1E"/>
                  </a:solidFill>
                  <a:latin typeface="Fira Sans Condensed"/>
                  <a:ea typeface="Fira Sans Condensed"/>
                  <a:cs typeface="Fira Sans Condensed"/>
                  <a:sym typeface="Fira Sans Condensed"/>
                </a:rPr>
                <a:t>circulación</a:t>
              </a:r>
              <a:r>
                <a:rPr lang="es-AR" sz="1350" dirty="0">
                  <a:solidFill>
                    <a:srgbClr val="1E1E1E"/>
                  </a:solidFill>
                  <a:latin typeface="Fira Sans Condensed"/>
                  <a:ea typeface="Fira Sans Condensed"/>
                  <a:cs typeface="Fira Sans Condensed"/>
                  <a:sym typeface="Fira Sans Condensed"/>
                </a:rPr>
                <a:t> (sustrato gluconeogénico).</a:t>
              </a:r>
              <a:endParaRPr lang="es-AR" sz="1350" dirty="0">
                <a:latin typeface="Fira Sans Condensed"/>
              </a:endParaRPr>
            </a:p>
          </p:txBody>
        </p:sp>
        <p:sp>
          <p:nvSpPr>
            <p:cNvPr id="59" name="Forma 74"/>
            <p:cNvSpPr/>
            <p:nvPr/>
          </p:nvSpPr>
          <p:spPr>
            <a:xfrm>
              <a:off x="5806440" y="3886200"/>
              <a:ext cx="94066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CLAVES</a:t>
              </a:r>
              <a:endParaRPr lang="es-AR" sz="1400" dirty="0">
                <a:latin typeface="Fira Sans Condensed"/>
              </a:endParaRPr>
            </a:p>
          </p:txBody>
        </p:sp>
      </p:gr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GLICEROL-3-FOSFATO: EL ESQUELETO DEL TRIGLICÉRIDO</a:t>
            </a:r>
            <a:endParaRPr lang="es-AR" sz="28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6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up)">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par>
                          <p:cTn id="26" fill="hold">
                            <p:stCondLst>
                              <p:cond delay="2200"/>
                            </p:stCondLst>
                            <p:childTnLst>
                              <p:par>
                                <p:cTn id="23" presetID="22" presetClass="entr" presetSubtype="1"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childTnLst>
                          </p:cTn>
                        </p:par>
                        <p:par>
                          <p:cTn id="34" fill="hold">
                            <p:stCondLst>
                              <p:cond delay="3100"/>
                            </p:stCondLst>
                            <p:childTnLst>
                              <p:par>
                                <p:cTn id="31" presetID="22" presetClass="entr" presetSubtype="1"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up)">
                                      <p:cBhvr>
                                        <p:cTn id="33" dur="500"/>
                                        <p:tgtEl>
                                          <p:spTgt spid="10"/>
                                        </p:tgtEl>
                                      </p:cBhvr>
                                    </p:animEffect>
                                  </p:childTnLst>
                                </p:cTn>
                              </p:par>
                            </p:childTnLst>
                          </p:cTn>
                        </p:par>
                        <p:par>
                          <p:cTn id="38" fill="hold">
                            <p:stCondLst>
                              <p:cond delay="3600"/>
                            </p:stCondLst>
                            <p:childTnLst>
                              <p:par>
                                <p:cTn id="35" presetID="10" presetClass="entr" presetSubtype="0"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48"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childTnLst>
                          </p:cTn>
                        </p:par>
                        <p:par>
                          <p:cTn id="47" fill="hold">
                            <p:stCondLst>
                              <p:cond delay="400"/>
                            </p:stCondLst>
                            <p:childTnLst>
                              <p:par>
                                <p:cTn id="44" presetID="22" presetClass="entr" presetSubtype="2"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right)">
                                      <p:cBhvr>
                                        <p:cTn id="46" dur="500"/>
                                        <p:tgtEl>
                                          <p:spTgt spid="13"/>
                                        </p:tgtEl>
                                      </p:cBhvr>
                                    </p:animEffect>
                                  </p:childTnLst>
                                </p:cTn>
                              </p:par>
                            </p:childTnLst>
                          </p:cTn>
                        </p:par>
                      </p:childTnLst>
                    </p:cTn>
                  </p:par>
                  <p:par>
                    <p:cTn id="57" fill="hold">
                      <p:stCondLst>
                        <p:cond delay="indefinite"/>
                      </p:stCondLst>
                      <p:childTnLst>
                        <p:par>
                          <p:cTn id="52"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childTnLst>
                          </p:cTn>
                        </p:par>
                        <p:par>
                          <p:cTn id="56" fill="hold">
                            <p:stCondLst>
                              <p:cond delay="400"/>
                            </p:stCondLst>
                            <p:childTnLst>
                              <p:par>
                                <p:cTn id="53" presetID="22" presetClass="entr" presetSubtype="8"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500"/>
                                        <p:tgtEl>
                                          <p:spTgt spid="16"/>
                                        </p:tgtEl>
                                      </p:cBhvr>
                                    </p:animEffect>
                                  </p:childTnLst>
                                </p:cTn>
                              </p:par>
                            </p:childTnLst>
                          </p:cTn>
                        </p:par>
                      </p:childTnLst>
                    </p:cTn>
                  </p:par>
                  <p:par>
                    <p:cTn id="66" fill="hold">
                      <p:stCondLst>
                        <p:cond delay="indefinite"/>
                      </p:stCondLst>
                      <p:childTnLst>
                        <p:par>
                          <p:cTn id="61"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up)">
                                      <p:cBhvr>
                                        <p:cTn id="60" dur="500"/>
                                        <p:tgtEl>
                                          <p:spTgt spid="19"/>
                                        </p:tgtEl>
                                      </p:cBhvr>
                                    </p:animEffect>
                                  </p:childTnLst>
                                </p:cTn>
                              </p:par>
                            </p:childTnLst>
                          </p:cTn>
                        </p:par>
                        <p:par>
                          <p:cTn id="65"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1" fill="hold">
                      <p:stCondLst>
                        <p:cond delay="indefinite"/>
                      </p:stCondLst>
                      <p:childTnLst>
                        <p:par>
                          <p:cTn id="70"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fade">
                                      <p:cBhvr>
                                        <p:cTn id="6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7" grpId="0" animBg="1"/>
      <p:bldP spid="21" grpId="0" animBg="1"/>
      <p:bldP spid="8" grpId="0" animBg="1"/>
      <p:bldP spid="22" grpId="0" animBg="1"/>
      <p:bldP spid="9" grpId="0" animBg="1"/>
      <p:bldP spid="23" grpId="0" animBg="1"/>
      <p:bldP spid="24" grpId="0" animBg="1"/>
      <p:bldP spid="25" grpId="0" animBg="1"/>
      <p:bldP spid="26" grpId="0" animBg="1"/>
      <p:bldP spid="19" grpId="0" animBg="1"/>
      <p:bldP spid="27" grpId="0" animBg="1"/>
    </p:bld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Est 0"/>
          <p:cNvGrpSpPr/>
          <p:nvPr/>
        </p:nvGrpSpPr>
        <p:grpSpPr>
          <a:xfrm>
            <a:off x="548640" y="1097280"/>
            <a:ext cx="3291840" cy="566928"/>
            <a:chOff x="548640" y="1097280"/>
            <a:chExt cx="3291840" cy="566928"/>
          </a:xfrm>
        </p:grpSpPr>
        <p:sp>
          <p:nvSpPr>
            <p:cNvPr id="8" name="Recuadro Glicerol-3-P"/>
            <p:cNvSpPr/>
            <p:nvPr/>
          </p:nvSpPr>
          <p:spPr>
            <a:xfrm>
              <a:off x="548640" y="1097280"/>
              <a:ext cx="32918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GLICEROL-3-P</a:t>
              </a:r>
              <a:endParaRPr lang="es-AR" sz="1500" dirty="0">
                <a:latin typeface="Fira Sans Condensed"/>
              </a:endParaRPr>
            </a:p>
          </p:txBody>
        </p:sp>
      </p:grpSp>
      <p:grpSp>
        <p:nvGrpSpPr>
          <p:cNvPr id="9" name="Est 1"/>
          <p:cNvGrpSpPr/>
          <p:nvPr/>
        </p:nvGrpSpPr>
        <p:grpSpPr>
          <a:xfrm>
            <a:off x="548640" y="1673352"/>
            <a:ext cx="4809744" cy="978408"/>
            <a:chOff x="548640" y="1673352"/>
            <a:chExt cx="4809744" cy="978408"/>
          </a:xfrm>
        </p:grpSpPr>
        <p:sp>
          <p:nvSpPr>
            <p:cNvPr id="10" name="Recuadro Ácido lisofosfatídico"/>
            <p:cNvSpPr/>
            <p:nvPr/>
          </p:nvSpPr>
          <p:spPr>
            <a:xfrm>
              <a:off x="548640" y="2084832"/>
              <a:ext cx="32918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Ácido lisofosfatídico</a:t>
              </a:r>
              <a:endParaRPr lang="es-AR" sz="1500" dirty="0">
                <a:latin typeface="Fira Sans Condensed"/>
              </a:endParaRPr>
            </a:p>
          </p:txBody>
        </p:sp>
        <p:sp>
          <p:nvSpPr>
            <p:cNvPr id="11" name="Flecha 10_2"/>
            <p:cNvSpPr/>
            <p:nvPr/>
          </p:nvSpPr>
          <p:spPr>
            <a:xfrm>
              <a:off x="2194560" y="1691640"/>
              <a:ext cx="9144" cy="365760"/>
            </a:xfrm>
            <a:custGeom>
              <a:avLst/>
              <a:gdLst/>
              <a:ahLst/>
              <a:cxnLst/>
              <a:rect l="0" t="0" r="r" b="b"/>
              <a:pathLst>
                <a:path w="10" h="400" fill="none">
                  <a:moveTo>
                    <a:pt x="0" y="0"/>
                  </a:moveTo>
                  <a:lnTo>
                    <a:pt x="0" y="400"/>
                  </a:lnTo>
                </a:path>
              </a:pathLst>
            </a:custGeom>
            <a:noFill/>
            <a:ln w="31750" cap="rnd">
              <a:solidFill>
                <a:srgbClr val="1E1E1E"/>
              </a:solidFill>
              <a:round/>
              <a:tailEnd type="triangle" w="med" len="med"/>
            </a:ln>
          </p:spPr>
        </p:sp>
        <p:sp>
          <p:nvSpPr>
            <p:cNvPr id="12" name="Rótulo GPAT + acil-CoA"/>
            <p:cNvSpPr/>
            <p:nvPr/>
          </p:nvSpPr>
          <p:spPr>
            <a:xfrm>
              <a:off x="2377440" y="1737360"/>
              <a:ext cx="1171196"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GPAT + acil-CoA</a:t>
              </a:r>
              <a:endParaRPr lang="es-AR" sz="1100" dirty="0">
                <a:latin typeface="Fira Sans Condensed"/>
              </a:endParaRPr>
            </a:p>
          </p:txBody>
        </p:sp>
        <p:sp>
          <p:nvSpPr>
            <p:cNvPr id="13" name="AG est 1"/>
            <p:cNvSpPr/>
            <p:nvPr/>
          </p:nvSpPr>
          <p:spPr>
            <a:xfrm>
              <a:off x="5029200" y="1673352"/>
              <a:ext cx="329184" cy="329184"/>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055" b="1" dirty="0">
                  <a:solidFill>
                    <a:srgbClr val="1E1E1E"/>
                  </a:solidFill>
                  <a:latin typeface="Fira Sans Condensed"/>
                  <a:ea typeface="Fira Sans Condensed"/>
                  <a:cs typeface="Fira Sans Condensed"/>
                  <a:sym typeface="Fira Sans Condensed"/>
                </a:rPr>
                <a:t>AG</a:t>
              </a:r>
              <a:endParaRPr lang="es-AR" sz="1055" dirty="0">
                <a:latin typeface="Fira Sans Condensed"/>
              </a:endParaRPr>
            </a:p>
          </p:txBody>
        </p:sp>
      </p:grpSp>
      <p:grpSp>
        <p:nvGrpSpPr>
          <p:cNvPr id="14" name="Est 2"/>
          <p:cNvGrpSpPr/>
          <p:nvPr/>
        </p:nvGrpSpPr>
        <p:grpSpPr>
          <a:xfrm>
            <a:off x="548640" y="2660904"/>
            <a:ext cx="4809744" cy="978408"/>
            <a:chOff x="548640" y="2660904"/>
            <a:chExt cx="4809744" cy="978408"/>
          </a:xfrm>
        </p:grpSpPr>
        <p:sp>
          <p:nvSpPr>
            <p:cNvPr id="15" name="Recuadro Ácido fosfatídico"/>
            <p:cNvSpPr/>
            <p:nvPr/>
          </p:nvSpPr>
          <p:spPr>
            <a:xfrm>
              <a:off x="548640" y="3072384"/>
              <a:ext cx="32918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Ácido fosfatídico</a:t>
              </a:r>
              <a:endParaRPr lang="es-AR" sz="1500" dirty="0">
                <a:latin typeface="Fira Sans Condensed"/>
              </a:endParaRPr>
            </a:p>
          </p:txBody>
        </p:sp>
        <p:sp>
          <p:nvSpPr>
            <p:cNvPr id="16" name="Flecha 16_2"/>
            <p:cNvSpPr/>
            <p:nvPr/>
          </p:nvSpPr>
          <p:spPr>
            <a:xfrm>
              <a:off x="2194560" y="2679192"/>
              <a:ext cx="9144" cy="365760"/>
            </a:xfrm>
            <a:custGeom>
              <a:avLst/>
              <a:gdLst/>
              <a:ahLst/>
              <a:cxnLst/>
              <a:rect l="0" t="0" r="r" b="b"/>
              <a:pathLst>
                <a:path w="10" h="400" fill="none">
                  <a:moveTo>
                    <a:pt x="0" y="0"/>
                  </a:moveTo>
                  <a:lnTo>
                    <a:pt x="0" y="400"/>
                  </a:lnTo>
                </a:path>
              </a:pathLst>
            </a:custGeom>
            <a:noFill/>
            <a:ln w="31750" cap="rnd">
              <a:solidFill>
                <a:srgbClr val="1E1E1E"/>
              </a:solidFill>
              <a:round/>
              <a:tailEnd type="triangle" w="med" len="med"/>
            </a:ln>
          </p:spPr>
        </p:sp>
        <p:sp>
          <p:nvSpPr>
            <p:cNvPr id="17" name="Rótulo AGPAT + acil-CoA"/>
            <p:cNvSpPr/>
            <p:nvPr/>
          </p:nvSpPr>
          <p:spPr>
            <a:xfrm>
              <a:off x="2377440" y="2724912"/>
              <a:ext cx="1250882"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AGPAT + acil-CoA</a:t>
              </a:r>
              <a:endParaRPr lang="es-AR" sz="1100" dirty="0">
                <a:latin typeface="Fira Sans Condensed"/>
              </a:endParaRPr>
            </a:p>
          </p:txBody>
        </p:sp>
        <p:sp>
          <p:nvSpPr>
            <p:cNvPr id="18" name="AG est 2"/>
            <p:cNvSpPr/>
            <p:nvPr/>
          </p:nvSpPr>
          <p:spPr>
            <a:xfrm>
              <a:off x="5029200" y="2660904"/>
              <a:ext cx="329184" cy="329184"/>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055" b="1" dirty="0">
                  <a:solidFill>
                    <a:srgbClr val="1E1E1E"/>
                  </a:solidFill>
                  <a:latin typeface="Fira Sans Condensed"/>
                  <a:ea typeface="Fira Sans Condensed"/>
                  <a:cs typeface="Fira Sans Condensed"/>
                  <a:sym typeface="Fira Sans Condensed"/>
                </a:rPr>
                <a:t>AG</a:t>
              </a:r>
              <a:endParaRPr lang="es-AR" sz="1055" dirty="0">
                <a:latin typeface="Fira Sans Condensed"/>
              </a:endParaRPr>
            </a:p>
          </p:txBody>
        </p:sp>
      </p:grpSp>
      <p:grpSp>
        <p:nvGrpSpPr>
          <p:cNvPr id="19" name="Est 3"/>
          <p:cNvGrpSpPr/>
          <p:nvPr/>
        </p:nvGrpSpPr>
        <p:grpSpPr>
          <a:xfrm>
            <a:off x="548640" y="3666744"/>
            <a:ext cx="3499582" cy="960120"/>
            <a:chOff x="548640" y="3666744"/>
            <a:chExt cx="3499582" cy="960120"/>
          </a:xfrm>
        </p:grpSpPr>
        <p:sp>
          <p:nvSpPr>
            <p:cNvPr id="20" name="Recuadro Diacilglicerol"/>
            <p:cNvSpPr/>
            <p:nvPr/>
          </p:nvSpPr>
          <p:spPr>
            <a:xfrm>
              <a:off x="548640" y="4059936"/>
              <a:ext cx="32918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Diacilglicerol</a:t>
              </a:r>
              <a:endParaRPr lang="es-AR" sz="1500" dirty="0">
                <a:latin typeface="Fira Sans Condensed"/>
              </a:endParaRPr>
            </a:p>
          </p:txBody>
        </p:sp>
        <p:sp>
          <p:nvSpPr>
            <p:cNvPr id="21" name="Flecha 22_2"/>
            <p:cNvSpPr/>
            <p:nvPr/>
          </p:nvSpPr>
          <p:spPr>
            <a:xfrm>
              <a:off x="2194560" y="3666744"/>
              <a:ext cx="9144" cy="365760"/>
            </a:xfrm>
            <a:custGeom>
              <a:avLst/>
              <a:gdLst/>
              <a:ahLst/>
              <a:cxnLst/>
              <a:rect l="0" t="0" r="r" b="b"/>
              <a:pathLst>
                <a:path w="10" h="399" fill="none">
                  <a:moveTo>
                    <a:pt x="0" y="0"/>
                  </a:moveTo>
                  <a:lnTo>
                    <a:pt x="0" y="399"/>
                  </a:lnTo>
                </a:path>
              </a:pathLst>
            </a:custGeom>
            <a:noFill/>
            <a:ln w="31750" cap="rnd">
              <a:solidFill>
                <a:srgbClr val="1E1E1E"/>
              </a:solidFill>
              <a:round/>
              <a:tailEnd type="triangle" w="med" len="med"/>
            </a:ln>
          </p:spPr>
        </p:sp>
        <p:sp>
          <p:nvSpPr>
            <p:cNvPr id="22" name="Rótulo Lipina (fosfatasa "/>
            <p:cNvSpPr/>
            <p:nvPr/>
          </p:nvSpPr>
          <p:spPr>
            <a:xfrm>
              <a:off x="2377440" y="3712464"/>
              <a:ext cx="1670782"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Lipina (fosfatasa de PA)</a:t>
              </a:r>
              <a:endParaRPr lang="es-AR" sz="1100" dirty="0">
                <a:latin typeface="Fira Sans Condensed"/>
              </a:endParaRPr>
            </a:p>
          </p:txBody>
        </p:sp>
      </p:grpSp>
      <p:grpSp>
        <p:nvGrpSpPr>
          <p:cNvPr id="23" name="Est 4"/>
          <p:cNvGrpSpPr/>
          <p:nvPr/>
        </p:nvGrpSpPr>
        <p:grpSpPr>
          <a:xfrm>
            <a:off x="548640" y="4636008"/>
            <a:ext cx="4809744" cy="978408"/>
            <a:chOff x="548640" y="4636008"/>
            <a:chExt cx="4809744" cy="978408"/>
          </a:xfrm>
        </p:grpSpPr>
        <p:sp>
          <p:nvSpPr>
            <p:cNvPr id="24" name="Recuadro TRIACILGLICEROL"/>
            <p:cNvSpPr/>
            <p:nvPr/>
          </p:nvSpPr>
          <p:spPr>
            <a:xfrm>
              <a:off x="548640" y="5047488"/>
              <a:ext cx="32918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TRIACILGLICEROL</a:t>
              </a:r>
              <a:endParaRPr lang="es-AR" sz="1500" dirty="0">
                <a:latin typeface="Fira Sans Condensed"/>
              </a:endParaRPr>
            </a:p>
          </p:txBody>
        </p:sp>
        <p:sp>
          <p:nvSpPr>
            <p:cNvPr id="25" name="Flecha 27_2"/>
            <p:cNvSpPr/>
            <p:nvPr/>
          </p:nvSpPr>
          <p:spPr>
            <a:xfrm>
              <a:off x="2194560" y="4654296"/>
              <a:ext cx="9144" cy="365760"/>
            </a:xfrm>
            <a:custGeom>
              <a:avLst/>
              <a:gdLst/>
              <a:ahLst/>
              <a:cxnLst/>
              <a:rect l="0" t="0" r="r" b="b"/>
              <a:pathLst>
                <a:path w="10" h="399" fill="none">
                  <a:moveTo>
                    <a:pt x="0" y="0"/>
                  </a:moveTo>
                  <a:lnTo>
                    <a:pt x="0" y="399"/>
                  </a:lnTo>
                </a:path>
              </a:pathLst>
            </a:custGeom>
            <a:noFill/>
            <a:ln w="31750" cap="rnd">
              <a:solidFill>
                <a:srgbClr val="1E1E1E"/>
              </a:solidFill>
              <a:round/>
              <a:tailEnd type="triangle" w="med" len="med"/>
            </a:ln>
          </p:spPr>
        </p:sp>
        <p:sp>
          <p:nvSpPr>
            <p:cNvPr id="26" name="Rótulo DGAT + acil-CoA"/>
            <p:cNvSpPr/>
            <p:nvPr/>
          </p:nvSpPr>
          <p:spPr>
            <a:xfrm>
              <a:off x="2377440" y="4700016"/>
              <a:ext cx="1187778"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DGAT + acil-CoA</a:t>
              </a:r>
              <a:endParaRPr lang="es-AR" sz="1100" dirty="0">
                <a:latin typeface="Fira Sans Condensed"/>
              </a:endParaRPr>
            </a:p>
          </p:txBody>
        </p:sp>
        <p:sp>
          <p:nvSpPr>
            <p:cNvPr id="27" name="AG est 4"/>
            <p:cNvSpPr/>
            <p:nvPr/>
          </p:nvSpPr>
          <p:spPr>
            <a:xfrm>
              <a:off x="5029200" y="4636008"/>
              <a:ext cx="329184" cy="329184"/>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055" b="1" dirty="0">
                  <a:solidFill>
                    <a:srgbClr val="1E1E1E"/>
                  </a:solidFill>
                  <a:latin typeface="Fira Sans Condensed"/>
                  <a:ea typeface="Fira Sans Condensed"/>
                  <a:cs typeface="Fira Sans Condensed"/>
                  <a:sym typeface="Fira Sans Condensed"/>
                </a:rPr>
                <a:t>AG</a:t>
              </a:r>
              <a:endParaRPr lang="es-AR" sz="1055" dirty="0">
                <a:latin typeface="Fira Sans Condensed"/>
              </a:endParaRPr>
            </a:p>
          </p:txBody>
        </p:sp>
      </p:grpSp>
      <p:grpSp>
        <p:nvGrpSpPr>
          <p:cNvPr id="28" name="TAG 3D est"/>
          <p:cNvGrpSpPr/>
          <p:nvPr/>
        </p:nvGrpSpPr>
        <p:grpSpPr>
          <a:xfrm>
            <a:off x="5669280" y="1146413"/>
            <a:ext cx="3657600" cy="1891138"/>
            <a:chOff x="5669280" y="1146413"/>
            <a:chExt cx="3657600" cy="1891138"/>
          </a:xfrm>
        </p:grpSpPr>
        <p:sp>
          <p:nvSpPr>
            <p:cNvPr id="29" name="Átomo C"/>
            <p:cNvSpPr/>
            <p:nvPr/>
          </p:nvSpPr>
          <p:spPr>
            <a:xfrm>
              <a:off x="8818508" y="1731297"/>
              <a:ext cx="111669" cy="1116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Flecha 33_2"/>
            <p:cNvSpPr/>
            <p:nvPr/>
          </p:nvSpPr>
          <p:spPr>
            <a:xfrm>
              <a:off x="8874343" y="1595537"/>
              <a:ext cx="68727" cy="191596"/>
            </a:xfrm>
            <a:custGeom>
              <a:avLst/>
              <a:gdLst/>
              <a:ahLst/>
              <a:cxnLst/>
              <a:rect l="0" t="0" r="r" b="b"/>
              <a:pathLst>
                <a:path w="75" h="209" fill="none">
                  <a:moveTo>
                    <a:pt x="0" y="209"/>
                  </a:moveTo>
                  <a:lnTo>
                    <a:pt x="75" y="0"/>
                  </a:lnTo>
                </a:path>
              </a:pathLst>
            </a:custGeom>
            <a:noFill/>
            <a:ln w="19050" cap="rnd">
              <a:solidFill>
                <a:srgbClr val="9A9A9A"/>
              </a:solidFill>
              <a:round/>
            </a:ln>
          </p:spPr>
        </p:sp>
        <p:sp>
          <p:nvSpPr>
            <p:cNvPr id="31" name="Átomo C_2"/>
            <p:cNvSpPr/>
            <p:nvPr/>
          </p:nvSpPr>
          <p:spPr>
            <a:xfrm>
              <a:off x="8886997" y="1539464"/>
              <a:ext cx="112145" cy="1121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2" name="Flecha 36_2"/>
            <p:cNvSpPr/>
            <p:nvPr/>
          </p:nvSpPr>
          <p:spPr>
            <a:xfrm>
              <a:off x="8723543" y="1787132"/>
              <a:ext cx="150800" cy="59314"/>
            </a:xfrm>
            <a:custGeom>
              <a:avLst/>
              <a:gdLst/>
              <a:ahLst/>
              <a:cxnLst/>
              <a:rect l="0" t="0" r="r" b="b"/>
              <a:pathLst>
                <a:path w="164" h="64" fill="none">
                  <a:moveTo>
                    <a:pt x="0" y="64"/>
                  </a:moveTo>
                  <a:lnTo>
                    <a:pt x="164" y="0"/>
                  </a:lnTo>
                </a:path>
              </a:pathLst>
            </a:custGeom>
            <a:noFill/>
            <a:ln w="19050" cap="rnd">
              <a:solidFill>
                <a:srgbClr val="9A9A9A"/>
              </a:solidFill>
              <a:round/>
            </a:ln>
          </p:spPr>
        </p:sp>
        <p:sp>
          <p:nvSpPr>
            <p:cNvPr id="33" name="Átomo C_3"/>
            <p:cNvSpPr/>
            <p:nvPr/>
          </p:nvSpPr>
          <p:spPr>
            <a:xfrm>
              <a:off x="8596537" y="1981864"/>
              <a:ext cx="112612" cy="1126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4" name="Flecha 39_2"/>
            <p:cNvSpPr/>
            <p:nvPr/>
          </p:nvSpPr>
          <p:spPr>
            <a:xfrm>
              <a:off x="8652843" y="1846446"/>
              <a:ext cx="70700" cy="191724"/>
            </a:xfrm>
            <a:custGeom>
              <a:avLst/>
              <a:gdLst/>
              <a:ahLst/>
              <a:cxnLst/>
              <a:rect l="0" t="0" r="r" b="b"/>
              <a:pathLst>
                <a:path w="77" h="209" fill="none">
                  <a:moveTo>
                    <a:pt x="0" y="209"/>
                  </a:moveTo>
                  <a:lnTo>
                    <a:pt x="77" y="0"/>
                  </a:lnTo>
                </a:path>
              </a:pathLst>
            </a:custGeom>
            <a:noFill/>
            <a:ln w="19050" cap="rnd">
              <a:solidFill>
                <a:srgbClr val="9A9A9A"/>
              </a:solidFill>
              <a:round/>
            </a:ln>
          </p:spPr>
        </p:sp>
        <p:sp>
          <p:nvSpPr>
            <p:cNvPr id="35" name="Átomo C_4"/>
            <p:cNvSpPr/>
            <p:nvPr/>
          </p:nvSpPr>
          <p:spPr>
            <a:xfrm>
              <a:off x="8666988" y="1789891"/>
              <a:ext cx="113110" cy="11311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6" name="Flecha 42_2"/>
            <p:cNvSpPr/>
            <p:nvPr/>
          </p:nvSpPr>
          <p:spPr>
            <a:xfrm>
              <a:off x="8500661" y="2038170"/>
              <a:ext cx="152182" cy="57925"/>
            </a:xfrm>
            <a:custGeom>
              <a:avLst/>
              <a:gdLst/>
              <a:ahLst/>
              <a:cxnLst/>
              <a:rect l="0" t="0" r="r" b="b"/>
              <a:pathLst>
                <a:path w="166" h="63" fill="none">
                  <a:moveTo>
                    <a:pt x="0" y="63"/>
                  </a:moveTo>
                  <a:lnTo>
                    <a:pt x="166" y="0"/>
                  </a:lnTo>
                </a:path>
              </a:pathLst>
            </a:custGeom>
            <a:noFill/>
            <a:ln w="19050" cap="rnd">
              <a:solidFill>
                <a:srgbClr val="9A9A9A"/>
              </a:solidFill>
              <a:round/>
            </a:ln>
          </p:spPr>
        </p:sp>
        <p:sp>
          <p:nvSpPr>
            <p:cNvPr id="37" name="Átomo C_5"/>
            <p:cNvSpPr/>
            <p:nvPr/>
          </p:nvSpPr>
          <p:spPr>
            <a:xfrm>
              <a:off x="8370700" y="2229938"/>
              <a:ext cx="113537" cy="11353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45_2"/>
            <p:cNvSpPr/>
            <p:nvPr/>
          </p:nvSpPr>
          <p:spPr>
            <a:xfrm>
              <a:off x="8427469" y="2096095"/>
              <a:ext cx="73192" cy="190612"/>
            </a:xfrm>
            <a:custGeom>
              <a:avLst/>
              <a:gdLst/>
              <a:ahLst/>
              <a:cxnLst/>
              <a:rect l="0" t="0" r="r" b="b"/>
              <a:pathLst>
                <a:path w="80" h="208" fill="none">
                  <a:moveTo>
                    <a:pt x="0" y="208"/>
                  </a:moveTo>
                  <a:lnTo>
                    <a:pt x="80" y="0"/>
                  </a:lnTo>
                </a:path>
              </a:pathLst>
            </a:custGeom>
            <a:noFill/>
            <a:ln w="19050" cap="rnd">
              <a:solidFill>
                <a:srgbClr val="9A9A9A"/>
              </a:solidFill>
              <a:round/>
            </a:ln>
          </p:spPr>
        </p:sp>
        <p:sp>
          <p:nvSpPr>
            <p:cNvPr id="39" name="Átomo C_6"/>
            <p:cNvSpPr/>
            <p:nvPr/>
          </p:nvSpPr>
          <p:spPr>
            <a:xfrm>
              <a:off x="8443638" y="2039072"/>
              <a:ext cx="114045" cy="1140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Flecha 48_2"/>
            <p:cNvSpPr/>
            <p:nvPr/>
          </p:nvSpPr>
          <p:spPr>
            <a:xfrm>
              <a:off x="8273156" y="2286706"/>
              <a:ext cx="154313" cy="55499"/>
            </a:xfrm>
            <a:custGeom>
              <a:avLst/>
              <a:gdLst/>
              <a:ahLst/>
              <a:cxnLst/>
              <a:rect l="0" t="0" r="r" b="b"/>
              <a:pathLst>
                <a:path w="168" h="60" fill="none">
                  <a:moveTo>
                    <a:pt x="0" y="60"/>
                  </a:moveTo>
                  <a:lnTo>
                    <a:pt x="168" y="0"/>
                  </a:lnTo>
                </a:path>
              </a:pathLst>
            </a:custGeom>
            <a:noFill/>
            <a:ln w="19050" cap="rnd">
              <a:solidFill>
                <a:srgbClr val="9A9A9A"/>
              </a:solidFill>
              <a:round/>
            </a:ln>
          </p:spPr>
        </p:sp>
        <p:sp>
          <p:nvSpPr>
            <p:cNvPr id="41" name="Átomo C_7"/>
            <p:cNvSpPr/>
            <p:nvPr/>
          </p:nvSpPr>
          <p:spPr>
            <a:xfrm>
              <a:off x="8138803" y="2473512"/>
              <a:ext cx="114431" cy="11443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2" name="Flecha 51_2"/>
            <p:cNvSpPr/>
            <p:nvPr/>
          </p:nvSpPr>
          <p:spPr>
            <a:xfrm>
              <a:off x="8196018" y="2342206"/>
              <a:ext cx="77137" cy="188521"/>
            </a:xfrm>
            <a:custGeom>
              <a:avLst/>
              <a:gdLst/>
              <a:ahLst/>
              <a:cxnLst/>
              <a:rect l="0" t="0" r="r" b="b"/>
              <a:pathLst>
                <a:path w="84" h="206" fill="none">
                  <a:moveTo>
                    <a:pt x="0" y="206"/>
                  </a:moveTo>
                  <a:lnTo>
                    <a:pt x="84" y="0"/>
                  </a:lnTo>
                </a:path>
              </a:pathLst>
            </a:custGeom>
            <a:noFill/>
            <a:ln w="19050" cap="rnd">
              <a:solidFill>
                <a:srgbClr val="9A9A9A"/>
              </a:solidFill>
              <a:round/>
            </a:ln>
          </p:spPr>
        </p:sp>
        <p:sp>
          <p:nvSpPr>
            <p:cNvPr id="43" name="Átomo C_8"/>
            <p:cNvSpPr/>
            <p:nvPr/>
          </p:nvSpPr>
          <p:spPr>
            <a:xfrm>
              <a:off x="8215678" y="2284728"/>
              <a:ext cx="114956" cy="11495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Flecha 54_2"/>
            <p:cNvSpPr/>
            <p:nvPr/>
          </p:nvSpPr>
          <p:spPr>
            <a:xfrm>
              <a:off x="8051384" y="2530727"/>
              <a:ext cx="144634" cy="68149"/>
            </a:xfrm>
            <a:custGeom>
              <a:avLst/>
              <a:gdLst/>
              <a:ahLst/>
              <a:cxnLst/>
              <a:rect l="0" t="0" r="r" b="b"/>
              <a:pathLst>
                <a:path w="158" h="74" fill="none">
                  <a:moveTo>
                    <a:pt x="0" y="74"/>
                  </a:moveTo>
                  <a:lnTo>
                    <a:pt x="158" y="0"/>
                  </a:lnTo>
                </a:path>
              </a:pathLst>
            </a:custGeom>
            <a:noFill/>
            <a:ln w="19050" cap="rnd">
              <a:solidFill>
                <a:srgbClr val="9A9A9A"/>
              </a:solidFill>
              <a:round/>
            </a:ln>
          </p:spPr>
        </p:sp>
        <p:sp>
          <p:nvSpPr>
            <p:cNvPr id="45" name="Átomo C_9"/>
            <p:cNvSpPr/>
            <p:nvPr/>
          </p:nvSpPr>
          <p:spPr>
            <a:xfrm>
              <a:off x="7993431" y="2540922"/>
              <a:ext cx="115908" cy="1159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6" name="Flecha 57_2"/>
            <p:cNvSpPr/>
            <p:nvPr/>
          </p:nvSpPr>
          <p:spPr>
            <a:xfrm>
              <a:off x="7880532" y="2478103"/>
              <a:ext cx="170853" cy="120773"/>
            </a:xfrm>
            <a:custGeom>
              <a:avLst/>
              <a:gdLst/>
              <a:ahLst/>
              <a:cxnLst/>
              <a:rect l="0" t="0" r="r" b="b"/>
              <a:pathLst>
                <a:path w="186" h="132" fill="none">
                  <a:moveTo>
                    <a:pt x="0" y="0"/>
                  </a:moveTo>
                  <a:lnTo>
                    <a:pt x="186" y="132"/>
                  </a:lnTo>
                </a:path>
              </a:pathLst>
            </a:custGeom>
            <a:noFill/>
            <a:ln w="19050" cap="rnd">
              <a:solidFill>
                <a:srgbClr val="9A9A9A"/>
              </a:solidFill>
              <a:round/>
            </a:ln>
          </p:spPr>
        </p:sp>
        <p:sp>
          <p:nvSpPr>
            <p:cNvPr id="47" name="Átomo C_10"/>
            <p:cNvSpPr/>
            <p:nvPr/>
          </p:nvSpPr>
          <p:spPr>
            <a:xfrm>
              <a:off x="7822545" y="2420116"/>
              <a:ext cx="115974" cy="11597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Átomo C_11"/>
            <p:cNvSpPr/>
            <p:nvPr/>
          </p:nvSpPr>
          <p:spPr>
            <a:xfrm>
              <a:off x="7250424" y="1319723"/>
              <a:ext cx="116451" cy="1164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9" name="Flecha 61_2"/>
            <p:cNvSpPr/>
            <p:nvPr/>
          </p:nvSpPr>
          <p:spPr>
            <a:xfrm>
              <a:off x="7734090" y="2478103"/>
              <a:ext cx="146442" cy="80017"/>
            </a:xfrm>
            <a:custGeom>
              <a:avLst/>
              <a:gdLst/>
              <a:ahLst/>
              <a:cxnLst/>
              <a:rect l="0" t="0" r="r" b="b"/>
              <a:pathLst>
                <a:path w="160" h="87" fill="none">
                  <a:moveTo>
                    <a:pt x="0" y="87"/>
                  </a:moveTo>
                  <a:lnTo>
                    <a:pt x="160" y="0"/>
                  </a:lnTo>
                </a:path>
              </a:pathLst>
            </a:custGeom>
            <a:noFill/>
            <a:ln w="19050" cap="rnd">
              <a:solidFill>
                <a:srgbClr val="9A9A9A"/>
              </a:solidFill>
              <a:round/>
            </a:ln>
          </p:spPr>
        </p:sp>
        <p:sp>
          <p:nvSpPr>
            <p:cNvPr id="50" name="Átomo O"/>
            <p:cNvSpPr/>
            <p:nvPr/>
          </p:nvSpPr>
          <p:spPr>
            <a:xfrm>
              <a:off x="7531458" y="2214918"/>
              <a:ext cx="110205" cy="11020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1" name="Flecha 64_2"/>
            <p:cNvSpPr/>
            <p:nvPr/>
          </p:nvSpPr>
          <p:spPr>
            <a:xfrm>
              <a:off x="7429916" y="2151661"/>
              <a:ext cx="156645" cy="118359"/>
            </a:xfrm>
            <a:custGeom>
              <a:avLst/>
              <a:gdLst/>
              <a:ahLst/>
              <a:cxnLst/>
              <a:rect l="0" t="0" r="r" b="b"/>
              <a:pathLst>
                <a:path w="171" h="129" fill="none">
                  <a:moveTo>
                    <a:pt x="0" y="0"/>
                  </a:moveTo>
                  <a:lnTo>
                    <a:pt x="171" y="129"/>
                  </a:lnTo>
                </a:path>
              </a:pathLst>
            </a:custGeom>
            <a:noFill/>
            <a:ln w="19050" cap="rnd">
              <a:solidFill>
                <a:srgbClr val="9A9A9A"/>
              </a:solidFill>
              <a:round/>
            </a:ln>
          </p:spPr>
        </p:sp>
        <p:sp>
          <p:nvSpPr>
            <p:cNvPr id="52" name="Átomo C_12"/>
            <p:cNvSpPr/>
            <p:nvPr/>
          </p:nvSpPr>
          <p:spPr>
            <a:xfrm>
              <a:off x="7371429" y="2093174"/>
              <a:ext cx="116974" cy="11697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3" name="Flecha 67_2"/>
            <p:cNvSpPr/>
            <p:nvPr/>
          </p:nvSpPr>
          <p:spPr>
            <a:xfrm>
              <a:off x="7308650" y="1377948"/>
              <a:ext cx="133326" cy="118583"/>
            </a:xfrm>
            <a:custGeom>
              <a:avLst/>
              <a:gdLst/>
              <a:ahLst/>
              <a:cxnLst/>
              <a:rect l="0" t="0" r="r" b="b"/>
              <a:pathLst>
                <a:path w="145" h="129" fill="none">
                  <a:moveTo>
                    <a:pt x="0" y="0"/>
                  </a:moveTo>
                  <a:lnTo>
                    <a:pt x="145" y="129"/>
                  </a:lnTo>
                </a:path>
              </a:pathLst>
            </a:custGeom>
            <a:noFill/>
            <a:ln w="19050" cap="rnd">
              <a:solidFill>
                <a:srgbClr val="9A9A9A"/>
              </a:solidFill>
              <a:round/>
            </a:ln>
          </p:spPr>
        </p:sp>
        <p:sp>
          <p:nvSpPr>
            <p:cNvPr id="54" name="Flecha 69_2"/>
            <p:cNvSpPr/>
            <p:nvPr/>
          </p:nvSpPr>
          <p:spPr>
            <a:xfrm>
              <a:off x="7559960" y="2270020"/>
              <a:ext cx="26600" cy="176332"/>
            </a:xfrm>
            <a:custGeom>
              <a:avLst/>
              <a:gdLst/>
              <a:ahLst/>
              <a:cxnLst/>
              <a:rect l="0" t="0" r="r" b="b"/>
              <a:pathLst>
                <a:path w="29" h="192" fill="none">
                  <a:moveTo>
                    <a:pt x="29" y="0"/>
                  </a:moveTo>
                  <a:lnTo>
                    <a:pt x="0" y="192"/>
                  </a:lnTo>
                </a:path>
              </a:pathLst>
            </a:custGeom>
            <a:noFill/>
            <a:ln w="19050" cap="rnd">
              <a:solidFill>
                <a:srgbClr val="9A9A9A"/>
              </a:solidFill>
              <a:round/>
            </a:ln>
          </p:spPr>
        </p:sp>
        <p:sp>
          <p:nvSpPr>
            <p:cNvPr id="55" name="Átomo C_13"/>
            <p:cNvSpPr/>
            <p:nvPr/>
          </p:nvSpPr>
          <p:spPr>
            <a:xfrm>
              <a:off x="7675414" y="2499445"/>
              <a:ext cx="117351" cy="1173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6" name="Flecha 72_2"/>
            <p:cNvSpPr/>
            <p:nvPr/>
          </p:nvSpPr>
          <p:spPr>
            <a:xfrm>
              <a:off x="7559960" y="2446352"/>
              <a:ext cx="174130" cy="111768"/>
            </a:xfrm>
            <a:custGeom>
              <a:avLst/>
              <a:gdLst/>
              <a:ahLst/>
              <a:cxnLst/>
              <a:rect l="0" t="0" r="r" b="b"/>
              <a:pathLst>
                <a:path w="190" h="122" fill="none">
                  <a:moveTo>
                    <a:pt x="0" y="0"/>
                  </a:moveTo>
                  <a:lnTo>
                    <a:pt x="190" y="122"/>
                  </a:lnTo>
                </a:path>
              </a:pathLst>
            </a:custGeom>
            <a:noFill/>
            <a:ln w="19050" cap="rnd">
              <a:solidFill>
                <a:srgbClr val="9A9A9A"/>
              </a:solidFill>
              <a:round/>
            </a:ln>
          </p:spPr>
        </p:sp>
        <p:sp>
          <p:nvSpPr>
            <p:cNvPr id="57" name="Átomo C_14"/>
            <p:cNvSpPr/>
            <p:nvPr/>
          </p:nvSpPr>
          <p:spPr>
            <a:xfrm>
              <a:off x="7501233" y="2387625"/>
              <a:ext cx="117455" cy="1174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8" name="Átomo C_15"/>
            <p:cNvSpPr/>
            <p:nvPr/>
          </p:nvSpPr>
          <p:spPr>
            <a:xfrm>
              <a:off x="7383167" y="1437722"/>
              <a:ext cx="117619" cy="11761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9" name="Flecha 76_2"/>
            <p:cNvSpPr/>
            <p:nvPr/>
          </p:nvSpPr>
          <p:spPr>
            <a:xfrm>
              <a:off x="7441976" y="1419655"/>
              <a:ext cx="194908" cy="76877"/>
            </a:xfrm>
            <a:custGeom>
              <a:avLst/>
              <a:gdLst/>
              <a:ahLst/>
              <a:cxnLst/>
              <a:rect l="0" t="0" r="r" b="b"/>
              <a:pathLst>
                <a:path w="213" h="84" fill="none">
                  <a:moveTo>
                    <a:pt x="0" y="84"/>
                  </a:moveTo>
                  <a:lnTo>
                    <a:pt x="213" y="0"/>
                  </a:lnTo>
                </a:path>
              </a:pathLst>
            </a:custGeom>
            <a:noFill/>
            <a:ln w="19050" cap="rnd">
              <a:solidFill>
                <a:srgbClr val="9A9A9A"/>
              </a:solidFill>
              <a:round/>
            </a:ln>
          </p:spPr>
        </p:sp>
        <p:sp>
          <p:nvSpPr>
            <p:cNvPr id="60" name="Átomo C_16"/>
            <p:cNvSpPr/>
            <p:nvPr/>
          </p:nvSpPr>
          <p:spPr>
            <a:xfrm>
              <a:off x="7578049" y="1360820"/>
              <a:ext cx="117670" cy="11767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1" name="Flecha 79_2"/>
            <p:cNvSpPr/>
            <p:nvPr/>
          </p:nvSpPr>
          <p:spPr>
            <a:xfrm>
              <a:off x="7410222" y="2434996"/>
              <a:ext cx="144966" cy="60915"/>
            </a:xfrm>
            <a:custGeom>
              <a:avLst/>
              <a:gdLst/>
              <a:ahLst/>
              <a:cxnLst/>
              <a:rect l="0" t="0" r="r" b="b"/>
              <a:pathLst>
                <a:path w="158" h="66" fill="none">
                  <a:moveTo>
                    <a:pt x="158" y="0"/>
                  </a:moveTo>
                  <a:lnTo>
                    <a:pt x="0" y="66"/>
                  </a:lnTo>
                </a:path>
              </a:pathLst>
            </a:custGeom>
            <a:noFill/>
            <a:ln w="15240" cap="rnd">
              <a:solidFill>
                <a:srgbClr val="9A9A9A"/>
              </a:solidFill>
              <a:round/>
            </a:ln>
          </p:spPr>
        </p:sp>
        <p:sp>
          <p:nvSpPr>
            <p:cNvPr id="62" name="Flecha 81_2"/>
            <p:cNvSpPr/>
            <p:nvPr/>
          </p:nvSpPr>
          <p:spPr>
            <a:xfrm>
              <a:off x="7419766" y="2457708"/>
              <a:ext cx="144966" cy="60915"/>
            </a:xfrm>
            <a:custGeom>
              <a:avLst/>
              <a:gdLst/>
              <a:ahLst/>
              <a:cxnLst/>
              <a:rect l="0" t="0" r="r" b="b"/>
              <a:pathLst>
                <a:path w="158" h="66" fill="none">
                  <a:moveTo>
                    <a:pt x="158" y="0"/>
                  </a:moveTo>
                  <a:lnTo>
                    <a:pt x="0" y="66"/>
                  </a:lnTo>
                </a:path>
              </a:pathLst>
            </a:custGeom>
            <a:noFill/>
            <a:ln w="15240" cap="rnd">
              <a:solidFill>
                <a:srgbClr val="9A9A9A"/>
              </a:solidFill>
              <a:round/>
            </a:ln>
          </p:spPr>
        </p:sp>
        <p:sp>
          <p:nvSpPr>
            <p:cNvPr id="63" name="Flecha 83_2"/>
            <p:cNvSpPr/>
            <p:nvPr/>
          </p:nvSpPr>
          <p:spPr>
            <a:xfrm>
              <a:off x="7384271" y="2086805"/>
              <a:ext cx="45645" cy="64856"/>
            </a:xfrm>
            <a:custGeom>
              <a:avLst/>
              <a:gdLst/>
              <a:ahLst/>
              <a:cxnLst/>
              <a:rect l="0" t="0" r="r" b="b"/>
              <a:pathLst>
                <a:path w="49" h="70" fill="none">
                  <a:moveTo>
                    <a:pt x="0" y="0"/>
                  </a:moveTo>
                  <a:lnTo>
                    <a:pt x="49" y="70"/>
                  </a:lnTo>
                </a:path>
              </a:pathLst>
            </a:custGeom>
            <a:noFill/>
            <a:ln w="19050" cap="rnd">
              <a:solidFill>
                <a:srgbClr val="9A9A9A"/>
              </a:solidFill>
              <a:round/>
            </a:ln>
          </p:spPr>
        </p:sp>
        <p:sp>
          <p:nvSpPr>
            <p:cNvPr id="64" name="Átomo O_2"/>
            <p:cNvSpPr/>
            <p:nvPr/>
          </p:nvSpPr>
          <p:spPr>
            <a:xfrm>
              <a:off x="7359328" y="2451601"/>
              <a:ext cx="111332" cy="11133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5" name="Flecha 86_2"/>
            <p:cNvSpPr/>
            <p:nvPr/>
          </p:nvSpPr>
          <p:spPr>
            <a:xfrm>
              <a:off x="7636884" y="1228007"/>
              <a:ext cx="19983" cy="191647"/>
            </a:xfrm>
            <a:custGeom>
              <a:avLst/>
              <a:gdLst/>
              <a:ahLst/>
              <a:cxnLst/>
              <a:rect l="0" t="0" r="r" b="b"/>
              <a:pathLst>
                <a:path w="21" h="209" fill="none">
                  <a:moveTo>
                    <a:pt x="0" y="209"/>
                  </a:moveTo>
                  <a:lnTo>
                    <a:pt x="21" y="0"/>
                  </a:lnTo>
                </a:path>
              </a:pathLst>
            </a:custGeom>
            <a:noFill/>
            <a:ln w="19050" cap="rnd">
              <a:solidFill>
                <a:srgbClr val="9A9A9A"/>
              </a:solidFill>
              <a:round/>
            </a:ln>
          </p:spPr>
        </p:sp>
        <p:sp>
          <p:nvSpPr>
            <p:cNvPr id="66" name="Átomo O_3"/>
            <p:cNvSpPr/>
            <p:nvPr/>
          </p:nvSpPr>
          <p:spPr>
            <a:xfrm>
              <a:off x="6966310" y="2064849"/>
              <a:ext cx="111489" cy="11148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7" name="Flecha 89_2"/>
            <p:cNvSpPr/>
            <p:nvPr/>
          </p:nvSpPr>
          <p:spPr>
            <a:xfrm>
              <a:off x="7010632" y="1963616"/>
              <a:ext cx="61510" cy="152367"/>
            </a:xfrm>
            <a:custGeom>
              <a:avLst/>
              <a:gdLst/>
              <a:ahLst/>
              <a:cxnLst/>
              <a:rect l="0" t="0" r="r" b="b"/>
              <a:pathLst>
                <a:path w="67" h="166" fill="none">
                  <a:moveTo>
                    <a:pt x="67" y="0"/>
                  </a:moveTo>
                  <a:lnTo>
                    <a:pt x="0" y="166"/>
                  </a:lnTo>
                </a:path>
              </a:pathLst>
            </a:custGeom>
            <a:noFill/>
            <a:ln w="15240" cap="rnd">
              <a:solidFill>
                <a:srgbClr val="9A9A9A"/>
              </a:solidFill>
              <a:round/>
            </a:ln>
          </p:spPr>
        </p:sp>
        <p:sp>
          <p:nvSpPr>
            <p:cNvPr id="68" name="Flecha 91_2"/>
            <p:cNvSpPr/>
            <p:nvPr/>
          </p:nvSpPr>
          <p:spPr>
            <a:xfrm>
              <a:off x="7033476" y="1972838"/>
              <a:ext cx="61510" cy="152367"/>
            </a:xfrm>
            <a:custGeom>
              <a:avLst/>
              <a:gdLst/>
              <a:ahLst/>
              <a:cxnLst/>
              <a:rect l="0" t="0" r="r" b="b"/>
              <a:pathLst>
                <a:path w="67" h="166" fill="none">
                  <a:moveTo>
                    <a:pt x="67" y="0"/>
                  </a:moveTo>
                  <a:lnTo>
                    <a:pt x="0" y="166"/>
                  </a:lnTo>
                </a:path>
              </a:pathLst>
            </a:custGeom>
            <a:noFill/>
            <a:ln w="15240" cap="rnd">
              <a:solidFill>
                <a:srgbClr val="9A9A9A"/>
              </a:solidFill>
              <a:round/>
            </a:ln>
          </p:spPr>
        </p:sp>
        <p:sp>
          <p:nvSpPr>
            <p:cNvPr id="69" name="Átomo C_17"/>
            <p:cNvSpPr/>
            <p:nvPr/>
          </p:nvSpPr>
          <p:spPr>
            <a:xfrm>
              <a:off x="6916930" y="1732530"/>
              <a:ext cx="118467" cy="11846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0" name="Flecha 94_2"/>
            <p:cNvSpPr/>
            <p:nvPr/>
          </p:nvSpPr>
          <p:spPr>
            <a:xfrm>
              <a:off x="6976163" y="1791764"/>
              <a:ext cx="107402" cy="176464"/>
            </a:xfrm>
            <a:custGeom>
              <a:avLst/>
              <a:gdLst/>
              <a:ahLst/>
              <a:cxnLst/>
              <a:rect l="0" t="0" r="r" b="b"/>
              <a:pathLst>
                <a:path w="117" h="192" fill="none">
                  <a:moveTo>
                    <a:pt x="117" y="192"/>
                  </a:moveTo>
                  <a:lnTo>
                    <a:pt x="0" y="0"/>
                  </a:lnTo>
                </a:path>
              </a:pathLst>
            </a:custGeom>
            <a:noFill/>
            <a:ln w="19050" cap="rnd">
              <a:solidFill>
                <a:srgbClr val="9A9A9A"/>
              </a:solidFill>
              <a:round/>
            </a:ln>
          </p:spPr>
        </p:sp>
        <p:sp>
          <p:nvSpPr>
            <p:cNvPr id="71" name="Flecha 96_2"/>
            <p:cNvSpPr/>
            <p:nvPr/>
          </p:nvSpPr>
          <p:spPr>
            <a:xfrm>
              <a:off x="6769576" y="1791764"/>
              <a:ext cx="206587" cy="26381"/>
            </a:xfrm>
            <a:custGeom>
              <a:avLst/>
              <a:gdLst/>
              <a:ahLst/>
              <a:cxnLst/>
              <a:rect l="0" t="0" r="r" b="b"/>
              <a:pathLst>
                <a:path w="225" h="28" fill="none">
                  <a:moveTo>
                    <a:pt x="225" y="0"/>
                  </a:moveTo>
                  <a:lnTo>
                    <a:pt x="0" y="28"/>
                  </a:lnTo>
                </a:path>
              </a:pathLst>
            </a:custGeom>
            <a:noFill/>
            <a:ln w="19050" cap="rnd">
              <a:solidFill>
                <a:srgbClr val="9A9A9A"/>
              </a:solidFill>
              <a:round/>
            </a:ln>
          </p:spPr>
        </p:sp>
        <p:sp>
          <p:nvSpPr>
            <p:cNvPr id="72" name="Átomo C_18"/>
            <p:cNvSpPr/>
            <p:nvPr/>
          </p:nvSpPr>
          <p:spPr>
            <a:xfrm>
              <a:off x="7597580" y="1168721"/>
              <a:ext cx="118573" cy="1185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3" name="Átomo C_19"/>
            <p:cNvSpPr/>
            <p:nvPr/>
          </p:nvSpPr>
          <p:spPr>
            <a:xfrm>
              <a:off x="7024278" y="1908941"/>
              <a:ext cx="118573" cy="1185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4" name="Átomo C_20"/>
            <p:cNvSpPr/>
            <p:nvPr/>
          </p:nvSpPr>
          <p:spPr>
            <a:xfrm>
              <a:off x="6710240" y="1758809"/>
              <a:ext cx="118671" cy="1186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5" name="Flecha 101_2"/>
            <p:cNvSpPr/>
            <p:nvPr/>
          </p:nvSpPr>
          <p:spPr>
            <a:xfrm>
              <a:off x="7083565" y="1930900"/>
              <a:ext cx="178270" cy="37328"/>
            </a:xfrm>
            <a:custGeom>
              <a:avLst/>
              <a:gdLst/>
              <a:ahLst/>
              <a:cxnLst/>
              <a:rect l="0" t="0" r="r" b="b"/>
              <a:pathLst>
                <a:path w="194" h="40" fill="none">
                  <a:moveTo>
                    <a:pt x="194" y="0"/>
                  </a:moveTo>
                  <a:lnTo>
                    <a:pt x="0" y="40"/>
                  </a:lnTo>
                </a:path>
              </a:pathLst>
            </a:custGeom>
            <a:noFill/>
            <a:ln w="19050" cap="rnd">
              <a:solidFill>
                <a:srgbClr val="9A9A9A"/>
              </a:solidFill>
              <a:round/>
            </a:ln>
          </p:spPr>
        </p:sp>
        <p:sp>
          <p:nvSpPr>
            <p:cNvPr id="76" name="Átomo O_4"/>
            <p:cNvSpPr/>
            <p:nvPr/>
          </p:nvSpPr>
          <p:spPr>
            <a:xfrm>
              <a:off x="7205734" y="1874799"/>
              <a:ext cx="112201" cy="11220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7" name="Flecha 104_2"/>
            <p:cNvSpPr/>
            <p:nvPr/>
          </p:nvSpPr>
          <p:spPr>
            <a:xfrm>
              <a:off x="7261835" y="1930900"/>
              <a:ext cx="122437" cy="155905"/>
            </a:xfrm>
            <a:custGeom>
              <a:avLst/>
              <a:gdLst/>
              <a:ahLst/>
              <a:cxnLst/>
              <a:rect l="0" t="0" r="r" b="b"/>
              <a:pathLst>
                <a:path w="133" h="170" fill="none">
                  <a:moveTo>
                    <a:pt x="133" y="170"/>
                  </a:moveTo>
                  <a:lnTo>
                    <a:pt x="0" y="0"/>
                  </a:lnTo>
                </a:path>
              </a:pathLst>
            </a:custGeom>
            <a:noFill/>
            <a:ln w="19050" cap="rnd">
              <a:solidFill>
                <a:srgbClr val="9A9A9A"/>
              </a:solidFill>
              <a:round/>
            </a:ln>
          </p:spPr>
        </p:sp>
        <p:sp>
          <p:nvSpPr>
            <p:cNvPr id="78" name="Átomo C_21"/>
            <p:cNvSpPr/>
            <p:nvPr/>
          </p:nvSpPr>
          <p:spPr>
            <a:xfrm>
              <a:off x="7324723" y="2027257"/>
              <a:ext cx="119097" cy="11909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Flecha 107_2"/>
            <p:cNvSpPr/>
            <p:nvPr/>
          </p:nvSpPr>
          <p:spPr>
            <a:xfrm>
              <a:off x="7587969" y="1206770"/>
              <a:ext cx="68897" cy="21237"/>
            </a:xfrm>
            <a:custGeom>
              <a:avLst/>
              <a:gdLst/>
              <a:ahLst/>
              <a:cxnLst/>
              <a:rect l="0" t="0" r="r" b="b"/>
              <a:pathLst>
                <a:path w="75" h="23" fill="none">
                  <a:moveTo>
                    <a:pt x="75" y="23"/>
                  </a:moveTo>
                  <a:lnTo>
                    <a:pt x="0" y="0"/>
                  </a:lnTo>
                </a:path>
              </a:pathLst>
            </a:custGeom>
            <a:noFill/>
            <a:ln w="19050" cap="rnd">
              <a:solidFill>
                <a:srgbClr val="9A9A9A"/>
              </a:solidFill>
              <a:round/>
            </a:ln>
          </p:spPr>
        </p:sp>
        <p:sp>
          <p:nvSpPr>
            <p:cNvPr id="80" name="Flecha 109_2"/>
            <p:cNvSpPr/>
            <p:nvPr/>
          </p:nvSpPr>
          <p:spPr>
            <a:xfrm>
              <a:off x="7384271" y="2025411"/>
              <a:ext cx="173138" cy="61394"/>
            </a:xfrm>
            <a:custGeom>
              <a:avLst/>
              <a:gdLst/>
              <a:ahLst/>
              <a:cxnLst/>
              <a:rect l="0" t="0" r="r" b="b"/>
              <a:pathLst>
                <a:path w="189" h="67" fill="none">
                  <a:moveTo>
                    <a:pt x="189" y="0"/>
                  </a:moveTo>
                  <a:lnTo>
                    <a:pt x="0" y="67"/>
                  </a:lnTo>
                </a:path>
              </a:pathLst>
            </a:custGeom>
            <a:noFill/>
            <a:ln w="19050" cap="rnd">
              <a:solidFill>
                <a:srgbClr val="9A9A9A"/>
              </a:solidFill>
              <a:round/>
            </a:ln>
          </p:spPr>
        </p:sp>
        <p:sp>
          <p:nvSpPr>
            <p:cNvPr id="81" name="Átomo C_22"/>
            <p:cNvSpPr/>
            <p:nvPr/>
          </p:nvSpPr>
          <p:spPr>
            <a:xfrm>
              <a:off x="6125306" y="1965977"/>
              <a:ext cx="119724" cy="1197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2" name="Flecha 112_2"/>
            <p:cNvSpPr/>
            <p:nvPr/>
          </p:nvSpPr>
          <p:spPr>
            <a:xfrm>
              <a:off x="6699554" y="1815227"/>
              <a:ext cx="70022" cy="9144"/>
            </a:xfrm>
            <a:custGeom>
              <a:avLst/>
              <a:gdLst/>
              <a:ahLst/>
              <a:cxnLst/>
              <a:rect l="0" t="0" r="r" b="b"/>
              <a:pathLst>
                <a:path w="76" h="10" fill="none">
                  <a:moveTo>
                    <a:pt x="76" y="3"/>
                  </a:moveTo>
                  <a:lnTo>
                    <a:pt x="0" y="0"/>
                  </a:lnTo>
                </a:path>
              </a:pathLst>
            </a:custGeom>
            <a:noFill/>
            <a:ln w="19050" cap="rnd">
              <a:solidFill>
                <a:srgbClr val="9A9A9A"/>
              </a:solidFill>
              <a:round/>
            </a:ln>
          </p:spPr>
        </p:sp>
        <p:sp>
          <p:nvSpPr>
            <p:cNvPr id="83" name="Átomo C_23"/>
            <p:cNvSpPr/>
            <p:nvPr/>
          </p:nvSpPr>
          <p:spPr>
            <a:xfrm>
              <a:off x="7497306" y="1965308"/>
              <a:ext cx="120207" cy="12020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4" name="Flecha 115_2"/>
            <p:cNvSpPr/>
            <p:nvPr/>
          </p:nvSpPr>
          <p:spPr>
            <a:xfrm>
              <a:off x="6053090" y="2025840"/>
              <a:ext cx="132078" cy="108830"/>
            </a:xfrm>
            <a:custGeom>
              <a:avLst/>
              <a:gdLst/>
              <a:ahLst/>
              <a:cxnLst/>
              <a:rect l="0" t="0" r="r" b="b"/>
              <a:pathLst>
                <a:path w="144" h="119" fill="none">
                  <a:moveTo>
                    <a:pt x="0" y="119"/>
                  </a:moveTo>
                  <a:lnTo>
                    <a:pt x="144" y="0"/>
                  </a:lnTo>
                </a:path>
              </a:pathLst>
            </a:custGeom>
            <a:noFill/>
            <a:ln w="19050" cap="rnd">
              <a:solidFill>
                <a:srgbClr val="9A9A9A"/>
              </a:solidFill>
              <a:round/>
            </a:ln>
          </p:spPr>
        </p:sp>
        <p:sp>
          <p:nvSpPr>
            <p:cNvPr id="85" name="Átomo C_24"/>
            <p:cNvSpPr/>
            <p:nvPr/>
          </p:nvSpPr>
          <p:spPr>
            <a:xfrm>
              <a:off x="7527611" y="1146413"/>
              <a:ext cx="120716" cy="12071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6" name="Átomo C_25"/>
            <p:cNvSpPr/>
            <p:nvPr/>
          </p:nvSpPr>
          <p:spPr>
            <a:xfrm>
              <a:off x="6639141" y="1754815"/>
              <a:ext cx="120825" cy="12082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7" name="Átomo C_26"/>
            <p:cNvSpPr/>
            <p:nvPr/>
          </p:nvSpPr>
          <p:spPr>
            <a:xfrm>
              <a:off x="5992584" y="2074164"/>
              <a:ext cx="121012" cy="1210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8" name="Flecha 120_2"/>
            <p:cNvSpPr/>
            <p:nvPr/>
          </p:nvSpPr>
          <p:spPr>
            <a:xfrm>
              <a:off x="7510068" y="1978088"/>
              <a:ext cx="47341" cy="47324"/>
            </a:xfrm>
            <a:custGeom>
              <a:avLst/>
              <a:gdLst/>
              <a:ahLst/>
              <a:cxnLst/>
              <a:rect l="0" t="0" r="r" b="b"/>
              <a:pathLst>
                <a:path w="51" h="51" fill="none">
                  <a:moveTo>
                    <a:pt x="0" y="0"/>
                  </a:moveTo>
                  <a:lnTo>
                    <a:pt x="51" y="51"/>
                  </a:lnTo>
                </a:path>
              </a:pathLst>
            </a:custGeom>
            <a:noFill/>
            <a:ln w="19050" cap="rnd">
              <a:solidFill>
                <a:srgbClr val="9A9A9A"/>
              </a:solidFill>
              <a:round/>
            </a:ln>
          </p:spPr>
        </p:sp>
        <p:sp>
          <p:nvSpPr>
            <p:cNvPr id="89" name="Flecha 122_2"/>
            <p:cNvSpPr/>
            <p:nvPr/>
          </p:nvSpPr>
          <p:spPr>
            <a:xfrm>
              <a:off x="7587969" y="1206770"/>
              <a:ext cx="106094" cy="117413"/>
            </a:xfrm>
            <a:custGeom>
              <a:avLst/>
              <a:gdLst/>
              <a:ahLst/>
              <a:cxnLst/>
              <a:rect l="0" t="0" r="r" b="b"/>
              <a:pathLst>
                <a:path w="116" h="128" fill="none">
                  <a:moveTo>
                    <a:pt x="0" y="0"/>
                  </a:moveTo>
                  <a:lnTo>
                    <a:pt x="116" y="128"/>
                  </a:lnTo>
                </a:path>
              </a:pathLst>
            </a:custGeom>
            <a:noFill/>
            <a:ln w="19050" cap="rnd">
              <a:solidFill>
                <a:srgbClr val="9A9A9A"/>
              </a:solidFill>
              <a:round/>
            </a:ln>
          </p:spPr>
        </p:sp>
        <p:sp>
          <p:nvSpPr>
            <p:cNvPr id="90" name="Flecha 124_2"/>
            <p:cNvSpPr/>
            <p:nvPr/>
          </p:nvSpPr>
          <p:spPr>
            <a:xfrm>
              <a:off x="6699554" y="1815227"/>
              <a:ext cx="72702" cy="156134"/>
            </a:xfrm>
            <a:custGeom>
              <a:avLst/>
              <a:gdLst/>
              <a:ahLst/>
              <a:cxnLst/>
              <a:rect l="0" t="0" r="r" b="b"/>
              <a:pathLst>
                <a:path w="79" h="170" fill="none">
                  <a:moveTo>
                    <a:pt x="0" y="0"/>
                  </a:moveTo>
                  <a:lnTo>
                    <a:pt x="79" y="170"/>
                  </a:lnTo>
                </a:path>
              </a:pathLst>
            </a:custGeom>
            <a:noFill/>
            <a:ln w="19050" cap="rnd">
              <a:solidFill>
                <a:srgbClr val="9A9A9A"/>
              </a:solidFill>
              <a:round/>
            </a:ln>
          </p:spPr>
        </p:sp>
        <p:sp>
          <p:nvSpPr>
            <p:cNvPr id="91" name="Flecha 126_2"/>
            <p:cNvSpPr/>
            <p:nvPr/>
          </p:nvSpPr>
          <p:spPr>
            <a:xfrm>
              <a:off x="6053090" y="2116908"/>
              <a:ext cx="32225" cy="17762"/>
            </a:xfrm>
            <a:custGeom>
              <a:avLst/>
              <a:gdLst/>
              <a:ahLst/>
              <a:cxnLst/>
              <a:rect l="0" t="0" r="r" b="b"/>
              <a:pathLst>
                <a:path w="35" h="19" fill="none">
                  <a:moveTo>
                    <a:pt x="35" y="0"/>
                  </a:moveTo>
                  <a:lnTo>
                    <a:pt x="0" y="19"/>
                  </a:lnTo>
                </a:path>
              </a:pathLst>
            </a:custGeom>
            <a:noFill/>
            <a:ln w="19050" cap="rnd">
              <a:solidFill>
                <a:srgbClr val="9A9A9A"/>
              </a:solidFill>
              <a:round/>
            </a:ln>
          </p:spPr>
        </p:sp>
        <p:sp>
          <p:nvSpPr>
            <p:cNvPr id="92" name="Átomo C_27"/>
            <p:cNvSpPr/>
            <p:nvPr/>
          </p:nvSpPr>
          <p:spPr>
            <a:xfrm>
              <a:off x="6711194" y="1910300"/>
              <a:ext cx="122122" cy="12212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3" name="Átomo C_28"/>
            <p:cNvSpPr/>
            <p:nvPr/>
          </p:nvSpPr>
          <p:spPr>
            <a:xfrm>
              <a:off x="7632957" y="1263078"/>
              <a:ext cx="122211" cy="1222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4" name="Átomo O_5"/>
            <p:cNvSpPr/>
            <p:nvPr/>
          </p:nvSpPr>
          <p:spPr>
            <a:xfrm>
              <a:off x="7452448" y="1920467"/>
              <a:ext cx="115241" cy="1152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5" name="Flecha 131_2"/>
            <p:cNvSpPr/>
            <p:nvPr/>
          </p:nvSpPr>
          <p:spPr>
            <a:xfrm>
              <a:off x="7510068" y="1962834"/>
              <a:ext cx="146067" cy="15254"/>
            </a:xfrm>
            <a:custGeom>
              <a:avLst/>
              <a:gdLst/>
              <a:ahLst/>
              <a:cxnLst/>
              <a:rect l="0" t="0" r="r" b="b"/>
              <a:pathLst>
                <a:path w="159" h="16" fill="none">
                  <a:moveTo>
                    <a:pt x="159" y="0"/>
                  </a:moveTo>
                  <a:lnTo>
                    <a:pt x="0" y="16"/>
                  </a:lnTo>
                </a:path>
              </a:pathLst>
            </a:custGeom>
            <a:noFill/>
            <a:ln w="19050" cap="rnd">
              <a:solidFill>
                <a:srgbClr val="9A9A9A"/>
              </a:solidFill>
              <a:round/>
            </a:ln>
          </p:spPr>
        </p:sp>
        <p:sp>
          <p:nvSpPr>
            <p:cNvPr id="96" name="Átomo O_6"/>
            <p:cNvSpPr/>
            <p:nvPr/>
          </p:nvSpPr>
          <p:spPr>
            <a:xfrm>
              <a:off x="7757949" y="1929480"/>
              <a:ext cx="115971" cy="11597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7" name="Flecha 134_2"/>
            <p:cNvSpPr/>
            <p:nvPr/>
          </p:nvSpPr>
          <p:spPr>
            <a:xfrm>
              <a:off x="6693684" y="1969698"/>
              <a:ext cx="78572" cy="9144"/>
            </a:xfrm>
            <a:custGeom>
              <a:avLst/>
              <a:gdLst/>
              <a:ahLst/>
              <a:cxnLst/>
              <a:rect l="0" t="0" r="r" b="b"/>
              <a:pathLst>
                <a:path w="85" h="10" fill="none">
                  <a:moveTo>
                    <a:pt x="85" y="1"/>
                  </a:moveTo>
                  <a:lnTo>
                    <a:pt x="0" y="0"/>
                  </a:lnTo>
                </a:path>
              </a:pathLst>
            </a:custGeom>
            <a:noFill/>
            <a:ln w="19050" cap="rnd">
              <a:solidFill>
                <a:srgbClr val="9A9A9A"/>
              </a:solidFill>
              <a:round/>
            </a:ln>
          </p:spPr>
        </p:sp>
        <p:sp>
          <p:nvSpPr>
            <p:cNvPr id="98" name="Flecha 136_2"/>
            <p:cNvSpPr/>
            <p:nvPr/>
          </p:nvSpPr>
          <p:spPr>
            <a:xfrm>
              <a:off x="7654259" y="1975008"/>
              <a:ext cx="159798" cy="24632"/>
            </a:xfrm>
            <a:custGeom>
              <a:avLst/>
              <a:gdLst/>
              <a:ahLst/>
              <a:cxnLst/>
              <a:rect l="0" t="0" r="r" b="b"/>
              <a:pathLst>
                <a:path w="174" h="26" fill="none">
                  <a:moveTo>
                    <a:pt x="0" y="0"/>
                  </a:moveTo>
                  <a:lnTo>
                    <a:pt x="174" y="26"/>
                  </a:lnTo>
                </a:path>
              </a:pathLst>
            </a:custGeom>
            <a:noFill/>
            <a:ln w="15240" cap="rnd">
              <a:solidFill>
                <a:srgbClr val="9A9A9A"/>
              </a:solidFill>
              <a:round/>
            </a:ln>
          </p:spPr>
        </p:sp>
        <p:sp>
          <p:nvSpPr>
            <p:cNvPr id="99" name="Flecha 138_2"/>
            <p:cNvSpPr/>
            <p:nvPr/>
          </p:nvSpPr>
          <p:spPr>
            <a:xfrm>
              <a:off x="7658012" y="1950660"/>
              <a:ext cx="159798" cy="24632"/>
            </a:xfrm>
            <a:custGeom>
              <a:avLst/>
              <a:gdLst/>
              <a:ahLst/>
              <a:cxnLst/>
              <a:rect l="0" t="0" r="r" b="b"/>
              <a:pathLst>
                <a:path w="174" h="26" fill="none">
                  <a:moveTo>
                    <a:pt x="0" y="0"/>
                  </a:moveTo>
                  <a:lnTo>
                    <a:pt x="174" y="26"/>
                  </a:lnTo>
                </a:path>
              </a:pathLst>
            </a:custGeom>
            <a:noFill/>
            <a:ln w="15240" cap="rnd">
              <a:solidFill>
                <a:srgbClr val="9A9A9A"/>
              </a:solidFill>
              <a:round/>
            </a:ln>
          </p:spPr>
        </p:sp>
        <p:sp>
          <p:nvSpPr>
            <p:cNvPr id="100" name="Átomo C_29"/>
            <p:cNvSpPr/>
            <p:nvPr/>
          </p:nvSpPr>
          <p:spPr>
            <a:xfrm>
              <a:off x="6023686" y="2055279"/>
              <a:ext cx="123258" cy="12325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1" name="Flecha 141_2"/>
            <p:cNvSpPr/>
            <p:nvPr/>
          </p:nvSpPr>
          <p:spPr>
            <a:xfrm>
              <a:off x="7625797" y="1292325"/>
              <a:ext cx="68266" cy="31859"/>
            </a:xfrm>
            <a:custGeom>
              <a:avLst/>
              <a:gdLst/>
              <a:ahLst/>
              <a:cxnLst/>
              <a:rect l="0" t="0" r="r" b="b"/>
              <a:pathLst>
                <a:path w="74" h="34" fill="none">
                  <a:moveTo>
                    <a:pt x="74" y="34"/>
                  </a:moveTo>
                  <a:lnTo>
                    <a:pt x="0" y="0"/>
                  </a:lnTo>
                </a:path>
              </a:pathLst>
            </a:custGeom>
            <a:noFill/>
            <a:ln w="19050" cap="rnd">
              <a:solidFill>
                <a:srgbClr val="9A9A9A"/>
              </a:solidFill>
              <a:round/>
            </a:ln>
          </p:spPr>
        </p:sp>
        <p:sp>
          <p:nvSpPr>
            <p:cNvPr id="102" name="Átomo C_30"/>
            <p:cNvSpPr/>
            <p:nvPr/>
          </p:nvSpPr>
          <p:spPr>
            <a:xfrm>
              <a:off x="7594399" y="1901098"/>
              <a:ext cx="123473" cy="1234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3" name="Flecha 144_2"/>
            <p:cNvSpPr/>
            <p:nvPr/>
          </p:nvSpPr>
          <p:spPr>
            <a:xfrm>
              <a:off x="6085315" y="2116908"/>
              <a:ext cx="146588" cy="126931"/>
            </a:xfrm>
            <a:custGeom>
              <a:avLst/>
              <a:gdLst/>
              <a:ahLst/>
              <a:cxnLst/>
              <a:rect l="0" t="0" r="r" b="b"/>
              <a:pathLst>
                <a:path w="160" h="138" fill="none">
                  <a:moveTo>
                    <a:pt x="160" y="138"/>
                  </a:moveTo>
                  <a:lnTo>
                    <a:pt x="0" y="0"/>
                  </a:lnTo>
                </a:path>
              </a:pathLst>
            </a:custGeom>
            <a:noFill/>
            <a:ln w="19050" cap="rnd">
              <a:solidFill>
                <a:srgbClr val="9A9A9A"/>
              </a:solidFill>
              <a:round/>
            </a:ln>
          </p:spPr>
        </p:sp>
        <p:sp>
          <p:nvSpPr>
            <p:cNvPr id="104" name="Átomo C_31"/>
            <p:cNvSpPr/>
            <p:nvPr/>
          </p:nvSpPr>
          <p:spPr>
            <a:xfrm>
              <a:off x="6369958" y="2134546"/>
              <a:ext cx="123685" cy="1236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5" name="Flecha 147_2"/>
            <p:cNvSpPr/>
            <p:nvPr/>
          </p:nvSpPr>
          <p:spPr>
            <a:xfrm>
              <a:off x="6231903" y="2196389"/>
              <a:ext cx="199897" cy="47451"/>
            </a:xfrm>
            <a:custGeom>
              <a:avLst/>
              <a:gdLst/>
              <a:ahLst/>
              <a:cxnLst/>
              <a:rect l="0" t="0" r="r" b="b"/>
              <a:pathLst>
                <a:path w="218" h="51" fill="none">
                  <a:moveTo>
                    <a:pt x="218" y="0"/>
                  </a:moveTo>
                  <a:lnTo>
                    <a:pt x="0" y="51"/>
                  </a:lnTo>
                </a:path>
              </a:pathLst>
            </a:custGeom>
            <a:noFill/>
            <a:ln w="19050" cap="rnd">
              <a:solidFill>
                <a:srgbClr val="9A9A9A"/>
              </a:solidFill>
              <a:round/>
            </a:ln>
          </p:spPr>
        </p:sp>
        <p:sp>
          <p:nvSpPr>
            <p:cNvPr id="106" name="Flecha 149_2"/>
            <p:cNvSpPr/>
            <p:nvPr/>
          </p:nvSpPr>
          <p:spPr>
            <a:xfrm>
              <a:off x="6431800" y="2005489"/>
              <a:ext cx="55669" cy="190900"/>
            </a:xfrm>
            <a:custGeom>
              <a:avLst/>
              <a:gdLst/>
              <a:ahLst/>
              <a:cxnLst/>
              <a:rect l="0" t="0" r="r" b="b"/>
              <a:pathLst>
                <a:path w="60" h="208" fill="none">
                  <a:moveTo>
                    <a:pt x="60" y="0"/>
                  </a:moveTo>
                  <a:lnTo>
                    <a:pt x="0" y="208"/>
                  </a:lnTo>
                </a:path>
              </a:pathLst>
            </a:custGeom>
            <a:noFill/>
            <a:ln w="19050" cap="rnd">
              <a:solidFill>
                <a:srgbClr val="9A9A9A"/>
              </a:solidFill>
              <a:round/>
            </a:ln>
          </p:spPr>
        </p:sp>
        <p:sp>
          <p:nvSpPr>
            <p:cNvPr id="107" name="Átomo C_32"/>
            <p:cNvSpPr/>
            <p:nvPr/>
          </p:nvSpPr>
          <p:spPr>
            <a:xfrm>
              <a:off x="6169838" y="2181774"/>
              <a:ext cx="124131" cy="12413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8" name="Átomo C_33"/>
            <p:cNvSpPr/>
            <p:nvPr/>
          </p:nvSpPr>
          <p:spPr>
            <a:xfrm>
              <a:off x="6631563" y="1907578"/>
              <a:ext cx="124241" cy="12424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9" name="Flecha 153_2"/>
            <p:cNvSpPr/>
            <p:nvPr/>
          </p:nvSpPr>
          <p:spPr>
            <a:xfrm>
              <a:off x="6487469" y="1969698"/>
              <a:ext cx="206215" cy="35791"/>
            </a:xfrm>
            <a:custGeom>
              <a:avLst/>
              <a:gdLst/>
              <a:ahLst/>
              <a:cxnLst/>
              <a:rect l="0" t="0" r="r" b="b"/>
              <a:pathLst>
                <a:path w="225" h="39" fill="none">
                  <a:moveTo>
                    <a:pt x="225" y="0"/>
                  </a:moveTo>
                  <a:lnTo>
                    <a:pt x="0" y="39"/>
                  </a:lnTo>
                </a:path>
              </a:pathLst>
            </a:custGeom>
            <a:noFill/>
            <a:ln w="19050" cap="rnd">
              <a:solidFill>
                <a:srgbClr val="9A9A9A"/>
              </a:solidFill>
              <a:round/>
            </a:ln>
          </p:spPr>
        </p:sp>
        <p:sp>
          <p:nvSpPr>
            <p:cNvPr id="110" name="Átomo C_34"/>
            <p:cNvSpPr/>
            <p:nvPr/>
          </p:nvSpPr>
          <p:spPr>
            <a:xfrm>
              <a:off x="7563627" y="1230155"/>
              <a:ext cx="124339" cy="1243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1" name="Átomo C_35"/>
            <p:cNvSpPr/>
            <p:nvPr/>
          </p:nvSpPr>
          <p:spPr>
            <a:xfrm>
              <a:off x="6425266" y="1943286"/>
              <a:ext cx="124405" cy="12440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2" name="Flecha 157_2"/>
            <p:cNvSpPr/>
            <p:nvPr/>
          </p:nvSpPr>
          <p:spPr>
            <a:xfrm>
              <a:off x="7594753" y="1906426"/>
              <a:ext cx="61383" cy="56408"/>
            </a:xfrm>
            <a:custGeom>
              <a:avLst/>
              <a:gdLst/>
              <a:ahLst/>
              <a:cxnLst/>
              <a:rect l="0" t="0" r="r" b="b"/>
              <a:pathLst>
                <a:path w="67" h="61" fill="none">
                  <a:moveTo>
                    <a:pt x="0" y="0"/>
                  </a:moveTo>
                  <a:lnTo>
                    <a:pt x="67" y="61"/>
                  </a:lnTo>
                </a:path>
              </a:pathLst>
            </a:custGeom>
            <a:noFill/>
            <a:ln w="19050" cap="rnd">
              <a:solidFill>
                <a:srgbClr val="9A9A9A"/>
              </a:solidFill>
              <a:round/>
            </a:ln>
          </p:spPr>
        </p:sp>
        <p:sp>
          <p:nvSpPr>
            <p:cNvPr id="113" name="Flecha 159_2"/>
            <p:cNvSpPr/>
            <p:nvPr/>
          </p:nvSpPr>
          <p:spPr>
            <a:xfrm>
              <a:off x="7625797" y="1292325"/>
              <a:ext cx="113592" cy="99264"/>
            </a:xfrm>
            <a:custGeom>
              <a:avLst/>
              <a:gdLst/>
              <a:ahLst/>
              <a:cxnLst/>
              <a:rect l="0" t="0" r="r" b="b"/>
              <a:pathLst>
                <a:path w="124" h="108" fill="none">
                  <a:moveTo>
                    <a:pt x="0" y="0"/>
                  </a:moveTo>
                  <a:lnTo>
                    <a:pt x="124" y="108"/>
                  </a:lnTo>
                </a:path>
              </a:pathLst>
            </a:custGeom>
            <a:noFill/>
            <a:ln w="19050" cap="rnd">
              <a:solidFill>
                <a:srgbClr val="9A9A9A"/>
              </a:solidFill>
              <a:round/>
            </a:ln>
          </p:spPr>
        </p:sp>
        <p:sp>
          <p:nvSpPr>
            <p:cNvPr id="114" name="Átomo C_36"/>
            <p:cNvSpPr/>
            <p:nvPr/>
          </p:nvSpPr>
          <p:spPr>
            <a:xfrm>
              <a:off x="7531989" y="1843662"/>
              <a:ext cx="125528" cy="1255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5" name="Flecha 162_2"/>
            <p:cNvSpPr/>
            <p:nvPr/>
          </p:nvSpPr>
          <p:spPr>
            <a:xfrm>
              <a:off x="7572559" y="1699313"/>
              <a:ext cx="22194" cy="207113"/>
            </a:xfrm>
            <a:custGeom>
              <a:avLst/>
              <a:gdLst/>
              <a:ahLst/>
              <a:cxnLst/>
              <a:rect l="0" t="0" r="r" b="b"/>
              <a:pathLst>
                <a:path w="24" h="226" fill="none">
                  <a:moveTo>
                    <a:pt x="0" y="0"/>
                  </a:moveTo>
                  <a:lnTo>
                    <a:pt x="24" y="226"/>
                  </a:lnTo>
                </a:path>
              </a:pathLst>
            </a:custGeom>
            <a:noFill/>
            <a:ln w="19050" cap="rnd">
              <a:solidFill>
                <a:srgbClr val="9A9A9A"/>
              </a:solidFill>
              <a:round/>
            </a:ln>
          </p:spPr>
        </p:sp>
        <p:sp>
          <p:nvSpPr>
            <p:cNvPr id="116" name="Flecha 164_2"/>
            <p:cNvSpPr/>
            <p:nvPr/>
          </p:nvSpPr>
          <p:spPr>
            <a:xfrm>
              <a:off x="7572559" y="1599219"/>
              <a:ext cx="184223" cy="100094"/>
            </a:xfrm>
            <a:custGeom>
              <a:avLst/>
              <a:gdLst/>
              <a:ahLst/>
              <a:cxnLst/>
              <a:rect l="0" t="0" r="r" b="b"/>
              <a:pathLst>
                <a:path w="201" h="109" fill="none">
                  <a:moveTo>
                    <a:pt x="201" y="0"/>
                  </a:moveTo>
                  <a:lnTo>
                    <a:pt x="0" y="109"/>
                  </a:lnTo>
                </a:path>
              </a:pathLst>
            </a:custGeom>
            <a:noFill/>
            <a:ln w="19050" cap="rnd">
              <a:solidFill>
                <a:srgbClr val="9A9A9A"/>
              </a:solidFill>
              <a:round/>
            </a:ln>
          </p:spPr>
        </p:sp>
        <p:sp>
          <p:nvSpPr>
            <p:cNvPr id="117" name="Átomo C_37"/>
            <p:cNvSpPr/>
            <p:nvPr/>
          </p:nvSpPr>
          <p:spPr>
            <a:xfrm>
              <a:off x="7693948" y="1536385"/>
              <a:ext cx="125668" cy="12566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8" name="Átomo C_38"/>
            <p:cNvSpPr/>
            <p:nvPr/>
          </p:nvSpPr>
          <p:spPr>
            <a:xfrm>
              <a:off x="7509713" y="1636467"/>
              <a:ext cx="125692" cy="12569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9" name="Flecha 168_2"/>
            <p:cNvSpPr/>
            <p:nvPr/>
          </p:nvSpPr>
          <p:spPr>
            <a:xfrm>
              <a:off x="7739389" y="1391589"/>
              <a:ext cx="17393" cy="207630"/>
            </a:xfrm>
            <a:custGeom>
              <a:avLst/>
              <a:gdLst/>
              <a:ahLst/>
              <a:cxnLst/>
              <a:rect l="0" t="0" r="r" b="b"/>
              <a:pathLst>
                <a:path w="19" h="227" fill="none">
                  <a:moveTo>
                    <a:pt x="0" y="0"/>
                  </a:moveTo>
                  <a:lnTo>
                    <a:pt x="19" y="227"/>
                  </a:lnTo>
                </a:path>
              </a:pathLst>
            </a:custGeom>
            <a:noFill/>
            <a:ln w="19050" cap="rnd">
              <a:solidFill>
                <a:srgbClr val="9A9A9A"/>
              </a:solidFill>
              <a:round/>
            </a:ln>
          </p:spPr>
        </p:sp>
        <p:sp>
          <p:nvSpPr>
            <p:cNvPr id="120" name="Átomo C_39"/>
            <p:cNvSpPr/>
            <p:nvPr/>
          </p:nvSpPr>
          <p:spPr>
            <a:xfrm>
              <a:off x="7676427" y="1328626"/>
              <a:ext cx="125925" cy="12592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1" name="Forma 171"/>
            <p:cNvSpPr txBox="1"/>
            <p:nvPr/>
          </p:nvSpPr>
          <p:spPr>
            <a:xfrm>
              <a:off x="5669280" y="2726654"/>
              <a:ext cx="365760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Triacilglicerol (modelo)</a:t>
              </a:r>
              <a:endParaRPr lang="es-AR" sz="1300" dirty="0">
                <a:latin typeface="Fira Sans Condensed"/>
              </a:endParaRPr>
            </a:p>
          </p:txBody>
        </p:sp>
      </p:grpSp>
      <p:grpSp>
        <p:nvGrpSpPr>
          <p:cNvPr id="122" name="Gota con perilipinas"/>
          <p:cNvGrpSpPr/>
          <p:nvPr/>
        </p:nvGrpSpPr>
        <p:grpSpPr>
          <a:xfrm>
            <a:off x="9308592" y="1137172"/>
            <a:ext cx="2596896" cy="2794748"/>
            <a:chOff x="9308592" y="1137172"/>
            <a:chExt cx="2596896" cy="2794748"/>
          </a:xfrm>
        </p:grpSpPr>
        <p:sp>
          <p:nvSpPr>
            <p:cNvPr id="123" name="Forma 173"/>
            <p:cNvSpPr/>
            <p:nvPr/>
          </p:nvSpPr>
          <p:spPr>
            <a:xfrm>
              <a:off x="9418320" y="1188720"/>
              <a:ext cx="2377440" cy="2377440"/>
            </a:xfrm>
            <a:prstGeom prst="ellipse">
              <a:avLst/>
            </a:prstGeom>
            <a:gradFill rotWithShape="1">
              <a:gsLst>
                <a:gs pos="0">
                  <a:srgbClr val="FFF8D0"/>
                </a:gs>
                <a:gs pos="50000">
                  <a:srgbClr val="F7DC6F"/>
                </a:gs>
                <a:gs pos="100000">
                  <a:srgbClr val="D4AC0D"/>
                </a:gs>
              </a:gsLst>
              <a:path path="circle">
                <a:fillToRect l="35000" t="30000" r="65000" b="70000"/>
              </a:path>
            </a:gradFill>
            <a:ln w="19050" cap="rnd">
              <a:solidFill>
                <a:srgbClr val="B7950B"/>
              </a:solidFill>
              <a:round/>
            </a:ln>
          </p:spPr>
          <p:txBody>
            <a:bodyPr wrap="square" lIns="73152" tIns="45720" rIns="73152" bIns="45720" anchor="ctr" rtlCol="0">
              <a:noAutofit/>
            </a:bodyPr>
            <a:lstStyle/>
            <a:p>
              <a:pPr algn="ctr">
                <a:spcAft>
                  <a:spcPts val="300"/>
                </a:spcAft>
                <a:buNone/>
              </a:pPr>
              <a:r>
                <a:rPr lang="es-AR" sz="1600" b="1" dirty="0">
                  <a:solidFill>
                    <a:srgbClr val="7D6608"/>
                  </a:solidFill>
                  <a:latin typeface="Fira Sans Condensed"/>
                  <a:ea typeface="Fira Sans Condensed"/>
                  <a:cs typeface="Fira Sans Condensed"/>
                  <a:sym typeface="Fira Sans Condensed"/>
                </a:rPr>
                <a:t>TAG</a:t>
              </a:r>
              <a:endParaRPr lang="es-AR" sz="1600" dirty="0">
                <a:latin typeface="Fira Sans Condensed"/>
              </a:endParaRPr>
            </a:p>
          </p:txBody>
        </p:sp>
        <p:sp>
          <p:nvSpPr>
            <p:cNvPr id="124" name="Forma 174"/>
            <p:cNvSpPr/>
            <p:nvPr/>
          </p:nvSpPr>
          <p:spPr>
            <a:xfrm>
              <a:off x="11686032" y="2267712"/>
              <a:ext cx="219456" cy="219456"/>
            </a:xfrm>
            <a:prstGeom prst="ellipse">
              <a:avLst/>
            </a:prstGeom>
            <a:solidFill>
              <a:srgbClr val="7D3C98"/>
            </a:solidFill>
            <a:ln>
              <a:noFill/>
            </a:ln>
          </p:spPr>
        </p:sp>
        <p:sp>
          <p:nvSpPr>
            <p:cNvPr id="125" name="Forma 175"/>
            <p:cNvSpPr/>
            <p:nvPr/>
          </p:nvSpPr>
          <p:spPr>
            <a:xfrm>
              <a:off x="11459007" y="2966424"/>
              <a:ext cx="219456" cy="219456"/>
            </a:xfrm>
            <a:prstGeom prst="ellipse">
              <a:avLst/>
            </a:prstGeom>
            <a:solidFill>
              <a:srgbClr val="7D3C98"/>
            </a:solidFill>
            <a:ln>
              <a:noFill/>
            </a:ln>
          </p:spPr>
        </p:sp>
        <p:sp>
          <p:nvSpPr>
            <p:cNvPr id="126" name="Forma 176"/>
            <p:cNvSpPr/>
            <p:nvPr/>
          </p:nvSpPr>
          <p:spPr>
            <a:xfrm>
              <a:off x="10864647" y="3398252"/>
              <a:ext cx="219456" cy="219456"/>
            </a:xfrm>
            <a:prstGeom prst="ellipse">
              <a:avLst/>
            </a:prstGeom>
            <a:solidFill>
              <a:srgbClr val="7D3C98"/>
            </a:solidFill>
            <a:ln>
              <a:noFill/>
            </a:ln>
          </p:spPr>
        </p:sp>
        <p:sp>
          <p:nvSpPr>
            <p:cNvPr id="127" name="Forma 177"/>
            <p:cNvSpPr/>
            <p:nvPr/>
          </p:nvSpPr>
          <p:spPr>
            <a:xfrm>
              <a:off x="10129977" y="3398252"/>
              <a:ext cx="219456" cy="219456"/>
            </a:xfrm>
            <a:prstGeom prst="ellipse">
              <a:avLst/>
            </a:prstGeom>
            <a:solidFill>
              <a:srgbClr val="7D3C98"/>
            </a:solidFill>
            <a:ln>
              <a:noFill/>
            </a:ln>
          </p:spPr>
        </p:sp>
        <p:sp>
          <p:nvSpPr>
            <p:cNvPr id="128" name="Forma 178"/>
            <p:cNvSpPr/>
            <p:nvPr/>
          </p:nvSpPr>
          <p:spPr>
            <a:xfrm>
              <a:off x="9535617" y="2966424"/>
              <a:ext cx="219456" cy="219456"/>
            </a:xfrm>
            <a:prstGeom prst="ellipse">
              <a:avLst/>
            </a:prstGeom>
            <a:solidFill>
              <a:srgbClr val="7D3C98"/>
            </a:solidFill>
            <a:ln>
              <a:noFill/>
            </a:ln>
          </p:spPr>
        </p:sp>
        <p:sp>
          <p:nvSpPr>
            <p:cNvPr id="129" name="Forma 179"/>
            <p:cNvSpPr/>
            <p:nvPr/>
          </p:nvSpPr>
          <p:spPr>
            <a:xfrm>
              <a:off x="9308592" y="2267712"/>
              <a:ext cx="219456" cy="219456"/>
            </a:xfrm>
            <a:prstGeom prst="ellipse">
              <a:avLst/>
            </a:prstGeom>
            <a:solidFill>
              <a:srgbClr val="7D3C98"/>
            </a:solidFill>
            <a:ln>
              <a:noFill/>
            </a:ln>
          </p:spPr>
        </p:sp>
        <p:sp>
          <p:nvSpPr>
            <p:cNvPr id="130" name="Forma 180"/>
            <p:cNvSpPr/>
            <p:nvPr/>
          </p:nvSpPr>
          <p:spPr>
            <a:xfrm>
              <a:off x="9535617" y="1569000"/>
              <a:ext cx="219456" cy="219456"/>
            </a:xfrm>
            <a:prstGeom prst="ellipse">
              <a:avLst/>
            </a:prstGeom>
            <a:solidFill>
              <a:srgbClr val="7D3C98"/>
            </a:solidFill>
            <a:ln>
              <a:noFill/>
            </a:ln>
          </p:spPr>
        </p:sp>
        <p:sp>
          <p:nvSpPr>
            <p:cNvPr id="131" name="Forma 181"/>
            <p:cNvSpPr/>
            <p:nvPr/>
          </p:nvSpPr>
          <p:spPr>
            <a:xfrm>
              <a:off x="10129977" y="1137172"/>
              <a:ext cx="219456" cy="219456"/>
            </a:xfrm>
            <a:prstGeom prst="ellipse">
              <a:avLst/>
            </a:prstGeom>
            <a:solidFill>
              <a:srgbClr val="7D3C98"/>
            </a:solidFill>
            <a:ln>
              <a:noFill/>
            </a:ln>
          </p:spPr>
        </p:sp>
        <p:sp>
          <p:nvSpPr>
            <p:cNvPr id="132" name="Forma 182"/>
            <p:cNvSpPr/>
            <p:nvPr/>
          </p:nvSpPr>
          <p:spPr>
            <a:xfrm>
              <a:off x="10864647" y="1137172"/>
              <a:ext cx="219456" cy="219456"/>
            </a:xfrm>
            <a:prstGeom prst="ellipse">
              <a:avLst/>
            </a:prstGeom>
            <a:solidFill>
              <a:srgbClr val="7D3C98"/>
            </a:solidFill>
            <a:ln>
              <a:noFill/>
            </a:ln>
          </p:spPr>
        </p:sp>
        <p:sp>
          <p:nvSpPr>
            <p:cNvPr id="133" name="Forma 183"/>
            <p:cNvSpPr/>
            <p:nvPr/>
          </p:nvSpPr>
          <p:spPr>
            <a:xfrm>
              <a:off x="11459007" y="1569000"/>
              <a:ext cx="219456" cy="219456"/>
            </a:xfrm>
            <a:prstGeom prst="ellipse">
              <a:avLst/>
            </a:prstGeom>
            <a:solidFill>
              <a:srgbClr val="7D3C98"/>
            </a:solidFill>
            <a:ln>
              <a:noFill/>
            </a:ln>
          </p:spPr>
        </p:sp>
        <p:sp>
          <p:nvSpPr>
            <p:cNvPr id="134" name="Forma 184"/>
            <p:cNvSpPr txBox="1"/>
            <p:nvPr/>
          </p:nvSpPr>
          <p:spPr>
            <a:xfrm>
              <a:off x="9326880" y="3611880"/>
              <a:ext cx="2560320" cy="320040"/>
            </a:xfrm>
            <a:prstGeom prst="rect">
              <a:avLst/>
            </a:prstGeom>
            <a:noFill/>
            <a:ln>
              <a:noFill/>
            </a:ln>
          </p:spPr>
          <p:txBody>
            <a:bodyPr wrap="square" lIns="0" tIns="0" rIns="0" bIns="0" anchor="ctr" rtlCol="0">
              <a:noAutofit/>
            </a:bodyPr>
            <a:lstStyle/>
            <a:p>
              <a:pPr algn="ctr">
                <a:spcAft>
                  <a:spcPts val="300"/>
                </a:spcAft>
                <a:buNone/>
              </a:pPr>
              <a:r>
                <a:rPr lang="es-AR" sz="11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Perilipinas en la superficie</a:t>
              </a:r>
              <a:endParaRPr lang="es-AR" sz="1150" dirty="0">
                <a:latin typeface="Fira Sans Condensed"/>
              </a:endParaRPr>
            </a:p>
          </p:txBody>
        </p:sp>
      </p:grpSp>
      <p:grpSp>
        <p:nvGrpSpPr>
          <p:cNvPr id="135" name="Cuadro Regulación"/>
          <p:cNvGrpSpPr/>
          <p:nvPr/>
        </p:nvGrpSpPr>
        <p:grpSpPr>
          <a:xfrm>
            <a:off x="5943600" y="4069080"/>
            <a:ext cx="5897880" cy="2194560"/>
            <a:chOff x="5943600" y="4069080"/>
            <a:chExt cx="5897880" cy="2194560"/>
          </a:xfrm>
        </p:grpSpPr>
        <p:sp>
          <p:nvSpPr>
            <p:cNvPr id="136" name="Forma 186"/>
            <p:cNvSpPr/>
            <p:nvPr/>
          </p:nvSpPr>
          <p:spPr>
            <a:xfrm>
              <a:off x="5943600" y="4270248"/>
              <a:ext cx="5897880" cy="19933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La insulina promueve el almacenamiento: GLUT4, glicerol-3-P, captación y esterificación de AG e </a:t>
              </a:r>
              <a:r>
                <a:rPr lang="es-AR" sz="1350" b="1" dirty="0">
                  <a:solidFill>
                    <a:srgbClr val="1E1E1E"/>
                  </a:solidFill>
                  <a:latin typeface="Fira Sans Condensed"/>
                  <a:ea typeface="Fira Sans Condensed"/>
                  <a:cs typeface="Fira Sans Condensed"/>
                  <a:sym typeface="Fira Sans Condensed"/>
                </a:rPr>
                <a:t>inhibición</a:t>
              </a:r>
              <a:r>
                <a:rPr lang="es-AR" sz="1350" dirty="0">
                  <a:solidFill>
                    <a:srgbClr val="1E1E1E"/>
                  </a:solidFill>
                  <a:latin typeface="Fira Sans Condensed"/>
                  <a:ea typeface="Fira Sans Condensed"/>
                  <a:cs typeface="Fira Sans Condensed"/>
                  <a:sym typeface="Fira Sans Condensed"/>
                </a:rPr>
                <a:t> de la lipólisis. La glucosa </a:t>
              </a:r>
              <a:r>
                <a:rPr lang="es-AR" sz="1350" b="1" dirty="0">
                  <a:solidFill>
                    <a:srgbClr val="1E1E1E"/>
                  </a:solidFill>
                  <a:latin typeface="Fira Sans Condensed"/>
                  <a:ea typeface="Fira Sans Condensed"/>
                  <a:cs typeface="Fira Sans Condensed"/>
                  <a:sym typeface="Fira Sans Condensed"/>
                </a:rPr>
                <a:t>no</a:t>
              </a:r>
              <a:r>
                <a:rPr lang="es-AR" sz="1350" dirty="0">
                  <a:solidFill>
                    <a:srgbClr val="1E1E1E"/>
                  </a:solidFill>
                  <a:latin typeface="Fira Sans Condensed"/>
                  <a:ea typeface="Fira Sans Condensed"/>
                  <a:cs typeface="Fira Sans Condensed"/>
                  <a:sym typeface="Fira Sans Condensed"/>
                </a:rPr>
                <a:t> se «convierte toda en grasa» inevitablemente: el flujo depende del estado hormonal, la dieta y el balance sostenido.</a:t>
              </a:r>
              <a:endParaRPr lang="es-AR" sz="1350" dirty="0">
                <a:latin typeface="Fira Sans Condensed"/>
              </a:endParaRPr>
            </a:p>
          </p:txBody>
        </p:sp>
        <p:sp>
          <p:nvSpPr>
            <p:cNvPr id="137" name="Forma 187"/>
            <p:cNvSpPr/>
            <p:nvPr/>
          </p:nvSpPr>
          <p:spPr>
            <a:xfrm>
              <a:off x="6080760" y="4069080"/>
              <a:ext cx="135864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REGULACIÓN</a:t>
              </a:r>
              <a:endParaRPr lang="es-AR" sz="1400" dirty="0">
                <a:latin typeface="Fira Sans Condensed"/>
              </a:endParaRPr>
            </a:p>
          </p:txBody>
        </p:sp>
      </p:gr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ESTERIFICACIÓN: DEL GLICEROL-3-P AL TRIACILGLICEROL</a:t>
            </a:r>
            <a:endParaRPr lang="es-AR" sz="27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1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2"/>
                                        </p:tgtEl>
                                        <p:attrNameLst>
                                          <p:attrName>style.visibility</p:attrName>
                                        </p:attrNameLst>
                                      </p:cBhvr>
                                      <p:to>
                                        <p:strVal val="visible"/>
                                      </p:to>
                                    </p:set>
                                    <p:animEffect transition="in" filter="fade">
                                      <p:cBhvr>
                                        <p:cTn id="35" dur="500"/>
                                        <p:tgtEl>
                                          <p:spTgt spid="122"/>
                                        </p:tgtEl>
                                      </p:cBhvr>
                                    </p:animEffect>
                                  </p:childTnLst>
                                </p:cTn>
                              </p:par>
                            </p:childTnLst>
                          </p:cTn>
                        </p:par>
                      </p:childTnLst>
                    </p:cTn>
                  </p:par>
                  <p:par>
                    <p:cTn id="42" fill="hold">
                      <p:stCondLst>
                        <p:cond delay="indefinite"/>
                      </p:stCondLst>
                      <p:childTnLst>
                        <p:par>
                          <p:cTn id="41"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5"/>
                                        </p:tgtEl>
                                        <p:attrNameLst>
                                          <p:attrName>style.visibility</p:attrName>
                                        </p:attrNameLst>
                                      </p:cBhvr>
                                      <p:to>
                                        <p:strVal val="visible"/>
                                      </p:to>
                                    </p:set>
                                    <p:animEffect transition="in" filter="fade">
                                      <p:cBhvr>
                                        <p:cTn id="40"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Flecha ci→ac"/>
          <p:cNvGrpSpPr/>
          <p:nvPr/>
        </p:nvGrpSpPr>
        <p:grpSpPr>
          <a:xfrm>
            <a:off x="2531645" y="1024128"/>
            <a:ext cx="514550" cy="448056"/>
            <a:chOff x="2531645" y="1024128"/>
            <a:chExt cx="514550" cy="448056"/>
          </a:xfrm>
        </p:grpSpPr>
        <p:sp>
          <p:nvSpPr>
            <p:cNvPr id="8" name="Flecha 7_2"/>
            <p:cNvSpPr/>
            <p:nvPr/>
          </p:nvSpPr>
          <p:spPr>
            <a:xfrm>
              <a:off x="2596896" y="146304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9" name="Rótulo ACLY"/>
            <p:cNvSpPr/>
            <p:nvPr/>
          </p:nvSpPr>
          <p:spPr>
            <a:xfrm>
              <a:off x="2531645" y="1024128"/>
              <a:ext cx="514550"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ACLY</a:t>
              </a:r>
              <a:endParaRPr lang="es-AR" sz="1100" dirty="0">
                <a:latin typeface="Fira Sans Condensed"/>
              </a:endParaRPr>
            </a:p>
          </p:txBody>
        </p:sp>
      </p:grpSp>
      <p:grpSp>
        <p:nvGrpSpPr>
          <p:cNvPr id="10" name="Flecha ac→ma"/>
          <p:cNvGrpSpPr/>
          <p:nvPr/>
        </p:nvGrpSpPr>
        <p:grpSpPr>
          <a:xfrm>
            <a:off x="5214278" y="1024128"/>
            <a:ext cx="452805" cy="448056"/>
            <a:chOff x="5214278" y="1024128"/>
            <a:chExt cx="452805" cy="448056"/>
          </a:xfrm>
        </p:grpSpPr>
        <p:sp>
          <p:nvSpPr>
            <p:cNvPr id="11" name="Flecha 11_2"/>
            <p:cNvSpPr/>
            <p:nvPr/>
          </p:nvSpPr>
          <p:spPr>
            <a:xfrm>
              <a:off x="5248656" y="146304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12" name="Rótulo ACC"/>
            <p:cNvSpPr/>
            <p:nvPr/>
          </p:nvSpPr>
          <p:spPr>
            <a:xfrm>
              <a:off x="5214278" y="1024128"/>
              <a:ext cx="452805"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ACC</a:t>
              </a:r>
              <a:endParaRPr lang="es-AR" sz="1100" dirty="0">
                <a:latin typeface="Fira Sans Condensed"/>
              </a:endParaRPr>
            </a:p>
          </p:txBody>
        </p:sp>
      </p:grpSp>
      <p:grpSp>
        <p:nvGrpSpPr>
          <p:cNvPr id="13" name="Flecha ma→pa"/>
          <p:cNvGrpSpPr/>
          <p:nvPr/>
        </p:nvGrpSpPr>
        <p:grpSpPr>
          <a:xfrm>
            <a:off x="7829337" y="1024128"/>
            <a:ext cx="526206" cy="448056"/>
            <a:chOff x="7829337" y="1024128"/>
            <a:chExt cx="526206" cy="448056"/>
          </a:xfrm>
        </p:grpSpPr>
        <p:sp>
          <p:nvSpPr>
            <p:cNvPr id="14" name="Flecha 15_2"/>
            <p:cNvSpPr/>
            <p:nvPr/>
          </p:nvSpPr>
          <p:spPr>
            <a:xfrm>
              <a:off x="7900416" y="1463040"/>
              <a:ext cx="384048" cy="9144"/>
            </a:xfrm>
            <a:custGeom>
              <a:avLst/>
              <a:gdLst/>
              <a:ahLst/>
              <a:cxnLst/>
              <a:rect l="0" t="0" r="r" b="b"/>
              <a:pathLst>
                <a:path w="420" h="10" fill="none">
                  <a:moveTo>
                    <a:pt x="0" y="0"/>
                  </a:moveTo>
                  <a:lnTo>
                    <a:pt x="420" y="0"/>
                  </a:lnTo>
                </a:path>
              </a:pathLst>
            </a:custGeom>
            <a:noFill/>
            <a:ln w="28575" cap="rnd">
              <a:solidFill>
                <a:srgbClr val="1E1E1E"/>
              </a:solidFill>
              <a:round/>
              <a:tailEnd type="triangle" w="med" len="med"/>
            </a:ln>
          </p:spPr>
        </p:sp>
        <p:sp>
          <p:nvSpPr>
            <p:cNvPr id="15" name="Rótulo FASN"/>
            <p:cNvSpPr/>
            <p:nvPr/>
          </p:nvSpPr>
          <p:spPr>
            <a:xfrm>
              <a:off x="7829337" y="1024128"/>
              <a:ext cx="526206" cy="216535"/>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FASN</a:t>
              </a:r>
              <a:endParaRPr lang="es-AR" sz="1100" dirty="0">
                <a:latin typeface="Fira Sans Condensed"/>
              </a:endParaRPr>
            </a:p>
          </p:txBody>
        </p:sp>
      </p:grpSp>
      <p:sp>
        <p:nvSpPr>
          <p:cNvPr id="16" name="Flecha np→pa"/>
          <p:cNvSpPr/>
          <p:nvPr/>
        </p:nvSpPr>
        <p:spPr>
          <a:xfrm>
            <a:off x="9418320" y="1783080"/>
            <a:ext cx="9144" cy="484632"/>
          </a:xfrm>
          <a:custGeom>
            <a:avLst/>
            <a:gdLst/>
            <a:ahLst/>
            <a:cxnLst/>
            <a:rect l="0" t="0" r="r" b="b"/>
            <a:pathLst>
              <a:path w="10" h="530" fill="none">
                <a:moveTo>
                  <a:pt x="0" y="530"/>
                </a:moveTo>
                <a:lnTo>
                  <a:pt x="0" y="0"/>
                </a:lnTo>
              </a:path>
            </a:pathLst>
          </a:custGeom>
          <a:noFill/>
          <a:ln w="28575" cap="rnd">
            <a:solidFill>
              <a:srgbClr val="1E1E1E"/>
            </a:solidFill>
            <a:round/>
            <a:tailEnd type="triangle" w="med" len="med"/>
          </a:ln>
        </p:spPr>
      </p:sp>
      <p:sp>
        <p:nvSpPr>
          <p:cNvPr id="17" name="Flecha sr→ma"/>
          <p:cNvSpPr/>
          <p:nvPr/>
        </p:nvSpPr>
        <p:spPr>
          <a:xfrm>
            <a:off x="5257800" y="1783080"/>
            <a:ext cx="1051560" cy="914400"/>
          </a:xfrm>
          <a:custGeom>
            <a:avLst/>
            <a:gdLst/>
            <a:ahLst/>
            <a:cxnLst/>
            <a:rect l="0" t="0" r="r" b="b"/>
            <a:pathLst>
              <a:path w="1150" h="1000" fill="none">
                <a:moveTo>
                  <a:pt x="0" y="1000"/>
                </a:moveTo>
                <a:lnTo>
                  <a:pt x="1150" y="1000"/>
                </a:lnTo>
                <a:lnTo>
                  <a:pt x="1150" y="0"/>
                </a:lnTo>
              </a:path>
            </a:pathLst>
          </a:custGeom>
          <a:noFill/>
          <a:ln w="28575" cap="rnd">
            <a:solidFill>
              <a:srgbClr val="1E8C3A"/>
            </a:solidFill>
            <a:round/>
            <a:tailEnd type="triangle" w="med" len="med"/>
          </a:ln>
        </p:spPr>
      </p:sp>
      <p:grpSp>
        <p:nvGrpSpPr>
          <p:cNvPr id="18" name="Flecha am→ma"/>
          <p:cNvGrpSpPr/>
          <p:nvPr/>
        </p:nvGrpSpPr>
        <p:grpSpPr>
          <a:xfrm>
            <a:off x="5257800" y="1783080"/>
            <a:ext cx="877824" cy="1938528"/>
            <a:chOff x="5257800" y="1783080"/>
            <a:chExt cx="877824" cy="1938528"/>
          </a:xfrm>
        </p:grpSpPr>
        <p:sp>
          <p:nvSpPr>
            <p:cNvPr id="19" name="Flecha 21_2"/>
            <p:cNvSpPr/>
            <p:nvPr/>
          </p:nvSpPr>
          <p:spPr>
            <a:xfrm>
              <a:off x="5257800" y="1783080"/>
              <a:ext cx="777240" cy="1938528"/>
            </a:xfrm>
            <a:custGeom>
              <a:avLst/>
              <a:gdLst/>
              <a:ahLst/>
              <a:cxnLst/>
              <a:rect l="0" t="0" r="r" b="b"/>
              <a:pathLst>
                <a:path w="849" h="2120" fill="none">
                  <a:moveTo>
                    <a:pt x="0" y="2120"/>
                  </a:moveTo>
                  <a:lnTo>
                    <a:pt x="250" y="2120"/>
                  </a:lnTo>
                  <a:lnTo>
                    <a:pt x="250" y="250"/>
                  </a:lnTo>
                  <a:lnTo>
                    <a:pt x="849" y="250"/>
                  </a:lnTo>
                  <a:lnTo>
                    <a:pt x="849" y="0"/>
                  </a:lnTo>
                </a:path>
              </a:pathLst>
            </a:custGeom>
            <a:noFill/>
            <a:ln w="34925" cap="rnd">
              <a:solidFill>
                <a:srgbClr val="C00000"/>
              </a:solidFill>
              <a:round/>
            </a:ln>
          </p:spPr>
        </p:sp>
        <p:sp>
          <p:nvSpPr>
            <p:cNvPr id="20" name="Flecha 23_2"/>
            <p:cNvSpPr/>
            <p:nvPr/>
          </p:nvSpPr>
          <p:spPr>
            <a:xfrm>
              <a:off x="5934456" y="1783080"/>
              <a:ext cx="201168" cy="9144"/>
            </a:xfrm>
            <a:custGeom>
              <a:avLst/>
              <a:gdLst/>
              <a:ahLst/>
              <a:cxnLst/>
              <a:rect l="0" t="0" r="r" b="b"/>
              <a:pathLst>
                <a:path w="220" h="10" fill="none">
                  <a:moveTo>
                    <a:pt x="0" y="0"/>
                  </a:moveTo>
                  <a:lnTo>
                    <a:pt x="220" y="0"/>
                  </a:lnTo>
                </a:path>
              </a:pathLst>
            </a:custGeom>
            <a:noFill/>
            <a:ln w="55880" cap="rnd">
              <a:solidFill>
                <a:srgbClr val="C00000"/>
              </a:solidFill>
              <a:round/>
            </a:ln>
          </p:spPr>
        </p:sp>
      </p:grpSp>
      <p:grpSp>
        <p:nvGrpSpPr>
          <p:cNvPr id="21" name="Flecha ma→cp"/>
          <p:cNvGrpSpPr/>
          <p:nvPr/>
        </p:nvGrpSpPr>
        <p:grpSpPr>
          <a:xfrm>
            <a:off x="6665976" y="1783080"/>
            <a:ext cx="201168" cy="1655064"/>
            <a:chOff x="6665976" y="1783080"/>
            <a:chExt cx="201168" cy="1655064"/>
          </a:xfrm>
        </p:grpSpPr>
        <p:sp>
          <p:nvSpPr>
            <p:cNvPr id="22" name="Flecha 26_2"/>
            <p:cNvSpPr/>
            <p:nvPr/>
          </p:nvSpPr>
          <p:spPr>
            <a:xfrm>
              <a:off x="6766560" y="1783080"/>
              <a:ext cx="9144" cy="1645920"/>
            </a:xfrm>
            <a:custGeom>
              <a:avLst/>
              <a:gdLst/>
              <a:ahLst/>
              <a:cxnLst/>
              <a:rect l="0" t="0" r="r" b="b"/>
              <a:pathLst>
                <a:path w="10" h="1800" fill="none">
                  <a:moveTo>
                    <a:pt x="0" y="0"/>
                  </a:moveTo>
                  <a:lnTo>
                    <a:pt x="0" y="1800"/>
                  </a:lnTo>
                </a:path>
              </a:pathLst>
            </a:custGeom>
            <a:noFill/>
            <a:ln w="34925" cap="rnd">
              <a:solidFill>
                <a:srgbClr val="C00000"/>
              </a:solidFill>
              <a:round/>
            </a:ln>
          </p:spPr>
        </p:sp>
        <p:sp>
          <p:nvSpPr>
            <p:cNvPr id="23" name="Flecha 28_2"/>
            <p:cNvSpPr/>
            <p:nvPr/>
          </p:nvSpPr>
          <p:spPr>
            <a:xfrm>
              <a:off x="6665976" y="3429000"/>
              <a:ext cx="201168" cy="9144"/>
            </a:xfrm>
            <a:custGeom>
              <a:avLst/>
              <a:gdLst/>
              <a:ahLst/>
              <a:cxnLst/>
              <a:rect l="0" t="0" r="r" b="b"/>
              <a:pathLst>
                <a:path w="220" h="10" fill="none">
                  <a:moveTo>
                    <a:pt x="220" y="0"/>
                  </a:moveTo>
                  <a:lnTo>
                    <a:pt x="0" y="0"/>
                  </a:lnTo>
                </a:path>
              </a:pathLst>
            </a:custGeom>
            <a:noFill/>
            <a:ln w="55880" cap="rnd">
              <a:solidFill>
                <a:srgbClr val="C00000"/>
              </a:solidFill>
              <a:round/>
            </a:ln>
          </p:spPr>
        </p:sp>
      </p:grpSp>
      <p:sp>
        <p:nvSpPr>
          <p:cNvPr id="24" name="Nodo ci"/>
          <p:cNvSpPr/>
          <p:nvPr/>
        </p:nvSpPr>
        <p:spPr>
          <a:xfrm>
            <a:off x="365760" y="118872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CITRATO (MITOCONDRIA)</a:t>
            </a:r>
            <a:endParaRPr lang="es-AR" sz="1250" dirty="0">
              <a:latin typeface="Fira Sans Condensed"/>
            </a:endParaRPr>
          </a:p>
        </p:txBody>
      </p:sp>
      <p:sp>
        <p:nvSpPr>
          <p:cNvPr id="25" name="Nodo ac"/>
          <p:cNvSpPr/>
          <p:nvPr/>
        </p:nvSpPr>
        <p:spPr>
          <a:xfrm>
            <a:off x="3017520" y="118872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ACETIL-COA CITOSÓLICO</a:t>
            </a:r>
            <a:endParaRPr lang="es-AR" sz="1250" dirty="0">
              <a:latin typeface="Fira Sans Condensed"/>
            </a:endParaRPr>
          </a:p>
        </p:txBody>
      </p:sp>
      <p:sp>
        <p:nvSpPr>
          <p:cNvPr id="26" name="Nodo ma"/>
          <p:cNvSpPr/>
          <p:nvPr/>
        </p:nvSpPr>
        <p:spPr>
          <a:xfrm>
            <a:off x="5669280" y="118872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MALONIL-COA</a:t>
            </a:r>
            <a:endParaRPr lang="es-AR" sz="1400" dirty="0">
              <a:latin typeface="Fira Sans Condensed"/>
            </a:endParaRPr>
          </a:p>
        </p:txBody>
      </p:sp>
      <p:sp>
        <p:nvSpPr>
          <p:cNvPr id="27" name="Nodo pa"/>
          <p:cNvSpPr/>
          <p:nvPr/>
        </p:nvSpPr>
        <p:spPr>
          <a:xfrm>
            <a:off x="8321040" y="118872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PALMITATO</a:t>
            </a:r>
            <a:endParaRPr lang="es-AR" sz="1500" dirty="0">
              <a:latin typeface="Fira Sans Condensed"/>
            </a:endParaRPr>
          </a:p>
        </p:txBody>
      </p:sp>
      <p:sp>
        <p:nvSpPr>
          <p:cNvPr id="28" name="Nodo np"/>
          <p:cNvSpPr/>
          <p:nvPr/>
        </p:nvSpPr>
        <p:spPr>
          <a:xfrm>
            <a:off x="8321040" y="2286000"/>
            <a:ext cx="3520440" cy="50292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NADPH (pentosas fosfato / enzima málica)</a:t>
            </a:r>
            <a:endParaRPr lang="es-AR" sz="1200" dirty="0">
              <a:latin typeface="Fira Sans Condensed"/>
            </a:endParaRPr>
          </a:p>
        </p:txBody>
      </p:sp>
      <p:sp>
        <p:nvSpPr>
          <p:cNvPr id="29" name="Nodo sr"/>
          <p:cNvSpPr/>
          <p:nvPr/>
        </p:nvSpPr>
        <p:spPr>
          <a:xfrm>
            <a:off x="365760" y="2423160"/>
            <a:ext cx="484632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SREBP-1c (insulina) · ChREBP (carbohidratos) → inducen enzimas</a:t>
            </a:r>
            <a:endParaRPr lang="es-AR" sz="1250" dirty="0">
              <a:latin typeface="Fira Sans Condensed"/>
            </a:endParaRPr>
          </a:p>
        </p:txBody>
      </p:sp>
      <p:sp>
        <p:nvSpPr>
          <p:cNvPr id="30" name="Nodo am"/>
          <p:cNvSpPr/>
          <p:nvPr/>
        </p:nvSpPr>
        <p:spPr>
          <a:xfrm>
            <a:off x="3017520" y="3474720"/>
            <a:ext cx="21945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AMPK (baja energía)</a:t>
            </a:r>
            <a:endParaRPr lang="es-AR" sz="1300" dirty="0">
              <a:latin typeface="Fira Sans Condensed"/>
            </a:endParaRPr>
          </a:p>
        </p:txBody>
      </p:sp>
      <p:sp>
        <p:nvSpPr>
          <p:cNvPr id="31" name="Nodo cp"/>
          <p:cNvSpPr/>
          <p:nvPr/>
        </p:nvSpPr>
        <p:spPr>
          <a:xfrm>
            <a:off x="5669280" y="3474720"/>
            <a:ext cx="219456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CPT1</a:t>
            </a:r>
            <a:endParaRPr lang="es-AR" sz="1500" dirty="0">
              <a:latin typeface="Fira Sans Condensed"/>
            </a:endParaRPr>
          </a:p>
        </p:txBody>
      </p:sp>
      <p:grpSp>
        <p:nvGrpSpPr>
          <p:cNvPr id="32" name="Palmitato 3D"/>
          <p:cNvGrpSpPr/>
          <p:nvPr/>
        </p:nvGrpSpPr>
        <p:grpSpPr>
          <a:xfrm>
            <a:off x="7863840" y="3240735"/>
            <a:ext cx="4251960" cy="1709907"/>
            <a:chOff x="7863840" y="3240735"/>
            <a:chExt cx="4251960" cy="1709907"/>
          </a:xfrm>
        </p:grpSpPr>
        <p:sp>
          <p:nvSpPr>
            <p:cNvPr id="33" name="Átomo O"/>
            <p:cNvSpPr/>
            <p:nvPr/>
          </p:nvSpPr>
          <p:spPr>
            <a:xfrm>
              <a:off x="11256109" y="3592692"/>
              <a:ext cx="162215" cy="16221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4" name="Flecha 40_2"/>
            <p:cNvSpPr/>
            <p:nvPr/>
          </p:nvSpPr>
          <p:spPr>
            <a:xfrm>
              <a:off x="11323755" y="3554080"/>
              <a:ext cx="105669" cy="106343"/>
            </a:xfrm>
            <a:custGeom>
              <a:avLst/>
              <a:gdLst/>
              <a:ahLst/>
              <a:cxnLst/>
              <a:rect l="0" t="0" r="r" b="b"/>
              <a:pathLst>
                <a:path w="115" h="116" fill="none">
                  <a:moveTo>
                    <a:pt x="115" y="0"/>
                  </a:moveTo>
                  <a:lnTo>
                    <a:pt x="0" y="116"/>
                  </a:lnTo>
                </a:path>
              </a:pathLst>
            </a:custGeom>
            <a:noFill/>
            <a:ln w="21086" cap="rnd">
              <a:solidFill>
                <a:srgbClr val="9A9A9A"/>
              </a:solidFill>
              <a:round/>
            </a:ln>
          </p:spPr>
        </p:sp>
        <p:sp>
          <p:nvSpPr>
            <p:cNvPr id="35" name="Flecha 42_2"/>
            <p:cNvSpPr/>
            <p:nvPr/>
          </p:nvSpPr>
          <p:spPr>
            <a:xfrm>
              <a:off x="11350678" y="3580833"/>
              <a:ext cx="105669" cy="106343"/>
            </a:xfrm>
            <a:custGeom>
              <a:avLst/>
              <a:gdLst/>
              <a:ahLst/>
              <a:cxnLst/>
              <a:rect l="0" t="0" r="r" b="b"/>
              <a:pathLst>
                <a:path w="115" h="116" fill="none">
                  <a:moveTo>
                    <a:pt x="115" y="0"/>
                  </a:moveTo>
                  <a:lnTo>
                    <a:pt x="0" y="116"/>
                  </a:lnTo>
                </a:path>
              </a:pathLst>
            </a:custGeom>
            <a:noFill/>
            <a:ln w="21086" cap="rnd">
              <a:solidFill>
                <a:srgbClr val="9A9A9A"/>
              </a:solidFill>
              <a:round/>
            </a:ln>
          </p:spPr>
        </p:sp>
        <p:sp>
          <p:nvSpPr>
            <p:cNvPr id="36" name="Átomo C"/>
            <p:cNvSpPr/>
            <p:nvPr/>
          </p:nvSpPr>
          <p:spPr>
            <a:xfrm>
              <a:off x="11355484" y="3480055"/>
              <a:ext cx="174804" cy="17480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Flecha 45_2"/>
            <p:cNvSpPr/>
            <p:nvPr/>
          </p:nvSpPr>
          <p:spPr>
            <a:xfrm>
              <a:off x="11442886" y="3323370"/>
              <a:ext cx="100372" cy="244087"/>
            </a:xfrm>
            <a:custGeom>
              <a:avLst/>
              <a:gdLst/>
              <a:ahLst/>
              <a:cxnLst/>
              <a:rect l="0" t="0" r="r" b="b"/>
              <a:pathLst>
                <a:path w="109" h="266" fill="none">
                  <a:moveTo>
                    <a:pt x="0" y="266"/>
                  </a:moveTo>
                  <a:lnTo>
                    <a:pt x="109" y="0"/>
                  </a:lnTo>
                </a:path>
              </a:pathLst>
            </a:custGeom>
            <a:noFill/>
            <a:ln w="26357" cap="rnd">
              <a:solidFill>
                <a:srgbClr val="9A9A9A"/>
              </a:solidFill>
              <a:round/>
            </a:ln>
          </p:spPr>
        </p:sp>
        <p:sp>
          <p:nvSpPr>
            <p:cNvPr id="38" name="Átomo O_2"/>
            <p:cNvSpPr/>
            <p:nvPr/>
          </p:nvSpPr>
          <p:spPr>
            <a:xfrm>
              <a:off x="11460624" y="3240735"/>
              <a:ext cx="165269" cy="16526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9" name="Átomo H"/>
            <p:cNvSpPr/>
            <p:nvPr/>
          </p:nvSpPr>
          <p:spPr>
            <a:xfrm>
              <a:off x="11215731" y="4078325"/>
              <a:ext cx="105434" cy="1054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0" name="Átomo H_2"/>
            <p:cNvSpPr/>
            <p:nvPr/>
          </p:nvSpPr>
          <p:spPr>
            <a:xfrm>
              <a:off x="10708441" y="4231168"/>
              <a:ext cx="105831" cy="10583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1" name="Flecha 50_2"/>
            <p:cNvSpPr/>
            <p:nvPr/>
          </p:nvSpPr>
          <p:spPr>
            <a:xfrm>
              <a:off x="11442886" y="3567457"/>
              <a:ext cx="14392" cy="191748"/>
            </a:xfrm>
            <a:custGeom>
              <a:avLst/>
              <a:gdLst/>
              <a:ahLst/>
              <a:cxnLst/>
              <a:rect l="0" t="0" r="r" b="b"/>
              <a:pathLst>
                <a:path w="15" h="209" fill="none">
                  <a:moveTo>
                    <a:pt x="15" y="209"/>
                  </a:moveTo>
                  <a:lnTo>
                    <a:pt x="0" y="0"/>
                  </a:lnTo>
                </a:path>
              </a:pathLst>
            </a:custGeom>
            <a:noFill/>
            <a:ln w="26357" cap="rnd">
              <a:solidFill>
                <a:srgbClr val="9A9A9A"/>
              </a:solidFill>
              <a:round/>
            </a:ln>
          </p:spPr>
        </p:sp>
        <p:sp>
          <p:nvSpPr>
            <p:cNvPr id="42" name="Átomo H_3"/>
            <p:cNvSpPr/>
            <p:nvPr/>
          </p:nvSpPr>
          <p:spPr>
            <a:xfrm>
              <a:off x="10829422" y="3717050"/>
              <a:ext cx="105913" cy="10591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3" name="Flecha 53_2"/>
            <p:cNvSpPr/>
            <p:nvPr/>
          </p:nvSpPr>
          <p:spPr>
            <a:xfrm>
              <a:off x="11251361" y="4006344"/>
              <a:ext cx="17087" cy="124698"/>
            </a:xfrm>
            <a:custGeom>
              <a:avLst/>
              <a:gdLst/>
              <a:ahLst/>
              <a:cxnLst/>
              <a:rect l="0" t="0" r="r" b="b"/>
              <a:pathLst>
                <a:path w="18" h="136" fill="none">
                  <a:moveTo>
                    <a:pt x="0" y="0"/>
                  </a:moveTo>
                  <a:lnTo>
                    <a:pt x="18" y="136"/>
                  </a:lnTo>
                </a:path>
              </a:pathLst>
            </a:custGeom>
            <a:noFill/>
            <a:ln w="26357" cap="rnd">
              <a:solidFill>
                <a:srgbClr val="9A9A9A"/>
              </a:solidFill>
              <a:round/>
            </a:ln>
          </p:spPr>
        </p:sp>
        <p:sp>
          <p:nvSpPr>
            <p:cNvPr id="44" name="Átomo H_4"/>
            <p:cNvSpPr/>
            <p:nvPr/>
          </p:nvSpPr>
          <p:spPr>
            <a:xfrm>
              <a:off x="10215277" y="4395204"/>
              <a:ext cx="106298" cy="10629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5" name="Átomo H_5"/>
            <p:cNvSpPr/>
            <p:nvPr/>
          </p:nvSpPr>
          <p:spPr>
            <a:xfrm>
              <a:off x="10324070" y="3874005"/>
              <a:ext cx="106318" cy="10631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Átomo H_6"/>
            <p:cNvSpPr/>
            <p:nvPr/>
          </p:nvSpPr>
          <p:spPr>
            <a:xfrm>
              <a:off x="9820759" y="4045371"/>
              <a:ext cx="106508" cy="1065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7" name="Flecha 58_2"/>
            <p:cNvSpPr/>
            <p:nvPr/>
          </p:nvSpPr>
          <p:spPr>
            <a:xfrm>
              <a:off x="10882379" y="3770006"/>
              <a:ext cx="63611" cy="140199"/>
            </a:xfrm>
            <a:custGeom>
              <a:avLst/>
              <a:gdLst/>
              <a:ahLst/>
              <a:cxnLst/>
              <a:rect l="0" t="0" r="r" b="b"/>
              <a:pathLst>
                <a:path w="69" h="153" fill="none">
                  <a:moveTo>
                    <a:pt x="69" y="153"/>
                  </a:moveTo>
                  <a:lnTo>
                    <a:pt x="0" y="0"/>
                  </a:lnTo>
                </a:path>
              </a:pathLst>
            </a:custGeom>
            <a:noFill/>
            <a:ln w="26357" cap="rnd">
              <a:solidFill>
                <a:srgbClr val="9A9A9A"/>
              </a:solidFill>
              <a:round/>
            </a:ln>
          </p:spPr>
        </p:sp>
        <p:sp>
          <p:nvSpPr>
            <p:cNvPr id="48" name="Flecha 60_2"/>
            <p:cNvSpPr/>
            <p:nvPr/>
          </p:nvSpPr>
          <p:spPr>
            <a:xfrm>
              <a:off x="10744825" y="4162138"/>
              <a:ext cx="16532" cy="121945"/>
            </a:xfrm>
            <a:custGeom>
              <a:avLst/>
              <a:gdLst/>
              <a:ahLst/>
              <a:cxnLst/>
              <a:rect l="0" t="0" r="r" b="b"/>
              <a:pathLst>
                <a:path w="18" h="133" fill="none">
                  <a:moveTo>
                    <a:pt x="0" y="0"/>
                  </a:moveTo>
                  <a:lnTo>
                    <a:pt x="18" y="133"/>
                  </a:lnTo>
                </a:path>
              </a:pathLst>
            </a:custGeom>
            <a:noFill/>
            <a:ln w="26357" cap="rnd">
              <a:solidFill>
                <a:srgbClr val="9A9A9A"/>
              </a:solidFill>
              <a:round/>
            </a:ln>
          </p:spPr>
        </p:sp>
        <p:sp>
          <p:nvSpPr>
            <p:cNvPr id="49" name="Átomo C_2"/>
            <p:cNvSpPr/>
            <p:nvPr/>
          </p:nvSpPr>
          <p:spPr>
            <a:xfrm>
              <a:off x="11368247" y="3670174"/>
              <a:ext cx="178061" cy="17806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Flecha 63_2"/>
            <p:cNvSpPr/>
            <p:nvPr/>
          </p:nvSpPr>
          <p:spPr>
            <a:xfrm>
              <a:off x="11457278" y="3759204"/>
              <a:ext cx="215513" cy="83990"/>
            </a:xfrm>
            <a:custGeom>
              <a:avLst/>
              <a:gdLst/>
              <a:ahLst/>
              <a:cxnLst/>
              <a:rect l="0" t="0" r="r" b="b"/>
              <a:pathLst>
                <a:path w="235" h="91" fill="none">
                  <a:moveTo>
                    <a:pt x="0" y="0"/>
                  </a:moveTo>
                  <a:lnTo>
                    <a:pt x="235" y="91"/>
                  </a:lnTo>
                </a:path>
              </a:pathLst>
            </a:custGeom>
            <a:noFill/>
            <a:ln w="26357" cap="rnd">
              <a:solidFill>
                <a:srgbClr val="9A9A9A"/>
              </a:solidFill>
              <a:round/>
            </a:ln>
          </p:spPr>
        </p:sp>
        <p:sp>
          <p:nvSpPr>
            <p:cNvPr id="51" name="Flecha 65_2"/>
            <p:cNvSpPr/>
            <p:nvPr/>
          </p:nvSpPr>
          <p:spPr>
            <a:xfrm>
              <a:off x="11251361" y="3759204"/>
              <a:ext cx="205917" cy="247140"/>
            </a:xfrm>
            <a:custGeom>
              <a:avLst/>
              <a:gdLst/>
              <a:ahLst/>
              <a:cxnLst/>
              <a:rect l="0" t="0" r="r" b="b"/>
              <a:pathLst>
                <a:path w="225" h="270" fill="none">
                  <a:moveTo>
                    <a:pt x="0" y="270"/>
                  </a:moveTo>
                  <a:lnTo>
                    <a:pt x="225" y="0"/>
                  </a:lnTo>
                </a:path>
              </a:pathLst>
            </a:custGeom>
            <a:noFill/>
            <a:ln w="26357" cap="rnd">
              <a:solidFill>
                <a:srgbClr val="9A9A9A"/>
              </a:solidFill>
              <a:round/>
            </a:ln>
          </p:spPr>
        </p:sp>
        <p:sp>
          <p:nvSpPr>
            <p:cNvPr id="52" name="Átomo H_7"/>
            <p:cNvSpPr/>
            <p:nvPr/>
          </p:nvSpPr>
          <p:spPr>
            <a:xfrm>
              <a:off x="11619347" y="3789751"/>
              <a:ext cx="106886" cy="1068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3" name="Átomo C_3"/>
            <p:cNvSpPr/>
            <p:nvPr/>
          </p:nvSpPr>
          <p:spPr>
            <a:xfrm>
              <a:off x="11162283" y="3917266"/>
              <a:ext cx="178156" cy="17815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4" name="Flecha 69_2"/>
            <p:cNvSpPr/>
            <p:nvPr/>
          </p:nvSpPr>
          <p:spPr>
            <a:xfrm>
              <a:off x="10377229" y="3927164"/>
              <a:ext cx="62266" cy="139403"/>
            </a:xfrm>
            <a:custGeom>
              <a:avLst/>
              <a:gdLst/>
              <a:ahLst/>
              <a:cxnLst/>
              <a:rect l="0" t="0" r="r" b="b"/>
              <a:pathLst>
                <a:path w="68" h="152" fill="none">
                  <a:moveTo>
                    <a:pt x="68" y="152"/>
                  </a:moveTo>
                  <a:lnTo>
                    <a:pt x="0" y="0"/>
                  </a:lnTo>
                </a:path>
              </a:pathLst>
            </a:custGeom>
            <a:noFill/>
            <a:ln w="26357" cap="rnd">
              <a:solidFill>
                <a:srgbClr val="9A9A9A"/>
              </a:solidFill>
              <a:round/>
            </a:ln>
          </p:spPr>
        </p:sp>
        <p:sp>
          <p:nvSpPr>
            <p:cNvPr id="55" name="Flecha 71_2"/>
            <p:cNvSpPr/>
            <p:nvPr/>
          </p:nvSpPr>
          <p:spPr>
            <a:xfrm>
              <a:off x="10239001" y="4319063"/>
              <a:ext cx="29426" cy="129291"/>
            </a:xfrm>
            <a:custGeom>
              <a:avLst/>
              <a:gdLst/>
              <a:ahLst/>
              <a:cxnLst/>
              <a:rect l="0" t="0" r="r" b="b"/>
              <a:pathLst>
                <a:path w="32" h="141" fill="none">
                  <a:moveTo>
                    <a:pt x="0" y="0"/>
                  </a:moveTo>
                  <a:lnTo>
                    <a:pt x="32" y="141"/>
                  </a:lnTo>
                </a:path>
              </a:pathLst>
            </a:custGeom>
            <a:noFill/>
            <a:ln w="26357" cap="rnd">
              <a:solidFill>
                <a:srgbClr val="9A9A9A"/>
              </a:solidFill>
              <a:round/>
            </a:ln>
          </p:spPr>
        </p:sp>
        <p:sp>
          <p:nvSpPr>
            <p:cNvPr id="56" name="Flecha 73_2"/>
            <p:cNvSpPr/>
            <p:nvPr/>
          </p:nvSpPr>
          <p:spPr>
            <a:xfrm>
              <a:off x="10945989" y="3910206"/>
              <a:ext cx="305372" cy="96138"/>
            </a:xfrm>
            <a:custGeom>
              <a:avLst/>
              <a:gdLst/>
              <a:ahLst/>
              <a:cxnLst/>
              <a:rect l="0" t="0" r="r" b="b"/>
              <a:pathLst>
                <a:path w="333" h="105" fill="none">
                  <a:moveTo>
                    <a:pt x="0" y="0"/>
                  </a:moveTo>
                  <a:lnTo>
                    <a:pt x="333" y="105"/>
                  </a:lnTo>
                </a:path>
              </a:pathLst>
            </a:custGeom>
            <a:noFill/>
            <a:ln w="26357" cap="rnd">
              <a:solidFill>
                <a:srgbClr val="9A9A9A"/>
              </a:solidFill>
              <a:round/>
            </a:ln>
          </p:spPr>
        </p:sp>
        <p:sp>
          <p:nvSpPr>
            <p:cNvPr id="57" name="Flecha 75_2"/>
            <p:cNvSpPr/>
            <p:nvPr/>
          </p:nvSpPr>
          <p:spPr>
            <a:xfrm>
              <a:off x="9874013" y="4098625"/>
              <a:ext cx="53265" cy="136941"/>
            </a:xfrm>
            <a:custGeom>
              <a:avLst/>
              <a:gdLst/>
              <a:ahLst/>
              <a:cxnLst/>
              <a:rect l="0" t="0" r="r" b="b"/>
              <a:pathLst>
                <a:path w="58" h="149" fill="none">
                  <a:moveTo>
                    <a:pt x="58" y="149"/>
                  </a:moveTo>
                  <a:lnTo>
                    <a:pt x="0" y="0"/>
                  </a:lnTo>
                </a:path>
              </a:pathLst>
            </a:custGeom>
            <a:noFill/>
            <a:ln w="26357" cap="rnd">
              <a:solidFill>
                <a:srgbClr val="9A9A9A"/>
              </a:solidFill>
              <a:round/>
            </a:ln>
          </p:spPr>
        </p:sp>
        <p:sp>
          <p:nvSpPr>
            <p:cNvPr id="58" name="Átomo C_4"/>
            <p:cNvSpPr/>
            <p:nvPr/>
          </p:nvSpPr>
          <p:spPr>
            <a:xfrm>
              <a:off x="10856647" y="3820864"/>
              <a:ext cx="178684" cy="17868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9" name="Flecha 78_2"/>
            <p:cNvSpPr/>
            <p:nvPr/>
          </p:nvSpPr>
          <p:spPr>
            <a:xfrm>
              <a:off x="10744825" y="3910206"/>
              <a:ext cx="201164" cy="251933"/>
            </a:xfrm>
            <a:custGeom>
              <a:avLst/>
              <a:gdLst/>
              <a:ahLst/>
              <a:cxnLst/>
              <a:rect l="0" t="0" r="r" b="b"/>
              <a:pathLst>
                <a:path w="219" h="275" fill="none">
                  <a:moveTo>
                    <a:pt x="0" y="275"/>
                  </a:moveTo>
                  <a:lnTo>
                    <a:pt x="219" y="0"/>
                  </a:lnTo>
                </a:path>
              </a:pathLst>
            </a:custGeom>
            <a:noFill/>
            <a:ln w="26357" cap="rnd">
              <a:solidFill>
                <a:srgbClr val="9A9A9A"/>
              </a:solidFill>
              <a:round/>
            </a:ln>
          </p:spPr>
        </p:sp>
        <p:sp>
          <p:nvSpPr>
            <p:cNvPr id="60" name="Átomo C_5"/>
            <p:cNvSpPr/>
            <p:nvPr/>
          </p:nvSpPr>
          <p:spPr>
            <a:xfrm>
              <a:off x="10655404" y="4072717"/>
              <a:ext cx="178842" cy="1788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1" name="Flecha 81_2"/>
            <p:cNvSpPr/>
            <p:nvPr/>
          </p:nvSpPr>
          <p:spPr>
            <a:xfrm>
              <a:off x="10439495" y="4066567"/>
              <a:ext cx="305331" cy="95571"/>
            </a:xfrm>
            <a:custGeom>
              <a:avLst/>
              <a:gdLst/>
              <a:ahLst/>
              <a:cxnLst/>
              <a:rect l="0" t="0" r="r" b="b"/>
              <a:pathLst>
                <a:path w="333" h="104" fill="none">
                  <a:moveTo>
                    <a:pt x="0" y="0"/>
                  </a:moveTo>
                  <a:lnTo>
                    <a:pt x="333" y="104"/>
                  </a:lnTo>
                </a:path>
              </a:pathLst>
            </a:custGeom>
            <a:noFill/>
            <a:ln w="26357" cap="rnd">
              <a:solidFill>
                <a:srgbClr val="9A9A9A"/>
              </a:solidFill>
              <a:round/>
            </a:ln>
          </p:spPr>
        </p:sp>
        <p:sp>
          <p:nvSpPr>
            <p:cNvPr id="62" name="Flecha 83_2"/>
            <p:cNvSpPr/>
            <p:nvPr/>
          </p:nvSpPr>
          <p:spPr>
            <a:xfrm>
              <a:off x="11251361" y="4006344"/>
              <a:ext cx="59598" cy="139795"/>
            </a:xfrm>
            <a:custGeom>
              <a:avLst/>
              <a:gdLst/>
              <a:ahLst/>
              <a:cxnLst/>
              <a:rect l="0" t="0" r="r" b="b"/>
              <a:pathLst>
                <a:path w="65" h="152" fill="none">
                  <a:moveTo>
                    <a:pt x="0" y="0"/>
                  </a:moveTo>
                  <a:lnTo>
                    <a:pt x="65" y="152"/>
                  </a:lnTo>
                </a:path>
              </a:pathLst>
            </a:custGeom>
            <a:noFill/>
            <a:ln w="26357" cap="rnd">
              <a:solidFill>
                <a:srgbClr val="9A9A9A"/>
              </a:solidFill>
              <a:round/>
            </a:ln>
          </p:spPr>
        </p:sp>
        <p:sp>
          <p:nvSpPr>
            <p:cNvPr id="63" name="Flecha 85_2"/>
            <p:cNvSpPr/>
            <p:nvPr/>
          </p:nvSpPr>
          <p:spPr>
            <a:xfrm>
              <a:off x="11430071" y="3630366"/>
              <a:ext cx="27206" cy="128839"/>
            </a:xfrm>
            <a:custGeom>
              <a:avLst/>
              <a:gdLst/>
              <a:ahLst/>
              <a:cxnLst/>
              <a:rect l="0" t="0" r="r" b="b"/>
              <a:pathLst>
                <a:path w="29" h="140" fill="none">
                  <a:moveTo>
                    <a:pt x="29" y="140"/>
                  </a:moveTo>
                  <a:lnTo>
                    <a:pt x="0" y="0"/>
                  </a:lnTo>
                </a:path>
              </a:pathLst>
            </a:custGeom>
            <a:noFill/>
            <a:ln w="26357" cap="rnd">
              <a:solidFill>
                <a:srgbClr val="9A9A9A"/>
              </a:solidFill>
              <a:round/>
            </a:ln>
          </p:spPr>
        </p:sp>
        <p:sp>
          <p:nvSpPr>
            <p:cNvPr id="64" name="Átomo C_6"/>
            <p:cNvSpPr/>
            <p:nvPr/>
          </p:nvSpPr>
          <p:spPr>
            <a:xfrm>
              <a:off x="10349807" y="3976880"/>
              <a:ext cx="179375" cy="1793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5" name="Flecha 88_2"/>
            <p:cNvSpPr/>
            <p:nvPr/>
          </p:nvSpPr>
          <p:spPr>
            <a:xfrm>
              <a:off x="10239001" y="4066567"/>
              <a:ext cx="200494" cy="252495"/>
            </a:xfrm>
            <a:custGeom>
              <a:avLst/>
              <a:gdLst/>
              <a:ahLst/>
              <a:cxnLst/>
              <a:rect l="0" t="0" r="r" b="b"/>
              <a:pathLst>
                <a:path w="219" h="276" fill="none">
                  <a:moveTo>
                    <a:pt x="0" y="276"/>
                  </a:moveTo>
                  <a:lnTo>
                    <a:pt x="219" y="0"/>
                  </a:lnTo>
                </a:path>
              </a:pathLst>
            </a:custGeom>
            <a:noFill/>
            <a:ln w="26357" cap="rnd">
              <a:solidFill>
                <a:srgbClr val="9A9A9A"/>
              </a:solidFill>
              <a:round/>
            </a:ln>
          </p:spPr>
        </p:sp>
        <p:sp>
          <p:nvSpPr>
            <p:cNvPr id="66" name="Átomo H_8"/>
            <p:cNvSpPr/>
            <p:nvPr/>
          </p:nvSpPr>
          <p:spPr>
            <a:xfrm>
              <a:off x="9748560" y="4374558"/>
              <a:ext cx="107670" cy="10767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7" name="Átomo C_7"/>
            <p:cNvSpPr/>
            <p:nvPr/>
          </p:nvSpPr>
          <p:spPr>
            <a:xfrm>
              <a:off x="10149230" y="4229291"/>
              <a:ext cx="179543" cy="1795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8" name="Flecha 92_2"/>
            <p:cNvSpPr/>
            <p:nvPr/>
          </p:nvSpPr>
          <p:spPr>
            <a:xfrm>
              <a:off x="9802395" y="4235566"/>
              <a:ext cx="124883" cy="192827"/>
            </a:xfrm>
            <a:custGeom>
              <a:avLst/>
              <a:gdLst/>
              <a:ahLst/>
              <a:cxnLst/>
              <a:rect l="0" t="0" r="r" b="b"/>
              <a:pathLst>
                <a:path w="136" h="210" fill="none">
                  <a:moveTo>
                    <a:pt x="136" y="0"/>
                  </a:moveTo>
                  <a:lnTo>
                    <a:pt x="0" y="210"/>
                  </a:lnTo>
                </a:path>
              </a:pathLst>
            </a:custGeom>
            <a:noFill/>
            <a:ln w="26357" cap="rnd">
              <a:solidFill>
                <a:srgbClr val="9A9A9A"/>
              </a:solidFill>
              <a:round/>
            </a:ln>
          </p:spPr>
        </p:sp>
        <p:sp>
          <p:nvSpPr>
            <p:cNvPr id="69" name="Flecha 94_2"/>
            <p:cNvSpPr/>
            <p:nvPr/>
          </p:nvSpPr>
          <p:spPr>
            <a:xfrm>
              <a:off x="9927278" y="4235566"/>
              <a:ext cx="311723" cy="83496"/>
            </a:xfrm>
            <a:custGeom>
              <a:avLst/>
              <a:gdLst/>
              <a:ahLst/>
              <a:cxnLst/>
              <a:rect l="0" t="0" r="r" b="b"/>
              <a:pathLst>
                <a:path w="340" h="91" fill="none">
                  <a:moveTo>
                    <a:pt x="0" y="0"/>
                  </a:moveTo>
                  <a:lnTo>
                    <a:pt x="340" y="91"/>
                  </a:lnTo>
                </a:path>
              </a:pathLst>
            </a:custGeom>
            <a:noFill/>
            <a:ln w="26357" cap="rnd">
              <a:solidFill>
                <a:srgbClr val="9A9A9A"/>
              </a:solidFill>
              <a:round/>
            </a:ln>
          </p:spPr>
        </p:sp>
        <p:sp>
          <p:nvSpPr>
            <p:cNvPr id="70" name="Átomo C_8"/>
            <p:cNvSpPr/>
            <p:nvPr/>
          </p:nvSpPr>
          <p:spPr>
            <a:xfrm>
              <a:off x="9837401" y="4145690"/>
              <a:ext cx="179753" cy="17975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97_2"/>
            <p:cNvSpPr/>
            <p:nvPr/>
          </p:nvSpPr>
          <p:spPr>
            <a:xfrm>
              <a:off x="10929715" y="3788525"/>
              <a:ext cx="16274" cy="121681"/>
            </a:xfrm>
            <a:custGeom>
              <a:avLst/>
              <a:gdLst/>
              <a:ahLst/>
              <a:cxnLst/>
              <a:rect l="0" t="0" r="r" b="b"/>
              <a:pathLst>
                <a:path w="17" h="133" fill="none">
                  <a:moveTo>
                    <a:pt x="17" y="133"/>
                  </a:moveTo>
                  <a:lnTo>
                    <a:pt x="0" y="0"/>
                  </a:lnTo>
                </a:path>
              </a:pathLst>
            </a:custGeom>
            <a:noFill/>
            <a:ln w="26357" cap="rnd">
              <a:solidFill>
                <a:srgbClr val="9A9A9A"/>
              </a:solidFill>
              <a:round/>
            </a:ln>
          </p:spPr>
        </p:sp>
        <p:sp>
          <p:nvSpPr>
            <p:cNvPr id="72" name="Flecha 99_2"/>
            <p:cNvSpPr/>
            <p:nvPr/>
          </p:nvSpPr>
          <p:spPr>
            <a:xfrm>
              <a:off x="10744825" y="4162138"/>
              <a:ext cx="61997" cy="140173"/>
            </a:xfrm>
            <a:custGeom>
              <a:avLst/>
              <a:gdLst/>
              <a:ahLst/>
              <a:cxnLst/>
              <a:rect l="0" t="0" r="r" b="b"/>
              <a:pathLst>
                <a:path w="67" h="153" fill="none">
                  <a:moveTo>
                    <a:pt x="0" y="0"/>
                  </a:moveTo>
                  <a:lnTo>
                    <a:pt x="67" y="153"/>
                  </a:lnTo>
                </a:path>
              </a:pathLst>
            </a:custGeom>
            <a:noFill/>
            <a:ln w="26357" cap="rnd">
              <a:solidFill>
                <a:srgbClr val="9A9A9A"/>
              </a:solidFill>
              <a:round/>
            </a:ln>
          </p:spPr>
        </p:sp>
        <p:sp>
          <p:nvSpPr>
            <p:cNvPr id="73" name="Átomo H_9"/>
            <p:cNvSpPr/>
            <p:nvPr/>
          </p:nvSpPr>
          <p:spPr>
            <a:xfrm>
              <a:off x="11256856" y="4092036"/>
              <a:ext cx="108206" cy="10820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4" name="Átomo H_10"/>
            <p:cNvSpPr/>
            <p:nvPr/>
          </p:nvSpPr>
          <p:spPr>
            <a:xfrm>
              <a:off x="11375937" y="3576231"/>
              <a:ext cx="108268" cy="10826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5" name="Flecha 103_2"/>
            <p:cNvSpPr/>
            <p:nvPr/>
          </p:nvSpPr>
          <p:spPr>
            <a:xfrm>
              <a:off x="10425639" y="3943683"/>
              <a:ext cx="13856" cy="122884"/>
            </a:xfrm>
            <a:custGeom>
              <a:avLst/>
              <a:gdLst/>
              <a:ahLst/>
              <a:cxnLst/>
              <a:rect l="0" t="0" r="r" b="b"/>
              <a:pathLst>
                <a:path w="15" h="134" fill="none">
                  <a:moveTo>
                    <a:pt x="15" y="134"/>
                  </a:moveTo>
                  <a:lnTo>
                    <a:pt x="0" y="0"/>
                  </a:lnTo>
                </a:path>
              </a:pathLst>
            </a:custGeom>
            <a:noFill/>
            <a:ln w="26357" cap="rnd">
              <a:solidFill>
                <a:srgbClr val="9A9A9A"/>
              </a:solidFill>
              <a:round/>
            </a:ln>
          </p:spPr>
        </p:sp>
        <p:sp>
          <p:nvSpPr>
            <p:cNvPr id="76" name="Flecha 105_2"/>
            <p:cNvSpPr/>
            <p:nvPr/>
          </p:nvSpPr>
          <p:spPr>
            <a:xfrm>
              <a:off x="10239001" y="4319063"/>
              <a:ext cx="54364" cy="133706"/>
            </a:xfrm>
            <a:custGeom>
              <a:avLst/>
              <a:gdLst/>
              <a:ahLst/>
              <a:cxnLst/>
              <a:rect l="0" t="0" r="r" b="b"/>
              <a:pathLst>
                <a:path w="59" h="146" fill="none">
                  <a:moveTo>
                    <a:pt x="0" y="0"/>
                  </a:moveTo>
                  <a:lnTo>
                    <a:pt x="59" y="146"/>
                  </a:lnTo>
                </a:path>
              </a:pathLst>
            </a:custGeom>
            <a:noFill/>
            <a:ln w="26357" cap="rnd">
              <a:solidFill>
                <a:srgbClr val="9A9A9A"/>
              </a:solidFill>
              <a:round/>
            </a:ln>
          </p:spPr>
        </p:sp>
        <p:sp>
          <p:nvSpPr>
            <p:cNvPr id="77" name="Átomo H_11"/>
            <p:cNvSpPr/>
            <p:nvPr/>
          </p:nvSpPr>
          <p:spPr>
            <a:xfrm>
              <a:off x="10752518" y="4248007"/>
              <a:ext cx="108609" cy="10860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8" name="Átomo H_12"/>
            <p:cNvSpPr/>
            <p:nvPr/>
          </p:nvSpPr>
          <p:spPr>
            <a:xfrm>
              <a:off x="9426355" y="3822973"/>
              <a:ext cx="108682" cy="10868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9" name="Átomo H_13"/>
            <p:cNvSpPr/>
            <p:nvPr/>
          </p:nvSpPr>
          <p:spPr>
            <a:xfrm>
              <a:off x="10875372" y="3734182"/>
              <a:ext cx="108686" cy="1086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0" name="Átomo H_14"/>
            <p:cNvSpPr/>
            <p:nvPr/>
          </p:nvSpPr>
          <p:spPr>
            <a:xfrm>
              <a:off x="9307999" y="4339508"/>
              <a:ext cx="108840" cy="10884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1" name="Flecha 111_2"/>
            <p:cNvSpPr/>
            <p:nvPr/>
          </p:nvSpPr>
          <p:spPr>
            <a:xfrm>
              <a:off x="9848643" y="4089598"/>
              <a:ext cx="78635" cy="145969"/>
            </a:xfrm>
            <a:custGeom>
              <a:avLst/>
              <a:gdLst/>
              <a:ahLst/>
              <a:cxnLst/>
              <a:rect l="0" t="0" r="r" b="b"/>
              <a:pathLst>
                <a:path w="85" h="159" fill="none">
                  <a:moveTo>
                    <a:pt x="0" y="0"/>
                  </a:moveTo>
                  <a:lnTo>
                    <a:pt x="85" y="159"/>
                  </a:lnTo>
                </a:path>
              </a:pathLst>
            </a:custGeom>
            <a:noFill/>
            <a:ln w="26357" cap="rnd">
              <a:solidFill>
                <a:srgbClr val="9A9A9A"/>
              </a:solidFill>
              <a:round/>
            </a:ln>
          </p:spPr>
        </p:sp>
        <p:sp>
          <p:nvSpPr>
            <p:cNvPr id="82" name="Átomo H_15"/>
            <p:cNvSpPr/>
            <p:nvPr/>
          </p:nvSpPr>
          <p:spPr>
            <a:xfrm>
              <a:off x="8916067" y="3988339"/>
              <a:ext cx="108991" cy="10899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3" name="Átomo H_16"/>
            <p:cNvSpPr/>
            <p:nvPr/>
          </p:nvSpPr>
          <p:spPr>
            <a:xfrm>
              <a:off x="10238822" y="4398226"/>
              <a:ext cx="109086" cy="10908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4" name="Átomo H_17"/>
            <p:cNvSpPr/>
            <p:nvPr/>
          </p:nvSpPr>
          <p:spPr>
            <a:xfrm>
              <a:off x="10371092" y="3889137"/>
              <a:ext cx="109094" cy="10909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5" name="Flecha 116_2"/>
            <p:cNvSpPr/>
            <p:nvPr/>
          </p:nvSpPr>
          <p:spPr>
            <a:xfrm>
              <a:off x="9480695" y="3877314"/>
              <a:ext cx="56125" cy="128453"/>
            </a:xfrm>
            <a:custGeom>
              <a:avLst/>
              <a:gdLst/>
              <a:ahLst/>
              <a:cxnLst/>
              <a:rect l="0" t="0" r="r" b="b"/>
              <a:pathLst>
                <a:path w="61" h="140" fill="none">
                  <a:moveTo>
                    <a:pt x="61" y="140"/>
                  </a:moveTo>
                  <a:lnTo>
                    <a:pt x="0" y="0"/>
                  </a:lnTo>
                </a:path>
              </a:pathLst>
            </a:custGeom>
            <a:noFill/>
            <a:ln w="26357" cap="rnd">
              <a:solidFill>
                <a:srgbClr val="9A9A9A"/>
              </a:solidFill>
              <a:round/>
            </a:ln>
          </p:spPr>
        </p:sp>
        <p:sp>
          <p:nvSpPr>
            <p:cNvPr id="86" name="Flecha 118_2"/>
            <p:cNvSpPr/>
            <p:nvPr/>
          </p:nvSpPr>
          <p:spPr>
            <a:xfrm>
              <a:off x="9337059" y="4258407"/>
              <a:ext cx="25361" cy="135522"/>
            </a:xfrm>
            <a:custGeom>
              <a:avLst/>
              <a:gdLst/>
              <a:ahLst/>
              <a:cxnLst/>
              <a:rect l="0" t="0" r="r" b="b"/>
              <a:pathLst>
                <a:path w="27" h="148" fill="none">
                  <a:moveTo>
                    <a:pt x="0" y="0"/>
                  </a:moveTo>
                  <a:lnTo>
                    <a:pt x="27" y="148"/>
                  </a:lnTo>
                </a:path>
              </a:pathLst>
            </a:custGeom>
            <a:noFill/>
            <a:ln w="26357" cap="rnd">
              <a:solidFill>
                <a:srgbClr val="9A9A9A"/>
              </a:solidFill>
              <a:round/>
            </a:ln>
          </p:spPr>
        </p:sp>
        <p:sp>
          <p:nvSpPr>
            <p:cNvPr id="87" name="Flecha 120_2"/>
            <p:cNvSpPr/>
            <p:nvPr/>
          </p:nvSpPr>
          <p:spPr>
            <a:xfrm>
              <a:off x="8970562" y="4042834"/>
              <a:ext cx="54915" cy="131472"/>
            </a:xfrm>
            <a:custGeom>
              <a:avLst/>
              <a:gdLst/>
              <a:ahLst/>
              <a:cxnLst/>
              <a:rect l="0" t="0" r="r" b="b"/>
              <a:pathLst>
                <a:path w="60" h="143" fill="none">
                  <a:moveTo>
                    <a:pt x="60" y="143"/>
                  </a:moveTo>
                  <a:lnTo>
                    <a:pt x="0" y="0"/>
                  </a:lnTo>
                </a:path>
              </a:pathLst>
            </a:custGeom>
            <a:noFill/>
            <a:ln w="26357" cap="rnd">
              <a:solidFill>
                <a:srgbClr val="9A9A9A"/>
              </a:solidFill>
              <a:round/>
            </a:ln>
          </p:spPr>
        </p:sp>
        <p:sp>
          <p:nvSpPr>
            <p:cNvPr id="88" name="Átomo C_9"/>
            <p:cNvSpPr/>
            <p:nvPr/>
          </p:nvSpPr>
          <p:spPr>
            <a:xfrm>
              <a:off x="9757029" y="3997983"/>
              <a:ext cx="183228" cy="1832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9" name="Flecha 123_2"/>
            <p:cNvSpPr/>
            <p:nvPr/>
          </p:nvSpPr>
          <p:spPr>
            <a:xfrm>
              <a:off x="9536821" y="4005767"/>
              <a:ext cx="311822" cy="83831"/>
            </a:xfrm>
            <a:custGeom>
              <a:avLst/>
              <a:gdLst/>
              <a:ahLst/>
              <a:cxnLst/>
              <a:rect l="0" t="0" r="r" b="b"/>
              <a:pathLst>
                <a:path w="341" h="91" fill="none">
                  <a:moveTo>
                    <a:pt x="0" y="0"/>
                  </a:moveTo>
                  <a:lnTo>
                    <a:pt x="341" y="91"/>
                  </a:lnTo>
                </a:path>
              </a:pathLst>
            </a:custGeom>
            <a:noFill/>
            <a:ln w="26357" cap="rnd">
              <a:solidFill>
                <a:srgbClr val="9A9A9A"/>
              </a:solidFill>
              <a:round/>
            </a:ln>
          </p:spPr>
        </p:sp>
        <p:sp>
          <p:nvSpPr>
            <p:cNvPr id="90" name="Flecha 125_2"/>
            <p:cNvSpPr/>
            <p:nvPr/>
          </p:nvSpPr>
          <p:spPr>
            <a:xfrm>
              <a:off x="9848643" y="3896668"/>
              <a:ext cx="124991" cy="192930"/>
            </a:xfrm>
            <a:custGeom>
              <a:avLst/>
              <a:gdLst/>
              <a:ahLst/>
              <a:cxnLst/>
              <a:rect l="0" t="0" r="r" b="b"/>
              <a:pathLst>
                <a:path w="136" h="210" fill="none">
                  <a:moveTo>
                    <a:pt x="0" y="210"/>
                  </a:moveTo>
                  <a:lnTo>
                    <a:pt x="136" y="0"/>
                  </a:lnTo>
                </a:path>
              </a:pathLst>
            </a:custGeom>
            <a:noFill/>
            <a:ln w="26357" cap="rnd">
              <a:solidFill>
                <a:srgbClr val="9A9A9A"/>
              </a:solidFill>
              <a:round/>
            </a:ln>
          </p:spPr>
        </p:sp>
        <p:sp>
          <p:nvSpPr>
            <p:cNvPr id="91" name="Átomo C_10"/>
            <p:cNvSpPr/>
            <p:nvPr/>
          </p:nvSpPr>
          <p:spPr>
            <a:xfrm>
              <a:off x="9445099" y="3914045"/>
              <a:ext cx="183443" cy="1834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2" name="Átomo H_18"/>
            <p:cNvSpPr/>
            <p:nvPr/>
          </p:nvSpPr>
          <p:spPr>
            <a:xfrm>
              <a:off x="9918577" y="3841612"/>
              <a:ext cx="110112" cy="11011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3" name="Flecha 129_2"/>
            <p:cNvSpPr/>
            <p:nvPr/>
          </p:nvSpPr>
          <p:spPr>
            <a:xfrm>
              <a:off x="9337059" y="4005767"/>
              <a:ext cx="199762" cy="252640"/>
            </a:xfrm>
            <a:custGeom>
              <a:avLst/>
              <a:gdLst/>
              <a:ahLst/>
              <a:cxnLst/>
              <a:rect l="0" t="0" r="r" b="b"/>
              <a:pathLst>
                <a:path w="218" h="276" fill="none">
                  <a:moveTo>
                    <a:pt x="0" y="276"/>
                  </a:moveTo>
                  <a:lnTo>
                    <a:pt x="218" y="0"/>
                  </a:lnTo>
                </a:path>
              </a:pathLst>
            </a:custGeom>
            <a:noFill/>
            <a:ln w="26357" cap="rnd">
              <a:solidFill>
                <a:srgbClr val="9A9A9A"/>
              </a:solidFill>
              <a:round/>
            </a:ln>
          </p:spPr>
        </p:sp>
        <p:sp>
          <p:nvSpPr>
            <p:cNvPr id="94" name="Átomo C_11"/>
            <p:cNvSpPr/>
            <p:nvPr/>
          </p:nvSpPr>
          <p:spPr>
            <a:xfrm>
              <a:off x="9245196" y="4166544"/>
              <a:ext cx="183725" cy="18372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5" name="Átomo H_19"/>
            <p:cNvSpPr/>
            <p:nvPr/>
          </p:nvSpPr>
          <p:spPr>
            <a:xfrm>
              <a:off x="8843345" y="4311879"/>
              <a:ext cx="110239" cy="11023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6" name="Flecha 133_2"/>
            <p:cNvSpPr/>
            <p:nvPr/>
          </p:nvSpPr>
          <p:spPr>
            <a:xfrm>
              <a:off x="9025478" y="4174306"/>
              <a:ext cx="311581" cy="84101"/>
            </a:xfrm>
            <a:custGeom>
              <a:avLst/>
              <a:gdLst/>
              <a:ahLst/>
              <a:cxnLst/>
              <a:rect l="0" t="0" r="r" b="b"/>
              <a:pathLst>
                <a:path w="340" h="91" fill="none">
                  <a:moveTo>
                    <a:pt x="0" y="0"/>
                  </a:moveTo>
                  <a:lnTo>
                    <a:pt x="340" y="91"/>
                  </a:lnTo>
                </a:path>
              </a:pathLst>
            </a:custGeom>
            <a:noFill/>
            <a:ln w="26357" cap="rnd">
              <a:solidFill>
                <a:srgbClr val="9A9A9A"/>
              </a:solidFill>
              <a:round/>
            </a:ln>
          </p:spPr>
        </p:sp>
        <p:sp>
          <p:nvSpPr>
            <p:cNvPr id="97" name="Flecha 135_2"/>
            <p:cNvSpPr/>
            <p:nvPr/>
          </p:nvSpPr>
          <p:spPr>
            <a:xfrm>
              <a:off x="8898464" y="4174306"/>
              <a:ext cx="127014" cy="192693"/>
            </a:xfrm>
            <a:custGeom>
              <a:avLst/>
              <a:gdLst/>
              <a:ahLst/>
              <a:cxnLst/>
              <a:rect l="0" t="0" r="r" b="b"/>
              <a:pathLst>
                <a:path w="138" h="210" fill="none">
                  <a:moveTo>
                    <a:pt x="138" y="0"/>
                  </a:moveTo>
                  <a:lnTo>
                    <a:pt x="0" y="210"/>
                  </a:lnTo>
                </a:path>
              </a:pathLst>
            </a:custGeom>
            <a:noFill/>
            <a:ln w="26357" cap="rnd">
              <a:solidFill>
                <a:srgbClr val="9A9A9A"/>
              </a:solidFill>
              <a:round/>
            </a:ln>
          </p:spPr>
        </p:sp>
        <p:sp>
          <p:nvSpPr>
            <p:cNvPr id="98" name="Átomo C_12"/>
            <p:cNvSpPr/>
            <p:nvPr/>
          </p:nvSpPr>
          <p:spPr>
            <a:xfrm>
              <a:off x="8933510" y="4082338"/>
              <a:ext cx="183936" cy="18393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9" name="Flecha 138_2"/>
            <p:cNvSpPr/>
            <p:nvPr/>
          </p:nvSpPr>
          <p:spPr>
            <a:xfrm>
              <a:off x="9848643" y="4089598"/>
              <a:ext cx="53683" cy="136488"/>
            </a:xfrm>
            <a:custGeom>
              <a:avLst/>
              <a:gdLst/>
              <a:ahLst/>
              <a:cxnLst/>
              <a:rect l="0" t="0" r="r" b="b"/>
              <a:pathLst>
                <a:path w="58" h="149" fill="none">
                  <a:moveTo>
                    <a:pt x="0" y="0"/>
                  </a:moveTo>
                  <a:lnTo>
                    <a:pt x="58" y="149"/>
                  </a:lnTo>
                </a:path>
              </a:pathLst>
            </a:custGeom>
            <a:noFill/>
            <a:ln w="26357" cap="rnd">
              <a:solidFill>
                <a:srgbClr val="9A9A9A"/>
              </a:solidFill>
              <a:round/>
            </a:ln>
          </p:spPr>
        </p:sp>
        <p:sp>
          <p:nvSpPr>
            <p:cNvPr id="100" name="Flecha 140_2"/>
            <p:cNvSpPr/>
            <p:nvPr/>
          </p:nvSpPr>
          <p:spPr>
            <a:xfrm>
              <a:off x="9511446" y="3871012"/>
              <a:ext cx="25375" cy="134754"/>
            </a:xfrm>
            <a:custGeom>
              <a:avLst/>
              <a:gdLst/>
              <a:ahLst/>
              <a:cxnLst/>
              <a:rect l="0" t="0" r="r" b="b"/>
              <a:pathLst>
                <a:path w="27" h="147" fill="none">
                  <a:moveTo>
                    <a:pt x="27" y="147"/>
                  </a:moveTo>
                  <a:lnTo>
                    <a:pt x="0" y="0"/>
                  </a:lnTo>
                </a:path>
              </a:pathLst>
            </a:custGeom>
            <a:noFill/>
            <a:ln w="26357" cap="rnd">
              <a:solidFill>
                <a:srgbClr val="9A9A9A"/>
              </a:solidFill>
              <a:round/>
            </a:ln>
          </p:spPr>
        </p:sp>
        <p:sp>
          <p:nvSpPr>
            <p:cNvPr id="101" name="Flecha 142_2"/>
            <p:cNvSpPr/>
            <p:nvPr/>
          </p:nvSpPr>
          <p:spPr>
            <a:xfrm>
              <a:off x="9337059" y="4258407"/>
              <a:ext cx="55846" cy="127809"/>
            </a:xfrm>
            <a:custGeom>
              <a:avLst/>
              <a:gdLst/>
              <a:ahLst/>
              <a:cxnLst/>
              <a:rect l="0" t="0" r="r" b="b"/>
              <a:pathLst>
                <a:path w="61" h="139" fill="none">
                  <a:moveTo>
                    <a:pt x="0" y="0"/>
                  </a:moveTo>
                  <a:lnTo>
                    <a:pt x="61" y="139"/>
                  </a:lnTo>
                </a:path>
              </a:pathLst>
            </a:custGeom>
            <a:noFill/>
            <a:ln w="26357" cap="rnd">
              <a:solidFill>
                <a:srgbClr val="9A9A9A"/>
              </a:solidFill>
              <a:round/>
            </a:ln>
          </p:spPr>
        </p:sp>
        <p:sp>
          <p:nvSpPr>
            <p:cNvPr id="102" name="Átomo H_20"/>
            <p:cNvSpPr/>
            <p:nvPr/>
          </p:nvSpPr>
          <p:spPr>
            <a:xfrm>
              <a:off x="8510551" y="3773756"/>
              <a:ext cx="111208" cy="11120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3" name="Átomo H_21"/>
            <p:cNvSpPr/>
            <p:nvPr/>
          </p:nvSpPr>
          <p:spPr>
            <a:xfrm>
              <a:off x="9846684" y="4170444"/>
              <a:ext cx="111283" cy="11128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4" name="Flecha 146_2"/>
            <p:cNvSpPr/>
            <p:nvPr/>
          </p:nvSpPr>
          <p:spPr>
            <a:xfrm>
              <a:off x="8947964" y="4020488"/>
              <a:ext cx="77514" cy="153818"/>
            </a:xfrm>
            <a:custGeom>
              <a:avLst/>
              <a:gdLst/>
              <a:ahLst/>
              <a:cxnLst/>
              <a:rect l="0" t="0" r="r" b="b"/>
              <a:pathLst>
                <a:path w="84" h="168" fill="none">
                  <a:moveTo>
                    <a:pt x="0" y="0"/>
                  </a:moveTo>
                  <a:lnTo>
                    <a:pt x="84" y="168"/>
                  </a:lnTo>
                </a:path>
              </a:pathLst>
            </a:custGeom>
            <a:noFill/>
            <a:ln w="26357" cap="rnd">
              <a:solidFill>
                <a:srgbClr val="9A9A9A"/>
              </a:solidFill>
              <a:round/>
            </a:ln>
          </p:spPr>
        </p:sp>
        <p:sp>
          <p:nvSpPr>
            <p:cNvPr id="105" name="Átomo H_22"/>
            <p:cNvSpPr/>
            <p:nvPr/>
          </p:nvSpPr>
          <p:spPr>
            <a:xfrm>
              <a:off x="9455713" y="3815280"/>
              <a:ext cx="111466" cy="11146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6" name="Átomo H_23"/>
            <p:cNvSpPr/>
            <p:nvPr/>
          </p:nvSpPr>
          <p:spPr>
            <a:xfrm>
              <a:off x="9337092" y="4330404"/>
              <a:ext cx="111624" cy="11162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7" name="Flecha 150_2"/>
            <p:cNvSpPr/>
            <p:nvPr/>
          </p:nvSpPr>
          <p:spPr>
            <a:xfrm>
              <a:off x="8566154" y="3829359"/>
              <a:ext cx="64201" cy="135064"/>
            </a:xfrm>
            <a:custGeom>
              <a:avLst/>
              <a:gdLst/>
              <a:ahLst/>
              <a:cxnLst/>
              <a:rect l="0" t="0" r="r" b="b"/>
              <a:pathLst>
                <a:path w="70" h="147" fill="none">
                  <a:moveTo>
                    <a:pt x="70" y="147"/>
                  </a:moveTo>
                  <a:lnTo>
                    <a:pt x="0" y="0"/>
                  </a:lnTo>
                </a:path>
              </a:pathLst>
            </a:custGeom>
            <a:noFill/>
            <a:ln w="26357" cap="rnd">
              <a:solidFill>
                <a:srgbClr val="9A9A9A"/>
              </a:solidFill>
              <a:round/>
            </a:ln>
          </p:spPr>
        </p:sp>
        <p:sp>
          <p:nvSpPr>
            <p:cNvPr id="108" name="Átomo H_24"/>
            <p:cNvSpPr/>
            <p:nvPr/>
          </p:nvSpPr>
          <p:spPr>
            <a:xfrm>
              <a:off x="8460686" y="4108330"/>
              <a:ext cx="112351" cy="11235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9" name="Átomo C_13"/>
            <p:cNvSpPr/>
            <p:nvPr/>
          </p:nvSpPr>
          <p:spPr>
            <a:xfrm>
              <a:off x="8854282" y="3926807"/>
              <a:ext cx="187362" cy="1873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0" name="Flecha 154_2"/>
            <p:cNvSpPr/>
            <p:nvPr/>
          </p:nvSpPr>
          <p:spPr>
            <a:xfrm>
              <a:off x="8516861" y="3964424"/>
              <a:ext cx="113494" cy="200082"/>
            </a:xfrm>
            <a:custGeom>
              <a:avLst/>
              <a:gdLst/>
              <a:ahLst/>
              <a:cxnLst/>
              <a:rect l="0" t="0" r="r" b="b"/>
              <a:pathLst>
                <a:path w="124" h="218" fill="none">
                  <a:moveTo>
                    <a:pt x="124" y="0"/>
                  </a:moveTo>
                  <a:lnTo>
                    <a:pt x="0" y="218"/>
                  </a:lnTo>
                </a:path>
              </a:pathLst>
            </a:custGeom>
            <a:noFill/>
            <a:ln w="26357" cap="rnd">
              <a:solidFill>
                <a:srgbClr val="9A9A9A"/>
              </a:solidFill>
              <a:round/>
            </a:ln>
          </p:spPr>
        </p:sp>
        <p:sp>
          <p:nvSpPr>
            <p:cNvPr id="111" name="Flecha 156_2"/>
            <p:cNvSpPr/>
            <p:nvPr/>
          </p:nvSpPr>
          <p:spPr>
            <a:xfrm>
              <a:off x="8947964" y="3820212"/>
              <a:ext cx="114054" cy="200276"/>
            </a:xfrm>
            <a:custGeom>
              <a:avLst/>
              <a:gdLst/>
              <a:ahLst/>
              <a:cxnLst/>
              <a:rect l="0" t="0" r="r" b="b"/>
              <a:pathLst>
                <a:path w="124" h="219" fill="none">
                  <a:moveTo>
                    <a:pt x="0" y="219"/>
                  </a:moveTo>
                  <a:lnTo>
                    <a:pt x="124" y="0"/>
                  </a:lnTo>
                </a:path>
              </a:pathLst>
            </a:custGeom>
            <a:noFill/>
            <a:ln w="26357" cap="rnd">
              <a:solidFill>
                <a:srgbClr val="9A9A9A"/>
              </a:solidFill>
              <a:round/>
            </a:ln>
          </p:spPr>
        </p:sp>
        <p:sp>
          <p:nvSpPr>
            <p:cNvPr id="112" name="Flecha 158_2"/>
            <p:cNvSpPr/>
            <p:nvPr/>
          </p:nvSpPr>
          <p:spPr>
            <a:xfrm>
              <a:off x="8630355" y="3964424"/>
              <a:ext cx="317608" cy="56065"/>
            </a:xfrm>
            <a:custGeom>
              <a:avLst/>
              <a:gdLst/>
              <a:ahLst/>
              <a:cxnLst/>
              <a:rect l="0" t="0" r="r" b="b"/>
              <a:pathLst>
                <a:path w="347" h="61" fill="none">
                  <a:moveTo>
                    <a:pt x="0" y="0"/>
                  </a:moveTo>
                  <a:lnTo>
                    <a:pt x="347" y="61"/>
                  </a:lnTo>
                </a:path>
              </a:pathLst>
            </a:custGeom>
            <a:noFill/>
            <a:ln w="26357" cap="rnd">
              <a:solidFill>
                <a:srgbClr val="9A9A9A"/>
              </a:solidFill>
              <a:round/>
            </a:ln>
          </p:spPr>
        </p:sp>
        <p:sp>
          <p:nvSpPr>
            <p:cNvPr id="113" name="Átomo H_25"/>
            <p:cNvSpPr/>
            <p:nvPr/>
          </p:nvSpPr>
          <p:spPr>
            <a:xfrm>
              <a:off x="9005767" y="3763961"/>
              <a:ext cx="112501" cy="11250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4" name="Átomo C_14"/>
            <p:cNvSpPr/>
            <p:nvPr/>
          </p:nvSpPr>
          <p:spPr>
            <a:xfrm>
              <a:off x="8536576" y="3870644"/>
              <a:ext cx="187560" cy="18756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5" name="Flecha 162_2"/>
            <p:cNvSpPr/>
            <p:nvPr/>
          </p:nvSpPr>
          <p:spPr>
            <a:xfrm>
              <a:off x="8947964" y="4020488"/>
              <a:ext cx="65239" cy="127161"/>
            </a:xfrm>
            <a:custGeom>
              <a:avLst/>
              <a:gdLst/>
              <a:ahLst/>
              <a:cxnLst/>
              <a:rect l="0" t="0" r="r" b="b"/>
              <a:pathLst>
                <a:path w="71" h="139" fill="none">
                  <a:moveTo>
                    <a:pt x="0" y="0"/>
                  </a:moveTo>
                  <a:lnTo>
                    <a:pt x="71" y="139"/>
                  </a:lnTo>
                </a:path>
              </a:pathLst>
            </a:custGeom>
            <a:noFill/>
            <a:ln w="26357" cap="rnd">
              <a:solidFill>
                <a:srgbClr val="9A9A9A"/>
              </a:solidFill>
              <a:round/>
            </a:ln>
          </p:spPr>
        </p:sp>
        <p:sp>
          <p:nvSpPr>
            <p:cNvPr id="116" name="Flecha 164_2"/>
            <p:cNvSpPr/>
            <p:nvPr/>
          </p:nvSpPr>
          <p:spPr>
            <a:xfrm>
              <a:off x="8537829" y="3830078"/>
              <a:ext cx="92527" cy="134346"/>
            </a:xfrm>
            <a:custGeom>
              <a:avLst/>
              <a:gdLst/>
              <a:ahLst/>
              <a:cxnLst/>
              <a:rect l="0" t="0" r="r" b="b"/>
              <a:pathLst>
                <a:path w="101" h="146" fill="none">
                  <a:moveTo>
                    <a:pt x="0" y="0"/>
                  </a:moveTo>
                  <a:lnTo>
                    <a:pt x="101" y="146"/>
                  </a:lnTo>
                </a:path>
              </a:pathLst>
            </a:custGeom>
            <a:noFill/>
            <a:ln w="26357" cap="rnd">
              <a:solidFill>
                <a:srgbClr val="9A9A9A"/>
              </a:solidFill>
              <a:round/>
            </a:ln>
          </p:spPr>
        </p:sp>
        <p:sp>
          <p:nvSpPr>
            <p:cNvPr id="117" name="Átomo H_26"/>
            <p:cNvSpPr/>
            <p:nvPr/>
          </p:nvSpPr>
          <p:spPr>
            <a:xfrm>
              <a:off x="8542890" y="3340000"/>
              <a:ext cx="113628" cy="11362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8" name="Átomo H_27"/>
            <p:cNvSpPr/>
            <p:nvPr/>
          </p:nvSpPr>
          <p:spPr>
            <a:xfrm>
              <a:off x="8956310" y="4090756"/>
              <a:ext cx="113785" cy="11378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9" name="Flecha 168_2"/>
            <p:cNvSpPr/>
            <p:nvPr/>
          </p:nvSpPr>
          <p:spPr>
            <a:xfrm>
              <a:off x="8599704" y="3396814"/>
              <a:ext cx="53701" cy="137407"/>
            </a:xfrm>
            <a:custGeom>
              <a:avLst/>
              <a:gdLst/>
              <a:ahLst/>
              <a:cxnLst/>
              <a:rect l="0" t="0" r="r" b="b"/>
              <a:pathLst>
                <a:path w="58" h="150" fill="none">
                  <a:moveTo>
                    <a:pt x="58" y="150"/>
                  </a:moveTo>
                  <a:lnTo>
                    <a:pt x="0" y="0"/>
                  </a:lnTo>
                </a:path>
              </a:pathLst>
            </a:custGeom>
            <a:noFill/>
            <a:ln w="26357" cap="rnd">
              <a:solidFill>
                <a:srgbClr val="9A9A9A"/>
              </a:solidFill>
              <a:round/>
            </a:ln>
          </p:spPr>
        </p:sp>
        <p:sp>
          <p:nvSpPr>
            <p:cNvPr id="120" name="Flecha 170_2"/>
            <p:cNvSpPr/>
            <p:nvPr/>
          </p:nvSpPr>
          <p:spPr>
            <a:xfrm>
              <a:off x="8306850" y="3819722"/>
              <a:ext cx="230979" cy="10356"/>
            </a:xfrm>
            <a:custGeom>
              <a:avLst/>
              <a:gdLst/>
              <a:ahLst/>
              <a:cxnLst/>
              <a:rect l="0" t="0" r="r" b="b"/>
              <a:pathLst>
                <a:path w="252" h="11" fill="none">
                  <a:moveTo>
                    <a:pt x="252" y="11"/>
                  </a:moveTo>
                  <a:lnTo>
                    <a:pt x="0" y="0"/>
                  </a:lnTo>
                </a:path>
              </a:pathLst>
            </a:custGeom>
            <a:noFill/>
            <a:ln w="26357" cap="rnd">
              <a:solidFill>
                <a:srgbClr val="9A9A9A"/>
              </a:solidFill>
              <a:round/>
            </a:ln>
          </p:spPr>
        </p:sp>
        <p:sp>
          <p:nvSpPr>
            <p:cNvPr id="121" name="Átomo C_15"/>
            <p:cNvSpPr/>
            <p:nvPr/>
          </p:nvSpPr>
          <p:spPr>
            <a:xfrm>
              <a:off x="8442303" y="3734551"/>
              <a:ext cx="191052" cy="19105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2" name="Átomo H_28"/>
            <p:cNvSpPr/>
            <p:nvPr/>
          </p:nvSpPr>
          <p:spPr>
            <a:xfrm>
              <a:off x="8249523" y="3762395"/>
              <a:ext cx="114654" cy="11465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3" name="Flecha 174_2"/>
            <p:cNvSpPr/>
            <p:nvPr/>
          </p:nvSpPr>
          <p:spPr>
            <a:xfrm>
              <a:off x="8537829" y="3534221"/>
              <a:ext cx="115576" cy="295857"/>
            </a:xfrm>
            <a:custGeom>
              <a:avLst/>
              <a:gdLst/>
              <a:ahLst/>
              <a:cxnLst/>
              <a:rect l="0" t="0" r="r" b="b"/>
              <a:pathLst>
                <a:path w="126" h="323" fill="none">
                  <a:moveTo>
                    <a:pt x="126" y="0"/>
                  </a:moveTo>
                  <a:lnTo>
                    <a:pt x="0" y="323"/>
                  </a:lnTo>
                </a:path>
              </a:pathLst>
            </a:custGeom>
            <a:noFill/>
            <a:ln w="26357" cap="rnd">
              <a:solidFill>
                <a:srgbClr val="9A9A9A"/>
              </a:solidFill>
              <a:round/>
            </a:ln>
          </p:spPr>
        </p:sp>
        <p:sp>
          <p:nvSpPr>
            <p:cNvPr id="124" name="Átomo C_16"/>
            <p:cNvSpPr/>
            <p:nvPr/>
          </p:nvSpPr>
          <p:spPr>
            <a:xfrm>
              <a:off x="8557601" y="3438417"/>
              <a:ext cx="191607" cy="19160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5" name="Flecha 177_2"/>
            <p:cNvSpPr/>
            <p:nvPr/>
          </p:nvSpPr>
          <p:spPr>
            <a:xfrm>
              <a:off x="8653405" y="3534221"/>
              <a:ext cx="229331" cy="9144"/>
            </a:xfrm>
            <a:custGeom>
              <a:avLst/>
              <a:gdLst/>
              <a:ahLst/>
              <a:cxnLst/>
              <a:rect l="0" t="0" r="r" b="b"/>
              <a:pathLst>
                <a:path w="250" h="10" fill="none">
                  <a:moveTo>
                    <a:pt x="0" y="0"/>
                  </a:moveTo>
                  <a:lnTo>
                    <a:pt x="250" y="1"/>
                  </a:lnTo>
                </a:path>
              </a:pathLst>
            </a:custGeom>
            <a:noFill/>
            <a:ln w="26357" cap="rnd">
              <a:solidFill>
                <a:srgbClr val="9A9A9A"/>
              </a:solidFill>
              <a:round/>
            </a:ln>
          </p:spPr>
        </p:sp>
        <p:sp>
          <p:nvSpPr>
            <p:cNvPr id="126" name="Átomo H_29"/>
            <p:cNvSpPr/>
            <p:nvPr/>
          </p:nvSpPr>
          <p:spPr>
            <a:xfrm>
              <a:off x="8825161" y="3478119"/>
              <a:ext cx="115150" cy="11515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7" name="Flecha 180_2"/>
            <p:cNvSpPr/>
            <p:nvPr/>
          </p:nvSpPr>
          <p:spPr>
            <a:xfrm>
              <a:off x="8537829" y="3830078"/>
              <a:ext cx="63036" cy="134499"/>
            </a:xfrm>
            <a:custGeom>
              <a:avLst/>
              <a:gdLst/>
              <a:ahLst/>
              <a:cxnLst/>
              <a:rect l="0" t="0" r="r" b="b"/>
              <a:pathLst>
                <a:path w="68" h="147" fill="none">
                  <a:moveTo>
                    <a:pt x="0" y="0"/>
                  </a:moveTo>
                  <a:lnTo>
                    <a:pt x="68" y="147"/>
                  </a:lnTo>
                </a:path>
              </a:pathLst>
            </a:custGeom>
            <a:noFill/>
            <a:ln w="26357" cap="rnd">
              <a:solidFill>
                <a:srgbClr val="9A9A9A"/>
              </a:solidFill>
              <a:round/>
            </a:ln>
          </p:spPr>
        </p:sp>
        <p:sp>
          <p:nvSpPr>
            <p:cNvPr id="128" name="Flecha 182_2"/>
            <p:cNvSpPr/>
            <p:nvPr/>
          </p:nvSpPr>
          <p:spPr>
            <a:xfrm>
              <a:off x="8563393" y="3441949"/>
              <a:ext cx="90012" cy="92272"/>
            </a:xfrm>
            <a:custGeom>
              <a:avLst/>
              <a:gdLst/>
              <a:ahLst/>
              <a:cxnLst/>
              <a:rect l="0" t="0" r="r" b="b"/>
              <a:pathLst>
                <a:path w="98" h="100" fill="none">
                  <a:moveTo>
                    <a:pt x="98" y="100"/>
                  </a:moveTo>
                  <a:lnTo>
                    <a:pt x="0" y="0"/>
                  </a:lnTo>
                </a:path>
              </a:pathLst>
            </a:custGeom>
            <a:noFill/>
            <a:ln w="26357" cap="rnd">
              <a:solidFill>
                <a:srgbClr val="9A9A9A"/>
              </a:solidFill>
              <a:round/>
            </a:ln>
          </p:spPr>
        </p:sp>
        <p:sp>
          <p:nvSpPr>
            <p:cNvPr id="129" name="Átomo H_30"/>
            <p:cNvSpPr/>
            <p:nvPr/>
          </p:nvSpPr>
          <p:spPr>
            <a:xfrm>
              <a:off x="8542883" y="3906595"/>
              <a:ext cx="115965" cy="11596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0" name="Átomo H_31"/>
            <p:cNvSpPr/>
            <p:nvPr/>
          </p:nvSpPr>
          <p:spPr>
            <a:xfrm>
              <a:off x="8505190" y="3383746"/>
              <a:ext cx="116406" cy="11640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31" name="Forma 186"/>
            <p:cNvSpPr txBox="1"/>
            <p:nvPr/>
          </p:nvSpPr>
          <p:spPr>
            <a:xfrm>
              <a:off x="7863840" y="4639747"/>
              <a:ext cx="425196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Palmitato (C16:0)</a:t>
              </a:r>
              <a:endParaRPr lang="es-AR" sz="1300" dirty="0">
                <a:latin typeface="Fira Sans Condensed"/>
              </a:endParaRPr>
            </a:p>
          </p:txBody>
        </p:sp>
      </p:grpSp>
      <p:grpSp>
        <p:nvGrpSpPr>
          <p:cNvPr id="132" name="Cuadro Coordinación"/>
          <p:cNvGrpSpPr/>
          <p:nvPr/>
        </p:nvGrpSpPr>
        <p:grpSpPr>
          <a:xfrm>
            <a:off x="365760" y="4297680"/>
            <a:ext cx="7498080" cy="1965960"/>
            <a:chOff x="365760" y="4297680"/>
            <a:chExt cx="7498080" cy="1965960"/>
          </a:xfrm>
        </p:grpSpPr>
        <p:sp>
          <p:nvSpPr>
            <p:cNvPr id="133" name="Forma 188"/>
            <p:cNvSpPr/>
            <p:nvPr/>
          </p:nvSpPr>
          <p:spPr>
            <a:xfrm>
              <a:off x="365760" y="4498848"/>
              <a:ext cx="7498080" cy="17647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El </a:t>
              </a:r>
              <a:r>
                <a:rPr lang="es-AR" sz="1350" b="1" dirty="0">
                  <a:solidFill>
                    <a:srgbClr val="1E1E1E"/>
                  </a:solidFill>
                  <a:latin typeface="Fira Sans Condensed"/>
                  <a:ea typeface="Fira Sans Condensed"/>
                  <a:cs typeface="Fira Sans Condensed"/>
                  <a:sym typeface="Fira Sans Condensed"/>
                </a:rPr>
                <a:t>malonil-CoA</a:t>
              </a:r>
              <a:r>
                <a:rPr lang="es-AR" sz="1350" dirty="0">
                  <a:solidFill>
                    <a:srgbClr val="1E1E1E"/>
                  </a:solidFill>
                  <a:latin typeface="Fira Sans Condensed"/>
                  <a:ea typeface="Fira Sans Condensed"/>
                  <a:cs typeface="Fira Sans Condensed"/>
                  <a:sym typeface="Fira Sans Condensed"/>
                </a:rPr>
                <a:t> inhibe CPT1: coordina </a:t>
              </a:r>
              <a:r>
                <a:rPr lang="es-AR" sz="1350" b="1" dirty="0">
                  <a:solidFill>
                    <a:srgbClr val="1E1E1E"/>
                  </a:solidFill>
                  <a:latin typeface="Fira Sans Condensed"/>
                  <a:ea typeface="Fira Sans Condensed"/>
                  <a:cs typeface="Fira Sans Condensed"/>
                  <a:sym typeface="Fira Sans Condensed"/>
                </a:rPr>
                <a:t>más síntesis con menos oxidación</a:t>
              </a:r>
              <a:r>
                <a:rPr lang="es-AR" sz="1350" dirty="0">
                  <a:solidFill>
                    <a:srgbClr val="1E1E1E"/>
                  </a:solidFill>
                  <a:latin typeface="Fira Sans Condensed"/>
                  <a:ea typeface="Fira Sans Condensed"/>
                  <a:cs typeface="Fira Sans Condensed"/>
                  <a:sym typeface="Fira Sans Condensed"/>
                </a:rPr>
                <a:t> simultánea.</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La DNL es central en el </a:t>
              </a:r>
              <a:r>
                <a:rPr lang="es-AR" sz="1350" b="1" dirty="0">
                  <a:solidFill>
                    <a:srgbClr val="1E1E1E"/>
                  </a:solidFill>
                  <a:latin typeface="Fira Sans Condensed"/>
                  <a:ea typeface="Fira Sans Condensed"/>
                  <a:cs typeface="Fira Sans Condensed"/>
                  <a:sym typeface="Fira Sans Condensed"/>
                </a:rPr>
                <a:t>hígado</a:t>
              </a:r>
              <a:r>
                <a:rPr lang="es-AR" sz="1350" dirty="0">
                  <a:solidFill>
                    <a:srgbClr val="1E1E1E"/>
                  </a:solidFill>
                  <a:latin typeface="Fira Sans Condensed"/>
                  <a:ea typeface="Fira Sans Condensed"/>
                  <a:cs typeface="Fira Sans Condensed"/>
                  <a:sym typeface="Fira Sans Condensed"/>
                </a:rPr>
                <a:t> con exceso de carbohidratos/energía; el adipocito humano también participa.</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Exceso crónico de sustrato hepático → </a:t>
              </a:r>
              <a:r>
                <a:rPr lang="es-AR" sz="1350" b="1" dirty="0">
                  <a:solidFill>
                    <a:srgbClr val="1E1E1E"/>
                  </a:solidFill>
                  <a:latin typeface="Fira Sans Condensed"/>
                  <a:ea typeface="Fira Sans Condensed"/>
                  <a:cs typeface="Fira Sans Condensed"/>
                  <a:sym typeface="Fira Sans Condensed"/>
                </a:rPr>
                <a:t>VLDL ↑</a:t>
              </a:r>
              <a:r>
                <a:rPr lang="es-AR" sz="1350" dirty="0">
                  <a:solidFill>
                    <a:srgbClr val="1E1E1E"/>
                  </a:solidFill>
                  <a:latin typeface="Fira Sans Condensed"/>
                  <a:ea typeface="Fira Sans Condensed"/>
                  <a:cs typeface="Fira Sans Condensed"/>
                  <a:sym typeface="Fira Sans Condensed"/>
                </a:rPr>
                <a:t> → hipertrigliceridemia.</a:t>
              </a:r>
              <a:endParaRPr lang="es-AR" sz="1350" dirty="0">
                <a:latin typeface="Fira Sans Condensed"/>
              </a:endParaRPr>
            </a:p>
          </p:txBody>
        </p:sp>
        <p:sp>
          <p:nvSpPr>
            <p:cNvPr id="134" name="Forma 189"/>
            <p:cNvSpPr/>
            <p:nvPr/>
          </p:nvSpPr>
          <p:spPr>
            <a:xfrm>
              <a:off x="502920" y="4297680"/>
              <a:ext cx="157267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COORDINACIÓN</a:t>
              </a:r>
              <a:endParaRPr lang="es-AR" sz="14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LIPOGÉNESIS DE NOVO: DE CITRATO A PALMITATO</a:t>
            </a:r>
            <a:endParaRPr lang="es-AR" sz="32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1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40" fill="hold">
                      <p:stCondLst>
                        <p:cond delay="indefinite"/>
                      </p:stCondLst>
                      <p:childTnLst>
                        <p:par>
                          <p:cTn id="35"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par>
                          <p:cTn id="39" fill="hold">
                            <p:stCondLst>
                              <p:cond delay="400"/>
                            </p:stCondLst>
                            <p:childTnLst>
                              <p:par>
                                <p:cTn id="36" presetID="22" presetClass="entr" presetSubtype="8"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49" fill="hold">
                      <p:stCondLst>
                        <p:cond delay="indefinite"/>
                      </p:stCondLst>
                      <p:childTnLst>
                        <p:par>
                          <p:cTn id="4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childTnLst>
                          </p:cTn>
                        </p:par>
                        <p:par>
                          <p:cTn id="48" fill="hold">
                            <p:stCondLst>
                              <p:cond delay="400"/>
                            </p:stCondLst>
                            <p:childTnLst>
                              <p:par>
                                <p:cTn id="45" presetID="22" presetClass="entr" presetSubtype="8"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par>
                    <p:cTn id="58" fill="hold">
                      <p:stCondLst>
                        <p:cond delay="indefinite"/>
                      </p:stCondLst>
                      <p:childTnLst>
                        <p:par>
                          <p:cTn id="5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400"/>
                                        <p:tgtEl>
                                          <p:spTgt spid="30"/>
                                        </p:tgtEl>
                                      </p:cBhvr>
                                    </p:animEffect>
                                  </p:childTnLst>
                                </p:cTn>
                              </p:par>
                            </p:childTnLst>
                          </p:cTn>
                        </p:par>
                        <p:par>
                          <p:cTn id="57" fill="hold">
                            <p:stCondLst>
                              <p:cond delay="400"/>
                            </p:stCondLst>
                            <p:childTnLst>
                              <p:par>
                                <p:cTn id="54" presetID="22" presetClass="entr" presetSubtype="8"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childTnLst>
                    </p:cTn>
                  </p:par>
                  <p:par>
                    <p:cTn id="67" fill="hold">
                      <p:stCondLst>
                        <p:cond delay="indefinite"/>
                      </p:stCondLst>
                      <p:childTnLst>
                        <p:par>
                          <p:cTn id="62"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childTnLst>
                          </p:cTn>
                        </p:par>
                        <p:par>
                          <p:cTn id="66" fill="hold">
                            <p:stCondLst>
                              <p:cond delay="400"/>
                            </p:stCondLst>
                            <p:childTnLst>
                              <p:par>
                                <p:cTn id="63" presetID="22" presetClass="entr" presetSubtype="8"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wipe(left)">
                                      <p:cBhvr>
                                        <p:cTn id="65" dur="500"/>
                                        <p:tgtEl>
                                          <p:spTgt spid="21"/>
                                        </p:tgtEl>
                                      </p:cBhvr>
                                    </p:animEffect>
                                  </p:childTnLst>
                                </p:cTn>
                              </p:par>
                            </p:childTnLst>
                          </p:cTn>
                        </p:par>
                      </p:childTnLst>
                    </p:cTn>
                  </p:par>
                  <p:par>
                    <p:cTn id="72" fill="hold">
                      <p:stCondLst>
                        <p:cond delay="indefinite"/>
                      </p:stCondLst>
                      <p:childTnLst>
                        <p:par>
                          <p:cTn id="71"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childTnLst>
                    </p:cTn>
                  </p:par>
                  <p:par>
                    <p:cTn id="77" fill="hold">
                      <p:stCondLst>
                        <p:cond delay="indefinite"/>
                      </p:stCondLst>
                      <p:childTnLst>
                        <p:par>
                          <p:cTn id="76"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32"/>
                                        </p:tgtEl>
                                        <p:attrNameLst>
                                          <p:attrName>style.visibility</p:attrName>
                                        </p:attrNameLst>
                                      </p:cBhvr>
                                      <p:to>
                                        <p:strVal val="visible"/>
                                      </p:to>
                                    </p:set>
                                    <p:animEffect transition="in" filter="fade">
                                      <p:cBhvr>
                                        <p:cTn id="75"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16" grpId="0" animBg="1"/>
      <p:bldP spid="29" grpId="0" animBg="1"/>
      <p:bldP spid="17" grpId="0" animBg="1"/>
      <p:bldP spid="30" grpId="0" animBg="1"/>
      <p:bldP spid="31" grpId="0" animBg="1"/>
    </p:bld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Adipocito lipo"/>
          <p:cNvSpPr/>
          <p:nvPr/>
        </p:nvSpPr>
        <p:spPr>
          <a:xfrm>
            <a:off x="365760" y="1051560"/>
            <a:ext cx="7223760" cy="5212080"/>
          </a:xfrm>
          <a:prstGeom prst="ellipse">
            <a:avLst/>
          </a:prstGeom>
          <a:gradFill rotWithShape="1">
            <a:gsLst>
              <a:gs pos="0">
                <a:srgbClr val="F9E7CF"/>
              </a:gs>
              <a:gs pos="55000">
                <a:srgbClr val="F6D7B0"/>
              </a:gs>
              <a:gs pos="100000">
                <a:srgbClr val="B8A184"/>
              </a:gs>
            </a:gsLst>
            <a:path path="circle">
              <a:fillToRect l="32000" t="28000" r="68000" b="72000"/>
            </a:path>
          </a:gradFill>
          <a:ln w="31750" cap="rnd">
            <a:solidFill>
              <a:srgbClr val="8C5A2B"/>
            </a:solidFill>
            <a:round/>
          </a:ln>
          <a:effectLst>
            <a:outerShdw blurRad="63500" dist="38100" dir="2700000" algn="tl" rotWithShape="0">
              <a:srgbClr val="000000">
                <a:alpha val="32000"/>
              </a:srgbClr>
            </a:outerShdw>
          </a:effectLst>
        </p:spPr>
      </p:sp>
      <p:sp>
        <p:nvSpPr>
          <p:cNvPr id="8" name="!!Gota lipo"/>
          <p:cNvSpPr/>
          <p:nvPr/>
        </p:nvSpPr>
        <p:spPr>
          <a:xfrm>
            <a:off x="2331720" y="2148840"/>
            <a:ext cx="3291840" cy="3291840"/>
          </a:xfrm>
          <a:prstGeom prst="ellipse">
            <a:avLst/>
          </a:prstGeom>
          <a:gradFill rotWithShape="1">
            <a:gsLst>
              <a:gs pos="0">
                <a:srgbClr val="FFF8D0"/>
              </a:gs>
              <a:gs pos="50000">
                <a:srgbClr val="F7DC6F"/>
              </a:gs>
              <a:gs pos="100000">
                <a:srgbClr val="D4AC0D"/>
              </a:gs>
            </a:gsLst>
            <a:path path="circle">
              <a:fillToRect l="35000" t="30000" r="65000" b="70000"/>
            </a:path>
          </a:gradFill>
          <a:ln w="19050" cap="rnd">
            <a:solidFill>
              <a:srgbClr val="B7950B"/>
            </a:solidFill>
            <a:round/>
          </a:ln>
        </p:spPr>
        <p:txBody>
          <a:bodyPr wrap="square" lIns="73152" tIns="45720" rIns="73152" bIns="45720" anchor="ctr" rtlCol="0">
            <a:noAutofit/>
          </a:bodyPr>
          <a:lstStyle/>
          <a:p>
            <a:pPr algn="ctr">
              <a:spcAft>
                <a:spcPts val="300"/>
              </a:spcAft>
              <a:buNone/>
            </a:pPr>
            <a:r>
              <a:rPr lang="es-AR" sz="1800" b="1" dirty="0">
                <a:solidFill>
                  <a:srgbClr val="7D6608"/>
                </a:solidFill>
                <a:latin typeface="Fira Sans Condensed"/>
                <a:ea typeface="Fira Sans Condensed"/>
                <a:cs typeface="Fira Sans Condensed"/>
                <a:sym typeface="Fira Sans Condensed"/>
              </a:rPr>
              <a:t>TAG</a:t>
            </a:r>
            <a:endParaRPr lang="es-AR" sz="1800" dirty="0">
              <a:latin typeface="Fira Sans Condensed"/>
            </a:endParaRPr>
          </a:p>
        </p:txBody>
      </p:sp>
      <p:sp>
        <p:nvSpPr>
          <p:cNvPr id="9" name="!!PLIN 0"/>
          <p:cNvSpPr/>
          <p:nvPr/>
        </p:nvSpPr>
        <p:spPr>
          <a:xfrm>
            <a:off x="5504688" y="3675888"/>
            <a:ext cx="237744" cy="237744"/>
          </a:xfrm>
          <a:prstGeom prst="ellipse">
            <a:avLst/>
          </a:prstGeom>
          <a:solidFill>
            <a:srgbClr val="7D3C98"/>
          </a:solidFill>
          <a:ln>
            <a:noFill/>
          </a:ln>
        </p:spPr>
      </p:sp>
      <p:sp>
        <p:nvSpPr>
          <p:cNvPr id="10" name="!!PLIN 1"/>
          <p:cNvSpPr/>
          <p:nvPr/>
        </p:nvSpPr>
        <p:spPr>
          <a:xfrm>
            <a:off x="5022609" y="4839729"/>
            <a:ext cx="237744" cy="237744"/>
          </a:xfrm>
          <a:prstGeom prst="ellipse">
            <a:avLst/>
          </a:prstGeom>
          <a:solidFill>
            <a:srgbClr val="7D3C98"/>
          </a:solidFill>
          <a:ln>
            <a:noFill/>
          </a:ln>
        </p:spPr>
      </p:sp>
      <p:sp>
        <p:nvSpPr>
          <p:cNvPr id="11" name="!!PLIN 2"/>
          <p:cNvSpPr/>
          <p:nvPr/>
        </p:nvSpPr>
        <p:spPr>
          <a:xfrm>
            <a:off x="3858768" y="5321808"/>
            <a:ext cx="237744" cy="237744"/>
          </a:xfrm>
          <a:prstGeom prst="ellipse">
            <a:avLst/>
          </a:prstGeom>
          <a:solidFill>
            <a:srgbClr val="7D3C98"/>
          </a:solidFill>
          <a:ln>
            <a:noFill/>
          </a:ln>
        </p:spPr>
      </p:sp>
      <p:sp>
        <p:nvSpPr>
          <p:cNvPr id="12" name="!!PLIN 3"/>
          <p:cNvSpPr/>
          <p:nvPr/>
        </p:nvSpPr>
        <p:spPr>
          <a:xfrm>
            <a:off x="2694927" y="4839729"/>
            <a:ext cx="237744" cy="237744"/>
          </a:xfrm>
          <a:prstGeom prst="ellipse">
            <a:avLst/>
          </a:prstGeom>
          <a:solidFill>
            <a:srgbClr val="7D3C98"/>
          </a:solidFill>
          <a:ln>
            <a:noFill/>
          </a:ln>
        </p:spPr>
      </p:sp>
      <p:sp>
        <p:nvSpPr>
          <p:cNvPr id="13" name="!!PLIN 4"/>
          <p:cNvSpPr/>
          <p:nvPr/>
        </p:nvSpPr>
        <p:spPr>
          <a:xfrm>
            <a:off x="2212848" y="3675888"/>
            <a:ext cx="237744" cy="237744"/>
          </a:xfrm>
          <a:prstGeom prst="ellipse">
            <a:avLst/>
          </a:prstGeom>
          <a:solidFill>
            <a:srgbClr val="7D3C98"/>
          </a:solidFill>
          <a:ln>
            <a:noFill/>
          </a:ln>
        </p:spPr>
      </p:sp>
      <p:sp>
        <p:nvSpPr>
          <p:cNvPr id="14" name="!!PLIN 5"/>
          <p:cNvSpPr/>
          <p:nvPr/>
        </p:nvSpPr>
        <p:spPr>
          <a:xfrm>
            <a:off x="2694927" y="2512047"/>
            <a:ext cx="237744" cy="237744"/>
          </a:xfrm>
          <a:prstGeom prst="ellipse">
            <a:avLst/>
          </a:prstGeom>
          <a:solidFill>
            <a:srgbClr val="7D3C98"/>
          </a:solidFill>
          <a:ln>
            <a:noFill/>
          </a:ln>
        </p:spPr>
      </p:sp>
      <p:sp>
        <p:nvSpPr>
          <p:cNvPr id="15" name="!!PLIN 6"/>
          <p:cNvSpPr/>
          <p:nvPr/>
        </p:nvSpPr>
        <p:spPr>
          <a:xfrm>
            <a:off x="3858768" y="2029968"/>
            <a:ext cx="237744" cy="237744"/>
          </a:xfrm>
          <a:prstGeom prst="ellipse">
            <a:avLst/>
          </a:prstGeom>
          <a:solidFill>
            <a:srgbClr val="7D3C98"/>
          </a:solidFill>
          <a:ln>
            <a:noFill/>
          </a:ln>
        </p:spPr>
      </p:sp>
      <p:sp>
        <p:nvSpPr>
          <p:cNvPr id="16" name="!!PLIN 7"/>
          <p:cNvSpPr/>
          <p:nvPr/>
        </p:nvSpPr>
        <p:spPr>
          <a:xfrm>
            <a:off x="5022609" y="2512047"/>
            <a:ext cx="237744" cy="237744"/>
          </a:xfrm>
          <a:prstGeom prst="ellipse">
            <a:avLst/>
          </a:prstGeom>
          <a:solidFill>
            <a:srgbClr val="7D3C98"/>
          </a:solidFill>
          <a:ln>
            <a:noFill/>
          </a:ln>
        </p:spPr>
      </p:sp>
      <p:grpSp>
        <p:nvGrpSpPr>
          <p:cNvPr id="17" name="!!Receptor β"/>
          <p:cNvGrpSpPr/>
          <p:nvPr/>
        </p:nvGrpSpPr>
        <p:grpSpPr>
          <a:xfrm>
            <a:off x="2926080" y="914400"/>
            <a:ext cx="1056132" cy="694944"/>
            <a:chOff x="2926080" y="914400"/>
            <a:chExt cx="1056132" cy="694944"/>
          </a:xfrm>
        </p:grpSpPr>
        <p:sp>
          <p:nvSpPr>
            <p:cNvPr id="18" name="Forma 17"/>
            <p:cNvSpPr/>
            <p:nvPr/>
          </p:nvSpPr>
          <p:spPr>
            <a:xfrm>
              <a:off x="292608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9" name="Forma 18"/>
            <p:cNvSpPr/>
            <p:nvPr/>
          </p:nvSpPr>
          <p:spPr>
            <a:xfrm>
              <a:off x="307695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0" name="Forma 19"/>
            <p:cNvSpPr/>
            <p:nvPr/>
          </p:nvSpPr>
          <p:spPr>
            <a:xfrm>
              <a:off x="3227832"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1" name="Forma 20"/>
            <p:cNvSpPr/>
            <p:nvPr/>
          </p:nvSpPr>
          <p:spPr>
            <a:xfrm>
              <a:off x="3378708"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2" name="Forma 21"/>
            <p:cNvSpPr/>
            <p:nvPr/>
          </p:nvSpPr>
          <p:spPr>
            <a:xfrm>
              <a:off x="3529584"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3" name="Forma 22"/>
            <p:cNvSpPr/>
            <p:nvPr/>
          </p:nvSpPr>
          <p:spPr>
            <a:xfrm>
              <a:off x="368046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4" name="Forma 23"/>
            <p:cNvSpPr/>
            <p:nvPr/>
          </p:nvSpPr>
          <p:spPr>
            <a:xfrm>
              <a:off x="383133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5" name="Forma 24"/>
            <p:cNvSpPr/>
            <p:nvPr/>
          </p:nvSpPr>
          <p:spPr>
            <a:xfrm>
              <a:off x="2926080" y="914400"/>
              <a:ext cx="1056132" cy="694944"/>
            </a:xfrm>
            <a:custGeom>
              <a:avLst/>
              <a:gdLst/>
              <a:ahLst/>
              <a:cxnLst/>
              <a:rect l="0" t="0" r="r" b="b"/>
              <a:pathLst>
                <a:path w="1000" h="1400" fill="none">
                  <a:moveTo>
                    <a:pt x="56" y="1190"/>
                  </a:moveTo>
                  <a:quadBezTo>
                    <a:pt x="127" y="1400"/>
                    <a:pt x="199" y="1190"/>
                  </a:quadBezTo>
                </a:path>
                <a:path w="1000" h="1400" fill="none">
                  <a:moveTo>
                    <a:pt x="199" y="210"/>
                  </a:moveTo>
                  <a:quadBezTo>
                    <a:pt x="270" y="0"/>
                    <a:pt x="341" y="210"/>
                  </a:quadBezTo>
                </a:path>
                <a:path w="1000" h="1400" fill="none">
                  <a:moveTo>
                    <a:pt x="341" y="1190"/>
                  </a:moveTo>
                  <a:quadBezTo>
                    <a:pt x="412" y="1400"/>
                    <a:pt x="484" y="1190"/>
                  </a:quadBezTo>
                </a:path>
                <a:path w="1000" h="1400" fill="none">
                  <a:moveTo>
                    <a:pt x="484" y="210"/>
                  </a:moveTo>
                  <a:quadBezTo>
                    <a:pt x="555" y="0"/>
                    <a:pt x="627" y="210"/>
                  </a:quadBezTo>
                </a:path>
                <a:path w="1000" h="1400" fill="none">
                  <a:moveTo>
                    <a:pt x="627" y="1190"/>
                  </a:moveTo>
                  <a:quadBezTo>
                    <a:pt x="698" y="1400"/>
                    <a:pt x="770" y="1190"/>
                  </a:quadBezTo>
                </a:path>
                <a:path w="1000" h="1400" fill="none">
                  <a:moveTo>
                    <a:pt x="770" y="210"/>
                  </a:moveTo>
                  <a:quadBezTo>
                    <a:pt x="841" y="0"/>
                    <a:pt x="913" y="210"/>
                  </a:quadBezTo>
                </a:path>
              </a:pathLst>
            </a:custGeom>
            <a:noFill/>
            <a:ln w="19050" cap="rnd">
              <a:solidFill>
                <a:srgbClr val="3E6750"/>
              </a:solidFill>
              <a:round/>
            </a:ln>
          </p:spPr>
        </p:sp>
      </p:grpSp>
      <p:sp>
        <p:nvSpPr>
          <p:cNvPr id="26" name="!!Rótulo βAR"/>
          <p:cNvSpPr txBox="1"/>
          <p:nvPr/>
        </p:nvSpPr>
        <p:spPr>
          <a:xfrm>
            <a:off x="1371600" y="960120"/>
            <a:ext cx="146304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β-AR (Gs)</a:t>
            </a:r>
            <a:endParaRPr lang="es-AR" sz="1200" dirty="0">
              <a:latin typeface="Fira Sans Condensed"/>
            </a:endParaRPr>
          </a:p>
        </p:txBody>
      </p:sp>
      <p:grpSp>
        <p:nvGrpSpPr>
          <p:cNvPr id="27" name="!!Panel lipo"/>
          <p:cNvGrpSpPr/>
          <p:nvPr/>
        </p:nvGrpSpPr>
        <p:grpSpPr>
          <a:xfrm>
            <a:off x="7863840" y="1051560"/>
            <a:ext cx="3977640" cy="3657600"/>
            <a:chOff x="7863840" y="1051560"/>
            <a:chExt cx="3977640" cy="3657600"/>
          </a:xfrm>
        </p:grpSpPr>
        <p:sp>
          <p:nvSpPr>
            <p:cNvPr id="28" name="Forma 27"/>
            <p:cNvSpPr/>
            <p:nvPr/>
          </p:nvSpPr>
          <p:spPr>
            <a:xfrm>
              <a:off x="7863840" y="1051560"/>
              <a:ext cx="3977640" cy="3657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9" name="Forma 28"/>
            <p:cNvSpPr/>
            <p:nvPr/>
          </p:nvSpPr>
          <p:spPr>
            <a:xfrm>
              <a:off x="800100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1</a:t>
              </a:r>
              <a:endParaRPr lang="es-AR" sz="1500" dirty="0">
                <a:latin typeface="Fira Sans Condensed"/>
              </a:endParaRPr>
            </a:p>
          </p:txBody>
        </p:sp>
        <p:sp>
          <p:nvSpPr>
            <p:cNvPr id="30" name="Forma 29"/>
            <p:cNvSpPr txBox="1"/>
            <p:nvPr/>
          </p:nvSpPr>
          <p:spPr>
            <a:xfrm>
              <a:off x="8778240" y="1115568"/>
              <a:ext cx="2971800" cy="594360"/>
            </a:xfrm>
            <a:prstGeom prst="rect">
              <a:avLst/>
            </a:prstGeom>
            <a:noFill/>
            <a:ln>
              <a:noFill/>
            </a:ln>
          </p:spPr>
          <p:txBody>
            <a:bodyPr wrap="square" lIns="0" tIns="0" rIns="0" bIns="0" anchor="ctr" rtlCol="0">
              <a:noAutofit/>
            </a:bodyPr>
            <a:lstStyle/>
            <a:p>
              <a:pPr algn="l">
                <a:spcAft>
                  <a:spcPts val="300"/>
                </a:spcAft>
                <a:buNone/>
              </a:pPr>
              <a:r>
                <a:rPr lang="es-AR" sz="1700" b="1" dirty="0">
                  <a:solidFill>
                    <a:srgbClr val="1E1E1E"/>
                  </a:solidFill>
                  <a:latin typeface="Fira Sans Condensed"/>
                  <a:ea typeface="Fira Sans Condensed"/>
                  <a:cs typeface="Fira Sans Condensed"/>
                  <a:sym typeface="Fira Sans Condensed"/>
                </a:rPr>
                <a:t>Lipólisis</a:t>
              </a:r>
              <a:endParaRPr lang="es-AR" sz="1700" dirty="0">
                <a:latin typeface="Fira Sans Condensed"/>
              </a:endParaRPr>
            </a:p>
          </p:txBody>
        </p:sp>
        <p:sp>
          <p:nvSpPr>
            <p:cNvPr id="31" name="Forma 30"/>
            <p:cNvSpPr txBox="1"/>
            <p:nvPr/>
          </p:nvSpPr>
          <p:spPr>
            <a:xfrm>
              <a:off x="8046720" y="1783080"/>
              <a:ext cx="3657600" cy="2834640"/>
            </a:xfrm>
            <a:prstGeom prst="rect">
              <a:avLst/>
            </a:prstGeom>
            <a:noFill/>
            <a:ln>
              <a:noFill/>
            </a:ln>
          </p:spPr>
          <p:txBody>
            <a:bodyPr wrap="square" lIns="0" tIns="0" rIns="0" bIns="0" anchor="t" rtlCol="0">
              <a:noAutofit/>
            </a:bodyPr>
            <a:lstStyle/>
            <a:p>
              <a:pPr algn="l" marL="133350" indent="-133350">
                <a:spcAft>
                  <a:spcPts val="5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Catecolaminas</a:t>
              </a:r>
              <a:r>
                <a:rPr lang="es-AR" sz="1400" dirty="0">
                  <a:solidFill>
                    <a:srgbClr val="1E1E1E"/>
                  </a:solidFill>
                  <a:latin typeface="Fira Sans Condensed"/>
                  <a:ea typeface="Fira Sans Condensed"/>
                  <a:cs typeface="Fira Sans Condensed"/>
                  <a:sym typeface="Fira Sans Condensed"/>
                </a:rPr>
                <a:t> → receptores </a:t>
              </a:r>
              <a:r>
                <a:rPr lang="es-AR" sz="1400" b="1" dirty="0">
                  <a:solidFill>
                    <a:srgbClr val="1E1E1E"/>
                  </a:solidFill>
                  <a:latin typeface="Fira Sans Condensed"/>
                  <a:ea typeface="Fira Sans Condensed"/>
                  <a:cs typeface="Fira Sans Condensed"/>
                  <a:sym typeface="Fira Sans Condensed"/>
                </a:rPr>
                <a:t>β-adrenérgicos</a:t>
              </a:r>
              <a:r>
                <a:rPr lang="es-AR" sz="1400" dirty="0">
                  <a:solidFill>
                    <a:srgbClr val="1E1E1E"/>
                  </a:solidFill>
                  <a:latin typeface="Fira Sans Condensed"/>
                  <a:ea typeface="Fira Sans Condensed"/>
                  <a:cs typeface="Fira Sans Condensed"/>
                  <a:sym typeface="Fira Sans Condensed"/>
                </a:rPr>
                <a:t> → Gs → adenilil ciclasa → </a:t>
              </a:r>
              <a:r>
                <a:rPr lang="es-AR" sz="1400" b="1" dirty="0">
                  <a:solidFill>
                    <a:srgbClr val="1E1E1E"/>
                  </a:solidFill>
                  <a:latin typeface="Fira Sans Condensed"/>
                  <a:ea typeface="Fira Sans Condensed"/>
                  <a:cs typeface="Fira Sans Condensed"/>
                  <a:sym typeface="Fira Sans Condensed"/>
                </a:rPr>
                <a:t>AMPc</a:t>
              </a:r>
              <a:r>
                <a:rPr lang="es-AR" sz="1400" dirty="0">
                  <a:solidFill>
                    <a:srgbClr val="1E1E1E"/>
                  </a:solidFill>
                  <a:latin typeface="Fira Sans Condensed"/>
                  <a:ea typeface="Fira Sans Condensed"/>
                  <a:cs typeface="Fira Sans Condensed"/>
                  <a:sym typeface="Fira Sans Condensed"/>
                </a:rPr>
                <a:t> → </a:t>
              </a:r>
              <a:r>
                <a:rPr lang="es-AR" sz="1400" b="1" dirty="0">
                  <a:solidFill>
                    <a:srgbClr val="1E1E1E"/>
                  </a:solidFill>
                  <a:latin typeface="Fira Sans Condensed"/>
                  <a:ea typeface="Fira Sans Condensed"/>
                  <a:cs typeface="Fira Sans Condensed"/>
                  <a:sym typeface="Fira Sans Condensed"/>
                </a:rPr>
                <a:t>PKA</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a:p>
              <a:pPr algn="l" marL="133350" indent="-133350">
                <a:spcAft>
                  <a:spcPts val="5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α₂-adrenérgicos/Gi</a:t>
              </a:r>
              <a:r>
                <a:rPr lang="es-AR" sz="1400" dirty="0">
                  <a:solidFill>
                    <a:srgbClr val="1E1E1E"/>
                  </a:solidFill>
                  <a:latin typeface="Fira Sans Condensed"/>
                  <a:ea typeface="Fira Sans Condensed"/>
                  <a:cs typeface="Fira Sans Condensed"/>
                  <a:sym typeface="Fira Sans Condensed"/>
                </a:rPr>
                <a:t> reducen AMPc y pueden oponerse según depósito.</a:t>
              </a:r>
              <a:endParaRPr lang="es-AR" sz="1400" dirty="0">
                <a:latin typeface="Fira Sans Condensed"/>
              </a:endParaRPr>
            </a:p>
            <a:p>
              <a:pPr algn="l" marL="133350" indent="-133350">
                <a:spcAft>
                  <a:spcPts val="5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La </a:t>
              </a:r>
              <a:r>
                <a:rPr lang="es-AR" sz="1400" b="1" dirty="0">
                  <a:solidFill>
                    <a:srgbClr val="1E1E1E"/>
                  </a:solidFill>
                  <a:latin typeface="Fira Sans Condensed"/>
                  <a:ea typeface="Fira Sans Condensed"/>
                  <a:cs typeface="Fira Sans Condensed"/>
                  <a:sym typeface="Fira Sans Condensed"/>
                </a:rPr>
                <a:t>insulina</a:t>
              </a:r>
              <a:r>
                <a:rPr lang="es-AR" sz="1400" dirty="0">
                  <a:solidFill>
                    <a:srgbClr val="1E1E1E"/>
                  </a:solidFill>
                  <a:latin typeface="Fira Sans Condensed"/>
                  <a:ea typeface="Fira Sans Condensed"/>
                  <a:cs typeface="Fira Sans Condensed"/>
                  <a:sym typeface="Fira Sans Condensed"/>
                </a:rPr>
                <a:t> frena vía Akt → </a:t>
              </a:r>
              <a:r>
                <a:rPr lang="es-AR" sz="1400" b="1" dirty="0">
                  <a:solidFill>
                    <a:srgbClr val="1E1E1E"/>
                  </a:solidFill>
                  <a:latin typeface="Fira Sans Condensed"/>
                  <a:ea typeface="Fira Sans Condensed"/>
                  <a:cs typeface="Fira Sans Condensed"/>
                  <a:sym typeface="Fira Sans Condensed"/>
                </a:rPr>
                <a:t>PDE3B</a:t>
              </a:r>
              <a:r>
                <a:rPr lang="es-AR" sz="1400" dirty="0">
                  <a:solidFill>
                    <a:srgbClr val="1E1E1E"/>
                  </a:solidFill>
                  <a:latin typeface="Fira Sans Condensed"/>
                  <a:ea typeface="Fira Sans Condensed"/>
                  <a:cs typeface="Fira Sans Condensed"/>
                  <a:sym typeface="Fira Sans Condensed"/>
                </a:rPr>
                <a:t> → AMPc ↓.</a:t>
              </a:r>
              <a:endParaRPr lang="es-AR" sz="1400" dirty="0">
                <a:latin typeface="Fira Sans Condensed"/>
              </a:endParaRPr>
            </a:p>
          </p:txBody>
        </p:sp>
      </p:grpSp>
      <p:sp>
        <p:nvSpPr>
          <p:cNvPr id="32" name="Noradrenalina"/>
          <p:cNvSpPr/>
          <p:nvPr/>
        </p:nvSpPr>
        <p:spPr>
          <a:xfrm>
            <a:off x="685800" y="1417320"/>
            <a:ext cx="411480" cy="411480"/>
          </a:xfrm>
          <a:prstGeom prst="ellipse">
            <a:avLst/>
          </a:prstGeom>
          <a:gradFill rotWithShape="1">
            <a:gsLst>
              <a:gs pos="0">
                <a:srgbClr val="E28F59"/>
              </a:gs>
              <a:gs pos="55000">
                <a:srgbClr val="D35400"/>
              </a:gs>
              <a:gs pos="100000">
                <a:srgbClr val="A84300"/>
              </a:gs>
            </a:gsLst>
            <a:path path="circle">
              <a:fillToRect l="32000" t="28000" r="68000" b="72000"/>
            </a:path>
          </a:gradFill>
          <a:ln w="12700" cap="rnd">
            <a:solidFill>
              <a:srgbClr val="742E00"/>
            </a:solidFill>
            <a:round/>
          </a:ln>
        </p:spPr>
        <p:txBody>
          <a:bodyPr wrap="square" lIns="0" tIns="0" rIns="0" bIns="0" anchor="ctr" rtlCol="0">
            <a:noAutofit/>
          </a:bodyPr>
          <a:lstStyle/>
          <a:p>
            <a:pPr algn="ctr">
              <a:spcAft>
                <a:spcPts val="300"/>
              </a:spcAft>
              <a:buNone/>
            </a:pPr>
            <a:r>
              <a:rPr lang="es-AR" sz="1290" b="1" dirty="0">
                <a:solidFill>
                  <a:srgbClr val="FFFFFF"/>
                </a:solidFill>
                <a:latin typeface="Fira Sans Condensed"/>
                <a:ea typeface="Fira Sans Condensed"/>
                <a:cs typeface="Fira Sans Condensed"/>
                <a:sym typeface="Fira Sans Condensed"/>
              </a:rPr>
              <a:t>NA</a:t>
            </a:r>
            <a:endParaRPr lang="es-AR" sz="1290" dirty="0">
              <a:latin typeface="Fira Sans Condensed"/>
            </a:endParaRPr>
          </a:p>
        </p:txBody>
      </p:sp>
      <p:sp>
        <p:nvSpPr>
          <p:cNvPr id="33" name="AMPc 0"/>
          <p:cNvSpPr/>
          <p:nvPr/>
        </p:nvSpPr>
        <p:spPr>
          <a:xfrm>
            <a:off x="4114800" y="1600200"/>
            <a:ext cx="457200" cy="320040"/>
          </a:xfrm>
          <a:prstGeom prst="roundRect">
            <a:avLst/>
          </a:prstGeom>
          <a:solidFill>
            <a:srgbClr val="D4E6F1"/>
          </a:solidFill>
          <a:ln w="12700" cap="rnd">
            <a:solidFill>
              <a:srgbClr val="1F618D"/>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AMPc</a:t>
            </a:r>
            <a:endParaRPr lang="es-AR" sz="900" dirty="0">
              <a:latin typeface="Fira Sans Condensed"/>
            </a:endParaRPr>
          </a:p>
        </p:txBody>
      </p:sp>
      <p:sp>
        <p:nvSpPr>
          <p:cNvPr id="34" name="AMPc 1"/>
          <p:cNvSpPr/>
          <p:nvPr/>
        </p:nvSpPr>
        <p:spPr>
          <a:xfrm>
            <a:off x="4617720" y="1600200"/>
            <a:ext cx="457200" cy="320040"/>
          </a:xfrm>
          <a:prstGeom prst="roundRect">
            <a:avLst/>
          </a:prstGeom>
          <a:solidFill>
            <a:srgbClr val="D4E6F1"/>
          </a:solidFill>
          <a:ln w="12700" cap="rnd">
            <a:solidFill>
              <a:srgbClr val="1F618D"/>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AMPc</a:t>
            </a:r>
            <a:endParaRPr lang="es-AR" sz="900" dirty="0">
              <a:latin typeface="Fira Sans Condensed"/>
            </a:endParaRPr>
          </a:p>
        </p:txBody>
      </p:sp>
      <p:sp>
        <p:nvSpPr>
          <p:cNvPr id="35" name="AMPc 2"/>
          <p:cNvSpPr/>
          <p:nvPr/>
        </p:nvSpPr>
        <p:spPr>
          <a:xfrm>
            <a:off x="5120640" y="1600200"/>
            <a:ext cx="457200" cy="320040"/>
          </a:xfrm>
          <a:prstGeom prst="roundRect">
            <a:avLst/>
          </a:prstGeom>
          <a:solidFill>
            <a:srgbClr val="D4E6F1"/>
          </a:solidFill>
          <a:ln w="12700" cap="rnd">
            <a:solidFill>
              <a:srgbClr val="1F618D"/>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AMPc</a:t>
            </a:r>
            <a:endParaRPr lang="es-AR" sz="900" dirty="0">
              <a:latin typeface="Fira Sans Condensed"/>
            </a:endParaRPr>
          </a:p>
        </p:txBody>
      </p:sp>
      <p:sp>
        <p:nvSpPr>
          <p:cNvPr id="36" name="!!PKA"/>
          <p:cNvSpPr/>
          <p:nvPr/>
        </p:nvSpPr>
        <p:spPr>
          <a:xfrm>
            <a:off x="5715000" y="1554480"/>
            <a:ext cx="914400" cy="4114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PKA</a:t>
            </a:r>
            <a:endParaRPr lang="es-AR" sz="1400" dirty="0">
              <a:latin typeface="Fira Sans Condensed"/>
            </a:endParaRPr>
          </a:p>
        </p:txBody>
      </p:sp>
      <p:sp>
        <p:nvSpPr>
          <p:cNvPr id="37" name="P PLIN 0"/>
          <p:cNvSpPr/>
          <p:nvPr/>
        </p:nvSpPr>
        <p:spPr>
          <a:xfrm>
            <a:off x="3840480" y="201168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a:t>
            </a:r>
            <a:endParaRPr lang="es-AR" sz="900" dirty="0">
              <a:latin typeface="Fira Sans Condensed"/>
            </a:endParaRPr>
          </a:p>
        </p:txBody>
      </p:sp>
      <p:sp>
        <p:nvSpPr>
          <p:cNvPr id="38" name="P PLIN 1"/>
          <p:cNvSpPr/>
          <p:nvPr/>
        </p:nvSpPr>
        <p:spPr>
          <a:xfrm>
            <a:off x="5009083" y="2488997"/>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a:t>
            </a:r>
            <a:endParaRPr lang="es-AR" sz="900" dirty="0">
              <a:latin typeface="Fira Sans Condensed"/>
            </a:endParaRPr>
          </a:p>
        </p:txBody>
      </p:sp>
      <p:sp>
        <p:nvSpPr>
          <p:cNvPr id="39" name="P PLIN 2"/>
          <p:cNvSpPr/>
          <p:nvPr/>
        </p:nvSpPr>
        <p:spPr>
          <a:xfrm>
            <a:off x="2671877" y="2488997"/>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a:t>
            </a:r>
            <a:endParaRPr lang="es-AR" sz="900" dirty="0">
              <a:latin typeface="Fira Sans Condensed"/>
            </a:endParaRPr>
          </a:p>
        </p:txBody>
      </p:sp>
      <p:grpSp>
        <p:nvGrpSpPr>
          <p:cNvPr id="40" name="Freno insulina"/>
          <p:cNvGrpSpPr/>
          <p:nvPr/>
        </p:nvGrpSpPr>
        <p:grpSpPr>
          <a:xfrm>
            <a:off x="548640" y="5486400"/>
            <a:ext cx="3108960" cy="457200"/>
            <a:chOff x="548640" y="5486400"/>
            <a:chExt cx="3108960" cy="457200"/>
          </a:xfrm>
        </p:grpSpPr>
        <p:sp>
          <p:nvSpPr>
            <p:cNvPr id="41" name="Recuadro Insulina → PDE3B → AMP"/>
            <p:cNvSpPr/>
            <p:nvPr/>
          </p:nvSpPr>
          <p:spPr>
            <a:xfrm>
              <a:off x="548640" y="5486400"/>
              <a:ext cx="3108960" cy="457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Insulina → PDE3B → AMPc ↓</a:t>
              </a:r>
              <a:endParaRPr lang="es-AR" sz="1250" dirty="0">
                <a:latin typeface="Fira Sans Condensed"/>
              </a:endParaRPr>
            </a:p>
          </p:txBody>
        </p:sp>
      </p:gr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EJEMPLO 5 · LIPÓLISIS 1: SEÑAL HORMONAL Y PKA</a:t>
            </a:r>
            <a:endParaRPr lang="es-AR" sz="31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4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500"/>
                                        <p:tgtEl>
                                          <p:spTgt spid="32"/>
                                        </p:tgtEl>
                                      </p:cBhvr>
                                    </p:animEffect>
                                  </p:childTnLst>
                                </p:cTn>
                              </p:par>
                              <p:par>
                                <p:cTn id="6" presetID="0" presetClass="path" presetSubtype="0" accel="20000" decel="20000" fill="hold" grpId="0" nodeType="withEffect">
                                  <p:stCondLst>
                                    <p:cond delay="0"/>
                                  </p:stCondLst>
                                  <p:childTnLst>
                                    <p:animMotion origin="layout" path="M 0 0 L 0.2063 -0.0467 E" pathEditMode="relative" ptsTypes="">
                                      <p:cBhvr>
                                        <p:cTn id="7" dur="900" fill="hold"/>
                                        <p:tgtEl>
                                          <p:spTgt spid="32"/>
                                        </p:tgtEl>
                                        <p:attrNameLst>
                                          <p:attrName>ppt_x</p:attrName>
                                          <p:attrName>ppt_y</p:attrName>
                                        </p:attrNameLst>
                                      </p:cBhvr>
                                      <p:rCtr x="10312" y="-2333"/>
                                    </p:animMotion>
                                  </p:childTnLst>
                                </p:cTn>
                              </p:par>
                            </p:childTnLst>
                          </p:cTn>
                        </p:par>
                      </p:childTnLst>
                    </p:cTn>
                  </p:par>
                  <p:par>
                    <p:cTn id="31" fill="hold">
                      <p:stCondLst>
                        <p:cond delay="indefinite"/>
                      </p:stCondLst>
                      <p:childTnLst>
                        <p:par>
                          <p:cTn id="15"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200" fill="hold"/>
                                        <p:tgtEl>
                                          <p:spTgt spid="33"/>
                                        </p:tgtEl>
                                        <p:attrNameLst>
                                          <p:attrName>ppt_w</p:attrName>
                                        </p:attrNameLst>
                                      </p:cBhvr>
                                      <p:tavLst>
                                        <p:tav tm="0">
                                          <p:val>
                                            <p:fltVal val="0"/>
                                          </p:val>
                                        </p:tav>
                                        <p:tav tm="100000">
                                          <p:val>
                                            <p:strVal val="#ppt_w"/>
                                          </p:val>
                                        </p:tav>
                                      </p:tavLst>
                                    </p:anim>
                                    <p:anim calcmode="lin" valueType="num">
                                      <p:cBhvr>
                                        <p:cTn id="13" dur="200" fill="hold"/>
                                        <p:tgtEl>
                                          <p:spTgt spid="33"/>
                                        </p:tgtEl>
                                        <p:attrNameLst>
                                          <p:attrName>ppt_h</p:attrName>
                                        </p:attrNameLst>
                                      </p:cBhvr>
                                      <p:tavLst>
                                        <p:tav tm="0">
                                          <p:val>
                                            <p:fltVal val="0"/>
                                          </p:val>
                                        </p:tav>
                                        <p:tav tm="100000">
                                          <p:val>
                                            <p:strVal val="#ppt_h"/>
                                          </p:val>
                                        </p:tav>
                                      </p:tavLst>
                                    </p:anim>
                                    <p:animEffect transition="in" filter="fade">
                                      <p:cBhvr>
                                        <p:cTn id="14" dur="200"/>
                                        <p:tgtEl>
                                          <p:spTgt spid="33"/>
                                        </p:tgtEl>
                                      </p:cBhvr>
                                    </p:animEffect>
                                  </p:childTnLst>
                                </p:cTn>
                              </p:par>
                            </p:childTnLst>
                          </p:cTn>
                        </p:par>
                        <p:par>
                          <p:cTn id="21" fill="hold">
                            <p:stCondLst>
                              <p:cond delay="200"/>
                            </p:stCondLst>
                            <p:childTnLst>
                              <p:par>
                                <p:cTn id="16" presetID="53" presetClass="entr" presetSubtype="16" fill="hold" grpId="0" nodeType="after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p:cTn id="18" dur="200" fill="hold"/>
                                        <p:tgtEl>
                                          <p:spTgt spid="34"/>
                                        </p:tgtEl>
                                        <p:attrNameLst>
                                          <p:attrName>ppt_w</p:attrName>
                                        </p:attrNameLst>
                                      </p:cBhvr>
                                      <p:tavLst>
                                        <p:tav tm="0">
                                          <p:val>
                                            <p:fltVal val="0"/>
                                          </p:val>
                                        </p:tav>
                                        <p:tav tm="100000">
                                          <p:val>
                                            <p:strVal val="#ppt_w"/>
                                          </p:val>
                                        </p:tav>
                                      </p:tavLst>
                                    </p:anim>
                                    <p:anim calcmode="lin" valueType="num">
                                      <p:cBhvr>
                                        <p:cTn id="19" dur="200" fill="hold"/>
                                        <p:tgtEl>
                                          <p:spTgt spid="34"/>
                                        </p:tgtEl>
                                        <p:attrNameLst>
                                          <p:attrName>ppt_h</p:attrName>
                                        </p:attrNameLst>
                                      </p:cBhvr>
                                      <p:tavLst>
                                        <p:tav tm="0">
                                          <p:val>
                                            <p:fltVal val="0"/>
                                          </p:val>
                                        </p:tav>
                                        <p:tav tm="100000">
                                          <p:val>
                                            <p:strVal val="#ppt_h"/>
                                          </p:val>
                                        </p:tav>
                                      </p:tavLst>
                                    </p:anim>
                                    <p:animEffect transition="in" filter="fade">
                                      <p:cBhvr>
                                        <p:cTn id="20" dur="200"/>
                                        <p:tgtEl>
                                          <p:spTgt spid="34"/>
                                        </p:tgtEl>
                                      </p:cBhvr>
                                    </p:animEffect>
                                  </p:childTnLst>
                                </p:cTn>
                              </p:par>
                            </p:childTnLst>
                          </p:cTn>
                        </p:par>
                        <p:par>
                          <p:cTn id="27"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p:cTn id="24" dur="200" fill="hold"/>
                                        <p:tgtEl>
                                          <p:spTgt spid="35"/>
                                        </p:tgtEl>
                                        <p:attrNameLst>
                                          <p:attrName>ppt_w</p:attrName>
                                        </p:attrNameLst>
                                      </p:cBhvr>
                                      <p:tavLst>
                                        <p:tav tm="0">
                                          <p:val>
                                            <p:fltVal val="0"/>
                                          </p:val>
                                        </p:tav>
                                        <p:tav tm="100000">
                                          <p:val>
                                            <p:strVal val="#ppt_w"/>
                                          </p:val>
                                        </p:tav>
                                      </p:tavLst>
                                    </p:anim>
                                    <p:anim calcmode="lin" valueType="num">
                                      <p:cBhvr>
                                        <p:cTn id="25" dur="200" fill="hold"/>
                                        <p:tgtEl>
                                          <p:spTgt spid="35"/>
                                        </p:tgtEl>
                                        <p:attrNameLst>
                                          <p:attrName>ppt_h</p:attrName>
                                        </p:attrNameLst>
                                      </p:cBhvr>
                                      <p:tavLst>
                                        <p:tav tm="0">
                                          <p:val>
                                            <p:fltVal val="0"/>
                                          </p:val>
                                        </p:tav>
                                        <p:tav tm="100000">
                                          <p:val>
                                            <p:strVal val="#ppt_h"/>
                                          </p:val>
                                        </p:tav>
                                      </p:tavLst>
                                    </p:anim>
                                    <p:animEffect transition="in" filter="fade">
                                      <p:cBhvr>
                                        <p:cTn id="26" dur="200"/>
                                        <p:tgtEl>
                                          <p:spTgt spid="35"/>
                                        </p:tgtEl>
                                      </p:cBhvr>
                                    </p:animEffect>
                                  </p:childTnLst>
                                </p:cTn>
                              </p:par>
                            </p:childTnLst>
                          </p:cTn>
                        </p:par>
                        <p:par>
                          <p:cTn id="30" fill="hold">
                            <p:stCondLst>
                              <p:cond delay="600"/>
                            </p:stCondLst>
                            <p:childTnLst>
                              <p:par>
                                <p:cTn id="28" presetID="6" presetClass="emph" presetSubtype="0" fill="hold" grpId="0" nodeType="afterEffect">
                                  <p:stCondLst>
                                    <p:cond delay="0"/>
                                  </p:stCondLst>
                                  <p:childTnLst>
                                    <p:animScale>
                                      <p:cBhvr>
                                        <p:cTn id="29" dur="300" autoRev="1" fill="hold"/>
                                        <p:tgtEl>
                                          <p:spTgt spid="36"/>
                                        </p:tgtEl>
                                      </p:cBhvr>
                                      <p:by x="112000" y="112000"/>
                                    </p:animScale>
                                  </p:childTnLst>
                                </p:cTn>
                              </p:par>
                            </p:childTnLst>
                          </p:cTn>
                        </p:par>
                      </p:childTnLst>
                    </p:cTn>
                  </p:par>
                  <p:par>
                    <p:cTn id="50" fill="hold">
                      <p:stCondLst>
                        <p:cond delay="indefinite"/>
                      </p:stCondLst>
                      <p:childTnLst>
                        <p:par>
                          <p:cTn id="37"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p:cTn id="34" dur="200" fill="hold"/>
                                        <p:tgtEl>
                                          <p:spTgt spid="37"/>
                                        </p:tgtEl>
                                        <p:attrNameLst>
                                          <p:attrName>ppt_w</p:attrName>
                                        </p:attrNameLst>
                                      </p:cBhvr>
                                      <p:tavLst>
                                        <p:tav tm="0">
                                          <p:val>
                                            <p:fltVal val="0"/>
                                          </p:val>
                                        </p:tav>
                                        <p:tav tm="100000">
                                          <p:val>
                                            <p:strVal val="#ppt_w"/>
                                          </p:val>
                                        </p:tav>
                                      </p:tavLst>
                                    </p:anim>
                                    <p:anim calcmode="lin" valueType="num">
                                      <p:cBhvr>
                                        <p:cTn id="35" dur="200" fill="hold"/>
                                        <p:tgtEl>
                                          <p:spTgt spid="37"/>
                                        </p:tgtEl>
                                        <p:attrNameLst>
                                          <p:attrName>ppt_h</p:attrName>
                                        </p:attrNameLst>
                                      </p:cBhvr>
                                      <p:tavLst>
                                        <p:tav tm="0">
                                          <p:val>
                                            <p:fltVal val="0"/>
                                          </p:val>
                                        </p:tav>
                                        <p:tav tm="100000">
                                          <p:val>
                                            <p:strVal val="#ppt_h"/>
                                          </p:val>
                                        </p:tav>
                                      </p:tavLst>
                                    </p:anim>
                                    <p:animEffect transition="in" filter="fade">
                                      <p:cBhvr>
                                        <p:cTn id="36" dur="200"/>
                                        <p:tgtEl>
                                          <p:spTgt spid="37"/>
                                        </p:tgtEl>
                                      </p:cBhvr>
                                    </p:animEffect>
                                  </p:childTnLst>
                                </p:cTn>
                              </p:par>
                            </p:childTnLst>
                          </p:cTn>
                        </p:par>
                        <p:par>
                          <p:cTn id="43" fill="hold">
                            <p:stCondLst>
                              <p:cond delay="200"/>
                            </p:stCondLst>
                            <p:childTnLst>
                              <p:par>
                                <p:cTn id="38" presetID="53" presetClass="entr" presetSubtype="16" fill="hold" grpId="0" nodeType="after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p:cTn id="40" dur="200" fill="hold"/>
                                        <p:tgtEl>
                                          <p:spTgt spid="38"/>
                                        </p:tgtEl>
                                        <p:attrNameLst>
                                          <p:attrName>ppt_w</p:attrName>
                                        </p:attrNameLst>
                                      </p:cBhvr>
                                      <p:tavLst>
                                        <p:tav tm="0">
                                          <p:val>
                                            <p:fltVal val="0"/>
                                          </p:val>
                                        </p:tav>
                                        <p:tav tm="100000">
                                          <p:val>
                                            <p:strVal val="#ppt_w"/>
                                          </p:val>
                                        </p:tav>
                                      </p:tavLst>
                                    </p:anim>
                                    <p:anim calcmode="lin" valueType="num">
                                      <p:cBhvr>
                                        <p:cTn id="41" dur="200" fill="hold"/>
                                        <p:tgtEl>
                                          <p:spTgt spid="38"/>
                                        </p:tgtEl>
                                        <p:attrNameLst>
                                          <p:attrName>ppt_h</p:attrName>
                                        </p:attrNameLst>
                                      </p:cBhvr>
                                      <p:tavLst>
                                        <p:tav tm="0">
                                          <p:val>
                                            <p:fltVal val="0"/>
                                          </p:val>
                                        </p:tav>
                                        <p:tav tm="100000">
                                          <p:val>
                                            <p:strVal val="#ppt_h"/>
                                          </p:val>
                                        </p:tav>
                                      </p:tavLst>
                                    </p:anim>
                                    <p:animEffect transition="in" filter="fade">
                                      <p:cBhvr>
                                        <p:cTn id="42" dur="200"/>
                                        <p:tgtEl>
                                          <p:spTgt spid="38"/>
                                        </p:tgtEl>
                                      </p:cBhvr>
                                    </p:animEffect>
                                  </p:childTnLst>
                                </p:cTn>
                              </p:par>
                            </p:childTnLst>
                          </p:cTn>
                        </p:par>
                        <p:par>
                          <p:cTn id="49" fill="hold">
                            <p:stCondLst>
                              <p:cond delay="400"/>
                            </p:stCondLst>
                            <p:childTnLst>
                              <p:par>
                                <p:cTn id="44" presetID="53" presetClass="entr" presetSubtype="16" fill="hold" grpId="0" nodeType="afterEffect">
                                  <p:stCondLst>
                                    <p:cond delay="0"/>
                                  </p:stCondLst>
                                  <p:childTnLst>
                                    <p:set>
                                      <p:cBhvr>
                                        <p:cTn id="45" dur="1" fill="hold">
                                          <p:stCondLst>
                                            <p:cond delay="0"/>
                                          </p:stCondLst>
                                        </p:cTn>
                                        <p:tgtEl>
                                          <p:spTgt spid="39"/>
                                        </p:tgtEl>
                                        <p:attrNameLst>
                                          <p:attrName>style.visibility</p:attrName>
                                        </p:attrNameLst>
                                      </p:cBhvr>
                                      <p:to>
                                        <p:strVal val="visible"/>
                                      </p:to>
                                    </p:set>
                                    <p:anim calcmode="lin" valueType="num">
                                      <p:cBhvr>
                                        <p:cTn id="46" dur="200" fill="hold"/>
                                        <p:tgtEl>
                                          <p:spTgt spid="39"/>
                                        </p:tgtEl>
                                        <p:attrNameLst>
                                          <p:attrName>ppt_w</p:attrName>
                                        </p:attrNameLst>
                                      </p:cBhvr>
                                      <p:tavLst>
                                        <p:tav tm="0">
                                          <p:val>
                                            <p:fltVal val="0"/>
                                          </p:val>
                                        </p:tav>
                                        <p:tav tm="100000">
                                          <p:val>
                                            <p:strVal val="#ppt_w"/>
                                          </p:val>
                                        </p:tav>
                                      </p:tavLst>
                                    </p:anim>
                                    <p:anim calcmode="lin" valueType="num">
                                      <p:cBhvr>
                                        <p:cTn id="47" dur="200" fill="hold"/>
                                        <p:tgtEl>
                                          <p:spTgt spid="39"/>
                                        </p:tgtEl>
                                        <p:attrNameLst>
                                          <p:attrName>ppt_h</p:attrName>
                                        </p:attrNameLst>
                                      </p:cBhvr>
                                      <p:tavLst>
                                        <p:tav tm="0">
                                          <p:val>
                                            <p:fltVal val="0"/>
                                          </p:val>
                                        </p:tav>
                                        <p:tav tm="100000">
                                          <p:val>
                                            <p:strVal val="#ppt_h"/>
                                          </p:val>
                                        </p:tav>
                                      </p:tavLst>
                                    </p:anim>
                                    <p:animEffect transition="in" filter="fade">
                                      <p:cBhvr>
                                        <p:cTn id="48" dur="200"/>
                                        <p:tgtEl>
                                          <p:spTgt spid="39"/>
                                        </p:tgtEl>
                                      </p:cBhvr>
                                    </p:animEffect>
                                  </p:childTnLst>
                                </p:cTn>
                              </p:par>
                            </p:childTnLst>
                          </p:cTn>
                        </p:par>
                      </p:childTnLst>
                    </p:cTn>
                  </p:par>
                  <p:par>
                    <p:cTn id="55" fill="hold">
                      <p:stCondLst>
                        <p:cond delay="indefinite"/>
                      </p:stCondLst>
                      <p:childTnLst>
                        <p:par>
                          <p:cTn id="54"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Adipocito lipo"/>
          <p:cNvSpPr/>
          <p:nvPr/>
        </p:nvSpPr>
        <p:spPr>
          <a:xfrm>
            <a:off x="365760" y="1051560"/>
            <a:ext cx="7223760" cy="5212080"/>
          </a:xfrm>
          <a:prstGeom prst="ellipse">
            <a:avLst/>
          </a:prstGeom>
          <a:gradFill rotWithShape="1">
            <a:gsLst>
              <a:gs pos="0">
                <a:srgbClr val="F9E7CF"/>
              </a:gs>
              <a:gs pos="55000">
                <a:srgbClr val="F6D7B0"/>
              </a:gs>
              <a:gs pos="100000">
                <a:srgbClr val="B8A184"/>
              </a:gs>
            </a:gsLst>
            <a:path path="circle">
              <a:fillToRect l="32000" t="28000" r="68000" b="72000"/>
            </a:path>
          </a:gradFill>
          <a:ln w="31750" cap="rnd">
            <a:solidFill>
              <a:srgbClr val="8C5A2B"/>
            </a:solidFill>
            <a:round/>
          </a:ln>
          <a:effectLst>
            <a:outerShdw blurRad="63500" dist="38100" dir="2700000" algn="tl" rotWithShape="0">
              <a:srgbClr val="000000">
                <a:alpha val="32000"/>
              </a:srgbClr>
            </a:outerShdw>
          </a:effectLst>
        </p:spPr>
      </p:sp>
      <p:sp>
        <p:nvSpPr>
          <p:cNvPr id="8" name="!!Gota lipo"/>
          <p:cNvSpPr/>
          <p:nvPr/>
        </p:nvSpPr>
        <p:spPr>
          <a:xfrm>
            <a:off x="2560320" y="2377440"/>
            <a:ext cx="2834640" cy="2834640"/>
          </a:xfrm>
          <a:prstGeom prst="ellipse">
            <a:avLst/>
          </a:prstGeom>
          <a:gradFill rotWithShape="1">
            <a:gsLst>
              <a:gs pos="0">
                <a:srgbClr val="FFF8D0"/>
              </a:gs>
              <a:gs pos="50000">
                <a:srgbClr val="F7DC6F"/>
              </a:gs>
              <a:gs pos="100000">
                <a:srgbClr val="D4AC0D"/>
              </a:gs>
            </a:gsLst>
            <a:path path="circle">
              <a:fillToRect l="35000" t="30000" r="65000" b="70000"/>
            </a:path>
          </a:gradFill>
          <a:ln w="19050" cap="rnd">
            <a:solidFill>
              <a:srgbClr val="B7950B"/>
            </a:solidFill>
            <a:round/>
          </a:ln>
        </p:spPr>
        <p:txBody>
          <a:bodyPr wrap="square" lIns="73152" tIns="45720" rIns="73152" bIns="45720" anchor="ctr" rtlCol="0">
            <a:noAutofit/>
          </a:bodyPr>
          <a:lstStyle/>
          <a:p>
            <a:pPr algn="ctr">
              <a:spcAft>
                <a:spcPts val="300"/>
              </a:spcAft>
              <a:buNone/>
            </a:pPr>
            <a:r>
              <a:rPr lang="es-AR" sz="1800" b="1" dirty="0">
                <a:solidFill>
                  <a:srgbClr val="7D6608"/>
                </a:solidFill>
                <a:latin typeface="Fira Sans Condensed"/>
                <a:ea typeface="Fira Sans Condensed"/>
                <a:cs typeface="Fira Sans Condensed"/>
                <a:sym typeface="Fira Sans Condensed"/>
              </a:rPr>
              <a:t>TAG</a:t>
            </a:r>
            <a:endParaRPr lang="es-AR" sz="1800" dirty="0">
              <a:latin typeface="Fira Sans Condensed"/>
            </a:endParaRPr>
          </a:p>
        </p:txBody>
      </p:sp>
      <p:sp>
        <p:nvSpPr>
          <p:cNvPr id="9" name="!!PLIN 0"/>
          <p:cNvSpPr/>
          <p:nvPr/>
        </p:nvSpPr>
        <p:spPr>
          <a:xfrm>
            <a:off x="5276088" y="3675888"/>
            <a:ext cx="237744" cy="237744"/>
          </a:xfrm>
          <a:prstGeom prst="ellipse">
            <a:avLst/>
          </a:prstGeom>
          <a:solidFill>
            <a:srgbClr val="7D3C98"/>
          </a:solidFill>
          <a:ln>
            <a:noFill/>
          </a:ln>
        </p:spPr>
      </p:sp>
      <p:sp>
        <p:nvSpPr>
          <p:cNvPr id="10" name="!!PLIN 1"/>
          <p:cNvSpPr/>
          <p:nvPr/>
        </p:nvSpPr>
        <p:spPr>
          <a:xfrm>
            <a:off x="4860965" y="4678085"/>
            <a:ext cx="237744" cy="237744"/>
          </a:xfrm>
          <a:prstGeom prst="ellipse">
            <a:avLst/>
          </a:prstGeom>
          <a:solidFill>
            <a:srgbClr val="7D3C98"/>
          </a:solidFill>
          <a:ln>
            <a:noFill/>
          </a:ln>
        </p:spPr>
      </p:sp>
      <p:sp>
        <p:nvSpPr>
          <p:cNvPr id="11" name="!!PLIN 2"/>
          <p:cNvSpPr/>
          <p:nvPr/>
        </p:nvSpPr>
        <p:spPr>
          <a:xfrm>
            <a:off x="3858768" y="5093208"/>
            <a:ext cx="237744" cy="237744"/>
          </a:xfrm>
          <a:prstGeom prst="ellipse">
            <a:avLst/>
          </a:prstGeom>
          <a:solidFill>
            <a:srgbClr val="7D3C98"/>
          </a:solidFill>
          <a:ln>
            <a:noFill/>
          </a:ln>
        </p:spPr>
      </p:sp>
      <p:sp>
        <p:nvSpPr>
          <p:cNvPr id="12" name="!!PLIN 3"/>
          <p:cNvSpPr/>
          <p:nvPr/>
        </p:nvSpPr>
        <p:spPr>
          <a:xfrm>
            <a:off x="2856571" y="4678085"/>
            <a:ext cx="237744" cy="237744"/>
          </a:xfrm>
          <a:prstGeom prst="ellipse">
            <a:avLst/>
          </a:prstGeom>
          <a:solidFill>
            <a:srgbClr val="7D3C98"/>
          </a:solidFill>
          <a:ln>
            <a:noFill/>
          </a:ln>
        </p:spPr>
      </p:sp>
      <p:sp>
        <p:nvSpPr>
          <p:cNvPr id="13" name="!!PLIN 4"/>
          <p:cNvSpPr/>
          <p:nvPr/>
        </p:nvSpPr>
        <p:spPr>
          <a:xfrm>
            <a:off x="2441448" y="3675888"/>
            <a:ext cx="237744" cy="237744"/>
          </a:xfrm>
          <a:prstGeom prst="ellipse">
            <a:avLst/>
          </a:prstGeom>
          <a:solidFill>
            <a:srgbClr val="7D3C98"/>
          </a:solidFill>
          <a:ln>
            <a:noFill/>
          </a:ln>
        </p:spPr>
      </p:sp>
      <p:sp>
        <p:nvSpPr>
          <p:cNvPr id="14" name="!!PLIN 5"/>
          <p:cNvSpPr/>
          <p:nvPr/>
        </p:nvSpPr>
        <p:spPr>
          <a:xfrm>
            <a:off x="2856571" y="2673691"/>
            <a:ext cx="237744" cy="237744"/>
          </a:xfrm>
          <a:prstGeom prst="ellipse">
            <a:avLst/>
          </a:prstGeom>
          <a:solidFill>
            <a:srgbClr val="7D3C98"/>
          </a:solidFill>
          <a:ln>
            <a:noFill/>
          </a:ln>
        </p:spPr>
      </p:sp>
      <p:sp>
        <p:nvSpPr>
          <p:cNvPr id="15" name="!!PLIN 6"/>
          <p:cNvSpPr/>
          <p:nvPr/>
        </p:nvSpPr>
        <p:spPr>
          <a:xfrm>
            <a:off x="3858768" y="2258568"/>
            <a:ext cx="237744" cy="237744"/>
          </a:xfrm>
          <a:prstGeom prst="ellipse">
            <a:avLst/>
          </a:prstGeom>
          <a:solidFill>
            <a:srgbClr val="7D3C98"/>
          </a:solidFill>
          <a:ln>
            <a:noFill/>
          </a:ln>
        </p:spPr>
      </p:sp>
      <p:sp>
        <p:nvSpPr>
          <p:cNvPr id="16" name="!!PLIN 7"/>
          <p:cNvSpPr/>
          <p:nvPr/>
        </p:nvSpPr>
        <p:spPr>
          <a:xfrm>
            <a:off x="4860965" y="2673691"/>
            <a:ext cx="237744" cy="237744"/>
          </a:xfrm>
          <a:prstGeom prst="ellipse">
            <a:avLst/>
          </a:prstGeom>
          <a:solidFill>
            <a:srgbClr val="7D3C98"/>
          </a:solidFill>
          <a:ln>
            <a:noFill/>
          </a:ln>
        </p:spPr>
      </p:sp>
      <p:grpSp>
        <p:nvGrpSpPr>
          <p:cNvPr id="17" name="!!Receptor β"/>
          <p:cNvGrpSpPr/>
          <p:nvPr/>
        </p:nvGrpSpPr>
        <p:grpSpPr>
          <a:xfrm>
            <a:off x="2926080" y="914400"/>
            <a:ext cx="1056132" cy="694944"/>
            <a:chOff x="2926080" y="914400"/>
            <a:chExt cx="1056132" cy="694944"/>
          </a:xfrm>
        </p:grpSpPr>
        <p:sp>
          <p:nvSpPr>
            <p:cNvPr id="18" name="Forma 17"/>
            <p:cNvSpPr/>
            <p:nvPr/>
          </p:nvSpPr>
          <p:spPr>
            <a:xfrm>
              <a:off x="292608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9" name="Forma 18"/>
            <p:cNvSpPr/>
            <p:nvPr/>
          </p:nvSpPr>
          <p:spPr>
            <a:xfrm>
              <a:off x="307695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0" name="Forma 19"/>
            <p:cNvSpPr/>
            <p:nvPr/>
          </p:nvSpPr>
          <p:spPr>
            <a:xfrm>
              <a:off x="3227832"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1" name="Forma 20"/>
            <p:cNvSpPr/>
            <p:nvPr/>
          </p:nvSpPr>
          <p:spPr>
            <a:xfrm>
              <a:off x="3378708"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2" name="Forma 21"/>
            <p:cNvSpPr/>
            <p:nvPr/>
          </p:nvSpPr>
          <p:spPr>
            <a:xfrm>
              <a:off x="3529584"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3" name="Forma 22"/>
            <p:cNvSpPr/>
            <p:nvPr/>
          </p:nvSpPr>
          <p:spPr>
            <a:xfrm>
              <a:off x="368046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4" name="Forma 23"/>
            <p:cNvSpPr/>
            <p:nvPr/>
          </p:nvSpPr>
          <p:spPr>
            <a:xfrm>
              <a:off x="383133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5" name="Forma 24"/>
            <p:cNvSpPr/>
            <p:nvPr/>
          </p:nvSpPr>
          <p:spPr>
            <a:xfrm>
              <a:off x="2926080" y="914400"/>
              <a:ext cx="1056132" cy="694944"/>
            </a:xfrm>
            <a:custGeom>
              <a:avLst/>
              <a:gdLst/>
              <a:ahLst/>
              <a:cxnLst/>
              <a:rect l="0" t="0" r="r" b="b"/>
              <a:pathLst>
                <a:path w="1000" h="1400" fill="none">
                  <a:moveTo>
                    <a:pt x="56" y="1190"/>
                  </a:moveTo>
                  <a:quadBezTo>
                    <a:pt x="127" y="1400"/>
                    <a:pt x="199" y="1190"/>
                  </a:quadBezTo>
                </a:path>
                <a:path w="1000" h="1400" fill="none">
                  <a:moveTo>
                    <a:pt x="199" y="210"/>
                  </a:moveTo>
                  <a:quadBezTo>
                    <a:pt x="270" y="0"/>
                    <a:pt x="341" y="210"/>
                  </a:quadBezTo>
                </a:path>
                <a:path w="1000" h="1400" fill="none">
                  <a:moveTo>
                    <a:pt x="341" y="1190"/>
                  </a:moveTo>
                  <a:quadBezTo>
                    <a:pt x="412" y="1400"/>
                    <a:pt x="484" y="1190"/>
                  </a:quadBezTo>
                </a:path>
                <a:path w="1000" h="1400" fill="none">
                  <a:moveTo>
                    <a:pt x="484" y="210"/>
                  </a:moveTo>
                  <a:quadBezTo>
                    <a:pt x="555" y="0"/>
                    <a:pt x="627" y="210"/>
                  </a:quadBezTo>
                </a:path>
                <a:path w="1000" h="1400" fill="none">
                  <a:moveTo>
                    <a:pt x="627" y="1190"/>
                  </a:moveTo>
                  <a:quadBezTo>
                    <a:pt x="698" y="1400"/>
                    <a:pt x="770" y="1190"/>
                  </a:quadBezTo>
                </a:path>
                <a:path w="1000" h="1400" fill="none">
                  <a:moveTo>
                    <a:pt x="770" y="210"/>
                  </a:moveTo>
                  <a:quadBezTo>
                    <a:pt x="841" y="0"/>
                    <a:pt x="913" y="210"/>
                  </a:quadBezTo>
                </a:path>
              </a:pathLst>
            </a:custGeom>
            <a:noFill/>
            <a:ln w="19050" cap="rnd">
              <a:solidFill>
                <a:srgbClr val="3E6750"/>
              </a:solidFill>
              <a:round/>
            </a:ln>
          </p:spPr>
        </p:sp>
      </p:grpSp>
      <p:sp>
        <p:nvSpPr>
          <p:cNvPr id="26" name="!!Rótulo βAR"/>
          <p:cNvSpPr txBox="1"/>
          <p:nvPr/>
        </p:nvSpPr>
        <p:spPr>
          <a:xfrm>
            <a:off x="1371600" y="960120"/>
            <a:ext cx="146304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β-AR (Gs)</a:t>
            </a:r>
            <a:endParaRPr lang="es-AR" sz="1200" dirty="0">
              <a:latin typeface="Fira Sans Condensed"/>
            </a:endParaRPr>
          </a:p>
        </p:txBody>
      </p:sp>
      <p:grpSp>
        <p:nvGrpSpPr>
          <p:cNvPr id="27" name="!!Panel lipo"/>
          <p:cNvGrpSpPr/>
          <p:nvPr/>
        </p:nvGrpSpPr>
        <p:grpSpPr>
          <a:xfrm>
            <a:off x="7863840" y="1051560"/>
            <a:ext cx="3977640" cy="3657600"/>
            <a:chOff x="7863840" y="1051560"/>
            <a:chExt cx="3977640" cy="3657600"/>
          </a:xfrm>
        </p:grpSpPr>
        <p:sp>
          <p:nvSpPr>
            <p:cNvPr id="28" name="Forma 27"/>
            <p:cNvSpPr/>
            <p:nvPr/>
          </p:nvSpPr>
          <p:spPr>
            <a:xfrm>
              <a:off x="7863840" y="1051560"/>
              <a:ext cx="3977640" cy="3657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9" name="Forma 28"/>
            <p:cNvSpPr/>
            <p:nvPr/>
          </p:nvSpPr>
          <p:spPr>
            <a:xfrm>
              <a:off x="800100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2</a:t>
              </a:r>
              <a:endParaRPr lang="es-AR" sz="1500" dirty="0">
                <a:latin typeface="Fira Sans Condensed"/>
              </a:endParaRPr>
            </a:p>
          </p:txBody>
        </p:sp>
        <p:sp>
          <p:nvSpPr>
            <p:cNvPr id="30" name="Forma 29"/>
            <p:cNvSpPr txBox="1"/>
            <p:nvPr/>
          </p:nvSpPr>
          <p:spPr>
            <a:xfrm>
              <a:off x="8778240" y="1115568"/>
              <a:ext cx="2971800" cy="594360"/>
            </a:xfrm>
            <a:prstGeom prst="rect">
              <a:avLst/>
            </a:prstGeom>
            <a:noFill/>
            <a:ln>
              <a:noFill/>
            </a:ln>
          </p:spPr>
          <p:txBody>
            <a:bodyPr wrap="square" lIns="0" tIns="0" rIns="0" bIns="0" anchor="ctr" rtlCol="0">
              <a:noAutofit/>
            </a:bodyPr>
            <a:lstStyle/>
            <a:p>
              <a:pPr algn="l">
                <a:spcAft>
                  <a:spcPts val="300"/>
                </a:spcAft>
                <a:buNone/>
              </a:pPr>
              <a:r>
                <a:rPr lang="es-AR" sz="1700" b="1" dirty="0">
                  <a:solidFill>
                    <a:srgbClr val="1E1E1E"/>
                  </a:solidFill>
                  <a:latin typeface="Fira Sans Condensed"/>
                  <a:ea typeface="Fira Sans Condensed"/>
                  <a:cs typeface="Fira Sans Condensed"/>
                  <a:sym typeface="Fira Sans Condensed"/>
                </a:rPr>
                <a:t>Lipólisis</a:t>
              </a:r>
              <a:endParaRPr lang="es-AR" sz="1700" dirty="0">
                <a:latin typeface="Fira Sans Condensed"/>
              </a:endParaRPr>
            </a:p>
          </p:txBody>
        </p:sp>
        <p:sp>
          <p:nvSpPr>
            <p:cNvPr id="31" name="Forma 30"/>
            <p:cNvSpPr txBox="1"/>
            <p:nvPr/>
          </p:nvSpPr>
          <p:spPr>
            <a:xfrm>
              <a:off x="8046720" y="1783080"/>
              <a:ext cx="3657600" cy="2834640"/>
            </a:xfrm>
            <a:prstGeom prst="rect">
              <a:avLst/>
            </a:prstGeom>
            <a:noFill/>
            <a:ln>
              <a:noFill/>
            </a:ln>
          </p:spPr>
          <p:txBody>
            <a:bodyPr wrap="square" lIns="0" tIns="0" rIns="0" bIns="0" anchor="t" rtlCol="0">
              <a:noAutofit/>
            </a:bodyPr>
            <a:lstStyle/>
            <a:p>
              <a:pPr algn="l" marL="133350" indent="-133350">
                <a:spcAft>
                  <a:spcPts val="5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La perilipina 1 fosforilada </a:t>
              </a:r>
              <a:r>
                <a:rPr lang="es-AR" sz="1400" b="1" dirty="0">
                  <a:solidFill>
                    <a:srgbClr val="1E1E1E"/>
                  </a:solidFill>
                  <a:latin typeface="Fira Sans Condensed"/>
                  <a:ea typeface="Fira Sans Condensed"/>
                  <a:cs typeface="Fira Sans Condensed"/>
                  <a:sym typeface="Fira Sans Condensed"/>
                </a:rPr>
                <a:t>libera CGI-58 (ABHD5)</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a:p>
              <a:pPr algn="l" marL="133350" indent="-133350">
                <a:spcAft>
                  <a:spcPts val="5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CGI-58 </a:t>
              </a:r>
              <a:r>
                <a:rPr lang="es-AR" sz="1400" b="1" dirty="0">
                  <a:solidFill>
                    <a:srgbClr val="1E1E1E"/>
                  </a:solidFill>
                  <a:latin typeface="Fira Sans Condensed"/>
                  <a:ea typeface="Fira Sans Condensed"/>
                  <a:cs typeface="Fira Sans Condensed"/>
                  <a:sym typeface="Fira Sans Condensed"/>
                </a:rPr>
                <a:t>coactiva a ATGL (PNPLA2)</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a:p>
              <a:pPr algn="l" marL="133350" indent="-133350">
                <a:spcAft>
                  <a:spcPts val="5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TAG → DAG + ácido graso</a:t>
              </a:r>
              <a:r>
                <a:rPr lang="es-AR" sz="1400" dirty="0">
                  <a:solidFill>
                    <a:srgbClr val="1E1E1E"/>
                  </a:solidFill>
                  <a:latin typeface="Fira Sans Condensed"/>
                  <a:ea typeface="Fira Sans Condensed"/>
                  <a:cs typeface="Fira Sans Condensed"/>
                  <a:sym typeface="Fira Sans Condensed"/>
                </a:rPr>
                <a:t>: primer paso, limitante.</a:t>
              </a:r>
              <a:endParaRPr lang="es-AR" sz="1400" dirty="0">
                <a:latin typeface="Fira Sans Condensed"/>
              </a:endParaRPr>
            </a:p>
          </p:txBody>
        </p:sp>
      </p:grpSp>
      <p:sp>
        <p:nvSpPr>
          <p:cNvPr id="32" name="!!CGI58"/>
          <p:cNvSpPr/>
          <p:nvPr/>
        </p:nvSpPr>
        <p:spPr>
          <a:xfrm>
            <a:off x="5212080" y="2103120"/>
            <a:ext cx="1097280" cy="41148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CGI-58</a:t>
            </a:r>
            <a:endParaRPr lang="es-AR" sz="1250" dirty="0">
              <a:latin typeface="Fira Sans Condensed"/>
            </a:endParaRPr>
          </a:p>
        </p:txBody>
      </p:sp>
      <p:sp>
        <p:nvSpPr>
          <p:cNvPr id="33" name="!!ATGL"/>
          <p:cNvSpPr/>
          <p:nvPr/>
        </p:nvSpPr>
        <p:spPr>
          <a:xfrm>
            <a:off x="5212080" y="2788920"/>
            <a:ext cx="1097280" cy="4114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ATGL</a:t>
            </a:r>
            <a:endParaRPr lang="es-AR" sz="1400" dirty="0">
              <a:latin typeface="Fira Sans Condensed"/>
            </a:endParaRPr>
          </a:p>
        </p:txBody>
      </p:sp>
      <p:sp>
        <p:nvSpPr>
          <p:cNvPr id="34" name="!!DAG"/>
          <p:cNvSpPr/>
          <p:nvPr/>
        </p:nvSpPr>
        <p:spPr>
          <a:xfrm>
            <a:off x="1828800" y="5349240"/>
            <a:ext cx="118872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DAG</a:t>
            </a:r>
            <a:endParaRPr lang="es-AR" sz="1400" dirty="0">
              <a:latin typeface="Fira Sans Condensed"/>
            </a:endParaRPr>
          </a:p>
        </p:txBody>
      </p:sp>
      <p:sp>
        <p:nvSpPr>
          <p:cNvPr id="35" name="!!AG lipo 1"/>
          <p:cNvSpPr/>
          <p:nvPr/>
        </p:nvSpPr>
        <p:spPr>
          <a:xfrm>
            <a:off x="3291840" y="5349240"/>
            <a:ext cx="384048" cy="38404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212" b="1" dirty="0">
                <a:solidFill>
                  <a:srgbClr val="1E1E1E"/>
                </a:solidFill>
                <a:latin typeface="Fira Sans Condensed"/>
                <a:ea typeface="Fira Sans Condensed"/>
                <a:cs typeface="Fira Sans Condensed"/>
                <a:sym typeface="Fira Sans Condensed"/>
              </a:rPr>
              <a:t>AG</a:t>
            </a:r>
            <a:endParaRPr lang="es-AR" sz="1212"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EJEMPLO 5 · LIPÓLISIS 2: PERILIPINA, CGI-58 Y ATGL</a:t>
            </a:r>
            <a:endParaRPr lang="es-AR" sz="30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129</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 fill="hold">
                      <p:stCondLst>
                        <p:cond delay="indefinite"/>
                      </p:stCondLst>
                      <p:childTnLst>
                        <p:par>
                          <p:cTn id="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500"/>
                                        <p:tgtEl>
                                          <p:spTgt spid="32"/>
                                        </p:tgtEl>
                                      </p:cBhvr>
                                    </p:animEffect>
                                  </p:childTnLst>
                                </p:cTn>
                              </p:par>
                              <p:par>
                                <p:cTn id="6" presetID="0" presetClass="path" presetSubtype="0" accel="20000" decel="20000" fill="hold" grpId="0" nodeType="withEffect">
                                  <p:stCondLst>
                                    <p:cond delay="0"/>
                                  </p:stCondLst>
                                  <p:childTnLst>
                                    <p:animMotion origin="layout" path="M 0 0 L -0.0300 0.0667 E" pathEditMode="relative" ptsTypes="">
                                      <p:cBhvr>
                                        <p:cTn id="7" dur="900" fill="hold"/>
                                        <p:tgtEl>
                                          <p:spTgt spid="32"/>
                                        </p:tgtEl>
                                        <p:attrNameLst>
                                          <p:attrName>ppt_x</p:attrName>
                                          <p:attrName>ppt_y</p:attrName>
                                        </p:attrNameLst>
                                      </p:cBhvr>
                                      <p:rCtr x="-1500" y="3333"/>
                                    </p:animMotion>
                                  </p:childTnLst>
                                </p:cTn>
                              </p:par>
                            </p:childTnLst>
                          </p:cTn>
                        </p:par>
                        <p:par>
                          <p:cTn id="11" fill="hold">
                            <p:stCondLst>
                              <p:cond delay="900"/>
                            </p:stCondLst>
                            <p:childTnLst>
                              <p:par>
                                <p:cTn id="9" presetID="6" presetClass="emph" presetSubtype="0" fill="hold" grpId="0" nodeType="afterEffect">
                                  <p:stCondLst>
                                    <p:cond delay="0"/>
                                  </p:stCondLst>
                                  <p:childTnLst>
                                    <p:animScale>
                                      <p:cBhvr>
                                        <p:cTn id="10" dur="300" autoRev="1" fill="hold"/>
                                        <p:tgtEl>
                                          <p:spTgt spid="33"/>
                                        </p:tgtEl>
                                      </p:cBhvr>
                                      <p:by x="112000" y="112000"/>
                                    </p:animScale>
                                  </p:childTnLst>
                                </p:cTn>
                              </p:par>
                            </p:childTnLst>
                          </p:cTn>
                        </p:par>
                      </p:childTnLst>
                    </p:cTn>
                  </p:par>
                  <p:par>
                    <p:cTn id="25"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p:cTn id="15" dur="500" fill="hold"/>
                                        <p:tgtEl>
                                          <p:spTgt spid="34"/>
                                        </p:tgtEl>
                                        <p:attrNameLst>
                                          <p:attrName>ppt_w</p:attrName>
                                        </p:attrNameLst>
                                      </p:cBhvr>
                                      <p:tavLst>
                                        <p:tav tm="0">
                                          <p:val>
                                            <p:fltVal val="0"/>
                                          </p:val>
                                        </p:tav>
                                        <p:tav tm="100000">
                                          <p:val>
                                            <p:strVal val="#ppt_w"/>
                                          </p:val>
                                        </p:tav>
                                      </p:tavLst>
                                    </p:anim>
                                    <p:anim calcmode="lin" valueType="num">
                                      <p:cBhvr>
                                        <p:cTn id="16" dur="500" fill="hold"/>
                                        <p:tgtEl>
                                          <p:spTgt spid="34"/>
                                        </p:tgtEl>
                                        <p:attrNameLst>
                                          <p:attrName>ppt_h</p:attrName>
                                        </p:attrNameLst>
                                      </p:cBhvr>
                                      <p:tavLst>
                                        <p:tav tm="0">
                                          <p:val>
                                            <p:fltVal val="0"/>
                                          </p:val>
                                        </p:tav>
                                        <p:tav tm="100000">
                                          <p:val>
                                            <p:strVal val="#ppt_h"/>
                                          </p:val>
                                        </p:tav>
                                      </p:tavLst>
                                    </p:anim>
                                    <p:animEffect transition="in" filter="fade">
                                      <p:cBhvr>
                                        <p:cTn id="17" dur="500"/>
                                        <p:tgtEl>
                                          <p:spTgt spid="34"/>
                                        </p:tgtEl>
                                      </p:cBhvr>
                                    </p:animEffect>
                                  </p:childTnLst>
                                </p:cTn>
                              </p:par>
                            </p:childTnLst>
                          </p:cTn>
                        </p:par>
                        <p:par>
                          <p:cTn id="24" fill="hold">
                            <p:stCondLst>
                              <p:cond delay="5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Adipocito lipo"/>
          <p:cNvSpPr/>
          <p:nvPr/>
        </p:nvSpPr>
        <p:spPr>
          <a:xfrm>
            <a:off x="365760" y="1051560"/>
            <a:ext cx="7223760" cy="5212080"/>
          </a:xfrm>
          <a:prstGeom prst="ellipse">
            <a:avLst/>
          </a:prstGeom>
          <a:gradFill rotWithShape="1">
            <a:gsLst>
              <a:gs pos="0">
                <a:srgbClr val="F9E7CF"/>
              </a:gs>
              <a:gs pos="55000">
                <a:srgbClr val="F6D7B0"/>
              </a:gs>
              <a:gs pos="100000">
                <a:srgbClr val="B8A184"/>
              </a:gs>
            </a:gsLst>
            <a:path path="circle">
              <a:fillToRect l="32000" t="28000" r="68000" b="72000"/>
            </a:path>
          </a:gradFill>
          <a:ln w="31750" cap="rnd">
            <a:solidFill>
              <a:srgbClr val="8C5A2B"/>
            </a:solidFill>
            <a:round/>
          </a:ln>
          <a:effectLst>
            <a:outerShdw blurRad="63500" dist="38100" dir="2700000" algn="tl" rotWithShape="0">
              <a:srgbClr val="000000">
                <a:alpha val="32000"/>
              </a:srgbClr>
            </a:outerShdw>
          </a:effectLst>
        </p:spPr>
      </p:sp>
      <p:sp>
        <p:nvSpPr>
          <p:cNvPr id="8" name="!!Gota lipo"/>
          <p:cNvSpPr/>
          <p:nvPr/>
        </p:nvSpPr>
        <p:spPr>
          <a:xfrm>
            <a:off x="2834640" y="2651760"/>
            <a:ext cx="2286000" cy="2286000"/>
          </a:xfrm>
          <a:prstGeom prst="ellipse">
            <a:avLst/>
          </a:prstGeom>
          <a:gradFill rotWithShape="1">
            <a:gsLst>
              <a:gs pos="0">
                <a:srgbClr val="FFF8D0"/>
              </a:gs>
              <a:gs pos="50000">
                <a:srgbClr val="F7DC6F"/>
              </a:gs>
              <a:gs pos="100000">
                <a:srgbClr val="D4AC0D"/>
              </a:gs>
            </a:gsLst>
            <a:path path="circle">
              <a:fillToRect l="35000" t="30000" r="65000" b="70000"/>
            </a:path>
          </a:gradFill>
          <a:ln w="19050" cap="rnd">
            <a:solidFill>
              <a:srgbClr val="B7950B"/>
            </a:solidFill>
            <a:round/>
          </a:ln>
        </p:spPr>
        <p:txBody>
          <a:bodyPr wrap="square" lIns="73152" tIns="45720" rIns="73152" bIns="45720" anchor="ctr" rtlCol="0">
            <a:noAutofit/>
          </a:bodyPr>
          <a:lstStyle/>
          <a:p>
            <a:pPr algn="ctr">
              <a:spcAft>
                <a:spcPts val="300"/>
              </a:spcAft>
              <a:buNone/>
            </a:pPr>
            <a:r>
              <a:rPr lang="es-AR" sz="1800" b="1" dirty="0">
                <a:solidFill>
                  <a:srgbClr val="7D6608"/>
                </a:solidFill>
                <a:latin typeface="Fira Sans Condensed"/>
                <a:ea typeface="Fira Sans Condensed"/>
                <a:cs typeface="Fira Sans Condensed"/>
                <a:sym typeface="Fira Sans Condensed"/>
              </a:rPr>
              <a:t>TAG</a:t>
            </a:r>
            <a:endParaRPr lang="es-AR" sz="1800" dirty="0">
              <a:latin typeface="Fira Sans Condensed"/>
            </a:endParaRPr>
          </a:p>
        </p:txBody>
      </p:sp>
      <p:sp>
        <p:nvSpPr>
          <p:cNvPr id="9" name="!!PLIN 0"/>
          <p:cNvSpPr/>
          <p:nvPr/>
        </p:nvSpPr>
        <p:spPr>
          <a:xfrm>
            <a:off x="5001768" y="3675888"/>
            <a:ext cx="237744" cy="237744"/>
          </a:xfrm>
          <a:prstGeom prst="ellipse">
            <a:avLst/>
          </a:prstGeom>
          <a:solidFill>
            <a:srgbClr val="7D3C98"/>
          </a:solidFill>
          <a:ln>
            <a:noFill/>
          </a:ln>
        </p:spPr>
      </p:sp>
      <p:sp>
        <p:nvSpPr>
          <p:cNvPr id="10" name="!!PLIN 1"/>
          <p:cNvSpPr/>
          <p:nvPr/>
        </p:nvSpPr>
        <p:spPr>
          <a:xfrm>
            <a:off x="4666991" y="4484111"/>
            <a:ext cx="237744" cy="237744"/>
          </a:xfrm>
          <a:prstGeom prst="ellipse">
            <a:avLst/>
          </a:prstGeom>
          <a:solidFill>
            <a:srgbClr val="7D3C98"/>
          </a:solidFill>
          <a:ln>
            <a:noFill/>
          </a:ln>
        </p:spPr>
      </p:sp>
      <p:sp>
        <p:nvSpPr>
          <p:cNvPr id="11" name="!!PLIN 2"/>
          <p:cNvSpPr/>
          <p:nvPr/>
        </p:nvSpPr>
        <p:spPr>
          <a:xfrm>
            <a:off x="3858768" y="4818888"/>
            <a:ext cx="237744" cy="237744"/>
          </a:xfrm>
          <a:prstGeom prst="ellipse">
            <a:avLst/>
          </a:prstGeom>
          <a:solidFill>
            <a:srgbClr val="7D3C98"/>
          </a:solidFill>
          <a:ln>
            <a:noFill/>
          </a:ln>
        </p:spPr>
      </p:sp>
      <p:sp>
        <p:nvSpPr>
          <p:cNvPr id="12" name="!!PLIN 3"/>
          <p:cNvSpPr/>
          <p:nvPr/>
        </p:nvSpPr>
        <p:spPr>
          <a:xfrm>
            <a:off x="3050545" y="4484111"/>
            <a:ext cx="237744" cy="237744"/>
          </a:xfrm>
          <a:prstGeom prst="ellipse">
            <a:avLst/>
          </a:prstGeom>
          <a:solidFill>
            <a:srgbClr val="7D3C98"/>
          </a:solidFill>
          <a:ln>
            <a:noFill/>
          </a:ln>
        </p:spPr>
      </p:sp>
      <p:sp>
        <p:nvSpPr>
          <p:cNvPr id="13" name="!!PLIN 4"/>
          <p:cNvSpPr/>
          <p:nvPr/>
        </p:nvSpPr>
        <p:spPr>
          <a:xfrm>
            <a:off x="2715768" y="3675888"/>
            <a:ext cx="237744" cy="237744"/>
          </a:xfrm>
          <a:prstGeom prst="ellipse">
            <a:avLst/>
          </a:prstGeom>
          <a:solidFill>
            <a:srgbClr val="7D3C98"/>
          </a:solidFill>
          <a:ln>
            <a:noFill/>
          </a:ln>
        </p:spPr>
      </p:sp>
      <p:sp>
        <p:nvSpPr>
          <p:cNvPr id="14" name="!!PLIN 5"/>
          <p:cNvSpPr/>
          <p:nvPr/>
        </p:nvSpPr>
        <p:spPr>
          <a:xfrm>
            <a:off x="3050545" y="2867665"/>
            <a:ext cx="237744" cy="237744"/>
          </a:xfrm>
          <a:prstGeom prst="ellipse">
            <a:avLst/>
          </a:prstGeom>
          <a:solidFill>
            <a:srgbClr val="7D3C98"/>
          </a:solidFill>
          <a:ln>
            <a:noFill/>
          </a:ln>
        </p:spPr>
      </p:sp>
      <p:sp>
        <p:nvSpPr>
          <p:cNvPr id="15" name="!!PLIN 6"/>
          <p:cNvSpPr/>
          <p:nvPr/>
        </p:nvSpPr>
        <p:spPr>
          <a:xfrm>
            <a:off x="3858768" y="2532888"/>
            <a:ext cx="237744" cy="237744"/>
          </a:xfrm>
          <a:prstGeom prst="ellipse">
            <a:avLst/>
          </a:prstGeom>
          <a:solidFill>
            <a:srgbClr val="7D3C98"/>
          </a:solidFill>
          <a:ln>
            <a:noFill/>
          </a:ln>
        </p:spPr>
      </p:sp>
      <p:sp>
        <p:nvSpPr>
          <p:cNvPr id="16" name="!!PLIN 7"/>
          <p:cNvSpPr/>
          <p:nvPr/>
        </p:nvSpPr>
        <p:spPr>
          <a:xfrm>
            <a:off x="4666991" y="2867665"/>
            <a:ext cx="237744" cy="237744"/>
          </a:xfrm>
          <a:prstGeom prst="ellipse">
            <a:avLst/>
          </a:prstGeom>
          <a:solidFill>
            <a:srgbClr val="7D3C98"/>
          </a:solidFill>
          <a:ln>
            <a:noFill/>
          </a:ln>
        </p:spPr>
      </p:sp>
      <p:grpSp>
        <p:nvGrpSpPr>
          <p:cNvPr id="17" name="!!Receptor β"/>
          <p:cNvGrpSpPr/>
          <p:nvPr/>
        </p:nvGrpSpPr>
        <p:grpSpPr>
          <a:xfrm>
            <a:off x="2926080" y="914400"/>
            <a:ext cx="1056132" cy="694944"/>
            <a:chOff x="2926080" y="914400"/>
            <a:chExt cx="1056132" cy="694944"/>
          </a:xfrm>
        </p:grpSpPr>
        <p:sp>
          <p:nvSpPr>
            <p:cNvPr id="18" name="Forma 17"/>
            <p:cNvSpPr/>
            <p:nvPr/>
          </p:nvSpPr>
          <p:spPr>
            <a:xfrm>
              <a:off x="292608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9" name="Forma 18"/>
            <p:cNvSpPr/>
            <p:nvPr/>
          </p:nvSpPr>
          <p:spPr>
            <a:xfrm>
              <a:off x="307695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0" name="Forma 19"/>
            <p:cNvSpPr/>
            <p:nvPr/>
          </p:nvSpPr>
          <p:spPr>
            <a:xfrm>
              <a:off x="3227832"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1" name="Forma 20"/>
            <p:cNvSpPr/>
            <p:nvPr/>
          </p:nvSpPr>
          <p:spPr>
            <a:xfrm>
              <a:off x="3378708"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2" name="Forma 21"/>
            <p:cNvSpPr/>
            <p:nvPr/>
          </p:nvSpPr>
          <p:spPr>
            <a:xfrm>
              <a:off x="3529584"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3" name="Forma 22"/>
            <p:cNvSpPr/>
            <p:nvPr/>
          </p:nvSpPr>
          <p:spPr>
            <a:xfrm>
              <a:off x="3680460"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4" name="Forma 23"/>
            <p:cNvSpPr/>
            <p:nvPr/>
          </p:nvSpPr>
          <p:spPr>
            <a:xfrm>
              <a:off x="3831336" y="1005840"/>
              <a:ext cx="118872" cy="51206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5" name="Forma 24"/>
            <p:cNvSpPr/>
            <p:nvPr/>
          </p:nvSpPr>
          <p:spPr>
            <a:xfrm>
              <a:off x="2926080" y="914400"/>
              <a:ext cx="1056132" cy="694944"/>
            </a:xfrm>
            <a:custGeom>
              <a:avLst/>
              <a:gdLst/>
              <a:ahLst/>
              <a:cxnLst/>
              <a:rect l="0" t="0" r="r" b="b"/>
              <a:pathLst>
                <a:path w="1000" h="1400" fill="none">
                  <a:moveTo>
                    <a:pt x="56" y="1190"/>
                  </a:moveTo>
                  <a:quadBezTo>
                    <a:pt x="127" y="1400"/>
                    <a:pt x="199" y="1190"/>
                  </a:quadBezTo>
                </a:path>
                <a:path w="1000" h="1400" fill="none">
                  <a:moveTo>
                    <a:pt x="199" y="210"/>
                  </a:moveTo>
                  <a:quadBezTo>
                    <a:pt x="270" y="0"/>
                    <a:pt x="341" y="210"/>
                  </a:quadBezTo>
                </a:path>
                <a:path w="1000" h="1400" fill="none">
                  <a:moveTo>
                    <a:pt x="341" y="1190"/>
                  </a:moveTo>
                  <a:quadBezTo>
                    <a:pt x="412" y="1400"/>
                    <a:pt x="484" y="1190"/>
                  </a:quadBezTo>
                </a:path>
                <a:path w="1000" h="1400" fill="none">
                  <a:moveTo>
                    <a:pt x="484" y="210"/>
                  </a:moveTo>
                  <a:quadBezTo>
                    <a:pt x="555" y="0"/>
                    <a:pt x="627" y="210"/>
                  </a:quadBezTo>
                </a:path>
                <a:path w="1000" h="1400" fill="none">
                  <a:moveTo>
                    <a:pt x="627" y="1190"/>
                  </a:moveTo>
                  <a:quadBezTo>
                    <a:pt x="698" y="1400"/>
                    <a:pt x="770" y="1190"/>
                  </a:quadBezTo>
                </a:path>
                <a:path w="1000" h="1400" fill="none">
                  <a:moveTo>
                    <a:pt x="770" y="210"/>
                  </a:moveTo>
                  <a:quadBezTo>
                    <a:pt x="841" y="0"/>
                    <a:pt x="913" y="210"/>
                  </a:quadBezTo>
                </a:path>
              </a:pathLst>
            </a:custGeom>
            <a:noFill/>
            <a:ln w="19050" cap="rnd">
              <a:solidFill>
                <a:srgbClr val="3E6750"/>
              </a:solidFill>
              <a:round/>
            </a:ln>
          </p:spPr>
        </p:sp>
      </p:grpSp>
      <p:sp>
        <p:nvSpPr>
          <p:cNvPr id="26" name="!!Rótulo βAR"/>
          <p:cNvSpPr txBox="1"/>
          <p:nvPr/>
        </p:nvSpPr>
        <p:spPr>
          <a:xfrm>
            <a:off x="1371600" y="960120"/>
            <a:ext cx="1463040" cy="3200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β-AR (Gs)</a:t>
            </a:r>
            <a:endParaRPr lang="es-AR" sz="1200" dirty="0">
              <a:latin typeface="Fira Sans Condensed"/>
            </a:endParaRPr>
          </a:p>
        </p:txBody>
      </p:sp>
      <p:grpSp>
        <p:nvGrpSpPr>
          <p:cNvPr id="27" name="!!Panel lipo"/>
          <p:cNvGrpSpPr/>
          <p:nvPr/>
        </p:nvGrpSpPr>
        <p:grpSpPr>
          <a:xfrm>
            <a:off x="7863840" y="1051560"/>
            <a:ext cx="3977640" cy="3657600"/>
            <a:chOff x="7863840" y="1051560"/>
            <a:chExt cx="3977640" cy="3657600"/>
          </a:xfrm>
        </p:grpSpPr>
        <p:sp>
          <p:nvSpPr>
            <p:cNvPr id="28" name="Forma 27"/>
            <p:cNvSpPr/>
            <p:nvPr/>
          </p:nvSpPr>
          <p:spPr>
            <a:xfrm>
              <a:off x="7863840" y="1051560"/>
              <a:ext cx="3977640" cy="3657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9" name="Forma 28"/>
            <p:cNvSpPr/>
            <p:nvPr/>
          </p:nvSpPr>
          <p:spPr>
            <a:xfrm>
              <a:off x="8001000" y="1161288"/>
              <a:ext cx="68580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500" b="1" dirty="0">
                  <a:solidFill>
                    <a:srgbClr val="C00000"/>
                  </a:solidFill>
                  <a:latin typeface="Fira Sans Condensed"/>
                  <a:ea typeface="Fira Sans Condensed"/>
                  <a:cs typeface="Fira Sans Condensed"/>
                  <a:sym typeface="Fira Sans Condensed"/>
                </a:rPr>
                <a:t>3</a:t>
              </a:r>
              <a:endParaRPr lang="es-AR" sz="1500" dirty="0">
                <a:latin typeface="Fira Sans Condensed"/>
              </a:endParaRPr>
            </a:p>
          </p:txBody>
        </p:sp>
        <p:sp>
          <p:nvSpPr>
            <p:cNvPr id="30" name="Forma 29"/>
            <p:cNvSpPr txBox="1"/>
            <p:nvPr/>
          </p:nvSpPr>
          <p:spPr>
            <a:xfrm>
              <a:off x="8778240" y="1115568"/>
              <a:ext cx="2971800" cy="594360"/>
            </a:xfrm>
            <a:prstGeom prst="rect">
              <a:avLst/>
            </a:prstGeom>
            <a:noFill/>
            <a:ln>
              <a:noFill/>
            </a:ln>
          </p:spPr>
          <p:txBody>
            <a:bodyPr wrap="square" lIns="0" tIns="0" rIns="0" bIns="0" anchor="ctr" rtlCol="0">
              <a:noAutofit/>
            </a:bodyPr>
            <a:lstStyle/>
            <a:p>
              <a:pPr algn="l">
                <a:spcAft>
                  <a:spcPts val="300"/>
                </a:spcAft>
                <a:buNone/>
              </a:pPr>
              <a:r>
                <a:rPr lang="es-AR" sz="1700" b="1" dirty="0">
                  <a:solidFill>
                    <a:srgbClr val="1E1E1E"/>
                  </a:solidFill>
                  <a:latin typeface="Fira Sans Condensed"/>
                  <a:ea typeface="Fira Sans Condensed"/>
                  <a:cs typeface="Fira Sans Condensed"/>
                  <a:sym typeface="Fira Sans Condensed"/>
                </a:rPr>
                <a:t>Lipólisis</a:t>
              </a:r>
              <a:endParaRPr lang="es-AR" sz="1700" dirty="0">
                <a:latin typeface="Fira Sans Condensed"/>
              </a:endParaRPr>
            </a:p>
          </p:txBody>
        </p:sp>
        <p:sp>
          <p:nvSpPr>
            <p:cNvPr id="31" name="Forma 30"/>
            <p:cNvSpPr txBox="1"/>
            <p:nvPr/>
          </p:nvSpPr>
          <p:spPr>
            <a:xfrm>
              <a:off x="8046720" y="1783080"/>
              <a:ext cx="3657600" cy="2834640"/>
            </a:xfrm>
            <a:prstGeom prst="rect">
              <a:avLst/>
            </a:prstGeom>
            <a:noFill/>
            <a:ln>
              <a:noFill/>
            </a:ln>
          </p:spPr>
          <p:txBody>
            <a:bodyPr wrap="square" lIns="0" tIns="0" rIns="0" bIns="0" anchor="t" rtlCol="0">
              <a:noAutofit/>
            </a:bodyPr>
            <a:lstStyle/>
            <a:p>
              <a:pPr algn="l" marL="133350" indent="-133350">
                <a:spcAft>
                  <a:spcPts val="5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HSL (LIPE)</a:t>
              </a:r>
              <a:r>
                <a:rPr lang="es-AR" sz="1400" dirty="0">
                  <a:solidFill>
                    <a:srgbClr val="1E1E1E"/>
                  </a:solidFill>
                  <a:latin typeface="Fira Sans Condensed"/>
                  <a:ea typeface="Fira Sans Condensed"/>
                  <a:cs typeface="Fira Sans Condensed"/>
                  <a:sym typeface="Fira Sans Condensed"/>
                </a:rPr>
                <a:t>: DAG → </a:t>
              </a:r>
              <a:r>
                <a:rPr lang="es-AR" sz="1400" b="1" dirty="0">
                  <a:solidFill>
                    <a:srgbClr val="1E1E1E"/>
                  </a:solidFill>
                  <a:latin typeface="Fira Sans Condensed"/>
                  <a:ea typeface="Fira Sans Condensed"/>
                  <a:cs typeface="Fira Sans Condensed"/>
                  <a:sym typeface="Fira Sans Condensed"/>
                </a:rPr>
                <a:t>MAG</a:t>
              </a:r>
              <a:r>
                <a:rPr lang="es-AR" sz="1400" dirty="0">
                  <a:solidFill>
                    <a:srgbClr val="1E1E1E"/>
                  </a:solidFill>
                  <a:latin typeface="Fira Sans Condensed"/>
                  <a:ea typeface="Fira Sans Condensed"/>
                  <a:cs typeface="Fira Sans Condensed"/>
                  <a:sym typeface="Fira Sans Condensed"/>
                </a:rPr>
                <a:t> + AG.</a:t>
              </a:r>
              <a:endParaRPr lang="es-AR" sz="1400" dirty="0">
                <a:latin typeface="Fira Sans Condensed"/>
              </a:endParaRPr>
            </a:p>
            <a:p>
              <a:pPr algn="l" marL="133350" indent="-133350">
                <a:spcAft>
                  <a:spcPts val="5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MGL (MGLL)</a:t>
              </a:r>
              <a:r>
                <a:rPr lang="es-AR" sz="1400" dirty="0">
                  <a:solidFill>
                    <a:srgbClr val="1E1E1E"/>
                  </a:solidFill>
                  <a:latin typeface="Fira Sans Condensed"/>
                  <a:ea typeface="Fira Sans Condensed"/>
                  <a:cs typeface="Fira Sans Condensed"/>
                  <a:sym typeface="Fira Sans Condensed"/>
                </a:rPr>
                <a:t>: MAG → </a:t>
              </a:r>
              <a:r>
                <a:rPr lang="es-AR" sz="1400" b="1" dirty="0">
                  <a:solidFill>
                    <a:srgbClr val="1E1E1E"/>
                  </a:solidFill>
                  <a:latin typeface="Fira Sans Condensed"/>
                  <a:ea typeface="Fira Sans Condensed"/>
                  <a:cs typeface="Fira Sans Condensed"/>
                  <a:sym typeface="Fira Sans Condensed"/>
                </a:rPr>
                <a:t>glicerol</a:t>
              </a:r>
              <a:r>
                <a:rPr lang="es-AR" sz="1400" dirty="0">
                  <a:solidFill>
                    <a:srgbClr val="1E1E1E"/>
                  </a:solidFill>
                  <a:latin typeface="Fira Sans Condensed"/>
                  <a:ea typeface="Fira Sans Condensed"/>
                  <a:cs typeface="Fira Sans Condensed"/>
                  <a:sym typeface="Fira Sans Condensed"/>
                </a:rPr>
                <a:t> + AG.</a:t>
              </a:r>
              <a:endParaRPr lang="es-AR" sz="1400" dirty="0">
                <a:latin typeface="Fira Sans Condensed"/>
              </a:endParaRPr>
            </a:p>
            <a:p>
              <a:pPr algn="l" marL="133350" indent="-133350">
                <a:spcAft>
                  <a:spcPts val="5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Salida: </a:t>
              </a:r>
              <a:r>
                <a:rPr lang="es-AR" sz="1400" b="1" dirty="0">
                  <a:solidFill>
                    <a:srgbClr val="1E1E1E"/>
                  </a:solidFill>
                  <a:latin typeface="Fira Sans Condensed"/>
                  <a:ea typeface="Fira Sans Condensed"/>
                  <a:cs typeface="Fira Sans Condensed"/>
                  <a:sym typeface="Fira Sans Condensed"/>
                </a:rPr>
                <a:t>AGNE unidos a albúmina</a:t>
              </a:r>
              <a:r>
                <a:rPr lang="es-AR" sz="1400" dirty="0">
                  <a:solidFill>
                    <a:srgbClr val="1E1E1E"/>
                  </a:solidFill>
                  <a:latin typeface="Fira Sans Condensed"/>
                  <a:ea typeface="Fira Sans Condensed"/>
                  <a:cs typeface="Fira Sans Condensed"/>
                  <a:sym typeface="Fira Sans Condensed"/>
                </a:rPr>
                <a:t> · </a:t>
              </a:r>
              <a:r>
                <a:rPr lang="es-AR" sz="1400" b="1" dirty="0">
                  <a:solidFill>
                    <a:srgbClr val="1E1E1E"/>
                  </a:solidFill>
                  <a:latin typeface="Fira Sans Condensed"/>
                  <a:ea typeface="Fira Sans Condensed"/>
                  <a:cs typeface="Fira Sans Condensed"/>
                  <a:sym typeface="Fira Sans Condensed"/>
                </a:rPr>
                <a:t>glicerol</a:t>
              </a:r>
              <a:r>
                <a:rPr lang="es-AR" sz="1400" dirty="0">
                  <a:solidFill>
                    <a:srgbClr val="1E1E1E"/>
                  </a:solidFill>
                  <a:latin typeface="Fira Sans Condensed"/>
                  <a:ea typeface="Fira Sans Condensed"/>
                  <a:cs typeface="Fira Sans Condensed"/>
                  <a:sym typeface="Fira Sans Condensed"/>
                </a:rPr>
                <a:t> al hígado (gluconeogénesis).</a:t>
              </a:r>
              <a:endParaRPr lang="es-AR" sz="1400" dirty="0">
                <a:latin typeface="Fira Sans Condensed"/>
              </a:endParaRPr>
            </a:p>
          </p:txBody>
        </p:sp>
      </p:grpSp>
      <p:grpSp>
        <p:nvGrpSpPr>
          <p:cNvPr id="32" name="Cadena lipasas"/>
          <p:cNvGrpSpPr/>
          <p:nvPr/>
        </p:nvGrpSpPr>
        <p:grpSpPr>
          <a:xfrm>
            <a:off x="1188720" y="5074920"/>
            <a:ext cx="5303520" cy="685800"/>
            <a:chOff x="1188720" y="5074920"/>
            <a:chExt cx="5303520" cy="685800"/>
          </a:xfrm>
        </p:grpSpPr>
        <p:sp>
          <p:nvSpPr>
            <p:cNvPr id="33" name="!!Lip prod 0"/>
            <p:cNvSpPr/>
            <p:nvPr/>
          </p:nvSpPr>
          <p:spPr>
            <a:xfrm>
              <a:off x="1188720" y="5349240"/>
              <a:ext cx="128016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DAG</a:t>
              </a:r>
              <a:endParaRPr lang="es-AR" sz="1350" dirty="0">
                <a:latin typeface="Fira Sans Condensed"/>
              </a:endParaRPr>
            </a:p>
          </p:txBody>
        </p:sp>
        <p:sp>
          <p:nvSpPr>
            <p:cNvPr id="34" name="!!Lip prod 1"/>
            <p:cNvSpPr/>
            <p:nvPr/>
          </p:nvSpPr>
          <p:spPr>
            <a:xfrm>
              <a:off x="3200400" y="5349240"/>
              <a:ext cx="128016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MAG</a:t>
              </a:r>
              <a:endParaRPr lang="es-AR" sz="1350" dirty="0">
                <a:latin typeface="Fira Sans Condensed"/>
              </a:endParaRPr>
            </a:p>
          </p:txBody>
        </p:sp>
        <p:sp>
          <p:nvSpPr>
            <p:cNvPr id="35" name="!!Lip prod 2"/>
            <p:cNvSpPr/>
            <p:nvPr/>
          </p:nvSpPr>
          <p:spPr>
            <a:xfrm>
              <a:off x="5212080" y="5349240"/>
              <a:ext cx="1280160" cy="4114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GLICEROL</a:t>
              </a:r>
              <a:endParaRPr lang="es-AR" sz="1350" dirty="0">
                <a:latin typeface="Fira Sans Condensed"/>
              </a:endParaRPr>
            </a:p>
          </p:txBody>
        </p:sp>
        <p:sp>
          <p:nvSpPr>
            <p:cNvPr id="36" name="Rótulo HSL"/>
            <p:cNvSpPr/>
            <p:nvPr/>
          </p:nvSpPr>
          <p:spPr>
            <a:xfrm>
              <a:off x="2423160" y="5074920"/>
              <a:ext cx="478072" cy="23622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HSL</a:t>
              </a:r>
              <a:endParaRPr lang="es-AR" sz="1200" dirty="0">
                <a:latin typeface="Fira Sans Condensed"/>
              </a:endParaRPr>
            </a:p>
          </p:txBody>
        </p:sp>
        <p:sp>
          <p:nvSpPr>
            <p:cNvPr id="37" name="Rótulo MGL"/>
            <p:cNvSpPr/>
            <p:nvPr/>
          </p:nvSpPr>
          <p:spPr>
            <a:xfrm>
              <a:off x="4434840" y="5074920"/>
              <a:ext cx="507267" cy="236220"/>
            </a:xfrm>
            <a:prstGeom prst="rect">
              <a:avLst/>
            </a:prstGeom>
            <a:solidFill>
              <a:srgbClr val="FCE4D6"/>
            </a:solidFill>
            <a:ln w="9525" cap="rnd">
              <a:solidFill>
                <a:srgbClr val="1E1E1E"/>
              </a:solidFill>
              <a:round/>
            </a:ln>
          </p:spPr>
          <p:txBody>
            <a:bodyPr wrap="square" lIns="27432" tIns="0" rIns="27432" bIns="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MGL</a:t>
              </a:r>
              <a:endParaRPr lang="es-AR" sz="1200" dirty="0">
                <a:latin typeface="Fira Sans Condensed"/>
              </a:endParaRPr>
            </a:p>
          </p:txBody>
        </p:sp>
        <p:sp>
          <p:nvSpPr>
            <p:cNvPr id="38" name="Flecha 37_2"/>
            <p:cNvSpPr/>
            <p:nvPr/>
          </p:nvSpPr>
          <p:spPr>
            <a:xfrm>
              <a:off x="2487168" y="5550408"/>
              <a:ext cx="694944" cy="9144"/>
            </a:xfrm>
            <a:custGeom>
              <a:avLst/>
              <a:gdLst/>
              <a:ahLst/>
              <a:cxnLst/>
              <a:rect l="0" t="0" r="r" b="b"/>
              <a:pathLst>
                <a:path w="759" h="10" fill="none">
                  <a:moveTo>
                    <a:pt x="0" y="0"/>
                  </a:moveTo>
                  <a:lnTo>
                    <a:pt x="759" y="0"/>
                  </a:lnTo>
                </a:path>
              </a:pathLst>
            </a:custGeom>
            <a:noFill/>
            <a:ln w="31750" cap="rnd">
              <a:solidFill>
                <a:srgbClr val="1E1E1E"/>
              </a:solidFill>
              <a:round/>
              <a:tailEnd type="triangle" w="med" len="med"/>
            </a:ln>
          </p:spPr>
        </p:sp>
        <p:sp>
          <p:nvSpPr>
            <p:cNvPr id="39" name="Flecha 39_2"/>
            <p:cNvSpPr/>
            <p:nvPr/>
          </p:nvSpPr>
          <p:spPr>
            <a:xfrm>
              <a:off x="4498848" y="5550408"/>
              <a:ext cx="694944" cy="9144"/>
            </a:xfrm>
            <a:custGeom>
              <a:avLst/>
              <a:gdLst/>
              <a:ahLst/>
              <a:cxnLst/>
              <a:rect l="0" t="0" r="r" b="b"/>
              <a:pathLst>
                <a:path w="759" h="10" fill="none">
                  <a:moveTo>
                    <a:pt x="0" y="0"/>
                  </a:moveTo>
                  <a:lnTo>
                    <a:pt x="759" y="0"/>
                  </a:lnTo>
                </a:path>
              </a:pathLst>
            </a:custGeom>
            <a:noFill/>
            <a:ln w="31750" cap="rnd">
              <a:solidFill>
                <a:srgbClr val="1E1E1E"/>
              </a:solidFill>
              <a:round/>
              <a:tailEnd type="triangle" w="med" len="med"/>
            </a:ln>
          </p:spPr>
        </p:sp>
      </p:grpSp>
      <p:sp>
        <p:nvSpPr>
          <p:cNvPr id="40" name="!!AG lipo 1"/>
          <p:cNvSpPr/>
          <p:nvPr/>
        </p:nvSpPr>
        <p:spPr>
          <a:xfrm>
            <a:off x="3291840" y="4206240"/>
            <a:ext cx="384048" cy="38404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212" b="1" dirty="0">
                <a:solidFill>
                  <a:srgbClr val="1E1E1E"/>
                </a:solidFill>
                <a:latin typeface="Fira Sans Condensed"/>
                <a:ea typeface="Fira Sans Condensed"/>
                <a:cs typeface="Fira Sans Condensed"/>
                <a:sym typeface="Fira Sans Condensed"/>
              </a:rPr>
              <a:t>AG</a:t>
            </a:r>
            <a:endParaRPr lang="es-AR" sz="1212" dirty="0">
              <a:latin typeface="Fira Sans Condensed"/>
            </a:endParaRPr>
          </a:p>
        </p:txBody>
      </p:sp>
      <p:sp>
        <p:nvSpPr>
          <p:cNvPr id="41" name="!!AG lipo 2"/>
          <p:cNvSpPr/>
          <p:nvPr/>
        </p:nvSpPr>
        <p:spPr>
          <a:xfrm>
            <a:off x="3749040" y="4206240"/>
            <a:ext cx="384048" cy="38404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212" b="1" dirty="0">
                <a:solidFill>
                  <a:srgbClr val="1E1E1E"/>
                </a:solidFill>
                <a:latin typeface="Fira Sans Condensed"/>
                <a:ea typeface="Fira Sans Condensed"/>
                <a:cs typeface="Fira Sans Condensed"/>
                <a:sym typeface="Fira Sans Condensed"/>
              </a:rPr>
              <a:t>AG</a:t>
            </a:r>
            <a:endParaRPr lang="es-AR" sz="1212" dirty="0">
              <a:latin typeface="Fira Sans Condensed"/>
            </a:endParaRPr>
          </a:p>
        </p:txBody>
      </p:sp>
      <p:sp>
        <p:nvSpPr>
          <p:cNvPr id="42" name="!!AG lipo 3"/>
          <p:cNvSpPr/>
          <p:nvPr/>
        </p:nvSpPr>
        <p:spPr>
          <a:xfrm>
            <a:off x="4206240" y="4206240"/>
            <a:ext cx="384048" cy="384048"/>
          </a:xfrm>
          <a:prstGeom prst="ellipse">
            <a:avLst/>
          </a:prstGeom>
          <a:gradFill rotWithShape="1">
            <a:gsLst>
              <a:gs pos="0">
                <a:srgbClr val="F6D163"/>
              </a:gs>
              <a:gs pos="55000">
                <a:srgbClr val="F2B90F"/>
              </a:gs>
              <a:gs pos="100000">
                <a:srgbClr val="C1940C"/>
              </a:gs>
            </a:gsLst>
            <a:path path="circle">
              <a:fillToRect l="32000" t="28000" r="68000" b="72000"/>
            </a:path>
          </a:gradFill>
          <a:ln w="12700" cap="rnd">
            <a:solidFill>
              <a:srgbClr val="856508"/>
            </a:solidFill>
            <a:round/>
          </a:ln>
        </p:spPr>
        <p:txBody>
          <a:bodyPr wrap="square" lIns="0" tIns="0" rIns="0" bIns="0" anchor="ctr" rtlCol="0">
            <a:noAutofit/>
          </a:bodyPr>
          <a:lstStyle/>
          <a:p>
            <a:pPr algn="ctr">
              <a:spcAft>
                <a:spcPts val="300"/>
              </a:spcAft>
              <a:buNone/>
            </a:pPr>
            <a:r>
              <a:rPr lang="es-AR" sz="1212" b="1" dirty="0">
                <a:solidFill>
                  <a:srgbClr val="1E1E1E"/>
                </a:solidFill>
                <a:latin typeface="Fira Sans Condensed"/>
                <a:ea typeface="Fira Sans Condensed"/>
                <a:cs typeface="Fira Sans Condensed"/>
                <a:sym typeface="Fira Sans Condensed"/>
              </a:rPr>
              <a:t>AG</a:t>
            </a:r>
            <a:endParaRPr lang="es-AR" sz="1212" dirty="0">
              <a:latin typeface="Fira Sans Condensed"/>
            </a:endParaRPr>
          </a:p>
        </p:txBody>
      </p:sp>
      <p:grpSp>
        <p:nvGrpSpPr>
          <p:cNvPr id="43" name="Salida"/>
          <p:cNvGrpSpPr/>
          <p:nvPr/>
        </p:nvGrpSpPr>
        <p:grpSpPr>
          <a:xfrm>
            <a:off x="7223760" y="3840480"/>
            <a:ext cx="4617720" cy="2286000"/>
            <a:chOff x="7223760" y="3840480"/>
            <a:chExt cx="4617720" cy="2286000"/>
          </a:xfrm>
        </p:grpSpPr>
        <p:sp>
          <p:nvSpPr>
            <p:cNvPr id="44" name="Flecha 45_2"/>
            <p:cNvSpPr/>
            <p:nvPr/>
          </p:nvSpPr>
          <p:spPr>
            <a:xfrm>
              <a:off x="7223760" y="3840480"/>
              <a:ext cx="914400" cy="1371600"/>
            </a:xfrm>
            <a:custGeom>
              <a:avLst/>
              <a:gdLst/>
              <a:ahLst/>
              <a:cxnLst/>
              <a:rect l="0" t="0" r="r" b="b"/>
              <a:pathLst>
                <a:path w="1000" h="1500" fill="none">
                  <a:moveTo>
                    <a:pt x="0" y="0"/>
                  </a:moveTo>
                  <a:lnTo>
                    <a:pt x="1000" y="1500"/>
                  </a:lnTo>
                </a:path>
              </a:pathLst>
            </a:custGeom>
            <a:noFill/>
            <a:ln w="50800" cap="rnd">
              <a:solidFill>
                <a:srgbClr val="2563B0"/>
              </a:solidFill>
              <a:prstDash val="dash"/>
              <a:round/>
              <a:tailEnd type="triangle" w="med" len="med"/>
            </a:ln>
          </p:spPr>
        </p:sp>
        <p:sp>
          <p:nvSpPr>
            <p:cNvPr id="45" name="Recuadro Sangre: AGNE–albúmina "/>
            <p:cNvSpPr/>
            <p:nvPr/>
          </p:nvSpPr>
          <p:spPr>
            <a:xfrm>
              <a:off x="7863840" y="5257800"/>
              <a:ext cx="397764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Sangre: AGNE–albúmina + glicerol</a:t>
              </a:r>
              <a:endParaRPr lang="es-AR" sz="1400" dirty="0">
                <a:latin typeface="Fira Sans Condensed"/>
              </a:endParaRPr>
            </a:p>
          </p:txBody>
        </p:sp>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EJEMPLO 5 · LIPÓLISIS 3: HSL, MGL Y SALIDA DE PRODUCTOS</a:t>
            </a:r>
            <a:endParaRPr lang="es-AR" sz="26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4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130</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500"/>
                                        <p:tgtEl>
                                          <p:spTgt spid="32"/>
                                        </p:tgtEl>
                                      </p:cBhvr>
                                    </p:animEffect>
                                  </p:childTnLst>
                                </p:cTn>
                              </p:par>
                            </p:childTnLst>
                          </p:cTn>
                        </p:par>
                      </p:childTnLst>
                    </p:cTn>
                  </p:par>
                  <p:par>
                    <p:cTn id="21" fill="hold">
                      <p:stCondLst>
                        <p:cond delay="indefinite"/>
                      </p:stCondLst>
                      <p:childTnLst>
                        <p:par>
                          <p:cTn id="10" fill="hold">
                            <p:stCondLst>
                              <p:cond delay="0"/>
                            </p:stCondLst>
                            <p:childTnLst>
                              <p:par>
                                <p:cTn id="8" presetID="0" presetClass="path" presetSubtype="0" accel="20000" decel="20000" fill="hold" grpId="0" nodeType="clickEffect">
                                  <p:stCondLst>
                                    <p:cond delay="0"/>
                                  </p:stCondLst>
                                  <p:childTnLst>
                                    <p:animMotion origin="layout" path="M 0 0 L 0.3450 0.0000 E" pathEditMode="relative" ptsTypes="">
                                      <p:cBhvr>
                                        <p:cTn id="9" dur="1200" fill="hold"/>
                                        <p:tgtEl>
                                          <p:spTgt spid="40"/>
                                        </p:tgtEl>
                                        <p:attrNameLst>
                                          <p:attrName>ppt_x</p:attrName>
                                          <p:attrName>ppt_y</p:attrName>
                                        </p:attrNameLst>
                                      </p:cBhvr>
                                      <p:rCtr x="17250" y="0"/>
                                    </p:animMotion>
                                  </p:childTnLst>
                                </p:cTn>
                              </p:par>
                            </p:childTnLst>
                          </p:cTn>
                        </p:par>
                        <p:par>
                          <p:cTn id="13" fill="hold">
                            <p:stCondLst>
                              <p:cond delay="200"/>
                            </p:stCondLst>
                            <p:childTnLst>
                              <p:par>
                                <p:cTn id="11" presetID="0" presetClass="path" presetSubtype="0" accel="20000" decel="20000" fill="hold" grpId="0" nodeType="afterEffect">
                                  <p:stCondLst>
                                    <p:cond delay="0"/>
                                  </p:stCondLst>
                                  <p:childTnLst>
                                    <p:animMotion origin="layout" path="M 0 0 L 0.3075 0.0000 E" pathEditMode="relative" ptsTypes="">
                                      <p:cBhvr>
                                        <p:cTn id="12" dur="1200" fill="hold"/>
                                        <p:tgtEl>
                                          <p:spTgt spid="41"/>
                                        </p:tgtEl>
                                        <p:attrNameLst>
                                          <p:attrName>ppt_x</p:attrName>
                                          <p:attrName>ppt_y</p:attrName>
                                        </p:attrNameLst>
                                      </p:cBhvr>
                                      <p:rCtr x="15375" y="0"/>
                                    </p:animMotion>
                                  </p:childTnLst>
                                </p:cTn>
                              </p:par>
                            </p:childTnLst>
                          </p:cTn>
                        </p:par>
                        <p:par>
                          <p:cTn id="16" fill="hold">
                            <p:stCondLst>
                              <p:cond delay="600"/>
                            </p:stCondLst>
                            <p:childTnLst>
                              <p:par>
                                <p:cTn id="14" presetID="0" presetClass="path" presetSubtype="0" accel="20000" decel="20000" fill="hold" grpId="0" nodeType="afterEffect">
                                  <p:stCondLst>
                                    <p:cond delay="0"/>
                                  </p:stCondLst>
                                  <p:childTnLst>
                                    <p:animMotion origin="layout" path="M 0 0 L 0.2700 0.0000 E" pathEditMode="relative" ptsTypes="">
                                      <p:cBhvr>
                                        <p:cTn id="15" dur="1200" fill="hold"/>
                                        <p:tgtEl>
                                          <p:spTgt spid="42"/>
                                        </p:tgtEl>
                                        <p:attrNameLst>
                                          <p:attrName>ppt_x</p:attrName>
                                          <p:attrName>ppt_y</p:attrName>
                                        </p:attrNameLst>
                                      </p:cBhvr>
                                      <p:rCtr x="13500" y="0"/>
                                    </p:animMotion>
                                  </p:childTnLst>
                                </p:cTn>
                              </p:par>
                            </p:childTnLst>
                          </p:cTn>
                        </p:par>
                        <p:par>
                          <p:cTn id="20"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aphicFrame>
        <p:nvGraphicFramePr>
          <p:cNvPr id="7" name="Adipocinas 1"/>
          <p:cNvGraphicFramePr>
            <a:graphicFrameLocks noGrp="1"/>
          </p:cNvGraphicFramePr>
          <p:nvPr/>
        </p:nvGraphicFramePr>
        <p:xfrm>
          <a:off x="365760" y="1051560"/>
          <a:ext cx="11475720" cy="2560320"/>
        </p:xfrm>
        <a:graphic>
          <a:graphicData uri="http://schemas.openxmlformats.org/drawingml/2006/table">
            <a:tbl>
              <a:tblPr firstRow="1" bandRow="1"/>
              <a:tblGrid>
                <a:gridCol w="1554480"/>
                <a:gridCol w="3017520"/>
                <a:gridCol w="3840480"/>
                <a:gridCol w="3063240"/>
              </a:tblGrid>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Mediador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Fuente / receptor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Efectos principales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En adiposidad disfuncional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Leptina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Adipocito blanco; LEPR → JAK2–STAT3</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Señal de reservas; modula POMC/AgRP; reproducción e inmunidad</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Elevada, con resistencia funcional frecuente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Adiponectina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Adipocito; AdipoR1/R2 → AMPK/PPARα</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Sensibiliza a insulina; oxidación de lípidos; antiinflamatoria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Generalmente disminuida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TNF-α</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Macrófagos y otras células del tejido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JNK/IKK; inflamación; altera la señal de IRS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Aumentado en contextos inflamatorios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IL-6</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Adipocitos, macrófagos y músculo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Inflamatoria o mioquina: efecto contexto-dependiente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Elevación crónica frecuente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PAI-1</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Adiposo, endotelio, hígado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Menor fibrinólisis: entorno protrombótico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Frecuentemente aumentado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8" name="Perla clínica"/>
          <p:cNvSpPr/>
          <p:nvPr/>
        </p:nvSpPr>
        <p:spPr>
          <a:xfrm>
            <a:off x="365760" y="5074920"/>
            <a:ext cx="11475720" cy="11887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La adiponectina converge en </a:t>
            </a:r>
            <a:r>
              <a:rPr lang="es-AR" sz="1550" b="1" dirty="0">
                <a:solidFill>
                  <a:srgbClr val="FFFFFF"/>
                </a:solidFill>
                <a:latin typeface="Fira Sans Condensed"/>
                <a:ea typeface="Fira Sans Condensed"/>
                <a:cs typeface="Fira Sans Condensed"/>
                <a:sym typeface="Fira Sans Condensed"/>
              </a:rPr>
              <a:t>AMPK/PPARα</a:t>
            </a:r>
            <a:r>
              <a:rPr lang="es-AR" sz="1550" dirty="0">
                <a:solidFill>
                  <a:srgbClr val="FFFFFF"/>
                </a:solidFill>
                <a:latin typeface="Fira Sans Condensed"/>
                <a:ea typeface="Fira Sans Condensed"/>
                <a:cs typeface="Fira Sans Condensed"/>
                <a:sym typeface="Fira Sans Condensed"/>
              </a:rPr>
              <a:t> (sensibilizante); la leptina informa </a:t>
            </a:r>
            <a:r>
              <a:rPr lang="es-AR" sz="1550" b="1" dirty="0">
                <a:solidFill>
                  <a:srgbClr val="FFFFFF"/>
                </a:solidFill>
                <a:latin typeface="Fira Sans Condensed"/>
                <a:ea typeface="Fira Sans Condensed"/>
                <a:cs typeface="Fira Sans Condensed"/>
                <a:sym typeface="Fira Sans Condensed"/>
              </a:rPr>
              <a:t>reservas</a:t>
            </a:r>
            <a:r>
              <a:rPr lang="es-AR" sz="1550" dirty="0">
                <a:solidFill>
                  <a:srgbClr val="FFFFFF"/>
                </a:solidFill>
                <a:latin typeface="Fira Sans Condensed"/>
                <a:ea typeface="Fira Sans Condensed"/>
                <a:cs typeface="Fira Sans Condensed"/>
                <a:sym typeface="Fira Sans Condensed"/>
              </a:rPr>
              <a:t>. La </a:t>
            </a:r>
            <a:r>
              <a:rPr lang="es-AR" sz="1550" b="1" dirty="0">
                <a:solidFill>
                  <a:srgbClr val="FFFFFF"/>
                </a:solidFill>
                <a:latin typeface="Fira Sans Condensed"/>
                <a:ea typeface="Fira Sans Condensed"/>
                <a:cs typeface="Fira Sans Condensed"/>
                <a:sym typeface="Fira Sans Condensed"/>
              </a:rPr>
              <a:t>hiperleptinemia</a:t>
            </a:r>
            <a:r>
              <a:rPr lang="es-AR" sz="1550" dirty="0">
                <a:solidFill>
                  <a:srgbClr val="FFFFFF"/>
                </a:solidFill>
                <a:latin typeface="Fira Sans Condensed"/>
                <a:ea typeface="Fira Sans Condensed"/>
                <a:cs typeface="Fira Sans Condensed"/>
                <a:sym typeface="Fira Sans Condensed"/>
              </a:rPr>
              <a:t> de la obesidad </a:t>
            </a:r>
            <a:r>
              <a:rPr lang="es-AR" sz="1550" b="1" dirty="0">
                <a:solidFill>
                  <a:srgbClr val="FFFFFF"/>
                </a:solidFill>
                <a:latin typeface="Fira Sans Condensed"/>
                <a:ea typeface="Fira Sans Condensed"/>
                <a:cs typeface="Fira Sans Condensed"/>
                <a:sym typeface="Fira Sans Condensed"/>
              </a:rPr>
              <a:t>no</a:t>
            </a:r>
            <a:r>
              <a:rPr lang="es-AR" sz="1550" dirty="0">
                <a:solidFill>
                  <a:srgbClr val="FFFFFF"/>
                </a:solidFill>
                <a:latin typeface="Fira Sans Condensed"/>
                <a:ea typeface="Fira Sans Condensed"/>
                <a:cs typeface="Fira Sans Condensed"/>
                <a:sym typeface="Fira Sans Condensed"/>
              </a:rPr>
              <a:t> asegura una supresión del apetito proporcional.</a:t>
            </a:r>
            <a:endParaRPr lang="es-AR" sz="1550" dirty="0">
              <a:latin typeface="Fira Sans Condensed"/>
            </a:endParaRPr>
          </a:p>
        </p:txBody>
      </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ADIPOCINAS I: LEPTINA, ADIPONECTINA, TNF-</a:t>
            </a:r>
            <a:r>
              <a:rPr lang="es-AR" sz="2800"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 IL-6, PAI-1</a:t>
            </a:r>
            <a:endParaRPr lang="es-AR" sz="28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aphicFrame>
        <p:nvGraphicFramePr>
          <p:cNvPr id="6" name="Adipocinas 2"/>
          <p:cNvGraphicFramePr>
            <a:graphicFrameLocks noGrp="1"/>
          </p:cNvGraphicFramePr>
          <p:nvPr/>
        </p:nvGraphicFramePr>
        <p:xfrm>
          <a:off x="365760" y="1051560"/>
          <a:ext cx="11475720" cy="2682240"/>
        </p:xfrm>
        <a:graphic>
          <a:graphicData uri="http://schemas.openxmlformats.org/drawingml/2006/table">
            <a:tbl>
              <a:tblPr firstRow="1" bandRow="1"/>
              <a:tblGrid>
                <a:gridCol w="1737360"/>
                <a:gridCol w="2834640"/>
                <a:gridCol w="3886200"/>
                <a:gridCol w="3017520"/>
              </a:tblGrid>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Mediador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Fuente / receptor</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Efectos principales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En adiposidad disfuncional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Resistina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En humanos: células inmunes (macrófagos)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Asociación con inflamación y metabolismo; causalidad humana compleja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Puede elevarse; evidencia menos directa que en roedores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Angiotensinógeno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Hígado y adiposo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Sistema renina–angiotensina local/sistémico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Actividad local relacionada con adiposidad</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MCP-1/CCL2</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Adipocitos y estroma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Recluta monocitos → infiltración de macrófagos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Puede aumentar</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FGF21</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Principalmente hígado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Respuesta energética y lipídica; no es adipocina clásica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Variable; no atribuir al adipocito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8768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Omentina / visfatina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Estroma o depósitos específicos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Sensibilidad insulínica / inmunidad; evidencia variable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Interpretación heterogénea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7" name="Perla clínica"/>
          <p:cNvSpPr/>
          <p:nvPr/>
        </p:nvSpPr>
        <p:spPr>
          <a:xfrm>
            <a:off x="365760" y="5212080"/>
            <a:ext cx="11475720" cy="1051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La </a:t>
            </a:r>
            <a:r>
              <a:rPr lang="es-AR" sz="1550" b="1" dirty="0">
                <a:solidFill>
                  <a:srgbClr val="FFFFFF"/>
                </a:solidFill>
                <a:latin typeface="Fira Sans Condensed"/>
                <a:ea typeface="Fira Sans Condensed"/>
                <a:cs typeface="Fira Sans Condensed"/>
                <a:sym typeface="Fira Sans Condensed"/>
              </a:rPr>
              <a:t>resistina</a:t>
            </a:r>
            <a:r>
              <a:rPr lang="es-AR" sz="1550" dirty="0">
                <a:solidFill>
                  <a:srgbClr val="FFFFFF"/>
                </a:solidFill>
                <a:latin typeface="Fira Sans Condensed"/>
                <a:ea typeface="Fira Sans Condensed"/>
                <a:cs typeface="Fira Sans Condensed"/>
                <a:sym typeface="Fira Sans Condensed"/>
              </a:rPr>
              <a:t> descrita en modelos animales </a:t>
            </a:r>
            <a:r>
              <a:rPr lang="es-AR" sz="1550" b="1" dirty="0">
                <a:solidFill>
                  <a:srgbClr val="FFFFFF"/>
                </a:solidFill>
                <a:latin typeface="Fira Sans Condensed"/>
                <a:ea typeface="Fira Sans Condensed"/>
                <a:cs typeface="Fira Sans Condensed"/>
                <a:sym typeface="Fira Sans Condensed"/>
              </a:rPr>
              <a:t>no puede extrapolarse linealmente</a:t>
            </a:r>
            <a:r>
              <a:rPr lang="es-AR" sz="1550" dirty="0">
                <a:solidFill>
                  <a:srgbClr val="FFFFFF"/>
                </a:solidFill>
                <a:latin typeface="Fira Sans Condensed"/>
                <a:ea typeface="Fira Sans Condensed"/>
                <a:cs typeface="Fira Sans Condensed"/>
                <a:sym typeface="Fira Sans Condensed"/>
              </a:rPr>
              <a:t> a humanos. Muchas adipocinas tienen evidencia heterogénea.</a:t>
            </a:r>
            <a:endParaRPr lang="es-AR" sz="15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ADIPOCINAS II Y PRECISIÓN CONCEPTUAL</a:t>
            </a:r>
            <a:endParaRPr lang="es-AR" sz="34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Adipocito B 0"/>
          <p:cNvGrpSpPr/>
          <p:nvPr/>
        </p:nvGrpSpPr>
        <p:grpSpPr>
          <a:xfrm>
            <a:off x="822960" y="1280160"/>
            <a:ext cx="1051560" cy="1051560"/>
            <a:chOff x="822960" y="1280160"/>
            <a:chExt cx="1051560" cy="1051560"/>
          </a:xfrm>
        </p:grpSpPr>
        <p:sp>
          <p:nvSpPr>
            <p:cNvPr id="8" name="Forma 7"/>
            <p:cNvSpPr/>
            <p:nvPr/>
          </p:nvSpPr>
          <p:spPr>
            <a:xfrm>
              <a:off x="822960" y="128016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875538" y="133273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580083" y="134325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907085" y="2058314"/>
              <a:ext cx="105156" cy="52578"/>
              <a:chOff x="907085" y="2058314"/>
              <a:chExt cx="105156" cy="52578"/>
            </a:xfrm>
          </p:grpSpPr>
          <p:sp>
            <p:nvSpPr>
              <p:cNvPr id="12" name="Forma 11"/>
              <p:cNvSpPr/>
              <p:nvPr/>
            </p:nvSpPr>
            <p:spPr>
              <a:xfrm rot="-2400000">
                <a:off x="907085" y="205831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914446" y="2065675"/>
                <a:ext cx="90434" cy="37856"/>
              </a:xfrm>
              <a:prstGeom prst="ellipse">
                <a:avLst/>
              </a:prstGeom>
              <a:solidFill>
                <a:srgbClr val="F8D8B4"/>
              </a:solidFill>
              <a:ln w="9525" cap="rnd">
                <a:solidFill>
                  <a:srgbClr val="B2732B"/>
                </a:solidFill>
                <a:round/>
              </a:ln>
            </p:spPr>
          </p:sp>
          <p:sp>
            <p:nvSpPr>
              <p:cNvPr id="14" name="Forma 13"/>
              <p:cNvSpPr/>
              <p:nvPr/>
            </p:nvSpPr>
            <p:spPr>
              <a:xfrm rot="-2400000">
                <a:off x="914446" y="206567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Adipocito B 1"/>
          <p:cNvGrpSpPr/>
          <p:nvPr/>
        </p:nvGrpSpPr>
        <p:grpSpPr>
          <a:xfrm>
            <a:off x="2743200" y="1234440"/>
            <a:ext cx="1051560" cy="1051560"/>
            <a:chOff x="2743200" y="1234440"/>
            <a:chExt cx="1051560" cy="1051560"/>
          </a:xfrm>
        </p:grpSpPr>
        <p:sp>
          <p:nvSpPr>
            <p:cNvPr id="16" name="Forma 15"/>
            <p:cNvSpPr/>
            <p:nvPr/>
          </p:nvSpPr>
          <p:spPr>
            <a:xfrm>
              <a:off x="2743200" y="123444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7" name="Gota lipídica_2"/>
            <p:cNvSpPr/>
            <p:nvPr/>
          </p:nvSpPr>
          <p:spPr>
            <a:xfrm>
              <a:off x="2795778" y="128701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8" name="Forma 17"/>
            <p:cNvSpPr/>
            <p:nvPr/>
          </p:nvSpPr>
          <p:spPr>
            <a:xfrm rot="2400000">
              <a:off x="3500323" y="129753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9" name="Mitocondria_2"/>
            <p:cNvGrpSpPr/>
            <p:nvPr/>
          </p:nvGrpSpPr>
          <p:grpSpPr>
            <a:xfrm>
              <a:off x="2827325" y="2012594"/>
              <a:ext cx="105156" cy="52578"/>
              <a:chOff x="2827325" y="2012594"/>
              <a:chExt cx="105156" cy="52578"/>
            </a:xfrm>
          </p:grpSpPr>
          <p:sp>
            <p:nvSpPr>
              <p:cNvPr id="20" name="Forma 19"/>
              <p:cNvSpPr/>
              <p:nvPr/>
            </p:nvSpPr>
            <p:spPr>
              <a:xfrm rot="-2400000">
                <a:off x="2827325" y="201259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2400000">
                <a:off x="2834686" y="2019955"/>
                <a:ext cx="90434" cy="37856"/>
              </a:xfrm>
              <a:prstGeom prst="ellipse">
                <a:avLst/>
              </a:prstGeom>
              <a:solidFill>
                <a:srgbClr val="F8D8B4"/>
              </a:solidFill>
              <a:ln w="9525" cap="rnd">
                <a:solidFill>
                  <a:srgbClr val="B2732B"/>
                </a:solidFill>
                <a:round/>
              </a:ln>
            </p:spPr>
          </p:sp>
          <p:sp>
            <p:nvSpPr>
              <p:cNvPr id="22" name="Forma 21"/>
              <p:cNvSpPr/>
              <p:nvPr/>
            </p:nvSpPr>
            <p:spPr>
              <a:xfrm rot="-2400000">
                <a:off x="2834686" y="201995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3" name="!!Adipocito B 2"/>
          <p:cNvGrpSpPr/>
          <p:nvPr/>
        </p:nvGrpSpPr>
        <p:grpSpPr>
          <a:xfrm>
            <a:off x="4663440" y="1325880"/>
            <a:ext cx="1051560" cy="1051560"/>
            <a:chOff x="4663440" y="1325880"/>
            <a:chExt cx="1051560" cy="1051560"/>
          </a:xfrm>
        </p:grpSpPr>
        <p:sp>
          <p:nvSpPr>
            <p:cNvPr id="24" name="Forma 23"/>
            <p:cNvSpPr/>
            <p:nvPr/>
          </p:nvSpPr>
          <p:spPr>
            <a:xfrm>
              <a:off x="4663440" y="132588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5" name="Gota lipídica_3"/>
            <p:cNvSpPr/>
            <p:nvPr/>
          </p:nvSpPr>
          <p:spPr>
            <a:xfrm>
              <a:off x="4716018" y="137845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6" name="Forma 25"/>
            <p:cNvSpPr/>
            <p:nvPr/>
          </p:nvSpPr>
          <p:spPr>
            <a:xfrm rot="2400000">
              <a:off x="5420563" y="138897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7" name="Mitocondria_3"/>
            <p:cNvGrpSpPr/>
            <p:nvPr/>
          </p:nvGrpSpPr>
          <p:grpSpPr>
            <a:xfrm>
              <a:off x="4747565" y="2104034"/>
              <a:ext cx="105156" cy="52578"/>
              <a:chOff x="4747565" y="2104034"/>
              <a:chExt cx="105156" cy="52578"/>
            </a:xfrm>
          </p:grpSpPr>
          <p:sp>
            <p:nvSpPr>
              <p:cNvPr id="28" name="Forma 27"/>
              <p:cNvSpPr/>
              <p:nvPr/>
            </p:nvSpPr>
            <p:spPr>
              <a:xfrm rot="-2400000">
                <a:off x="4747565" y="210403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2400000">
                <a:off x="4754926" y="2111395"/>
                <a:ext cx="90434" cy="37856"/>
              </a:xfrm>
              <a:prstGeom prst="ellipse">
                <a:avLst/>
              </a:prstGeom>
              <a:solidFill>
                <a:srgbClr val="F8D8B4"/>
              </a:solidFill>
              <a:ln w="9525" cap="rnd">
                <a:solidFill>
                  <a:srgbClr val="B2732B"/>
                </a:solidFill>
                <a:round/>
              </a:ln>
            </p:spPr>
          </p:sp>
          <p:sp>
            <p:nvSpPr>
              <p:cNvPr id="30" name="Forma 29"/>
              <p:cNvSpPr/>
              <p:nvPr/>
            </p:nvSpPr>
            <p:spPr>
              <a:xfrm rot="-2400000">
                <a:off x="4754926" y="211139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Adipocito B 3"/>
          <p:cNvGrpSpPr/>
          <p:nvPr/>
        </p:nvGrpSpPr>
        <p:grpSpPr>
          <a:xfrm>
            <a:off x="1463040" y="3108960"/>
            <a:ext cx="1051560" cy="1051560"/>
            <a:chOff x="1463040" y="3108960"/>
            <a:chExt cx="1051560" cy="1051560"/>
          </a:xfrm>
        </p:grpSpPr>
        <p:sp>
          <p:nvSpPr>
            <p:cNvPr id="32" name="Forma 31"/>
            <p:cNvSpPr/>
            <p:nvPr/>
          </p:nvSpPr>
          <p:spPr>
            <a:xfrm>
              <a:off x="1463040" y="310896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3" name="Gota lipídica_4"/>
            <p:cNvSpPr/>
            <p:nvPr/>
          </p:nvSpPr>
          <p:spPr>
            <a:xfrm>
              <a:off x="1515618" y="316153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4" name="Forma 33"/>
            <p:cNvSpPr/>
            <p:nvPr/>
          </p:nvSpPr>
          <p:spPr>
            <a:xfrm rot="2400000">
              <a:off x="2220163" y="317205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5" name="Mitocondria_4"/>
            <p:cNvGrpSpPr/>
            <p:nvPr/>
          </p:nvGrpSpPr>
          <p:grpSpPr>
            <a:xfrm>
              <a:off x="1547165" y="3887114"/>
              <a:ext cx="105156" cy="52578"/>
              <a:chOff x="1547165" y="3887114"/>
              <a:chExt cx="105156" cy="52578"/>
            </a:xfrm>
          </p:grpSpPr>
          <p:sp>
            <p:nvSpPr>
              <p:cNvPr id="36" name="Forma 35"/>
              <p:cNvSpPr/>
              <p:nvPr/>
            </p:nvSpPr>
            <p:spPr>
              <a:xfrm rot="-2400000">
                <a:off x="1547165" y="388711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7" name="Forma 36"/>
              <p:cNvSpPr/>
              <p:nvPr/>
            </p:nvSpPr>
            <p:spPr>
              <a:xfrm rot="-2400000">
                <a:off x="1554526" y="3894475"/>
                <a:ext cx="90434" cy="37856"/>
              </a:xfrm>
              <a:prstGeom prst="ellipse">
                <a:avLst/>
              </a:prstGeom>
              <a:solidFill>
                <a:srgbClr val="F8D8B4"/>
              </a:solidFill>
              <a:ln w="9525" cap="rnd">
                <a:solidFill>
                  <a:srgbClr val="B2732B"/>
                </a:solidFill>
                <a:round/>
              </a:ln>
            </p:spPr>
          </p:sp>
          <p:sp>
            <p:nvSpPr>
              <p:cNvPr id="38" name="Forma 37"/>
              <p:cNvSpPr/>
              <p:nvPr/>
            </p:nvSpPr>
            <p:spPr>
              <a:xfrm rot="-2400000">
                <a:off x="1554526" y="389447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9" name="!!Adipocito B 4"/>
          <p:cNvGrpSpPr/>
          <p:nvPr/>
        </p:nvGrpSpPr>
        <p:grpSpPr>
          <a:xfrm>
            <a:off x="3474720" y="3154680"/>
            <a:ext cx="1051560" cy="1051560"/>
            <a:chOff x="3474720" y="3154680"/>
            <a:chExt cx="1051560" cy="1051560"/>
          </a:xfrm>
        </p:grpSpPr>
        <p:sp>
          <p:nvSpPr>
            <p:cNvPr id="40" name="Forma 39"/>
            <p:cNvSpPr/>
            <p:nvPr/>
          </p:nvSpPr>
          <p:spPr>
            <a:xfrm>
              <a:off x="3474720" y="315468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1" name="Gota lipídica_5"/>
            <p:cNvSpPr/>
            <p:nvPr/>
          </p:nvSpPr>
          <p:spPr>
            <a:xfrm>
              <a:off x="3527298" y="320725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2" name="Forma 41"/>
            <p:cNvSpPr/>
            <p:nvPr/>
          </p:nvSpPr>
          <p:spPr>
            <a:xfrm rot="2400000">
              <a:off x="4231843" y="321777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3" name="Mitocondria_5"/>
            <p:cNvGrpSpPr/>
            <p:nvPr/>
          </p:nvGrpSpPr>
          <p:grpSpPr>
            <a:xfrm>
              <a:off x="3558845" y="3932834"/>
              <a:ext cx="105156" cy="52578"/>
              <a:chOff x="3558845" y="3932834"/>
              <a:chExt cx="105156" cy="52578"/>
            </a:xfrm>
          </p:grpSpPr>
          <p:sp>
            <p:nvSpPr>
              <p:cNvPr id="44" name="Forma 43"/>
              <p:cNvSpPr/>
              <p:nvPr/>
            </p:nvSpPr>
            <p:spPr>
              <a:xfrm rot="-2400000">
                <a:off x="3558845" y="393283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5" name="Forma 44"/>
              <p:cNvSpPr/>
              <p:nvPr/>
            </p:nvSpPr>
            <p:spPr>
              <a:xfrm rot="-2400000">
                <a:off x="3566206" y="3940195"/>
                <a:ext cx="90434" cy="37856"/>
              </a:xfrm>
              <a:prstGeom prst="ellipse">
                <a:avLst/>
              </a:prstGeom>
              <a:solidFill>
                <a:srgbClr val="F8D8B4"/>
              </a:solidFill>
              <a:ln w="9525" cap="rnd">
                <a:solidFill>
                  <a:srgbClr val="B2732B"/>
                </a:solidFill>
                <a:round/>
              </a:ln>
            </p:spPr>
          </p:sp>
          <p:sp>
            <p:nvSpPr>
              <p:cNvPr id="46" name="Forma 45"/>
              <p:cNvSpPr/>
              <p:nvPr/>
            </p:nvSpPr>
            <p:spPr>
              <a:xfrm rot="-2400000">
                <a:off x="3566206" y="394019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7" name="!!Adipocito B 5"/>
          <p:cNvGrpSpPr/>
          <p:nvPr/>
        </p:nvGrpSpPr>
        <p:grpSpPr>
          <a:xfrm>
            <a:off x="5486400" y="3108960"/>
            <a:ext cx="1051560" cy="1051560"/>
            <a:chOff x="5486400" y="3108960"/>
            <a:chExt cx="1051560" cy="1051560"/>
          </a:xfrm>
        </p:grpSpPr>
        <p:sp>
          <p:nvSpPr>
            <p:cNvPr id="48" name="Forma 47"/>
            <p:cNvSpPr/>
            <p:nvPr/>
          </p:nvSpPr>
          <p:spPr>
            <a:xfrm>
              <a:off x="5486400" y="3108960"/>
              <a:ext cx="1051560" cy="105156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9" name="Gota lipídica_6"/>
            <p:cNvSpPr/>
            <p:nvPr/>
          </p:nvSpPr>
          <p:spPr>
            <a:xfrm>
              <a:off x="5538978" y="3161538"/>
              <a:ext cx="946404" cy="946404"/>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0" name="Forma 49"/>
            <p:cNvSpPr/>
            <p:nvPr/>
          </p:nvSpPr>
          <p:spPr>
            <a:xfrm rot="2400000">
              <a:off x="6243523" y="3172054"/>
              <a:ext cx="231343" cy="126187"/>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1" name="Mitocondria_6"/>
            <p:cNvGrpSpPr/>
            <p:nvPr/>
          </p:nvGrpSpPr>
          <p:grpSpPr>
            <a:xfrm>
              <a:off x="5570525" y="3887114"/>
              <a:ext cx="105156" cy="52578"/>
              <a:chOff x="5570525" y="3887114"/>
              <a:chExt cx="105156" cy="52578"/>
            </a:xfrm>
          </p:grpSpPr>
          <p:sp>
            <p:nvSpPr>
              <p:cNvPr id="52" name="Forma 51"/>
              <p:cNvSpPr/>
              <p:nvPr/>
            </p:nvSpPr>
            <p:spPr>
              <a:xfrm rot="-2400000">
                <a:off x="5570525" y="3887114"/>
                <a:ext cx="105156" cy="52578"/>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3" name="Forma 52"/>
              <p:cNvSpPr/>
              <p:nvPr/>
            </p:nvSpPr>
            <p:spPr>
              <a:xfrm rot="-2400000">
                <a:off x="5577886" y="3894475"/>
                <a:ext cx="90434" cy="37856"/>
              </a:xfrm>
              <a:prstGeom prst="ellipse">
                <a:avLst/>
              </a:prstGeom>
              <a:solidFill>
                <a:srgbClr val="F8D8B4"/>
              </a:solidFill>
              <a:ln w="9525" cap="rnd">
                <a:solidFill>
                  <a:srgbClr val="B2732B"/>
                </a:solidFill>
                <a:round/>
              </a:ln>
            </p:spPr>
          </p:sp>
          <p:sp>
            <p:nvSpPr>
              <p:cNvPr id="54" name="Forma 53"/>
              <p:cNvSpPr/>
              <p:nvPr/>
            </p:nvSpPr>
            <p:spPr>
              <a:xfrm rot="-2400000">
                <a:off x="5577886" y="3894475"/>
                <a:ext cx="90434" cy="37856"/>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5" name="!!Capilar B"/>
          <p:cNvGrpSpPr/>
          <p:nvPr/>
        </p:nvGrpSpPr>
        <p:grpSpPr>
          <a:xfrm>
            <a:off x="365760" y="5074920"/>
            <a:ext cx="6949440" cy="411480"/>
            <a:chOff x="365760" y="5074920"/>
            <a:chExt cx="6949440" cy="411480"/>
          </a:xfrm>
        </p:grpSpPr>
        <p:sp>
          <p:nvSpPr>
            <p:cNvPr id="56" name="Forma 55"/>
            <p:cNvSpPr/>
            <p:nvPr/>
          </p:nvSpPr>
          <p:spPr>
            <a:xfrm>
              <a:off x="365760" y="5074920"/>
              <a:ext cx="6949440" cy="41148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7" name="Forma 56"/>
            <p:cNvSpPr/>
            <p:nvPr/>
          </p:nvSpPr>
          <p:spPr>
            <a:xfrm>
              <a:off x="427482" y="5148986"/>
              <a:ext cx="6825996" cy="263347"/>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8" name="Eritrocito"/>
            <p:cNvSpPr/>
            <p:nvPr/>
          </p:nvSpPr>
          <p:spPr>
            <a:xfrm>
              <a:off x="850872" y="527529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2"/>
            <p:cNvSpPr/>
            <p:nvPr/>
          </p:nvSpPr>
          <p:spPr>
            <a:xfrm>
              <a:off x="1456348" y="5186521"/>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3"/>
            <p:cNvSpPr/>
            <p:nvPr/>
          </p:nvSpPr>
          <p:spPr>
            <a:xfrm>
              <a:off x="2696775" y="5253499"/>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4"/>
            <p:cNvSpPr/>
            <p:nvPr/>
          </p:nvSpPr>
          <p:spPr>
            <a:xfrm>
              <a:off x="3579816" y="5209488"/>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5"/>
            <p:cNvSpPr/>
            <p:nvPr/>
          </p:nvSpPr>
          <p:spPr>
            <a:xfrm>
              <a:off x="4501436" y="5240212"/>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3" name="Eritrocito_6"/>
            <p:cNvSpPr/>
            <p:nvPr/>
          </p:nvSpPr>
          <p:spPr>
            <a:xfrm>
              <a:off x="5437828" y="519408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4" name="Eritrocito_7"/>
            <p:cNvSpPr/>
            <p:nvPr/>
          </p:nvSpPr>
          <p:spPr>
            <a:xfrm>
              <a:off x="6326632" y="521827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5" name="!!Progreso B"/>
          <p:cNvGrpSpPr/>
          <p:nvPr/>
        </p:nvGrpSpPr>
        <p:grpSpPr>
          <a:xfrm>
            <a:off x="365760" y="5833872"/>
            <a:ext cx="11448288" cy="457200"/>
            <a:chOff x="365760" y="5833872"/>
            <a:chExt cx="11448288" cy="457200"/>
          </a:xfrm>
        </p:grpSpPr>
        <p:sp>
          <p:nvSpPr>
            <p:cNvPr id="66" name="Forma 65"/>
            <p:cNvSpPr/>
            <p:nvPr/>
          </p:nvSpPr>
          <p:spPr>
            <a:xfrm>
              <a:off x="365760" y="5833872"/>
              <a:ext cx="1572768" cy="457200"/>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Adipocito funcional</a:t>
              </a:r>
              <a:endParaRPr lang="es-AR" sz="1150" dirty="0">
                <a:latin typeface="Fira Sans Condensed"/>
              </a:endParaRPr>
            </a:p>
          </p:txBody>
        </p:sp>
        <p:sp>
          <p:nvSpPr>
            <p:cNvPr id="67" name="Forma 66"/>
            <p:cNvSpPr/>
            <p:nvPr/>
          </p:nvSpPr>
          <p:spPr>
            <a:xfrm>
              <a:off x="20116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Expansión</a:t>
              </a:r>
              <a:endParaRPr lang="es-AR" sz="1150" dirty="0">
                <a:latin typeface="Fira Sans Condensed"/>
              </a:endParaRPr>
            </a:p>
          </p:txBody>
        </p:sp>
        <p:sp>
          <p:nvSpPr>
            <p:cNvPr id="68" name="Flecha 67_2"/>
            <p:cNvSpPr/>
            <p:nvPr/>
          </p:nvSpPr>
          <p:spPr>
            <a:xfrm>
              <a:off x="19385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69" name="Forma 69"/>
            <p:cNvSpPr/>
            <p:nvPr/>
          </p:nvSpPr>
          <p:spPr>
            <a:xfrm>
              <a:off x="365760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Hipertrofia</a:t>
              </a:r>
              <a:endParaRPr lang="es-AR" sz="1150" dirty="0">
                <a:latin typeface="Fira Sans Condensed"/>
              </a:endParaRPr>
            </a:p>
          </p:txBody>
        </p:sp>
        <p:sp>
          <p:nvSpPr>
            <p:cNvPr id="70" name="Flecha 70_2"/>
            <p:cNvSpPr/>
            <p:nvPr/>
          </p:nvSpPr>
          <p:spPr>
            <a:xfrm>
              <a:off x="358444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1" name="Forma 72"/>
            <p:cNvSpPr/>
            <p:nvPr/>
          </p:nvSpPr>
          <p:spPr>
            <a:xfrm>
              <a:off x="530352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Hipoxia</a:t>
              </a:r>
              <a:endParaRPr lang="es-AR" sz="1150" dirty="0">
                <a:latin typeface="Fira Sans Condensed"/>
              </a:endParaRPr>
            </a:p>
          </p:txBody>
        </p:sp>
        <p:sp>
          <p:nvSpPr>
            <p:cNvPr id="72" name="Flecha 73_2"/>
            <p:cNvSpPr/>
            <p:nvPr/>
          </p:nvSpPr>
          <p:spPr>
            <a:xfrm>
              <a:off x="523036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3" name="Forma 75"/>
            <p:cNvSpPr/>
            <p:nvPr/>
          </p:nvSpPr>
          <p:spPr>
            <a:xfrm>
              <a:off x="694944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74" name="Flecha 76_2"/>
            <p:cNvSpPr/>
            <p:nvPr/>
          </p:nvSpPr>
          <p:spPr>
            <a:xfrm>
              <a:off x="687628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5" name="Forma 78"/>
            <p:cNvSpPr/>
            <p:nvPr/>
          </p:nvSpPr>
          <p:spPr>
            <a:xfrm>
              <a:off x="859536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Resistencia insulínica</a:t>
              </a:r>
              <a:endParaRPr lang="es-AR" sz="1150" dirty="0">
                <a:latin typeface="Fira Sans Condensed"/>
              </a:endParaRPr>
            </a:p>
          </p:txBody>
        </p:sp>
        <p:sp>
          <p:nvSpPr>
            <p:cNvPr id="76" name="Flecha 79_2"/>
            <p:cNvSpPr/>
            <p:nvPr/>
          </p:nvSpPr>
          <p:spPr>
            <a:xfrm>
              <a:off x="852220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7" name="Forma 81"/>
            <p:cNvSpPr/>
            <p:nvPr/>
          </p:nvSpPr>
          <p:spPr>
            <a:xfrm>
              <a:off x="102412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Sistémico</a:t>
              </a:r>
              <a:endParaRPr lang="es-AR" sz="1150" dirty="0">
                <a:latin typeface="Fira Sans Condensed"/>
              </a:endParaRPr>
            </a:p>
          </p:txBody>
        </p:sp>
        <p:sp>
          <p:nvSpPr>
            <p:cNvPr id="78" name="Flecha 82_2"/>
            <p:cNvSpPr/>
            <p:nvPr/>
          </p:nvSpPr>
          <p:spPr>
            <a:xfrm>
              <a:off x="101681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grpSp>
      <p:grpSp>
        <p:nvGrpSpPr>
          <p:cNvPr id="79" name="!!Panel B"/>
          <p:cNvGrpSpPr/>
          <p:nvPr/>
        </p:nvGrpSpPr>
        <p:grpSpPr>
          <a:xfrm>
            <a:off x="7818120" y="1051560"/>
            <a:ext cx="4023360" cy="4572000"/>
            <a:chOff x="7818120" y="1051560"/>
            <a:chExt cx="4023360" cy="4572000"/>
          </a:xfrm>
        </p:grpSpPr>
        <p:sp>
          <p:nvSpPr>
            <p:cNvPr id="80" name="Forma 85"/>
            <p:cNvSpPr/>
            <p:nvPr/>
          </p:nvSpPr>
          <p:spPr>
            <a:xfrm>
              <a:off x="7818120" y="1252728"/>
              <a:ext cx="4023360" cy="4370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Adipocitos de tamaño moderado.</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Capilares</a:t>
              </a:r>
              <a:r>
                <a:rPr lang="es-AR" sz="1450" dirty="0">
                  <a:solidFill>
                    <a:srgbClr val="1E1E1E"/>
                  </a:solidFill>
                  <a:latin typeface="Fira Sans Condensed"/>
                  <a:ea typeface="Fira Sans Condensed"/>
                  <a:cs typeface="Fira Sans Condensed"/>
                  <a:sym typeface="Fira Sans Condensed"/>
                </a:rPr>
                <a:t> suficientes: buena oxigenación.</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Insulina </a:t>
              </a:r>
              <a:r>
                <a:rPr lang="es-AR" sz="1450" b="1" dirty="0">
                  <a:solidFill>
                    <a:srgbClr val="1E1E1E"/>
                  </a:solidFill>
                  <a:latin typeface="Fira Sans Condensed"/>
                  <a:ea typeface="Fira Sans Condensed"/>
                  <a:cs typeface="Fira Sans Condensed"/>
                  <a:sym typeface="Fira Sans Condensed"/>
                </a:rPr>
                <a:t>frena la lipólisis</a:t>
              </a:r>
              <a:r>
                <a:rPr lang="es-AR" sz="1450" dirty="0">
                  <a:solidFill>
                    <a:srgbClr val="1E1E1E"/>
                  </a:solidFill>
                  <a:latin typeface="Fira Sans Condensed"/>
                  <a:ea typeface="Fira Sans Condensed"/>
                  <a:cs typeface="Fira Sans Condensed"/>
                  <a:sym typeface="Fira Sans Condensed"/>
                </a:rPr>
                <a:t>; adiponectina adecuada.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Macrófagos residentes de </a:t>
              </a:r>
              <a:r>
                <a:rPr lang="es-AR" sz="1450" b="1" dirty="0">
                  <a:solidFill>
                    <a:srgbClr val="1E1E1E"/>
                  </a:solidFill>
                  <a:latin typeface="Fira Sans Condensed"/>
                  <a:ea typeface="Fira Sans Condensed"/>
                  <a:cs typeface="Fira Sans Condensed"/>
                  <a:sym typeface="Fira Sans Condensed"/>
                </a:rPr>
                <a:t>remodelación</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81" name="Forma 86"/>
            <p:cNvSpPr/>
            <p:nvPr/>
          </p:nvSpPr>
          <p:spPr>
            <a:xfrm>
              <a:off x="7955280" y="1051560"/>
              <a:ext cx="1251720" cy="384048"/>
            </a:xfrm>
            <a:prstGeom prst="rect">
              <a:avLst/>
            </a:prstGeom>
            <a:solidFill>
              <a:srgbClr val="92D05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FUNCIONAL</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B · 1 · TEJIDO ADIPOSO FUNCIONAL</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8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133</a:t>
            </a:r>
            <a:endParaRPr lang="es-AR" sz="1000" dirty="0">
              <a:latin typeface="Fira Sans Condensed"/>
            </a:endParaRP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Adipocito B 0"/>
          <p:cNvGrpSpPr/>
          <p:nvPr/>
        </p:nvGrpSpPr>
        <p:grpSpPr>
          <a:xfrm>
            <a:off x="685800" y="1143000"/>
            <a:ext cx="1325880" cy="1325880"/>
            <a:chOff x="685800" y="1143000"/>
            <a:chExt cx="1325880" cy="1325880"/>
          </a:xfrm>
        </p:grpSpPr>
        <p:sp>
          <p:nvSpPr>
            <p:cNvPr id="8" name="Forma 7"/>
            <p:cNvSpPr/>
            <p:nvPr/>
          </p:nvSpPr>
          <p:spPr>
            <a:xfrm>
              <a:off x="685800" y="114300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752094" y="120929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640434" y="122255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791870" y="2124151"/>
              <a:ext cx="132588" cy="66294"/>
              <a:chOff x="791870" y="2124151"/>
              <a:chExt cx="132588" cy="66294"/>
            </a:xfrm>
          </p:grpSpPr>
          <p:sp>
            <p:nvSpPr>
              <p:cNvPr id="12" name="Forma 11"/>
              <p:cNvSpPr/>
              <p:nvPr/>
            </p:nvSpPr>
            <p:spPr>
              <a:xfrm rot="-2400000">
                <a:off x="791870" y="212415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801152" y="2133432"/>
                <a:ext cx="114026" cy="47732"/>
              </a:xfrm>
              <a:prstGeom prst="ellipse">
                <a:avLst/>
              </a:prstGeom>
              <a:solidFill>
                <a:srgbClr val="F8D8B4"/>
              </a:solidFill>
              <a:ln w="9525" cap="rnd">
                <a:solidFill>
                  <a:srgbClr val="B2732B"/>
                </a:solidFill>
                <a:round/>
              </a:ln>
            </p:spPr>
          </p:sp>
          <p:sp>
            <p:nvSpPr>
              <p:cNvPr id="14" name="Forma 13"/>
              <p:cNvSpPr/>
              <p:nvPr/>
            </p:nvSpPr>
            <p:spPr>
              <a:xfrm rot="-2400000">
                <a:off x="801152" y="213343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Adipocito B 1"/>
          <p:cNvGrpSpPr/>
          <p:nvPr/>
        </p:nvGrpSpPr>
        <p:grpSpPr>
          <a:xfrm>
            <a:off x="2606040" y="1097280"/>
            <a:ext cx="1325880" cy="1325880"/>
            <a:chOff x="2606040" y="1097280"/>
            <a:chExt cx="1325880" cy="1325880"/>
          </a:xfrm>
        </p:grpSpPr>
        <p:sp>
          <p:nvSpPr>
            <p:cNvPr id="16" name="Forma 15"/>
            <p:cNvSpPr/>
            <p:nvPr/>
          </p:nvSpPr>
          <p:spPr>
            <a:xfrm>
              <a:off x="2606040" y="109728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7" name="Gota lipídica_2"/>
            <p:cNvSpPr/>
            <p:nvPr/>
          </p:nvSpPr>
          <p:spPr>
            <a:xfrm>
              <a:off x="2672334" y="116357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8" name="Forma 17"/>
            <p:cNvSpPr/>
            <p:nvPr/>
          </p:nvSpPr>
          <p:spPr>
            <a:xfrm rot="2400000">
              <a:off x="3560674" y="117683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9" name="Mitocondria_2"/>
            <p:cNvGrpSpPr/>
            <p:nvPr/>
          </p:nvGrpSpPr>
          <p:grpSpPr>
            <a:xfrm>
              <a:off x="2712110" y="2078431"/>
              <a:ext cx="132588" cy="66294"/>
              <a:chOff x="2712110" y="2078431"/>
              <a:chExt cx="132588" cy="66294"/>
            </a:xfrm>
          </p:grpSpPr>
          <p:sp>
            <p:nvSpPr>
              <p:cNvPr id="20" name="Forma 19"/>
              <p:cNvSpPr/>
              <p:nvPr/>
            </p:nvSpPr>
            <p:spPr>
              <a:xfrm rot="-2400000">
                <a:off x="2712110" y="207843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2400000">
                <a:off x="2721392" y="2087712"/>
                <a:ext cx="114026" cy="47732"/>
              </a:xfrm>
              <a:prstGeom prst="ellipse">
                <a:avLst/>
              </a:prstGeom>
              <a:solidFill>
                <a:srgbClr val="F8D8B4"/>
              </a:solidFill>
              <a:ln w="9525" cap="rnd">
                <a:solidFill>
                  <a:srgbClr val="B2732B"/>
                </a:solidFill>
                <a:round/>
              </a:ln>
            </p:spPr>
          </p:sp>
          <p:sp>
            <p:nvSpPr>
              <p:cNvPr id="22" name="Forma 21"/>
              <p:cNvSpPr/>
              <p:nvPr/>
            </p:nvSpPr>
            <p:spPr>
              <a:xfrm rot="-2400000">
                <a:off x="2721392" y="208771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3" name="!!Adipocito B 2"/>
          <p:cNvGrpSpPr/>
          <p:nvPr/>
        </p:nvGrpSpPr>
        <p:grpSpPr>
          <a:xfrm>
            <a:off x="4526280" y="1188720"/>
            <a:ext cx="1325880" cy="1325880"/>
            <a:chOff x="4526280" y="1188720"/>
            <a:chExt cx="1325880" cy="1325880"/>
          </a:xfrm>
        </p:grpSpPr>
        <p:sp>
          <p:nvSpPr>
            <p:cNvPr id="24" name="Forma 23"/>
            <p:cNvSpPr/>
            <p:nvPr/>
          </p:nvSpPr>
          <p:spPr>
            <a:xfrm>
              <a:off x="4526280" y="118872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5" name="Gota lipídica_3"/>
            <p:cNvSpPr/>
            <p:nvPr/>
          </p:nvSpPr>
          <p:spPr>
            <a:xfrm>
              <a:off x="4592574" y="125501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6" name="Forma 25"/>
            <p:cNvSpPr/>
            <p:nvPr/>
          </p:nvSpPr>
          <p:spPr>
            <a:xfrm rot="2400000">
              <a:off x="5480914" y="126827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7" name="Mitocondria_3"/>
            <p:cNvGrpSpPr/>
            <p:nvPr/>
          </p:nvGrpSpPr>
          <p:grpSpPr>
            <a:xfrm>
              <a:off x="4632350" y="2169871"/>
              <a:ext cx="132588" cy="66294"/>
              <a:chOff x="4632350" y="2169871"/>
              <a:chExt cx="132588" cy="66294"/>
            </a:xfrm>
          </p:grpSpPr>
          <p:sp>
            <p:nvSpPr>
              <p:cNvPr id="28" name="Forma 27"/>
              <p:cNvSpPr/>
              <p:nvPr/>
            </p:nvSpPr>
            <p:spPr>
              <a:xfrm rot="-2400000">
                <a:off x="4632350" y="216987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2400000">
                <a:off x="4641632" y="2179152"/>
                <a:ext cx="114026" cy="47732"/>
              </a:xfrm>
              <a:prstGeom prst="ellipse">
                <a:avLst/>
              </a:prstGeom>
              <a:solidFill>
                <a:srgbClr val="F8D8B4"/>
              </a:solidFill>
              <a:ln w="9525" cap="rnd">
                <a:solidFill>
                  <a:srgbClr val="B2732B"/>
                </a:solidFill>
                <a:round/>
              </a:ln>
            </p:spPr>
          </p:sp>
          <p:sp>
            <p:nvSpPr>
              <p:cNvPr id="30" name="Forma 29"/>
              <p:cNvSpPr/>
              <p:nvPr/>
            </p:nvSpPr>
            <p:spPr>
              <a:xfrm rot="-2400000">
                <a:off x="4641632" y="217915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Adipocito B 3"/>
          <p:cNvGrpSpPr/>
          <p:nvPr/>
        </p:nvGrpSpPr>
        <p:grpSpPr>
          <a:xfrm>
            <a:off x="1325880" y="2971800"/>
            <a:ext cx="1325880" cy="1325880"/>
            <a:chOff x="1325880" y="2971800"/>
            <a:chExt cx="1325880" cy="1325880"/>
          </a:xfrm>
        </p:grpSpPr>
        <p:sp>
          <p:nvSpPr>
            <p:cNvPr id="32" name="Forma 31"/>
            <p:cNvSpPr/>
            <p:nvPr/>
          </p:nvSpPr>
          <p:spPr>
            <a:xfrm>
              <a:off x="1325880" y="297180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3" name="Gota lipídica_4"/>
            <p:cNvSpPr/>
            <p:nvPr/>
          </p:nvSpPr>
          <p:spPr>
            <a:xfrm>
              <a:off x="1392174" y="303809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4" name="Forma 33"/>
            <p:cNvSpPr/>
            <p:nvPr/>
          </p:nvSpPr>
          <p:spPr>
            <a:xfrm rot="2400000">
              <a:off x="2280514" y="305135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5" name="Mitocondria_4"/>
            <p:cNvGrpSpPr/>
            <p:nvPr/>
          </p:nvGrpSpPr>
          <p:grpSpPr>
            <a:xfrm>
              <a:off x="1431950" y="3952951"/>
              <a:ext cx="132588" cy="66294"/>
              <a:chOff x="1431950" y="3952951"/>
              <a:chExt cx="132588" cy="66294"/>
            </a:xfrm>
          </p:grpSpPr>
          <p:sp>
            <p:nvSpPr>
              <p:cNvPr id="36" name="Forma 35"/>
              <p:cNvSpPr/>
              <p:nvPr/>
            </p:nvSpPr>
            <p:spPr>
              <a:xfrm rot="-2400000">
                <a:off x="1431950" y="395295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7" name="Forma 36"/>
              <p:cNvSpPr/>
              <p:nvPr/>
            </p:nvSpPr>
            <p:spPr>
              <a:xfrm rot="-2400000">
                <a:off x="1441232" y="3962232"/>
                <a:ext cx="114026" cy="47732"/>
              </a:xfrm>
              <a:prstGeom prst="ellipse">
                <a:avLst/>
              </a:prstGeom>
              <a:solidFill>
                <a:srgbClr val="F8D8B4"/>
              </a:solidFill>
              <a:ln w="9525" cap="rnd">
                <a:solidFill>
                  <a:srgbClr val="B2732B"/>
                </a:solidFill>
                <a:round/>
              </a:ln>
            </p:spPr>
          </p:sp>
          <p:sp>
            <p:nvSpPr>
              <p:cNvPr id="38" name="Forma 37"/>
              <p:cNvSpPr/>
              <p:nvPr/>
            </p:nvSpPr>
            <p:spPr>
              <a:xfrm rot="-2400000">
                <a:off x="1441232" y="396223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9" name="!!Adipocito B 4"/>
          <p:cNvGrpSpPr/>
          <p:nvPr/>
        </p:nvGrpSpPr>
        <p:grpSpPr>
          <a:xfrm>
            <a:off x="3337560" y="3017520"/>
            <a:ext cx="1325880" cy="1325880"/>
            <a:chOff x="3337560" y="3017520"/>
            <a:chExt cx="1325880" cy="1325880"/>
          </a:xfrm>
        </p:grpSpPr>
        <p:sp>
          <p:nvSpPr>
            <p:cNvPr id="40" name="Forma 39"/>
            <p:cNvSpPr/>
            <p:nvPr/>
          </p:nvSpPr>
          <p:spPr>
            <a:xfrm>
              <a:off x="3337560" y="301752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1" name="Gota lipídica_5"/>
            <p:cNvSpPr/>
            <p:nvPr/>
          </p:nvSpPr>
          <p:spPr>
            <a:xfrm>
              <a:off x="3403854" y="308381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2" name="Forma 41"/>
            <p:cNvSpPr/>
            <p:nvPr/>
          </p:nvSpPr>
          <p:spPr>
            <a:xfrm rot="2400000">
              <a:off x="4292194" y="309707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3" name="Mitocondria_5"/>
            <p:cNvGrpSpPr/>
            <p:nvPr/>
          </p:nvGrpSpPr>
          <p:grpSpPr>
            <a:xfrm>
              <a:off x="3443630" y="3998671"/>
              <a:ext cx="132588" cy="66294"/>
              <a:chOff x="3443630" y="3998671"/>
              <a:chExt cx="132588" cy="66294"/>
            </a:xfrm>
          </p:grpSpPr>
          <p:sp>
            <p:nvSpPr>
              <p:cNvPr id="44" name="Forma 43"/>
              <p:cNvSpPr/>
              <p:nvPr/>
            </p:nvSpPr>
            <p:spPr>
              <a:xfrm rot="-2400000">
                <a:off x="3443630" y="399867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5" name="Forma 44"/>
              <p:cNvSpPr/>
              <p:nvPr/>
            </p:nvSpPr>
            <p:spPr>
              <a:xfrm rot="-2400000">
                <a:off x="3452912" y="4007952"/>
                <a:ext cx="114026" cy="47732"/>
              </a:xfrm>
              <a:prstGeom prst="ellipse">
                <a:avLst/>
              </a:prstGeom>
              <a:solidFill>
                <a:srgbClr val="F8D8B4"/>
              </a:solidFill>
              <a:ln w="9525" cap="rnd">
                <a:solidFill>
                  <a:srgbClr val="B2732B"/>
                </a:solidFill>
                <a:round/>
              </a:ln>
            </p:spPr>
          </p:sp>
          <p:sp>
            <p:nvSpPr>
              <p:cNvPr id="46" name="Forma 45"/>
              <p:cNvSpPr/>
              <p:nvPr/>
            </p:nvSpPr>
            <p:spPr>
              <a:xfrm rot="-2400000">
                <a:off x="3452912" y="400795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7" name="!!Adipocito B 5"/>
          <p:cNvGrpSpPr/>
          <p:nvPr/>
        </p:nvGrpSpPr>
        <p:grpSpPr>
          <a:xfrm>
            <a:off x="5349240" y="2971800"/>
            <a:ext cx="1325880" cy="1325880"/>
            <a:chOff x="5349240" y="2971800"/>
            <a:chExt cx="1325880" cy="1325880"/>
          </a:xfrm>
        </p:grpSpPr>
        <p:sp>
          <p:nvSpPr>
            <p:cNvPr id="48" name="Forma 47"/>
            <p:cNvSpPr/>
            <p:nvPr/>
          </p:nvSpPr>
          <p:spPr>
            <a:xfrm>
              <a:off x="5349240" y="2971800"/>
              <a:ext cx="1325880" cy="13258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9" name="Gota lipídica_6"/>
            <p:cNvSpPr/>
            <p:nvPr/>
          </p:nvSpPr>
          <p:spPr>
            <a:xfrm>
              <a:off x="5415534" y="3038094"/>
              <a:ext cx="1193292" cy="119329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0" name="Forma 49"/>
            <p:cNvSpPr/>
            <p:nvPr/>
          </p:nvSpPr>
          <p:spPr>
            <a:xfrm rot="2400000">
              <a:off x="6303874" y="3051353"/>
              <a:ext cx="291694" cy="159106"/>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1" name="Mitocondria_6"/>
            <p:cNvGrpSpPr/>
            <p:nvPr/>
          </p:nvGrpSpPr>
          <p:grpSpPr>
            <a:xfrm>
              <a:off x="5455310" y="3952951"/>
              <a:ext cx="132588" cy="66294"/>
              <a:chOff x="5455310" y="3952951"/>
              <a:chExt cx="132588" cy="66294"/>
            </a:xfrm>
          </p:grpSpPr>
          <p:sp>
            <p:nvSpPr>
              <p:cNvPr id="52" name="Forma 51"/>
              <p:cNvSpPr/>
              <p:nvPr/>
            </p:nvSpPr>
            <p:spPr>
              <a:xfrm rot="-2400000">
                <a:off x="5455310" y="3952951"/>
                <a:ext cx="132588" cy="6629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3" name="Forma 52"/>
              <p:cNvSpPr/>
              <p:nvPr/>
            </p:nvSpPr>
            <p:spPr>
              <a:xfrm rot="-2400000">
                <a:off x="5464592" y="3962232"/>
                <a:ext cx="114026" cy="47732"/>
              </a:xfrm>
              <a:prstGeom prst="ellipse">
                <a:avLst/>
              </a:prstGeom>
              <a:solidFill>
                <a:srgbClr val="F8D8B4"/>
              </a:solidFill>
              <a:ln w="9525" cap="rnd">
                <a:solidFill>
                  <a:srgbClr val="B2732B"/>
                </a:solidFill>
                <a:round/>
              </a:ln>
            </p:spPr>
          </p:sp>
          <p:sp>
            <p:nvSpPr>
              <p:cNvPr id="54" name="Forma 53"/>
              <p:cNvSpPr/>
              <p:nvPr/>
            </p:nvSpPr>
            <p:spPr>
              <a:xfrm rot="-2400000">
                <a:off x="5464592" y="3962232"/>
                <a:ext cx="114026" cy="47732"/>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5" name="!!Capilar B"/>
          <p:cNvGrpSpPr/>
          <p:nvPr/>
        </p:nvGrpSpPr>
        <p:grpSpPr>
          <a:xfrm>
            <a:off x="365760" y="5074920"/>
            <a:ext cx="6949440" cy="411480"/>
            <a:chOff x="365760" y="5074920"/>
            <a:chExt cx="6949440" cy="411480"/>
          </a:xfrm>
        </p:grpSpPr>
        <p:sp>
          <p:nvSpPr>
            <p:cNvPr id="56" name="Forma 55"/>
            <p:cNvSpPr/>
            <p:nvPr/>
          </p:nvSpPr>
          <p:spPr>
            <a:xfrm>
              <a:off x="365760" y="5074920"/>
              <a:ext cx="6949440" cy="41148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7" name="Forma 56"/>
            <p:cNvSpPr/>
            <p:nvPr/>
          </p:nvSpPr>
          <p:spPr>
            <a:xfrm>
              <a:off x="427482" y="5148986"/>
              <a:ext cx="6825996" cy="263347"/>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8" name="Eritrocito"/>
            <p:cNvSpPr/>
            <p:nvPr/>
          </p:nvSpPr>
          <p:spPr>
            <a:xfrm>
              <a:off x="850872" y="527529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2"/>
            <p:cNvSpPr/>
            <p:nvPr/>
          </p:nvSpPr>
          <p:spPr>
            <a:xfrm>
              <a:off x="1456348" y="5186521"/>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3"/>
            <p:cNvSpPr/>
            <p:nvPr/>
          </p:nvSpPr>
          <p:spPr>
            <a:xfrm>
              <a:off x="2696775" y="5253499"/>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4"/>
            <p:cNvSpPr/>
            <p:nvPr/>
          </p:nvSpPr>
          <p:spPr>
            <a:xfrm>
              <a:off x="3579816" y="5209488"/>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5"/>
            <p:cNvSpPr/>
            <p:nvPr/>
          </p:nvSpPr>
          <p:spPr>
            <a:xfrm>
              <a:off x="4501436" y="5240212"/>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3" name="Eritrocito_6"/>
            <p:cNvSpPr/>
            <p:nvPr/>
          </p:nvSpPr>
          <p:spPr>
            <a:xfrm>
              <a:off x="5437828" y="519408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4" name="Eritrocito_7"/>
            <p:cNvSpPr/>
            <p:nvPr/>
          </p:nvSpPr>
          <p:spPr>
            <a:xfrm>
              <a:off x="6326632" y="521827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5" name="!!Progreso B"/>
          <p:cNvGrpSpPr/>
          <p:nvPr/>
        </p:nvGrpSpPr>
        <p:grpSpPr>
          <a:xfrm>
            <a:off x="365760" y="5833872"/>
            <a:ext cx="11448288" cy="457200"/>
            <a:chOff x="365760" y="5833872"/>
            <a:chExt cx="11448288" cy="457200"/>
          </a:xfrm>
        </p:grpSpPr>
        <p:sp>
          <p:nvSpPr>
            <p:cNvPr id="66" name="Forma 65"/>
            <p:cNvSpPr/>
            <p:nvPr/>
          </p:nvSpPr>
          <p:spPr>
            <a:xfrm>
              <a:off x="36576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Adipocito funcional</a:t>
              </a:r>
              <a:endParaRPr lang="es-AR" sz="1150" dirty="0">
                <a:latin typeface="Fira Sans Condensed"/>
              </a:endParaRPr>
            </a:p>
          </p:txBody>
        </p:sp>
        <p:sp>
          <p:nvSpPr>
            <p:cNvPr id="67" name="Forma 66"/>
            <p:cNvSpPr/>
            <p:nvPr/>
          </p:nvSpPr>
          <p:spPr>
            <a:xfrm>
              <a:off x="2011680" y="5833872"/>
              <a:ext cx="1572768" cy="457200"/>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Expansión</a:t>
              </a:r>
              <a:endParaRPr lang="es-AR" sz="1150" dirty="0">
                <a:latin typeface="Fira Sans Condensed"/>
              </a:endParaRPr>
            </a:p>
          </p:txBody>
        </p:sp>
        <p:sp>
          <p:nvSpPr>
            <p:cNvPr id="68" name="Flecha 67_2"/>
            <p:cNvSpPr/>
            <p:nvPr/>
          </p:nvSpPr>
          <p:spPr>
            <a:xfrm>
              <a:off x="19385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69" name="Forma 69"/>
            <p:cNvSpPr/>
            <p:nvPr/>
          </p:nvSpPr>
          <p:spPr>
            <a:xfrm>
              <a:off x="365760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Hipertrofia</a:t>
              </a:r>
              <a:endParaRPr lang="es-AR" sz="1150" dirty="0">
                <a:latin typeface="Fira Sans Condensed"/>
              </a:endParaRPr>
            </a:p>
          </p:txBody>
        </p:sp>
        <p:sp>
          <p:nvSpPr>
            <p:cNvPr id="70" name="Flecha 70_2"/>
            <p:cNvSpPr/>
            <p:nvPr/>
          </p:nvSpPr>
          <p:spPr>
            <a:xfrm>
              <a:off x="358444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1" name="Forma 72"/>
            <p:cNvSpPr/>
            <p:nvPr/>
          </p:nvSpPr>
          <p:spPr>
            <a:xfrm>
              <a:off x="530352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Hipoxia</a:t>
              </a:r>
              <a:endParaRPr lang="es-AR" sz="1150" dirty="0">
                <a:latin typeface="Fira Sans Condensed"/>
              </a:endParaRPr>
            </a:p>
          </p:txBody>
        </p:sp>
        <p:sp>
          <p:nvSpPr>
            <p:cNvPr id="72" name="Flecha 73_2"/>
            <p:cNvSpPr/>
            <p:nvPr/>
          </p:nvSpPr>
          <p:spPr>
            <a:xfrm>
              <a:off x="523036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3" name="Forma 75"/>
            <p:cNvSpPr/>
            <p:nvPr/>
          </p:nvSpPr>
          <p:spPr>
            <a:xfrm>
              <a:off x="694944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74" name="Flecha 76_2"/>
            <p:cNvSpPr/>
            <p:nvPr/>
          </p:nvSpPr>
          <p:spPr>
            <a:xfrm>
              <a:off x="687628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5" name="Forma 78"/>
            <p:cNvSpPr/>
            <p:nvPr/>
          </p:nvSpPr>
          <p:spPr>
            <a:xfrm>
              <a:off x="859536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Resistencia insulínica</a:t>
              </a:r>
              <a:endParaRPr lang="es-AR" sz="1150" dirty="0">
                <a:latin typeface="Fira Sans Condensed"/>
              </a:endParaRPr>
            </a:p>
          </p:txBody>
        </p:sp>
        <p:sp>
          <p:nvSpPr>
            <p:cNvPr id="76" name="Flecha 79_2"/>
            <p:cNvSpPr/>
            <p:nvPr/>
          </p:nvSpPr>
          <p:spPr>
            <a:xfrm>
              <a:off x="852220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7" name="Forma 81"/>
            <p:cNvSpPr/>
            <p:nvPr/>
          </p:nvSpPr>
          <p:spPr>
            <a:xfrm>
              <a:off x="102412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Sistémico</a:t>
              </a:r>
              <a:endParaRPr lang="es-AR" sz="1150" dirty="0">
                <a:latin typeface="Fira Sans Condensed"/>
              </a:endParaRPr>
            </a:p>
          </p:txBody>
        </p:sp>
        <p:sp>
          <p:nvSpPr>
            <p:cNvPr id="78" name="Flecha 82_2"/>
            <p:cNvSpPr/>
            <p:nvPr/>
          </p:nvSpPr>
          <p:spPr>
            <a:xfrm>
              <a:off x="101681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grpSp>
      <p:grpSp>
        <p:nvGrpSpPr>
          <p:cNvPr id="79" name="!!Panel B"/>
          <p:cNvGrpSpPr/>
          <p:nvPr/>
        </p:nvGrpSpPr>
        <p:grpSpPr>
          <a:xfrm>
            <a:off x="7818120" y="1051560"/>
            <a:ext cx="4023360" cy="4572000"/>
            <a:chOff x="7818120" y="1051560"/>
            <a:chExt cx="4023360" cy="4572000"/>
          </a:xfrm>
        </p:grpSpPr>
        <p:sp>
          <p:nvSpPr>
            <p:cNvPr id="80" name="Forma 85"/>
            <p:cNvSpPr/>
            <p:nvPr/>
          </p:nvSpPr>
          <p:spPr>
            <a:xfrm>
              <a:off x="7818120" y="1252728"/>
              <a:ext cx="4023360" cy="4370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Balance energético </a:t>
              </a:r>
              <a:r>
                <a:rPr lang="es-AR" sz="1450" b="1" dirty="0">
                  <a:solidFill>
                    <a:srgbClr val="1E1E1E"/>
                  </a:solidFill>
                  <a:latin typeface="Fira Sans Condensed"/>
                  <a:ea typeface="Fira Sans Condensed"/>
                  <a:cs typeface="Fira Sans Condensed"/>
                  <a:sym typeface="Fira Sans Condensed"/>
                </a:rPr>
                <a:t>positivo sostenido</a:t>
              </a:r>
              <a:r>
                <a:rPr lang="es-AR" sz="1450" dirty="0">
                  <a:solidFill>
                    <a:srgbClr val="1E1E1E"/>
                  </a:solidFill>
                  <a:latin typeface="Fira Sans Condensed"/>
                  <a:ea typeface="Fira Sans Condensed"/>
                  <a:cs typeface="Fira Sans Condensed"/>
                  <a:sym typeface="Fira Sans Condensed"/>
                </a:rPr>
                <a:t>: más TAG por célula.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Si hay </a:t>
              </a:r>
              <a:r>
                <a:rPr lang="es-AR" sz="1450" b="1" dirty="0">
                  <a:solidFill>
                    <a:srgbClr val="1E1E1E"/>
                  </a:solidFill>
                  <a:latin typeface="Fira Sans Condensed"/>
                  <a:ea typeface="Fira Sans Condensed"/>
                  <a:cs typeface="Fira Sans Condensed"/>
                  <a:sym typeface="Fira Sans Condensed"/>
                </a:rPr>
                <a:t>reclutamiento</a:t>
              </a:r>
              <a:r>
                <a:rPr lang="es-AR" sz="1450" dirty="0">
                  <a:solidFill>
                    <a:srgbClr val="1E1E1E"/>
                  </a:solidFill>
                  <a:latin typeface="Fira Sans Condensed"/>
                  <a:ea typeface="Fira Sans Condensed"/>
                  <a:cs typeface="Fira Sans Condensed"/>
                  <a:sym typeface="Fira Sans Condensed"/>
                </a:rPr>
                <a:t> (hiperplasia) y </a:t>
              </a:r>
              <a:r>
                <a:rPr lang="es-AR" sz="1450" b="1" dirty="0">
                  <a:solidFill>
                    <a:srgbClr val="1E1E1E"/>
                  </a:solidFill>
                  <a:latin typeface="Fira Sans Condensed"/>
                  <a:ea typeface="Fira Sans Condensed"/>
                  <a:cs typeface="Fira Sans Condensed"/>
                  <a:sym typeface="Fira Sans Condensed"/>
                </a:rPr>
                <a:t>angiogénesis</a:t>
              </a:r>
              <a:r>
                <a:rPr lang="es-AR" sz="1450" dirty="0">
                  <a:solidFill>
                    <a:srgbClr val="1E1E1E"/>
                  </a:solidFill>
                  <a:latin typeface="Fira Sans Condensed"/>
                  <a:ea typeface="Fira Sans Condensed"/>
                  <a:cs typeface="Fira Sans Condensed"/>
                  <a:sym typeface="Fira Sans Condensed"/>
                </a:rPr>
                <a:t>, la expansión puede ser relativamente segura.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capacidad de expansión varía entre personas y depósitos.</a:t>
              </a:r>
              <a:endParaRPr lang="es-AR" sz="1450" dirty="0">
                <a:latin typeface="Fira Sans Condensed"/>
              </a:endParaRPr>
            </a:p>
          </p:txBody>
        </p:sp>
        <p:sp>
          <p:nvSpPr>
            <p:cNvPr id="81" name="Forma 86"/>
            <p:cNvSpPr/>
            <p:nvPr/>
          </p:nvSpPr>
          <p:spPr>
            <a:xfrm>
              <a:off x="7955280" y="1051560"/>
              <a:ext cx="1249809" cy="384048"/>
            </a:xfrm>
            <a:prstGeom prst="rect">
              <a:avLst/>
            </a:prstGeom>
            <a:solidFill>
              <a:srgbClr val="92D05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EXPANSIÓN</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B · 2 · EXPANSIÓN DEL DEPÓSITO</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8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Adipocito B 0"/>
          <p:cNvGrpSpPr/>
          <p:nvPr/>
        </p:nvGrpSpPr>
        <p:grpSpPr>
          <a:xfrm>
            <a:off x="457200" y="914400"/>
            <a:ext cx="1783080" cy="1783080"/>
            <a:chOff x="457200" y="914400"/>
            <a:chExt cx="1783080" cy="1783080"/>
          </a:xfrm>
        </p:grpSpPr>
        <p:sp>
          <p:nvSpPr>
            <p:cNvPr id="8" name="Forma 7"/>
            <p:cNvSpPr/>
            <p:nvPr/>
          </p:nvSpPr>
          <p:spPr>
            <a:xfrm>
              <a:off x="457200" y="9144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546354" y="10035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741018" y="10213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599846" y="2233879"/>
              <a:ext cx="178308" cy="89154"/>
              <a:chOff x="599846" y="2233879"/>
              <a:chExt cx="178308" cy="89154"/>
            </a:xfrm>
          </p:grpSpPr>
          <p:sp>
            <p:nvSpPr>
              <p:cNvPr id="12" name="Forma 11"/>
              <p:cNvSpPr/>
              <p:nvPr/>
            </p:nvSpPr>
            <p:spPr>
              <a:xfrm rot="-2400000">
                <a:off x="599846" y="22338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612328" y="2246361"/>
                <a:ext cx="153345" cy="64191"/>
              </a:xfrm>
              <a:prstGeom prst="ellipse">
                <a:avLst/>
              </a:prstGeom>
              <a:solidFill>
                <a:srgbClr val="F8D8B4"/>
              </a:solidFill>
              <a:ln w="9525" cap="rnd">
                <a:solidFill>
                  <a:srgbClr val="B2732B"/>
                </a:solidFill>
                <a:round/>
              </a:ln>
            </p:spPr>
          </p:sp>
          <p:sp>
            <p:nvSpPr>
              <p:cNvPr id="14" name="Forma 13"/>
              <p:cNvSpPr/>
              <p:nvPr/>
            </p:nvSpPr>
            <p:spPr>
              <a:xfrm rot="-2400000">
                <a:off x="612328" y="22463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Adipocito B 1"/>
          <p:cNvGrpSpPr/>
          <p:nvPr/>
        </p:nvGrpSpPr>
        <p:grpSpPr>
          <a:xfrm>
            <a:off x="2377440" y="868680"/>
            <a:ext cx="1783080" cy="1783080"/>
            <a:chOff x="2377440" y="868680"/>
            <a:chExt cx="1783080" cy="1783080"/>
          </a:xfrm>
        </p:grpSpPr>
        <p:sp>
          <p:nvSpPr>
            <p:cNvPr id="16" name="Forma 15"/>
            <p:cNvSpPr/>
            <p:nvPr/>
          </p:nvSpPr>
          <p:spPr>
            <a:xfrm>
              <a:off x="2377440" y="86868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7" name="Gota lipídica_2"/>
            <p:cNvSpPr/>
            <p:nvPr/>
          </p:nvSpPr>
          <p:spPr>
            <a:xfrm>
              <a:off x="2466594" y="95783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8" name="Forma 17"/>
            <p:cNvSpPr/>
            <p:nvPr/>
          </p:nvSpPr>
          <p:spPr>
            <a:xfrm rot="2400000">
              <a:off x="3661258" y="97566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9" name="Mitocondria_2"/>
            <p:cNvGrpSpPr/>
            <p:nvPr/>
          </p:nvGrpSpPr>
          <p:grpSpPr>
            <a:xfrm>
              <a:off x="2520086" y="2188159"/>
              <a:ext cx="178308" cy="89154"/>
              <a:chOff x="2520086" y="2188159"/>
              <a:chExt cx="178308" cy="89154"/>
            </a:xfrm>
          </p:grpSpPr>
          <p:sp>
            <p:nvSpPr>
              <p:cNvPr id="20" name="Forma 19"/>
              <p:cNvSpPr/>
              <p:nvPr/>
            </p:nvSpPr>
            <p:spPr>
              <a:xfrm rot="-2400000">
                <a:off x="2520086" y="218815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2400000">
                <a:off x="2532568" y="2200641"/>
                <a:ext cx="153345" cy="64191"/>
              </a:xfrm>
              <a:prstGeom prst="ellipse">
                <a:avLst/>
              </a:prstGeom>
              <a:solidFill>
                <a:srgbClr val="F8D8B4"/>
              </a:solidFill>
              <a:ln w="9525" cap="rnd">
                <a:solidFill>
                  <a:srgbClr val="B2732B"/>
                </a:solidFill>
                <a:round/>
              </a:ln>
            </p:spPr>
          </p:sp>
          <p:sp>
            <p:nvSpPr>
              <p:cNvPr id="22" name="Forma 21"/>
              <p:cNvSpPr/>
              <p:nvPr/>
            </p:nvSpPr>
            <p:spPr>
              <a:xfrm rot="-2400000">
                <a:off x="2532568" y="220064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3" name="!!Adipocito B 2"/>
          <p:cNvGrpSpPr/>
          <p:nvPr/>
        </p:nvGrpSpPr>
        <p:grpSpPr>
          <a:xfrm>
            <a:off x="4297680" y="960120"/>
            <a:ext cx="1783080" cy="1783080"/>
            <a:chOff x="4297680" y="960120"/>
            <a:chExt cx="1783080" cy="1783080"/>
          </a:xfrm>
        </p:grpSpPr>
        <p:sp>
          <p:nvSpPr>
            <p:cNvPr id="24" name="Forma 23"/>
            <p:cNvSpPr/>
            <p:nvPr/>
          </p:nvSpPr>
          <p:spPr>
            <a:xfrm>
              <a:off x="4297680" y="9601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5" name="Gota lipídica_3"/>
            <p:cNvSpPr/>
            <p:nvPr/>
          </p:nvSpPr>
          <p:spPr>
            <a:xfrm>
              <a:off x="4386834" y="10492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6" name="Forma 25"/>
            <p:cNvSpPr/>
            <p:nvPr/>
          </p:nvSpPr>
          <p:spPr>
            <a:xfrm rot="2400000">
              <a:off x="5581498" y="10671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7" name="Mitocondria_3"/>
            <p:cNvGrpSpPr/>
            <p:nvPr/>
          </p:nvGrpSpPr>
          <p:grpSpPr>
            <a:xfrm>
              <a:off x="4440326" y="2279599"/>
              <a:ext cx="178308" cy="89154"/>
              <a:chOff x="4440326" y="2279599"/>
              <a:chExt cx="178308" cy="89154"/>
            </a:xfrm>
          </p:grpSpPr>
          <p:sp>
            <p:nvSpPr>
              <p:cNvPr id="28" name="Forma 27"/>
              <p:cNvSpPr/>
              <p:nvPr/>
            </p:nvSpPr>
            <p:spPr>
              <a:xfrm rot="-2400000">
                <a:off x="4440326" y="22795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2400000">
                <a:off x="4452808" y="2292081"/>
                <a:ext cx="153345" cy="64191"/>
              </a:xfrm>
              <a:prstGeom prst="ellipse">
                <a:avLst/>
              </a:prstGeom>
              <a:solidFill>
                <a:srgbClr val="F8D8B4"/>
              </a:solidFill>
              <a:ln w="9525" cap="rnd">
                <a:solidFill>
                  <a:srgbClr val="B2732B"/>
                </a:solidFill>
                <a:round/>
              </a:ln>
            </p:spPr>
          </p:sp>
          <p:sp>
            <p:nvSpPr>
              <p:cNvPr id="30" name="Forma 29"/>
              <p:cNvSpPr/>
              <p:nvPr/>
            </p:nvSpPr>
            <p:spPr>
              <a:xfrm rot="-2400000">
                <a:off x="4452808" y="22920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Adipocito B 3"/>
          <p:cNvGrpSpPr/>
          <p:nvPr/>
        </p:nvGrpSpPr>
        <p:grpSpPr>
          <a:xfrm>
            <a:off x="1097280" y="2743200"/>
            <a:ext cx="1783080" cy="1783080"/>
            <a:chOff x="1097280" y="2743200"/>
            <a:chExt cx="1783080" cy="1783080"/>
          </a:xfrm>
        </p:grpSpPr>
        <p:sp>
          <p:nvSpPr>
            <p:cNvPr id="32" name="Forma 31"/>
            <p:cNvSpPr/>
            <p:nvPr/>
          </p:nvSpPr>
          <p:spPr>
            <a:xfrm>
              <a:off x="109728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3" name="Gota lipídica_4"/>
            <p:cNvSpPr/>
            <p:nvPr/>
          </p:nvSpPr>
          <p:spPr>
            <a:xfrm>
              <a:off x="118643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4" name="Forma 33"/>
            <p:cNvSpPr/>
            <p:nvPr/>
          </p:nvSpPr>
          <p:spPr>
            <a:xfrm rot="2400000">
              <a:off x="238109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5" name="Mitocondria_4"/>
            <p:cNvGrpSpPr/>
            <p:nvPr/>
          </p:nvGrpSpPr>
          <p:grpSpPr>
            <a:xfrm>
              <a:off x="1239926" y="4062679"/>
              <a:ext cx="178308" cy="89154"/>
              <a:chOff x="1239926" y="4062679"/>
              <a:chExt cx="178308" cy="89154"/>
            </a:xfrm>
          </p:grpSpPr>
          <p:sp>
            <p:nvSpPr>
              <p:cNvPr id="36" name="Forma 35"/>
              <p:cNvSpPr/>
              <p:nvPr/>
            </p:nvSpPr>
            <p:spPr>
              <a:xfrm rot="-2400000">
                <a:off x="123992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7" name="Forma 36"/>
              <p:cNvSpPr/>
              <p:nvPr/>
            </p:nvSpPr>
            <p:spPr>
              <a:xfrm rot="-2400000">
                <a:off x="1252408" y="4075161"/>
                <a:ext cx="153345" cy="64191"/>
              </a:xfrm>
              <a:prstGeom prst="ellipse">
                <a:avLst/>
              </a:prstGeom>
              <a:solidFill>
                <a:srgbClr val="F8D8B4"/>
              </a:solidFill>
              <a:ln w="9525" cap="rnd">
                <a:solidFill>
                  <a:srgbClr val="B2732B"/>
                </a:solidFill>
                <a:round/>
              </a:ln>
            </p:spPr>
          </p:sp>
          <p:sp>
            <p:nvSpPr>
              <p:cNvPr id="38" name="Forma 37"/>
              <p:cNvSpPr/>
              <p:nvPr/>
            </p:nvSpPr>
            <p:spPr>
              <a:xfrm rot="-2400000">
                <a:off x="125240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9" name="!!Adipocito B 4"/>
          <p:cNvGrpSpPr/>
          <p:nvPr/>
        </p:nvGrpSpPr>
        <p:grpSpPr>
          <a:xfrm>
            <a:off x="3108960" y="2788920"/>
            <a:ext cx="1783080" cy="1783080"/>
            <a:chOff x="3108960" y="2788920"/>
            <a:chExt cx="1783080" cy="1783080"/>
          </a:xfrm>
        </p:grpSpPr>
        <p:sp>
          <p:nvSpPr>
            <p:cNvPr id="40" name="Forma 39"/>
            <p:cNvSpPr/>
            <p:nvPr/>
          </p:nvSpPr>
          <p:spPr>
            <a:xfrm>
              <a:off x="3108960" y="27889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1" name="Gota lipídica_5"/>
            <p:cNvSpPr/>
            <p:nvPr/>
          </p:nvSpPr>
          <p:spPr>
            <a:xfrm>
              <a:off x="3198114" y="28780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2" name="Forma 41"/>
            <p:cNvSpPr/>
            <p:nvPr/>
          </p:nvSpPr>
          <p:spPr>
            <a:xfrm rot="2400000">
              <a:off x="4392778" y="28959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3" name="Mitocondria_5"/>
            <p:cNvGrpSpPr/>
            <p:nvPr/>
          </p:nvGrpSpPr>
          <p:grpSpPr>
            <a:xfrm>
              <a:off x="3251606" y="4108399"/>
              <a:ext cx="178308" cy="89154"/>
              <a:chOff x="3251606" y="4108399"/>
              <a:chExt cx="178308" cy="89154"/>
            </a:xfrm>
          </p:grpSpPr>
          <p:sp>
            <p:nvSpPr>
              <p:cNvPr id="44" name="Forma 43"/>
              <p:cNvSpPr/>
              <p:nvPr/>
            </p:nvSpPr>
            <p:spPr>
              <a:xfrm rot="-2400000">
                <a:off x="3251606" y="41083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5" name="Forma 44"/>
              <p:cNvSpPr/>
              <p:nvPr/>
            </p:nvSpPr>
            <p:spPr>
              <a:xfrm rot="-2400000">
                <a:off x="3264088" y="4120881"/>
                <a:ext cx="153345" cy="64191"/>
              </a:xfrm>
              <a:prstGeom prst="ellipse">
                <a:avLst/>
              </a:prstGeom>
              <a:solidFill>
                <a:srgbClr val="F8D8B4"/>
              </a:solidFill>
              <a:ln w="9525" cap="rnd">
                <a:solidFill>
                  <a:srgbClr val="B2732B"/>
                </a:solidFill>
                <a:round/>
              </a:ln>
            </p:spPr>
          </p:sp>
          <p:sp>
            <p:nvSpPr>
              <p:cNvPr id="46" name="Forma 45"/>
              <p:cNvSpPr/>
              <p:nvPr/>
            </p:nvSpPr>
            <p:spPr>
              <a:xfrm rot="-2400000">
                <a:off x="3264088" y="41208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7" name="!!Adipocito B 5"/>
          <p:cNvGrpSpPr/>
          <p:nvPr/>
        </p:nvGrpSpPr>
        <p:grpSpPr>
          <a:xfrm>
            <a:off x="5120640" y="2743200"/>
            <a:ext cx="1783080" cy="1783080"/>
            <a:chOff x="5120640" y="2743200"/>
            <a:chExt cx="1783080" cy="1783080"/>
          </a:xfrm>
        </p:grpSpPr>
        <p:sp>
          <p:nvSpPr>
            <p:cNvPr id="48" name="Forma 47"/>
            <p:cNvSpPr/>
            <p:nvPr/>
          </p:nvSpPr>
          <p:spPr>
            <a:xfrm>
              <a:off x="512064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9" name="Gota lipídica_6"/>
            <p:cNvSpPr/>
            <p:nvPr/>
          </p:nvSpPr>
          <p:spPr>
            <a:xfrm>
              <a:off x="520979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0" name="Forma 49"/>
            <p:cNvSpPr/>
            <p:nvPr/>
          </p:nvSpPr>
          <p:spPr>
            <a:xfrm rot="2400000">
              <a:off x="640445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1" name="Mitocondria_6"/>
            <p:cNvGrpSpPr/>
            <p:nvPr/>
          </p:nvGrpSpPr>
          <p:grpSpPr>
            <a:xfrm>
              <a:off x="5263286" y="4062679"/>
              <a:ext cx="178308" cy="89154"/>
              <a:chOff x="5263286" y="4062679"/>
              <a:chExt cx="178308" cy="89154"/>
            </a:xfrm>
          </p:grpSpPr>
          <p:sp>
            <p:nvSpPr>
              <p:cNvPr id="52" name="Forma 51"/>
              <p:cNvSpPr/>
              <p:nvPr/>
            </p:nvSpPr>
            <p:spPr>
              <a:xfrm rot="-2400000">
                <a:off x="526328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3" name="Forma 52"/>
              <p:cNvSpPr/>
              <p:nvPr/>
            </p:nvSpPr>
            <p:spPr>
              <a:xfrm rot="-2400000">
                <a:off x="5275768" y="4075161"/>
                <a:ext cx="153345" cy="64191"/>
              </a:xfrm>
              <a:prstGeom prst="ellipse">
                <a:avLst/>
              </a:prstGeom>
              <a:solidFill>
                <a:srgbClr val="F8D8B4"/>
              </a:solidFill>
              <a:ln w="9525" cap="rnd">
                <a:solidFill>
                  <a:srgbClr val="B2732B"/>
                </a:solidFill>
                <a:round/>
              </a:ln>
            </p:spPr>
          </p:sp>
          <p:sp>
            <p:nvSpPr>
              <p:cNvPr id="54" name="Forma 53"/>
              <p:cNvSpPr/>
              <p:nvPr/>
            </p:nvSpPr>
            <p:spPr>
              <a:xfrm rot="-2400000">
                <a:off x="527576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5" name="!!Capilar B"/>
          <p:cNvGrpSpPr/>
          <p:nvPr/>
        </p:nvGrpSpPr>
        <p:grpSpPr>
          <a:xfrm>
            <a:off x="365760" y="5074920"/>
            <a:ext cx="6949440" cy="411480"/>
            <a:chOff x="365760" y="5074920"/>
            <a:chExt cx="6949440" cy="411480"/>
          </a:xfrm>
        </p:grpSpPr>
        <p:sp>
          <p:nvSpPr>
            <p:cNvPr id="56" name="Forma 55"/>
            <p:cNvSpPr/>
            <p:nvPr/>
          </p:nvSpPr>
          <p:spPr>
            <a:xfrm>
              <a:off x="365760" y="5074920"/>
              <a:ext cx="6949440" cy="41148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7" name="Forma 56"/>
            <p:cNvSpPr/>
            <p:nvPr/>
          </p:nvSpPr>
          <p:spPr>
            <a:xfrm>
              <a:off x="427482" y="5148986"/>
              <a:ext cx="6825996" cy="263347"/>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8" name="Eritrocito"/>
            <p:cNvSpPr/>
            <p:nvPr/>
          </p:nvSpPr>
          <p:spPr>
            <a:xfrm>
              <a:off x="850872" y="527529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2"/>
            <p:cNvSpPr/>
            <p:nvPr/>
          </p:nvSpPr>
          <p:spPr>
            <a:xfrm>
              <a:off x="1456348" y="5186521"/>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3"/>
            <p:cNvSpPr/>
            <p:nvPr/>
          </p:nvSpPr>
          <p:spPr>
            <a:xfrm>
              <a:off x="2696775" y="5253499"/>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4"/>
            <p:cNvSpPr/>
            <p:nvPr/>
          </p:nvSpPr>
          <p:spPr>
            <a:xfrm>
              <a:off x="3579816" y="5209488"/>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5"/>
            <p:cNvSpPr/>
            <p:nvPr/>
          </p:nvSpPr>
          <p:spPr>
            <a:xfrm>
              <a:off x="4501436" y="5240212"/>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3" name="Eritrocito_6"/>
            <p:cNvSpPr/>
            <p:nvPr/>
          </p:nvSpPr>
          <p:spPr>
            <a:xfrm>
              <a:off x="5437828" y="519408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4" name="Eritrocito_7"/>
            <p:cNvSpPr/>
            <p:nvPr/>
          </p:nvSpPr>
          <p:spPr>
            <a:xfrm>
              <a:off x="6326632" y="521827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grpSp>
        <p:nvGrpSpPr>
          <p:cNvPr id="65" name="!!Progreso B"/>
          <p:cNvGrpSpPr/>
          <p:nvPr/>
        </p:nvGrpSpPr>
        <p:grpSpPr>
          <a:xfrm>
            <a:off x="365760" y="5833872"/>
            <a:ext cx="11448288" cy="457200"/>
            <a:chOff x="365760" y="5833872"/>
            <a:chExt cx="11448288" cy="457200"/>
          </a:xfrm>
        </p:grpSpPr>
        <p:sp>
          <p:nvSpPr>
            <p:cNvPr id="66" name="Forma 65"/>
            <p:cNvSpPr/>
            <p:nvPr/>
          </p:nvSpPr>
          <p:spPr>
            <a:xfrm>
              <a:off x="36576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Adipocito funcional</a:t>
              </a:r>
              <a:endParaRPr lang="es-AR" sz="1150" dirty="0">
                <a:latin typeface="Fira Sans Condensed"/>
              </a:endParaRPr>
            </a:p>
          </p:txBody>
        </p:sp>
        <p:sp>
          <p:nvSpPr>
            <p:cNvPr id="67" name="Forma 66"/>
            <p:cNvSpPr/>
            <p:nvPr/>
          </p:nvSpPr>
          <p:spPr>
            <a:xfrm>
              <a:off x="201168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Expansión</a:t>
              </a:r>
              <a:endParaRPr lang="es-AR" sz="1150" dirty="0">
                <a:latin typeface="Fira Sans Condensed"/>
              </a:endParaRPr>
            </a:p>
          </p:txBody>
        </p:sp>
        <p:sp>
          <p:nvSpPr>
            <p:cNvPr id="68" name="Flecha 67_2"/>
            <p:cNvSpPr/>
            <p:nvPr/>
          </p:nvSpPr>
          <p:spPr>
            <a:xfrm>
              <a:off x="19385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69" name="Forma 69"/>
            <p:cNvSpPr/>
            <p:nvPr/>
          </p:nvSpPr>
          <p:spPr>
            <a:xfrm>
              <a:off x="365760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Hipertrofia</a:t>
              </a:r>
              <a:endParaRPr lang="es-AR" sz="1150" dirty="0">
                <a:latin typeface="Fira Sans Condensed"/>
              </a:endParaRPr>
            </a:p>
          </p:txBody>
        </p:sp>
        <p:sp>
          <p:nvSpPr>
            <p:cNvPr id="70" name="Flecha 70_2"/>
            <p:cNvSpPr/>
            <p:nvPr/>
          </p:nvSpPr>
          <p:spPr>
            <a:xfrm>
              <a:off x="358444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1" name="Forma 72"/>
            <p:cNvSpPr/>
            <p:nvPr/>
          </p:nvSpPr>
          <p:spPr>
            <a:xfrm>
              <a:off x="5303520" y="5833872"/>
              <a:ext cx="1572768" cy="457200"/>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Hipoxia</a:t>
              </a:r>
              <a:endParaRPr lang="es-AR" sz="1150" dirty="0">
                <a:latin typeface="Fira Sans Condensed"/>
              </a:endParaRPr>
            </a:p>
          </p:txBody>
        </p:sp>
        <p:sp>
          <p:nvSpPr>
            <p:cNvPr id="72" name="Flecha 73_2"/>
            <p:cNvSpPr/>
            <p:nvPr/>
          </p:nvSpPr>
          <p:spPr>
            <a:xfrm>
              <a:off x="523036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3" name="Forma 75"/>
            <p:cNvSpPr/>
            <p:nvPr/>
          </p:nvSpPr>
          <p:spPr>
            <a:xfrm>
              <a:off x="694944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74" name="Flecha 76_2"/>
            <p:cNvSpPr/>
            <p:nvPr/>
          </p:nvSpPr>
          <p:spPr>
            <a:xfrm>
              <a:off x="687628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5" name="Forma 78"/>
            <p:cNvSpPr/>
            <p:nvPr/>
          </p:nvSpPr>
          <p:spPr>
            <a:xfrm>
              <a:off x="859536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Resistencia insulínica</a:t>
              </a:r>
              <a:endParaRPr lang="es-AR" sz="1150" dirty="0">
                <a:latin typeface="Fira Sans Condensed"/>
              </a:endParaRPr>
            </a:p>
          </p:txBody>
        </p:sp>
        <p:sp>
          <p:nvSpPr>
            <p:cNvPr id="76" name="Flecha 79_2"/>
            <p:cNvSpPr/>
            <p:nvPr/>
          </p:nvSpPr>
          <p:spPr>
            <a:xfrm>
              <a:off x="852220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7" name="Forma 81"/>
            <p:cNvSpPr/>
            <p:nvPr/>
          </p:nvSpPr>
          <p:spPr>
            <a:xfrm>
              <a:off x="102412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Sistémico</a:t>
              </a:r>
              <a:endParaRPr lang="es-AR" sz="1150" dirty="0">
                <a:latin typeface="Fira Sans Condensed"/>
              </a:endParaRPr>
            </a:p>
          </p:txBody>
        </p:sp>
        <p:sp>
          <p:nvSpPr>
            <p:cNvPr id="78" name="Flecha 82_2"/>
            <p:cNvSpPr/>
            <p:nvPr/>
          </p:nvSpPr>
          <p:spPr>
            <a:xfrm>
              <a:off x="101681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grpSp>
      <p:sp>
        <p:nvSpPr>
          <p:cNvPr id="79" name="Hipoxia 0"/>
          <p:cNvSpPr/>
          <p:nvPr/>
        </p:nvSpPr>
        <p:spPr>
          <a:xfrm>
            <a:off x="2331720" y="2514600"/>
            <a:ext cx="502920" cy="502920"/>
          </a:xfrm>
          <a:prstGeom prst="ellipse">
            <a:avLst/>
          </a:prstGeom>
          <a:solidFill>
            <a:srgbClr val="5DADE2">
              <a:alpha val="30000"/>
            </a:srgbClr>
          </a:solidFill>
          <a:ln w="19050" cap="rnd">
            <a:solidFill>
              <a:srgbClr val="1F618D"/>
            </a:solidFill>
            <a:prstDash val="dash"/>
            <a:round/>
          </a:ln>
        </p:spPr>
        <p:txBody>
          <a:bodyPr wrap="square" lIns="0" tIns="0" rIns="0" bIns="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O₂↓</a:t>
            </a:r>
            <a:endParaRPr lang="es-AR" sz="1000" dirty="0">
              <a:latin typeface="Fira Sans Condensed"/>
            </a:endParaRPr>
          </a:p>
        </p:txBody>
      </p:sp>
      <p:sp>
        <p:nvSpPr>
          <p:cNvPr id="80" name="Hipoxia 1"/>
          <p:cNvSpPr/>
          <p:nvPr/>
        </p:nvSpPr>
        <p:spPr>
          <a:xfrm>
            <a:off x="4343400" y="2560320"/>
            <a:ext cx="502920" cy="502920"/>
          </a:xfrm>
          <a:prstGeom prst="ellipse">
            <a:avLst/>
          </a:prstGeom>
          <a:solidFill>
            <a:srgbClr val="5DADE2">
              <a:alpha val="30000"/>
            </a:srgbClr>
          </a:solidFill>
          <a:ln w="19050" cap="rnd">
            <a:solidFill>
              <a:srgbClr val="1F618D"/>
            </a:solidFill>
            <a:prstDash val="dash"/>
            <a:round/>
          </a:ln>
        </p:spPr>
        <p:txBody>
          <a:bodyPr wrap="square" lIns="0" tIns="0" rIns="0" bIns="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O₂↓</a:t>
            </a:r>
            <a:endParaRPr lang="es-AR" sz="1000" dirty="0">
              <a:latin typeface="Fira Sans Condensed"/>
            </a:endParaRPr>
          </a:p>
        </p:txBody>
      </p:sp>
      <p:sp>
        <p:nvSpPr>
          <p:cNvPr id="81" name="Hipoxia 2"/>
          <p:cNvSpPr/>
          <p:nvPr/>
        </p:nvSpPr>
        <p:spPr>
          <a:xfrm>
            <a:off x="3017520" y="4343400"/>
            <a:ext cx="502920" cy="502920"/>
          </a:xfrm>
          <a:prstGeom prst="ellipse">
            <a:avLst/>
          </a:prstGeom>
          <a:solidFill>
            <a:srgbClr val="5DADE2">
              <a:alpha val="30000"/>
            </a:srgbClr>
          </a:solidFill>
          <a:ln w="19050" cap="rnd">
            <a:solidFill>
              <a:srgbClr val="1F618D"/>
            </a:solidFill>
            <a:prstDash val="dash"/>
            <a:round/>
          </a:ln>
        </p:spPr>
        <p:txBody>
          <a:bodyPr wrap="square" lIns="0" tIns="0" rIns="0" bIns="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O₂↓</a:t>
            </a:r>
            <a:endParaRPr lang="es-AR" sz="1000" dirty="0">
              <a:latin typeface="Fira Sans Condensed"/>
            </a:endParaRPr>
          </a:p>
        </p:txBody>
      </p:sp>
      <p:grpSp>
        <p:nvGrpSpPr>
          <p:cNvPr id="82" name="Fibrosis"/>
          <p:cNvGrpSpPr/>
          <p:nvPr/>
        </p:nvGrpSpPr>
        <p:grpSpPr>
          <a:xfrm>
            <a:off x="548640" y="2788920"/>
            <a:ext cx="6675120" cy="182880"/>
            <a:chOff x="548640" y="2788920"/>
            <a:chExt cx="6675120" cy="182880"/>
          </a:xfrm>
        </p:grpSpPr>
        <p:sp>
          <p:nvSpPr>
            <p:cNvPr id="83" name="Flecha 88_2"/>
            <p:cNvSpPr/>
            <p:nvPr/>
          </p:nvSpPr>
          <p:spPr>
            <a:xfrm>
              <a:off x="548640" y="2788920"/>
              <a:ext cx="1188720" cy="182880"/>
            </a:xfrm>
            <a:custGeom>
              <a:avLst/>
              <a:gdLst/>
              <a:ahLst/>
              <a:cxnLst/>
              <a:rect l="0" t="0" r="r" b="b"/>
              <a:pathLst>
                <a:path w="1299" h="200" fill="none">
                  <a:moveTo>
                    <a:pt x="0" y="150"/>
                  </a:moveTo>
                  <a:quadBezTo>
                    <a:pt x="700" y="0"/>
                    <a:pt x="1299" y="200"/>
                  </a:quadBezTo>
                </a:path>
              </a:pathLst>
            </a:custGeom>
            <a:noFill/>
            <a:ln w="25400" cap="rnd">
              <a:solidFill>
                <a:srgbClr val="8E44AD"/>
              </a:solidFill>
              <a:round/>
            </a:ln>
          </p:spPr>
        </p:sp>
        <p:sp>
          <p:nvSpPr>
            <p:cNvPr id="84" name="Flecha 90_2"/>
            <p:cNvSpPr/>
            <p:nvPr/>
          </p:nvSpPr>
          <p:spPr>
            <a:xfrm>
              <a:off x="1920240" y="2788920"/>
              <a:ext cx="1188720" cy="182880"/>
            </a:xfrm>
            <a:custGeom>
              <a:avLst/>
              <a:gdLst/>
              <a:ahLst/>
              <a:cxnLst/>
              <a:rect l="0" t="0" r="r" b="b"/>
              <a:pathLst>
                <a:path w="1299" h="200" fill="none">
                  <a:moveTo>
                    <a:pt x="0" y="150"/>
                  </a:moveTo>
                  <a:quadBezTo>
                    <a:pt x="699" y="0"/>
                    <a:pt x="1299" y="200"/>
                  </a:quadBezTo>
                </a:path>
              </a:pathLst>
            </a:custGeom>
            <a:noFill/>
            <a:ln w="25400" cap="rnd">
              <a:solidFill>
                <a:srgbClr val="8E44AD"/>
              </a:solidFill>
              <a:round/>
            </a:ln>
          </p:spPr>
        </p:sp>
        <p:sp>
          <p:nvSpPr>
            <p:cNvPr id="85" name="Flecha 92_2"/>
            <p:cNvSpPr/>
            <p:nvPr/>
          </p:nvSpPr>
          <p:spPr>
            <a:xfrm>
              <a:off x="3291840" y="2788920"/>
              <a:ext cx="1188720" cy="182880"/>
            </a:xfrm>
            <a:custGeom>
              <a:avLst/>
              <a:gdLst/>
              <a:ahLst/>
              <a:cxnLst/>
              <a:rect l="0" t="0" r="r" b="b"/>
              <a:pathLst>
                <a:path w="1300" h="200" fill="none">
                  <a:moveTo>
                    <a:pt x="0" y="150"/>
                  </a:moveTo>
                  <a:quadBezTo>
                    <a:pt x="699" y="0"/>
                    <a:pt x="1300" y="200"/>
                  </a:quadBezTo>
                </a:path>
              </a:pathLst>
            </a:custGeom>
            <a:noFill/>
            <a:ln w="25400" cap="rnd">
              <a:solidFill>
                <a:srgbClr val="8E44AD"/>
              </a:solidFill>
              <a:round/>
            </a:ln>
          </p:spPr>
        </p:sp>
        <p:sp>
          <p:nvSpPr>
            <p:cNvPr id="86" name="Flecha 94_2"/>
            <p:cNvSpPr/>
            <p:nvPr/>
          </p:nvSpPr>
          <p:spPr>
            <a:xfrm>
              <a:off x="4663440" y="2788920"/>
              <a:ext cx="1188720" cy="182880"/>
            </a:xfrm>
            <a:custGeom>
              <a:avLst/>
              <a:gdLst/>
              <a:ahLst/>
              <a:cxnLst/>
              <a:rect l="0" t="0" r="r" b="b"/>
              <a:pathLst>
                <a:path w="1300" h="200" fill="none">
                  <a:moveTo>
                    <a:pt x="0" y="150"/>
                  </a:moveTo>
                  <a:quadBezTo>
                    <a:pt x="700" y="0"/>
                    <a:pt x="1300" y="200"/>
                  </a:quadBezTo>
                </a:path>
              </a:pathLst>
            </a:custGeom>
            <a:noFill/>
            <a:ln w="25400" cap="rnd">
              <a:solidFill>
                <a:srgbClr val="8E44AD"/>
              </a:solidFill>
              <a:round/>
            </a:ln>
          </p:spPr>
        </p:sp>
        <p:sp>
          <p:nvSpPr>
            <p:cNvPr id="87" name="Flecha 96_2"/>
            <p:cNvSpPr/>
            <p:nvPr/>
          </p:nvSpPr>
          <p:spPr>
            <a:xfrm>
              <a:off x="6035040" y="2788920"/>
              <a:ext cx="1188720" cy="182880"/>
            </a:xfrm>
            <a:custGeom>
              <a:avLst/>
              <a:gdLst/>
              <a:ahLst/>
              <a:cxnLst/>
              <a:rect l="0" t="0" r="r" b="b"/>
              <a:pathLst>
                <a:path w="1300" h="200" fill="none">
                  <a:moveTo>
                    <a:pt x="0" y="150"/>
                  </a:moveTo>
                  <a:quadBezTo>
                    <a:pt x="700" y="0"/>
                    <a:pt x="1300" y="200"/>
                  </a:quadBezTo>
                </a:path>
              </a:pathLst>
            </a:custGeom>
            <a:noFill/>
            <a:ln w="25400" cap="rnd">
              <a:solidFill>
                <a:srgbClr val="8E44AD"/>
              </a:solidFill>
              <a:round/>
            </a:ln>
          </p:spPr>
        </p:sp>
      </p:grpSp>
      <p:grpSp>
        <p:nvGrpSpPr>
          <p:cNvPr id="88" name="!!Panel B"/>
          <p:cNvGrpSpPr/>
          <p:nvPr/>
        </p:nvGrpSpPr>
        <p:grpSpPr>
          <a:xfrm>
            <a:off x="7818120" y="1051560"/>
            <a:ext cx="4023360" cy="4572000"/>
            <a:chOff x="7818120" y="1051560"/>
            <a:chExt cx="4023360" cy="4572000"/>
          </a:xfrm>
        </p:grpSpPr>
        <p:sp>
          <p:nvSpPr>
            <p:cNvPr id="89" name="Forma 99"/>
            <p:cNvSpPr/>
            <p:nvPr/>
          </p:nvSpPr>
          <p:spPr>
            <a:xfrm>
              <a:off x="7818120" y="1252728"/>
              <a:ext cx="4023360" cy="4370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Adipocitos </a:t>
              </a:r>
              <a:r>
                <a:rPr lang="es-AR" sz="1450" b="1" dirty="0">
                  <a:solidFill>
                    <a:srgbClr val="1E1E1E"/>
                  </a:solidFill>
                  <a:latin typeface="Fira Sans Condensed"/>
                  <a:ea typeface="Fira Sans Condensed"/>
                  <a:cs typeface="Fira Sans Condensed"/>
                  <a:sym typeface="Fira Sans Condensed"/>
                </a:rPr>
                <a:t>muy grandes</a:t>
              </a:r>
              <a:r>
                <a:rPr lang="es-AR" sz="1450" dirty="0">
                  <a:solidFill>
                    <a:srgbClr val="1E1E1E"/>
                  </a:solidFill>
                  <a:latin typeface="Fira Sans Condensed"/>
                  <a:ea typeface="Fira Sans Condensed"/>
                  <a:cs typeface="Fira Sans Condensed"/>
                  <a:sym typeface="Fira Sans Condensed"/>
                </a:rPr>
                <a:t>: mayor distancia al capilar → </a:t>
              </a:r>
              <a:r>
                <a:rPr lang="es-AR" sz="1450" b="1" dirty="0">
                  <a:solidFill>
                    <a:srgbClr val="1E1E1E"/>
                  </a:solidFill>
                  <a:latin typeface="Fira Sans Condensed"/>
                  <a:ea typeface="Fira Sans Condensed"/>
                  <a:cs typeface="Fira Sans Condensed"/>
                  <a:sym typeface="Fira Sans Condensed"/>
                </a:rPr>
                <a:t>hipoxia</a:t>
              </a:r>
              <a:r>
                <a:rPr lang="es-AR" sz="1450" dirty="0">
                  <a:solidFill>
                    <a:srgbClr val="1E1E1E"/>
                  </a:solidFill>
                  <a:latin typeface="Fira Sans Condensed"/>
                  <a:ea typeface="Fira Sans Condensed"/>
                  <a:cs typeface="Fira Sans Condensed"/>
                  <a:sym typeface="Fira Sans Condensed"/>
                </a:rPr>
                <a:t> regional.</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Estrés del </a:t>
              </a:r>
              <a:r>
                <a:rPr lang="es-AR" sz="1450" b="1" dirty="0">
                  <a:solidFill>
                    <a:srgbClr val="1E1E1E"/>
                  </a:solidFill>
                  <a:latin typeface="Fira Sans Condensed"/>
                  <a:ea typeface="Fira Sans Condensed"/>
                  <a:cs typeface="Fira Sans Condensed"/>
                  <a:sym typeface="Fira Sans Condensed"/>
                </a:rPr>
                <a:t>RE</a:t>
              </a:r>
              <a:r>
                <a:rPr lang="es-AR" sz="1450" dirty="0">
                  <a:solidFill>
                    <a:srgbClr val="1E1E1E"/>
                  </a:solidFill>
                  <a:latin typeface="Fira Sans Condensed"/>
                  <a:ea typeface="Fira Sans Condensed"/>
                  <a:cs typeface="Fira Sans Condensed"/>
                  <a:sym typeface="Fira Sans Condensed"/>
                </a:rPr>
                <a:t>, </a:t>
              </a:r>
              <a:r>
                <a:rPr lang="es-AR" sz="1450" b="1" dirty="0">
                  <a:solidFill>
                    <a:srgbClr val="1E1E1E"/>
                  </a:solidFill>
                  <a:latin typeface="Fira Sans Condensed"/>
                  <a:ea typeface="Fira Sans Condensed"/>
                  <a:cs typeface="Fira Sans Condensed"/>
                  <a:sym typeface="Fira Sans Condensed"/>
                </a:rPr>
                <a:t>fibrosis</a:t>
              </a:r>
              <a:r>
                <a:rPr lang="es-AR" sz="1450" dirty="0">
                  <a:solidFill>
                    <a:srgbClr val="1E1E1E"/>
                  </a:solidFill>
                  <a:latin typeface="Fira Sans Condensed"/>
                  <a:ea typeface="Fira Sans Condensed"/>
                  <a:cs typeface="Fira Sans Condensed"/>
                  <a:sym typeface="Fira Sans Condensed"/>
                </a:rPr>
                <a:t> de la matriz (rígida).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Muerte de adipocitos dañados.</a:t>
              </a:r>
              <a:endParaRPr lang="es-AR" sz="1450" dirty="0">
                <a:latin typeface="Fira Sans Condensed"/>
              </a:endParaRPr>
            </a:p>
          </p:txBody>
        </p:sp>
        <p:sp>
          <p:nvSpPr>
            <p:cNvPr id="90" name="Forma 100"/>
            <p:cNvSpPr/>
            <p:nvPr/>
          </p:nvSpPr>
          <p:spPr>
            <a:xfrm>
              <a:off x="7955280" y="1051560"/>
              <a:ext cx="2194415" cy="384048"/>
            </a:xfrm>
            <a:prstGeom prst="rect">
              <a:avLst/>
            </a:prstGeom>
            <a:solidFill>
              <a:srgbClr val="F4877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HIPERTROFIA E HIPOXIA</a:t>
              </a:r>
              <a:endParaRPr lang="es-AR" sz="1400" dirty="0">
                <a:latin typeface="Fira Sans Condensed"/>
              </a:endParaRPr>
            </a:p>
          </p:txBody>
        </p:sp>
      </p:gr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SECUENCIA B · 3 · HIPERTROFIA PATOLÓGICA E HIPOXIA</a:t>
            </a:r>
            <a:endParaRPr lang="es-AR" sz="29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9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1"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9"/>
                                        </p:tgtEl>
                                        <p:attrNameLst>
                                          <p:attrName>style.visibility</p:attrName>
                                        </p:attrNameLst>
                                      </p:cBhvr>
                                      <p:to>
                                        <p:strVal val="visible"/>
                                      </p:to>
                                    </p:set>
                                    <p:anim calcmode="lin" valueType="num">
                                      <p:cBhvr>
                                        <p:cTn id="5" dur="500" fill="hold"/>
                                        <p:tgtEl>
                                          <p:spTgt spid="79"/>
                                        </p:tgtEl>
                                        <p:attrNameLst>
                                          <p:attrName>ppt_w</p:attrName>
                                        </p:attrNameLst>
                                      </p:cBhvr>
                                      <p:tavLst>
                                        <p:tav tm="0">
                                          <p:val>
                                            <p:fltVal val="0"/>
                                          </p:val>
                                        </p:tav>
                                        <p:tav tm="100000">
                                          <p:val>
                                            <p:strVal val="#ppt_w"/>
                                          </p:val>
                                        </p:tav>
                                      </p:tavLst>
                                    </p:anim>
                                    <p:anim calcmode="lin" valueType="num">
                                      <p:cBhvr>
                                        <p:cTn id="6" dur="500" fill="hold"/>
                                        <p:tgtEl>
                                          <p:spTgt spid="79"/>
                                        </p:tgtEl>
                                        <p:attrNameLst>
                                          <p:attrName>ppt_h</p:attrName>
                                        </p:attrNameLst>
                                      </p:cBhvr>
                                      <p:tavLst>
                                        <p:tav tm="0">
                                          <p:val>
                                            <p:fltVal val="0"/>
                                          </p:val>
                                        </p:tav>
                                        <p:tav tm="100000">
                                          <p:val>
                                            <p:strVal val="#ppt_h"/>
                                          </p:val>
                                        </p:tav>
                                      </p:tavLst>
                                    </p:anim>
                                    <p:animEffect transition="in" filter="fade">
                                      <p:cBhvr>
                                        <p:cTn id="7" dur="500"/>
                                        <p:tgtEl>
                                          <p:spTgt spid="79"/>
                                        </p:tgtEl>
                                      </p:cBhvr>
                                    </p:animEffect>
                                  </p:childTnLst>
                                </p:cTn>
                              </p:par>
                            </p:childTnLst>
                          </p:cTn>
                        </p:par>
                        <p:par>
                          <p:cTn id="14"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p:cTn id="11" dur="500" fill="hold"/>
                                        <p:tgtEl>
                                          <p:spTgt spid="80"/>
                                        </p:tgtEl>
                                        <p:attrNameLst>
                                          <p:attrName>ppt_w</p:attrName>
                                        </p:attrNameLst>
                                      </p:cBhvr>
                                      <p:tavLst>
                                        <p:tav tm="0">
                                          <p:val>
                                            <p:fltVal val="0"/>
                                          </p:val>
                                        </p:tav>
                                        <p:tav tm="100000">
                                          <p:val>
                                            <p:strVal val="#ppt_w"/>
                                          </p:val>
                                        </p:tav>
                                      </p:tavLst>
                                    </p:anim>
                                    <p:anim calcmode="lin" valueType="num">
                                      <p:cBhvr>
                                        <p:cTn id="12" dur="500" fill="hold"/>
                                        <p:tgtEl>
                                          <p:spTgt spid="80"/>
                                        </p:tgtEl>
                                        <p:attrNameLst>
                                          <p:attrName>ppt_h</p:attrName>
                                        </p:attrNameLst>
                                      </p:cBhvr>
                                      <p:tavLst>
                                        <p:tav tm="0">
                                          <p:val>
                                            <p:fltVal val="0"/>
                                          </p:val>
                                        </p:tav>
                                        <p:tav tm="100000">
                                          <p:val>
                                            <p:strVal val="#ppt_h"/>
                                          </p:val>
                                        </p:tav>
                                      </p:tavLst>
                                    </p:anim>
                                    <p:animEffect transition="in" filter="fade">
                                      <p:cBhvr>
                                        <p:cTn id="13" dur="500"/>
                                        <p:tgtEl>
                                          <p:spTgt spid="80"/>
                                        </p:tgtEl>
                                      </p:cBhvr>
                                    </p:animEffect>
                                  </p:childTnLst>
                                </p:cTn>
                              </p:par>
                            </p:childTnLst>
                          </p:cTn>
                        </p:par>
                        <p:par>
                          <p:cTn id="20"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1"/>
                                        </p:tgtEl>
                                        <p:attrNameLst>
                                          <p:attrName>style.visibility</p:attrName>
                                        </p:attrNameLst>
                                      </p:cBhvr>
                                      <p:to>
                                        <p:strVal val="visible"/>
                                      </p:to>
                                    </p:set>
                                    <p:anim calcmode="lin" valueType="num">
                                      <p:cBhvr>
                                        <p:cTn id="17" dur="500" fill="hold"/>
                                        <p:tgtEl>
                                          <p:spTgt spid="81"/>
                                        </p:tgtEl>
                                        <p:attrNameLst>
                                          <p:attrName>ppt_w</p:attrName>
                                        </p:attrNameLst>
                                      </p:cBhvr>
                                      <p:tavLst>
                                        <p:tav tm="0">
                                          <p:val>
                                            <p:fltVal val="0"/>
                                          </p:val>
                                        </p:tav>
                                        <p:tav tm="100000">
                                          <p:val>
                                            <p:strVal val="#ppt_w"/>
                                          </p:val>
                                        </p:tav>
                                      </p:tavLst>
                                    </p:anim>
                                    <p:anim calcmode="lin" valueType="num">
                                      <p:cBhvr>
                                        <p:cTn id="18" dur="500" fill="hold"/>
                                        <p:tgtEl>
                                          <p:spTgt spid="81"/>
                                        </p:tgtEl>
                                        <p:attrNameLst>
                                          <p:attrName>ppt_h</p:attrName>
                                        </p:attrNameLst>
                                      </p:cBhvr>
                                      <p:tavLst>
                                        <p:tav tm="0">
                                          <p:val>
                                            <p:fltVal val="0"/>
                                          </p:val>
                                        </p:tav>
                                        <p:tav tm="100000">
                                          <p:val>
                                            <p:strVal val="#ppt_h"/>
                                          </p:val>
                                        </p:tav>
                                      </p:tavLst>
                                    </p:anim>
                                    <p:animEffect transition="in" filter="fade">
                                      <p:cBhvr>
                                        <p:cTn id="19" dur="500"/>
                                        <p:tgtEl>
                                          <p:spTgt spid="81"/>
                                        </p:tgtEl>
                                      </p:cBhvr>
                                    </p:animEffect>
                                  </p:childTnLst>
                                </p:cTn>
                              </p:par>
                            </p:childTnLst>
                          </p:cTn>
                        </p:par>
                      </p:childTnLst>
                    </p:cTn>
                  </p:par>
                  <p:par>
                    <p:cTn id="26" fill="hold">
                      <p:stCondLst>
                        <p:cond delay="indefinite"/>
                      </p:stCondLst>
                      <p:childTnLst>
                        <p:par>
                          <p:cTn id="25"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2"/>
                                        </p:tgtEl>
                                        <p:attrNameLst>
                                          <p:attrName>style.visibility</p:attrName>
                                        </p:attrNameLst>
                                      </p:cBhvr>
                                      <p:to>
                                        <p:strVal val="visible"/>
                                      </p:to>
                                    </p:set>
                                    <p:animEffect transition="in" filter="wipe(left)">
                                      <p:cBhvr>
                                        <p:cTn id="24" dur="6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81" grpId="0" animBg="1"/>
    </p:bld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Adipocito B 0"/>
          <p:cNvGrpSpPr/>
          <p:nvPr/>
        </p:nvGrpSpPr>
        <p:grpSpPr>
          <a:xfrm>
            <a:off x="457200" y="914400"/>
            <a:ext cx="1783080" cy="1783080"/>
            <a:chOff x="457200" y="914400"/>
            <a:chExt cx="1783080" cy="1783080"/>
          </a:xfrm>
        </p:grpSpPr>
        <p:sp>
          <p:nvSpPr>
            <p:cNvPr id="8" name="Forma 7"/>
            <p:cNvSpPr/>
            <p:nvPr/>
          </p:nvSpPr>
          <p:spPr>
            <a:xfrm>
              <a:off x="457200" y="9144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546354" y="10035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741018" y="10213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599846" y="2233879"/>
              <a:ext cx="178308" cy="89154"/>
              <a:chOff x="599846" y="2233879"/>
              <a:chExt cx="178308" cy="89154"/>
            </a:xfrm>
          </p:grpSpPr>
          <p:sp>
            <p:nvSpPr>
              <p:cNvPr id="12" name="Forma 11"/>
              <p:cNvSpPr/>
              <p:nvPr/>
            </p:nvSpPr>
            <p:spPr>
              <a:xfrm rot="-2400000">
                <a:off x="599846" y="22338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612328" y="2246361"/>
                <a:ext cx="153345" cy="64191"/>
              </a:xfrm>
              <a:prstGeom prst="ellipse">
                <a:avLst/>
              </a:prstGeom>
              <a:solidFill>
                <a:srgbClr val="F8D8B4"/>
              </a:solidFill>
              <a:ln w="9525" cap="rnd">
                <a:solidFill>
                  <a:srgbClr val="B2732B"/>
                </a:solidFill>
                <a:round/>
              </a:ln>
            </p:spPr>
          </p:sp>
          <p:sp>
            <p:nvSpPr>
              <p:cNvPr id="14" name="Forma 13"/>
              <p:cNvSpPr/>
              <p:nvPr/>
            </p:nvSpPr>
            <p:spPr>
              <a:xfrm rot="-2400000">
                <a:off x="612328" y="22463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Adipocito B 1"/>
          <p:cNvGrpSpPr/>
          <p:nvPr/>
        </p:nvGrpSpPr>
        <p:grpSpPr>
          <a:xfrm>
            <a:off x="2377440" y="868680"/>
            <a:ext cx="1783080" cy="1783080"/>
            <a:chOff x="2377440" y="868680"/>
            <a:chExt cx="1783080" cy="1783080"/>
          </a:xfrm>
        </p:grpSpPr>
        <p:sp>
          <p:nvSpPr>
            <p:cNvPr id="16" name="Forma 15"/>
            <p:cNvSpPr/>
            <p:nvPr/>
          </p:nvSpPr>
          <p:spPr>
            <a:xfrm>
              <a:off x="2377440" y="86868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7" name="Gota lipídica_2"/>
            <p:cNvSpPr/>
            <p:nvPr/>
          </p:nvSpPr>
          <p:spPr>
            <a:xfrm>
              <a:off x="2466594" y="95783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8" name="Forma 17"/>
            <p:cNvSpPr/>
            <p:nvPr/>
          </p:nvSpPr>
          <p:spPr>
            <a:xfrm rot="2400000">
              <a:off x="3661258" y="97566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9" name="Mitocondria_2"/>
            <p:cNvGrpSpPr/>
            <p:nvPr/>
          </p:nvGrpSpPr>
          <p:grpSpPr>
            <a:xfrm>
              <a:off x="2520086" y="2188159"/>
              <a:ext cx="178308" cy="89154"/>
              <a:chOff x="2520086" y="2188159"/>
              <a:chExt cx="178308" cy="89154"/>
            </a:xfrm>
          </p:grpSpPr>
          <p:sp>
            <p:nvSpPr>
              <p:cNvPr id="20" name="Forma 19"/>
              <p:cNvSpPr/>
              <p:nvPr/>
            </p:nvSpPr>
            <p:spPr>
              <a:xfrm rot="-2400000">
                <a:off x="2520086" y="218815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2400000">
                <a:off x="2532568" y="2200641"/>
                <a:ext cx="153345" cy="64191"/>
              </a:xfrm>
              <a:prstGeom prst="ellipse">
                <a:avLst/>
              </a:prstGeom>
              <a:solidFill>
                <a:srgbClr val="F8D8B4"/>
              </a:solidFill>
              <a:ln w="9525" cap="rnd">
                <a:solidFill>
                  <a:srgbClr val="B2732B"/>
                </a:solidFill>
                <a:round/>
              </a:ln>
            </p:spPr>
          </p:sp>
          <p:sp>
            <p:nvSpPr>
              <p:cNvPr id="22" name="Forma 21"/>
              <p:cNvSpPr/>
              <p:nvPr/>
            </p:nvSpPr>
            <p:spPr>
              <a:xfrm rot="-2400000">
                <a:off x="2532568" y="220064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3" name="!!Adipocito B 2"/>
          <p:cNvGrpSpPr/>
          <p:nvPr/>
        </p:nvGrpSpPr>
        <p:grpSpPr>
          <a:xfrm>
            <a:off x="4297680" y="960120"/>
            <a:ext cx="1783080" cy="1783080"/>
            <a:chOff x="4297680" y="960120"/>
            <a:chExt cx="1783080" cy="1783080"/>
          </a:xfrm>
        </p:grpSpPr>
        <p:sp>
          <p:nvSpPr>
            <p:cNvPr id="24" name="Forma 23"/>
            <p:cNvSpPr/>
            <p:nvPr/>
          </p:nvSpPr>
          <p:spPr>
            <a:xfrm>
              <a:off x="4297680" y="9601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5" name="Gota lipídica_3"/>
            <p:cNvSpPr/>
            <p:nvPr/>
          </p:nvSpPr>
          <p:spPr>
            <a:xfrm>
              <a:off x="4386834" y="10492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6" name="Forma 25"/>
            <p:cNvSpPr/>
            <p:nvPr/>
          </p:nvSpPr>
          <p:spPr>
            <a:xfrm rot="2400000">
              <a:off x="5581498" y="10671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7" name="Mitocondria_3"/>
            <p:cNvGrpSpPr/>
            <p:nvPr/>
          </p:nvGrpSpPr>
          <p:grpSpPr>
            <a:xfrm>
              <a:off x="4440326" y="2279599"/>
              <a:ext cx="178308" cy="89154"/>
              <a:chOff x="4440326" y="2279599"/>
              <a:chExt cx="178308" cy="89154"/>
            </a:xfrm>
          </p:grpSpPr>
          <p:sp>
            <p:nvSpPr>
              <p:cNvPr id="28" name="Forma 27"/>
              <p:cNvSpPr/>
              <p:nvPr/>
            </p:nvSpPr>
            <p:spPr>
              <a:xfrm rot="-2400000">
                <a:off x="4440326" y="22795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2400000">
                <a:off x="4452808" y="2292081"/>
                <a:ext cx="153345" cy="64191"/>
              </a:xfrm>
              <a:prstGeom prst="ellipse">
                <a:avLst/>
              </a:prstGeom>
              <a:solidFill>
                <a:srgbClr val="F8D8B4"/>
              </a:solidFill>
              <a:ln w="9525" cap="rnd">
                <a:solidFill>
                  <a:srgbClr val="B2732B"/>
                </a:solidFill>
                <a:round/>
              </a:ln>
            </p:spPr>
          </p:sp>
          <p:sp>
            <p:nvSpPr>
              <p:cNvPr id="30" name="Forma 29"/>
              <p:cNvSpPr/>
              <p:nvPr/>
            </p:nvSpPr>
            <p:spPr>
              <a:xfrm rot="-2400000">
                <a:off x="4452808" y="22920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Adipocito B 3"/>
          <p:cNvGrpSpPr/>
          <p:nvPr/>
        </p:nvGrpSpPr>
        <p:grpSpPr>
          <a:xfrm>
            <a:off x="1097280" y="2743200"/>
            <a:ext cx="1783080" cy="1783080"/>
            <a:chOff x="1097280" y="2743200"/>
            <a:chExt cx="1783080" cy="1783080"/>
          </a:xfrm>
        </p:grpSpPr>
        <p:sp>
          <p:nvSpPr>
            <p:cNvPr id="32" name="Forma 31"/>
            <p:cNvSpPr/>
            <p:nvPr/>
          </p:nvSpPr>
          <p:spPr>
            <a:xfrm>
              <a:off x="109728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3" name="Gota lipídica_4"/>
            <p:cNvSpPr/>
            <p:nvPr/>
          </p:nvSpPr>
          <p:spPr>
            <a:xfrm>
              <a:off x="118643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4" name="Forma 33"/>
            <p:cNvSpPr/>
            <p:nvPr/>
          </p:nvSpPr>
          <p:spPr>
            <a:xfrm rot="2400000">
              <a:off x="238109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5" name="Mitocondria_4"/>
            <p:cNvGrpSpPr/>
            <p:nvPr/>
          </p:nvGrpSpPr>
          <p:grpSpPr>
            <a:xfrm>
              <a:off x="1239926" y="4062679"/>
              <a:ext cx="178308" cy="89154"/>
              <a:chOff x="1239926" y="4062679"/>
              <a:chExt cx="178308" cy="89154"/>
            </a:xfrm>
          </p:grpSpPr>
          <p:sp>
            <p:nvSpPr>
              <p:cNvPr id="36" name="Forma 35"/>
              <p:cNvSpPr/>
              <p:nvPr/>
            </p:nvSpPr>
            <p:spPr>
              <a:xfrm rot="-2400000">
                <a:off x="123992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7" name="Forma 36"/>
              <p:cNvSpPr/>
              <p:nvPr/>
            </p:nvSpPr>
            <p:spPr>
              <a:xfrm rot="-2400000">
                <a:off x="1252408" y="4075161"/>
                <a:ext cx="153345" cy="64191"/>
              </a:xfrm>
              <a:prstGeom prst="ellipse">
                <a:avLst/>
              </a:prstGeom>
              <a:solidFill>
                <a:srgbClr val="F8D8B4"/>
              </a:solidFill>
              <a:ln w="9525" cap="rnd">
                <a:solidFill>
                  <a:srgbClr val="B2732B"/>
                </a:solidFill>
                <a:round/>
              </a:ln>
            </p:spPr>
          </p:sp>
          <p:sp>
            <p:nvSpPr>
              <p:cNvPr id="38" name="Forma 37"/>
              <p:cNvSpPr/>
              <p:nvPr/>
            </p:nvSpPr>
            <p:spPr>
              <a:xfrm rot="-2400000">
                <a:off x="125240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9" name="!!Adipocito B 4"/>
          <p:cNvGrpSpPr/>
          <p:nvPr/>
        </p:nvGrpSpPr>
        <p:grpSpPr>
          <a:xfrm>
            <a:off x="3108960" y="2788920"/>
            <a:ext cx="1783080" cy="1783080"/>
            <a:chOff x="3108960" y="2788920"/>
            <a:chExt cx="1783080" cy="1783080"/>
          </a:xfrm>
        </p:grpSpPr>
        <p:sp>
          <p:nvSpPr>
            <p:cNvPr id="40" name="Forma 39"/>
            <p:cNvSpPr/>
            <p:nvPr/>
          </p:nvSpPr>
          <p:spPr>
            <a:xfrm>
              <a:off x="3108960" y="27889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1" name="Gota lipídica_5"/>
            <p:cNvSpPr/>
            <p:nvPr/>
          </p:nvSpPr>
          <p:spPr>
            <a:xfrm>
              <a:off x="3198114" y="28780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2" name="Forma 41"/>
            <p:cNvSpPr/>
            <p:nvPr/>
          </p:nvSpPr>
          <p:spPr>
            <a:xfrm rot="2400000">
              <a:off x="4392778" y="28959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3" name="Mitocondria_5"/>
            <p:cNvGrpSpPr/>
            <p:nvPr/>
          </p:nvGrpSpPr>
          <p:grpSpPr>
            <a:xfrm>
              <a:off x="3251606" y="4108399"/>
              <a:ext cx="178308" cy="89154"/>
              <a:chOff x="3251606" y="4108399"/>
              <a:chExt cx="178308" cy="89154"/>
            </a:xfrm>
          </p:grpSpPr>
          <p:sp>
            <p:nvSpPr>
              <p:cNvPr id="44" name="Forma 43"/>
              <p:cNvSpPr/>
              <p:nvPr/>
            </p:nvSpPr>
            <p:spPr>
              <a:xfrm rot="-2400000">
                <a:off x="3251606" y="41083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5" name="Forma 44"/>
              <p:cNvSpPr/>
              <p:nvPr/>
            </p:nvSpPr>
            <p:spPr>
              <a:xfrm rot="-2400000">
                <a:off x="3264088" y="4120881"/>
                <a:ext cx="153345" cy="64191"/>
              </a:xfrm>
              <a:prstGeom prst="ellipse">
                <a:avLst/>
              </a:prstGeom>
              <a:solidFill>
                <a:srgbClr val="F8D8B4"/>
              </a:solidFill>
              <a:ln w="9525" cap="rnd">
                <a:solidFill>
                  <a:srgbClr val="B2732B"/>
                </a:solidFill>
                <a:round/>
              </a:ln>
            </p:spPr>
          </p:sp>
          <p:sp>
            <p:nvSpPr>
              <p:cNvPr id="46" name="Forma 45"/>
              <p:cNvSpPr/>
              <p:nvPr/>
            </p:nvSpPr>
            <p:spPr>
              <a:xfrm rot="-2400000">
                <a:off x="3264088" y="41208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7" name="!!Adipocito B 5"/>
          <p:cNvGrpSpPr/>
          <p:nvPr/>
        </p:nvGrpSpPr>
        <p:grpSpPr>
          <a:xfrm>
            <a:off x="5120640" y="2743200"/>
            <a:ext cx="1783080" cy="1783080"/>
            <a:chOff x="5120640" y="2743200"/>
            <a:chExt cx="1783080" cy="1783080"/>
          </a:xfrm>
        </p:grpSpPr>
        <p:sp>
          <p:nvSpPr>
            <p:cNvPr id="48" name="Forma 47"/>
            <p:cNvSpPr/>
            <p:nvPr/>
          </p:nvSpPr>
          <p:spPr>
            <a:xfrm>
              <a:off x="512064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9" name="Gota lipídica_6"/>
            <p:cNvSpPr/>
            <p:nvPr/>
          </p:nvSpPr>
          <p:spPr>
            <a:xfrm>
              <a:off x="520979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0" name="Forma 49"/>
            <p:cNvSpPr/>
            <p:nvPr/>
          </p:nvSpPr>
          <p:spPr>
            <a:xfrm rot="2400000">
              <a:off x="640445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1" name="Mitocondria_6"/>
            <p:cNvGrpSpPr/>
            <p:nvPr/>
          </p:nvGrpSpPr>
          <p:grpSpPr>
            <a:xfrm>
              <a:off x="5263286" y="4062679"/>
              <a:ext cx="178308" cy="89154"/>
              <a:chOff x="5263286" y="4062679"/>
              <a:chExt cx="178308" cy="89154"/>
            </a:xfrm>
          </p:grpSpPr>
          <p:sp>
            <p:nvSpPr>
              <p:cNvPr id="52" name="Forma 51"/>
              <p:cNvSpPr/>
              <p:nvPr/>
            </p:nvSpPr>
            <p:spPr>
              <a:xfrm rot="-2400000">
                <a:off x="526328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3" name="Forma 52"/>
              <p:cNvSpPr/>
              <p:nvPr/>
            </p:nvSpPr>
            <p:spPr>
              <a:xfrm rot="-2400000">
                <a:off x="5275768" y="4075161"/>
                <a:ext cx="153345" cy="64191"/>
              </a:xfrm>
              <a:prstGeom prst="ellipse">
                <a:avLst/>
              </a:prstGeom>
              <a:solidFill>
                <a:srgbClr val="F8D8B4"/>
              </a:solidFill>
              <a:ln w="9525" cap="rnd">
                <a:solidFill>
                  <a:srgbClr val="B2732B"/>
                </a:solidFill>
                <a:round/>
              </a:ln>
            </p:spPr>
          </p:sp>
          <p:sp>
            <p:nvSpPr>
              <p:cNvPr id="54" name="Forma 53"/>
              <p:cNvSpPr/>
              <p:nvPr/>
            </p:nvSpPr>
            <p:spPr>
              <a:xfrm rot="-2400000">
                <a:off x="527576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5" name="!!Capilar B"/>
          <p:cNvGrpSpPr/>
          <p:nvPr/>
        </p:nvGrpSpPr>
        <p:grpSpPr>
          <a:xfrm>
            <a:off x="365760" y="5074920"/>
            <a:ext cx="6949440" cy="411480"/>
            <a:chOff x="365760" y="5074920"/>
            <a:chExt cx="6949440" cy="411480"/>
          </a:xfrm>
        </p:grpSpPr>
        <p:sp>
          <p:nvSpPr>
            <p:cNvPr id="56" name="Forma 55"/>
            <p:cNvSpPr/>
            <p:nvPr/>
          </p:nvSpPr>
          <p:spPr>
            <a:xfrm>
              <a:off x="365760" y="5074920"/>
              <a:ext cx="6949440" cy="41148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7" name="Forma 56"/>
            <p:cNvSpPr/>
            <p:nvPr/>
          </p:nvSpPr>
          <p:spPr>
            <a:xfrm>
              <a:off x="427482" y="5148986"/>
              <a:ext cx="6825996" cy="263347"/>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8" name="Eritrocito"/>
            <p:cNvSpPr/>
            <p:nvPr/>
          </p:nvSpPr>
          <p:spPr>
            <a:xfrm>
              <a:off x="850872" y="527529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2"/>
            <p:cNvSpPr/>
            <p:nvPr/>
          </p:nvSpPr>
          <p:spPr>
            <a:xfrm>
              <a:off x="1456348" y="5186521"/>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3"/>
            <p:cNvSpPr/>
            <p:nvPr/>
          </p:nvSpPr>
          <p:spPr>
            <a:xfrm>
              <a:off x="2696775" y="5253499"/>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4"/>
            <p:cNvSpPr/>
            <p:nvPr/>
          </p:nvSpPr>
          <p:spPr>
            <a:xfrm>
              <a:off x="3579816" y="5209488"/>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5"/>
            <p:cNvSpPr/>
            <p:nvPr/>
          </p:nvSpPr>
          <p:spPr>
            <a:xfrm>
              <a:off x="4501436" y="5240212"/>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3" name="Eritrocito_6"/>
            <p:cNvSpPr/>
            <p:nvPr/>
          </p:nvSpPr>
          <p:spPr>
            <a:xfrm>
              <a:off x="5437828" y="519408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4" name="Eritrocito_7"/>
            <p:cNvSpPr/>
            <p:nvPr/>
          </p:nvSpPr>
          <p:spPr>
            <a:xfrm>
              <a:off x="6326632" y="521827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pic>
        <p:nvPicPr>
          <p:cNvPr id="65" name="!!Macrófago B 0" descr="Ilustración biomédica (Servier Medical Art, CC BY)"/>
          <p:cNvPicPr>
            <a:picLocks noChangeAspect="1"/>
          </p:cNvPicPr>
          <p:nvPr/>
        </p:nvPicPr>
        <p:blipFill>
          <a:blip r:embed="rId2"/>
          <a:stretch>
            <a:fillRect/>
          </a:stretch>
        </p:blipFill>
        <p:spPr>
          <a:xfrm>
            <a:off x="2148840" y="2331720"/>
            <a:ext cx="685800" cy="742552"/>
          </a:xfrm>
          <a:prstGeom prst="rect">
            <a:avLst/>
          </a:prstGeom>
        </p:spPr>
      </p:pic>
      <p:pic>
        <p:nvPicPr>
          <p:cNvPr id="66" name="!!Macrófago B 1" descr="Ilustración biomédica (Servier Medical Art, CC BY)"/>
          <p:cNvPicPr>
            <a:picLocks noChangeAspect="1"/>
          </p:cNvPicPr>
          <p:nvPr/>
        </p:nvPicPr>
        <p:blipFill>
          <a:blip r:embed="rId2"/>
          <a:stretch>
            <a:fillRect/>
          </a:stretch>
        </p:blipFill>
        <p:spPr>
          <a:xfrm>
            <a:off x="4069080" y="2377440"/>
            <a:ext cx="685800" cy="742552"/>
          </a:xfrm>
          <a:prstGeom prst="rect">
            <a:avLst/>
          </a:prstGeom>
        </p:spPr>
      </p:pic>
      <p:pic>
        <p:nvPicPr>
          <p:cNvPr id="67" name="!!Macrófago B 2" descr="Ilustración biomédica (Servier Medical Art, CC BY)"/>
          <p:cNvPicPr>
            <a:picLocks noChangeAspect="1"/>
          </p:cNvPicPr>
          <p:nvPr/>
        </p:nvPicPr>
        <p:blipFill>
          <a:blip r:embed="rId2"/>
          <a:stretch>
            <a:fillRect/>
          </a:stretch>
        </p:blipFill>
        <p:spPr>
          <a:xfrm>
            <a:off x="6080760" y="2331720"/>
            <a:ext cx="685800" cy="742552"/>
          </a:xfrm>
          <a:prstGeom prst="rect">
            <a:avLst/>
          </a:prstGeom>
        </p:spPr>
      </p:pic>
      <p:pic>
        <p:nvPicPr>
          <p:cNvPr id="68" name="!!Macrófago B 3" descr="Ilustración biomédica (Servier Medical Art, CC BY)"/>
          <p:cNvPicPr>
            <a:picLocks noChangeAspect="1"/>
          </p:cNvPicPr>
          <p:nvPr/>
        </p:nvPicPr>
        <p:blipFill>
          <a:blip r:embed="rId2"/>
          <a:stretch>
            <a:fillRect/>
          </a:stretch>
        </p:blipFill>
        <p:spPr>
          <a:xfrm>
            <a:off x="2788920" y="4114800"/>
            <a:ext cx="685800" cy="742552"/>
          </a:xfrm>
          <a:prstGeom prst="rect">
            <a:avLst/>
          </a:prstGeom>
        </p:spPr>
      </p:pic>
      <p:grpSp>
        <p:nvGrpSpPr>
          <p:cNvPr id="69" name="!!Progreso B"/>
          <p:cNvGrpSpPr/>
          <p:nvPr/>
        </p:nvGrpSpPr>
        <p:grpSpPr>
          <a:xfrm>
            <a:off x="365760" y="5833872"/>
            <a:ext cx="11448288" cy="457200"/>
            <a:chOff x="365760" y="5833872"/>
            <a:chExt cx="11448288" cy="457200"/>
          </a:xfrm>
        </p:grpSpPr>
        <p:sp>
          <p:nvSpPr>
            <p:cNvPr id="70" name="Forma 69"/>
            <p:cNvSpPr/>
            <p:nvPr/>
          </p:nvSpPr>
          <p:spPr>
            <a:xfrm>
              <a:off x="36576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Adipocito funcional</a:t>
              </a:r>
              <a:endParaRPr lang="es-AR" sz="1150" dirty="0">
                <a:latin typeface="Fira Sans Condensed"/>
              </a:endParaRPr>
            </a:p>
          </p:txBody>
        </p:sp>
        <p:sp>
          <p:nvSpPr>
            <p:cNvPr id="71" name="Forma 70"/>
            <p:cNvSpPr/>
            <p:nvPr/>
          </p:nvSpPr>
          <p:spPr>
            <a:xfrm>
              <a:off x="201168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Expansión</a:t>
              </a:r>
              <a:endParaRPr lang="es-AR" sz="1150" dirty="0">
                <a:latin typeface="Fira Sans Condensed"/>
              </a:endParaRPr>
            </a:p>
          </p:txBody>
        </p:sp>
        <p:sp>
          <p:nvSpPr>
            <p:cNvPr id="72" name="Flecha 71_2"/>
            <p:cNvSpPr/>
            <p:nvPr/>
          </p:nvSpPr>
          <p:spPr>
            <a:xfrm>
              <a:off x="19385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3" name="Forma 73"/>
            <p:cNvSpPr/>
            <p:nvPr/>
          </p:nvSpPr>
          <p:spPr>
            <a:xfrm>
              <a:off x="365760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Hipertrofia</a:t>
              </a:r>
              <a:endParaRPr lang="es-AR" sz="1150" dirty="0">
                <a:latin typeface="Fira Sans Condensed"/>
              </a:endParaRPr>
            </a:p>
          </p:txBody>
        </p:sp>
        <p:sp>
          <p:nvSpPr>
            <p:cNvPr id="74" name="Flecha 74_2"/>
            <p:cNvSpPr/>
            <p:nvPr/>
          </p:nvSpPr>
          <p:spPr>
            <a:xfrm>
              <a:off x="358444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5" name="Forma 76"/>
            <p:cNvSpPr/>
            <p:nvPr/>
          </p:nvSpPr>
          <p:spPr>
            <a:xfrm>
              <a:off x="530352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Hipoxia</a:t>
              </a:r>
              <a:endParaRPr lang="es-AR" sz="1150" dirty="0">
                <a:latin typeface="Fira Sans Condensed"/>
              </a:endParaRPr>
            </a:p>
          </p:txBody>
        </p:sp>
        <p:sp>
          <p:nvSpPr>
            <p:cNvPr id="76" name="Flecha 77_2"/>
            <p:cNvSpPr/>
            <p:nvPr/>
          </p:nvSpPr>
          <p:spPr>
            <a:xfrm>
              <a:off x="523036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7" name="Forma 79"/>
            <p:cNvSpPr/>
            <p:nvPr/>
          </p:nvSpPr>
          <p:spPr>
            <a:xfrm>
              <a:off x="6949440" y="5833872"/>
              <a:ext cx="1572768" cy="457200"/>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78" name="Flecha 80_2"/>
            <p:cNvSpPr/>
            <p:nvPr/>
          </p:nvSpPr>
          <p:spPr>
            <a:xfrm>
              <a:off x="687628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9" name="Forma 82"/>
            <p:cNvSpPr/>
            <p:nvPr/>
          </p:nvSpPr>
          <p:spPr>
            <a:xfrm>
              <a:off x="859536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Resistencia insulínica</a:t>
              </a:r>
              <a:endParaRPr lang="es-AR" sz="1150" dirty="0">
                <a:latin typeface="Fira Sans Condensed"/>
              </a:endParaRPr>
            </a:p>
          </p:txBody>
        </p:sp>
        <p:sp>
          <p:nvSpPr>
            <p:cNvPr id="80" name="Flecha 83_2"/>
            <p:cNvSpPr/>
            <p:nvPr/>
          </p:nvSpPr>
          <p:spPr>
            <a:xfrm>
              <a:off x="852220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81" name="Forma 85"/>
            <p:cNvSpPr/>
            <p:nvPr/>
          </p:nvSpPr>
          <p:spPr>
            <a:xfrm>
              <a:off x="102412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Sistémico</a:t>
              </a:r>
              <a:endParaRPr lang="es-AR" sz="1150" dirty="0">
                <a:latin typeface="Fira Sans Condensed"/>
              </a:endParaRPr>
            </a:p>
          </p:txBody>
        </p:sp>
        <p:sp>
          <p:nvSpPr>
            <p:cNvPr id="82" name="Flecha 86_2"/>
            <p:cNvSpPr/>
            <p:nvPr/>
          </p:nvSpPr>
          <p:spPr>
            <a:xfrm>
              <a:off x="101681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grpSp>
      <p:sp>
        <p:nvSpPr>
          <p:cNvPr id="83" name="MCP 0"/>
          <p:cNvSpPr/>
          <p:nvPr/>
        </p:nvSpPr>
        <p:spPr>
          <a:xfrm>
            <a:off x="548640" y="4617720"/>
            <a:ext cx="1097280" cy="38404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MCP-1</a:t>
            </a:r>
            <a:endParaRPr lang="es-AR" sz="1200" dirty="0">
              <a:latin typeface="Fira Sans Condensed"/>
            </a:endParaRPr>
          </a:p>
        </p:txBody>
      </p:sp>
      <p:sp>
        <p:nvSpPr>
          <p:cNvPr id="84" name="MCP 1"/>
          <p:cNvSpPr/>
          <p:nvPr/>
        </p:nvSpPr>
        <p:spPr>
          <a:xfrm>
            <a:off x="2651760" y="4617720"/>
            <a:ext cx="1097280" cy="38404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MCP-1</a:t>
            </a:r>
            <a:endParaRPr lang="es-AR" sz="1200" dirty="0">
              <a:latin typeface="Fira Sans Condensed"/>
            </a:endParaRPr>
          </a:p>
        </p:txBody>
      </p:sp>
      <p:sp>
        <p:nvSpPr>
          <p:cNvPr id="85" name="MCP 2"/>
          <p:cNvSpPr/>
          <p:nvPr/>
        </p:nvSpPr>
        <p:spPr>
          <a:xfrm>
            <a:off x="4754880" y="4617720"/>
            <a:ext cx="1097280" cy="38404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MCP-1</a:t>
            </a:r>
            <a:endParaRPr lang="es-AR" sz="1200" dirty="0">
              <a:latin typeface="Fira Sans Condensed"/>
            </a:endParaRPr>
          </a:p>
        </p:txBody>
      </p:sp>
      <p:sp>
        <p:nvSpPr>
          <p:cNvPr id="86" name="Estructura en corona"/>
          <p:cNvSpPr/>
          <p:nvPr/>
        </p:nvSpPr>
        <p:spPr>
          <a:xfrm>
            <a:off x="3794760" y="2240280"/>
            <a:ext cx="2194560" cy="2194560"/>
          </a:xfrm>
          <a:prstGeom prst="ellipse">
            <a:avLst/>
          </a:prstGeom>
          <a:noFill/>
          <a:ln w="44450" cap="rnd">
            <a:solidFill>
              <a:srgbClr val="C00000"/>
            </a:solidFill>
            <a:prstDash val="dash"/>
            <a:round/>
          </a:ln>
        </p:spPr>
      </p:sp>
      <p:grpSp>
        <p:nvGrpSpPr>
          <p:cNvPr id="87" name="!!Panel B"/>
          <p:cNvGrpSpPr/>
          <p:nvPr/>
        </p:nvGrpSpPr>
        <p:grpSpPr>
          <a:xfrm>
            <a:off x="7818120" y="1051560"/>
            <a:ext cx="4023360" cy="4572000"/>
            <a:chOff x="7818120" y="1051560"/>
            <a:chExt cx="4023360" cy="4572000"/>
          </a:xfrm>
        </p:grpSpPr>
        <p:sp>
          <p:nvSpPr>
            <p:cNvPr id="88" name="Forma 93"/>
            <p:cNvSpPr/>
            <p:nvPr/>
          </p:nvSpPr>
          <p:spPr>
            <a:xfrm>
              <a:off x="7818120" y="1252728"/>
              <a:ext cx="4023360" cy="4370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MCP-1/CCL2</a:t>
              </a:r>
              <a:r>
                <a:rPr lang="es-AR" sz="1450" dirty="0">
                  <a:solidFill>
                    <a:srgbClr val="1E1E1E"/>
                  </a:solidFill>
                  <a:latin typeface="Fira Sans Condensed"/>
                  <a:ea typeface="Fira Sans Condensed"/>
                  <a:cs typeface="Fira Sans Condensed"/>
                  <a:sym typeface="Fira Sans Condensed"/>
                </a:rPr>
                <a:t> recluta monocitos → </a:t>
              </a:r>
              <a:r>
                <a:rPr lang="es-AR" sz="1450" b="1" dirty="0">
                  <a:solidFill>
                    <a:srgbClr val="1E1E1E"/>
                  </a:solidFill>
                  <a:latin typeface="Fira Sans Condensed"/>
                  <a:ea typeface="Fira Sans Condensed"/>
                  <a:cs typeface="Fira Sans Condensed"/>
                  <a:sym typeface="Fira Sans Condensed"/>
                </a:rPr>
                <a:t>macrófagos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Estructuras en corona</a:t>
              </a:r>
              <a:r>
                <a:rPr lang="es-AR" sz="1450" dirty="0">
                  <a:solidFill>
                    <a:srgbClr val="1E1E1E"/>
                  </a:solidFill>
                  <a:latin typeface="Fira Sans Condensed"/>
                  <a:ea typeface="Fira Sans Condensed"/>
                  <a:cs typeface="Fira Sans Condensed"/>
                  <a:sym typeface="Fira Sans Condensed"/>
                </a:rPr>
                <a:t> alrededor de adipocitos dañados.</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ROS, fibrosis, señales de estrés.</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M1/M2 es una </a:t>
              </a:r>
              <a:r>
                <a:rPr lang="es-AR" sz="1450" b="1" dirty="0">
                  <a:solidFill>
                    <a:srgbClr val="1E1E1E"/>
                  </a:solidFill>
                  <a:latin typeface="Fira Sans Condensed"/>
                  <a:ea typeface="Fira Sans Condensed"/>
                  <a:cs typeface="Fira Sans Condensed"/>
                  <a:sym typeface="Fira Sans Condensed"/>
                </a:rPr>
                <a:t>simplificación</a:t>
              </a:r>
              <a:r>
                <a:rPr lang="es-AR" sz="1450" dirty="0">
                  <a:solidFill>
                    <a:srgbClr val="1E1E1E"/>
                  </a:solidFill>
                  <a:latin typeface="Fira Sans Condensed"/>
                  <a:ea typeface="Fira Sans Condensed"/>
                  <a:cs typeface="Fira Sans Condensed"/>
                  <a:sym typeface="Fira Sans Condensed"/>
                </a:rPr>
                <a:t> de un continuo; no todo macrófago es perjudicial.</a:t>
              </a:r>
              <a:endParaRPr lang="es-AR" sz="1450" dirty="0">
                <a:latin typeface="Fira Sans Condensed"/>
              </a:endParaRPr>
            </a:p>
          </p:txBody>
        </p:sp>
        <p:sp>
          <p:nvSpPr>
            <p:cNvPr id="89" name="Forma 94"/>
            <p:cNvSpPr/>
            <p:nvPr/>
          </p:nvSpPr>
          <p:spPr>
            <a:xfrm>
              <a:off x="7955280" y="1051560"/>
              <a:ext cx="1843712" cy="384048"/>
            </a:xfrm>
            <a:prstGeom prst="rect">
              <a:avLst/>
            </a:prstGeom>
            <a:solidFill>
              <a:srgbClr val="F4877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METAINFLAMACIÓN</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B · 4 · INFILTRACIÓN MACROFÁGICA</a:t>
            </a:r>
            <a:endParaRPr lang="es-AR" sz="34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9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1"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3"/>
                                        </p:tgtEl>
                                        <p:attrNameLst>
                                          <p:attrName>style.visibility</p:attrName>
                                        </p:attrNameLst>
                                      </p:cBhvr>
                                      <p:to>
                                        <p:strVal val="visible"/>
                                      </p:to>
                                    </p:set>
                                    <p:anim calcmode="lin" valueType="num">
                                      <p:cBhvr>
                                        <p:cTn id="5" dur="500" fill="hold"/>
                                        <p:tgtEl>
                                          <p:spTgt spid="83"/>
                                        </p:tgtEl>
                                        <p:attrNameLst>
                                          <p:attrName>ppt_w</p:attrName>
                                        </p:attrNameLst>
                                      </p:cBhvr>
                                      <p:tavLst>
                                        <p:tav tm="0">
                                          <p:val>
                                            <p:fltVal val="0"/>
                                          </p:val>
                                        </p:tav>
                                        <p:tav tm="100000">
                                          <p:val>
                                            <p:strVal val="#ppt_w"/>
                                          </p:val>
                                        </p:tav>
                                      </p:tavLst>
                                    </p:anim>
                                    <p:anim calcmode="lin" valueType="num">
                                      <p:cBhvr>
                                        <p:cTn id="6" dur="500" fill="hold"/>
                                        <p:tgtEl>
                                          <p:spTgt spid="83"/>
                                        </p:tgtEl>
                                        <p:attrNameLst>
                                          <p:attrName>ppt_h</p:attrName>
                                        </p:attrNameLst>
                                      </p:cBhvr>
                                      <p:tavLst>
                                        <p:tav tm="0">
                                          <p:val>
                                            <p:fltVal val="0"/>
                                          </p:val>
                                        </p:tav>
                                        <p:tav tm="100000">
                                          <p:val>
                                            <p:strVal val="#ppt_h"/>
                                          </p:val>
                                        </p:tav>
                                      </p:tavLst>
                                    </p:anim>
                                    <p:animEffect transition="in" filter="fade">
                                      <p:cBhvr>
                                        <p:cTn id="7" dur="500"/>
                                        <p:tgtEl>
                                          <p:spTgt spid="83"/>
                                        </p:tgtEl>
                                      </p:cBhvr>
                                    </p:animEffect>
                                  </p:childTnLst>
                                </p:cTn>
                              </p:par>
                            </p:childTnLst>
                          </p:cTn>
                        </p:par>
                        <p:par>
                          <p:cTn id="14"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84"/>
                                        </p:tgtEl>
                                        <p:attrNameLst>
                                          <p:attrName>style.visibility</p:attrName>
                                        </p:attrNameLst>
                                      </p:cBhvr>
                                      <p:to>
                                        <p:strVal val="visible"/>
                                      </p:to>
                                    </p:set>
                                    <p:anim calcmode="lin" valueType="num">
                                      <p:cBhvr>
                                        <p:cTn id="11" dur="500" fill="hold"/>
                                        <p:tgtEl>
                                          <p:spTgt spid="84"/>
                                        </p:tgtEl>
                                        <p:attrNameLst>
                                          <p:attrName>ppt_w</p:attrName>
                                        </p:attrNameLst>
                                      </p:cBhvr>
                                      <p:tavLst>
                                        <p:tav tm="0">
                                          <p:val>
                                            <p:fltVal val="0"/>
                                          </p:val>
                                        </p:tav>
                                        <p:tav tm="100000">
                                          <p:val>
                                            <p:strVal val="#ppt_w"/>
                                          </p:val>
                                        </p:tav>
                                      </p:tavLst>
                                    </p:anim>
                                    <p:anim calcmode="lin" valueType="num">
                                      <p:cBhvr>
                                        <p:cTn id="12" dur="500" fill="hold"/>
                                        <p:tgtEl>
                                          <p:spTgt spid="84"/>
                                        </p:tgtEl>
                                        <p:attrNameLst>
                                          <p:attrName>ppt_h</p:attrName>
                                        </p:attrNameLst>
                                      </p:cBhvr>
                                      <p:tavLst>
                                        <p:tav tm="0">
                                          <p:val>
                                            <p:fltVal val="0"/>
                                          </p:val>
                                        </p:tav>
                                        <p:tav tm="100000">
                                          <p:val>
                                            <p:strVal val="#ppt_h"/>
                                          </p:val>
                                        </p:tav>
                                      </p:tavLst>
                                    </p:anim>
                                    <p:animEffect transition="in" filter="fade">
                                      <p:cBhvr>
                                        <p:cTn id="13" dur="500"/>
                                        <p:tgtEl>
                                          <p:spTgt spid="84"/>
                                        </p:tgtEl>
                                      </p:cBhvr>
                                    </p:animEffect>
                                  </p:childTnLst>
                                </p:cTn>
                              </p:par>
                            </p:childTnLst>
                          </p:cTn>
                        </p:par>
                        <p:par>
                          <p:cTn id="20"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5"/>
                                        </p:tgtEl>
                                        <p:attrNameLst>
                                          <p:attrName>style.visibility</p:attrName>
                                        </p:attrNameLst>
                                      </p:cBhvr>
                                      <p:to>
                                        <p:strVal val="visible"/>
                                      </p:to>
                                    </p:set>
                                    <p:anim calcmode="lin" valueType="num">
                                      <p:cBhvr>
                                        <p:cTn id="17" dur="500" fill="hold"/>
                                        <p:tgtEl>
                                          <p:spTgt spid="85"/>
                                        </p:tgtEl>
                                        <p:attrNameLst>
                                          <p:attrName>ppt_w</p:attrName>
                                        </p:attrNameLst>
                                      </p:cBhvr>
                                      <p:tavLst>
                                        <p:tav tm="0">
                                          <p:val>
                                            <p:fltVal val="0"/>
                                          </p:val>
                                        </p:tav>
                                        <p:tav tm="100000">
                                          <p:val>
                                            <p:strVal val="#ppt_w"/>
                                          </p:val>
                                        </p:tav>
                                      </p:tavLst>
                                    </p:anim>
                                    <p:anim calcmode="lin" valueType="num">
                                      <p:cBhvr>
                                        <p:cTn id="18" dur="500" fill="hold"/>
                                        <p:tgtEl>
                                          <p:spTgt spid="85"/>
                                        </p:tgtEl>
                                        <p:attrNameLst>
                                          <p:attrName>ppt_h</p:attrName>
                                        </p:attrNameLst>
                                      </p:cBhvr>
                                      <p:tavLst>
                                        <p:tav tm="0">
                                          <p:val>
                                            <p:fltVal val="0"/>
                                          </p:val>
                                        </p:tav>
                                        <p:tav tm="100000">
                                          <p:val>
                                            <p:strVal val="#ppt_h"/>
                                          </p:val>
                                        </p:tav>
                                      </p:tavLst>
                                    </p:anim>
                                    <p:animEffect transition="in" filter="fade">
                                      <p:cBhvr>
                                        <p:cTn id="19" dur="500"/>
                                        <p:tgtEl>
                                          <p:spTgt spid="85"/>
                                        </p:tgtEl>
                                      </p:cBhvr>
                                    </p:animEffect>
                                  </p:childTnLst>
                                </p:cTn>
                              </p:par>
                            </p:childTnLst>
                          </p:cTn>
                        </p:par>
                      </p:childTnLst>
                    </p:cTn>
                  </p:par>
                  <p:par>
                    <p:cTn id="28" fill="hold">
                      <p:stCondLst>
                        <p:cond delay="indefinite"/>
                      </p:stCondLst>
                      <p:childTnLst>
                        <p:par>
                          <p:cTn id="27"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86"/>
                                        </p:tgtEl>
                                        <p:attrNameLst>
                                          <p:attrName>style.visibility</p:attrName>
                                        </p:attrNameLst>
                                      </p:cBhvr>
                                      <p:to>
                                        <p:strVal val="visible"/>
                                      </p:to>
                                    </p:set>
                                    <p:anim calcmode="lin" valueType="num">
                                      <p:cBhvr>
                                        <p:cTn id="24" dur="500" fill="hold"/>
                                        <p:tgtEl>
                                          <p:spTgt spid="86"/>
                                        </p:tgtEl>
                                        <p:attrNameLst>
                                          <p:attrName>ppt_w</p:attrName>
                                        </p:attrNameLst>
                                      </p:cBhvr>
                                      <p:tavLst>
                                        <p:tav tm="0">
                                          <p:val>
                                            <p:fltVal val="0"/>
                                          </p:val>
                                        </p:tav>
                                        <p:tav tm="100000">
                                          <p:val>
                                            <p:strVal val="#ppt_w"/>
                                          </p:val>
                                        </p:tav>
                                      </p:tavLst>
                                    </p:anim>
                                    <p:anim calcmode="lin" valueType="num">
                                      <p:cBhvr>
                                        <p:cTn id="25" dur="500" fill="hold"/>
                                        <p:tgtEl>
                                          <p:spTgt spid="86"/>
                                        </p:tgtEl>
                                        <p:attrNameLst>
                                          <p:attrName>ppt_h</p:attrName>
                                        </p:attrNameLst>
                                      </p:cBhvr>
                                      <p:tavLst>
                                        <p:tav tm="0">
                                          <p:val>
                                            <p:fltVal val="0"/>
                                          </p:val>
                                        </p:tav>
                                        <p:tav tm="100000">
                                          <p:val>
                                            <p:strVal val="#ppt_h"/>
                                          </p:val>
                                        </p:tav>
                                      </p:tavLst>
                                    </p:anim>
                                    <p:animEffect transition="in" filter="fade">
                                      <p:cBhvr>
                                        <p:cTn id="26"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5" grpId="0" animBg="1"/>
      <p:bldP spid="86" grpId="0" animBg="1"/>
    </p:bld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Adipocito B 0"/>
          <p:cNvGrpSpPr/>
          <p:nvPr/>
        </p:nvGrpSpPr>
        <p:grpSpPr>
          <a:xfrm>
            <a:off x="457200" y="914400"/>
            <a:ext cx="1783080" cy="1783080"/>
            <a:chOff x="457200" y="914400"/>
            <a:chExt cx="1783080" cy="1783080"/>
          </a:xfrm>
        </p:grpSpPr>
        <p:sp>
          <p:nvSpPr>
            <p:cNvPr id="8" name="Forma 7"/>
            <p:cNvSpPr/>
            <p:nvPr/>
          </p:nvSpPr>
          <p:spPr>
            <a:xfrm>
              <a:off x="457200" y="9144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9" name="Gota lipídica"/>
            <p:cNvSpPr/>
            <p:nvPr/>
          </p:nvSpPr>
          <p:spPr>
            <a:xfrm>
              <a:off x="546354" y="10035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0" name="Forma 9"/>
            <p:cNvSpPr/>
            <p:nvPr/>
          </p:nvSpPr>
          <p:spPr>
            <a:xfrm rot="2400000">
              <a:off x="1741018" y="10213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1" name="Mitocondria"/>
            <p:cNvGrpSpPr/>
            <p:nvPr/>
          </p:nvGrpSpPr>
          <p:grpSpPr>
            <a:xfrm>
              <a:off x="599846" y="2233879"/>
              <a:ext cx="178308" cy="89154"/>
              <a:chOff x="599846" y="2233879"/>
              <a:chExt cx="178308" cy="89154"/>
            </a:xfrm>
          </p:grpSpPr>
          <p:sp>
            <p:nvSpPr>
              <p:cNvPr id="12" name="Forma 11"/>
              <p:cNvSpPr/>
              <p:nvPr/>
            </p:nvSpPr>
            <p:spPr>
              <a:xfrm rot="-2400000">
                <a:off x="599846" y="22338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13" name="Forma 12"/>
              <p:cNvSpPr/>
              <p:nvPr/>
            </p:nvSpPr>
            <p:spPr>
              <a:xfrm rot="-2400000">
                <a:off x="612328" y="2246361"/>
                <a:ext cx="153345" cy="64191"/>
              </a:xfrm>
              <a:prstGeom prst="ellipse">
                <a:avLst/>
              </a:prstGeom>
              <a:solidFill>
                <a:srgbClr val="F8D8B4"/>
              </a:solidFill>
              <a:ln w="9525" cap="rnd">
                <a:solidFill>
                  <a:srgbClr val="B2732B"/>
                </a:solidFill>
                <a:round/>
              </a:ln>
            </p:spPr>
          </p:sp>
          <p:sp>
            <p:nvSpPr>
              <p:cNvPr id="14" name="Forma 13"/>
              <p:cNvSpPr/>
              <p:nvPr/>
            </p:nvSpPr>
            <p:spPr>
              <a:xfrm rot="-2400000">
                <a:off x="612328" y="22463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15" name="!!Adipocito B 1"/>
          <p:cNvGrpSpPr/>
          <p:nvPr/>
        </p:nvGrpSpPr>
        <p:grpSpPr>
          <a:xfrm>
            <a:off x="2377440" y="868680"/>
            <a:ext cx="1783080" cy="1783080"/>
            <a:chOff x="2377440" y="868680"/>
            <a:chExt cx="1783080" cy="1783080"/>
          </a:xfrm>
        </p:grpSpPr>
        <p:sp>
          <p:nvSpPr>
            <p:cNvPr id="16" name="Forma 15"/>
            <p:cNvSpPr/>
            <p:nvPr/>
          </p:nvSpPr>
          <p:spPr>
            <a:xfrm>
              <a:off x="2377440" y="86868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17" name="Gota lipídica_2"/>
            <p:cNvSpPr/>
            <p:nvPr/>
          </p:nvSpPr>
          <p:spPr>
            <a:xfrm>
              <a:off x="2466594" y="95783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18" name="Forma 17"/>
            <p:cNvSpPr/>
            <p:nvPr/>
          </p:nvSpPr>
          <p:spPr>
            <a:xfrm rot="2400000">
              <a:off x="3661258" y="97566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19" name="Mitocondria_2"/>
            <p:cNvGrpSpPr/>
            <p:nvPr/>
          </p:nvGrpSpPr>
          <p:grpSpPr>
            <a:xfrm>
              <a:off x="2520086" y="2188159"/>
              <a:ext cx="178308" cy="89154"/>
              <a:chOff x="2520086" y="2188159"/>
              <a:chExt cx="178308" cy="89154"/>
            </a:xfrm>
          </p:grpSpPr>
          <p:sp>
            <p:nvSpPr>
              <p:cNvPr id="20" name="Forma 19"/>
              <p:cNvSpPr/>
              <p:nvPr/>
            </p:nvSpPr>
            <p:spPr>
              <a:xfrm rot="-2400000">
                <a:off x="2520086" y="218815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1" name="Forma 20"/>
              <p:cNvSpPr/>
              <p:nvPr/>
            </p:nvSpPr>
            <p:spPr>
              <a:xfrm rot="-2400000">
                <a:off x="2532568" y="2200641"/>
                <a:ext cx="153345" cy="64191"/>
              </a:xfrm>
              <a:prstGeom prst="ellipse">
                <a:avLst/>
              </a:prstGeom>
              <a:solidFill>
                <a:srgbClr val="F8D8B4"/>
              </a:solidFill>
              <a:ln w="9525" cap="rnd">
                <a:solidFill>
                  <a:srgbClr val="B2732B"/>
                </a:solidFill>
                <a:round/>
              </a:ln>
            </p:spPr>
          </p:sp>
          <p:sp>
            <p:nvSpPr>
              <p:cNvPr id="22" name="Forma 21"/>
              <p:cNvSpPr/>
              <p:nvPr/>
            </p:nvSpPr>
            <p:spPr>
              <a:xfrm rot="-2400000">
                <a:off x="2532568" y="220064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23" name="!!Adipocito B 2"/>
          <p:cNvGrpSpPr/>
          <p:nvPr/>
        </p:nvGrpSpPr>
        <p:grpSpPr>
          <a:xfrm>
            <a:off x="4297680" y="960120"/>
            <a:ext cx="1783080" cy="1783080"/>
            <a:chOff x="4297680" y="960120"/>
            <a:chExt cx="1783080" cy="1783080"/>
          </a:xfrm>
        </p:grpSpPr>
        <p:sp>
          <p:nvSpPr>
            <p:cNvPr id="24" name="Forma 23"/>
            <p:cNvSpPr/>
            <p:nvPr/>
          </p:nvSpPr>
          <p:spPr>
            <a:xfrm>
              <a:off x="4297680" y="9601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25" name="Gota lipídica_3"/>
            <p:cNvSpPr/>
            <p:nvPr/>
          </p:nvSpPr>
          <p:spPr>
            <a:xfrm>
              <a:off x="4386834" y="10492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26" name="Forma 25"/>
            <p:cNvSpPr/>
            <p:nvPr/>
          </p:nvSpPr>
          <p:spPr>
            <a:xfrm rot="2400000">
              <a:off x="5581498" y="10671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27" name="Mitocondria_3"/>
            <p:cNvGrpSpPr/>
            <p:nvPr/>
          </p:nvGrpSpPr>
          <p:grpSpPr>
            <a:xfrm>
              <a:off x="4440326" y="2279599"/>
              <a:ext cx="178308" cy="89154"/>
              <a:chOff x="4440326" y="2279599"/>
              <a:chExt cx="178308" cy="89154"/>
            </a:xfrm>
          </p:grpSpPr>
          <p:sp>
            <p:nvSpPr>
              <p:cNvPr id="28" name="Forma 27"/>
              <p:cNvSpPr/>
              <p:nvPr/>
            </p:nvSpPr>
            <p:spPr>
              <a:xfrm rot="-2400000">
                <a:off x="4440326" y="22795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29" name="Forma 28"/>
              <p:cNvSpPr/>
              <p:nvPr/>
            </p:nvSpPr>
            <p:spPr>
              <a:xfrm rot="-2400000">
                <a:off x="4452808" y="2292081"/>
                <a:ext cx="153345" cy="64191"/>
              </a:xfrm>
              <a:prstGeom prst="ellipse">
                <a:avLst/>
              </a:prstGeom>
              <a:solidFill>
                <a:srgbClr val="F8D8B4"/>
              </a:solidFill>
              <a:ln w="9525" cap="rnd">
                <a:solidFill>
                  <a:srgbClr val="B2732B"/>
                </a:solidFill>
                <a:round/>
              </a:ln>
            </p:spPr>
          </p:sp>
          <p:sp>
            <p:nvSpPr>
              <p:cNvPr id="30" name="Forma 29"/>
              <p:cNvSpPr/>
              <p:nvPr/>
            </p:nvSpPr>
            <p:spPr>
              <a:xfrm rot="-2400000">
                <a:off x="4452808" y="22920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1" name="!!Adipocito B 3"/>
          <p:cNvGrpSpPr/>
          <p:nvPr/>
        </p:nvGrpSpPr>
        <p:grpSpPr>
          <a:xfrm>
            <a:off x="1097280" y="2743200"/>
            <a:ext cx="1783080" cy="1783080"/>
            <a:chOff x="1097280" y="2743200"/>
            <a:chExt cx="1783080" cy="1783080"/>
          </a:xfrm>
        </p:grpSpPr>
        <p:sp>
          <p:nvSpPr>
            <p:cNvPr id="32" name="Forma 31"/>
            <p:cNvSpPr/>
            <p:nvPr/>
          </p:nvSpPr>
          <p:spPr>
            <a:xfrm>
              <a:off x="109728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33" name="Gota lipídica_4"/>
            <p:cNvSpPr/>
            <p:nvPr/>
          </p:nvSpPr>
          <p:spPr>
            <a:xfrm>
              <a:off x="118643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34" name="Forma 33"/>
            <p:cNvSpPr/>
            <p:nvPr/>
          </p:nvSpPr>
          <p:spPr>
            <a:xfrm rot="2400000">
              <a:off x="238109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35" name="Mitocondria_4"/>
            <p:cNvGrpSpPr/>
            <p:nvPr/>
          </p:nvGrpSpPr>
          <p:grpSpPr>
            <a:xfrm>
              <a:off x="1239926" y="4062679"/>
              <a:ext cx="178308" cy="89154"/>
              <a:chOff x="1239926" y="4062679"/>
              <a:chExt cx="178308" cy="89154"/>
            </a:xfrm>
          </p:grpSpPr>
          <p:sp>
            <p:nvSpPr>
              <p:cNvPr id="36" name="Forma 35"/>
              <p:cNvSpPr/>
              <p:nvPr/>
            </p:nvSpPr>
            <p:spPr>
              <a:xfrm rot="-2400000">
                <a:off x="123992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37" name="Forma 36"/>
              <p:cNvSpPr/>
              <p:nvPr/>
            </p:nvSpPr>
            <p:spPr>
              <a:xfrm rot="-2400000">
                <a:off x="1252408" y="4075161"/>
                <a:ext cx="153345" cy="64191"/>
              </a:xfrm>
              <a:prstGeom prst="ellipse">
                <a:avLst/>
              </a:prstGeom>
              <a:solidFill>
                <a:srgbClr val="F8D8B4"/>
              </a:solidFill>
              <a:ln w="9525" cap="rnd">
                <a:solidFill>
                  <a:srgbClr val="B2732B"/>
                </a:solidFill>
                <a:round/>
              </a:ln>
            </p:spPr>
          </p:sp>
          <p:sp>
            <p:nvSpPr>
              <p:cNvPr id="38" name="Forma 37"/>
              <p:cNvSpPr/>
              <p:nvPr/>
            </p:nvSpPr>
            <p:spPr>
              <a:xfrm rot="-2400000">
                <a:off x="125240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39" name="!!Adipocito B 4"/>
          <p:cNvGrpSpPr/>
          <p:nvPr/>
        </p:nvGrpSpPr>
        <p:grpSpPr>
          <a:xfrm>
            <a:off x="3108960" y="2788920"/>
            <a:ext cx="1783080" cy="1783080"/>
            <a:chOff x="3108960" y="2788920"/>
            <a:chExt cx="1783080" cy="1783080"/>
          </a:xfrm>
        </p:grpSpPr>
        <p:sp>
          <p:nvSpPr>
            <p:cNvPr id="40" name="Forma 39"/>
            <p:cNvSpPr/>
            <p:nvPr/>
          </p:nvSpPr>
          <p:spPr>
            <a:xfrm>
              <a:off x="3108960" y="278892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1" name="Gota lipídica_5"/>
            <p:cNvSpPr/>
            <p:nvPr/>
          </p:nvSpPr>
          <p:spPr>
            <a:xfrm>
              <a:off x="3198114" y="287807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42" name="Forma 41"/>
            <p:cNvSpPr/>
            <p:nvPr/>
          </p:nvSpPr>
          <p:spPr>
            <a:xfrm rot="2400000">
              <a:off x="4392778" y="289590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43" name="Mitocondria_5"/>
            <p:cNvGrpSpPr/>
            <p:nvPr/>
          </p:nvGrpSpPr>
          <p:grpSpPr>
            <a:xfrm>
              <a:off x="3251606" y="4108399"/>
              <a:ext cx="178308" cy="89154"/>
              <a:chOff x="3251606" y="4108399"/>
              <a:chExt cx="178308" cy="89154"/>
            </a:xfrm>
          </p:grpSpPr>
          <p:sp>
            <p:nvSpPr>
              <p:cNvPr id="44" name="Forma 43"/>
              <p:cNvSpPr/>
              <p:nvPr/>
            </p:nvSpPr>
            <p:spPr>
              <a:xfrm rot="-2400000">
                <a:off x="3251606" y="410839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45" name="Forma 44"/>
              <p:cNvSpPr/>
              <p:nvPr/>
            </p:nvSpPr>
            <p:spPr>
              <a:xfrm rot="-2400000">
                <a:off x="3264088" y="4120881"/>
                <a:ext cx="153345" cy="64191"/>
              </a:xfrm>
              <a:prstGeom prst="ellipse">
                <a:avLst/>
              </a:prstGeom>
              <a:solidFill>
                <a:srgbClr val="F8D8B4"/>
              </a:solidFill>
              <a:ln w="9525" cap="rnd">
                <a:solidFill>
                  <a:srgbClr val="B2732B"/>
                </a:solidFill>
                <a:round/>
              </a:ln>
            </p:spPr>
          </p:sp>
          <p:sp>
            <p:nvSpPr>
              <p:cNvPr id="46" name="Forma 45"/>
              <p:cNvSpPr/>
              <p:nvPr/>
            </p:nvSpPr>
            <p:spPr>
              <a:xfrm rot="-2400000">
                <a:off x="3264088" y="412088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47" name="!!Adipocito B 5"/>
          <p:cNvGrpSpPr/>
          <p:nvPr/>
        </p:nvGrpSpPr>
        <p:grpSpPr>
          <a:xfrm>
            <a:off x="5120640" y="2743200"/>
            <a:ext cx="1783080" cy="1783080"/>
            <a:chOff x="5120640" y="2743200"/>
            <a:chExt cx="1783080" cy="1783080"/>
          </a:xfrm>
        </p:grpSpPr>
        <p:sp>
          <p:nvSpPr>
            <p:cNvPr id="48" name="Forma 47"/>
            <p:cNvSpPr/>
            <p:nvPr/>
          </p:nvSpPr>
          <p:spPr>
            <a:xfrm>
              <a:off x="5120640" y="2743200"/>
              <a:ext cx="1783080" cy="1783080"/>
            </a:xfrm>
            <a:prstGeom prst="ellipse">
              <a:avLst/>
            </a:prstGeom>
            <a:gradFill rotWithShape="1">
              <a:gsLst>
                <a:gs pos="0">
                  <a:srgbClr val="F9E7CF"/>
                </a:gs>
                <a:gs pos="55000">
                  <a:srgbClr val="F6D7B0"/>
                </a:gs>
                <a:gs pos="100000">
                  <a:srgbClr val="B8A184"/>
                </a:gs>
              </a:gsLst>
              <a:path path="circle">
                <a:fillToRect l="32000" t="28000" r="68000" b="72000"/>
              </a:path>
            </a:gradFill>
            <a:ln w="22225" cap="rnd">
              <a:solidFill>
                <a:srgbClr val="8C5A2B"/>
              </a:solidFill>
              <a:round/>
            </a:ln>
            <a:effectLst>
              <a:outerShdw blurRad="101600" dist="50800" dir="2700000" algn="tl" rotWithShape="0">
                <a:srgbClr val="000000">
                  <a:alpha val="30000"/>
                </a:srgbClr>
              </a:outerShdw>
            </a:effectLst>
          </p:spPr>
        </p:sp>
        <p:sp>
          <p:nvSpPr>
            <p:cNvPr id="49" name="Gota lipídica_6"/>
            <p:cNvSpPr/>
            <p:nvPr/>
          </p:nvSpPr>
          <p:spPr>
            <a:xfrm>
              <a:off x="5209794" y="2832354"/>
              <a:ext cx="1604772" cy="1604772"/>
            </a:xfrm>
            <a:prstGeom prst="ellipse">
              <a:avLst/>
            </a:prstGeom>
            <a:gradFill rotWithShape="1">
              <a:gsLst>
                <a:gs pos="0">
                  <a:srgbClr val="FFF8D0"/>
                </a:gs>
                <a:gs pos="50000">
                  <a:srgbClr val="F7DC6F"/>
                </a:gs>
                <a:gs pos="100000">
                  <a:srgbClr val="D4AC0D"/>
                </a:gs>
              </a:gsLst>
              <a:path path="circle">
                <a:fillToRect l="35000" t="30000" r="65000" b="70000"/>
              </a:path>
            </a:gradFill>
            <a:ln w="12700" cap="rnd">
              <a:solidFill>
                <a:srgbClr val="B7950B"/>
              </a:solidFill>
              <a:round/>
            </a:ln>
          </p:spPr>
        </p:sp>
        <p:sp>
          <p:nvSpPr>
            <p:cNvPr id="50" name="Forma 49"/>
            <p:cNvSpPr/>
            <p:nvPr/>
          </p:nvSpPr>
          <p:spPr>
            <a:xfrm rot="2400000">
              <a:off x="6404458" y="2850185"/>
              <a:ext cx="392278" cy="213970"/>
            </a:xfrm>
            <a:prstGeom prst="ellipse">
              <a:avLst/>
            </a:prstGeom>
            <a:gradFill rotWithShape="1">
              <a:gsLst>
                <a:gs pos="0">
                  <a:srgbClr val="B19CC9"/>
                </a:gs>
                <a:gs pos="55000">
                  <a:srgbClr val="7D5BA6"/>
                </a:gs>
                <a:gs pos="100000">
                  <a:srgbClr val="573F74"/>
                </a:gs>
              </a:gsLst>
              <a:path path="circle">
                <a:fillToRect l="32000" t="28000" r="68000" b="72000"/>
              </a:path>
            </a:gradFill>
            <a:ln w="9525" cap="rnd">
              <a:solidFill>
                <a:srgbClr val="4B3663"/>
              </a:solidFill>
              <a:round/>
            </a:ln>
          </p:spPr>
        </p:sp>
        <p:grpSp>
          <p:nvGrpSpPr>
            <p:cNvPr id="51" name="Mitocondria_6"/>
            <p:cNvGrpSpPr/>
            <p:nvPr/>
          </p:nvGrpSpPr>
          <p:grpSpPr>
            <a:xfrm>
              <a:off x="5263286" y="4062679"/>
              <a:ext cx="178308" cy="89154"/>
              <a:chOff x="5263286" y="4062679"/>
              <a:chExt cx="178308" cy="89154"/>
            </a:xfrm>
          </p:grpSpPr>
          <p:sp>
            <p:nvSpPr>
              <p:cNvPr id="52" name="Forma 51"/>
              <p:cNvSpPr/>
              <p:nvPr/>
            </p:nvSpPr>
            <p:spPr>
              <a:xfrm rot="-2400000">
                <a:off x="5263286" y="4062679"/>
                <a:ext cx="178308" cy="89154"/>
              </a:xfrm>
              <a:prstGeom prst="ellipse">
                <a:avLst/>
              </a:prstGeom>
              <a:gradFill rotWithShape="1">
                <a:gsLst>
                  <a:gs pos="0">
                    <a:srgbClr val="F3BD7E"/>
                  </a:gs>
                  <a:gs pos="55000">
                    <a:srgbClr val="EE9A3A"/>
                  </a:gs>
                  <a:gs pos="100000">
                    <a:srgbClr val="A66B28"/>
                  </a:gs>
                </a:gsLst>
                <a:path path="circle">
                  <a:fillToRect l="32000" t="28000" r="68000" b="72000"/>
                </a:path>
              </a:gradFill>
              <a:ln w="12700" cap="rnd">
                <a:solidFill>
                  <a:srgbClr val="774D1D"/>
                </a:solidFill>
                <a:round/>
              </a:ln>
            </p:spPr>
          </p:sp>
          <p:sp>
            <p:nvSpPr>
              <p:cNvPr id="53" name="Forma 52"/>
              <p:cNvSpPr/>
              <p:nvPr/>
            </p:nvSpPr>
            <p:spPr>
              <a:xfrm rot="-2400000">
                <a:off x="5275768" y="4075161"/>
                <a:ext cx="153345" cy="64191"/>
              </a:xfrm>
              <a:prstGeom prst="ellipse">
                <a:avLst/>
              </a:prstGeom>
              <a:solidFill>
                <a:srgbClr val="F8D8B4"/>
              </a:solidFill>
              <a:ln w="9525" cap="rnd">
                <a:solidFill>
                  <a:srgbClr val="B2732B"/>
                </a:solidFill>
                <a:round/>
              </a:ln>
            </p:spPr>
          </p:sp>
          <p:sp>
            <p:nvSpPr>
              <p:cNvPr id="54" name="Forma 53"/>
              <p:cNvSpPr/>
              <p:nvPr/>
            </p:nvSpPr>
            <p:spPr>
              <a:xfrm rot="-2400000">
                <a:off x="5275768" y="4075161"/>
                <a:ext cx="153345" cy="64191"/>
              </a:xfrm>
              <a:custGeom>
                <a:avLst/>
                <a:gdLst/>
                <a:ahLst/>
                <a:cxnLst/>
                <a:rect l="0" t="0" r="r" b="b"/>
                <a:pathLst>
                  <a:path w="1000" h="1000" fill="none">
                    <a:moveTo>
                      <a:pt x="90" y="200"/>
                    </a:moveTo>
                    <a:cubicBezTo>
                      <a:pt x="95" y="260"/>
                      <a:pt x="136" y="800"/>
                      <a:pt x="148" y="800"/>
                    </a:cubicBezTo>
                    <a:cubicBezTo>
                      <a:pt x="160" y="800"/>
                      <a:pt x="195" y="200"/>
                      <a:pt x="207" y="200"/>
                    </a:cubicBezTo>
                    <a:cubicBezTo>
                      <a:pt x="218" y="200"/>
                      <a:pt x="254" y="800"/>
                      <a:pt x="265" y="800"/>
                    </a:cubicBezTo>
                    <a:cubicBezTo>
                      <a:pt x="277" y="800"/>
                      <a:pt x="312" y="200"/>
                      <a:pt x="324" y="200"/>
                    </a:cubicBezTo>
                    <a:cubicBezTo>
                      <a:pt x="336" y="200"/>
                      <a:pt x="371" y="800"/>
                      <a:pt x="382" y="800"/>
                    </a:cubicBezTo>
                    <a:cubicBezTo>
                      <a:pt x="394" y="800"/>
                      <a:pt x="429" y="200"/>
                      <a:pt x="441" y="200"/>
                    </a:cubicBezTo>
                    <a:cubicBezTo>
                      <a:pt x="453" y="200"/>
                      <a:pt x="488" y="800"/>
                      <a:pt x="500" y="800"/>
                    </a:cubicBezTo>
                    <a:cubicBezTo>
                      <a:pt x="511" y="800"/>
                      <a:pt x="546" y="200"/>
                      <a:pt x="558" y="200"/>
                    </a:cubicBezTo>
                    <a:cubicBezTo>
                      <a:pt x="570" y="200"/>
                      <a:pt x="605" y="800"/>
                      <a:pt x="617" y="800"/>
                    </a:cubicBezTo>
                    <a:cubicBezTo>
                      <a:pt x="628" y="800"/>
                      <a:pt x="664" y="200"/>
                      <a:pt x="675" y="200"/>
                    </a:cubicBezTo>
                    <a:cubicBezTo>
                      <a:pt x="687" y="200"/>
                      <a:pt x="722" y="800"/>
                      <a:pt x="734" y="800"/>
                    </a:cubicBezTo>
                    <a:cubicBezTo>
                      <a:pt x="746" y="800"/>
                      <a:pt x="781" y="200"/>
                      <a:pt x="792" y="200"/>
                    </a:cubicBezTo>
                    <a:cubicBezTo>
                      <a:pt x="804" y="200"/>
                      <a:pt x="839" y="800"/>
                      <a:pt x="851" y="800"/>
                    </a:cubicBezTo>
                    <a:cubicBezTo>
                      <a:pt x="863" y="800"/>
                      <a:pt x="904" y="260"/>
                      <a:pt x="910" y="200"/>
                    </a:cubicBezTo>
                  </a:path>
                </a:pathLst>
              </a:custGeom>
              <a:noFill/>
              <a:ln w="15875" cap="rnd">
                <a:solidFill>
                  <a:srgbClr val="9A6425"/>
                </a:solidFill>
                <a:round/>
              </a:ln>
            </p:spPr>
          </p:sp>
        </p:grpSp>
      </p:grpSp>
      <p:grpSp>
        <p:nvGrpSpPr>
          <p:cNvPr id="55" name="!!Capilar B"/>
          <p:cNvGrpSpPr/>
          <p:nvPr/>
        </p:nvGrpSpPr>
        <p:grpSpPr>
          <a:xfrm>
            <a:off x="365760" y="5074920"/>
            <a:ext cx="6949440" cy="411480"/>
            <a:chOff x="365760" y="5074920"/>
            <a:chExt cx="6949440" cy="411480"/>
          </a:xfrm>
        </p:grpSpPr>
        <p:sp>
          <p:nvSpPr>
            <p:cNvPr id="56" name="Forma 55"/>
            <p:cNvSpPr/>
            <p:nvPr/>
          </p:nvSpPr>
          <p:spPr>
            <a:xfrm>
              <a:off x="365760" y="5074920"/>
              <a:ext cx="6949440" cy="411480"/>
            </a:xfrm>
            <a:prstGeom prst="roundRect">
              <a:avLst>
                <a:gd name="adj" fmla="val 50000"/>
              </a:avLst>
            </a:prstGeom>
            <a:gradFill rotWithShape="1">
              <a:gsLst>
                <a:gs pos="0">
                  <a:srgbClr val="7C251B"/>
                </a:gs>
                <a:gs pos="30000">
                  <a:srgbClr val="D2746A"/>
                </a:gs>
                <a:gs pos="55000">
                  <a:srgbClr val="C0392B"/>
                </a:gs>
                <a:gs pos="100000">
                  <a:srgbClr val="7C251B"/>
                </a:gs>
              </a:gsLst>
              <a:lin ang="5400000" scaled="0"/>
            </a:gradFill>
            <a:ln w="15875" cap="rnd">
              <a:solidFill>
                <a:srgbClr val="6E1A12"/>
              </a:solidFill>
              <a:round/>
            </a:ln>
            <a:effectLst>
              <a:outerShdw blurRad="101600" dist="50800" dir="2700000" algn="tl" rotWithShape="0">
                <a:srgbClr val="000000">
                  <a:alpha val="30000"/>
                </a:srgbClr>
              </a:outerShdw>
            </a:effectLst>
          </p:spPr>
        </p:sp>
        <p:sp>
          <p:nvSpPr>
            <p:cNvPr id="57" name="Forma 56"/>
            <p:cNvSpPr/>
            <p:nvPr/>
          </p:nvSpPr>
          <p:spPr>
            <a:xfrm>
              <a:off x="427482" y="5148986"/>
              <a:ext cx="6825996" cy="263347"/>
            </a:xfrm>
            <a:prstGeom prst="roundRect">
              <a:avLst>
                <a:gd name="adj" fmla="val 50000"/>
              </a:avLst>
            </a:prstGeom>
            <a:gradFill rotWithShape="1">
              <a:gsLst>
                <a:gs pos="0">
                  <a:srgbClr val="F2B8B0"/>
                </a:gs>
                <a:gs pos="50000">
                  <a:srgbClr val="F8D3CD"/>
                </a:gs>
                <a:gs pos="100000">
                  <a:srgbClr val="EBA59C"/>
                </a:gs>
              </a:gsLst>
              <a:lin ang="5400000" scaled="0"/>
            </a:gradFill>
            <a:ln w="9525" cap="rnd">
              <a:solidFill>
                <a:srgbClr val="A93226"/>
              </a:solidFill>
              <a:round/>
            </a:ln>
          </p:spPr>
        </p:sp>
        <p:sp>
          <p:nvSpPr>
            <p:cNvPr id="58" name="Eritrocito"/>
            <p:cNvSpPr/>
            <p:nvPr/>
          </p:nvSpPr>
          <p:spPr>
            <a:xfrm>
              <a:off x="850872" y="527529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59" name="Eritrocito_2"/>
            <p:cNvSpPr/>
            <p:nvPr/>
          </p:nvSpPr>
          <p:spPr>
            <a:xfrm>
              <a:off x="1456348" y="5186521"/>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0" name="Eritrocito_3"/>
            <p:cNvSpPr/>
            <p:nvPr/>
          </p:nvSpPr>
          <p:spPr>
            <a:xfrm>
              <a:off x="2696775" y="5253499"/>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1" name="Eritrocito_4"/>
            <p:cNvSpPr/>
            <p:nvPr/>
          </p:nvSpPr>
          <p:spPr>
            <a:xfrm>
              <a:off x="3579816" y="5209488"/>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2" name="Eritrocito_5"/>
            <p:cNvSpPr/>
            <p:nvPr/>
          </p:nvSpPr>
          <p:spPr>
            <a:xfrm>
              <a:off x="4501436" y="5240212"/>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3" name="Eritrocito_6"/>
            <p:cNvSpPr/>
            <p:nvPr/>
          </p:nvSpPr>
          <p:spPr>
            <a:xfrm>
              <a:off x="5437828" y="519408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64" name="Eritrocito_7"/>
            <p:cNvSpPr/>
            <p:nvPr/>
          </p:nvSpPr>
          <p:spPr>
            <a:xfrm>
              <a:off x="6326632" y="5218273"/>
              <a:ext cx="172822" cy="172822"/>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grpSp>
      <p:pic>
        <p:nvPicPr>
          <p:cNvPr id="65" name="!!Macrófago B 0" descr="Ilustración biomédica (Servier Medical Art, CC BY)"/>
          <p:cNvPicPr>
            <a:picLocks noChangeAspect="1"/>
          </p:cNvPicPr>
          <p:nvPr/>
        </p:nvPicPr>
        <p:blipFill>
          <a:blip r:embed="rId2"/>
          <a:stretch>
            <a:fillRect/>
          </a:stretch>
        </p:blipFill>
        <p:spPr>
          <a:xfrm>
            <a:off x="2148840" y="2331720"/>
            <a:ext cx="685800" cy="742552"/>
          </a:xfrm>
          <a:prstGeom prst="rect">
            <a:avLst/>
          </a:prstGeom>
        </p:spPr>
      </p:pic>
      <p:pic>
        <p:nvPicPr>
          <p:cNvPr id="66" name="!!Macrófago B 1" descr="Ilustración biomédica (Servier Medical Art, CC BY)"/>
          <p:cNvPicPr>
            <a:picLocks noChangeAspect="1"/>
          </p:cNvPicPr>
          <p:nvPr/>
        </p:nvPicPr>
        <p:blipFill>
          <a:blip r:embed="rId2"/>
          <a:stretch>
            <a:fillRect/>
          </a:stretch>
        </p:blipFill>
        <p:spPr>
          <a:xfrm>
            <a:off x="4069080" y="2377440"/>
            <a:ext cx="685800" cy="742552"/>
          </a:xfrm>
          <a:prstGeom prst="rect">
            <a:avLst/>
          </a:prstGeom>
        </p:spPr>
      </p:pic>
      <p:pic>
        <p:nvPicPr>
          <p:cNvPr id="67" name="!!Macrófago B 2" descr="Ilustración biomédica (Servier Medical Art, CC BY)"/>
          <p:cNvPicPr>
            <a:picLocks noChangeAspect="1"/>
          </p:cNvPicPr>
          <p:nvPr/>
        </p:nvPicPr>
        <p:blipFill>
          <a:blip r:embed="rId2"/>
          <a:stretch>
            <a:fillRect/>
          </a:stretch>
        </p:blipFill>
        <p:spPr>
          <a:xfrm>
            <a:off x="6080760" y="2331720"/>
            <a:ext cx="685800" cy="742552"/>
          </a:xfrm>
          <a:prstGeom prst="rect">
            <a:avLst/>
          </a:prstGeom>
        </p:spPr>
      </p:pic>
      <p:pic>
        <p:nvPicPr>
          <p:cNvPr id="68" name="!!Macrófago B 3" descr="Ilustración biomédica (Servier Medical Art, CC BY)"/>
          <p:cNvPicPr>
            <a:picLocks noChangeAspect="1"/>
          </p:cNvPicPr>
          <p:nvPr/>
        </p:nvPicPr>
        <p:blipFill>
          <a:blip r:embed="rId2"/>
          <a:stretch>
            <a:fillRect/>
          </a:stretch>
        </p:blipFill>
        <p:spPr>
          <a:xfrm>
            <a:off x="2788920" y="4114800"/>
            <a:ext cx="685800" cy="742552"/>
          </a:xfrm>
          <a:prstGeom prst="rect">
            <a:avLst/>
          </a:prstGeom>
        </p:spPr>
      </p:pic>
      <p:grpSp>
        <p:nvGrpSpPr>
          <p:cNvPr id="69" name="!!Progreso B"/>
          <p:cNvGrpSpPr/>
          <p:nvPr/>
        </p:nvGrpSpPr>
        <p:grpSpPr>
          <a:xfrm>
            <a:off x="365760" y="5833872"/>
            <a:ext cx="11448288" cy="457200"/>
            <a:chOff x="365760" y="5833872"/>
            <a:chExt cx="11448288" cy="457200"/>
          </a:xfrm>
        </p:grpSpPr>
        <p:sp>
          <p:nvSpPr>
            <p:cNvPr id="70" name="Forma 69"/>
            <p:cNvSpPr/>
            <p:nvPr/>
          </p:nvSpPr>
          <p:spPr>
            <a:xfrm>
              <a:off x="36576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Adipocito funcional</a:t>
              </a:r>
              <a:endParaRPr lang="es-AR" sz="1150" dirty="0">
                <a:latin typeface="Fira Sans Condensed"/>
              </a:endParaRPr>
            </a:p>
          </p:txBody>
        </p:sp>
        <p:sp>
          <p:nvSpPr>
            <p:cNvPr id="71" name="Forma 70"/>
            <p:cNvSpPr/>
            <p:nvPr/>
          </p:nvSpPr>
          <p:spPr>
            <a:xfrm>
              <a:off x="201168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Expansión</a:t>
              </a:r>
              <a:endParaRPr lang="es-AR" sz="1150" dirty="0">
                <a:latin typeface="Fira Sans Condensed"/>
              </a:endParaRPr>
            </a:p>
          </p:txBody>
        </p:sp>
        <p:sp>
          <p:nvSpPr>
            <p:cNvPr id="72" name="Flecha 71_2"/>
            <p:cNvSpPr/>
            <p:nvPr/>
          </p:nvSpPr>
          <p:spPr>
            <a:xfrm>
              <a:off x="19385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3" name="Forma 73"/>
            <p:cNvSpPr/>
            <p:nvPr/>
          </p:nvSpPr>
          <p:spPr>
            <a:xfrm>
              <a:off x="365760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Hipertrofia</a:t>
              </a:r>
              <a:endParaRPr lang="es-AR" sz="1150" dirty="0">
                <a:latin typeface="Fira Sans Condensed"/>
              </a:endParaRPr>
            </a:p>
          </p:txBody>
        </p:sp>
        <p:sp>
          <p:nvSpPr>
            <p:cNvPr id="74" name="Flecha 74_2"/>
            <p:cNvSpPr/>
            <p:nvPr/>
          </p:nvSpPr>
          <p:spPr>
            <a:xfrm>
              <a:off x="358444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5" name="Forma 76"/>
            <p:cNvSpPr/>
            <p:nvPr/>
          </p:nvSpPr>
          <p:spPr>
            <a:xfrm>
              <a:off x="530352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Hipoxia</a:t>
              </a:r>
              <a:endParaRPr lang="es-AR" sz="1150" dirty="0">
                <a:latin typeface="Fira Sans Condensed"/>
              </a:endParaRPr>
            </a:p>
          </p:txBody>
        </p:sp>
        <p:sp>
          <p:nvSpPr>
            <p:cNvPr id="76" name="Flecha 77_2"/>
            <p:cNvSpPr/>
            <p:nvPr/>
          </p:nvSpPr>
          <p:spPr>
            <a:xfrm>
              <a:off x="523036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7" name="Forma 79"/>
            <p:cNvSpPr/>
            <p:nvPr/>
          </p:nvSpPr>
          <p:spPr>
            <a:xfrm>
              <a:off x="6949440" y="5833872"/>
              <a:ext cx="1572768" cy="457200"/>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78" name="Flecha 80_2"/>
            <p:cNvSpPr/>
            <p:nvPr/>
          </p:nvSpPr>
          <p:spPr>
            <a:xfrm>
              <a:off x="687628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79" name="Forma 82"/>
            <p:cNvSpPr/>
            <p:nvPr/>
          </p:nvSpPr>
          <p:spPr>
            <a:xfrm>
              <a:off x="8595360" y="5833872"/>
              <a:ext cx="1572768" cy="457200"/>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Resistencia insulínica</a:t>
              </a:r>
              <a:endParaRPr lang="es-AR" sz="1150" dirty="0">
                <a:latin typeface="Fira Sans Condensed"/>
              </a:endParaRPr>
            </a:p>
          </p:txBody>
        </p:sp>
        <p:sp>
          <p:nvSpPr>
            <p:cNvPr id="80" name="Flecha 83_2"/>
            <p:cNvSpPr/>
            <p:nvPr/>
          </p:nvSpPr>
          <p:spPr>
            <a:xfrm>
              <a:off x="852220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sp>
          <p:nvSpPr>
            <p:cNvPr id="81" name="Forma 85"/>
            <p:cNvSpPr/>
            <p:nvPr/>
          </p:nvSpPr>
          <p:spPr>
            <a:xfrm>
              <a:off x="10241280" y="5833872"/>
              <a:ext cx="1572768" cy="457200"/>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Sistémico</a:t>
              </a:r>
              <a:endParaRPr lang="es-AR" sz="1150" dirty="0">
                <a:latin typeface="Fira Sans Condensed"/>
              </a:endParaRPr>
            </a:p>
          </p:txBody>
        </p:sp>
        <p:sp>
          <p:nvSpPr>
            <p:cNvPr id="82" name="Flecha 86_2"/>
            <p:cNvSpPr/>
            <p:nvPr/>
          </p:nvSpPr>
          <p:spPr>
            <a:xfrm>
              <a:off x="10168128" y="6062472"/>
              <a:ext cx="73152" cy="9144"/>
            </a:xfrm>
            <a:custGeom>
              <a:avLst/>
              <a:gdLst/>
              <a:ahLst/>
              <a:cxnLst/>
              <a:rect l="0" t="0" r="r" b="b"/>
              <a:pathLst>
                <a:path w="80" h="10" fill="none">
                  <a:moveTo>
                    <a:pt x="0" y="0"/>
                  </a:moveTo>
                  <a:lnTo>
                    <a:pt x="80" y="0"/>
                  </a:lnTo>
                </a:path>
              </a:pathLst>
            </a:custGeom>
            <a:noFill/>
            <a:ln w="19050" cap="rnd">
              <a:solidFill>
                <a:srgbClr val="1E1E1E"/>
              </a:solidFill>
              <a:round/>
              <a:tailEnd type="triangle" w="med" len="med"/>
            </a:ln>
          </p:spPr>
        </p:sp>
      </p:grpSp>
      <p:sp>
        <p:nvSpPr>
          <p:cNvPr id="83" name="Mediador 0"/>
          <p:cNvSpPr/>
          <p:nvPr/>
        </p:nvSpPr>
        <p:spPr>
          <a:xfrm>
            <a:off x="457200" y="2331720"/>
            <a:ext cx="205740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TNF-α</a:t>
            </a:r>
            <a:endParaRPr lang="es-AR" sz="1300" dirty="0">
              <a:latin typeface="Fira Sans Condensed"/>
            </a:endParaRPr>
          </a:p>
        </p:txBody>
      </p:sp>
      <p:sp>
        <p:nvSpPr>
          <p:cNvPr id="84" name="Mediador 1"/>
          <p:cNvSpPr/>
          <p:nvPr/>
        </p:nvSpPr>
        <p:spPr>
          <a:xfrm>
            <a:off x="2468880" y="4160520"/>
            <a:ext cx="2057400" cy="4572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IL-6</a:t>
            </a:r>
            <a:endParaRPr lang="es-AR" sz="1300" dirty="0">
              <a:latin typeface="Fira Sans Condensed"/>
            </a:endParaRPr>
          </a:p>
        </p:txBody>
      </p:sp>
      <p:sp>
        <p:nvSpPr>
          <p:cNvPr id="85" name="Mediador 2"/>
          <p:cNvSpPr/>
          <p:nvPr/>
        </p:nvSpPr>
        <p:spPr>
          <a:xfrm>
            <a:off x="4480560" y="2377440"/>
            <a:ext cx="205740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AGNE ↑</a:t>
            </a:r>
            <a:endParaRPr lang="es-AR" sz="1300" dirty="0">
              <a:latin typeface="Fira Sans Condensed"/>
            </a:endParaRPr>
          </a:p>
        </p:txBody>
      </p:sp>
      <p:sp>
        <p:nvSpPr>
          <p:cNvPr id="86" name="Mediador 3"/>
          <p:cNvSpPr/>
          <p:nvPr/>
        </p:nvSpPr>
        <p:spPr>
          <a:xfrm>
            <a:off x="548640" y="4206240"/>
            <a:ext cx="2057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Adiponectina ↓</a:t>
            </a:r>
            <a:endParaRPr lang="es-AR" sz="1300" dirty="0">
              <a:latin typeface="Fira Sans Condensed"/>
            </a:endParaRPr>
          </a:p>
        </p:txBody>
      </p:sp>
      <p:sp>
        <p:nvSpPr>
          <p:cNvPr id="87" name="Mediador 4"/>
          <p:cNvSpPr/>
          <p:nvPr/>
        </p:nvSpPr>
        <p:spPr>
          <a:xfrm>
            <a:off x="4937760" y="4251960"/>
            <a:ext cx="205740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Leptina ↑ (resistencia)</a:t>
            </a:r>
            <a:endParaRPr lang="es-AR" sz="1300" dirty="0">
              <a:latin typeface="Fira Sans Condensed"/>
            </a:endParaRPr>
          </a:p>
        </p:txBody>
      </p:sp>
      <p:grpSp>
        <p:nvGrpSpPr>
          <p:cNvPr id="88" name="!!Panel B"/>
          <p:cNvGrpSpPr/>
          <p:nvPr/>
        </p:nvGrpSpPr>
        <p:grpSpPr>
          <a:xfrm>
            <a:off x="7818120" y="1051560"/>
            <a:ext cx="4023360" cy="4572000"/>
            <a:chOff x="7818120" y="1051560"/>
            <a:chExt cx="4023360" cy="4572000"/>
          </a:xfrm>
        </p:grpSpPr>
        <p:sp>
          <p:nvSpPr>
            <p:cNvPr id="89" name="Forma 94"/>
            <p:cNvSpPr/>
            <p:nvPr/>
          </p:nvSpPr>
          <p:spPr>
            <a:xfrm>
              <a:off x="7818120" y="1252728"/>
              <a:ext cx="4023360" cy="43708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Citocinas </a:t>
              </a:r>
              <a:r>
                <a:rPr lang="es-AR" sz="1450" b="1" dirty="0">
                  <a:solidFill>
                    <a:srgbClr val="1E1E1E"/>
                  </a:solidFill>
                  <a:latin typeface="Fira Sans Condensed"/>
                  <a:ea typeface="Fira Sans Condensed"/>
                  <a:cs typeface="Fira Sans Condensed"/>
                  <a:sym typeface="Fira Sans Condensed"/>
                </a:rPr>
                <a:t>TNF-α, IL-6</a:t>
              </a:r>
              <a:r>
                <a:rPr lang="es-AR" sz="1450" dirty="0">
                  <a:solidFill>
                    <a:srgbClr val="1E1E1E"/>
                  </a:solidFill>
                  <a:latin typeface="Fira Sans Condensed"/>
                  <a:ea typeface="Fira Sans Condensed"/>
                  <a:cs typeface="Fira Sans Condensed"/>
                  <a:sym typeface="Fira Sans Condensed"/>
                </a:rPr>
                <a:t> · </a:t>
              </a:r>
              <a:r>
                <a:rPr lang="es-AR" sz="1450" b="1" dirty="0">
                  <a:solidFill>
                    <a:srgbClr val="1E1E1E"/>
                  </a:solidFill>
                  <a:latin typeface="Fira Sans Condensed"/>
                  <a:ea typeface="Fira Sans Condensed"/>
                  <a:cs typeface="Fira Sans Condensed"/>
                  <a:sym typeface="Fira Sans Condensed"/>
                </a:rPr>
                <a:t>AGNE</a:t>
              </a:r>
              <a:r>
                <a:rPr lang="es-AR" sz="1450" dirty="0">
                  <a:solidFill>
                    <a:srgbClr val="1E1E1E"/>
                  </a:solidFill>
                  <a:latin typeface="Fira Sans Condensed"/>
                  <a:ea typeface="Fira Sans Condensed"/>
                  <a:cs typeface="Fira Sans Condensed"/>
                  <a:sym typeface="Fira Sans Condensed"/>
                </a:rPr>
                <a:t> por lipólisis inapropiada.</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Adiponectina ↓</a:t>
              </a:r>
              <a:r>
                <a:rPr lang="es-AR" sz="1450" dirty="0">
                  <a:solidFill>
                    <a:srgbClr val="1E1E1E"/>
                  </a:solidFill>
                  <a:latin typeface="Fira Sans Condensed"/>
                  <a:ea typeface="Fira Sans Condensed"/>
                  <a:cs typeface="Fira Sans Condensed"/>
                  <a:sym typeface="Fira Sans Condensed"/>
                </a:rPr>
                <a:t> (pierde acción sensibilizante).</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Hacia </a:t>
              </a:r>
              <a:r>
                <a:rPr lang="es-AR" sz="1450" b="1" dirty="0">
                  <a:solidFill>
                    <a:srgbClr val="1E1E1E"/>
                  </a:solidFill>
                  <a:latin typeface="Fira Sans Condensed"/>
                  <a:ea typeface="Fira Sans Condensed"/>
                  <a:cs typeface="Fira Sans Condensed"/>
                  <a:sym typeface="Fira Sans Condensed"/>
                </a:rPr>
                <a:t>hígado, músculo, páncreas, endotelio y SNC</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90" name="Forma 95"/>
            <p:cNvSpPr/>
            <p:nvPr/>
          </p:nvSpPr>
          <p:spPr>
            <a:xfrm>
              <a:off x="7955280" y="1051560"/>
              <a:ext cx="2004848" cy="384048"/>
            </a:xfrm>
            <a:prstGeom prst="rect">
              <a:avLst/>
            </a:prstGeom>
            <a:solidFill>
              <a:srgbClr val="C00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SEÑALES SISTÉMICAS</a:t>
              </a:r>
              <a:endParaRPr lang="es-AR" sz="1400" dirty="0">
                <a:latin typeface="Fira Sans Condensed"/>
              </a:endParaRPr>
            </a:p>
          </p:txBody>
        </p:sp>
      </p:gr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SECUENCIA B · 5 · MEDIADORES QUE SALEN DEL TEJIDO</a:t>
            </a:r>
            <a:endParaRPr lang="es-AR" sz="29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9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3"/>
                                        </p:tgtEl>
                                        <p:attrNameLst>
                                          <p:attrName>style.visibility</p:attrName>
                                        </p:attrNameLst>
                                      </p:cBhvr>
                                      <p:to>
                                        <p:strVal val="visible"/>
                                      </p:to>
                                    </p:set>
                                    <p:anim calcmode="lin" valueType="num">
                                      <p:cBhvr>
                                        <p:cTn id="5" dur="500" fill="hold"/>
                                        <p:tgtEl>
                                          <p:spTgt spid="83"/>
                                        </p:tgtEl>
                                        <p:attrNameLst>
                                          <p:attrName>ppt_w</p:attrName>
                                        </p:attrNameLst>
                                      </p:cBhvr>
                                      <p:tavLst>
                                        <p:tav tm="0">
                                          <p:val>
                                            <p:fltVal val="0"/>
                                          </p:val>
                                        </p:tav>
                                        <p:tav tm="100000">
                                          <p:val>
                                            <p:strVal val="#ppt_w"/>
                                          </p:val>
                                        </p:tav>
                                      </p:tavLst>
                                    </p:anim>
                                    <p:anim calcmode="lin" valueType="num">
                                      <p:cBhvr>
                                        <p:cTn id="6" dur="500" fill="hold"/>
                                        <p:tgtEl>
                                          <p:spTgt spid="83"/>
                                        </p:tgtEl>
                                        <p:attrNameLst>
                                          <p:attrName>ppt_h</p:attrName>
                                        </p:attrNameLst>
                                      </p:cBhvr>
                                      <p:tavLst>
                                        <p:tav tm="0">
                                          <p:val>
                                            <p:fltVal val="0"/>
                                          </p:val>
                                        </p:tav>
                                        <p:tav tm="100000">
                                          <p:val>
                                            <p:strVal val="#ppt_h"/>
                                          </p:val>
                                        </p:tav>
                                      </p:tavLst>
                                    </p:anim>
                                    <p:animEffect transition="in" filter="fade">
                                      <p:cBhvr>
                                        <p:cTn id="7" dur="500"/>
                                        <p:tgtEl>
                                          <p:spTgt spid="83"/>
                                        </p:tgtEl>
                                      </p:cBhvr>
                                    </p:animEffect>
                                  </p:childTnLst>
                                </p:cTn>
                              </p:par>
                            </p:childTnLst>
                          </p:cTn>
                        </p:par>
                        <p:par>
                          <p:cTn id="11" fill="hold">
                            <p:stCondLst>
                              <p:cond delay="200"/>
                            </p:stCondLst>
                            <p:childTnLst>
                              <p:par>
                                <p:cTn id="9" presetID="0" presetClass="path" presetSubtype="0" accel="20000" decel="20000" fill="hold" grpId="0" nodeType="afterEffect">
                                  <p:stCondLst>
                                    <p:cond delay="0"/>
                                  </p:stCondLst>
                                  <p:childTnLst>
                                    <p:animMotion origin="layout" path="M 0 0 L 0.4125 -0.1800 E" pathEditMode="relative" ptsTypes="">
                                      <p:cBhvr>
                                        <p:cTn id="10" dur="1300" fill="hold"/>
                                        <p:tgtEl>
                                          <p:spTgt spid="83"/>
                                        </p:tgtEl>
                                        <p:attrNameLst>
                                          <p:attrName>ppt_x</p:attrName>
                                          <p:attrName>ppt_y</p:attrName>
                                        </p:attrNameLst>
                                      </p:cBhvr>
                                      <p:rCtr x="20625" y="-8999"/>
                                    </p:animMotion>
                                  </p:childTnLst>
                                </p:cTn>
                              </p:par>
                            </p:childTnLst>
                          </p:cTn>
                        </p:par>
                      </p:childTnLst>
                    </p:cTn>
                  </p:par>
                  <p:par>
                    <p:cTn id="22"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84"/>
                                        </p:tgtEl>
                                        <p:attrNameLst>
                                          <p:attrName>style.visibility</p:attrName>
                                        </p:attrNameLst>
                                      </p:cBhvr>
                                      <p:to>
                                        <p:strVal val="visible"/>
                                      </p:to>
                                    </p:set>
                                    <p:anim calcmode="lin" valueType="num">
                                      <p:cBhvr>
                                        <p:cTn id="15" dur="500" fill="hold"/>
                                        <p:tgtEl>
                                          <p:spTgt spid="84"/>
                                        </p:tgtEl>
                                        <p:attrNameLst>
                                          <p:attrName>ppt_w</p:attrName>
                                        </p:attrNameLst>
                                      </p:cBhvr>
                                      <p:tavLst>
                                        <p:tav tm="0">
                                          <p:val>
                                            <p:fltVal val="0"/>
                                          </p:val>
                                        </p:tav>
                                        <p:tav tm="100000">
                                          <p:val>
                                            <p:strVal val="#ppt_w"/>
                                          </p:val>
                                        </p:tav>
                                      </p:tavLst>
                                    </p:anim>
                                    <p:anim calcmode="lin" valueType="num">
                                      <p:cBhvr>
                                        <p:cTn id="16" dur="500" fill="hold"/>
                                        <p:tgtEl>
                                          <p:spTgt spid="84"/>
                                        </p:tgtEl>
                                        <p:attrNameLst>
                                          <p:attrName>ppt_h</p:attrName>
                                        </p:attrNameLst>
                                      </p:cBhvr>
                                      <p:tavLst>
                                        <p:tav tm="0">
                                          <p:val>
                                            <p:fltVal val="0"/>
                                          </p:val>
                                        </p:tav>
                                        <p:tav tm="100000">
                                          <p:val>
                                            <p:strVal val="#ppt_h"/>
                                          </p:val>
                                        </p:tav>
                                      </p:tavLst>
                                    </p:anim>
                                    <p:animEffect transition="in" filter="fade">
                                      <p:cBhvr>
                                        <p:cTn id="17" dur="500"/>
                                        <p:tgtEl>
                                          <p:spTgt spid="84"/>
                                        </p:tgtEl>
                                      </p:cBhvr>
                                    </p:animEffect>
                                  </p:childTnLst>
                                </p:cTn>
                              </p:par>
                            </p:childTnLst>
                          </p:cTn>
                        </p:par>
                        <p:par>
                          <p:cTn id="21" fill="hold">
                            <p:stCondLst>
                              <p:cond delay="200"/>
                            </p:stCondLst>
                            <p:childTnLst>
                              <p:par>
                                <p:cTn id="19" presetID="0" presetClass="path" presetSubtype="0" accel="20000" decel="20000" fill="hold" grpId="0" nodeType="afterEffect">
                                  <p:stCondLst>
                                    <p:cond delay="0"/>
                                  </p:stCondLst>
                                  <p:childTnLst>
                                    <p:animMotion origin="layout" path="M 0 0 L 0.2475 -0.3467 E" pathEditMode="relative" ptsTypes="">
                                      <p:cBhvr>
                                        <p:cTn id="20" dur="1300" fill="hold"/>
                                        <p:tgtEl>
                                          <p:spTgt spid="84"/>
                                        </p:tgtEl>
                                        <p:attrNameLst>
                                          <p:attrName>ppt_x</p:attrName>
                                          <p:attrName>ppt_y</p:attrName>
                                        </p:attrNameLst>
                                      </p:cBhvr>
                                      <p:rCtr x="12375" y="-17333"/>
                                    </p:animMotion>
                                  </p:childTnLst>
                                </p:cTn>
                              </p:par>
                            </p:childTnLst>
                          </p:cTn>
                        </p:par>
                      </p:childTnLst>
                    </p:cTn>
                  </p:par>
                  <p:par>
                    <p:cTn id="32"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85"/>
                                        </p:tgtEl>
                                        <p:attrNameLst>
                                          <p:attrName>style.visibility</p:attrName>
                                        </p:attrNameLst>
                                      </p:cBhvr>
                                      <p:to>
                                        <p:strVal val="visible"/>
                                      </p:to>
                                    </p:set>
                                    <p:anim calcmode="lin" valueType="num">
                                      <p:cBhvr>
                                        <p:cTn id="25" dur="500" fill="hold"/>
                                        <p:tgtEl>
                                          <p:spTgt spid="85"/>
                                        </p:tgtEl>
                                        <p:attrNameLst>
                                          <p:attrName>ppt_w</p:attrName>
                                        </p:attrNameLst>
                                      </p:cBhvr>
                                      <p:tavLst>
                                        <p:tav tm="0">
                                          <p:val>
                                            <p:fltVal val="0"/>
                                          </p:val>
                                        </p:tav>
                                        <p:tav tm="100000">
                                          <p:val>
                                            <p:strVal val="#ppt_w"/>
                                          </p:val>
                                        </p:tav>
                                      </p:tavLst>
                                    </p:anim>
                                    <p:anim calcmode="lin" valueType="num">
                                      <p:cBhvr>
                                        <p:cTn id="26" dur="500" fill="hold"/>
                                        <p:tgtEl>
                                          <p:spTgt spid="85"/>
                                        </p:tgtEl>
                                        <p:attrNameLst>
                                          <p:attrName>ppt_h</p:attrName>
                                        </p:attrNameLst>
                                      </p:cBhvr>
                                      <p:tavLst>
                                        <p:tav tm="0">
                                          <p:val>
                                            <p:fltVal val="0"/>
                                          </p:val>
                                        </p:tav>
                                        <p:tav tm="100000">
                                          <p:val>
                                            <p:strVal val="#ppt_h"/>
                                          </p:val>
                                        </p:tav>
                                      </p:tavLst>
                                    </p:anim>
                                    <p:animEffect transition="in" filter="fade">
                                      <p:cBhvr>
                                        <p:cTn id="27" dur="500"/>
                                        <p:tgtEl>
                                          <p:spTgt spid="85"/>
                                        </p:tgtEl>
                                      </p:cBhvr>
                                    </p:animEffect>
                                  </p:childTnLst>
                                </p:cTn>
                              </p:par>
                            </p:childTnLst>
                          </p:cTn>
                        </p:par>
                        <p:par>
                          <p:cTn id="31" fill="hold">
                            <p:stCondLst>
                              <p:cond delay="200"/>
                            </p:stCondLst>
                            <p:childTnLst>
                              <p:par>
                                <p:cTn id="29" presetID="0" presetClass="path" presetSubtype="0" accel="20000" decel="20000" fill="hold" grpId="0" nodeType="afterEffect">
                                  <p:stCondLst>
                                    <p:cond delay="0"/>
                                  </p:stCondLst>
                                  <p:childTnLst>
                                    <p:animMotion origin="layout" path="M 0 0 L 0.0825 0.0133 E" pathEditMode="relative" ptsTypes="">
                                      <p:cBhvr>
                                        <p:cTn id="30" dur="1300" fill="hold"/>
                                        <p:tgtEl>
                                          <p:spTgt spid="85"/>
                                        </p:tgtEl>
                                        <p:attrNameLst>
                                          <p:attrName>ppt_x</p:attrName>
                                          <p:attrName>ppt_y</p:attrName>
                                        </p:attrNameLst>
                                      </p:cBhvr>
                                      <p:rCtr x="4125" y="666"/>
                                    </p:animMotion>
                                  </p:childTnLst>
                                </p:cTn>
                              </p:par>
                            </p:childTnLst>
                          </p:cTn>
                        </p:par>
                      </p:childTnLst>
                    </p:cTn>
                  </p:par>
                  <p:par>
                    <p:cTn id="42"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86"/>
                                        </p:tgtEl>
                                        <p:attrNameLst>
                                          <p:attrName>style.visibility</p:attrName>
                                        </p:attrNameLst>
                                      </p:cBhvr>
                                      <p:to>
                                        <p:strVal val="visible"/>
                                      </p:to>
                                    </p:set>
                                    <p:anim calcmode="lin" valueType="num">
                                      <p:cBhvr>
                                        <p:cTn id="35" dur="500" fill="hold"/>
                                        <p:tgtEl>
                                          <p:spTgt spid="86"/>
                                        </p:tgtEl>
                                        <p:attrNameLst>
                                          <p:attrName>ppt_w</p:attrName>
                                        </p:attrNameLst>
                                      </p:cBhvr>
                                      <p:tavLst>
                                        <p:tav tm="0">
                                          <p:val>
                                            <p:fltVal val="0"/>
                                          </p:val>
                                        </p:tav>
                                        <p:tav tm="100000">
                                          <p:val>
                                            <p:strVal val="#ppt_w"/>
                                          </p:val>
                                        </p:tav>
                                      </p:tavLst>
                                    </p:anim>
                                    <p:anim calcmode="lin" valueType="num">
                                      <p:cBhvr>
                                        <p:cTn id="36" dur="500" fill="hold"/>
                                        <p:tgtEl>
                                          <p:spTgt spid="86"/>
                                        </p:tgtEl>
                                        <p:attrNameLst>
                                          <p:attrName>ppt_h</p:attrName>
                                        </p:attrNameLst>
                                      </p:cBhvr>
                                      <p:tavLst>
                                        <p:tav tm="0">
                                          <p:val>
                                            <p:fltVal val="0"/>
                                          </p:val>
                                        </p:tav>
                                        <p:tav tm="100000">
                                          <p:val>
                                            <p:strVal val="#ppt_h"/>
                                          </p:val>
                                        </p:tav>
                                      </p:tavLst>
                                    </p:anim>
                                    <p:animEffect transition="in" filter="fade">
                                      <p:cBhvr>
                                        <p:cTn id="37" dur="500"/>
                                        <p:tgtEl>
                                          <p:spTgt spid="86"/>
                                        </p:tgtEl>
                                      </p:cBhvr>
                                    </p:animEffect>
                                  </p:childTnLst>
                                </p:cTn>
                              </p:par>
                            </p:childTnLst>
                          </p:cTn>
                        </p:par>
                        <p:par>
                          <p:cTn id="41" fill="hold">
                            <p:stCondLst>
                              <p:cond delay="200"/>
                            </p:stCondLst>
                            <p:childTnLst>
                              <p:par>
                                <p:cTn id="39" presetID="0" presetClass="path" presetSubtype="0" accel="20000" decel="20000" fill="hold" grpId="0" nodeType="afterEffect">
                                  <p:stCondLst>
                                    <p:cond delay="0"/>
                                  </p:stCondLst>
                                  <p:childTnLst>
                                    <p:animMotion origin="layout" path="M 0 0 L 0.4050 -0.1533 E" pathEditMode="relative" ptsTypes="">
                                      <p:cBhvr>
                                        <p:cTn id="40" dur="1300" fill="hold"/>
                                        <p:tgtEl>
                                          <p:spTgt spid="86"/>
                                        </p:tgtEl>
                                        <p:attrNameLst>
                                          <p:attrName>ppt_x</p:attrName>
                                          <p:attrName>ppt_y</p:attrName>
                                        </p:attrNameLst>
                                      </p:cBhvr>
                                      <p:rCtr x="20250" y="-7666"/>
                                    </p:animMotion>
                                  </p:childTnLst>
                                </p:cTn>
                              </p:par>
                            </p:childTnLst>
                          </p:cTn>
                        </p:par>
                      </p:childTnLst>
                    </p:cTn>
                  </p:par>
                  <p:par>
                    <p:cTn id="52" fill="hold">
                      <p:stCondLst>
                        <p:cond delay="indefinite"/>
                      </p:stCondLst>
                      <p:childTnLst>
                        <p:par>
                          <p:cTn id="48"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87"/>
                                        </p:tgtEl>
                                        <p:attrNameLst>
                                          <p:attrName>style.visibility</p:attrName>
                                        </p:attrNameLst>
                                      </p:cBhvr>
                                      <p:to>
                                        <p:strVal val="visible"/>
                                      </p:to>
                                    </p:set>
                                    <p:anim calcmode="lin" valueType="num">
                                      <p:cBhvr>
                                        <p:cTn id="45" dur="500" fill="hold"/>
                                        <p:tgtEl>
                                          <p:spTgt spid="87"/>
                                        </p:tgtEl>
                                        <p:attrNameLst>
                                          <p:attrName>ppt_w</p:attrName>
                                        </p:attrNameLst>
                                      </p:cBhvr>
                                      <p:tavLst>
                                        <p:tav tm="0">
                                          <p:val>
                                            <p:fltVal val="0"/>
                                          </p:val>
                                        </p:tav>
                                        <p:tav tm="100000">
                                          <p:val>
                                            <p:strVal val="#ppt_w"/>
                                          </p:val>
                                        </p:tav>
                                      </p:tavLst>
                                    </p:anim>
                                    <p:anim calcmode="lin" valueType="num">
                                      <p:cBhvr>
                                        <p:cTn id="46" dur="500" fill="hold"/>
                                        <p:tgtEl>
                                          <p:spTgt spid="87"/>
                                        </p:tgtEl>
                                        <p:attrNameLst>
                                          <p:attrName>ppt_h</p:attrName>
                                        </p:attrNameLst>
                                      </p:cBhvr>
                                      <p:tavLst>
                                        <p:tav tm="0">
                                          <p:val>
                                            <p:fltVal val="0"/>
                                          </p:val>
                                        </p:tav>
                                        <p:tav tm="100000">
                                          <p:val>
                                            <p:strVal val="#ppt_h"/>
                                          </p:val>
                                        </p:tav>
                                      </p:tavLst>
                                    </p:anim>
                                    <p:animEffect transition="in" filter="fade">
                                      <p:cBhvr>
                                        <p:cTn id="47" dur="500"/>
                                        <p:tgtEl>
                                          <p:spTgt spid="87"/>
                                        </p:tgtEl>
                                      </p:cBhvr>
                                    </p:animEffect>
                                  </p:childTnLst>
                                </p:cTn>
                              </p:par>
                            </p:childTnLst>
                          </p:cTn>
                        </p:par>
                        <p:par>
                          <p:cTn id="51" fill="hold">
                            <p:stCondLst>
                              <p:cond delay="200"/>
                            </p:stCondLst>
                            <p:childTnLst>
                              <p:par>
                                <p:cTn id="49" presetID="0" presetClass="path" presetSubtype="0" accel="20000" decel="20000" fill="hold" grpId="0" nodeType="afterEffect">
                                  <p:stCondLst>
                                    <p:cond delay="0"/>
                                  </p:stCondLst>
                                  <p:childTnLst>
                                    <p:animMotion origin="layout" path="M 0 0 L 0.0450 -0.0600 E" pathEditMode="relative" ptsTypes="">
                                      <p:cBhvr>
                                        <p:cTn id="50" dur="1300" fill="hold"/>
                                        <p:tgtEl>
                                          <p:spTgt spid="87"/>
                                        </p:tgtEl>
                                        <p:attrNameLst>
                                          <p:attrName>ppt_x</p:attrName>
                                          <p:attrName>ppt_y</p:attrName>
                                        </p:attrNameLst>
                                      </p:cBhvr>
                                      <p:rCtr x="2250" y="-3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5" grpId="0" animBg="1"/>
      <p:bldP spid="86" grpId="0" animBg="1"/>
      <p:bldP spid="87" grpId="0" animBg="1"/>
    </p:bld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Rótulo intersticio"/>
          <p:cNvSpPr txBox="1"/>
          <p:nvPr/>
        </p:nvSpPr>
        <p:spPr>
          <a:xfrm>
            <a:off x="3108960" y="868680"/>
            <a:ext cx="2743200" cy="329184"/>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LÍQUIDO INTERSTICIAL</a:t>
            </a:r>
            <a:endParaRPr lang="es-AR" sz="1300" dirty="0">
              <a:latin typeface="Fira Sans Condensed"/>
            </a:endParaRPr>
          </a:p>
        </p:txBody>
      </p:sp>
      <p:sp>
        <p:nvSpPr>
          <p:cNvPr id="7" name="!!Citosol"/>
          <p:cNvSpPr/>
          <p:nvPr/>
        </p:nvSpPr>
        <p:spPr>
          <a:xfrm>
            <a:off x="365760" y="2697480"/>
            <a:ext cx="7498080" cy="3749040"/>
          </a:xfrm>
          <a:prstGeom prst="roundRect">
            <a:avLst>
              <a:gd name="adj" fmla="val 6000"/>
            </a:avLst>
          </a:prstGeom>
          <a:gradFill rotWithShape="1">
            <a:gsLst>
              <a:gs pos="0">
                <a:srgbClr val="FDEDEC"/>
              </a:gs>
              <a:gs pos="100000">
                <a:srgbClr val="F5B7B1"/>
              </a:gs>
            </a:gsLst>
            <a:lin ang="5400000" scaled="0"/>
          </a:gradFill>
          <a:ln w="31750" cap="rnd">
            <a:solidFill>
              <a:srgbClr val="B03A2E"/>
            </a:solidFill>
            <a:round/>
          </a:ln>
          <a:effectLst>
            <a:outerShdw blurRad="63500" dist="38100" dir="2700000" algn="tl" rotWithShape="0">
              <a:srgbClr val="000000">
                <a:alpha val="32000"/>
              </a:srgbClr>
            </a:outerShdw>
          </a:effectLst>
        </p:spPr>
      </p:sp>
      <p:sp>
        <p:nvSpPr>
          <p:cNvPr id="8" name="!!Rótulo citosol"/>
          <p:cNvSpPr txBox="1"/>
          <p:nvPr/>
        </p:nvSpPr>
        <p:spPr>
          <a:xfrm>
            <a:off x="5120640" y="5989320"/>
            <a:ext cx="2651760" cy="329184"/>
          </a:xfrm>
          <a:prstGeom prst="rect">
            <a:avLst/>
          </a:prstGeom>
          <a:noFill/>
          <a:ln>
            <a:noFill/>
          </a:ln>
        </p:spPr>
        <p:txBody>
          <a:bodyPr wrap="square" lIns="0" tIns="0" rIns="0" bIns="0" anchor="ctr" rtlCol="0">
            <a:noAutofit/>
          </a:bodyPr>
          <a:lstStyle/>
          <a:p>
            <a:pPr algn="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CITOSOL · MIOCITO / ADIPOCITO</a:t>
            </a:r>
            <a:endParaRPr lang="es-AR" sz="1200" dirty="0">
              <a:latin typeface="Fira Sans Condensed"/>
            </a:endParaRPr>
          </a:p>
        </p:txBody>
      </p:sp>
      <p:grpSp>
        <p:nvGrpSpPr>
          <p:cNvPr id="9" name="!!Membrana plasmática"/>
          <p:cNvGrpSpPr/>
          <p:nvPr/>
        </p:nvGrpSpPr>
        <p:grpSpPr>
          <a:xfrm>
            <a:off x="365760" y="2377440"/>
            <a:ext cx="7498080" cy="329184"/>
            <a:chOff x="365760" y="2377440"/>
            <a:chExt cx="7498080" cy="329184"/>
          </a:xfrm>
        </p:grpSpPr>
        <p:sp>
          <p:nvSpPr>
            <p:cNvPr id="10" name="Forma 9"/>
            <p:cNvSpPr/>
            <p:nvPr/>
          </p:nvSpPr>
          <p:spPr>
            <a:xfrm>
              <a:off x="365760" y="2436693"/>
              <a:ext cx="7498080" cy="210678"/>
            </a:xfrm>
            <a:prstGeom prst="rect">
              <a:avLst/>
            </a:prstGeom>
            <a:solidFill>
              <a:srgbClr val="FDEBD0"/>
            </a:solidFill>
            <a:ln>
              <a:noFill/>
            </a:ln>
          </p:spPr>
        </p:sp>
        <p:sp>
          <p:nvSpPr>
            <p:cNvPr id="11" name="Forma 10"/>
            <p:cNvSpPr/>
            <p:nvPr/>
          </p:nvSpPr>
          <p:spPr>
            <a:xfrm>
              <a:off x="365760" y="2377440"/>
              <a:ext cx="7498080" cy="329184"/>
            </a:xfrm>
            <a:custGeom>
              <a:avLst/>
              <a:gdLst/>
              <a:ahLst/>
              <a:cxnLst/>
              <a:rect l="0" t="0" r="r" b="b"/>
              <a:pathLst>
                <a:path w="8200" h="360">
                  <a:moveTo>
                    <a:pt x="98" y="48"/>
                  </a:moveTo>
                  <a:cubicBezTo>
                    <a:pt x="98" y="74"/>
                    <a:pt x="76" y="96"/>
                    <a:pt x="50" y="96"/>
                  </a:cubicBezTo>
                  <a:cubicBezTo>
                    <a:pt x="23" y="96"/>
                    <a:pt x="2" y="74"/>
                    <a:pt x="2" y="48"/>
                  </a:cubicBezTo>
                  <a:cubicBezTo>
                    <a:pt x="2" y="21"/>
                    <a:pt x="23" y="0"/>
                    <a:pt x="50" y="0"/>
                  </a:cubicBezTo>
                  <a:cubicBezTo>
                    <a:pt x="76" y="0"/>
                    <a:pt x="98" y="21"/>
                    <a:pt x="98" y="48"/>
                  </a:cubicBezTo>
                  <a:close/>
                  <a:moveTo>
                    <a:pt x="199" y="48"/>
                  </a:moveTo>
                  <a:cubicBezTo>
                    <a:pt x="199" y="74"/>
                    <a:pt x="177" y="96"/>
                    <a:pt x="151" y="96"/>
                  </a:cubicBezTo>
                  <a:cubicBezTo>
                    <a:pt x="124" y="96"/>
                    <a:pt x="103" y="74"/>
                    <a:pt x="103" y="48"/>
                  </a:cubicBezTo>
                  <a:cubicBezTo>
                    <a:pt x="103" y="21"/>
                    <a:pt x="124" y="0"/>
                    <a:pt x="151" y="0"/>
                  </a:cubicBezTo>
                  <a:cubicBezTo>
                    <a:pt x="177" y="0"/>
                    <a:pt x="199" y="21"/>
                    <a:pt x="199" y="48"/>
                  </a:cubicBezTo>
                  <a:close/>
                  <a:moveTo>
                    <a:pt x="301" y="48"/>
                  </a:moveTo>
                  <a:cubicBezTo>
                    <a:pt x="301" y="74"/>
                    <a:pt x="279" y="96"/>
                    <a:pt x="253" y="96"/>
                  </a:cubicBezTo>
                  <a:cubicBezTo>
                    <a:pt x="226" y="96"/>
                    <a:pt x="205" y="74"/>
                    <a:pt x="205" y="48"/>
                  </a:cubicBezTo>
                  <a:cubicBezTo>
                    <a:pt x="205" y="21"/>
                    <a:pt x="226" y="0"/>
                    <a:pt x="253" y="0"/>
                  </a:cubicBezTo>
                  <a:cubicBezTo>
                    <a:pt x="279" y="0"/>
                    <a:pt x="301" y="21"/>
                    <a:pt x="301" y="48"/>
                  </a:cubicBezTo>
                  <a:close/>
                  <a:moveTo>
                    <a:pt x="402" y="48"/>
                  </a:moveTo>
                  <a:cubicBezTo>
                    <a:pt x="402" y="74"/>
                    <a:pt x="380" y="96"/>
                    <a:pt x="354" y="96"/>
                  </a:cubicBezTo>
                  <a:cubicBezTo>
                    <a:pt x="327" y="96"/>
                    <a:pt x="306" y="74"/>
                    <a:pt x="306" y="48"/>
                  </a:cubicBezTo>
                  <a:cubicBezTo>
                    <a:pt x="306" y="21"/>
                    <a:pt x="327" y="0"/>
                    <a:pt x="354" y="0"/>
                  </a:cubicBezTo>
                  <a:cubicBezTo>
                    <a:pt x="380" y="0"/>
                    <a:pt x="402" y="21"/>
                    <a:pt x="402" y="48"/>
                  </a:cubicBezTo>
                  <a:close/>
                  <a:moveTo>
                    <a:pt x="503" y="48"/>
                  </a:moveTo>
                  <a:cubicBezTo>
                    <a:pt x="503" y="74"/>
                    <a:pt x="481" y="96"/>
                    <a:pt x="455" y="96"/>
                  </a:cubicBezTo>
                  <a:cubicBezTo>
                    <a:pt x="428" y="96"/>
                    <a:pt x="407" y="74"/>
                    <a:pt x="407" y="48"/>
                  </a:cubicBezTo>
                  <a:cubicBezTo>
                    <a:pt x="407" y="21"/>
                    <a:pt x="428" y="0"/>
                    <a:pt x="455" y="0"/>
                  </a:cubicBezTo>
                  <a:cubicBezTo>
                    <a:pt x="481" y="0"/>
                    <a:pt x="503" y="21"/>
                    <a:pt x="503" y="48"/>
                  </a:cubicBezTo>
                  <a:close/>
                  <a:moveTo>
                    <a:pt x="604" y="48"/>
                  </a:moveTo>
                  <a:cubicBezTo>
                    <a:pt x="604" y="74"/>
                    <a:pt x="582" y="96"/>
                    <a:pt x="556" y="96"/>
                  </a:cubicBezTo>
                  <a:cubicBezTo>
                    <a:pt x="529" y="96"/>
                    <a:pt x="508" y="74"/>
                    <a:pt x="508" y="48"/>
                  </a:cubicBezTo>
                  <a:cubicBezTo>
                    <a:pt x="508" y="21"/>
                    <a:pt x="529" y="0"/>
                    <a:pt x="556" y="0"/>
                  </a:cubicBezTo>
                  <a:cubicBezTo>
                    <a:pt x="582" y="0"/>
                    <a:pt x="604" y="21"/>
                    <a:pt x="604" y="48"/>
                  </a:cubicBezTo>
                  <a:close/>
                  <a:moveTo>
                    <a:pt x="706" y="48"/>
                  </a:moveTo>
                  <a:cubicBezTo>
                    <a:pt x="706" y="74"/>
                    <a:pt x="684" y="96"/>
                    <a:pt x="658" y="96"/>
                  </a:cubicBezTo>
                  <a:cubicBezTo>
                    <a:pt x="631" y="96"/>
                    <a:pt x="610" y="74"/>
                    <a:pt x="610" y="48"/>
                  </a:cubicBezTo>
                  <a:cubicBezTo>
                    <a:pt x="610" y="21"/>
                    <a:pt x="631" y="0"/>
                    <a:pt x="658" y="0"/>
                  </a:cubicBezTo>
                  <a:cubicBezTo>
                    <a:pt x="684" y="0"/>
                    <a:pt x="706" y="21"/>
                    <a:pt x="706" y="48"/>
                  </a:cubicBezTo>
                  <a:close/>
                  <a:moveTo>
                    <a:pt x="807" y="48"/>
                  </a:moveTo>
                  <a:cubicBezTo>
                    <a:pt x="807" y="74"/>
                    <a:pt x="785" y="96"/>
                    <a:pt x="759" y="96"/>
                  </a:cubicBezTo>
                  <a:cubicBezTo>
                    <a:pt x="732" y="96"/>
                    <a:pt x="711" y="74"/>
                    <a:pt x="711" y="48"/>
                  </a:cubicBezTo>
                  <a:cubicBezTo>
                    <a:pt x="711" y="21"/>
                    <a:pt x="732" y="0"/>
                    <a:pt x="759" y="0"/>
                  </a:cubicBezTo>
                  <a:cubicBezTo>
                    <a:pt x="785" y="0"/>
                    <a:pt x="807" y="21"/>
                    <a:pt x="807" y="48"/>
                  </a:cubicBezTo>
                  <a:close/>
                  <a:moveTo>
                    <a:pt x="908" y="48"/>
                  </a:moveTo>
                  <a:cubicBezTo>
                    <a:pt x="908" y="74"/>
                    <a:pt x="886" y="96"/>
                    <a:pt x="860" y="96"/>
                  </a:cubicBezTo>
                  <a:cubicBezTo>
                    <a:pt x="833" y="96"/>
                    <a:pt x="812" y="74"/>
                    <a:pt x="812" y="48"/>
                  </a:cubicBezTo>
                  <a:cubicBezTo>
                    <a:pt x="812" y="21"/>
                    <a:pt x="833" y="0"/>
                    <a:pt x="860" y="0"/>
                  </a:cubicBezTo>
                  <a:cubicBezTo>
                    <a:pt x="886" y="0"/>
                    <a:pt x="908" y="21"/>
                    <a:pt x="908" y="48"/>
                  </a:cubicBezTo>
                  <a:close/>
                  <a:moveTo>
                    <a:pt x="1009" y="48"/>
                  </a:moveTo>
                  <a:cubicBezTo>
                    <a:pt x="1009" y="74"/>
                    <a:pt x="987" y="96"/>
                    <a:pt x="961" y="96"/>
                  </a:cubicBezTo>
                  <a:cubicBezTo>
                    <a:pt x="934" y="96"/>
                    <a:pt x="913" y="74"/>
                    <a:pt x="913" y="48"/>
                  </a:cubicBezTo>
                  <a:cubicBezTo>
                    <a:pt x="913" y="21"/>
                    <a:pt x="934" y="0"/>
                    <a:pt x="961" y="0"/>
                  </a:cubicBezTo>
                  <a:cubicBezTo>
                    <a:pt x="987" y="0"/>
                    <a:pt x="1009" y="21"/>
                    <a:pt x="1009" y="48"/>
                  </a:cubicBezTo>
                  <a:close/>
                  <a:moveTo>
                    <a:pt x="1110" y="48"/>
                  </a:moveTo>
                  <a:cubicBezTo>
                    <a:pt x="1110" y="74"/>
                    <a:pt x="1088" y="96"/>
                    <a:pt x="1062" y="96"/>
                  </a:cubicBezTo>
                  <a:cubicBezTo>
                    <a:pt x="1035" y="96"/>
                    <a:pt x="1014" y="74"/>
                    <a:pt x="1014" y="48"/>
                  </a:cubicBezTo>
                  <a:cubicBezTo>
                    <a:pt x="1014" y="21"/>
                    <a:pt x="1035" y="0"/>
                    <a:pt x="1062" y="0"/>
                  </a:cubicBezTo>
                  <a:cubicBezTo>
                    <a:pt x="1088" y="0"/>
                    <a:pt x="1110" y="21"/>
                    <a:pt x="1110" y="48"/>
                  </a:cubicBezTo>
                  <a:close/>
                  <a:moveTo>
                    <a:pt x="1212" y="48"/>
                  </a:moveTo>
                  <a:cubicBezTo>
                    <a:pt x="1212" y="74"/>
                    <a:pt x="1190" y="96"/>
                    <a:pt x="1164" y="96"/>
                  </a:cubicBezTo>
                  <a:cubicBezTo>
                    <a:pt x="1137" y="96"/>
                    <a:pt x="1116" y="74"/>
                    <a:pt x="1116" y="48"/>
                  </a:cubicBezTo>
                  <a:cubicBezTo>
                    <a:pt x="1116" y="21"/>
                    <a:pt x="1137" y="0"/>
                    <a:pt x="1164" y="0"/>
                  </a:cubicBezTo>
                  <a:cubicBezTo>
                    <a:pt x="1190" y="0"/>
                    <a:pt x="1212" y="21"/>
                    <a:pt x="1212" y="48"/>
                  </a:cubicBezTo>
                  <a:close/>
                  <a:moveTo>
                    <a:pt x="1313" y="48"/>
                  </a:moveTo>
                  <a:cubicBezTo>
                    <a:pt x="1313" y="74"/>
                    <a:pt x="1291" y="96"/>
                    <a:pt x="1265" y="96"/>
                  </a:cubicBezTo>
                  <a:cubicBezTo>
                    <a:pt x="1238" y="96"/>
                    <a:pt x="1217" y="74"/>
                    <a:pt x="1217" y="48"/>
                  </a:cubicBezTo>
                  <a:cubicBezTo>
                    <a:pt x="1217" y="21"/>
                    <a:pt x="1238" y="0"/>
                    <a:pt x="1265" y="0"/>
                  </a:cubicBezTo>
                  <a:cubicBezTo>
                    <a:pt x="1291" y="0"/>
                    <a:pt x="1313" y="21"/>
                    <a:pt x="1313" y="48"/>
                  </a:cubicBezTo>
                  <a:close/>
                  <a:moveTo>
                    <a:pt x="1414" y="48"/>
                  </a:moveTo>
                  <a:cubicBezTo>
                    <a:pt x="1414" y="74"/>
                    <a:pt x="1392" y="96"/>
                    <a:pt x="1366" y="96"/>
                  </a:cubicBezTo>
                  <a:cubicBezTo>
                    <a:pt x="1339" y="96"/>
                    <a:pt x="1318" y="74"/>
                    <a:pt x="1318" y="48"/>
                  </a:cubicBezTo>
                  <a:cubicBezTo>
                    <a:pt x="1318" y="21"/>
                    <a:pt x="1339" y="0"/>
                    <a:pt x="1366" y="0"/>
                  </a:cubicBezTo>
                  <a:cubicBezTo>
                    <a:pt x="1392" y="0"/>
                    <a:pt x="1414" y="21"/>
                    <a:pt x="1414" y="48"/>
                  </a:cubicBezTo>
                  <a:close/>
                  <a:moveTo>
                    <a:pt x="1515" y="48"/>
                  </a:moveTo>
                  <a:cubicBezTo>
                    <a:pt x="1515" y="74"/>
                    <a:pt x="1493" y="96"/>
                    <a:pt x="1467" y="96"/>
                  </a:cubicBezTo>
                  <a:cubicBezTo>
                    <a:pt x="1440" y="96"/>
                    <a:pt x="1419" y="74"/>
                    <a:pt x="1419" y="48"/>
                  </a:cubicBezTo>
                  <a:cubicBezTo>
                    <a:pt x="1419" y="21"/>
                    <a:pt x="1440" y="0"/>
                    <a:pt x="1467" y="0"/>
                  </a:cubicBezTo>
                  <a:cubicBezTo>
                    <a:pt x="1493" y="0"/>
                    <a:pt x="1515" y="21"/>
                    <a:pt x="1515" y="48"/>
                  </a:cubicBezTo>
                  <a:close/>
                  <a:moveTo>
                    <a:pt x="1617" y="48"/>
                  </a:moveTo>
                  <a:cubicBezTo>
                    <a:pt x="1617" y="74"/>
                    <a:pt x="1595" y="96"/>
                    <a:pt x="1569" y="96"/>
                  </a:cubicBezTo>
                  <a:cubicBezTo>
                    <a:pt x="1542" y="96"/>
                    <a:pt x="1521" y="74"/>
                    <a:pt x="1521" y="48"/>
                  </a:cubicBezTo>
                  <a:cubicBezTo>
                    <a:pt x="1521" y="21"/>
                    <a:pt x="1542" y="0"/>
                    <a:pt x="1569" y="0"/>
                  </a:cubicBezTo>
                  <a:cubicBezTo>
                    <a:pt x="1595" y="0"/>
                    <a:pt x="1617" y="21"/>
                    <a:pt x="1617" y="48"/>
                  </a:cubicBezTo>
                  <a:close/>
                  <a:moveTo>
                    <a:pt x="1718" y="48"/>
                  </a:moveTo>
                  <a:cubicBezTo>
                    <a:pt x="1718" y="74"/>
                    <a:pt x="1696" y="96"/>
                    <a:pt x="1670" y="96"/>
                  </a:cubicBezTo>
                  <a:cubicBezTo>
                    <a:pt x="1643" y="96"/>
                    <a:pt x="1622" y="74"/>
                    <a:pt x="1622" y="48"/>
                  </a:cubicBezTo>
                  <a:cubicBezTo>
                    <a:pt x="1622" y="21"/>
                    <a:pt x="1643" y="0"/>
                    <a:pt x="1670" y="0"/>
                  </a:cubicBezTo>
                  <a:cubicBezTo>
                    <a:pt x="1696" y="0"/>
                    <a:pt x="1718" y="21"/>
                    <a:pt x="1718" y="48"/>
                  </a:cubicBezTo>
                  <a:close/>
                  <a:moveTo>
                    <a:pt x="1819" y="48"/>
                  </a:moveTo>
                  <a:cubicBezTo>
                    <a:pt x="1819" y="74"/>
                    <a:pt x="1797" y="96"/>
                    <a:pt x="1771" y="96"/>
                  </a:cubicBezTo>
                  <a:cubicBezTo>
                    <a:pt x="1744" y="96"/>
                    <a:pt x="1723" y="74"/>
                    <a:pt x="1723" y="48"/>
                  </a:cubicBezTo>
                  <a:cubicBezTo>
                    <a:pt x="1723" y="21"/>
                    <a:pt x="1744" y="0"/>
                    <a:pt x="1771" y="0"/>
                  </a:cubicBezTo>
                  <a:cubicBezTo>
                    <a:pt x="1797" y="0"/>
                    <a:pt x="1819" y="21"/>
                    <a:pt x="1819" y="48"/>
                  </a:cubicBezTo>
                  <a:close/>
                  <a:moveTo>
                    <a:pt x="1920" y="48"/>
                  </a:moveTo>
                  <a:cubicBezTo>
                    <a:pt x="1920" y="74"/>
                    <a:pt x="1898" y="96"/>
                    <a:pt x="1872" y="96"/>
                  </a:cubicBezTo>
                  <a:cubicBezTo>
                    <a:pt x="1845" y="96"/>
                    <a:pt x="1824" y="74"/>
                    <a:pt x="1824" y="48"/>
                  </a:cubicBezTo>
                  <a:cubicBezTo>
                    <a:pt x="1824" y="21"/>
                    <a:pt x="1845" y="0"/>
                    <a:pt x="1872" y="0"/>
                  </a:cubicBezTo>
                  <a:cubicBezTo>
                    <a:pt x="1898" y="0"/>
                    <a:pt x="1920" y="21"/>
                    <a:pt x="1920" y="48"/>
                  </a:cubicBezTo>
                  <a:close/>
                  <a:moveTo>
                    <a:pt x="2022" y="48"/>
                  </a:moveTo>
                  <a:cubicBezTo>
                    <a:pt x="2022" y="74"/>
                    <a:pt x="2000" y="96"/>
                    <a:pt x="1974" y="96"/>
                  </a:cubicBezTo>
                  <a:cubicBezTo>
                    <a:pt x="1947" y="96"/>
                    <a:pt x="1926" y="74"/>
                    <a:pt x="1926" y="48"/>
                  </a:cubicBezTo>
                  <a:cubicBezTo>
                    <a:pt x="1926" y="21"/>
                    <a:pt x="1947" y="0"/>
                    <a:pt x="1974" y="0"/>
                  </a:cubicBezTo>
                  <a:cubicBezTo>
                    <a:pt x="2000" y="0"/>
                    <a:pt x="2022" y="21"/>
                    <a:pt x="2022" y="48"/>
                  </a:cubicBezTo>
                  <a:close/>
                  <a:moveTo>
                    <a:pt x="2123" y="48"/>
                  </a:moveTo>
                  <a:cubicBezTo>
                    <a:pt x="2123" y="74"/>
                    <a:pt x="2101" y="96"/>
                    <a:pt x="2075" y="96"/>
                  </a:cubicBezTo>
                  <a:cubicBezTo>
                    <a:pt x="2048" y="96"/>
                    <a:pt x="2027" y="74"/>
                    <a:pt x="2027" y="48"/>
                  </a:cubicBezTo>
                  <a:cubicBezTo>
                    <a:pt x="2027" y="21"/>
                    <a:pt x="2048" y="0"/>
                    <a:pt x="2075" y="0"/>
                  </a:cubicBezTo>
                  <a:cubicBezTo>
                    <a:pt x="2101" y="0"/>
                    <a:pt x="2123" y="21"/>
                    <a:pt x="2123" y="48"/>
                  </a:cubicBezTo>
                  <a:close/>
                  <a:moveTo>
                    <a:pt x="2224" y="48"/>
                  </a:moveTo>
                  <a:cubicBezTo>
                    <a:pt x="2224" y="74"/>
                    <a:pt x="2202" y="96"/>
                    <a:pt x="2176" y="96"/>
                  </a:cubicBezTo>
                  <a:cubicBezTo>
                    <a:pt x="2149" y="96"/>
                    <a:pt x="2128" y="74"/>
                    <a:pt x="2128" y="48"/>
                  </a:cubicBezTo>
                  <a:cubicBezTo>
                    <a:pt x="2128" y="21"/>
                    <a:pt x="2149" y="0"/>
                    <a:pt x="2176" y="0"/>
                  </a:cubicBezTo>
                  <a:cubicBezTo>
                    <a:pt x="2202" y="0"/>
                    <a:pt x="2224" y="21"/>
                    <a:pt x="2224" y="48"/>
                  </a:cubicBezTo>
                  <a:close/>
                  <a:moveTo>
                    <a:pt x="2325" y="48"/>
                  </a:moveTo>
                  <a:cubicBezTo>
                    <a:pt x="2325" y="74"/>
                    <a:pt x="2303" y="96"/>
                    <a:pt x="2277" y="96"/>
                  </a:cubicBezTo>
                  <a:cubicBezTo>
                    <a:pt x="2250" y="96"/>
                    <a:pt x="2229" y="74"/>
                    <a:pt x="2229" y="48"/>
                  </a:cubicBezTo>
                  <a:cubicBezTo>
                    <a:pt x="2229" y="21"/>
                    <a:pt x="2250" y="0"/>
                    <a:pt x="2277" y="0"/>
                  </a:cubicBezTo>
                  <a:cubicBezTo>
                    <a:pt x="2303" y="0"/>
                    <a:pt x="2325" y="21"/>
                    <a:pt x="2325" y="48"/>
                  </a:cubicBezTo>
                  <a:close/>
                  <a:moveTo>
                    <a:pt x="2427" y="48"/>
                  </a:moveTo>
                  <a:cubicBezTo>
                    <a:pt x="2427" y="74"/>
                    <a:pt x="2405" y="96"/>
                    <a:pt x="2379" y="96"/>
                  </a:cubicBezTo>
                  <a:cubicBezTo>
                    <a:pt x="2352" y="96"/>
                    <a:pt x="2331" y="74"/>
                    <a:pt x="2331" y="48"/>
                  </a:cubicBezTo>
                  <a:cubicBezTo>
                    <a:pt x="2331" y="21"/>
                    <a:pt x="2352" y="0"/>
                    <a:pt x="2379" y="0"/>
                  </a:cubicBezTo>
                  <a:cubicBezTo>
                    <a:pt x="2405" y="0"/>
                    <a:pt x="2427" y="21"/>
                    <a:pt x="2427" y="48"/>
                  </a:cubicBezTo>
                  <a:close/>
                  <a:moveTo>
                    <a:pt x="2528" y="48"/>
                  </a:moveTo>
                  <a:cubicBezTo>
                    <a:pt x="2528" y="74"/>
                    <a:pt x="2506" y="96"/>
                    <a:pt x="2480" y="96"/>
                  </a:cubicBezTo>
                  <a:cubicBezTo>
                    <a:pt x="2453" y="96"/>
                    <a:pt x="2432" y="74"/>
                    <a:pt x="2432" y="48"/>
                  </a:cubicBezTo>
                  <a:cubicBezTo>
                    <a:pt x="2432" y="21"/>
                    <a:pt x="2453" y="0"/>
                    <a:pt x="2480" y="0"/>
                  </a:cubicBezTo>
                  <a:cubicBezTo>
                    <a:pt x="2506" y="0"/>
                    <a:pt x="2528" y="21"/>
                    <a:pt x="2528" y="48"/>
                  </a:cubicBezTo>
                  <a:close/>
                  <a:moveTo>
                    <a:pt x="2629" y="48"/>
                  </a:moveTo>
                  <a:cubicBezTo>
                    <a:pt x="2629" y="74"/>
                    <a:pt x="2607" y="96"/>
                    <a:pt x="2581" y="96"/>
                  </a:cubicBezTo>
                  <a:cubicBezTo>
                    <a:pt x="2554" y="96"/>
                    <a:pt x="2533" y="74"/>
                    <a:pt x="2533" y="48"/>
                  </a:cubicBezTo>
                  <a:cubicBezTo>
                    <a:pt x="2533" y="21"/>
                    <a:pt x="2554" y="0"/>
                    <a:pt x="2581" y="0"/>
                  </a:cubicBezTo>
                  <a:cubicBezTo>
                    <a:pt x="2607" y="0"/>
                    <a:pt x="2629" y="21"/>
                    <a:pt x="2629" y="48"/>
                  </a:cubicBezTo>
                  <a:close/>
                  <a:moveTo>
                    <a:pt x="2730" y="48"/>
                  </a:moveTo>
                  <a:cubicBezTo>
                    <a:pt x="2730" y="74"/>
                    <a:pt x="2708" y="96"/>
                    <a:pt x="2682" y="96"/>
                  </a:cubicBezTo>
                  <a:cubicBezTo>
                    <a:pt x="2655" y="96"/>
                    <a:pt x="2634" y="74"/>
                    <a:pt x="2634" y="48"/>
                  </a:cubicBezTo>
                  <a:cubicBezTo>
                    <a:pt x="2634" y="21"/>
                    <a:pt x="2655" y="0"/>
                    <a:pt x="2682" y="0"/>
                  </a:cubicBezTo>
                  <a:cubicBezTo>
                    <a:pt x="2708" y="0"/>
                    <a:pt x="2730" y="21"/>
                    <a:pt x="2730" y="48"/>
                  </a:cubicBezTo>
                  <a:close/>
                  <a:moveTo>
                    <a:pt x="2831" y="48"/>
                  </a:moveTo>
                  <a:cubicBezTo>
                    <a:pt x="2831" y="74"/>
                    <a:pt x="2809" y="96"/>
                    <a:pt x="2783" y="96"/>
                  </a:cubicBezTo>
                  <a:cubicBezTo>
                    <a:pt x="2756" y="96"/>
                    <a:pt x="2735" y="74"/>
                    <a:pt x="2735" y="48"/>
                  </a:cubicBezTo>
                  <a:cubicBezTo>
                    <a:pt x="2735" y="21"/>
                    <a:pt x="2756" y="0"/>
                    <a:pt x="2783" y="0"/>
                  </a:cubicBezTo>
                  <a:cubicBezTo>
                    <a:pt x="2809" y="0"/>
                    <a:pt x="2831" y="21"/>
                    <a:pt x="2831" y="48"/>
                  </a:cubicBezTo>
                  <a:close/>
                  <a:moveTo>
                    <a:pt x="2933" y="48"/>
                  </a:moveTo>
                  <a:cubicBezTo>
                    <a:pt x="2933" y="74"/>
                    <a:pt x="2911" y="96"/>
                    <a:pt x="2885" y="96"/>
                  </a:cubicBezTo>
                  <a:cubicBezTo>
                    <a:pt x="2858" y="96"/>
                    <a:pt x="2837" y="74"/>
                    <a:pt x="2837" y="48"/>
                  </a:cubicBezTo>
                  <a:cubicBezTo>
                    <a:pt x="2837" y="21"/>
                    <a:pt x="2858" y="0"/>
                    <a:pt x="2885" y="0"/>
                  </a:cubicBezTo>
                  <a:cubicBezTo>
                    <a:pt x="2911" y="0"/>
                    <a:pt x="2933" y="21"/>
                    <a:pt x="2933" y="48"/>
                  </a:cubicBezTo>
                  <a:close/>
                  <a:moveTo>
                    <a:pt x="3034" y="48"/>
                  </a:moveTo>
                  <a:cubicBezTo>
                    <a:pt x="3034" y="74"/>
                    <a:pt x="3012" y="96"/>
                    <a:pt x="2986" y="96"/>
                  </a:cubicBezTo>
                  <a:cubicBezTo>
                    <a:pt x="2959" y="96"/>
                    <a:pt x="2938" y="74"/>
                    <a:pt x="2938" y="48"/>
                  </a:cubicBezTo>
                  <a:cubicBezTo>
                    <a:pt x="2938" y="21"/>
                    <a:pt x="2959" y="0"/>
                    <a:pt x="2986" y="0"/>
                  </a:cubicBezTo>
                  <a:cubicBezTo>
                    <a:pt x="3012" y="0"/>
                    <a:pt x="3034" y="21"/>
                    <a:pt x="3034" y="48"/>
                  </a:cubicBezTo>
                  <a:close/>
                  <a:moveTo>
                    <a:pt x="3135" y="48"/>
                  </a:moveTo>
                  <a:cubicBezTo>
                    <a:pt x="3135" y="74"/>
                    <a:pt x="3113" y="96"/>
                    <a:pt x="3087" y="96"/>
                  </a:cubicBezTo>
                  <a:cubicBezTo>
                    <a:pt x="3060" y="96"/>
                    <a:pt x="3039" y="74"/>
                    <a:pt x="3039" y="48"/>
                  </a:cubicBezTo>
                  <a:cubicBezTo>
                    <a:pt x="3039" y="21"/>
                    <a:pt x="3060" y="0"/>
                    <a:pt x="3087" y="0"/>
                  </a:cubicBezTo>
                  <a:cubicBezTo>
                    <a:pt x="3113" y="0"/>
                    <a:pt x="3135" y="21"/>
                    <a:pt x="3135" y="48"/>
                  </a:cubicBezTo>
                  <a:close/>
                  <a:moveTo>
                    <a:pt x="3236" y="48"/>
                  </a:moveTo>
                  <a:cubicBezTo>
                    <a:pt x="3236" y="74"/>
                    <a:pt x="3214" y="96"/>
                    <a:pt x="3188" y="96"/>
                  </a:cubicBezTo>
                  <a:cubicBezTo>
                    <a:pt x="3161" y="96"/>
                    <a:pt x="3140" y="74"/>
                    <a:pt x="3140" y="48"/>
                  </a:cubicBezTo>
                  <a:cubicBezTo>
                    <a:pt x="3140" y="21"/>
                    <a:pt x="3161" y="0"/>
                    <a:pt x="3188" y="0"/>
                  </a:cubicBezTo>
                  <a:cubicBezTo>
                    <a:pt x="3214" y="0"/>
                    <a:pt x="3236" y="21"/>
                    <a:pt x="3236" y="48"/>
                  </a:cubicBezTo>
                  <a:close/>
                  <a:moveTo>
                    <a:pt x="3338" y="48"/>
                  </a:moveTo>
                  <a:cubicBezTo>
                    <a:pt x="3338" y="74"/>
                    <a:pt x="3316" y="96"/>
                    <a:pt x="3290" y="96"/>
                  </a:cubicBezTo>
                  <a:cubicBezTo>
                    <a:pt x="3263" y="96"/>
                    <a:pt x="3242" y="74"/>
                    <a:pt x="3242" y="48"/>
                  </a:cubicBezTo>
                  <a:cubicBezTo>
                    <a:pt x="3242" y="21"/>
                    <a:pt x="3263" y="0"/>
                    <a:pt x="3290" y="0"/>
                  </a:cubicBezTo>
                  <a:cubicBezTo>
                    <a:pt x="3316" y="0"/>
                    <a:pt x="3338" y="21"/>
                    <a:pt x="3338" y="48"/>
                  </a:cubicBezTo>
                  <a:close/>
                  <a:moveTo>
                    <a:pt x="3439" y="48"/>
                  </a:moveTo>
                  <a:cubicBezTo>
                    <a:pt x="3439" y="74"/>
                    <a:pt x="3417" y="96"/>
                    <a:pt x="3391" y="96"/>
                  </a:cubicBezTo>
                  <a:cubicBezTo>
                    <a:pt x="3364" y="96"/>
                    <a:pt x="3343" y="74"/>
                    <a:pt x="3343" y="48"/>
                  </a:cubicBezTo>
                  <a:cubicBezTo>
                    <a:pt x="3343" y="21"/>
                    <a:pt x="3364" y="0"/>
                    <a:pt x="3391" y="0"/>
                  </a:cubicBezTo>
                  <a:cubicBezTo>
                    <a:pt x="3417" y="0"/>
                    <a:pt x="3439" y="21"/>
                    <a:pt x="3439" y="48"/>
                  </a:cubicBezTo>
                  <a:close/>
                  <a:moveTo>
                    <a:pt x="3540" y="48"/>
                  </a:moveTo>
                  <a:cubicBezTo>
                    <a:pt x="3540" y="74"/>
                    <a:pt x="3518" y="96"/>
                    <a:pt x="3492" y="96"/>
                  </a:cubicBezTo>
                  <a:cubicBezTo>
                    <a:pt x="3465" y="96"/>
                    <a:pt x="3444" y="74"/>
                    <a:pt x="3444" y="48"/>
                  </a:cubicBezTo>
                  <a:cubicBezTo>
                    <a:pt x="3444" y="21"/>
                    <a:pt x="3465" y="0"/>
                    <a:pt x="3492" y="0"/>
                  </a:cubicBezTo>
                  <a:cubicBezTo>
                    <a:pt x="3518" y="0"/>
                    <a:pt x="3540" y="21"/>
                    <a:pt x="3540" y="48"/>
                  </a:cubicBezTo>
                  <a:close/>
                  <a:moveTo>
                    <a:pt x="3641" y="48"/>
                  </a:moveTo>
                  <a:cubicBezTo>
                    <a:pt x="3641" y="74"/>
                    <a:pt x="3619" y="96"/>
                    <a:pt x="3593" y="96"/>
                  </a:cubicBezTo>
                  <a:cubicBezTo>
                    <a:pt x="3566" y="96"/>
                    <a:pt x="3545" y="74"/>
                    <a:pt x="3545" y="48"/>
                  </a:cubicBezTo>
                  <a:cubicBezTo>
                    <a:pt x="3545" y="21"/>
                    <a:pt x="3566" y="0"/>
                    <a:pt x="3593" y="0"/>
                  </a:cubicBezTo>
                  <a:cubicBezTo>
                    <a:pt x="3619" y="0"/>
                    <a:pt x="3641" y="21"/>
                    <a:pt x="3641" y="48"/>
                  </a:cubicBezTo>
                  <a:close/>
                  <a:moveTo>
                    <a:pt x="3743" y="48"/>
                  </a:moveTo>
                  <a:cubicBezTo>
                    <a:pt x="3743" y="74"/>
                    <a:pt x="3721" y="96"/>
                    <a:pt x="3695" y="96"/>
                  </a:cubicBezTo>
                  <a:cubicBezTo>
                    <a:pt x="3668" y="96"/>
                    <a:pt x="3647" y="74"/>
                    <a:pt x="3647" y="48"/>
                  </a:cubicBezTo>
                  <a:cubicBezTo>
                    <a:pt x="3647" y="21"/>
                    <a:pt x="3668" y="0"/>
                    <a:pt x="3695" y="0"/>
                  </a:cubicBezTo>
                  <a:cubicBezTo>
                    <a:pt x="3721" y="0"/>
                    <a:pt x="3743" y="21"/>
                    <a:pt x="3743" y="48"/>
                  </a:cubicBezTo>
                  <a:close/>
                  <a:moveTo>
                    <a:pt x="3844" y="48"/>
                  </a:moveTo>
                  <a:cubicBezTo>
                    <a:pt x="3844" y="74"/>
                    <a:pt x="3822" y="96"/>
                    <a:pt x="3796" y="96"/>
                  </a:cubicBezTo>
                  <a:cubicBezTo>
                    <a:pt x="3769" y="96"/>
                    <a:pt x="3748" y="74"/>
                    <a:pt x="3748" y="48"/>
                  </a:cubicBezTo>
                  <a:cubicBezTo>
                    <a:pt x="3748" y="21"/>
                    <a:pt x="3769" y="0"/>
                    <a:pt x="3796" y="0"/>
                  </a:cubicBezTo>
                  <a:cubicBezTo>
                    <a:pt x="3822" y="0"/>
                    <a:pt x="3844" y="21"/>
                    <a:pt x="3844" y="48"/>
                  </a:cubicBezTo>
                  <a:close/>
                  <a:moveTo>
                    <a:pt x="3945" y="48"/>
                  </a:moveTo>
                  <a:cubicBezTo>
                    <a:pt x="3945" y="74"/>
                    <a:pt x="3923" y="96"/>
                    <a:pt x="3897" y="96"/>
                  </a:cubicBezTo>
                  <a:cubicBezTo>
                    <a:pt x="3870" y="96"/>
                    <a:pt x="3849" y="74"/>
                    <a:pt x="3849" y="48"/>
                  </a:cubicBezTo>
                  <a:cubicBezTo>
                    <a:pt x="3849" y="21"/>
                    <a:pt x="3870" y="0"/>
                    <a:pt x="3897" y="0"/>
                  </a:cubicBezTo>
                  <a:cubicBezTo>
                    <a:pt x="3923" y="0"/>
                    <a:pt x="3945" y="21"/>
                    <a:pt x="3945" y="48"/>
                  </a:cubicBezTo>
                  <a:close/>
                  <a:moveTo>
                    <a:pt x="4046" y="48"/>
                  </a:moveTo>
                  <a:cubicBezTo>
                    <a:pt x="4046" y="74"/>
                    <a:pt x="4024" y="96"/>
                    <a:pt x="3998" y="96"/>
                  </a:cubicBezTo>
                  <a:cubicBezTo>
                    <a:pt x="3971" y="96"/>
                    <a:pt x="3950" y="74"/>
                    <a:pt x="3950" y="48"/>
                  </a:cubicBezTo>
                  <a:cubicBezTo>
                    <a:pt x="3950" y="21"/>
                    <a:pt x="3971" y="0"/>
                    <a:pt x="3998" y="0"/>
                  </a:cubicBezTo>
                  <a:cubicBezTo>
                    <a:pt x="4024" y="0"/>
                    <a:pt x="4046" y="21"/>
                    <a:pt x="4046" y="48"/>
                  </a:cubicBezTo>
                  <a:close/>
                  <a:moveTo>
                    <a:pt x="4148" y="48"/>
                  </a:moveTo>
                  <a:cubicBezTo>
                    <a:pt x="4148" y="74"/>
                    <a:pt x="4126" y="96"/>
                    <a:pt x="4100" y="96"/>
                  </a:cubicBezTo>
                  <a:cubicBezTo>
                    <a:pt x="4073" y="96"/>
                    <a:pt x="4052" y="74"/>
                    <a:pt x="4052" y="48"/>
                  </a:cubicBezTo>
                  <a:cubicBezTo>
                    <a:pt x="4052" y="21"/>
                    <a:pt x="4073" y="0"/>
                    <a:pt x="4100" y="0"/>
                  </a:cubicBezTo>
                  <a:cubicBezTo>
                    <a:pt x="4126" y="0"/>
                    <a:pt x="4148" y="21"/>
                    <a:pt x="4148" y="48"/>
                  </a:cubicBezTo>
                  <a:close/>
                  <a:moveTo>
                    <a:pt x="4249" y="48"/>
                  </a:moveTo>
                  <a:cubicBezTo>
                    <a:pt x="4249" y="74"/>
                    <a:pt x="4227" y="96"/>
                    <a:pt x="4201" y="96"/>
                  </a:cubicBezTo>
                  <a:cubicBezTo>
                    <a:pt x="4174" y="96"/>
                    <a:pt x="4153" y="74"/>
                    <a:pt x="4153" y="48"/>
                  </a:cubicBezTo>
                  <a:cubicBezTo>
                    <a:pt x="4153" y="21"/>
                    <a:pt x="4174" y="0"/>
                    <a:pt x="4201" y="0"/>
                  </a:cubicBezTo>
                  <a:cubicBezTo>
                    <a:pt x="4227" y="0"/>
                    <a:pt x="4249" y="21"/>
                    <a:pt x="4249" y="48"/>
                  </a:cubicBezTo>
                  <a:close/>
                  <a:moveTo>
                    <a:pt x="4350" y="48"/>
                  </a:moveTo>
                  <a:cubicBezTo>
                    <a:pt x="4350" y="74"/>
                    <a:pt x="4328" y="96"/>
                    <a:pt x="4302" y="96"/>
                  </a:cubicBezTo>
                  <a:cubicBezTo>
                    <a:pt x="4275" y="96"/>
                    <a:pt x="4254" y="74"/>
                    <a:pt x="4254" y="48"/>
                  </a:cubicBezTo>
                  <a:cubicBezTo>
                    <a:pt x="4254" y="21"/>
                    <a:pt x="4275" y="0"/>
                    <a:pt x="4302" y="0"/>
                  </a:cubicBezTo>
                  <a:cubicBezTo>
                    <a:pt x="4328" y="0"/>
                    <a:pt x="4350" y="21"/>
                    <a:pt x="4350" y="48"/>
                  </a:cubicBezTo>
                  <a:close/>
                  <a:moveTo>
                    <a:pt x="4451" y="48"/>
                  </a:moveTo>
                  <a:cubicBezTo>
                    <a:pt x="4451" y="74"/>
                    <a:pt x="4429" y="96"/>
                    <a:pt x="4403" y="96"/>
                  </a:cubicBezTo>
                  <a:cubicBezTo>
                    <a:pt x="4376" y="96"/>
                    <a:pt x="4355" y="74"/>
                    <a:pt x="4355" y="48"/>
                  </a:cubicBezTo>
                  <a:cubicBezTo>
                    <a:pt x="4355" y="21"/>
                    <a:pt x="4376" y="0"/>
                    <a:pt x="4403" y="0"/>
                  </a:cubicBezTo>
                  <a:cubicBezTo>
                    <a:pt x="4429" y="0"/>
                    <a:pt x="4451" y="21"/>
                    <a:pt x="4451" y="48"/>
                  </a:cubicBezTo>
                  <a:close/>
                  <a:moveTo>
                    <a:pt x="4552" y="48"/>
                  </a:moveTo>
                  <a:cubicBezTo>
                    <a:pt x="4552" y="74"/>
                    <a:pt x="4530" y="96"/>
                    <a:pt x="4504" y="96"/>
                  </a:cubicBezTo>
                  <a:cubicBezTo>
                    <a:pt x="4477" y="96"/>
                    <a:pt x="4456" y="74"/>
                    <a:pt x="4456" y="48"/>
                  </a:cubicBezTo>
                  <a:cubicBezTo>
                    <a:pt x="4456" y="21"/>
                    <a:pt x="4477" y="0"/>
                    <a:pt x="4504" y="0"/>
                  </a:cubicBezTo>
                  <a:cubicBezTo>
                    <a:pt x="4530" y="0"/>
                    <a:pt x="4552" y="21"/>
                    <a:pt x="4552" y="48"/>
                  </a:cubicBezTo>
                  <a:close/>
                  <a:moveTo>
                    <a:pt x="4654" y="48"/>
                  </a:moveTo>
                  <a:cubicBezTo>
                    <a:pt x="4654" y="74"/>
                    <a:pt x="4632" y="96"/>
                    <a:pt x="4606" y="96"/>
                  </a:cubicBezTo>
                  <a:cubicBezTo>
                    <a:pt x="4579" y="96"/>
                    <a:pt x="4558" y="74"/>
                    <a:pt x="4558" y="48"/>
                  </a:cubicBezTo>
                  <a:cubicBezTo>
                    <a:pt x="4558" y="21"/>
                    <a:pt x="4579" y="0"/>
                    <a:pt x="4606" y="0"/>
                  </a:cubicBezTo>
                  <a:cubicBezTo>
                    <a:pt x="4632" y="0"/>
                    <a:pt x="4654" y="21"/>
                    <a:pt x="4654" y="48"/>
                  </a:cubicBezTo>
                  <a:close/>
                  <a:moveTo>
                    <a:pt x="4755" y="48"/>
                  </a:moveTo>
                  <a:cubicBezTo>
                    <a:pt x="4755" y="74"/>
                    <a:pt x="4733" y="96"/>
                    <a:pt x="4707" y="96"/>
                  </a:cubicBezTo>
                  <a:cubicBezTo>
                    <a:pt x="4680" y="96"/>
                    <a:pt x="4659" y="74"/>
                    <a:pt x="4659" y="48"/>
                  </a:cubicBezTo>
                  <a:cubicBezTo>
                    <a:pt x="4659" y="21"/>
                    <a:pt x="4680" y="0"/>
                    <a:pt x="4707" y="0"/>
                  </a:cubicBezTo>
                  <a:cubicBezTo>
                    <a:pt x="4733" y="0"/>
                    <a:pt x="4755" y="21"/>
                    <a:pt x="4755" y="48"/>
                  </a:cubicBezTo>
                  <a:close/>
                  <a:moveTo>
                    <a:pt x="4856" y="48"/>
                  </a:moveTo>
                  <a:cubicBezTo>
                    <a:pt x="4856" y="74"/>
                    <a:pt x="4834" y="96"/>
                    <a:pt x="4808" y="96"/>
                  </a:cubicBezTo>
                  <a:cubicBezTo>
                    <a:pt x="4781" y="96"/>
                    <a:pt x="4760" y="74"/>
                    <a:pt x="4760" y="48"/>
                  </a:cubicBezTo>
                  <a:cubicBezTo>
                    <a:pt x="4760" y="21"/>
                    <a:pt x="4781" y="0"/>
                    <a:pt x="4808" y="0"/>
                  </a:cubicBezTo>
                  <a:cubicBezTo>
                    <a:pt x="4834" y="0"/>
                    <a:pt x="4856" y="21"/>
                    <a:pt x="4856" y="48"/>
                  </a:cubicBezTo>
                  <a:close/>
                  <a:moveTo>
                    <a:pt x="4957" y="48"/>
                  </a:moveTo>
                  <a:cubicBezTo>
                    <a:pt x="4957" y="74"/>
                    <a:pt x="4935" y="96"/>
                    <a:pt x="4909" y="96"/>
                  </a:cubicBezTo>
                  <a:cubicBezTo>
                    <a:pt x="4882" y="96"/>
                    <a:pt x="4861" y="74"/>
                    <a:pt x="4861" y="48"/>
                  </a:cubicBezTo>
                  <a:cubicBezTo>
                    <a:pt x="4861" y="21"/>
                    <a:pt x="4882" y="0"/>
                    <a:pt x="4909" y="0"/>
                  </a:cubicBezTo>
                  <a:cubicBezTo>
                    <a:pt x="4935" y="0"/>
                    <a:pt x="4957" y="21"/>
                    <a:pt x="4957" y="48"/>
                  </a:cubicBezTo>
                  <a:close/>
                  <a:moveTo>
                    <a:pt x="5059" y="48"/>
                  </a:moveTo>
                  <a:cubicBezTo>
                    <a:pt x="5059" y="74"/>
                    <a:pt x="5037" y="96"/>
                    <a:pt x="5011" y="96"/>
                  </a:cubicBezTo>
                  <a:cubicBezTo>
                    <a:pt x="4984" y="96"/>
                    <a:pt x="4963" y="74"/>
                    <a:pt x="4963" y="48"/>
                  </a:cubicBezTo>
                  <a:cubicBezTo>
                    <a:pt x="4963" y="21"/>
                    <a:pt x="4984" y="0"/>
                    <a:pt x="5011" y="0"/>
                  </a:cubicBezTo>
                  <a:cubicBezTo>
                    <a:pt x="5037" y="0"/>
                    <a:pt x="5059" y="21"/>
                    <a:pt x="5059" y="48"/>
                  </a:cubicBezTo>
                  <a:close/>
                  <a:moveTo>
                    <a:pt x="5160" y="48"/>
                  </a:moveTo>
                  <a:cubicBezTo>
                    <a:pt x="5160" y="74"/>
                    <a:pt x="5138" y="96"/>
                    <a:pt x="5112" y="96"/>
                  </a:cubicBezTo>
                  <a:cubicBezTo>
                    <a:pt x="5085" y="96"/>
                    <a:pt x="5064" y="74"/>
                    <a:pt x="5064" y="48"/>
                  </a:cubicBezTo>
                  <a:cubicBezTo>
                    <a:pt x="5064" y="21"/>
                    <a:pt x="5085" y="0"/>
                    <a:pt x="5112" y="0"/>
                  </a:cubicBezTo>
                  <a:cubicBezTo>
                    <a:pt x="5138" y="0"/>
                    <a:pt x="5160" y="21"/>
                    <a:pt x="5160" y="48"/>
                  </a:cubicBezTo>
                  <a:close/>
                  <a:moveTo>
                    <a:pt x="5261" y="48"/>
                  </a:moveTo>
                  <a:cubicBezTo>
                    <a:pt x="5261" y="74"/>
                    <a:pt x="5239" y="96"/>
                    <a:pt x="5213" y="96"/>
                  </a:cubicBezTo>
                  <a:cubicBezTo>
                    <a:pt x="5186" y="96"/>
                    <a:pt x="5165" y="74"/>
                    <a:pt x="5165" y="48"/>
                  </a:cubicBezTo>
                  <a:cubicBezTo>
                    <a:pt x="5165" y="21"/>
                    <a:pt x="5186" y="0"/>
                    <a:pt x="5213" y="0"/>
                  </a:cubicBezTo>
                  <a:cubicBezTo>
                    <a:pt x="5239" y="0"/>
                    <a:pt x="5261" y="21"/>
                    <a:pt x="5261" y="48"/>
                  </a:cubicBezTo>
                  <a:close/>
                  <a:moveTo>
                    <a:pt x="5362" y="48"/>
                  </a:moveTo>
                  <a:cubicBezTo>
                    <a:pt x="5362" y="74"/>
                    <a:pt x="5340" y="96"/>
                    <a:pt x="5314" y="96"/>
                  </a:cubicBezTo>
                  <a:cubicBezTo>
                    <a:pt x="5287" y="96"/>
                    <a:pt x="5266" y="74"/>
                    <a:pt x="5266" y="48"/>
                  </a:cubicBezTo>
                  <a:cubicBezTo>
                    <a:pt x="5266" y="21"/>
                    <a:pt x="5287" y="0"/>
                    <a:pt x="5314" y="0"/>
                  </a:cubicBezTo>
                  <a:cubicBezTo>
                    <a:pt x="5340" y="0"/>
                    <a:pt x="5362" y="21"/>
                    <a:pt x="5362" y="48"/>
                  </a:cubicBezTo>
                  <a:close/>
                  <a:moveTo>
                    <a:pt x="5464" y="48"/>
                  </a:moveTo>
                  <a:cubicBezTo>
                    <a:pt x="5464" y="74"/>
                    <a:pt x="5442" y="96"/>
                    <a:pt x="5416" y="96"/>
                  </a:cubicBezTo>
                  <a:cubicBezTo>
                    <a:pt x="5389" y="96"/>
                    <a:pt x="5368" y="74"/>
                    <a:pt x="5368" y="48"/>
                  </a:cubicBezTo>
                  <a:cubicBezTo>
                    <a:pt x="5368" y="21"/>
                    <a:pt x="5389" y="0"/>
                    <a:pt x="5416" y="0"/>
                  </a:cubicBezTo>
                  <a:cubicBezTo>
                    <a:pt x="5442" y="0"/>
                    <a:pt x="5464" y="21"/>
                    <a:pt x="5464" y="48"/>
                  </a:cubicBezTo>
                  <a:close/>
                  <a:moveTo>
                    <a:pt x="5565" y="48"/>
                  </a:moveTo>
                  <a:cubicBezTo>
                    <a:pt x="5565" y="74"/>
                    <a:pt x="5543" y="96"/>
                    <a:pt x="5517" y="96"/>
                  </a:cubicBezTo>
                  <a:cubicBezTo>
                    <a:pt x="5490" y="96"/>
                    <a:pt x="5469" y="74"/>
                    <a:pt x="5469" y="48"/>
                  </a:cubicBezTo>
                  <a:cubicBezTo>
                    <a:pt x="5469" y="21"/>
                    <a:pt x="5490" y="0"/>
                    <a:pt x="5517" y="0"/>
                  </a:cubicBezTo>
                  <a:cubicBezTo>
                    <a:pt x="5543" y="0"/>
                    <a:pt x="5565" y="21"/>
                    <a:pt x="5565" y="48"/>
                  </a:cubicBezTo>
                  <a:close/>
                  <a:moveTo>
                    <a:pt x="5666" y="48"/>
                  </a:moveTo>
                  <a:cubicBezTo>
                    <a:pt x="5666" y="74"/>
                    <a:pt x="5644" y="96"/>
                    <a:pt x="5618" y="96"/>
                  </a:cubicBezTo>
                  <a:cubicBezTo>
                    <a:pt x="5591" y="96"/>
                    <a:pt x="5570" y="74"/>
                    <a:pt x="5570" y="48"/>
                  </a:cubicBezTo>
                  <a:cubicBezTo>
                    <a:pt x="5570" y="21"/>
                    <a:pt x="5591" y="0"/>
                    <a:pt x="5618" y="0"/>
                  </a:cubicBezTo>
                  <a:cubicBezTo>
                    <a:pt x="5644" y="0"/>
                    <a:pt x="5666" y="21"/>
                    <a:pt x="5666" y="48"/>
                  </a:cubicBezTo>
                  <a:close/>
                  <a:moveTo>
                    <a:pt x="5767" y="48"/>
                  </a:moveTo>
                  <a:cubicBezTo>
                    <a:pt x="5767" y="74"/>
                    <a:pt x="5745" y="96"/>
                    <a:pt x="5719" y="96"/>
                  </a:cubicBezTo>
                  <a:cubicBezTo>
                    <a:pt x="5692" y="96"/>
                    <a:pt x="5671" y="74"/>
                    <a:pt x="5671" y="48"/>
                  </a:cubicBezTo>
                  <a:cubicBezTo>
                    <a:pt x="5671" y="21"/>
                    <a:pt x="5692" y="0"/>
                    <a:pt x="5719" y="0"/>
                  </a:cubicBezTo>
                  <a:cubicBezTo>
                    <a:pt x="5745" y="0"/>
                    <a:pt x="5767" y="21"/>
                    <a:pt x="5767" y="48"/>
                  </a:cubicBezTo>
                  <a:close/>
                  <a:moveTo>
                    <a:pt x="5868" y="48"/>
                  </a:moveTo>
                  <a:cubicBezTo>
                    <a:pt x="5868" y="74"/>
                    <a:pt x="5846" y="96"/>
                    <a:pt x="5820" y="96"/>
                  </a:cubicBezTo>
                  <a:cubicBezTo>
                    <a:pt x="5793" y="96"/>
                    <a:pt x="5772" y="74"/>
                    <a:pt x="5772" y="48"/>
                  </a:cubicBezTo>
                  <a:cubicBezTo>
                    <a:pt x="5772" y="21"/>
                    <a:pt x="5793" y="0"/>
                    <a:pt x="5820" y="0"/>
                  </a:cubicBezTo>
                  <a:cubicBezTo>
                    <a:pt x="5846" y="0"/>
                    <a:pt x="5868" y="21"/>
                    <a:pt x="5868" y="48"/>
                  </a:cubicBezTo>
                  <a:close/>
                  <a:moveTo>
                    <a:pt x="5970" y="48"/>
                  </a:moveTo>
                  <a:cubicBezTo>
                    <a:pt x="5970" y="74"/>
                    <a:pt x="5948" y="96"/>
                    <a:pt x="5922" y="96"/>
                  </a:cubicBezTo>
                  <a:cubicBezTo>
                    <a:pt x="5895" y="96"/>
                    <a:pt x="5874" y="74"/>
                    <a:pt x="5874" y="48"/>
                  </a:cubicBezTo>
                  <a:cubicBezTo>
                    <a:pt x="5874" y="21"/>
                    <a:pt x="5895" y="0"/>
                    <a:pt x="5922" y="0"/>
                  </a:cubicBezTo>
                  <a:cubicBezTo>
                    <a:pt x="5948" y="0"/>
                    <a:pt x="5970" y="21"/>
                    <a:pt x="5970" y="48"/>
                  </a:cubicBezTo>
                  <a:close/>
                  <a:moveTo>
                    <a:pt x="6071" y="48"/>
                  </a:moveTo>
                  <a:cubicBezTo>
                    <a:pt x="6071" y="74"/>
                    <a:pt x="6049" y="96"/>
                    <a:pt x="6023" y="96"/>
                  </a:cubicBezTo>
                  <a:cubicBezTo>
                    <a:pt x="5996" y="96"/>
                    <a:pt x="5975" y="74"/>
                    <a:pt x="5975" y="48"/>
                  </a:cubicBezTo>
                  <a:cubicBezTo>
                    <a:pt x="5975" y="21"/>
                    <a:pt x="5996" y="0"/>
                    <a:pt x="6023" y="0"/>
                  </a:cubicBezTo>
                  <a:cubicBezTo>
                    <a:pt x="6049" y="0"/>
                    <a:pt x="6071" y="21"/>
                    <a:pt x="6071" y="48"/>
                  </a:cubicBezTo>
                  <a:close/>
                  <a:moveTo>
                    <a:pt x="6172" y="48"/>
                  </a:moveTo>
                  <a:cubicBezTo>
                    <a:pt x="6172" y="74"/>
                    <a:pt x="6150" y="96"/>
                    <a:pt x="6124" y="96"/>
                  </a:cubicBezTo>
                  <a:cubicBezTo>
                    <a:pt x="6097" y="96"/>
                    <a:pt x="6076" y="74"/>
                    <a:pt x="6076" y="48"/>
                  </a:cubicBezTo>
                  <a:cubicBezTo>
                    <a:pt x="6076" y="21"/>
                    <a:pt x="6097" y="0"/>
                    <a:pt x="6124" y="0"/>
                  </a:cubicBezTo>
                  <a:cubicBezTo>
                    <a:pt x="6150" y="0"/>
                    <a:pt x="6172" y="21"/>
                    <a:pt x="6172" y="48"/>
                  </a:cubicBezTo>
                  <a:close/>
                  <a:moveTo>
                    <a:pt x="6273" y="48"/>
                  </a:moveTo>
                  <a:cubicBezTo>
                    <a:pt x="6273" y="74"/>
                    <a:pt x="6251" y="96"/>
                    <a:pt x="6225" y="96"/>
                  </a:cubicBezTo>
                  <a:cubicBezTo>
                    <a:pt x="6198" y="96"/>
                    <a:pt x="6177" y="74"/>
                    <a:pt x="6177" y="48"/>
                  </a:cubicBezTo>
                  <a:cubicBezTo>
                    <a:pt x="6177" y="21"/>
                    <a:pt x="6198" y="0"/>
                    <a:pt x="6225" y="0"/>
                  </a:cubicBezTo>
                  <a:cubicBezTo>
                    <a:pt x="6251" y="0"/>
                    <a:pt x="6273" y="21"/>
                    <a:pt x="6273" y="48"/>
                  </a:cubicBezTo>
                  <a:close/>
                  <a:moveTo>
                    <a:pt x="6375" y="48"/>
                  </a:moveTo>
                  <a:cubicBezTo>
                    <a:pt x="6375" y="74"/>
                    <a:pt x="6353" y="96"/>
                    <a:pt x="6327" y="96"/>
                  </a:cubicBezTo>
                  <a:cubicBezTo>
                    <a:pt x="6300" y="96"/>
                    <a:pt x="6279" y="74"/>
                    <a:pt x="6279" y="48"/>
                  </a:cubicBezTo>
                  <a:cubicBezTo>
                    <a:pt x="6279" y="21"/>
                    <a:pt x="6300" y="0"/>
                    <a:pt x="6327" y="0"/>
                  </a:cubicBezTo>
                  <a:cubicBezTo>
                    <a:pt x="6353" y="0"/>
                    <a:pt x="6375" y="21"/>
                    <a:pt x="6375" y="48"/>
                  </a:cubicBezTo>
                  <a:close/>
                  <a:moveTo>
                    <a:pt x="6476" y="48"/>
                  </a:moveTo>
                  <a:cubicBezTo>
                    <a:pt x="6476" y="74"/>
                    <a:pt x="6454" y="96"/>
                    <a:pt x="6428" y="96"/>
                  </a:cubicBezTo>
                  <a:cubicBezTo>
                    <a:pt x="6401" y="96"/>
                    <a:pt x="6380" y="74"/>
                    <a:pt x="6380" y="48"/>
                  </a:cubicBezTo>
                  <a:cubicBezTo>
                    <a:pt x="6380" y="21"/>
                    <a:pt x="6401" y="0"/>
                    <a:pt x="6428" y="0"/>
                  </a:cubicBezTo>
                  <a:cubicBezTo>
                    <a:pt x="6454" y="0"/>
                    <a:pt x="6476" y="21"/>
                    <a:pt x="6476" y="48"/>
                  </a:cubicBezTo>
                  <a:close/>
                  <a:moveTo>
                    <a:pt x="6577" y="48"/>
                  </a:moveTo>
                  <a:cubicBezTo>
                    <a:pt x="6577" y="74"/>
                    <a:pt x="6555" y="96"/>
                    <a:pt x="6529" y="96"/>
                  </a:cubicBezTo>
                  <a:cubicBezTo>
                    <a:pt x="6502" y="96"/>
                    <a:pt x="6481" y="74"/>
                    <a:pt x="6481" y="48"/>
                  </a:cubicBezTo>
                  <a:cubicBezTo>
                    <a:pt x="6481" y="21"/>
                    <a:pt x="6502" y="0"/>
                    <a:pt x="6529" y="0"/>
                  </a:cubicBezTo>
                  <a:cubicBezTo>
                    <a:pt x="6555" y="0"/>
                    <a:pt x="6577" y="21"/>
                    <a:pt x="6577" y="48"/>
                  </a:cubicBezTo>
                  <a:close/>
                  <a:moveTo>
                    <a:pt x="6678" y="48"/>
                  </a:moveTo>
                  <a:cubicBezTo>
                    <a:pt x="6678" y="74"/>
                    <a:pt x="6656" y="96"/>
                    <a:pt x="6630" y="96"/>
                  </a:cubicBezTo>
                  <a:cubicBezTo>
                    <a:pt x="6603" y="96"/>
                    <a:pt x="6582" y="74"/>
                    <a:pt x="6582" y="48"/>
                  </a:cubicBezTo>
                  <a:cubicBezTo>
                    <a:pt x="6582" y="21"/>
                    <a:pt x="6603" y="0"/>
                    <a:pt x="6630" y="0"/>
                  </a:cubicBezTo>
                  <a:cubicBezTo>
                    <a:pt x="6656" y="0"/>
                    <a:pt x="6678" y="21"/>
                    <a:pt x="6678" y="48"/>
                  </a:cubicBezTo>
                  <a:close/>
                  <a:moveTo>
                    <a:pt x="6780" y="48"/>
                  </a:moveTo>
                  <a:cubicBezTo>
                    <a:pt x="6780" y="74"/>
                    <a:pt x="6758" y="96"/>
                    <a:pt x="6732" y="96"/>
                  </a:cubicBezTo>
                  <a:cubicBezTo>
                    <a:pt x="6705" y="96"/>
                    <a:pt x="6684" y="74"/>
                    <a:pt x="6684" y="48"/>
                  </a:cubicBezTo>
                  <a:cubicBezTo>
                    <a:pt x="6684" y="21"/>
                    <a:pt x="6705" y="0"/>
                    <a:pt x="6732" y="0"/>
                  </a:cubicBezTo>
                  <a:cubicBezTo>
                    <a:pt x="6758" y="0"/>
                    <a:pt x="6780" y="21"/>
                    <a:pt x="6780" y="48"/>
                  </a:cubicBezTo>
                  <a:close/>
                  <a:moveTo>
                    <a:pt x="6881" y="48"/>
                  </a:moveTo>
                  <a:cubicBezTo>
                    <a:pt x="6881" y="74"/>
                    <a:pt x="6859" y="96"/>
                    <a:pt x="6833" y="96"/>
                  </a:cubicBezTo>
                  <a:cubicBezTo>
                    <a:pt x="6806" y="96"/>
                    <a:pt x="6785" y="74"/>
                    <a:pt x="6785" y="48"/>
                  </a:cubicBezTo>
                  <a:cubicBezTo>
                    <a:pt x="6785" y="21"/>
                    <a:pt x="6806" y="0"/>
                    <a:pt x="6833" y="0"/>
                  </a:cubicBezTo>
                  <a:cubicBezTo>
                    <a:pt x="6859" y="0"/>
                    <a:pt x="6881" y="21"/>
                    <a:pt x="6881" y="48"/>
                  </a:cubicBezTo>
                  <a:close/>
                  <a:moveTo>
                    <a:pt x="6982" y="48"/>
                  </a:moveTo>
                  <a:cubicBezTo>
                    <a:pt x="6982" y="74"/>
                    <a:pt x="6960" y="96"/>
                    <a:pt x="6934" y="96"/>
                  </a:cubicBezTo>
                  <a:cubicBezTo>
                    <a:pt x="6907" y="96"/>
                    <a:pt x="6886" y="74"/>
                    <a:pt x="6886" y="48"/>
                  </a:cubicBezTo>
                  <a:cubicBezTo>
                    <a:pt x="6886" y="21"/>
                    <a:pt x="6907" y="0"/>
                    <a:pt x="6934" y="0"/>
                  </a:cubicBezTo>
                  <a:cubicBezTo>
                    <a:pt x="6960" y="0"/>
                    <a:pt x="6982" y="21"/>
                    <a:pt x="6982" y="48"/>
                  </a:cubicBezTo>
                  <a:close/>
                  <a:moveTo>
                    <a:pt x="7083" y="48"/>
                  </a:moveTo>
                  <a:cubicBezTo>
                    <a:pt x="7083" y="74"/>
                    <a:pt x="7061" y="96"/>
                    <a:pt x="7035" y="96"/>
                  </a:cubicBezTo>
                  <a:cubicBezTo>
                    <a:pt x="7008" y="96"/>
                    <a:pt x="6987" y="74"/>
                    <a:pt x="6987" y="48"/>
                  </a:cubicBezTo>
                  <a:cubicBezTo>
                    <a:pt x="6987" y="21"/>
                    <a:pt x="7008" y="0"/>
                    <a:pt x="7035" y="0"/>
                  </a:cubicBezTo>
                  <a:cubicBezTo>
                    <a:pt x="7061" y="0"/>
                    <a:pt x="7083" y="21"/>
                    <a:pt x="7083" y="48"/>
                  </a:cubicBezTo>
                  <a:close/>
                  <a:moveTo>
                    <a:pt x="7185" y="48"/>
                  </a:moveTo>
                  <a:cubicBezTo>
                    <a:pt x="7185" y="74"/>
                    <a:pt x="7163" y="96"/>
                    <a:pt x="7137" y="96"/>
                  </a:cubicBezTo>
                  <a:cubicBezTo>
                    <a:pt x="7110" y="96"/>
                    <a:pt x="7089" y="74"/>
                    <a:pt x="7089" y="48"/>
                  </a:cubicBezTo>
                  <a:cubicBezTo>
                    <a:pt x="7089" y="21"/>
                    <a:pt x="7110" y="0"/>
                    <a:pt x="7137" y="0"/>
                  </a:cubicBezTo>
                  <a:cubicBezTo>
                    <a:pt x="7163" y="0"/>
                    <a:pt x="7185" y="21"/>
                    <a:pt x="7185" y="48"/>
                  </a:cubicBezTo>
                  <a:close/>
                  <a:moveTo>
                    <a:pt x="7286" y="48"/>
                  </a:moveTo>
                  <a:cubicBezTo>
                    <a:pt x="7286" y="74"/>
                    <a:pt x="7264" y="96"/>
                    <a:pt x="7238" y="96"/>
                  </a:cubicBezTo>
                  <a:cubicBezTo>
                    <a:pt x="7211" y="96"/>
                    <a:pt x="7190" y="74"/>
                    <a:pt x="7190" y="48"/>
                  </a:cubicBezTo>
                  <a:cubicBezTo>
                    <a:pt x="7190" y="21"/>
                    <a:pt x="7211" y="0"/>
                    <a:pt x="7238" y="0"/>
                  </a:cubicBezTo>
                  <a:cubicBezTo>
                    <a:pt x="7264" y="0"/>
                    <a:pt x="7286" y="21"/>
                    <a:pt x="7286" y="48"/>
                  </a:cubicBezTo>
                  <a:close/>
                  <a:moveTo>
                    <a:pt x="7387" y="48"/>
                  </a:moveTo>
                  <a:cubicBezTo>
                    <a:pt x="7387" y="74"/>
                    <a:pt x="7365" y="96"/>
                    <a:pt x="7339" y="96"/>
                  </a:cubicBezTo>
                  <a:cubicBezTo>
                    <a:pt x="7312" y="96"/>
                    <a:pt x="7291" y="74"/>
                    <a:pt x="7291" y="48"/>
                  </a:cubicBezTo>
                  <a:cubicBezTo>
                    <a:pt x="7291" y="21"/>
                    <a:pt x="7312" y="0"/>
                    <a:pt x="7339" y="0"/>
                  </a:cubicBezTo>
                  <a:cubicBezTo>
                    <a:pt x="7365" y="0"/>
                    <a:pt x="7387" y="21"/>
                    <a:pt x="7387" y="48"/>
                  </a:cubicBezTo>
                  <a:close/>
                  <a:moveTo>
                    <a:pt x="7488" y="48"/>
                  </a:moveTo>
                  <a:cubicBezTo>
                    <a:pt x="7488" y="74"/>
                    <a:pt x="7466" y="96"/>
                    <a:pt x="7440" y="96"/>
                  </a:cubicBezTo>
                  <a:cubicBezTo>
                    <a:pt x="7413" y="96"/>
                    <a:pt x="7392" y="74"/>
                    <a:pt x="7392" y="48"/>
                  </a:cubicBezTo>
                  <a:cubicBezTo>
                    <a:pt x="7392" y="21"/>
                    <a:pt x="7413" y="0"/>
                    <a:pt x="7440" y="0"/>
                  </a:cubicBezTo>
                  <a:cubicBezTo>
                    <a:pt x="7466" y="0"/>
                    <a:pt x="7488" y="21"/>
                    <a:pt x="7488" y="48"/>
                  </a:cubicBezTo>
                  <a:close/>
                  <a:moveTo>
                    <a:pt x="7589" y="48"/>
                  </a:moveTo>
                  <a:cubicBezTo>
                    <a:pt x="7589" y="74"/>
                    <a:pt x="7567" y="96"/>
                    <a:pt x="7541" y="96"/>
                  </a:cubicBezTo>
                  <a:cubicBezTo>
                    <a:pt x="7514" y="96"/>
                    <a:pt x="7493" y="74"/>
                    <a:pt x="7493" y="48"/>
                  </a:cubicBezTo>
                  <a:cubicBezTo>
                    <a:pt x="7493" y="21"/>
                    <a:pt x="7514" y="0"/>
                    <a:pt x="7541" y="0"/>
                  </a:cubicBezTo>
                  <a:cubicBezTo>
                    <a:pt x="7567" y="0"/>
                    <a:pt x="7589" y="21"/>
                    <a:pt x="7589" y="48"/>
                  </a:cubicBezTo>
                  <a:close/>
                  <a:moveTo>
                    <a:pt x="7691" y="48"/>
                  </a:moveTo>
                  <a:cubicBezTo>
                    <a:pt x="7691" y="74"/>
                    <a:pt x="7669" y="96"/>
                    <a:pt x="7643" y="96"/>
                  </a:cubicBezTo>
                  <a:cubicBezTo>
                    <a:pt x="7616" y="96"/>
                    <a:pt x="7595" y="74"/>
                    <a:pt x="7595" y="48"/>
                  </a:cubicBezTo>
                  <a:cubicBezTo>
                    <a:pt x="7595" y="21"/>
                    <a:pt x="7616" y="0"/>
                    <a:pt x="7643" y="0"/>
                  </a:cubicBezTo>
                  <a:cubicBezTo>
                    <a:pt x="7669" y="0"/>
                    <a:pt x="7691" y="21"/>
                    <a:pt x="7691" y="48"/>
                  </a:cubicBezTo>
                  <a:close/>
                  <a:moveTo>
                    <a:pt x="7792" y="48"/>
                  </a:moveTo>
                  <a:cubicBezTo>
                    <a:pt x="7792" y="74"/>
                    <a:pt x="7770" y="96"/>
                    <a:pt x="7744" y="96"/>
                  </a:cubicBezTo>
                  <a:cubicBezTo>
                    <a:pt x="7717" y="96"/>
                    <a:pt x="7696" y="74"/>
                    <a:pt x="7696" y="48"/>
                  </a:cubicBezTo>
                  <a:cubicBezTo>
                    <a:pt x="7696" y="21"/>
                    <a:pt x="7717" y="0"/>
                    <a:pt x="7744" y="0"/>
                  </a:cubicBezTo>
                  <a:cubicBezTo>
                    <a:pt x="7770" y="0"/>
                    <a:pt x="7792" y="21"/>
                    <a:pt x="7792" y="48"/>
                  </a:cubicBezTo>
                  <a:close/>
                  <a:moveTo>
                    <a:pt x="7893" y="48"/>
                  </a:moveTo>
                  <a:cubicBezTo>
                    <a:pt x="7893" y="74"/>
                    <a:pt x="7871" y="96"/>
                    <a:pt x="7845" y="96"/>
                  </a:cubicBezTo>
                  <a:cubicBezTo>
                    <a:pt x="7818" y="96"/>
                    <a:pt x="7797" y="74"/>
                    <a:pt x="7797" y="48"/>
                  </a:cubicBezTo>
                  <a:cubicBezTo>
                    <a:pt x="7797" y="21"/>
                    <a:pt x="7818" y="0"/>
                    <a:pt x="7845" y="0"/>
                  </a:cubicBezTo>
                  <a:cubicBezTo>
                    <a:pt x="7871" y="0"/>
                    <a:pt x="7893" y="21"/>
                    <a:pt x="7893" y="48"/>
                  </a:cubicBezTo>
                  <a:close/>
                  <a:moveTo>
                    <a:pt x="7994" y="48"/>
                  </a:moveTo>
                  <a:cubicBezTo>
                    <a:pt x="7994" y="74"/>
                    <a:pt x="7972" y="96"/>
                    <a:pt x="7946" y="96"/>
                  </a:cubicBezTo>
                  <a:cubicBezTo>
                    <a:pt x="7919" y="96"/>
                    <a:pt x="7898" y="74"/>
                    <a:pt x="7898" y="48"/>
                  </a:cubicBezTo>
                  <a:cubicBezTo>
                    <a:pt x="7898" y="21"/>
                    <a:pt x="7919" y="0"/>
                    <a:pt x="7946" y="0"/>
                  </a:cubicBezTo>
                  <a:cubicBezTo>
                    <a:pt x="7972" y="0"/>
                    <a:pt x="7994" y="21"/>
                    <a:pt x="7994" y="48"/>
                  </a:cubicBezTo>
                  <a:close/>
                  <a:moveTo>
                    <a:pt x="8096" y="48"/>
                  </a:moveTo>
                  <a:cubicBezTo>
                    <a:pt x="8096" y="74"/>
                    <a:pt x="8074" y="96"/>
                    <a:pt x="8048" y="96"/>
                  </a:cubicBezTo>
                  <a:cubicBezTo>
                    <a:pt x="8021" y="96"/>
                    <a:pt x="8000" y="74"/>
                    <a:pt x="8000" y="48"/>
                  </a:cubicBezTo>
                  <a:cubicBezTo>
                    <a:pt x="8000" y="21"/>
                    <a:pt x="8021" y="0"/>
                    <a:pt x="8048" y="0"/>
                  </a:cubicBezTo>
                  <a:cubicBezTo>
                    <a:pt x="8074" y="0"/>
                    <a:pt x="8096" y="21"/>
                    <a:pt x="8096" y="48"/>
                  </a:cubicBezTo>
                  <a:close/>
                  <a:moveTo>
                    <a:pt x="8197" y="48"/>
                  </a:moveTo>
                  <a:cubicBezTo>
                    <a:pt x="8197" y="74"/>
                    <a:pt x="8175" y="96"/>
                    <a:pt x="8149" y="96"/>
                  </a:cubicBezTo>
                  <a:cubicBezTo>
                    <a:pt x="8122" y="96"/>
                    <a:pt x="8101" y="74"/>
                    <a:pt x="8101" y="48"/>
                  </a:cubicBezTo>
                  <a:cubicBezTo>
                    <a:pt x="8101" y="21"/>
                    <a:pt x="8122" y="0"/>
                    <a:pt x="8149" y="0"/>
                  </a:cubicBezTo>
                  <a:cubicBezTo>
                    <a:pt x="8175" y="0"/>
                    <a:pt x="8197" y="21"/>
                    <a:pt x="8197" y="48"/>
                  </a:cubicBezTo>
                  <a:close/>
                  <a:moveTo>
                    <a:pt x="98" y="312"/>
                  </a:moveTo>
                  <a:cubicBezTo>
                    <a:pt x="98" y="338"/>
                    <a:pt x="76" y="360"/>
                    <a:pt x="50" y="360"/>
                  </a:cubicBezTo>
                  <a:cubicBezTo>
                    <a:pt x="23" y="360"/>
                    <a:pt x="2" y="338"/>
                    <a:pt x="2" y="312"/>
                  </a:cubicBezTo>
                  <a:cubicBezTo>
                    <a:pt x="2" y="285"/>
                    <a:pt x="23" y="264"/>
                    <a:pt x="50" y="264"/>
                  </a:cubicBezTo>
                  <a:cubicBezTo>
                    <a:pt x="76" y="264"/>
                    <a:pt x="98" y="285"/>
                    <a:pt x="98" y="312"/>
                  </a:cubicBezTo>
                  <a:close/>
                  <a:moveTo>
                    <a:pt x="199" y="312"/>
                  </a:moveTo>
                  <a:cubicBezTo>
                    <a:pt x="199" y="338"/>
                    <a:pt x="177" y="360"/>
                    <a:pt x="151" y="360"/>
                  </a:cubicBezTo>
                  <a:cubicBezTo>
                    <a:pt x="124" y="360"/>
                    <a:pt x="103" y="338"/>
                    <a:pt x="103" y="312"/>
                  </a:cubicBezTo>
                  <a:cubicBezTo>
                    <a:pt x="103" y="285"/>
                    <a:pt x="124" y="264"/>
                    <a:pt x="151" y="264"/>
                  </a:cubicBezTo>
                  <a:cubicBezTo>
                    <a:pt x="177" y="264"/>
                    <a:pt x="199" y="285"/>
                    <a:pt x="199" y="312"/>
                  </a:cubicBezTo>
                  <a:close/>
                  <a:moveTo>
                    <a:pt x="301" y="312"/>
                  </a:moveTo>
                  <a:cubicBezTo>
                    <a:pt x="301" y="338"/>
                    <a:pt x="279" y="360"/>
                    <a:pt x="253" y="360"/>
                  </a:cubicBezTo>
                  <a:cubicBezTo>
                    <a:pt x="226" y="360"/>
                    <a:pt x="205" y="338"/>
                    <a:pt x="205" y="312"/>
                  </a:cubicBezTo>
                  <a:cubicBezTo>
                    <a:pt x="205" y="285"/>
                    <a:pt x="226" y="264"/>
                    <a:pt x="253" y="264"/>
                  </a:cubicBezTo>
                  <a:cubicBezTo>
                    <a:pt x="279" y="264"/>
                    <a:pt x="301" y="285"/>
                    <a:pt x="301" y="312"/>
                  </a:cubicBezTo>
                  <a:close/>
                  <a:moveTo>
                    <a:pt x="402" y="312"/>
                  </a:moveTo>
                  <a:cubicBezTo>
                    <a:pt x="402" y="338"/>
                    <a:pt x="380" y="360"/>
                    <a:pt x="354" y="360"/>
                  </a:cubicBezTo>
                  <a:cubicBezTo>
                    <a:pt x="327" y="360"/>
                    <a:pt x="306" y="338"/>
                    <a:pt x="306" y="312"/>
                  </a:cubicBezTo>
                  <a:cubicBezTo>
                    <a:pt x="306" y="285"/>
                    <a:pt x="327" y="264"/>
                    <a:pt x="354" y="264"/>
                  </a:cubicBezTo>
                  <a:cubicBezTo>
                    <a:pt x="380" y="264"/>
                    <a:pt x="402" y="285"/>
                    <a:pt x="402" y="312"/>
                  </a:cubicBezTo>
                  <a:close/>
                  <a:moveTo>
                    <a:pt x="503" y="312"/>
                  </a:moveTo>
                  <a:cubicBezTo>
                    <a:pt x="503" y="338"/>
                    <a:pt x="481" y="360"/>
                    <a:pt x="455" y="360"/>
                  </a:cubicBezTo>
                  <a:cubicBezTo>
                    <a:pt x="428" y="360"/>
                    <a:pt x="407" y="338"/>
                    <a:pt x="407" y="312"/>
                  </a:cubicBezTo>
                  <a:cubicBezTo>
                    <a:pt x="407" y="285"/>
                    <a:pt x="428" y="264"/>
                    <a:pt x="455" y="264"/>
                  </a:cubicBezTo>
                  <a:cubicBezTo>
                    <a:pt x="481" y="264"/>
                    <a:pt x="503" y="285"/>
                    <a:pt x="503" y="312"/>
                  </a:cubicBezTo>
                  <a:close/>
                  <a:moveTo>
                    <a:pt x="604" y="312"/>
                  </a:moveTo>
                  <a:cubicBezTo>
                    <a:pt x="604" y="338"/>
                    <a:pt x="582" y="360"/>
                    <a:pt x="556" y="360"/>
                  </a:cubicBezTo>
                  <a:cubicBezTo>
                    <a:pt x="529" y="360"/>
                    <a:pt x="508" y="338"/>
                    <a:pt x="508" y="312"/>
                  </a:cubicBezTo>
                  <a:cubicBezTo>
                    <a:pt x="508" y="285"/>
                    <a:pt x="529" y="264"/>
                    <a:pt x="556" y="264"/>
                  </a:cubicBezTo>
                  <a:cubicBezTo>
                    <a:pt x="582" y="264"/>
                    <a:pt x="604" y="285"/>
                    <a:pt x="604" y="312"/>
                  </a:cubicBezTo>
                  <a:close/>
                  <a:moveTo>
                    <a:pt x="706" y="312"/>
                  </a:moveTo>
                  <a:cubicBezTo>
                    <a:pt x="706" y="338"/>
                    <a:pt x="684" y="360"/>
                    <a:pt x="658" y="360"/>
                  </a:cubicBezTo>
                  <a:cubicBezTo>
                    <a:pt x="631" y="360"/>
                    <a:pt x="610" y="338"/>
                    <a:pt x="610" y="312"/>
                  </a:cubicBezTo>
                  <a:cubicBezTo>
                    <a:pt x="610" y="285"/>
                    <a:pt x="631" y="264"/>
                    <a:pt x="658" y="264"/>
                  </a:cubicBezTo>
                  <a:cubicBezTo>
                    <a:pt x="684" y="264"/>
                    <a:pt x="706" y="285"/>
                    <a:pt x="706" y="312"/>
                  </a:cubicBezTo>
                  <a:close/>
                  <a:moveTo>
                    <a:pt x="807" y="312"/>
                  </a:moveTo>
                  <a:cubicBezTo>
                    <a:pt x="807" y="338"/>
                    <a:pt x="785" y="360"/>
                    <a:pt x="759" y="360"/>
                  </a:cubicBezTo>
                  <a:cubicBezTo>
                    <a:pt x="732" y="360"/>
                    <a:pt x="711" y="338"/>
                    <a:pt x="711" y="312"/>
                  </a:cubicBezTo>
                  <a:cubicBezTo>
                    <a:pt x="711" y="285"/>
                    <a:pt x="732" y="264"/>
                    <a:pt x="759" y="264"/>
                  </a:cubicBezTo>
                  <a:cubicBezTo>
                    <a:pt x="785" y="264"/>
                    <a:pt x="807" y="285"/>
                    <a:pt x="807" y="312"/>
                  </a:cubicBezTo>
                  <a:close/>
                  <a:moveTo>
                    <a:pt x="908" y="312"/>
                  </a:moveTo>
                  <a:cubicBezTo>
                    <a:pt x="908" y="338"/>
                    <a:pt x="886" y="360"/>
                    <a:pt x="860" y="360"/>
                  </a:cubicBezTo>
                  <a:cubicBezTo>
                    <a:pt x="833" y="360"/>
                    <a:pt x="812" y="338"/>
                    <a:pt x="812" y="312"/>
                  </a:cubicBezTo>
                  <a:cubicBezTo>
                    <a:pt x="812" y="285"/>
                    <a:pt x="833" y="264"/>
                    <a:pt x="860" y="264"/>
                  </a:cubicBezTo>
                  <a:cubicBezTo>
                    <a:pt x="886" y="264"/>
                    <a:pt x="908" y="285"/>
                    <a:pt x="908" y="312"/>
                  </a:cubicBezTo>
                  <a:close/>
                  <a:moveTo>
                    <a:pt x="1009" y="312"/>
                  </a:moveTo>
                  <a:cubicBezTo>
                    <a:pt x="1009" y="338"/>
                    <a:pt x="987" y="360"/>
                    <a:pt x="961" y="360"/>
                  </a:cubicBezTo>
                  <a:cubicBezTo>
                    <a:pt x="934" y="360"/>
                    <a:pt x="913" y="338"/>
                    <a:pt x="913" y="312"/>
                  </a:cubicBezTo>
                  <a:cubicBezTo>
                    <a:pt x="913" y="285"/>
                    <a:pt x="934" y="264"/>
                    <a:pt x="961" y="264"/>
                  </a:cubicBezTo>
                  <a:cubicBezTo>
                    <a:pt x="987" y="264"/>
                    <a:pt x="1009" y="285"/>
                    <a:pt x="1009" y="312"/>
                  </a:cubicBezTo>
                  <a:close/>
                  <a:moveTo>
                    <a:pt x="1110" y="312"/>
                  </a:moveTo>
                  <a:cubicBezTo>
                    <a:pt x="1110" y="338"/>
                    <a:pt x="1088" y="360"/>
                    <a:pt x="1062" y="360"/>
                  </a:cubicBezTo>
                  <a:cubicBezTo>
                    <a:pt x="1035" y="360"/>
                    <a:pt x="1014" y="338"/>
                    <a:pt x="1014" y="312"/>
                  </a:cubicBezTo>
                  <a:cubicBezTo>
                    <a:pt x="1014" y="285"/>
                    <a:pt x="1035" y="264"/>
                    <a:pt x="1062" y="264"/>
                  </a:cubicBezTo>
                  <a:cubicBezTo>
                    <a:pt x="1088" y="264"/>
                    <a:pt x="1110" y="285"/>
                    <a:pt x="1110" y="312"/>
                  </a:cubicBezTo>
                  <a:close/>
                  <a:moveTo>
                    <a:pt x="1212" y="312"/>
                  </a:moveTo>
                  <a:cubicBezTo>
                    <a:pt x="1212" y="338"/>
                    <a:pt x="1190" y="360"/>
                    <a:pt x="1164" y="360"/>
                  </a:cubicBezTo>
                  <a:cubicBezTo>
                    <a:pt x="1137" y="360"/>
                    <a:pt x="1116" y="338"/>
                    <a:pt x="1116" y="312"/>
                  </a:cubicBezTo>
                  <a:cubicBezTo>
                    <a:pt x="1116" y="285"/>
                    <a:pt x="1137" y="264"/>
                    <a:pt x="1164" y="264"/>
                  </a:cubicBezTo>
                  <a:cubicBezTo>
                    <a:pt x="1190" y="264"/>
                    <a:pt x="1212" y="285"/>
                    <a:pt x="1212" y="312"/>
                  </a:cubicBezTo>
                  <a:close/>
                  <a:moveTo>
                    <a:pt x="1313" y="312"/>
                  </a:moveTo>
                  <a:cubicBezTo>
                    <a:pt x="1313" y="338"/>
                    <a:pt x="1291" y="360"/>
                    <a:pt x="1265" y="360"/>
                  </a:cubicBezTo>
                  <a:cubicBezTo>
                    <a:pt x="1238" y="360"/>
                    <a:pt x="1217" y="338"/>
                    <a:pt x="1217" y="312"/>
                  </a:cubicBezTo>
                  <a:cubicBezTo>
                    <a:pt x="1217" y="285"/>
                    <a:pt x="1238" y="264"/>
                    <a:pt x="1265" y="264"/>
                  </a:cubicBezTo>
                  <a:cubicBezTo>
                    <a:pt x="1291" y="264"/>
                    <a:pt x="1313" y="285"/>
                    <a:pt x="1313" y="312"/>
                  </a:cubicBezTo>
                  <a:close/>
                  <a:moveTo>
                    <a:pt x="1414" y="312"/>
                  </a:moveTo>
                  <a:cubicBezTo>
                    <a:pt x="1414" y="338"/>
                    <a:pt x="1392" y="360"/>
                    <a:pt x="1366" y="360"/>
                  </a:cubicBezTo>
                  <a:cubicBezTo>
                    <a:pt x="1339" y="360"/>
                    <a:pt x="1318" y="338"/>
                    <a:pt x="1318" y="312"/>
                  </a:cubicBezTo>
                  <a:cubicBezTo>
                    <a:pt x="1318" y="285"/>
                    <a:pt x="1339" y="264"/>
                    <a:pt x="1366" y="264"/>
                  </a:cubicBezTo>
                  <a:cubicBezTo>
                    <a:pt x="1392" y="264"/>
                    <a:pt x="1414" y="285"/>
                    <a:pt x="1414" y="312"/>
                  </a:cubicBezTo>
                  <a:close/>
                  <a:moveTo>
                    <a:pt x="1515" y="312"/>
                  </a:moveTo>
                  <a:cubicBezTo>
                    <a:pt x="1515" y="338"/>
                    <a:pt x="1493" y="360"/>
                    <a:pt x="1467" y="360"/>
                  </a:cubicBezTo>
                  <a:cubicBezTo>
                    <a:pt x="1440" y="360"/>
                    <a:pt x="1419" y="338"/>
                    <a:pt x="1419" y="312"/>
                  </a:cubicBezTo>
                  <a:cubicBezTo>
                    <a:pt x="1419" y="285"/>
                    <a:pt x="1440" y="264"/>
                    <a:pt x="1467" y="264"/>
                  </a:cubicBezTo>
                  <a:cubicBezTo>
                    <a:pt x="1493" y="264"/>
                    <a:pt x="1515" y="285"/>
                    <a:pt x="1515" y="312"/>
                  </a:cubicBezTo>
                  <a:close/>
                  <a:moveTo>
                    <a:pt x="1617" y="312"/>
                  </a:moveTo>
                  <a:cubicBezTo>
                    <a:pt x="1617" y="338"/>
                    <a:pt x="1595" y="360"/>
                    <a:pt x="1569" y="360"/>
                  </a:cubicBezTo>
                  <a:cubicBezTo>
                    <a:pt x="1542" y="360"/>
                    <a:pt x="1521" y="338"/>
                    <a:pt x="1521" y="312"/>
                  </a:cubicBezTo>
                  <a:cubicBezTo>
                    <a:pt x="1521" y="285"/>
                    <a:pt x="1542" y="264"/>
                    <a:pt x="1569" y="264"/>
                  </a:cubicBezTo>
                  <a:cubicBezTo>
                    <a:pt x="1595" y="264"/>
                    <a:pt x="1617" y="285"/>
                    <a:pt x="1617" y="312"/>
                  </a:cubicBezTo>
                  <a:close/>
                  <a:moveTo>
                    <a:pt x="1718" y="312"/>
                  </a:moveTo>
                  <a:cubicBezTo>
                    <a:pt x="1718" y="338"/>
                    <a:pt x="1696" y="360"/>
                    <a:pt x="1670" y="360"/>
                  </a:cubicBezTo>
                  <a:cubicBezTo>
                    <a:pt x="1643" y="360"/>
                    <a:pt x="1622" y="338"/>
                    <a:pt x="1622" y="312"/>
                  </a:cubicBezTo>
                  <a:cubicBezTo>
                    <a:pt x="1622" y="285"/>
                    <a:pt x="1643" y="264"/>
                    <a:pt x="1670" y="264"/>
                  </a:cubicBezTo>
                  <a:cubicBezTo>
                    <a:pt x="1696" y="264"/>
                    <a:pt x="1718" y="285"/>
                    <a:pt x="1718" y="312"/>
                  </a:cubicBezTo>
                  <a:close/>
                  <a:moveTo>
                    <a:pt x="1819" y="312"/>
                  </a:moveTo>
                  <a:cubicBezTo>
                    <a:pt x="1819" y="338"/>
                    <a:pt x="1797" y="360"/>
                    <a:pt x="1771" y="360"/>
                  </a:cubicBezTo>
                  <a:cubicBezTo>
                    <a:pt x="1744" y="360"/>
                    <a:pt x="1723" y="338"/>
                    <a:pt x="1723" y="312"/>
                  </a:cubicBezTo>
                  <a:cubicBezTo>
                    <a:pt x="1723" y="285"/>
                    <a:pt x="1744" y="264"/>
                    <a:pt x="1771" y="264"/>
                  </a:cubicBezTo>
                  <a:cubicBezTo>
                    <a:pt x="1797" y="264"/>
                    <a:pt x="1819" y="285"/>
                    <a:pt x="1819" y="312"/>
                  </a:cubicBezTo>
                  <a:close/>
                  <a:moveTo>
                    <a:pt x="1920" y="312"/>
                  </a:moveTo>
                  <a:cubicBezTo>
                    <a:pt x="1920" y="338"/>
                    <a:pt x="1898" y="360"/>
                    <a:pt x="1872" y="360"/>
                  </a:cubicBezTo>
                  <a:cubicBezTo>
                    <a:pt x="1845" y="360"/>
                    <a:pt x="1824" y="338"/>
                    <a:pt x="1824" y="312"/>
                  </a:cubicBezTo>
                  <a:cubicBezTo>
                    <a:pt x="1824" y="285"/>
                    <a:pt x="1845" y="264"/>
                    <a:pt x="1872" y="264"/>
                  </a:cubicBezTo>
                  <a:cubicBezTo>
                    <a:pt x="1898" y="264"/>
                    <a:pt x="1920" y="285"/>
                    <a:pt x="1920" y="312"/>
                  </a:cubicBezTo>
                  <a:close/>
                  <a:moveTo>
                    <a:pt x="2022" y="312"/>
                  </a:moveTo>
                  <a:cubicBezTo>
                    <a:pt x="2022" y="338"/>
                    <a:pt x="2000" y="360"/>
                    <a:pt x="1974" y="360"/>
                  </a:cubicBezTo>
                  <a:cubicBezTo>
                    <a:pt x="1947" y="360"/>
                    <a:pt x="1926" y="338"/>
                    <a:pt x="1926" y="312"/>
                  </a:cubicBezTo>
                  <a:cubicBezTo>
                    <a:pt x="1926" y="285"/>
                    <a:pt x="1947" y="264"/>
                    <a:pt x="1974" y="264"/>
                  </a:cubicBezTo>
                  <a:cubicBezTo>
                    <a:pt x="2000" y="264"/>
                    <a:pt x="2022" y="285"/>
                    <a:pt x="2022" y="312"/>
                  </a:cubicBezTo>
                  <a:close/>
                  <a:moveTo>
                    <a:pt x="2123" y="312"/>
                  </a:moveTo>
                  <a:cubicBezTo>
                    <a:pt x="2123" y="338"/>
                    <a:pt x="2101" y="360"/>
                    <a:pt x="2075" y="360"/>
                  </a:cubicBezTo>
                  <a:cubicBezTo>
                    <a:pt x="2048" y="360"/>
                    <a:pt x="2027" y="338"/>
                    <a:pt x="2027" y="312"/>
                  </a:cubicBezTo>
                  <a:cubicBezTo>
                    <a:pt x="2027" y="285"/>
                    <a:pt x="2048" y="264"/>
                    <a:pt x="2075" y="264"/>
                  </a:cubicBezTo>
                  <a:cubicBezTo>
                    <a:pt x="2101" y="264"/>
                    <a:pt x="2123" y="285"/>
                    <a:pt x="2123" y="312"/>
                  </a:cubicBezTo>
                  <a:close/>
                  <a:moveTo>
                    <a:pt x="2224" y="312"/>
                  </a:moveTo>
                  <a:cubicBezTo>
                    <a:pt x="2224" y="338"/>
                    <a:pt x="2202" y="360"/>
                    <a:pt x="2176" y="360"/>
                  </a:cubicBezTo>
                  <a:cubicBezTo>
                    <a:pt x="2149" y="360"/>
                    <a:pt x="2128" y="338"/>
                    <a:pt x="2128" y="312"/>
                  </a:cubicBezTo>
                  <a:cubicBezTo>
                    <a:pt x="2128" y="285"/>
                    <a:pt x="2149" y="264"/>
                    <a:pt x="2176" y="264"/>
                  </a:cubicBezTo>
                  <a:cubicBezTo>
                    <a:pt x="2202" y="264"/>
                    <a:pt x="2224" y="285"/>
                    <a:pt x="2224" y="312"/>
                  </a:cubicBezTo>
                  <a:close/>
                  <a:moveTo>
                    <a:pt x="2325" y="312"/>
                  </a:moveTo>
                  <a:cubicBezTo>
                    <a:pt x="2325" y="338"/>
                    <a:pt x="2303" y="360"/>
                    <a:pt x="2277" y="360"/>
                  </a:cubicBezTo>
                  <a:cubicBezTo>
                    <a:pt x="2250" y="360"/>
                    <a:pt x="2229" y="338"/>
                    <a:pt x="2229" y="312"/>
                  </a:cubicBezTo>
                  <a:cubicBezTo>
                    <a:pt x="2229" y="285"/>
                    <a:pt x="2250" y="264"/>
                    <a:pt x="2277" y="264"/>
                  </a:cubicBezTo>
                  <a:cubicBezTo>
                    <a:pt x="2303" y="264"/>
                    <a:pt x="2325" y="285"/>
                    <a:pt x="2325" y="312"/>
                  </a:cubicBezTo>
                  <a:close/>
                  <a:moveTo>
                    <a:pt x="2427" y="312"/>
                  </a:moveTo>
                  <a:cubicBezTo>
                    <a:pt x="2427" y="338"/>
                    <a:pt x="2405" y="360"/>
                    <a:pt x="2379" y="360"/>
                  </a:cubicBezTo>
                  <a:cubicBezTo>
                    <a:pt x="2352" y="360"/>
                    <a:pt x="2331" y="338"/>
                    <a:pt x="2331" y="312"/>
                  </a:cubicBezTo>
                  <a:cubicBezTo>
                    <a:pt x="2331" y="285"/>
                    <a:pt x="2352" y="264"/>
                    <a:pt x="2379" y="264"/>
                  </a:cubicBezTo>
                  <a:cubicBezTo>
                    <a:pt x="2405" y="264"/>
                    <a:pt x="2427" y="285"/>
                    <a:pt x="2427" y="312"/>
                  </a:cubicBezTo>
                  <a:close/>
                  <a:moveTo>
                    <a:pt x="2528" y="312"/>
                  </a:moveTo>
                  <a:cubicBezTo>
                    <a:pt x="2528" y="338"/>
                    <a:pt x="2506" y="360"/>
                    <a:pt x="2480" y="360"/>
                  </a:cubicBezTo>
                  <a:cubicBezTo>
                    <a:pt x="2453" y="360"/>
                    <a:pt x="2432" y="338"/>
                    <a:pt x="2432" y="312"/>
                  </a:cubicBezTo>
                  <a:cubicBezTo>
                    <a:pt x="2432" y="285"/>
                    <a:pt x="2453" y="264"/>
                    <a:pt x="2480" y="264"/>
                  </a:cubicBezTo>
                  <a:cubicBezTo>
                    <a:pt x="2506" y="264"/>
                    <a:pt x="2528" y="285"/>
                    <a:pt x="2528" y="312"/>
                  </a:cubicBezTo>
                  <a:close/>
                  <a:moveTo>
                    <a:pt x="2629" y="312"/>
                  </a:moveTo>
                  <a:cubicBezTo>
                    <a:pt x="2629" y="338"/>
                    <a:pt x="2607" y="360"/>
                    <a:pt x="2581" y="360"/>
                  </a:cubicBezTo>
                  <a:cubicBezTo>
                    <a:pt x="2554" y="360"/>
                    <a:pt x="2533" y="338"/>
                    <a:pt x="2533" y="312"/>
                  </a:cubicBezTo>
                  <a:cubicBezTo>
                    <a:pt x="2533" y="285"/>
                    <a:pt x="2554" y="264"/>
                    <a:pt x="2581" y="264"/>
                  </a:cubicBezTo>
                  <a:cubicBezTo>
                    <a:pt x="2607" y="264"/>
                    <a:pt x="2629" y="285"/>
                    <a:pt x="2629" y="312"/>
                  </a:cubicBezTo>
                  <a:close/>
                  <a:moveTo>
                    <a:pt x="2730" y="312"/>
                  </a:moveTo>
                  <a:cubicBezTo>
                    <a:pt x="2730" y="338"/>
                    <a:pt x="2708" y="360"/>
                    <a:pt x="2682" y="360"/>
                  </a:cubicBezTo>
                  <a:cubicBezTo>
                    <a:pt x="2655" y="360"/>
                    <a:pt x="2634" y="338"/>
                    <a:pt x="2634" y="312"/>
                  </a:cubicBezTo>
                  <a:cubicBezTo>
                    <a:pt x="2634" y="285"/>
                    <a:pt x="2655" y="264"/>
                    <a:pt x="2682" y="264"/>
                  </a:cubicBezTo>
                  <a:cubicBezTo>
                    <a:pt x="2708" y="264"/>
                    <a:pt x="2730" y="285"/>
                    <a:pt x="2730" y="312"/>
                  </a:cubicBezTo>
                  <a:close/>
                  <a:moveTo>
                    <a:pt x="2831" y="312"/>
                  </a:moveTo>
                  <a:cubicBezTo>
                    <a:pt x="2831" y="338"/>
                    <a:pt x="2809" y="360"/>
                    <a:pt x="2783" y="360"/>
                  </a:cubicBezTo>
                  <a:cubicBezTo>
                    <a:pt x="2756" y="360"/>
                    <a:pt x="2735" y="338"/>
                    <a:pt x="2735" y="312"/>
                  </a:cubicBezTo>
                  <a:cubicBezTo>
                    <a:pt x="2735" y="285"/>
                    <a:pt x="2756" y="264"/>
                    <a:pt x="2783" y="264"/>
                  </a:cubicBezTo>
                  <a:cubicBezTo>
                    <a:pt x="2809" y="264"/>
                    <a:pt x="2831" y="285"/>
                    <a:pt x="2831" y="312"/>
                  </a:cubicBezTo>
                  <a:close/>
                  <a:moveTo>
                    <a:pt x="2933" y="312"/>
                  </a:moveTo>
                  <a:cubicBezTo>
                    <a:pt x="2933" y="338"/>
                    <a:pt x="2911" y="360"/>
                    <a:pt x="2885" y="360"/>
                  </a:cubicBezTo>
                  <a:cubicBezTo>
                    <a:pt x="2858" y="360"/>
                    <a:pt x="2837" y="338"/>
                    <a:pt x="2837" y="312"/>
                  </a:cubicBezTo>
                  <a:cubicBezTo>
                    <a:pt x="2837" y="285"/>
                    <a:pt x="2858" y="264"/>
                    <a:pt x="2885" y="264"/>
                  </a:cubicBezTo>
                  <a:cubicBezTo>
                    <a:pt x="2911" y="264"/>
                    <a:pt x="2933" y="285"/>
                    <a:pt x="2933" y="312"/>
                  </a:cubicBezTo>
                  <a:close/>
                  <a:moveTo>
                    <a:pt x="3034" y="312"/>
                  </a:moveTo>
                  <a:cubicBezTo>
                    <a:pt x="3034" y="338"/>
                    <a:pt x="3012" y="360"/>
                    <a:pt x="2986" y="360"/>
                  </a:cubicBezTo>
                  <a:cubicBezTo>
                    <a:pt x="2959" y="360"/>
                    <a:pt x="2938" y="338"/>
                    <a:pt x="2938" y="312"/>
                  </a:cubicBezTo>
                  <a:cubicBezTo>
                    <a:pt x="2938" y="285"/>
                    <a:pt x="2959" y="264"/>
                    <a:pt x="2986" y="264"/>
                  </a:cubicBezTo>
                  <a:cubicBezTo>
                    <a:pt x="3012" y="264"/>
                    <a:pt x="3034" y="285"/>
                    <a:pt x="3034" y="312"/>
                  </a:cubicBezTo>
                  <a:close/>
                  <a:moveTo>
                    <a:pt x="3135" y="312"/>
                  </a:moveTo>
                  <a:cubicBezTo>
                    <a:pt x="3135" y="338"/>
                    <a:pt x="3113" y="360"/>
                    <a:pt x="3087" y="360"/>
                  </a:cubicBezTo>
                  <a:cubicBezTo>
                    <a:pt x="3060" y="360"/>
                    <a:pt x="3039" y="338"/>
                    <a:pt x="3039" y="312"/>
                  </a:cubicBezTo>
                  <a:cubicBezTo>
                    <a:pt x="3039" y="285"/>
                    <a:pt x="3060" y="264"/>
                    <a:pt x="3087" y="264"/>
                  </a:cubicBezTo>
                  <a:cubicBezTo>
                    <a:pt x="3113" y="264"/>
                    <a:pt x="3135" y="285"/>
                    <a:pt x="3135" y="312"/>
                  </a:cubicBezTo>
                  <a:close/>
                  <a:moveTo>
                    <a:pt x="3236" y="312"/>
                  </a:moveTo>
                  <a:cubicBezTo>
                    <a:pt x="3236" y="338"/>
                    <a:pt x="3214" y="360"/>
                    <a:pt x="3188" y="360"/>
                  </a:cubicBezTo>
                  <a:cubicBezTo>
                    <a:pt x="3161" y="360"/>
                    <a:pt x="3140" y="338"/>
                    <a:pt x="3140" y="312"/>
                  </a:cubicBezTo>
                  <a:cubicBezTo>
                    <a:pt x="3140" y="285"/>
                    <a:pt x="3161" y="264"/>
                    <a:pt x="3188" y="264"/>
                  </a:cubicBezTo>
                  <a:cubicBezTo>
                    <a:pt x="3214" y="264"/>
                    <a:pt x="3236" y="285"/>
                    <a:pt x="3236" y="312"/>
                  </a:cubicBezTo>
                  <a:close/>
                  <a:moveTo>
                    <a:pt x="3338" y="312"/>
                  </a:moveTo>
                  <a:cubicBezTo>
                    <a:pt x="3338" y="338"/>
                    <a:pt x="3316" y="360"/>
                    <a:pt x="3290" y="360"/>
                  </a:cubicBezTo>
                  <a:cubicBezTo>
                    <a:pt x="3263" y="360"/>
                    <a:pt x="3242" y="338"/>
                    <a:pt x="3242" y="312"/>
                  </a:cubicBezTo>
                  <a:cubicBezTo>
                    <a:pt x="3242" y="285"/>
                    <a:pt x="3263" y="264"/>
                    <a:pt x="3290" y="264"/>
                  </a:cubicBezTo>
                  <a:cubicBezTo>
                    <a:pt x="3316" y="264"/>
                    <a:pt x="3338" y="285"/>
                    <a:pt x="3338" y="312"/>
                  </a:cubicBezTo>
                  <a:close/>
                  <a:moveTo>
                    <a:pt x="3439" y="312"/>
                  </a:moveTo>
                  <a:cubicBezTo>
                    <a:pt x="3439" y="338"/>
                    <a:pt x="3417" y="360"/>
                    <a:pt x="3391" y="360"/>
                  </a:cubicBezTo>
                  <a:cubicBezTo>
                    <a:pt x="3364" y="360"/>
                    <a:pt x="3343" y="338"/>
                    <a:pt x="3343" y="312"/>
                  </a:cubicBezTo>
                  <a:cubicBezTo>
                    <a:pt x="3343" y="285"/>
                    <a:pt x="3364" y="264"/>
                    <a:pt x="3391" y="264"/>
                  </a:cubicBezTo>
                  <a:cubicBezTo>
                    <a:pt x="3417" y="264"/>
                    <a:pt x="3439" y="285"/>
                    <a:pt x="3439" y="312"/>
                  </a:cubicBezTo>
                  <a:close/>
                  <a:moveTo>
                    <a:pt x="3540" y="312"/>
                  </a:moveTo>
                  <a:cubicBezTo>
                    <a:pt x="3540" y="338"/>
                    <a:pt x="3518" y="360"/>
                    <a:pt x="3492" y="360"/>
                  </a:cubicBezTo>
                  <a:cubicBezTo>
                    <a:pt x="3465" y="360"/>
                    <a:pt x="3444" y="338"/>
                    <a:pt x="3444" y="312"/>
                  </a:cubicBezTo>
                  <a:cubicBezTo>
                    <a:pt x="3444" y="285"/>
                    <a:pt x="3465" y="264"/>
                    <a:pt x="3492" y="264"/>
                  </a:cubicBezTo>
                  <a:cubicBezTo>
                    <a:pt x="3518" y="264"/>
                    <a:pt x="3540" y="285"/>
                    <a:pt x="3540" y="312"/>
                  </a:cubicBezTo>
                  <a:close/>
                  <a:moveTo>
                    <a:pt x="3641" y="312"/>
                  </a:moveTo>
                  <a:cubicBezTo>
                    <a:pt x="3641" y="338"/>
                    <a:pt x="3619" y="360"/>
                    <a:pt x="3593" y="360"/>
                  </a:cubicBezTo>
                  <a:cubicBezTo>
                    <a:pt x="3566" y="360"/>
                    <a:pt x="3545" y="338"/>
                    <a:pt x="3545" y="312"/>
                  </a:cubicBezTo>
                  <a:cubicBezTo>
                    <a:pt x="3545" y="285"/>
                    <a:pt x="3566" y="264"/>
                    <a:pt x="3593" y="264"/>
                  </a:cubicBezTo>
                  <a:cubicBezTo>
                    <a:pt x="3619" y="264"/>
                    <a:pt x="3641" y="285"/>
                    <a:pt x="3641" y="312"/>
                  </a:cubicBezTo>
                  <a:close/>
                  <a:moveTo>
                    <a:pt x="3743" y="312"/>
                  </a:moveTo>
                  <a:cubicBezTo>
                    <a:pt x="3743" y="338"/>
                    <a:pt x="3721" y="360"/>
                    <a:pt x="3695" y="360"/>
                  </a:cubicBezTo>
                  <a:cubicBezTo>
                    <a:pt x="3668" y="360"/>
                    <a:pt x="3647" y="338"/>
                    <a:pt x="3647" y="312"/>
                  </a:cubicBezTo>
                  <a:cubicBezTo>
                    <a:pt x="3647" y="285"/>
                    <a:pt x="3668" y="264"/>
                    <a:pt x="3695" y="264"/>
                  </a:cubicBezTo>
                  <a:cubicBezTo>
                    <a:pt x="3721" y="264"/>
                    <a:pt x="3743" y="285"/>
                    <a:pt x="3743" y="312"/>
                  </a:cubicBezTo>
                  <a:close/>
                  <a:moveTo>
                    <a:pt x="3844" y="312"/>
                  </a:moveTo>
                  <a:cubicBezTo>
                    <a:pt x="3844" y="338"/>
                    <a:pt x="3822" y="360"/>
                    <a:pt x="3796" y="360"/>
                  </a:cubicBezTo>
                  <a:cubicBezTo>
                    <a:pt x="3769" y="360"/>
                    <a:pt x="3748" y="338"/>
                    <a:pt x="3748" y="312"/>
                  </a:cubicBezTo>
                  <a:cubicBezTo>
                    <a:pt x="3748" y="285"/>
                    <a:pt x="3769" y="264"/>
                    <a:pt x="3796" y="264"/>
                  </a:cubicBezTo>
                  <a:cubicBezTo>
                    <a:pt x="3822" y="264"/>
                    <a:pt x="3844" y="285"/>
                    <a:pt x="3844" y="312"/>
                  </a:cubicBezTo>
                  <a:close/>
                  <a:moveTo>
                    <a:pt x="3945" y="312"/>
                  </a:moveTo>
                  <a:cubicBezTo>
                    <a:pt x="3945" y="338"/>
                    <a:pt x="3923" y="360"/>
                    <a:pt x="3897" y="360"/>
                  </a:cubicBezTo>
                  <a:cubicBezTo>
                    <a:pt x="3870" y="360"/>
                    <a:pt x="3849" y="338"/>
                    <a:pt x="3849" y="312"/>
                  </a:cubicBezTo>
                  <a:cubicBezTo>
                    <a:pt x="3849" y="285"/>
                    <a:pt x="3870" y="264"/>
                    <a:pt x="3897" y="264"/>
                  </a:cubicBezTo>
                  <a:cubicBezTo>
                    <a:pt x="3923" y="264"/>
                    <a:pt x="3945" y="285"/>
                    <a:pt x="3945" y="312"/>
                  </a:cubicBezTo>
                  <a:close/>
                  <a:moveTo>
                    <a:pt x="4046" y="312"/>
                  </a:moveTo>
                  <a:cubicBezTo>
                    <a:pt x="4046" y="338"/>
                    <a:pt x="4024" y="360"/>
                    <a:pt x="3998" y="360"/>
                  </a:cubicBezTo>
                  <a:cubicBezTo>
                    <a:pt x="3971" y="360"/>
                    <a:pt x="3950" y="338"/>
                    <a:pt x="3950" y="312"/>
                  </a:cubicBezTo>
                  <a:cubicBezTo>
                    <a:pt x="3950" y="285"/>
                    <a:pt x="3971" y="264"/>
                    <a:pt x="3998" y="264"/>
                  </a:cubicBezTo>
                  <a:cubicBezTo>
                    <a:pt x="4024" y="264"/>
                    <a:pt x="4046" y="285"/>
                    <a:pt x="4046" y="312"/>
                  </a:cubicBezTo>
                  <a:close/>
                  <a:moveTo>
                    <a:pt x="4148" y="312"/>
                  </a:moveTo>
                  <a:cubicBezTo>
                    <a:pt x="4148" y="338"/>
                    <a:pt x="4126" y="360"/>
                    <a:pt x="4100" y="360"/>
                  </a:cubicBezTo>
                  <a:cubicBezTo>
                    <a:pt x="4073" y="360"/>
                    <a:pt x="4052" y="338"/>
                    <a:pt x="4052" y="312"/>
                  </a:cubicBezTo>
                  <a:cubicBezTo>
                    <a:pt x="4052" y="285"/>
                    <a:pt x="4073" y="264"/>
                    <a:pt x="4100" y="264"/>
                  </a:cubicBezTo>
                  <a:cubicBezTo>
                    <a:pt x="4126" y="264"/>
                    <a:pt x="4148" y="285"/>
                    <a:pt x="4148" y="312"/>
                  </a:cubicBezTo>
                  <a:close/>
                  <a:moveTo>
                    <a:pt x="4249" y="312"/>
                  </a:moveTo>
                  <a:cubicBezTo>
                    <a:pt x="4249" y="338"/>
                    <a:pt x="4227" y="360"/>
                    <a:pt x="4201" y="360"/>
                  </a:cubicBezTo>
                  <a:cubicBezTo>
                    <a:pt x="4174" y="360"/>
                    <a:pt x="4153" y="338"/>
                    <a:pt x="4153" y="312"/>
                  </a:cubicBezTo>
                  <a:cubicBezTo>
                    <a:pt x="4153" y="285"/>
                    <a:pt x="4174" y="264"/>
                    <a:pt x="4201" y="264"/>
                  </a:cubicBezTo>
                  <a:cubicBezTo>
                    <a:pt x="4227" y="264"/>
                    <a:pt x="4249" y="285"/>
                    <a:pt x="4249" y="312"/>
                  </a:cubicBezTo>
                  <a:close/>
                  <a:moveTo>
                    <a:pt x="4350" y="312"/>
                  </a:moveTo>
                  <a:cubicBezTo>
                    <a:pt x="4350" y="338"/>
                    <a:pt x="4328" y="360"/>
                    <a:pt x="4302" y="360"/>
                  </a:cubicBezTo>
                  <a:cubicBezTo>
                    <a:pt x="4275" y="360"/>
                    <a:pt x="4254" y="338"/>
                    <a:pt x="4254" y="312"/>
                  </a:cubicBezTo>
                  <a:cubicBezTo>
                    <a:pt x="4254" y="285"/>
                    <a:pt x="4275" y="264"/>
                    <a:pt x="4302" y="264"/>
                  </a:cubicBezTo>
                  <a:cubicBezTo>
                    <a:pt x="4328" y="264"/>
                    <a:pt x="4350" y="285"/>
                    <a:pt x="4350" y="312"/>
                  </a:cubicBezTo>
                  <a:close/>
                  <a:moveTo>
                    <a:pt x="4451" y="312"/>
                  </a:moveTo>
                  <a:cubicBezTo>
                    <a:pt x="4451" y="338"/>
                    <a:pt x="4429" y="360"/>
                    <a:pt x="4403" y="360"/>
                  </a:cubicBezTo>
                  <a:cubicBezTo>
                    <a:pt x="4376" y="360"/>
                    <a:pt x="4355" y="338"/>
                    <a:pt x="4355" y="312"/>
                  </a:cubicBezTo>
                  <a:cubicBezTo>
                    <a:pt x="4355" y="285"/>
                    <a:pt x="4376" y="264"/>
                    <a:pt x="4403" y="264"/>
                  </a:cubicBezTo>
                  <a:cubicBezTo>
                    <a:pt x="4429" y="264"/>
                    <a:pt x="4451" y="285"/>
                    <a:pt x="4451" y="312"/>
                  </a:cubicBezTo>
                  <a:close/>
                  <a:moveTo>
                    <a:pt x="4552" y="312"/>
                  </a:moveTo>
                  <a:cubicBezTo>
                    <a:pt x="4552" y="338"/>
                    <a:pt x="4530" y="360"/>
                    <a:pt x="4504" y="360"/>
                  </a:cubicBezTo>
                  <a:cubicBezTo>
                    <a:pt x="4477" y="360"/>
                    <a:pt x="4456" y="338"/>
                    <a:pt x="4456" y="312"/>
                  </a:cubicBezTo>
                  <a:cubicBezTo>
                    <a:pt x="4456" y="285"/>
                    <a:pt x="4477" y="264"/>
                    <a:pt x="4504" y="264"/>
                  </a:cubicBezTo>
                  <a:cubicBezTo>
                    <a:pt x="4530" y="264"/>
                    <a:pt x="4552" y="285"/>
                    <a:pt x="4552" y="312"/>
                  </a:cubicBezTo>
                  <a:close/>
                  <a:moveTo>
                    <a:pt x="4654" y="312"/>
                  </a:moveTo>
                  <a:cubicBezTo>
                    <a:pt x="4654" y="338"/>
                    <a:pt x="4632" y="360"/>
                    <a:pt x="4606" y="360"/>
                  </a:cubicBezTo>
                  <a:cubicBezTo>
                    <a:pt x="4579" y="360"/>
                    <a:pt x="4558" y="338"/>
                    <a:pt x="4558" y="312"/>
                  </a:cubicBezTo>
                  <a:cubicBezTo>
                    <a:pt x="4558" y="285"/>
                    <a:pt x="4579" y="264"/>
                    <a:pt x="4606" y="264"/>
                  </a:cubicBezTo>
                  <a:cubicBezTo>
                    <a:pt x="4632" y="264"/>
                    <a:pt x="4654" y="285"/>
                    <a:pt x="4654" y="312"/>
                  </a:cubicBezTo>
                  <a:close/>
                  <a:moveTo>
                    <a:pt x="4755" y="312"/>
                  </a:moveTo>
                  <a:cubicBezTo>
                    <a:pt x="4755" y="338"/>
                    <a:pt x="4733" y="360"/>
                    <a:pt x="4707" y="360"/>
                  </a:cubicBezTo>
                  <a:cubicBezTo>
                    <a:pt x="4680" y="360"/>
                    <a:pt x="4659" y="338"/>
                    <a:pt x="4659" y="312"/>
                  </a:cubicBezTo>
                  <a:cubicBezTo>
                    <a:pt x="4659" y="285"/>
                    <a:pt x="4680" y="264"/>
                    <a:pt x="4707" y="264"/>
                  </a:cubicBezTo>
                  <a:cubicBezTo>
                    <a:pt x="4733" y="264"/>
                    <a:pt x="4755" y="285"/>
                    <a:pt x="4755" y="312"/>
                  </a:cubicBezTo>
                  <a:close/>
                  <a:moveTo>
                    <a:pt x="4856" y="312"/>
                  </a:moveTo>
                  <a:cubicBezTo>
                    <a:pt x="4856" y="338"/>
                    <a:pt x="4834" y="360"/>
                    <a:pt x="4808" y="360"/>
                  </a:cubicBezTo>
                  <a:cubicBezTo>
                    <a:pt x="4781" y="360"/>
                    <a:pt x="4760" y="338"/>
                    <a:pt x="4760" y="312"/>
                  </a:cubicBezTo>
                  <a:cubicBezTo>
                    <a:pt x="4760" y="285"/>
                    <a:pt x="4781" y="264"/>
                    <a:pt x="4808" y="264"/>
                  </a:cubicBezTo>
                  <a:cubicBezTo>
                    <a:pt x="4834" y="264"/>
                    <a:pt x="4856" y="285"/>
                    <a:pt x="4856" y="312"/>
                  </a:cubicBezTo>
                  <a:close/>
                  <a:moveTo>
                    <a:pt x="4957" y="312"/>
                  </a:moveTo>
                  <a:cubicBezTo>
                    <a:pt x="4957" y="338"/>
                    <a:pt x="4935" y="360"/>
                    <a:pt x="4909" y="360"/>
                  </a:cubicBezTo>
                  <a:cubicBezTo>
                    <a:pt x="4882" y="360"/>
                    <a:pt x="4861" y="338"/>
                    <a:pt x="4861" y="312"/>
                  </a:cubicBezTo>
                  <a:cubicBezTo>
                    <a:pt x="4861" y="285"/>
                    <a:pt x="4882" y="264"/>
                    <a:pt x="4909" y="264"/>
                  </a:cubicBezTo>
                  <a:cubicBezTo>
                    <a:pt x="4935" y="264"/>
                    <a:pt x="4957" y="285"/>
                    <a:pt x="4957" y="312"/>
                  </a:cubicBezTo>
                  <a:close/>
                  <a:moveTo>
                    <a:pt x="5059" y="312"/>
                  </a:moveTo>
                  <a:cubicBezTo>
                    <a:pt x="5059" y="338"/>
                    <a:pt x="5037" y="360"/>
                    <a:pt x="5011" y="360"/>
                  </a:cubicBezTo>
                  <a:cubicBezTo>
                    <a:pt x="4984" y="360"/>
                    <a:pt x="4963" y="338"/>
                    <a:pt x="4963" y="312"/>
                  </a:cubicBezTo>
                  <a:cubicBezTo>
                    <a:pt x="4963" y="285"/>
                    <a:pt x="4984" y="264"/>
                    <a:pt x="5011" y="264"/>
                  </a:cubicBezTo>
                  <a:cubicBezTo>
                    <a:pt x="5037" y="264"/>
                    <a:pt x="5059" y="285"/>
                    <a:pt x="5059" y="312"/>
                  </a:cubicBezTo>
                  <a:close/>
                  <a:moveTo>
                    <a:pt x="5160" y="312"/>
                  </a:moveTo>
                  <a:cubicBezTo>
                    <a:pt x="5160" y="338"/>
                    <a:pt x="5138" y="360"/>
                    <a:pt x="5112" y="360"/>
                  </a:cubicBezTo>
                  <a:cubicBezTo>
                    <a:pt x="5085" y="360"/>
                    <a:pt x="5064" y="338"/>
                    <a:pt x="5064" y="312"/>
                  </a:cubicBezTo>
                  <a:cubicBezTo>
                    <a:pt x="5064" y="285"/>
                    <a:pt x="5085" y="264"/>
                    <a:pt x="5112" y="264"/>
                  </a:cubicBezTo>
                  <a:cubicBezTo>
                    <a:pt x="5138" y="264"/>
                    <a:pt x="5160" y="285"/>
                    <a:pt x="5160" y="312"/>
                  </a:cubicBezTo>
                  <a:close/>
                  <a:moveTo>
                    <a:pt x="5261" y="312"/>
                  </a:moveTo>
                  <a:cubicBezTo>
                    <a:pt x="5261" y="338"/>
                    <a:pt x="5239" y="360"/>
                    <a:pt x="5213" y="360"/>
                  </a:cubicBezTo>
                  <a:cubicBezTo>
                    <a:pt x="5186" y="360"/>
                    <a:pt x="5165" y="338"/>
                    <a:pt x="5165" y="312"/>
                  </a:cubicBezTo>
                  <a:cubicBezTo>
                    <a:pt x="5165" y="285"/>
                    <a:pt x="5186" y="264"/>
                    <a:pt x="5213" y="264"/>
                  </a:cubicBezTo>
                  <a:cubicBezTo>
                    <a:pt x="5239" y="264"/>
                    <a:pt x="5261" y="285"/>
                    <a:pt x="5261" y="312"/>
                  </a:cubicBezTo>
                  <a:close/>
                  <a:moveTo>
                    <a:pt x="5362" y="312"/>
                  </a:moveTo>
                  <a:cubicBezTo>
                    <a:pt x="5362" y="338"/>
                    <a:pt x="5340" y="360"/>
                    <a:pt x="5314" y="360"/>
                  </a:cubicBezTo>
                  <a:cubicBezTo>
                    <a:pt x="5287" y="360"/>
                    <a:pt x="5266" y="338"/>
                    <a:pt x="5266" y="312"/>
                  </a:cubicBezTo>
                  <a:cubicBezTo>
                    <a:pt x="5266" y="285"/>
                    <a:pt x="5287" y="264"/>
                    <a:pt x="5314" y="264"/>
                  </a:cubicBezTo>
                  <a:cubicBezTo>
                    <a:pt x="5340" y="264"/>
                    <a:pt x="5362" y="285"/>
                    <a:pt x="5362" y="312"/>
                  </a:cubicBezTo>
                  <a:close/>
                  <a:moveTo>
                    <a:pt x="5464" y="312"/>
                  </a:moveTo>
                  <a:cubicBezTo>
                    <a:pt x="5464" y="338"/>
                    <a:pt x="5442" y="360"/>
                    <a:pt x="5416" y="360"/>
                  </a:cubicBezTo>
                  <a:cubicBezTo>
                    <a:pt x="5389" y="360"/>
                    <a:pt x="5368" y="338"/>
                    <a:pt x="5368" y="312"/>
                  </a:cubicBezTo>
                  <a:cubicBezTo>
                    <a:pt x="5368" y="285"/>
                    <a:pt x="5389" y="264"/>
                    <a:pt x="5416" y="264"/>
                  </a:cubicBezTo>
                  <a:cubicBezTo>
                    <a:pt x="5442" y="264"/>
                    <a:pt x="5464" y="285"/>
                    <a:pt x="5464" y="312"/>
                  </a:cubicBezTo>
                  <a:close/>
                  <a:moveTo>
                    <a:pt x="5565" y="312"/>
                  </a:moveTo>
                  <a:cubicBezTo>
                    <a:pt x="5565" y="338"/>
                    <a:pt x="5543" y="360"/>
                    <a:pt x="5517" y="360"/>
                  </a:cubicBezTo>
                  <a:cubicBezTo>
                    <a:pt x="5490" y="360"/>
                    <a:pt x="5469" y="338"/>
                    <a:pt x="5469" y="312"/>
                  </a:cubicBezTo>
                  <a:cubicBezTo>
                    <a:pt x="5469" y="285"/>
                    <a:pt x="5490" y="264"/>
                    <a:pt x="5517" y="264"/>
                  </a:cubicBezTo>
                  <a:cubicBezTo>
                    <a:pt x="5543" y="264"/>
                    <a:pt x="5565" y="285"/>
                    <a:pt x="5565" y="312"/>
                  </a:cubicBezTo>
                  <a:close/>
                  <a:moveTo>
                    <a:pt x="5666" y="312"/>
                  </a:moveTo>
                  <a:cubicBezTo>
                    <a:pt x="5666" y="338"/>
                    <a:pt x="5644" y="360"/>
                    <a:pt x="5618" y="360"/>
                  </a:cubicBezTo>
                  <a:cubicBezTo>
                    <a:pt x="5591" y="360"/>
                    <a:pt x="5570" y="338"/>
                    <a:pt x="5570" y="312"/>
                  </a:cubicBezTo>
                  <a:cubicBezTo>
                    <a:pt x="5570" y="285"/>
                    <a:pt x="5591" y="264"/>
                    <a:pt x="5618" y="264"/>
                  </a:cubicBezTo>
                  <a:cubicBezTo>
                    <a:pt x="5644" y="264"/>
                    <a:pt x="5666" y="285"/>
                    <a:pt x="5666" y="312"/>
                  </a:cubicBezTo>
                  <a:close/>
                  <a:moveTo>
                    <a:pt x="5767" y="312"/>
                  </a:moveTo>
                  <a:cubicBezTo>
                    <a:pt x="5767" y="338"/>
                    <a:pt x="5745" y="360"/>
                    <a:pt x="5719" y="360"/>
                  </a:cubicBezTo>
                  <a:cubicBezTo>
                    <a:pt x="5692" y="360"/>
                    <a:pt x="5671" y="338"/>
                    <a:pt x="5671" y="312"/>
                  </a:cubicBezTo>
                  <a:cubicBezTo>
                    <a:pt x="5671" y="285"/>
                    <a:pt x="5692" y="264"/>
                    <a:pt x="5719" y="264"/>
                  </a:cubicBezTo>
                  <a:cubicBezTo>
                    <a:pt x="5745" y="264"/>
                    <a:pt x="5767" y="285"/>
                    <a:pt x="5767" y="312"/>
                  </a:cubicBezTo>
                  <a:close/>
                  <a:moveTo>
                    <a:pt x="5868" y="312"/>
                  </a:moveTo>
                  <a:cubicBezTo>
                    <a:pt x="5868" y="338"/>
                    <a:pt x="5846" y="360"/>
                    <a:pt x="5820" y="360"/>
                  </a:cubicBezTo>
                  <a:cubicBezTo>
                    <a:pt x="5793" y="360"/>
                    <a:pt x="5772" y="338"/>
                    <a:pt x="5772" y="312"/>
                  </a:cubicBezTo>
                  <a:cubicBezTo>
                    <a:pt x="5772" y="285"/>
                    <a:pt x="5793" y="264"/>
                    <a:pt x="5820" y="264"/>
                  </a:cubicBezTo>
                  <a:cubicBezTo>
                    <a:pt x="5846" y="264"/>
                    <a:pt x="5868" y="285"/>
                    <a:pt x="5868" y="312"/>
                  </a:cubicBezTo>
                  <a:close/>
                  <a:moveTo>
                    <a:pt x="5970" y="312"/>
                  </a:moveTo>
                  <a:cubicBezTo>
                    <a:pt x="5970" y="338"/>
                    <a:pt x="5948" y="360"/>
                    <a:pt x="5922" y="360"/>
                  </a:cubicBezTo>
                  <a:cubicBezTo>
                    <a:pt x="5895" y="360"/>
                    <a:pt x="5874" y="338"/>
                    <a:pt x="5874" y="312"/>
                  </a:cubicBezTo>
                  <a:cubicBezTo>
                    <a:pt x="5874" y="285"/>
                    <a:pt x="5895" y="264"/>
                    <a:pt x="5922" y="264"/>
                  </a:cubicBezTo>
                  <a:cubicBezTo>
                    <a:pt x="5948" y="264"/>
                    <a:pt x="5970" y="285"/>
                    <a:pt x="5970" y="312"/>
                  </a:cubicBezTo>
                  <a:close/>
                  <a:moveTo>
                    <a:pt x="6071" y="312"/>
                  </a:moveTo>
                  <a:cubicBezTo>
                    <a:pt x="6071" y="338"/>
                    <a:pt x="6049" y="360"/>
                    <a:pt x="6023" y="360"/>
                  </a:cubicBezTo>
                  <a:cubicBezTo>
                    <a:pt x="5996" y="360"/>
                    <a:pt x="5975" y="338"/>
                    <a:pt x="5975" y="312"/>
                  </a:cubicBezTo>
                  <a:cubicBezTo>
                    <a:pt x="5975" y="285"/>
                    <a:pt x="5996" y="264"/>
                    <a:pt x="6023" y="264"/>
                  </a:cubicBezTo>
                  <a:cubicBezTo>
                    <a:pt x="6049" y="264"/>
                    <a:pt x="6071" y="285"/>
                    <a:pt x="6071" y="312"/>
                  </a:cubicBezTo>
                  <a:close/>
                  <a:moveTo>
                    <a:pt x="6172" y="312"/>
                  </a:moveTo>
                  <a:cubicBezTo>
                    <a:pt x="6172" y="338"/>
                    <a:pt x="6150" y="360"/>
                    <a:pt x="6124" y="360"/>
                  </a:cubicBezTo>
                  <a:cubicBezTo>
                    <a:pt x="6097" y="360"/>
                    <a:pt x="6076" y="338"/>
                    <a:pt x="6076" y="312"/>
                  </a:cubicBezTo>
                  <a:cubicBezTo>
                    <a:pt x="6076" y="285"/>
                    <a:pt x="6097" y="264"/>
                    <a:pt x="6124" y="264"/>
                  </a:cubicBezTo>
                  <a:cubicBezTo>
                    <a:pt x="6150" y="264"/>
                    <a:pt x="6172" y="285"/>
                    <a:pt x="6172" y="312"/>
                  </a:cubicBezTo>
                  <a:close/>
                  <a:moveTo>
                    <a:pt x="6273" y="312"/>
                  </a:moveTo>
                  <a:cubicBezTo>
                    <a:pt x="6273" y="338"/>
                    <a:pt x="6251" y="360"/>
                    <a:pt x="6225" y="360"/>
                  </a:cubicBezTo>
                  <a:cubicBezTo>
                    <a:pt x="6198" y="360"/>
                    <a:pt x="6177" y="338"/>
                    <a:pt x="6177" y="312"/>
                  </a:cubicBezTo>
                  <a:cubicBezTo>
                    <a:pt x="6177" y="285"/>
                    <a:pt x="6198" y="264"/>
                    <a:pt x="6225" y="264"/>
                  </a:cubicBezTo>
                  <a:cubicBezTo>
                    <a:pt x="6251" y="264"/>
                    <a:pt x="6273" y="285"/>
                    <a:pt x="6273" y="312"/>
                  </a:cubicBezTo>
                  <a:close/>
                  <a:moveTo>
                    <a:pt x="6375" y="312"/>
                  </a:moveTo>
                  <a:cubicBezTo>
                    <a:pt x="6375" y="338"/>
                    <a:pt x="6353" y="360"/>
                    <a:pt x="6327" y="360"/>
                  </a:cubicBezTo>
                  <a:cubicBezTo>
                    <a:pt x="6300" y="360"/>
                    <a:pt x="6279" y="338"/>
                    <a:pt x="6279" y="312"/>
                  </a:cubicBezTo>
                  <a:cubicBezTo>
                    <a:pt x="6279" y="285"/>
                    <a:pt x="6300" y="264"/>
                    <a:pt x="6327" y="264"/>
                  </a:cubicBezTo>
                  <a:cubicBezTo>
                    <a:pt x="6353" y="264"/>
                    <a:pt x="6375" y="285"/>
                    <a:pt x="6375" y="312"/>
                  </a:cubicBezTo>
                  <a:close/>
                  <a:moveTo>
                    <a:pt x="6476" y="312"/>
                  </a:moveTo>
                  <a:cubicBezTo>
                    <a:pt x="6476" y="338"/>
                    <a:pt x="6454" y="360"/>
                    <a:pt x="6428" y="360"/>
                  </a:cubicBezTo>
                  <a:cubicBezTo>
                    <a:pt x="6401" y="360"/>
                    <a:pt x="6380" y="338"/>
                    <a:pt x="6380" y="312"/>
                  </a:cubicBezTo>
                  <a:cubicBezTo>
                    <a:pt x="6380" y="285"/>
                    <a:pt x="6401" y="264"/>
                    <a:pt x="6428" y="264"/>
                  </a:cubicBezTo>
                  <a:cubicBezTo>
                    <a:pt x="6454" y="264"/>
                    <a:pt x="6476" y="285"/>
                    <a:pt x="6476" y="312"/>
                  </a:cubicBezTo>
                  <a:close/>
                  <a:moveTo>
                    <a:pt x="6577" y="312"/>
                  </a:moveTo>
                  <a:cubicBezTo>
                    <a:pt x="6577" y="338"/>
                    <a:pt x="6555" y="360"/>
                    <a:pt x="6529" y="360"/>
                  </a:cubicBezTo>
                  <a:cubicBezTo>
                    <a:pt x="6502" y="360"/>
                    <a:pt x="6481" y="338"/>
                    <a:pt x="6481" y="312"/>
                  </a:cubicBezTo>
                  <a:cubicBezTo>
                    <a:pt x="6481" y="285"/>
                    <a:pt x="6502" y="264"/>
                    <a:pt x="6529" y="264"/>
                  </a:cubicBezTo>
                  <a:cubicBezTo>
                    <a:pt x="6555" y="264"/>
                    <a:pt x="6577" y="285"/>
                    <a:pt x="6577" y="312"/>
                  </a:cubicBezTo>
                  <a:close/>
                  <a:moveTo>
                    <a:pt x="6678" y="312"/>
                  </a:moveTo>
                  <a:cubicBezTo>
                    <a:pt x="6678" y="338"/>
                    <a:pt x="6656" y="360"/>
                    <a:pt x="6630" y="360"/>
                  </a:cubicBezTo>
                  <a:cubicBezTo>
                    <a:pt x="6603" y="360"/>
                    <a:pt x="6582" y="338"/>
                    <a:pt x="6582" y="312"/>
                  </a:cubicBezTo>
                  <a:cubicBezTo>
                    <a:pt x="6582" y="285"/>
                    <a:pt x="6603" y="264"/>
                    <a:pt x="6630" y="264"/>
                  </a:cubicBezTo>
                  <a:cubicBezTo>
                    <a:pt x="6656" y="264"/>
                    <a:pt x="6678" y="285"/>
                    <a:pt x="6678" y="312"/>
                  </a:cubicBezTo>
                  <a:close/>
                  <a:moveTo>
                    <a:pt x="6780" y="312"/>
                  </a:moveTo>
                  <a:cubicBezTo>
                    <a:pt x="6780" y="338"/>
                    <a:pt x="6758" y="360"/>
                    <a:pt x="6732" y="360"/>
                  </a:cubicBezTo>
                  <a:cubicBezTo>
                    <a:pt x="6705" y="360"/>
                    <a:pt x="6684" y="338"/>
                    <a:pt x="6684" y="312"/>
                  </a:cubicBezTo>
                  <a:cubicBezTo>
                    <a:pt x="6684" y="285"/>
                    <a:pt x="6705" y="264"/>
                    <a:pt x="6732" y="264"/>
                  </a:cubicBezTo>
                  <a:cubicBezTo>
                    <a:pt x="6758" y="264"/>
                    <a:pt x="6780" y="285"/>
                    <a:pt x="6780" y="312"/>
                  </a:cubicBezTo>
                  <a:close/>
                  <a:moveTo>
                    <a:pt x="6881" y="312"/>
                  </a:moveTo>
                  <a:cubicBezTo>
                    <a:pt x="6881" y="338"/>
                    <a:pt x="6859" y="360"/>
                    <a:pt x="6833" y="360"/>
                  </a:cubicBezTo>
                  <a:cubicBezTo>
                    <a:pt x="6806" y="360"/>
                    <a:pt x="6785" y="338"/>
                    <a:pt x="6785" y="312"/>
                  </a:cubicBezTo>
                  <a:cubicBezTo>
                    <a:pt x="6785" y="285"/>
                    <a:pt x="6806" y="264"/>
                    <a:pt x="6833" y="264"/>
                  </a:cubicBezTo>
                  <a:cubicBezTo>
                    <a:pt x="6859" y="264"/>
                    <a:pt x="6881" y="285"/>
                    <a:pt x="6881" y="312"/>
                  </a:cubicBezTo>
                  <a:close/>
                  <a:moveTo>
                    <a:pt x="6982" y="312"/>
                  </a:moveTo>
                  <a:cubicBezTo>
                    <a:pt x="6982" y="338"/>
                    <a:pt x="6960" y="360"/>
                    <a:pt x="6934" y="360"/>
                  </a:cubicBezTo>
                  <a:cubicBezTo>
                    <a:pt x="6907" y="360"/>
                    <a:pt x="6886" y="338"/>
                    <a:pt x="6886" y="312"/>
                  </a:cubicBezTo>
                  <a:cubicBezTo>
                    <a:pt x="6886" y="285"/>
                    <a:pt x="6907" y="264"/>
                    <a:pt x="6934" y="264"/>
                  </a:cubicBezTo>
                  <a:cubicBezTo>
                    <a:pt x="6960" y="264"/>
                    <a:pt x="6982" y="285"/>
                    <a:pt x="6982" y="312"/>
                  </a:cubicBezTo>
                  <a:close/>
                  <a:moveTo>
                    <a:pt x="7083" y="312"/>
                  </a:moveTo>
                  <a:cubicBezTo>
                    <a:pt x="7083" y="338"/>
                    <a:pt x="7061" y="360"/>
                    <a:pt x="7035" y="360"/>
                  </a:cubicBezTo>
                  <a:cubicBezTo>
                    <a:pt x="7008" y="360"/>
                    <a:pt x="6987" y="338"/>
                    <a:pt x="6987" y="312"/>
                  </a:cubicBezTo>
                  <a:cubicBezTo>
                    <a:pt x="6987" y="285"/>
                    <a:pt x="7008" y="264"/>
                    <a:pt x="7035" y="264"/>
                  </a:cubicBezTo>
                  <a:cubicBezTo>
                    <a:pt x="7061" y="264"/>
                    <a:pt x="7083" y="285"/>
                    <a:pt x="7083" y="312"/>
                  </a:cubicBezTo>
                  <a:close/>
                  <a:moveTo>
                    <a:pt x="7185" y="312"/>
                  </a:moveTo>
                  <a:cubicBezTo>
                    <a:pt x="7185" y="338"/>
                    <a:pt x="7163" y="360"/>
                    <a:pt x="7137" y="360"/>
                  </a:cubicBezTo>
                  <a:cubicBezTo>
                    <a:pt x="7110" y="360"/>
                    <a:pt x="7089" y="338"/>
                    <a:pt x="7089" y="312"/>
                  </a:cubicBezTo>
                  <a:cubicBezTo>
                    <a:pt x="7089" y="285"/>
                    <a:pt x="7110" y="264"/>
                    <a:pt x="7137" y="264"/>
                  </a:cubicBezTo>
                  <a:cubicBezTo>
                    <a:pt x="7163" y="264"/>
                    <a:pt x="7185" y="285"/>
                    <a:pt x="7185" y="312"/>
                  </a:cubicBezTo>
                  <a:close/>
                  <a:moveTo>
                    <a:pt x="7286" y="312"/>
                  </a:moveTo>
                  <a:cubicBezTo>
                    <a:pt x="7286" y="338"/>
                    <a:pt x="7264" y="360"/>
                    <a:pt x="7238" y="360"/>
                  </a:cubicBezTo>
                  <a:cubicBezTo>
                    <a:pt x="7211" y="360"/>
                    <a:pt x="7190" y="338"/>
                    <a:pt x="7190" y="312"/>
                  </a:cubicBezTo>
                  <a:cubicBezTo>
                    <a:pt x="7190" y="285"/>
                    <a:pt x="7211" y="264"/>
                    <a:pt x="7238" y="264"/>
                  </a:cubicBezTo>
                  <a:cubicBezTo>
                    <a:pt x="7264" y="264"/>
                    <a:pt x="7286" y="285"/>
                    <a:pt x="7286" y="312"/>
                  </a:cubicBezTo>
                  <a:close/>
                  <a:moveTo>
                    <a:pt x="7387" y="312"/>
                  </a:moveTo>
                  <a:cubicBezTo>
                    <a:pt x="7387" y="338"/>
                    <a:pt x="7365" y="360"/>
                    <a:pt x="7339" y="360"/>
                  </a:cubicBezTo>
                  <a:cubicBezTo>
                    <a:pt x="7312" y="360"/>
                    <a:pt x="7291" y="338"/>
                    <a:pt x="7291" y="312"/>
                  </a:cubicBezTo>
                  <a:cubicBezTo>
                    <a:pt x="7291" y="285"/>
                    <a:pt x="7312" y="264"/>
                    <a:pt x="7339" y="264"/>
                  </a:cubicBezTo>
                  <a:cubicBezTo>
                    <a:pt x="7365" y="264"/>
                    <a:pt x="7387" y="285"/>
                    <a:pt x="7387" y="312"/>
                  </a:cubicBezTo>
                  <a:close/>
                  <a:moveTo>
                    <a:pt x="7488" y="312"/>
                  </a:moveTo>
                  <a:cubicBezTo>
                    <a:pt x="7488" y="338"/>
                    <a:pt x="7466" y="360"/>
                    <a:pt x="7440" y="360"/>
                  </a:cubicBezTo>
                  <a:cubicBezTo>
                    <a:pt x="7413" y="360"/>
                    <a:pt x="7392" y="338"/>
                    <a:pt x="7392" y="312"/>
                  </a:cubicBezTo>
                  <a:cubicBezTo>
                    <a:pt x="7392" y="285"/>
                    <a:pt x="7413" y="264"/>
                    <a:pt x="7440" y="264"/>
                  </a:cubicBezTo>
                  <a:cubicBezTo>
                    <a:pt x="7466" y="264"/>
                    <a:pt x="7488" y="285"/>
                    <a:pt x="7488" y="312"/>
                  </a:cubicBezTo>
                  <a:close/>
                  <a:moveTo>
                    <a:pt x="7589" y="312"/>
                  </a:moveTo>
                  <a:cubicBezTo>
                    <a:pt x="7589" y="338"/>
                    <a:pt x="7567" y="360"/>
                    <a:pt x="7541" y="360"/>
                  </a:cubicBezTo>
                  <a:cubicBezTo>
                    <a:pt x="7514" y="360"/>
                    <a:pt x="7493" y="338"/>
                    <a:pt x="7493" y="312"/>
                  </a:cubicBezTo>
                  <a:cubicBezTo>
                    <a:pt x="7493" y="285"/>
                    <a:pt x="7514" y="264"/>
                    <a:pt x="7541" y="264"/>
                  </a:cubicBezTo>
                  <a:cubicBezTo>
                    <a:pt x="7567" y="264"/>
                    <a:pt x="7589" y="285"/>
                    <a:pt x="7589" y="312"/>
                  </a:cubicBezTo>
                  <a:close/>
                  <a:moveTo>
                    <a:pt x="7691" y="312"/>
                  </a:moveTo>
                  <a:cubicBezTo>
                    <a:pt x="7691" y="338"/>
                    <a:pt x="7669" y="360"/>
                    <a:pt x="7643" y="360"/>
                  </a:cubicBezTo>
                  <a:cubicBezTo>
                    <a:pt x="7616" y="360"/>
                    <a:pt x="7595" y="338"/>
                    <a:pt x="7595" y="312"/>
                  </a:cubicBezTo>
                  <a:cubicBezTo>
                    <a:pt x="7595" y="285"/>
                    <a:pt x="7616" y="264"/>
                    <a:pt x="7643" y="264"/>
                  </a:cubicBezTo>
                  <a:cubicBezTo>
                    <a:pt x="7669" y="264"/>
                    <a:pt x="7691" y="285"/>
                    <a:pt x="7691" y="312"/>
                  </a:cubicBezTo>
                  <a:close/>
                  <a:moveTo>
                    <a:pt x="7792" y="312"/>
                  </a:moveTo>
                  <a:cubicBezTo>
                    <a:pt x="7792" y="338"/>
                    <a:pt x="7770" y="360"/>
                    <a:pt x="7744" y="360"/>
                  </a:cubicBezTo>
                  <a:cubicBezTo>
                    <a:pt x="7717" y="360"/>
                    <a:pt x="7696" y="338"/>
                    <a:pt x="7696" y="312"/>
                  </a:cubicBezTo>
                  <a:cubicBezTo>
                    <a:pt x="7696" y="285"/>
                    <a:pt x="7717" y="264"/>
                    <a:pt x="7744" y="264"/>
                  </a:cubicBezTo>
                  <a:cubicBezTo>
                    <a:pt x="7770" y="264"/>
                    <a:pt x="7792" y="285"/>
                    <a:pt x="7792" y="312"/>
                  </a:cubicBezTo>
                  <a:close/>
                  <a:moveTo>
                    <a:pt x="7893" y="312"/>
                  </a:moveTo>
                  <a:cubicBezTo>
                    <a:pt x="7893" y="338"/>
                    <a:pt x="7871" y="360"/>
                    <a:pt x="7845" y="360"/>
                  </a:cubicBezTo>
                  <a:cubicBezTo>
                    <a:pt x="7818" y="360"/>
                    <a:pt x="7797" y="338"/>
                    <a:pt x="7797" y="312"/>
                  </a:cubicBezTo>
                  <a:cubicBezTo>
                    <a:pt x="7797" y="285"/>
                    <a:pt x="7818" y="264"/>
                    <a:pt x="7845" y="264"/>
                  </a:cubicBezTo>
                  <a:cubicBezTo>
                    <a:pt x="7871" y="264"/>
                    <a:pt x="7893" y="285"/>
                    <a:pt x="7893" y="312"/>
                  </a:cubicBezTo>
                  <a:close/>
                  <a:moveTo>
                    <a:pt x="7994" y="312"/>
                  </a:moveTo>
                  <a:cubicBezTo>
                    <a:pt x="7994" y="338"/>
                    <a:pt x="7972" y="360"/>
                    <a:pt x="7946" y="360"/>
                  </a:cubicBezTo>
                  <a:cubicBezTo>
                    <a:pt x="7919" y="360"/>
                    <a:pt x="7898" y="338"/>
                    <a:pt x="7898" y="312"/>
                  </a:cubicBezTo>
                  <a:cubicBezTo>
                    <a:pt x="7898" y="285"/>
                    <a:pt x="7919" y="264"/>
                    <a:pt x="7946" y="264"/>
                  </a:cubicBezTo>
                  <a:cubicBezTo>
                    <a:pt x="7972" y="264"/>
                    <a:pt x="7994" y="285"/>
                    <a:pt x="7994" y="312"/>
                  </a:cubicBezTo>
                  <a:close/>
                  <a:moveTo>
                    <a:pt x="8096" y="312"/>
                  </a:moveTo>
                  <a:cubicBezTo>
                    <a:pt x="8096" y="338"/>
                    <a:pt x="8074" y="360"/>
                    <a:pt x="8048" y="360"/>
                  </a:cubicBezTo>
                  <a:cubicBezTo>
                    <a:pt x="8021" y="360"/>
                    <a:pt x="8000" y="338"/>
                    <a:pt x="8000" y="312"/>
                  </a:cubicBezTo>
                  <a:cubicBezTo>
                    <a:pt x="8000" y="285"/>
                    <a:pt x="8021" y="264"/>
                    <a:pt x="8048" y="264"/>
                  </a:cubicBezTo>
                  <a:cubicBezTo>
                    <a:pt x="8074" y="264"/>
                    <a:pt x="8096" y="285"/>
                    <a:pt x="8096" y="312"/>
                  </a:cubicBezTo>
                  <a:close/>
                  <a:moveTo>
                    <a:pt x="8197" y="312"/>
                  </a:moveTo>
                  <a:cubicBezTo>
                    <a:pt x="8197" y="338"/>
                    <a:pt x="8175" y="360"/>
                    <a:pt x="8149" y="360"/>
                  </a:cubicBezTo>
                  <a:cubicBezTo>
                    <a:pt x="8122" y="360"/>
                    <a:pt x="8101" y="338"/>
                    <a:pt x="8101" y="312"/>
                  </a:cubicBezTo>
                  <a:cubicBezTo>
                    <a:pt x="8101" y="285"/>
                    <a:pt x="8122" y="264"/>
                    <a:pt x="8149" y="264"/>
                  </a:cubicBezTo>
                  <a:cubicBezTo>
                    <a:pt x="8175" y="264"/>
                    <a:pt x="8197" y="285"/>
                    <a:pt x="8197" y="312"/>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2" name="Forma 11"/>
            <p:cNvSpPr/>
            <p:nvPr/>
          </p:nvSpPr>
          <p:spPr>
            <a:xfrm>
              <a:off x="365760" y="2377440"/>
              <a:ext cx="7498080" cy="329184"/>
            </a:xfrm>
            <a:custGeom>
              <a:avLst/>
              <a:gdLst/>
              <a:ahLst/>
              <a:cxnLst/>
              <a:rect l="0" t="0" r="r" b="b"/>
              <a:pathLst>
                <a:path w="8200" h="360" fill="none">
                  <a:moveTo>
                    <a:pt x="34" y="96"/>
                  </a:moveTo>
                  <a:lnTo>
                    <a:pt x="34" y="170"/>
                  </a:lnTo>
                </a:path>
                <a:path w="8200" h="360" fill="none">
                  <a:moveTo>
                    <a:pt x="66" y="96"/>
                  </a:moveTo>
                  <a:lnTo>
                    <a:pt x="66" y="170"/>
                  </a:lnTo>
                </a:path>
                <a:path w="8200" h="360" fill="none">
                  <a:moveTo>
                    <a:pt x="34" y="264"/>
                  </a:moveTo>
                  <a:lnTo>
                    <a:pt x="34" y="190"/>
                  </a:lnTo>
                </a:path>
                <a:path w="8200" h="360" fill="none">
                  <a:moveTo>
                    <a:pt x="66" y="264"/>
                  </a:moveTo>
                  <a:lnTo>
                    <a:pt x="66" y="190"/>
                  </a:lnTo>
                </a:path>
                <a:path w="8200" h="360" fill="none">
                  <a:moveTo>
                    <a:pt x="135" y="96"/>
                  </a:moveTo>
                  <a:lnTo>
                    <a:pt x="135" y="170"/>
                  </a:lnTo>
                </a:path>
                <a:path w="8200" h="360" fill="none">
                  <a:moveTo>
                    <a:pt x="167" y="96"/>
                  </a:moveTo>
                  <a:lnTo>
                    <a:pt x="167" y="170"/>
                  </a:lnTo>
                </a:path>
                <a:path w="8200" h="360" fill="none">
                  <a:moveTo>
                    <a:pt x="135" y="264"/>
                  </a:moveTo>
                  <a:lnTo>
                    <a:pt x="135" y="190"/>
                  </a:lnTo>
                </a:path>
                <a:path w="8200" h="360" fill="none">
                  <a:moveTo>
                    <a:pt x="167" y="264"/>
                  </a:moveTo>
                  <a:lnTo>
                    <a:pt x="167" y="190"/>
                  </a:lnTo>
                </a:path>
                <a:path w="8200" h="360" fill="none">
                  <a:moveTo>
                    <a:pt x="237" y="96"/>
                  </a:moveTo>
                  <a:lnTo>
                    <a:pt x="237" y="170"/>
                  </a:lnTo>
                </a:path>
                <a:path w="8200" h="360" fill="none">
                  <a:moveTo>
                    <a:pt x="269" y="96"/>
                  </a:moveTo>
                  <a:lnTo>
                    <a:pt x="269" y="170"/>
                  </a:lnTo>
                </a:path>
                <a:path w="8200" h="360" fill="none">
                  <a:moveTo>
                    <a:pt x="237" y="264"/>
                  </a:moveTo>
                  <a:lnTo>
                    <a:pt x="237" y="190"/>
                  </a:lnTo>
                </a:path>
                <a:path w="8200" h="360" fill="none">
                  <a:moveTo>
                    <a:pt x="269" y="264"/>
                  </a:moveTo>
                  <a:lnTo>
                    <a:pt x="269" y="190"/>
                  </a:lnTo>
                </a:path>
                <a:path w="8200" h="360" fill="none">
                  <a:moveTo>
                    <a:pt x="338" y="96"/>
                  </a:moveTo>
                  <a:lnTo>
                    <a:pt x="338" y="170"/>
                  </a:lnTo>
                </a:path>
                <a:path w="8200" h="360" fill="none">
                  <a:moveTo>
                    <a:pt x="370" y="96"/>
                  </a:moveTo>
                  <a:lnTo>
                    <a:pt x="370" y="170"/>
                  </a:lnTo>
                </a:path>
                <a:path w="8200" h="360" fill="none">
                  <a:moveTo>
                    <a:pt x="338" y="264"/>
                  </a:moveTo>
                  <a:lnTo>
                    <a:pt x="338" y="190"/>
                  </a:lnTo>
                </a:path>
                <a:path w="8200" h="360" fill="none">
                  <a:moveTo>
                    <a:pt x="370" y="264"/>
                  </a:moveTo>
                  <a:lnTo>
                    <a:pt x="370" y="190"/>
                  </a:lnTo>
                </a:path>
                <a:path w="8200" h="360" fill="none">
                  <a:moveTo>
                    <a:pt x="439" y="96"/>
                  </a:moveTo>
                  <a:lnTo>
                    <a:pt x="439" y="170"/>
                  </a:lnTo>
                </a:path>
                <a:path w="8200" h="360" fill="none">
                  <a:moveTo>
                    <a:pt x="471" y="96"/>
                  </a:moveTo>
                  <a:lnTo>
                    <a:pt x="471" y="170"/>
                  </a:lnTo>
                </a:path>
                <a:path w="8200" h="360" fill="none">
                  <a:moveTo>
                    <a:pt x="439" y="264"/>
                  </a:moveTo>
                  <a:lnTo>
                    <a:pt x="439" y="190"/>
                  </a:lnTo>
                </a:path>
                <a:path w="8200" h="360" fill="none">
                  <a:moveTo>
                    <a:pt x="471" y="264"/>
                  </a:moveTo>
                  <a:lnTo>
                    <a:pt x="471" y="190"/>
                  </a:lnTo>
                </a:path>
                <a:path w="8200" h="360" fill="none">
                  <a:moveTo>
                    <a:pt x="540" y="96"/>
                  </a:moveTo>
                  <a:lnTo>
                    <a:pt x="540" y="170"/>
                  </a:lnTo>
                </a:path>
                <a:path w="8200" h="360" fill="none">
                  <a:moveTo>
                    <a:pt x="572" y="96"/>
                  </a:moveTo>
                  <a:lnTo>
                    <a:pt x="572" y="170"/>
                  </a:lnTo>
                </a:path>
                <a:path w="8200" h="360" fill="none">
                  <a:moveTo>
                    <a:pt x="540" y="264"/>
                  </a:moveTo>
                  <a:lnTo>
                    <a:pt x="540" y="190"/>
                  </a:lnTo>
                </a:path>
                <a:path w="8200" h="360" fill="none">
                  <a:moveTo>
                    <a:pt x="572" y="264"/>
                  </a:moveTo>
                  <a:lnTo>
                    <a:pt x="572" y="190"/>
                  </a:lnTo>
                </a:path>
                <a:path w="8200" h="360" fill="none">
                  <a:moveTo>
                    <a:pt x="642" y="96"/>
                  </a:moveTo>
                  <a:lnTo>
                    <a:pt x="642" y="170"/>
                  </a:lnTo>
                </a:path>
                <a:path w="8200" h="360" fill="none">
                  <a:moveTo>
                    <a:pt x="674" y="96"/>
                  </a:moveTo>
                  <a:lnTo>
                    <a:pt x="674" y="170"/>
                  </a:lnTo>
                </a:path>
                <a:path w="8200" h="360" fill="none">
                  <a:moveTo>
                    <a:pt x="642" y="264"/>
                  </a:moveTo>
                  <a:lnTo>
                    <a:pt x="642" y="190"/>
                  </a:lnTo>
                </a:path>
                <a:path w="8200" h="360" fill="none">
                  <a:moveTo>
                    <a:pt x="674" y="264"/>
                  </a:moveTo>
                  <a:lnTo>
                    <a:pt x="674" y="190"/>
                  </a:lnTo>
                </a:path>
                <a:path w="8200" h="360" fill="none">
                  <a:moveTo>
                    <a:pt x="743" y="96"/>
                  </a:moveTo>
                  <a:lnTo>
                    <a:pt x="743" y="170"/>
                  </a:lnTo>
                </a:path>
                <a:path w="8200" h="360" fill="none">
                  <a:moveTo>
                    <a:pt x="775" y="96"/>
                  </a:moveTo>
                  <a:lnTo>
                    <a:pt x="775" y="170"/>
                  </a:lnTo>
                </a:path>
                <a:path w="8200" h="360" fill="none">
                  <a:moveTo>
                    <a:pt x="743" y="264"/>
                  </a:moveTo>
                  <a:lnTo>
                    <a:pt x="743" y="190"/>
                  </a:lnTo>
                </a:path>
                <a:path w="8200" h="360" fill="none">
                  <a:moveTo>
                    <a:pt x="775" y="264"/>
                  </a:moveTo>
                  <a:lnTo>
                    <a:pt x="775" y="190"/>
                  </a:lnTo>
                </a:path>
                <a:path w="8200" h="360" fill="none">
                  <a:moveTo>
                    <a:pt x="844" y="96"/>
                  </a:moveTo>
                  <a:lnTo>
                    <a:pt x="844" y="170"/>
                  </a:lnTo>
                </a:path>
                <a:path w="8200" h="360" fill="none">
                  <a:moveTo>
                    <a:pt x="876" y="96"/>
                  </a:moveTo>
                  <a:lnTo>
                    <a:pt x="876" y="170"/>
                  </a:lnTo>
                </a:path>
                <a:path w="8200" h="360" fill="none">
                  <a:moveTo>
                    <a:pt x="844" y="264"/>
                  </a:moveTo>
                  <a:lnTo>
                    <a:pt x="844" y="190"/>
                  </a:lnTo>
                </a:path>
                <a:path w="8200" h="360" fill="none">
                  <a:moveTo>
                    <a:pt x="876" y="264"/>
                  </a:moveTo>
                  <a:lnTo>
                    <a:pt x="876" y="190"/>
                  </a:lnTo>
                </a:path>
                <a:path w="8200" h="360" fill="none">
                  <a:moveTo>
                    <a:pt x="945" y="96"/>
                  </a:moveTo>
                  <a:lnTo>
                    <a:pt x="945" y="170"/>
                  </a:lnTo>
                </a:path>
                <a:path w="8200" h="360" fill="none">
                  <a:moveTo>
                    <a:pt x="977" y="96"/>
                  </a:moveTo>
                  <a:lnTo>
                    <a:pt x="977" y="170"/>
                  </a:lnTo>
                </a:path>
                <a:path w="8200" h="360" fill="none">
                  <a:moveTo>
                    <a:pt x="945" y="264"/>
                  </a:moveTo>
                  <a:lnTo>
                    <a:pt x="945" y="190"/>
                  </a:lnTo>
                </a:path>
                <a:path w="8200" h="360" fill="none">
                  <a:moveTo>
                    <a:pt x="977" y="264"/>
                  </a:moveTo>
                  <a:lnTo>
                    <a:pt x="977" y="190"/>
                  </a:lnTo>
                </a:path>
                <a:path w="8200" h="360" fill="none">
                  <a:moveTo>
                    <a:pt x="1046" y="96"/>
                  </a:moveTo>
                  <a:lnTo>
                    <a:pt x="1046" y="170"/>
                  </a:lnTo>
                </a:path>
                <a:path w="8200" h="360" fill="none">
                  <a:moveTo>
                    <a:pt x="1078" y="96"/>
                  </a:moveTo>
                  <a:lnTo>
                    <a:pt x="1078" y="170"/>
                  </a:lnTo>
                </a:path>
                <a:path w="8200" h="360" fill="none">
                  <a:moveTo>
                    <a:pt x="1046" y="264"/>
                  </a:moveTo>
                  <a:lnTo>
                    <a:pt x="1046" y="190"/>
                  </a:lnTo>
                </a:path>
                <a:path w="8200" h="360" fill="none">
                  <a:moveTo>
                    <a:pt x="1078" y="264"/>
                  </a:moveTo>
                  <a:lnTo>
                    <a:pt x="1078" y="190"/>
                  </a:lnTo>
                </a:path>
                <a:path w="8200" h="360" fill="none">
                  <a:moveTo>
                    <a:pt x="1148" y="96"/>
                  </a:moveTo>
                  <a:lnTo>
                    <a:pt x="1148" y="170"/>
                  </a:lnTo>
                </a:path>
                <a:path w="8200" h="360" fill="none">
                  <a:moveTo>
                    <a:pt x="1180" y="96"/>
                  </a:moveTo>
                  <a:lnTo>
                    <a:pt x="1180" y="170"/>
                  </a:lnTo>
                </a:path>
                <a:path w="8200" h="360" fill="none">
                  <a:moveTo>
                    <a:pt x="1148" y="264"/>
                  </a:moveTo>
                  <a:lnTo>
                    <a:pt x="1148" y="190"/>
                  </a:lnTo>
                </a:path>
                <a:path w="8200" h="360" fill="none">
                  <a:moveTo>
                    <a:pt x="1180" y="264"/>
                  </a:moveTo>
                  <a:lnTo>
                    <a:pt x="1180" y="190"/>
                  </a:lnTo>
                </a:path>
                <a:path w="8200" h="360" fill="none">
                  <a:moveTo>
                    <a:pt x="1249" y="96"/>
                  </a:moveTo>
                  <a:lnTo>
                    <a:pt x="1249" y="170"/>
                  </a:lnTo>
                </a:path>
                <a:path w="8200" h="360" fill="none">
                  <a:moveTo>
                    <a:pt x="1281" y="96"/>
                  </a:moveTo>
                  <a:lnTo>
                    <a:pt x="1281" y="170"/>
                  </a:lnTo>
                </a:path>
                <a:path w="8200" h="360" fill="none">
                  <a:moveTo>
                    <a:pt x="1249" y="264"/>
                  </a:moveTo>
                  <a:lnTo>
                    <a:pt x="1249" y="190"/>
                  </a:lnTo>
                </a:path>
                <a:path w="8200" h="360" fill="none">
                  <a:moveTo>
                    <a:pt x="1281" y="264"/>
                  </a:moveTo>
                  <a:lnTo>
                    <a:pt x="1281" y="190"/>
                  </a:lnTo>
                </a:path>
                <a:path w="8200" h="360" fill="none">
                  <a:moveTo>
                    <a:pt x="1350" y="96"/>
                  </a:moveTo>
                  <a:lnTo>
                    <a:pt x="1350" y="170"/>
                  </a:lnTo>
                </a:path>
                <a:path w="8200" h="360" fill="none">
                  <a:moveTo>
                    <a:pt x="1382" y="96"/>
                  </a:moveTo>
                  <a:lnTo>
                    <a:pt x="1382" y="170"/>
                  </a:lnTo>
                </a:path>
                <a:path w="8200" h="360" fill="none">
                  <a:moveTo>
                    <a:pt x="1350" y="264"/>
                  </a:moveTo>
                  <a:lnTo>
                    <a:pt x="1350" y="190"/>
                  </a:lnTo>
                </a:path>
                <a:path w="8200" h="360" fill="none">
                  <a:moveTo>
                    <a:pt x="1382" y="264"/>
                  </a:moveTo>
                  <a:lnTo>
                    <a:pt x="1382" y="190"/>
                  </a:lnTo>
                </a:path>
                <a:path w="8200" h="360" fill="none">
                  <a:moveTo>
                    <a:pt x="1451" y="96"/>
                  </a:moveTo>
                  <a:lnTo>
                    <a:pt x="1451" y="170"/>
                  </a:lnTo>
                </a:path>
                <a:path w="8200" h="360" fill="none">
                  <a:moveTo>
                    <a:pt x="1483" y="96"/>
                  </a:moveTo>
                  <a:lnTo>
                    <a:pt x="1483" y="170"/>
                  </a:lnTo>
                </a:path>
                <a:path w="8200" h="360" fill="none">
                  <a:moveTo>
                    <a:pt x="1451" y="264"/>
                  </a:moveTo>
                  <a:lnTo>
                    <a:pt x="1451" y="190"/>
                  </a:lnTo>
                </a:path>
                <a:path w="8200" h="360" fill="none">
                  <a:moveTo>
                    <a:pt x="1483" y="264"/>
                  </a:moveTo>
                  <a:lnTo>
                    <a:pt x="1483" y="190"/>
                  </a:lnTo>
                </a:path>
                <a:path w="8200" h="360" fill="none">
                  <a:moveTo>
                    <a:pt x="1553" y="96"/>
                  </a:moveTo>
                  <a:lnTo>
                    <a:pt x="1553" y="170"/>
                  </a:lnTo>
                </a:path>
                <a:path w="8200" h="360" fill="none">
                  <a:moveTo>
                    <a:pt x="1585" y="96"/>
                  </a:moveTo>
                  <a:lnTo>
                    <a:pt x="1585" y="170"/>
                  </a:lnTo>
                </a:path>
                <a:path w="8200" h="360" fill="none">
                  <a:moveTo>
                    <a:pt x="1553" y="264"/>
                  </a:moveTo>
                  <a:lnTo>
                    <a:pt x="1553" y="190"/>
                  </a:lnTo>
                </a:path>
                <a:path w="8200" h="360" fill="none">
                  <a:moveTo>
                    <a:pt x="1585" y="264"/>
                  </a:moveTo>
                  <a:lnTo>
                    <a:pt x="1585" y="190"/>
                  </a:lnTo>
                </a:path>
                <a:path w="8200" h="360" fill="none">
                  <a:moveTo>
                    <a:pt x="1654" y="96"/>
                  </a:moveTo>
                  <a:lnTo>
                    <a:pt x="1654" y="170"/>
                  </a:lnTo>
                </a:path>
                <a:path w="8200" h="360" fill="none">
                  <a:moveTo>
                    <a:pt x="1686" y="96"/>
                  </a:moveTo>
                  <a:lnTo>
                    <a:pt x="1686" y="170"/>
                  </a:lnTo>
                </a:path>
                <a:path w="8200" h="360" fill="none">
                  <a:moveTo>
                    <a:pt x="1654" y="264"/>
                  </a:moveTo>
                  <a:lnTo>
                    <a:pt x="1654" y="190"/>
                  </a:lnTo>
                </a:path>
                <a:path w="8200" h="360" fill="none">
                  <a:moveTo>
                    <a:pt x="1686" y="264"/>
                  </a:moveTo>
                  <a:lnTo>
                    <a:pt x="1686" y="190"/>
                  </a:lnTo>
                </a:path>
                <a:path w="8200" h="360" fill="none">
                  <a:moveTo>
                    <a:pt x="1755" y="96"/>
                  </a:moveTo>
                  <a:lnTo>
                    <a:pt x="1755" y="170"/>
                  </a:lnTo>
                </a:path>
                <a:path w="8200" h="360" fill="none">
                  <a:moveTo>
                    <a:pt x="1787" y="96"/>
                  </a:moveTo>
                  <a:lnTo>
                    <a:pt x="1787" y="170"/>
                  </a:lnTo>
                </a:path>
                <a:path w="8200" h="360" fill="none">
                  <a:moveTo>
                    <a:pt x="1755" y="264"/>
                  </a:moveTo>
                  <a:lnTo>
                    <a:pt x="1755" y="190"/>
                  </a:lnTo>
                </a:path>
                <a:path w="8200" h="360" fill="none">
                  <a:moveTo>
                    <a:pt x="1787" y="264"/>
                  </a:moveTo>
                  <a:lnTo>
                    <a:pt x="1787" y="190"/>
                  </a:lnTo>
                </a:path>
                <a:path w="8200" h="360" fill="none">
                  <a:moveTo>
                    <a:pt x="1856" y="96"/>
                  </a:moveTo>
                  <a:lnTo>
                    <a:pt x="1856" y="170"/>
                  </a:lnTo>
                </a:path>
                <a:path w="8200" h="360" fill="none">
                  <a:moveTo>
                    <a:pt x="1888" y="96"/>
                  </a:moveTo>
                  <a:lnTo>
                    <a:pt x="1888" y="170"/>
                  </a:lnTo>
                </a:path>
                <a:path w="8200" h="360" fill="none">
                  <a:moveTo>
                    <a:pt x="1856" y="264"/>
                  </a:moveTo>
                  <a:lnTo>
                    <a:pt x="1856" y="190"/>
                  </a:lnTo>
                </a:path>
                <a:path w="8200" h="360" fill="none">
                  <a:moveTo>
                    <a:pt x="1888" y="264"/>
                  </a:moveTo>
                  <a:lnTo>
                    <a:pt x="1888" y="190"/>
                  </a:lnTo>
                </a:path>
                <a:path w="8200" h="360" fill="none">
                  <a:moveTo>
                    <a:pt x="1958" y="96"/>
                  </a:moveTo>
                  <a:lnTo>
                    <a:pt x="1958" y="170"/>
                  </a:lnTo>
                </a:path>
                <a:path w="8200" h="360" fill="none">
                  <a:moveTo>
                    <a:pt x="1990" y="96"/>
                  </a:moveTo>
                  <a:lnTo>
                    <a:pt x="1990" y="170"/>
                  </a:lnTo>
                </a:path>
                <a:path w="8200" h="360" fill="none">
                  <a:moveTo>
                    <a:pt x="1958" y="264"/>
                  </a:moveTo>
                  <a:lnTo>
                    <a:pt x="1958" y="190"/>
                  </a:lnTo>
                </a:path>
                <a:path w="8200" h="360" fill="none">
                  <a:moveTo>
                    <a:pt x="1990" y="264"/>
                  </a:moveTo>
                  <a:lnTo>
                    <a:pt x="1990" y="190"/>
                  </a:lnTo>
                </a:path>
                <a:path w="8200" h="360" fill="none">
                  <a:moveTo>
                    <a:pt x="2059" y="96"/>
                  </a:moveTo>
                  <a:lnTo>
                    <a:pt x="2059" y="170"/>
                  </a:lnTo>
                </a:path>
                <a:path w="8200" h="360" fill="none">
                  <a:moveTo>
                    <a:pt x="2091" y="96"/>
                  </a:moveTo>
                  <a:lnTo>
                    <a:pt x="2091" y="170"/>
                  </a:lnTo>
                </a:path>
                <a:path w="8200" h="360" fill="none">
                  <a:moveTo>
                    <a:pt x="2059" y="264"/>
                  </a:moveTo>
                  <a:lnTo>
                    <a:pt x="2059" y="190"/>
                  </a:lnTo>
                </a:path>
                <a:path w="8200" h="360" fill="none">
                  <a:moveTo>
                    <a:pt x="2091" y="264"/>
                  </a:moveTo>
                  <a:lnTo>
                    <a:pt x="2091" y="190"/>
                  </a:lnTo>
                </a:path>
                <a:path w="8200" h="360" fill="none">
                  <a:moveTo>
                    <a:pt x="2160" y="96"/>
                  </a:moveTo>
                  <a:lnTo>
                    <a:pt x="2160" y="170"/>
                  </a:lnTo>
                </a:path>
                <a:path w="8200" h="360" fill="none">
                  <a:moveTo>
                    <a:pt x="2192" y="96"/>
                  </a:moveTo>
                  <a:lnTo>
                    <a:pt x="2192" y="170"/>
                  </a:lnTo>
                </a:path>
                <a:path w="8200" h="360" fill="none">
                  <a:moveTo>
                    <a:pt x="2160" y="264"/>
                  </a:moveTo>
                  <a:lnTo>
                    <a:pt x="2160" y="190"/>
                  </a:lnTo>
                </a:path>
                <a:path w="8200" h="360" fill="none">
                  <a:moveTo>
                    <a:pt x="2192" y="264"/>
                  </a:moveTo>
                  <a:lnTo>
                    <a:pt x="2192" y="190"/>
                  </a:lnTo>
                </a:path>
                <a:path w="8200" h="360" fill="none">
                  <a:moveTo>
                    <a:pt x="2261" y="96"/>
                  </a:moveTo>
                  <a:lnTo>
                    <a:pt x="2261" y="170"/>
                  </a:lnTo>
                </a:path>
                <a:path w="8200" h="360" fill="none">
                  <a:moveTo>
                    <a:pt x="2293" y="96"/>
                  </a:moveTo>
                  <a:lnTo>
                    <a:pt x="2293" y="170"/>
                  </a:lnTo>
                </a:path>
                <a:path w="8200" h="360" fill="none">
                  <a:moveTo>
                    <a:pt x="2261" y="264"/>
                  </a:moveTo>
                  <a:lnTo>
                    <a:pt x="2261" y="190"/>
                  </a:lnTo>
                </a:path>
                <a:path w="8200" h="360" fill="none">
                  <a:moveTo>
                    <a:pt x="2293" y="264"/>
                  </a:moveTo>
                  <a:lnTo>
                    <a:pt x="2293" y="190"/>
                  </a:lnTo>
                </a:path>
                <a:path w="8200" h="360" fill="none">
                  <a:moveTo>
                    <a:pt x="2363" y="96"/>
                  </a:moveTo>
                  <a:lnTo>
                    <a:pt x="2363" y="170"/>
                  </a:lnTo>
                </a:path>
                <a:path w="8200" h="360" fill="none">
                  <a:moveTo>
                    <a:pt x="2395" y="96"/>
                  </a:moveTo>
                  <a:lnTo>
                    <a:pt x="2395" y="170"/>
                  </a:lnTo>
                </a:path>
                <a:path w="8200" h="360" fill="none">
                  <a:moveTo>
                    <a:pt x="2363" y="264"/>
                  </a:moveTo>
                  <a:lnTo>
                    <a:pt x="2363" y="190"/>
                  </a:lnTo>
                </a:path>
                <a:path w="8200" h="360" fill="none">
                  <a:moveTo>
                    <a:pt x="2395" y="264"/>
                  </a:moveTo>
                  <a:lnTo>
                    <a:pt x="2395" y="190"/>
                  </a:lnTo>
                </a:path>
                <a:path w="8200" h="360" fill="none">
                  <a:moveTo>
                    <a:pt x="2464" y="96"/>
                  </a:moveTo>
                  <a:lnTo>
                    <a:pt x="2464" y="170"/>
                  </a:lnTo>
                </a:path>
                <a:path w="8200" h="360" fill="none">
                  <a:moveTo>
                    <a:pt x="2496" y="96"/>
                  </a:moveTo>
                  <a:lnTo>
                    <a:pt x="2496" y="170"/>
                  </a:lnTo>
                </a:path>
                <a:path w="8200" h="360" fill="none">
                  <a:moveTo>
                    <a:pt x="2464" y="264"/>
                  </a:moveTo>
                  <a:lnTo>
                    <a:pt x="2464" y="190"/>
                  </a:lnTo>
                </a:path>
                <a:path w="8200" h="360" fill="none">
                  <a:moveTo>
                    <a:pt x="2496" y="264"/>
                  </a:moveTo>
                  <a:lnTo>
                    <a:pt x="2496" y="190"/>
                  </a:lnTo>
                </a:path>
                <a:path w="8200" h="360" fill="none">
                  <a:moveTo>
                    <a:pt x="2565" y="96"/>
                  </a:moveTo>
                  <a:lnTo>
                    <a:pt x="2565" y="170"/>
                  </a:lnTo>
                </a:path>
                <a:path w="8200" h="360" fill="none">
                  <a:moveTo>
                    <a:pt x="2597" y="96"/>
                  </a:moveTo>
                  <a:lnTo>
                    <a:pt x="2597" y="170"/>
                  </a:lnTo>
                </a:path>
                <a:path w="8200" h="360" fill="none">
                  <a:moveTo>
                    <a:pt x="2565" y="264"/>
                  </a:moveTo>
                  <a:lnTo>
                    <a:pt x="2565" y="190"/>
                  </a:lnTo>
                </a:path>
                <a:path w="8200" h="360" fill="none">
                  <a:moveTo>
                    <a:pt x="2597" y="264"/>
                  </a:moveTo>
                  <a:lnTo>
                    <a:pt x="2597" y="190"/>
                  </a:lnTo>
                </a:path>
                <a:path w="8200" h="360" fill="none">
                  <a:moveTo>
                    <a:pt x="2666" y="96"/>
                  </a:moveTo>
                  <a:lnTo>
                    <a:pt x="2666" y="170"/>
                  </a:lnTo>
                </a:path>
                <a:path w="8200" h="360" fill="none">
                  <a:moveTo>
                    <a:pt x="2698" y="96"/>
                  </a:moveTo>
                  <a:lnTo>
                    <a:pt x="2698" y="170"/>
                  </a:lnTo>
                </a:path>
                <a:path w="8200" h="360" fill="none">
                  <a:moveTo>
                    <a:pt x="2666" y="264"/>
                  </a:moveTo>
                  <a:lnTo>
                    <a:pt x="2666" y="190"/>
                  </a:lnTo>
                </a:path>
                <a:path w="8200" h="360" fill="none">
                  <a:moveTo>
                    <a:pt x="2698" y="264"/>
                  </a:moveTo>
                  <a:lnTo>
                    <a:pt x="2698" y="190"/>
                  </a:lnTo>
                </a:path>
                <a:path w="8200" h="360" fill="none">
                  <a:moveTo>
                    <a:pt x="2767" y="96"/>
                  </a:moveTo>
                  <a:lnTo>
                    <a:pt x="2767" y="170"/>
                  </a:lnTo>
                </a:path>
                <a:path w="8200" h="360" fill="none">
                  <a:moveTo>
                    <a:pt x="2799" y="96"/>
                  </a:moveTo>
                  <a:lnTo>
                    <a:pt x="2799" y="170"/>
                  </a:lnTo>
                </a:path>
                <a:path w="8200" h="360" fill="none">
                  <a:moveTo>
                    <a:pt x="2767" y="264"/>
                  </a:moveTo>
                  <a:lnTo>
                    <a:pt x="2767" y="190"/>
                  </a:lnTo>
                </a:path>
                <a:path w="8200" h="360" fill="none">
                  <a:moveTo>
                    <a:pt x="2799" y="264"/>
                  </a:moveTo>
                  <a:lnTo>
                    <a:pt x="2799" y="190"/>
                  </a:lnTo>
                </a:path>
                <a:path w="8200" h="360" fill="none">
                  <a:moveTo>
                    <a:pt x="2869" y="96"/>
                  </a:moveTo>
                  <a:lnTo>
                    <a:pt x="2869" y="170"/>
                  </a:lnTo>
                </a:path>
                <a:path w="8200" h="360" fill="none">
                  <a:moveTo>
                    <a:pt x="2901" y="96"/>
                  </a:moveTo>
                  <a:lnTo>
                    <a:pt x="2901" y="170"/>
                  </a:lnTo>
                </a:path>
                <a:path w="8200" h="360" fill="none">
                  <a:moveTo>
                    <a:pt x="2869" y="264"/>
                  </a:moveTo>
                  <a:lnTo>
                    <a:pt x="2869" y="190"/>
                  </a:lnTo>
                </a:path>
                <a:path w="8200" h="360" fill="none">
                  <a:moveTo>
                    <a:pt x="2901" y="264"/>
                  </a:moveTo>
                  <a:lnTo>
                    <a:pt x="2901" y="190"/>
                  </a:lnTo>
                </a:path>
                <a:path w="8200" h="360" fill="none">
                  <a:moveTo>
                    <a:pt x="2970" y="96"/>
                  </a:moveTo>
                  <a:lnTo>
                    <a:pt x="2970" y="170"/>
                  </a:lnTo>
                </a:path>
                <a:path w="8200" h="360" fill="none">
                  <a:moveTo>
                    <a:pt x="3002" y="96"/>
                  </a:moveTo>
                  <a:lnTo>
                    <a:pt x="3002" y="170"/>
                  </a:lnTo>
                </a:path>
                <a:path w="8200" h="360" fill="none">
                  <a:moveTo>
                    <a:pt x="2970" y="264"/>
                  </a:moveTo>
                  <a:lnTo>
                    <a:pt x="2970" y="190"/>
                  </a:lnTo>
                </a:path>
                <a:path w="8200" h="360" fill="none">
                  <a:moveTo>
                    <a:pt x="3002" y="264"/>
                  </a:moveTo>
                  <a:lnTo>
                    <a:pt x="3002" y="190"/>
                  </a:lnTo>
                </a:path>
                <a:path w="8200" h="360" fill="none">
                  <a:moveTo>
                    <a:pt x="3071" y="96"/>
                  </a:moveTo>
                  <a:lnTo>
                    <a:pt x="3071" y="170"/>
                  </a:lnTo>
                </a:path>
                <a:path w="8200" h="360" fill="none">
                  <a:moveTo>
                    <a:pt x="3103" y="96"/>
                  </a:moveTo>
                  <a:lnTo>
                    <a:pt x="3103" y="170"/>
                  </a:lnTo>
                </a:path>
                <a:path w="8200" h="360" fill="none">
                  <a:moveTo>
                    <a:pt x="3071" y="264"/>
                  </a:moveTo>
                  <a:lnTo>
                    <a:pt x="3071" y="190"/>
                  </a:lnTo>
                </a:path>
                <a:path w="8200" h="360" fill="none">
                  <a:moveTo>
                    <a:pt x="3103" y="264"/>
                  </a:moveTo>
                  <a:lnTo>
                    <a:pt x="3103" y="190"/>
                  </a:lnTo>
                </a:path>
                <a:path w="8200" h="360" fill="none">
                  <a:moveTo>
                    <a:pt x="3172" y="96"/>
                  </a:moveTo>
                  <a:lnTo>
                    <a:pt x="3172" y="170"/>
                  </a:lnTo>
                </a:path>
                <a:path w="8200" h="360" fill="none">
                  <a:moveTo>
                    <a:pt x="3204" y="96"/>
                  </a:moveTo>
                  <a:lnTo>
                    <a:pt x="3204" y="170"/>
                  </a:lnTo>
                </a:path>
                <a:path w="8200" h="360" fill="none">
                  <a:moveTo>
                    <a:pt x="3172" y="264"/>
                  </a:moveTo>
                  <a:lnTo>
                    <a:pt x="3172" y="190"/>
                  </a:lnTo>
                </a:path>
                <a:path w="8200" h="360" fill="none">
                  <a:moveTo>
                    <a:pt x="3204" y="264"/>
                  </a:moveTo>
                  <a:lnTo>
                    <a:pt x="3204" y="190"/>
                  </a:lnTo>
                </a:path>
                <a:path w="8200" h="360" fill="none">
                  <a:moveTo>
                    <a:pt x="3274" y="96"/>
                  </a:moveTo>
                  <a:lnTo>
                    <a:pt x="3274" y="170"/>
                  </a:lnTo>
                </a:path>
                <a:path w="8200" h="360" fill="none">
                  <a:moveTo>
                    <a:pt x="3306" y="96"/>
                  </a:moveTo>
                  <a:lnTo>
                    <a:pt x="3306" y="170"/>
                  </a:lnTo>
                </a:path>
                <a:path w="8200" h="360" fill="none">
                  <a:moveTo>
                    <a:pt x="3274" y="264"/>
                  </a:moveTo>
                  <a:lnTo>
                    <a:pt x="3274" y="190"/>
                  </a:lnTo>
                </a:path>
                <a:path w="8200" h="360" fill="none">
                  <a:moveTo>
                    <a:pt x="3306" y="264"/>
                  </a:moveTo>
                  <a:lnTo>
                    <a:pt x="3306" y="190"/>
                  </a:lnTo>
                </a:path>
                <a:path w="8200" h="360" fill="none">
                  <a:moveTo>
                    <a:pt x="3375" y="96"/>
                  </a:moveTo>
                  <a:lnTo>
                    <a:pt x="3375" y="170"/>
                  </a:lnTo>
                </a:path>
                <a:path w="8200" h="360" fill="none">
                  <a:moveTo>
                    <a:pt x="3407" y="96"/>
                  </a:moveTo>
                  <a:lnTo>
                    <a:pt x="3407" y="170"/>
                  </a:lnTo>
                </a:path>
                <a:path w="8200" h="360" fill="none">
                  <a:moveTo>
                    <a:pt x="3375" y="264"/>
                  </a:moveTo>
                  <a:lnTo>
                    <a:pt x="3375" y="190"/>
                  </a:lnTo>
                </a:path>
                <a:path w="8200" h="360" fill="none">
                  <a:moveTo>
                    <a:pt x="3407" y="264"/>
                  </a:moveTo>
                  <a:lnTo>
                    <a:pt x="3407" y="190"/>
                  </a:lnTo>
                </a:path>
                <a:path w="8200" h="360" fill="none">
                  <a:moveTo>
                    <a:pt x="3476" y="96"/>
                  </a:moveTo>
                  <a:lnTo>
                    <a:pt x="3476" y="170"/>
                  </a:lnTo>
                </a:path>
                <a:path w="8200" h="360" fill="none">
                  <a:moveTo>
                    <a:pt x="3508" y="96"/>
                  </a:moveTo>
                  <a:lnTo>
                    <a:pt x="3508" y="170"/>
                  </a:lnTo>
                </a:path>
                <a:path w="8200" h="360" fill="none">
                  <a:moveTo>
                    <a:pt x="3476" y="264"/>
                  </a:moveTo>
                  <a:lnTo>
                    <a:pt x="3476" y="190"/>
                  </a:lnTo>
                </a:path>
                <a:path w="8200" h="360" fill="none">
                  <a:moveTo>
                    <a:pt x="3508" y="264"/>
                  </a:moveTo>
                  <a:lnTo>
                    <a:pt x="3508" y="190"/>
                  </a:lnTo>
                </a:path>
                <a:path w="8200" h="360" fill="none">
                  <a:moveTo>
                    <a:pt x="3577" y="96"/>
                  </a:moveTo>
                  <a:lnTo>
                    <a:pt x="3577" y="170"/>
                  </a:lnTo>
                </a:path>
                <a:path w="8200" h="360" fill="none">
                  <a:moveTo>
                    <a:pt x="3609" y="96"/>
                  </a:moveTo>
                  <a:lnTo>
                    <a:pt x="3609" y="170"/>
                  </a:lnTo>
                </a:path>
                <a:path w="8200" h="360" fill="none">
                  <a:moveTo>
                    <a:pt x="3577" y="264"/>
                  </a:moveTo>
                  <a:lnTo>
                    <a:pt x="3577" y="190"/>
                  </a:lnTo>
                </a:path>
                <a:path w="8200" h="360" fill="none">
                  <a:moveTo>
                    <a:pt x="3609" y="264"/>
                  </a:moveTo>
                  <a:lnTo>
                    <a:pt x="3609" y="190"/>
                  </a:lnTo>
                </a:path>
                <a:path w="8200" h="360" fill="none">
                  <a:moveTo>
                    <a:pt x="3679" y="96"/>
                  </a:moveTo>
                  <a:lnTo>
                    <a:pt x="3679" y="170"/>
                  </a:lnTo>
                </a:path>
                <a:path w="8200" h="360" fill="none">
                  <a:moveTo>
                    <a:pt x="3711" y="96"/>
                  </a:moveTo>
                  <a:lnTo>
                    <a:pt x="3711" y="170"/>
                  </a:lnTo>
                </a:path>
                <a:path w="8200" h="360" fill="none">
                  <a:moveTo>
                    <a:pt x="3679" y="264"/>
                  </a:moveTo>
                  <a:lnTo>
                    <a:pt x="3679" y="190"/>
                  </a:lnTo>
                </a:path>
                <a:path w="8200" h="360" fill="none">
                  <a:moveTo>
                    <a:pt x="3711" y="264"/>
                  </a:moveTo>
                  <a:lnTo>
                    <a:pt x="3711" y="190"/>
                  </a:lnTo>
                </a:path>
                <a:path w="8200" h="360" fill="none">
                  <a:moveTo>
                    <a:pt x="3780" y="96"/>
                  </a:moveTo>
                  <a:lnTo>
                    <a:pt x="3780" y="170"/>
                  </a:lnTo>
                </a:path>
                <a:path w="8200" h="360" fill="none">
                  <a:moveTo>
                    <a:pt x="3812" y="96"/>
                  </a:moveTo>
                  <a:lnTo>
                    <a:pt x="3812" y="170"/>
                  </a:lnTo>
                </a:path>
                <a:path w="8200" h="360" fill="none">
                  <a:moveTo>
                    <a:pt x="3780" y="264"/>
                  </a:moveTo>
                  <a:lnTo>
                    <a:pt x="3780" y="190"/>
                  </a:lnTo>
                </a:path>
                <a:path w="8200" h="360" fill="none">
                  <a:moveTo>
                    <a:pt x="3812" y="264"/>
                  </a:moveTo>
                  <a:lnTo>
                    <a:pt x="3812" y="190"/>
                  </a:lnTo>
                </a:path>
                <a:path w="8200" h="360" fill="none">
                  <a:moveTo>
                    <a:pt x="3881" y="96"/>
                  </a:moveTo>
                  <a:lnTo>
                    <a:pt x="3881" y="170"/>
                  </a:lnTo>
                </a:path>
                <a:path w="8200" h="360" fill="none">
                  <a:moveTo>
                    <a:pt x="3913" y="96"/>
                  </a:moveTo>
                  <a:lnTo>
                    <a:pt x="3913" y="170"/>
                  </a:lnTo>
                </a:path>
                <a:path w="8200" h="360" fill="none">
                  <a:moveTo>
                    <a:pt x="3881" y="264"/>
                  </a:moveTo>
                  <a:lnTo>
                    <a:pt x="3881" y="190"/>
                  </a:lnTo>
                </a:path>
                <a:path w="8200" h="360" fill="none">
                  <a:moveTo>
                    <a:pt x="3913" y="264"/>
                  </a:moveTo>
                  <a:lnTo>
                    <a:pt x="3913" y="190"/>
                  </a:lnTo>
                </a:path>
                <a:path w="8200" h="360" fill="none">
                  <a:moveTo>
                    <a:pt x="3982" y="96"/>
                  </a:moveTo>
                  <a:lnTo>
                    <a:pt x="3982" y="170"/>
                  </a:lnTo>
                </a:path>
                <a:path w="8200" h="360" fill="none">
                  <a:moveTo>
                    <a:pt x="4014" y="96"/>
                  </a:moveTo>
                  <a:lnTo>
                    <a:pt x="4014" y="170"/>
                  </a:lnTo>
                </a:path>
                <a:path w="8200" h="360" fill="none">
                  <a:moveTo>
                    <a:pt x="3982" y="264"/>
                  </a:moveTo>
                  <a:lnTo>
                    <a:pt x="3982" y="190"/>
                  </a:lnTo>
                </a:path>
                <a:path w="8200" h="360" fill="none">
                  <a:moveTo>
                    <a:pt x="4014" y="264"/>
                  </a:moveTo>
                  <a:lnTo>
                    <a:pt x="4014" y="190"/>
                  </a:lnTo>
                </a:path>
                <a:path w="8200" h="360" fill="none">
                  <a:moveTo>
                    <a:pt x="4084" y="96"/>
                  </a:moveTo>
                  <a:lnTo>
                    <a:pt x="4084" y="170"/>
                  </a:lnTo>
                </a:path>
                <a:path w="8200" h="360" fill="none">
                  <a:moveTo>
                    <a:pt x="4116" y="96"/>
                  </a:moveTo>
                  <a:lnTo>
                    <a:pt x="4116" y="170"/>
                  </a:lnTo>
                </a:path>
                <a:path w="8200" h="360" fill="none">
                  <a:moveTo>
                    <a:pt x="4084" y="264"/>
                  </a:moveTo>
                  <a:lnTo>
                    <a:pt x="4084" y="190"/>
                  </a:lnTo>
                </a:path>
                <a:path w="8200" h="360" fill="none">
                  <a:moveTo>
                    <a:pt x="4116" y="264"/>
                  </a:moveTo>
                  <a:lnTo>
                    <a:pt x="4116" y="190"/>
                  </a:lnTo>
                </a:path>
                <a:path w="8200" h="360" fill="none">
                  <a:moveTo>
                    <a:pt x="4185" y="96"/>
                  </a:moveTo>
                  <a:lnTo>
                    <a:pt x="4185" y="170"/>
                  </a:lnTo>
                </a:path>
                <a:path w="8200" h="360" fill="none">
                  <a:moveTo>
                    <a:pt x="4217" y="96"/>
                  </a:moveTo>
                  <a:lnTo>
                    <a:pt x="4217" y="170"/>
                  </a:lnTo>
                </a:path>
                <a:path w="8200" h="360" fill="none">
                  <a:moveTo>
                    <a:pt x="4185" y="264"/>
                  </a:moveTo>
                  <a:lnTo>
                    <a:pt x="4185" y="190"/>
                  </a:lnTo>
                </a:path>
                <a:path w="8200" h="360" fill="none">
                  <a:moveTo>
                    <a:pt x="4217" y="264"/>
                  </a:moveTo>
                  <a:lnTo>
                    <a:pt x="4217" y="190"/>
                  </a:lnTo>
                </a:path>
                <a:path w="8200" h="360" fill="none">
                  <a:moveTo>
                    <a:pt x="4286" y="96"/>
                  </a:moveTo>
                  <a:lnTo>
                    <a:pt x="4286" y="170"/>
                  </a:lnTo>
                </a:path>
                <a:path w="8200" h="360" fill="none">
                  <a:moveTo>
                    <a:pt x="4318" y="96"/>
                  </a:moveTo>
                  <a:lnTo>
                    <a:pt x="4318" y="170"/>
                  </a:lnTo>
                </a:path>
                <a:path w="8200" h="360" fill="none">
                  <a:moveTo>
                    <a:pt x="4286" y="264"/>
                  </a:moveTo>
                  <a:lnTo>
                    <a:pt x="4286" y="190"/>
                  </a:lnTo>
                </a:path>
                <a:path w="8200" h="360" fill="none">
                  <a:moveTo>
                    <a:pt x="4318" y="264"/>
                  </a:moveTo>
                  <a:lnTo>
                    <a:pt x="4318" y="190"/>
                  </a:lnTo>
                </a:path>
                <a:path w="8200" h="360" fill="none">
                  <a:moveTo>
                    <a:pt x="4387" y="96"/>
                  </a:moveTo>
                  <a:lnTo>
                    <a:pt x="4387" y="170"/>
                  </a:lnTo>
                </a:path>
                <a:path w="8200" h="360" fill="none">
                  <a:moveTo>
                    <a:pt x="4419" y="96"/>
                  </a:moveTo>
                  <a:lnTo>
                    <a:pt x="4419" y="170"/>
                  </a:lnTo>
                </a:path>
                <a:path w="8200" h="360" fill="none">
                  <a:moveTo>
                    <a:pt x="4387" y="264"/>
                  </a:moveTo>
                  <a:lnTo>
                    <a:pt x="4387" y="190"/>
                  </a:lnTo>
                </a:path>
                <a:path w="8200" h="360" fill="none">
                  <a:moveTo>
                    <a:pt x="4419" y="264"/>
                  </a:moveTo>
                  <a:lnTo>
                    <a:pt x="4419" y="190"/>
                  </a:lnTo>
                </a:path>
                <a:path w="8200" h="360" fill="none">
                  <a:moveTo>
                    <a:pt x="4488" y="96"/>
                  </a:moveTo>
                  <a:lnTo>
                    <a:pt x="4488" y="170"/>
                  </a:lnTo>
                </a:path>
                <a:path w="8200" h="360" fill="none">
                  <a:moveTo>
                    <a:pt x="4520" y="96"/>
                  </a:moveTo>
                  <a:lnTo>
                    <a:pt x="4520" y="170"/>
                  </a:lnTo>
                </a:path>
                <a:path w="8200" h="360" fill="none">
                  <a:moveTo>
                    <a:pt x="4488" y="264"/>
                  </a:moveTo>
                  <a:lnTo>
                    <a:pt x="4488" y="190"/>
                  </a:lnTo>
                </a:path>
                <a:path w="8200" h="360" fill="none">
                  <a:moveTo>
                    <a:pt x="4520" y="264"/>
                  </a:moveTo>
                  <a:lnTo>
                    <a:pt x="4520" y="190"/>
                  </a:lnTo>
                </a:path>
                <a:path w="8200" h="360" fill="none">
                  <a:moveTo>
                    <a:pt x="4590" y="96"/>
                  </a:moveTo>
                  <a:lnTo>
                    <a:pt x="4590" y="170"/>
                  </a:lnTo>
                </a:path>
                <a:path w="8200" h="360" fill="none">
                  <a:moveTo>
                    <a:pt x="4622" y="96"/>
                  </a:moveTo>
                  <a:lnTo>
                    <a:pt x="4622" y="170"/>
                  </a:lnTo>
                </a:path>
                <a:path w="8200" h="360" fill="none">
                  <a:moveTo>
                    <a:pt x="4590" y="264"/>
                  </a:moveTo>
                  <a:lnTo>
                    <a:pt x="4590" y="190"/>
                  </a:lnTo>
                </a:path>
                <a:path w="8200" h="360" fill="none">
                  <a:moveTo>
                    <a:pt x="4622" y="264"/>
                  </a:moveTo>
                  <a:lnTo>
                    <a:pt x="4622" y="190"/>
                  </a:lnTo>
                </a:path>
                <a:path w="8200" h="360" fill="none">
                  <a:moveTo>
                    <a:pt x="4691" y="96"/>
                  </a:moveTo>
                  <a:lnTo>
                    <a:pt x="4691" y="170"/>
                  </a:lnTo>
                </a:path>
                <a:path w="8200" h="360" fill="none">
                  <a:moveTo>
                    <a:pt x="4723" y="96"/>
                  </a:moveTo>
                  <a:lnTo>
                    <a:pt x="4723" y="170"/>
                  </a:lnTo>
                </a:path>
                <a:path w="8200" h="360" fill="none">
                  <a:moveTo>
                    <a:pt x="4691" y="264"/>
                  </a:moveTo>
                  <a:lnTo>
                    <a:pt x="4691" y="190"/>
                  </a:lnTo>
                </a:path>
                <a:path w="8200" h="360" fill="none">
                  <a:moveTo>
                    <a:pt x="4723" y="264"/>
                  </a:moveTo>
                  <a:lnTo>
                    <a:pt x="4723" y="190"/>
                  </a:lnTo>
                </a:path>
                <a:path w="8200" h="360" fill="none">
                  <a:moveTo>
                    <a:pt x="4792" y="96"/>
                  </a:moveTo>
                  <a:lnTo>
                    <a:pt x="4792" y="170"/>
                  </a:lnTo>
                </a:path>
                <a:path w="8200" h="360" fill="none">
                  <a:moveTo>
                    <a:pt x="4824" y="96"/>
                  </a:moveTo>
                  <a:lnTo>
                    <a:pt x="4824" y="170"/>
                  </a:lnTo>
                </a:path>
                <a:path w="8200" h="360" fill="none">
                  <a:moveTo>
                    <a:pt x="4792" y="264"/>
                  </a:moveTo>
                  <a:lnTo>
                    <a:pt x="4792" y="190"/>
                  </a:lnTo>
                </a:path>
                <a:path w="8200" h="360" fill="none">
                  <a:moveTo>
                    <a:pt x="4824" y="264"/>
                  </a:moveTo>
                  <a:lnTo>
                    <a:pt x="4824" y="190"/>
                  </a:lnTo>
                </a:path>
                <a:path w="8200" h="360" fill="none">
                  <a:moveTo>
                    <a:pt x="4893" y="96"/>
                  </a:moveTo>
                  <a:lnTo>
                    <a:pt x="4893" y="170"/>
                  </a:lnTo>
                </a:path>
                <a:path w="8200" h="360" fill="none">
                  <a:moveTo>
                    <a:pt x="4925" y="96"/>
                  </a:moveTo>
                  <a:lnTo>
                    <a:pt x="4925" y="170"/>
                  </a:lnTo>
                </a:path>
                <a:path w="8200" h="360" fill="none">
                  <a:moveTo>
                    <a:pt x="4893" y="264"/>
                  </a:moveTo>
                  <a:lnTo>
                    <a:pt x="4893" y="190"/>
                  </a:lnTo>
                </a:path>
                <a:path w="8200" h="360" fill="none">
                  <a:moveTo>
                    <a:pt x="4925" y="264"/>
                  </a:moveTo>
                  <a:lnTo>
                    <a:pt x="4925" y="190"/>
                  </a:lnTo>
                </a:path>
                <a:path w="8200" h="360" fill="none">
                  <a:moveTo>
                    <a:pt x="4995" y="96"/>
                  </a:moveTo>
                  <a:lnTo>
                    <a:pt x="4995" y="170"/>
                  </a:lnTo>
                </a:path>
                <a:path w="8200" h="360" fill="none">
                  <a:moveTo>
                    <a:pt x="5027" y="96"/>
                  </a:moveTo>
                  <a:lnTo>
                    <a:pt x="5027" y="170"/>
                  </a:lnTo>
                </a:path>
                <a:path w="8200" h="360" fill="none">
                  <a:moveTo>
                    <a:pt x="4995" y="264"/>
                  </a:moveTo>
                  <a:lnTo>
                    <a:pt x="4995" y="190"/>
                  </a:lnTo>
                </a:path>
                <a:path w="8200" h="360" fill="none">
                  <a:moveTo>
                    <a:pt x="5027" y="264"/>
                  </a:moveTo>
                  <a:lnTo>
                    <a:pt x="5027" y="190"/>
                  </a:lnTo>
                </a:path>
                <a:path w="8200" h="360" fill="none">
                  <a:moveTo>
                    <a:pt x="5096" y="96"/>
                  </a:moveTo>
                  <a:lnTo>
                    <a:pt x="5096" y="170"/>
                  </a:lnTo>
                </a:path>
                <a:path w="8200" h="360" fill="none">
                  <a:moveTo>
                    <a:pt x="5128" y="96"/>
                  </a:moveTo>
                  <a:lnTo>
                    <a:pt x="5128" y="170"/>
                  </a:lnTo>
                </a:path>
                <a:path w="8200" h="360" fill="none">
                  <a:moveTo>
                    <a:pt x="5096" y="264"/>
                  </a:moveTo>
                  <a:lnTo>
                    <a:pt x="5096" y="190"/>
                  </a:lnTo>
                </a:path>
                <a:path w="8200" h="360" fill="none">
                  <a:moveTo>
                    <a:pt x="5128" y="264"/>
                  </a:moveTo>
                  <a:lnTo>
                    <a:pt x="5128" y="190"/>
                  </a:lnTo>
                </a:path>
                <a:path w="8200" h="360" fill="none">
                  <a:moveTo>
                    <a:pt x="5197" y="96"/>
                  </a:moveTo>
                  <a:lnTo>
                    <a:pt x="5197" y="170"/>
                  </a:lnTo>
                </a:path>
                <a:path w="8200" h="360" fill="none">
                  <a:moveTo>
                    <a:pt x="5229" y="96"/>
                  </a:moveTo>
                  <a:lnTo>
                    <a:pt x="5229" y="170"/>
                  </a:lnTo>
                </a:path>
                <a:path w="8200" h="360" fill="none">
                  <a:moveTo>
                    <a:pt x="5197" y="264"/>
                  </a:moveTo>
                  <a:lnTo>
                    <a:pt x="5197" y="190"/>
                  </a:lnTo>
                </a:path>
                <a:path w="8200" h="360" fill="none">
                  <a:moveTo>
                    <a:pt x="5229" y="264"/>
                  </a:moveTo>
                  <a:lnTo>
                    <a:pt x="5229" y="190"/>
                  </a:lnTo>
                </a:path>
                <a:path w="8200" h="360" fill="none">
                  <a:moveTo>
                    <a:pt x="5298" y="96"/>
                  </a:moveTo>
                  <a:lnTo>
                    <a:pt x="5298" y="170"/>
                  </a:lnTo>
                </a:path>
                <a:path w="8200" h="360" fill="none">
                  <a:moveTo>
                    <a:pt x="5330" y="96"/>
                  </a:moveTo>
                  <a:lnTo>
                    <a:pt x="5330" y="170"/>
                  </a:lnTo>
                </a:path>
                <a:path w="8200" h="360" fill="none">
                  <a:moveTo>
                    <a:pt x="5298" y="264"/>
                  </a:moveTo>
                  <a:lnTo>
                    <a:pt x="5298" y="190"/>
                  </a:lnTo>
                </a:path>
                <a:path w="8200" h="360" fill="none">
                  <a:moveTo>
                    <a:pt x="5330" y="264"/>
                  </a:moveTo>
                  <a:lnTo>
                    <a:pt x="5330" y="190"/>
                  </a:lnTo>
                </a:path>
                <a:path w="8200" h="360" fill="none">
                  <a:moveTo>
                    <a:pt x="5400" y="96"/>
                  </a:moveTo>
                  <a:lnTo>
                    <a:pt x="5400" y="170"/>
                  </a:lnTo>
                </a:path>
                <a:path w="8200" h="360" fill="none">
                  <a:moveTo>
                    <a:pt x="5432" y="96"/>
                  </a:moveTo>
                  <a:lnTo>
                    <a:pt x="5432" y="170"/>
                  </a:lnTo>
                </a:path>
                <a:path w="8200" h="360" fill="none">
                  <a:moveTo>
                    <a:pt x="5400" y="264"/>
                  </a:moveTo>
                  <a:lnTo>
                    <a:pt x="5400" y="190"/>
                  </a:lnTo>
                </a:path>
                <a:path w="8200" h="360" fill="none">
                  <a:moveTo>
                    <a:pt x="5432" y="264"/>
                  </a:moveTo>
                  <a:lnTo>
                    <a:pt x="5432" y="190"/>
                  </a:lnTo>
                </a:path>
                <a:path w="8200" h="360" fill="none">
                  <a:moveTo>
                    <a:pt x="5501" y="96"/>
                  </a:moveTo>
                  <a:lnTo>
                    <a:pt x="5501" y="170"/>
                  </a:lnTo>
                </a:path>
                <a:path w="8200" h="360" fill="none">
                  <a:moveTo>
                    <a:pt x="5533" y="96"/>
                  </a:moveTo>
                  <a:lnTo>
                    <a:pt x="5533" y="170"/>
                  </a:lnTo>
                </a:path>
                <a:path w="8200" h="360" fill="none">
                  <a:moveTo>
                    <a:pt x="5501" y="264"/>
                  </a:moveTo>
                  <a:lnTo>
                    <a:pt x="5501" y="190"/>
                  </a:lnTo>
                </a:path>
                <a:path w="8200" h="360" fill="none">
                  <a:moveTo>
                    <a:pt x="5533" y="264"/>
                  </a:moveTo>
                  <a:lnTo>
                    <a:pt x="5533" y="190"/>
                  </a:lnTo>
                </a:path>
                <a:path w="8200" h="360" fill="none">
                  <a:moveTo>
                    <a:pt x="5602" y="96"/>
                  </a:moveTo>
                  <a:lnTo>
                    <a:pt x="5602" y="170"/>
                  </a:lnTo>
                </a:path>
                <a:path w="8200" h="360" fill="none">
                  <a:moveTo>
                    <a:pt x="5634" y="96"/>
                  </a:moveTo>
                  <a:lnTo>
                    <a:pt x="5634" y="170"/>
                  </a:lnTo>
                </a:path>
                <a:path w="8200" h="360" fill="none">
                  <a:moveTo>
                    <a:pt x="5602" y="264"/>
                  </a:moveTo>
                  <a:lnTo>
                    <a:pt x="5602" y="190"/>
                  </a:lnTo>
                </a:path>
                <a:path w="8200" h="360" fill="none">
                  <a:moveTo>
                    <a:pt x="5634" y="264"/>
                  </a:moveTo>
                  <a:lnTo>
                    <a:pt x="5634" y="190"/>
                  </a:lnTo>
                </a:path>
                <a:path w="8200" h="360" fill="none">
                  <a:moveTo>
                    <a:pt x="5703" y="96"/>
                  </a:moveTo>
                  <a:lnTo>
                    <a:pt x="5703" y="170"/>
                  </a:lnTo>
                </a:path>
                <a:path w="8200" h="360" fill="none">
                  <a:moveTo>
                    <a:pt x="5735" y="96"/>
                  </a:moveTo>
                  <a:lnTo>
                    <a:pt x="5735" y="170"/>
                  </a:lnTo>
                </a:path>
                <a:path w="8200" h="360" fill="none">
                  <a:moveTo>
                    <a:pt x="5703" y="264"/>
                  </a:moveTo>
                  <a:lnTo>
                    <a:pt x="5703" y="190"/>
                  </a:lnTo>
                </a:path>
                <a:path w="8200" h="360" fill="none">
                  <a:moveTo>
                    <a:pt x="5735" y="264"/>
                  </a:moveTo>
                  <a:lnTo>
                    <a:pt x="5735" y="190"/>
                  </a:lnTo>
                </a:path>
                <a:path w="8200" h="360" fill="none">
                  <a:moveTo>
                    <a:pt x="5804" y="96"/>
                  </a:moveTo>
                  <a:lnTo>
                    <a:pt x="5804" y="170"/>
                  </a:lnTo>
                </a:path>
                <a:path w="8200" h="360" fill="none">
                  <a:moveTo>
                    <a:pt x="5836" y="96"/>
                  </a:moveTo>
                  <a:lnTo>
                    <a:pt x="5836" y="170"/>
                  </a:lnTo>
                </a:path>
                <a:path w="8200" h="360" fill="none">
                  <a:moveTo>
                    <a:pt x="5804" y="264"/>
                  </a:moveTo>
                  <a:lnTo>
                    <a:pt x="5804" y="190"/>
                  </a:lnTo>
                </a:path>
                <a:path w="8200" h="360" fill="none">
                  <a:moveTo>
                    <a:pt x="5836" y="264"/>
                  </a:moveTo>
                  <a:lnTo>
                    <a:pt x="5836" y="190"/>
                  </a:lnTo>
                </a:path>
                <a:path w="8200" h="360" fill="none">
                  <a:moveTo>
                    <a:pt x="5906" y="96"/>
                  </a:moveTo>
                  <a:lnTo>
                    <a:pt x="5906" y="170"/>
                  </a:lnTo>
                </a:path>
                <a:path w="8200" h="360" fill="none">
                  <a:moveTo>
                    <a:pt x="5938" y="96"/>
                  </a:moveTo>
                  <a:lnTo>
                    <a:pt x="5938" y="170"/>
                  </a:lnTo>
                </a:path>
                <a:path w="8200" h="360" fill="none">
                  <a:moveTo>
                    <a:pt x="5906" y="264"/>
                  </a:moveTo>
                  <a:lnTo>
                    <a:pt x="5906" y="190"/>
                  </a:lnTo>
                </a:path>
                <a:path w="8200" h="360" fill="none">
                  <a:moveTo>
                    <a:pt x="5938" y="264"/>
                  </a:moveTo>
                  <a:lnTo>
                    <a:pt x="5938" y="190"/>
                  </a:lnTo>
                </a:path>
                <a:path w="8200" h="360" fill="none">
                  <a:moveTo>
                    <a:pt x="6007" y="96"/>
                  </a:moveTo>
                  <a:lnTo>
                    <a:pt x="6007" y="170"/>
                  </a:lnTo>
                </a:path>
                <a:path w="8200" h="360" fill="none">
                  <a:moveTo>
                    <a:pt x="6039" y="96"/>
                  </a:moveTo>
                  <a:lnTo>
                    <a:pt x="6039" y="170"/>
                  </a:lnTo>
                </a:path>
                <a:path w="8200" h="360" fill="none">
                  <a:moveTo>
                    <a:pt x="6007" y="264"/>
                  </a:moveTo>
                  <a:lnTo>
                    <a:pt x="6007" y="190"/>
                  </a:lnTo>
                </a:path>
                <a:path w="8200" h="360" fill="none">
                  <a:moveTo>
                    <a:pt x="6039" y="264"/>
                  </a:moveTo>
                  <a:lnTo>
                    <a:pt x="6039" y="190"/>
                  </a:lnTo>
                </a:path>
                <a:path w="8200" h="360" fill="none">
                  <a:moveTo>
                    <a:pt x="6108" y="96"/>
                  </a:moveTo>
                  <a:lnTo>
                    <a:pt x="6108" y="170"/>
                  </a:lnTo>
                </a:path>
                <a:path w="8200" h="360" fill="none">
                  <a:moveTo>
                    <a:pt x="6140" y="96"/>
                  </a:moveTo>
                  <a:lnTo>
                    <a:pt x="6140" y="170"/>
                  </a:lnTo>
                </a:path>
                <a:path w="8200" h="360" fill="none">
                  <a:moveTo>
                    <a:pt x="6108" y="264"/>
                  </a:moveTo>
                  <a:lnTo>
                    <a:pt x="6108" y="190"/>
                  </a:lnTo>
                </a:path>
                <a:path w="8200" h="360" fill="none">
                  <a:moveTo>
                    <a:pt x="6140" y="264"/>
                  </a:moveTo>
                  <a:lnTo>
                    <a:pt x="6140" y="190"/>
                  </a:lnTo>
                </a:path>
                <a:path w="8200" h="360" fill="none">
                  <a:moveTo>
                    <a:pt x="6209" y="96"/>
                  </a:moveTo>
                  <a:lnTo>
                    <a:pt x="6209" y="170"/>
                  </a:lnTo>
                </a:path>
                <a:path w="8200" h="360" fill="none">
                  <a:moveTo>
                    <a:pt x="6241" y="96"/>
                  </a:moveTo>
                  <a:lnTo>
                    <a:pt x="6241" y="170"/>
                  </a:lnTo>
                </a:path>
                <a:path w="8200" h="360" fill="none">
                  <a:moveTo>
                    <a:pt x="6209" y="264"/>
                  </a:moveTo>
                  <a:lnTo>
                    <a:pt x="6209" y="190"/>
                  </a:lnTo>
                </a:path>
                <a:path w="8200" h="360" fill="none">
                  <a:moveTo>
                    <a:pt x="6241" y="264"/>
                  </a:moveTo>
                  <a:lnTo>
                    <a:pt x="6241" y="190"/>
                  </a:lnTo>
                </a:path>
                <a:path w="8200" h="360" fill="none">
                  <a:moveTo>
                    <a:pt x="6311" y="96"/>
                  </a:moveTo>
                  <a:lnTo>
                    <a:pt x="6311" y="170"/>
                  </a:lnTo>
                </a:path>
                <a:path w="8200" h="360" fill="none">
                  <a:moveTo>
                    <a:pt x="6343" y="96"/>
                  </a:moveTo>
                  <a:lnTo>
                    <a:pt x="6343" y="170"/>
                  </a:lnTo>
                </a:path>
                <a:path w="8200" h="360" fill="none">
                  <a:moveTo>
                    <a:pt x="6311" y="264"/>
                  </a:moveTo>
                  <a:lnTo>
                    <a:pt x="6311" y="190"/>
                  </a:lnTo>
                </a:path>
                <a:path w="8200" h="360" fill="none">
                  <a:moveTo>
                    <a:pt x="6343" y="264"/>
                  </a:moveTo>
                  <a:lnTo>
                    <a:pt x="6343" y="190"/>
                  </a:lnTo>
                </a:path>
                <a:path w="8200" h="360" fill="none">
                  <a:moveTo>
                    <a:pt x="6412" y="96"/>
                  </a:moveTo>
                  <a:lnTo>
                    <a:pt x="6412" y="170"/>
                  </a:lnTo>
                </a:path>
                <a:path w="8200" h="360" fill="none">
                  <a:moveTo>
                    <a:pt x="6444" y="96"/>
                  </a:moveTo>
                  <a:lnTo>
                    <a:pt x="6444" y="170"/>
                  </a:lnTo>
                </a:path>
                <a:path w="8200" h="360" fill="none">
                  <a:moveTo>
                    <a:pt x="6412" y="264"/>
                  </a:moveTo>
                  <a:lnTo>
                    <a:pt x="6412" y="190"/>
                  </a:lnTo>
                </a:path>
                <a:path w="8200" h="360" fill="none">
                  <a:moveTo>
                    <a:pt x="6444" y="264"/>
                  </a:moveTo>
                  <a:lnTo>
                    <a:pt x="6444" y="190"/>
                  </a:lnTo>
                </a:path>
                <a:path w="8200" h="360" fill="none">
                  <a:moveTo>
                    <a:pt x="6513" y="96"/>
                  </a:moveTo>
                  <a:lnTo>
                    <a:pt x="6513" y="170"/>
                  </a:lnTo>
                </a:path>
                <a:path w="8200" h="360" fill="none">
                  <a:moveTo>
                    <a:pt x="6545" y="96"/>
                  </a:moveTo>
                  <a:lnTo>
                    <a:pt x="6545" y="170"/>
                  </a:lnTo>
                </a:path>
                <a:path w="8200" h="360" fill="none">
                  <a:moveTo>
                    <a:pt x="6513" y="264"/>
                  </a:moveTo>
                  <a:lnTo>
                    <a:pt x="6513" y="190"/>
                  </a:lnTo>
                </a:path>
                <a:path w="8200" h="360" fill="none">
                  <a:moveTo>
                    <a:pt x="6545" y="264"/>
                  </a:moveTo>
                  <a:lnTo>
                    <a:pt x="6545" y="190"/>
                  </a:lnTo>
                </a:path>
                <a:path w="8200" h="360" fill="none">
                  <a:moveTo>
                    <a:pt x="6614" y="96"/>
                  </a:moveTo>
                  <a:lnTo>
                    <a:pt x="6614" y="170"/>
                  </a:lnTo>
                </a:path>
                <a:path w="8200" h="360" fill="none">
                  <a:moveTo>
                    <a:pt x="6646" y="96"/>
                  </a:moveTo>
                  <a:lnTo>
                    <a:pt x="6646" y="170"/>
                  </a:lnTo>
                </a:path>
                <a:path w="8200" h="360" fill="none">
                  <a:moveTo>
                    <a:pt x="6614" y="264"/>
                  </a:moveTo>
                  <a:lnTo>
                    <a:pt x="6614" y="190"/>
                  </a:lnTo>
                </a:path>
                <a:path w="8200" h="360" fill="none">
                  <a:moveTo>
                    <a:pt x="6646" y="264"/>
                  </a:moveTo>
                  <a:lnTo>
                    <a:pt x="6646" y="190"/>
                  </a:lnTo>
                </a:path>
                <a:path w="8200" h="360" fill="none">
                  <a:moveTo>
                    <a:pt x="6716" y="96"/>
                  </a:moveTo>
                  <a:lnTo>
                    <a:pt x="6716" y="170"/>
                  </a:lnTo>
                </a:path>
                <a:path w="8200" h="360" fill="none">
                  <a:moveTo>
                    <a:pt x="6748" y="96"/>
                  </a:moveTo>
                  <a:lnTo>
                    <a:pt x="6748" y="170"/>
                  </a:lnTo>
                </a:path>
                <a:path w="8200" h="360" fill="none">
                  <a:moveTo>
                    <a:pt x="6716" y="264"/>
                  </a:moveTo>
                  <a:lnTo>
                    <a:pt x="6716" y="190"/>
                  </a:lnTo>
                </a:path>
                <a:path w="8200" h="360" fill="none">
                  <a:moveTo>
                    <a:pt x="6748" y="264"/>
                  </a:moveTo>
                  <a:lnTo>
                    <a:pt x="6748" y="190"/>
                  </a:lnTo>
                </a:path>
                <a:path w="8200" h="360" fill="none">
                  <a:moveTo>
                    <a:pt x="6817" y="96"/>
                  </a:moveTo>
                  <a:lnTo>
                    <a:pt x="6817" y="170"/>
                  </a:lnTo>
                </a:path>
                <a:path w="8200" h="360" fill="none">
                  <a:moveTo>
                    <a:pt x="6849" y="96"/>
                  </a:moveTo>
                  <a:lnTo>
                    <a:pt x="6849" y="170"/>
                  </a:lnTo>
                </a:path>
                <a:path w="8200" h="360" fill="none">
                  <a:moveTo>
                    <a:pt x="6817" y="264"/>
                  </a:moveTo>
                  <a:lnTo>
                    <a:pt x="6817" y="190"/>
                  </a:lnTo>
                </a:path>
                <a:path w="8200" h="360" fill="none">
                  <a:moveTo>
                    <a:pt x="6849" y="264"/>
                  </a:moveTo>
                  <a:lnTo>
                    <a:pt x="6849" y="190"/>
                  </a:lnTo>
                </a:path>
                <a:path w="8200" h="360" fill="none">
                  <a:moveTo>
                    <a:pt x="6918" y="96"/>
                  </a:moveTo>
                  <a:lnTo>
                    <a:pt x="6918" y="170"/>
                  </a:lnTo>
                </a:path>
                <a:path w="8200" h="360" fill="none">
                  <a:moveTo>
                    <a:pt x="6950" y="96"/>
                  </a:moveTo>
                  <a:lnTo>
                    <a:pt x="6950" y="170"/>
                  </a:lnTo>
                </a:path>
                <a:path w="8200" h="360" fill="none">
                  <a:moveTo>
                    <a:pt x="6918" y="264"/>
                  </a:moveTo>
                  <a:lnTo>
                    <a:pt x="6918" y="190"/>
                  </a:lnTo>
                </a:path>
                <a:path w="8200" h="360" fill="none">
                  <a:moveTo>
                    <a:pt x="6950" y="264"/>
                  </a:moveTo>
                  <a:lnTo>
                    <a:pt x="6950" y="190"/>
                  </a:lnTo>
                </a:path>
                <a:path w="8200" h="360" fill="none">
                  <a:moveTo>
                    <a:pt x="7019" y="96"/>
                  </a:moveTo>
                  <a:lnTo>
                    <a:pt x="7019" y="170"/>
                  </a:lnTo>
                </a:path>
                <a:path w="8200" h="360" fill="none">
                  <a:moveTo>
                    <a:pt x="7051" y="96"/>
                  </a:moveTo>
                  <a:lnTo>
                    <a:pt x="7051" y="170"/>
                  </a:lnTo>
                </a:path>
                <a:path w="8200" h="360" fill="none">
                  <a:moveTo>
                    <a:pt x="7019" y="264"/>
                  </a:moveTo>
                  <a:lnTo>
                    <a:pt x="7019" y="190"/>
                  </a:lnTo>
                </a:path>
                <a:path w="8200" h="360" fill="none">
                  <a:moveTo>
                    <a:pt x="7051" y="264"/>
                  </a:moveTo>
                  <a:lnTo>
                    <a:pt x="7051" y="190"/>
                  </a:lnTo>
                </a:path>
                <a:path w="8200" h="360" fill="none">
                  <a:moveTo>
                    <a:pt x="7121" y="96"/>
                  </a:moveTo>
                  <a:lnTo>
                    <a:pt x="7121" y="170"/>
                  </a:lnTo>
                </a:path>
                <a:path w="8200" h="360" fill="none">
                  <a:moveTo>
                    <a:pt x="7153" y="96"/>
                  </a:moveTo>
                  <a:lnTo>
                    <a:pt x="7153" y="170"/>
                  </a:lnTo>
                </a:path>
                <a:path w="8200" h="360" fill="none">
                  <a:moveTo>
                    <a:pt x="7121" y="264"/>
                  </a:moveTo>
                  <a:lnTo>
                    <a:pt x="7121" y="190"/>
                  </a:lnTo>
                </a:path>
                <a:path w="8200" h="360" fill="none">
                  <a:moveTo>
                    <a:pt x="7153" y="264"/>
                  </a:moveTo>
                  <a:lnTo>
                    <a:pt x="7153" y="190"/>
                  </a:lnTo>
                </a:path>
                <a:path w="8200" h="360" fill="none">
                  <a:moveTo>
                    <a:pt x="7222" y="96"/>
                  </a:moveTo>
                  <a:lnTo>
                    <a:pt x="7222" y="170"/>
                  </a:lnTo>
                </a:path>
                <a:path w="8200" h="360" fill="none">
                  <a:moveTo>
                    <a:pt x="7254" y="96"/>
                  </a:moveTo>
                  <a:lnTo>
                    <a:pt x="7254" y="170"/>
                  </a:lnTo>
                </a:path>
                <a:path w="8200" h="360" fill="none">
                  <a:moveTo>
                    <a:pt x="7222" y="264"/>
                  </a:moveTo>
                  <a:lnTo>
                    <a:pt x="7222" y="190"/>
                  </a:lnTo>
                </a:path>
                <a:path w="8200" h="360" fill="none">
                  <a:moveTo>
                    <a:pt x="7254" y="264"/>
                  </a:moveTo>
                  <a:lnTo>
                    <a:pt x="7254" y="190"/>
                  </a:lnTo>
                </a:path>
                <a:path w="8200" h="360" fill="none">
                  <a:moveTo>
                    <a:pt x="7323" y="96"/>
                  </a:moveTo>
                  <a:lnTo>
                    <a:pt x="7323" y="170"/>
                  </a:lnTo>
                </a:path>
                <a:path w="8200" h="360" fill="none">
                  <a:moveTo>
                    <a:pt x="7355" y="96"/>
                  </a:moveTo>
                  <a:lnTo>
                    <a:pt x="7355" y="170"/>
                  </a:lnTo>
                </a:path>
                <a:path w="8200" h="360" fill="none">
                  <a:moveTo>
                    <a:pt x="7323" y="264"/>
                  </a:moveTo>
                  <a:lnTo>
                    <a:pt x="7323" y="190"/>
                  </a:lnTo>
                </a:path>
                <a:path w="8200" h="360" fill="none">
                  <a:moveTo>
                    <a:pt x="7355" y="264"/>
                  </a:moveTo>
                  <a:lnTo>
                    <a:pt x="7355" y="190"/>
                  </a:lnTo>
                </a:path>
                <a:path w="8200" h="360" fill="none">
                  <a:moveTo>
                    <a:pt x="7424" y="96"/>
                  </a:moveTo>
                  <a:lnTo>
                    <a:pt x="7424" y="170"/>
                  </a:lnTo>
                </a:path>
                <a:path w="8200" h="360" fill="none">
                  <a:moveTo>
                    <a:pt x="7456" y="96"/>
                  </a:moveTo>
                  <a:lnTo>
                    <a:pt x="7456" y="170"/>
                  </a:lnTo>
                </a:path>
                <a:path w="8200" h="360" fill="none">
                  <a:moveTo>
                    <a:pt x="7424" y="264"/>
                  </a:moveTo>
                  <a:lnTo>
                    <a:pt x="7424" y="190"/>
                  </a:lnTo>
                </a:path>
                <a:path w="8200" h="360" fill="none">
                  <a:moveTo>
                    <a:pt x="7456" y="264"/>
                  </a:moveTo>
                  <a:lnTo>
                    <a:pt x="7456" y="190"/>
                  </a:lnTo>
                </a:path>
                <a:path w="8200" h="360" fill="none">
                  <a:moveTo>
                    <a:pt x="7525" y="96"/>
                  </a:moveTo>
                  <a:lnTo>
                    <a:pt x="7525" y="170"/>
                  </a:lnTo>
                </a:path>
                <a:path w="8200" h="360" fill="none">
                  <a:moveTo>
                    <a:pt x="7557" y="96"/>
                  </a:moveTo>
                  <a:lnTo>
                    <a:pt x="7557" y="170"/>
                  </a:lnTo>
                </a:path>
                <a:path w="8200" h="360" fill="none">
                  <a:moveTo>
                    <a:pt x="7525" y="264"/>
                  </a:moveTo>
                  <a:lnTo>
                    <a:pt x="7525" y="190"/>
                  </a:lnTo>
                </a:path>
                <a:path w="8200" h="360" fill="none">
                  <a:moveTo>
                    <a:pt x="7557" y="264"/>
                  </a:moveTo>
                  <a:lnTo>
                    <a:pt x="7557" y="190"/>
                  </a:lnTo>
                </a:path>
                <a:path w="8200" h="360" fill="none">
                  <a:moveTo>
                    <a:pt x="7627" y="96"/>
                  </a:moveTo>
                  <a:lnTo>
                    <a:pt x="7627" y="170"/>
                  </a:lnTo>
                </a:path>
                <a:path w="8200" h="360" fill="none">
                  <a:moveTo>
                    <a:pt x="7659" y="96"/>
                  </a:moveTo>
                  <a:lnTo>
                    <a:pt x="7659" y="170"/>
                  </a:lnTo>
                </a:path>
                <a:path w="8200" h="360" fill="none">
                  <a:moveTo>
                    <a:pt x="7627" y="264"/>
                  </a:moveTo>
                  <a:lnTo>
                    <a:pt x="7627" y="190"/>
                  </a:lnTo>
                </a:path>
                <a:path w="8200" h="360" fill="none">
                  <a:moveTo>
                    <a:pt x="7659" y="264"/>
                  </a:moveTo>
                  <a:lnTo>
                    <a:pt x="7659" y="190"/>
                  </a:lnTo>
                </a:path>
                <a:path w="8200" h="360" fill="none">
                  <a:moveTo>
                    <a:pt x="7728" y="96"/>
                  </a:moveTo>
                  <a:lnTo>
                    <a:pt x="7728" y="170"/>
                  </a:lnTo>
                </a:path>
                <a:path w="8200" h="360" fill="none">
                  <a:moveTo>
                    <a:pt x="7760" y="96"/>
                  </a:moveTo>
                  <a:lnTo>
                    <a:pt x="7760" y="170"/>
                  </a:lnTo>
                </a:path>
                <a:path w="8200" h="360" fill="none">
                  <a:moveTo>
                    <a:pt x="7728" y="264"/>
                  </a:moveTo>
                  <a:lnTo>
                    <a:pt x="7728" y="190"/>
                  </a:lnTo>
                </a:path>
                <a:path w="8200" h="360" fill="none">
                  <a:moveTo>
                    <a:pt x="7760" y="264"/>
                  </a:moveTo>
                  <a:lnTo>
                    <a:pt x="7760" y="190"/>
                  </a:lnTo>
                </a:path>
                <a:path w="8200" h="360" fill="none">
                  <a:moveTo>
                    <a:pt x="7829" y="96"/>
                  </a:moveTo>
                  <a:lnTo>
                    <a:pt x="7829" y="170"/>
                  </a:lnTo>
                </a:path>
                <a:path w="8200" h="360" fill="none">
                  <a:moveTo>
                    <a:pt x="7861" y="96"/>
                  </a:moveTo>
                  <a:lnTo>
                    <a:pt x="7861" y="170"/>
                  </a:lnTo>
                </a:path>
                <a:path w="8200" h="360" fill="none">
                  <a:moveTo>
                    <a:pt x="7829" y="264"/>
                  </a:moveTo>
                  <a:lnTo>
                    <a:pt x="7829" y="190"/>
                  </a:lnTo>
                </a:path>
                <a:path w="8200" h="360" fill="none">
                  <a:moveTo>
                    <a:pt x="7861" y="264"/>
                  </a:moveTo>
                  <a:lnTo>
                    <a:pt x="7861" y="190"/>
                  </a:lnTo>
                </a:path>
                <a:path w="8200" h="360" fill="none">
                  <a:moveTo>
                    <a:pt x="7930" y="96"/>
                  </a:moveTo>
                  <a:lnTo>
                    <a:pt x="7930" y="170"/>
                  </a:lnTo>
                </a:path>
                <a:path w="8200" h="360" fill="none">
                  <a:moveTo>
                    <a:pt x="7962" y="96"/>
                  </a:moveTo>
                  <a:lnTo>
                    <a:pt x="7962" y="170"/>
                  </a:lnTo>
                </a:path>
                <a:path w="8200" h="360" fill="none">
                  <a:moveTo>
                    <a:pt x="7930" y="264"/>
                  </a:moveTo>
                  <a:lnTo>
                    <a:pt x="7930" y="190"/>
                  </a:lnTo>
                </a:path>
                <a:path w="8200" h="360" fill="none">
                  <a:moveTo>
                    <a:pt x="7962" y="264"/>
                  </a:moveTo>
                  <a:lnTo>
                    <a:pt x="7962" y="190"/>
                  </a:lnTo>
                </a:path>
                <a:path w="8200" h="360" fill="none">
                  <a:moveTo>
                    <a:pt x="8032" y="96"/>
                  </a:moveTo>
                  <a:lnTo>
                    <a:pt x="8032" y="170"/>
                  </a:lnTo>
                </a:path>
                <a:path w="8200" h="360" fill="none">
                  <a:moveTo>
                    <a:pt x="8064" y="96"/>
                  </a:moveTo>
                  <a:lnTo>
                    <a:pt x="8064" y="170"/>
                  </a:lnTo>
                </a:path>
                <a:path w="8200" h="360" fill="none">
                  <a:moveTo>
                    <a:pt x="8032" y="264"/>
                  </a:moveTo>
                  <a:lnTo>
                    <a:pt x="8032" y="190"/>
                  </a:lnTo>
                </a:path>
                <a:path w="8200" h="360" fill="none">
                  <a:moveTo>
                    <a:pt x="8064" y="264"/>
                  </a:moveTo>
                  <a:lnTo>
                    <a:pt x="8064" y="190"/>
                  </a:lnTo>
                </a:path>
                <a:path w="8200" h="360" fill="none">
                  <a:moveTo>
                    <a:pt x="8133" y="96"/>
                  </a:moveTo>
                  <a:lnTo>
                    <a:pt x="8133" y="170"/>
                  </a:lnTo>
                </a:path>
                <a:path w="8200" h="360" fill="none">
                  <a:moveTo>
                    <a:pt x="8165" y="96"/>
                  </a:moveTo>
                  <a:lnTo>
                    <a:pt x="8165" y="170"/>
                  </a:lnTo>
                </a:path>
                <a:path w="8200" h="360" fill="none">
                  <a:moveTo>
                    <a:pt x="8133" y="264"/>
                  </a:moveTo>
                  <a:lnTo>
                    <a:pt x="8133" y="190"/>
                  </a:lnTo>
                </a:path>
                <a:path w="8200" h="360" fill="none">
                  <a:moveTo>
                    <a:pt x="8165" y="264"/>
                  </a:moveTo>
                  <a:lnTo>
                    <a:pt x="8165" y="190"/>
                  </a:lnTo>
                </a:path>
              </a:pathLst>
            </a:custGeom>
            <a:noFill/>
            <a:ln w="9525" cap="rnd">
              <a:solidFill>
                <a:srgbClr val="A49887"/>
              </a:solidFill>
              <a:round/>
            </a:ln>
          </p:spPr>
        </p:sp>
      </p:grpSp>
      <p:grpSp>
        <p:nvGrpSpPr>
          <p:cNvPr id="13" name="!!Receptor de insulina"/>
          <p:cNvGrpSpPr/>
          <p:nvPr/>
        </p:nvGrpSpPr>
        <p:grpSpPr>
          <a:xfrm>
            <a:off x="914400" y="1177290"/>
            <a:ext cx="1337310" cy="2500884"/>
            <a:chOff x="914400" y="1177290"/>
            <a:chExt cx="1337310" cy="2500884"/>
          </a:xfrm>
        </p:grpSpPr>
        <p:sp>
          <p:nvSpPr>
            <p:cNvPr id="14" name="Forma 13"/>
            <p:cNvSpPr/>
            <p:nvPr/>
          </p:nvSpPr>
          <p:spPr>
            <a:xfrm>
              <a:off x="91440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5" name="Forma 14"/>
            <p:cNvSpPr/>
            <p:nvPr/>
          </p:nvSpPr>
          <p:spPr>
            <a:xfrm flipH="1">
              <a:off x="1623060" y="1177290"/>
              <a:ext cx="628650" cy="1085850"/>
            </a:xfrm>
            <a:custGeom>
              <a:avLst/>
              <a:gdLst/>
              <a:ahLst/>
              <a:cxnLst/>
              <a:rect l="0" t="0" r="r" b="b"/>
              <a:pathLst>
                <a:path w="1000" h="1000">
                  <a:moveTo>
                    <a:pt x="100" y="900"/>
                  </a:moveTo>
                  <a:cubicBezTo>
                    <a:pt x="46" y="847"/>
                    <a:pt x="42" y="545"/>
                    <a:pt x="60" y="450"/>
                  </a:cubicBezTo>
                  <a:cubicBezTo>
                    <a:pt x="77" y="354"/>
                    <a:pt x="196" y="125"/>
                    <a:pt x="250" y="80"/>
                  </a:cubicBezTo>
                  <a:cubicBezTo>
                    <a:pt x="303" y="34"/>
                    <a:pt x="467" y="34"/>
                    <a:pt x="520" y="60"/>
                  </a:cubicBezTo>
                  <a:cubicBezTo>
                    <a:pt x="572" y="85"/>
                    <a:pt x="695" y="246"/>
                    <a:pt x="700" y="300"/>
                  </a:cubicBezTo>
                  <a:cubicBezTo>
                    <a:pt x="704" y="353"/>
                    <a:pt x="581" y="450"/>
                    <a:pt x="560" y="520"/>
                  </a:cubicBezTo>
                  <a:cubicBezTo>
                    <a:pt x="539" y="590"/>
                    <a:pt x="573" y="855"/>
                    <a:pt x="520" y="900"/>
                  </a:cubicBezTo>
                  <a:cubicBezTo>
                    <a:pt x="466" y="944"/>
                    <a:pt x="153" y="952"/>
                    <a:pt x="100" y="900"/>
                  </a:cubicBezTo>
                  <a:close/>
                </a:path>
              </a:pathLst>
            </a:custGeom>
            <a:gradFill rotWithShape="1">
              <a:gsLst>
                <a:gs pos="0">
                  <a:srgbClr val="9CBAF5"/>
                </a:gs>
                <a:gs pos="55000">
                  <a:srgbClr val="5B8DEF"/>
                </a:gs>
                <a:gs pos="100000">
                  <a:srgbClr val="4469B3"/>
                </a:gs>
              </a:gsLst>
              <a:path path="circle">
                <a:fillToRect l="32000" t="28000" r="68000" b="72000"/>
              </a:path>
            </a:gradFill>
            <a:ln w="15875" cap="rnd">
              <a:solidFill>
                <a:srgbClr val="2D4677"/>
              </a:solidFill>
              <a:round/>
            </a:ln>
          </p:spPr>
        </p:sp>
        <p:sp>
          <p:nvSpPr>
            <p:cNvPr id="16" name="Forma 15"/>
            <p:cNvSpPr/>
            <p:nvPr/>
          </p:nvSpPr>
          <p:spPr>
            <a:xfrm>
              <a:off x="114300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7" name="Forma 16"/>
            <p:cNvSpPr/>
            <p:nvPr/>
          </p:nvSpPr>
          <p:spPr>
            <a:xfrm>
              <a:off x="100584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18" name="Forma 17"/>
            <p:cNvSpPr/>
            <p:nvPr/>
          </p:nvSpPr>
          <p:spPr>
            <a:xfrm>
              <a:off x="1737360" y="2240280"/>
              <a:ext cx="182880" cy="603504"/>
            </a:xfrm>
            <a:prstGeom prst="roundRect">
              <a:avLst>
                <a:gd name="adj" fmla="val 50000"/>
              </a:avLst>
            </a:prstGeom>
            <a:gradFill rotWithShape="1">
              <a:gsLst>
                <a:gs pos="0">
                  <a:srgbClr val="205D87"/>
                </a:gs>
                <a:gs pos="30000">
                  <a:srgbClr val="6CAAD3"/>
                </a:gs>
                <a:gs pos="55000">
                  <a:srgbClr val="2E86C1"/>
                </a:gs>
                <a:gs pos="100000">
                  <a:srgbClr val="205D87"/>
                </a:gs>
              </a:gsLst>
              <a:lin ang="5400000" scaled="0"/>
            </a:gradFill>
            <a:ln w="12700" cap="rnd">
              <a:solidFill>
                <a:srgbClr val="174360"/>
              </a:solidFill>
              <a:round/>
            </a:ln>
          </p:spPr>
        </p:sp>
        <p:sp>
          <p:nvSpPr>
            <p:cNvPr id="19" name="Forma 18"/>
            <p:cNvSpPr/>
            <p:nvPr/>
          </p:nvSpPr>
          <p:spPr>
            <a:xfrm>
              <a:off x="1600200" y="2820924"/>
              <a:ext cx="457200" cy="857250"/>
            </a:xfrm>
            <a:prstGeom prst="roundRect">
              <a:avLst>
                <a:gd name="adj" fmla="val 35000"/>
              </a:avLst>
            </a:prstGeom>
            <a:gradFill rotWithShape="1">
              <a:gsLst>
                <a:gs pos="0">
                  <a:srgbClr val="AFD6F0"/>
                </a:gs>
                <a:gs pos="55000">
                  <a:srgbClr val="85C1E9"/>
                </a:gs>
                <a:gs pos="100000">
                  <a:srgbClr val="6390AE"/>
                </a:gs>
              </a:gsLst>
              <a:path path="circle">
                <a:fillToRect l="32000" t="28000" r="68000" b="72000"/>
              </a:path>
            </a:gradFill>
            <a:ln w="15875" cap="rnd">
              <a:solidFill>
                <a:srgbClr val="174360"/>
              </a:solidFill>
              <a:round/>
            </a:ln>
          </p:spPr>
        </p:sp>
        <p:sp>
          <p:nvSpPr>
            <p:cNvPr id="20" name="Forma 19"/>
            <p:cNvSpPr/>
            <p:nvPr/>
          </p:nvSpPr>
          <p:spPr>
            <a:xfrm>
              <a:off x="1314450" y="2011680"/>
              <a:ext cx="457200" cy="114300"/>
            </a:xfrm>
            <a:prstGeom prst="rect">
              <a:avLst/>
            </a:prstGeom>
            <a:solidFill>
              <a:srgbClr val="1B4F72"/>
            </a:solidFill>
            <a:ln>
              <a:noFill/>
            </a:ln>
          </p:spPr>
        </p:sp>
      </p:grpSp>
      <p:sp>
        <p:nvSpPr>
          <p:cNvPr id="21" name="!!Rótulo RTK"/>
          <p:cNvSpPr txBox="1"/>
          <p:nvPr/>
        </p:nvSpPr>
        <p:spPr>
          <a:xfrm>
            <a:off x="2148840" y="1188720"/>
            <a:ext cx="1005840" cy="45720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RTK</a:t>
            </a:r>
            <a:endParaRPr lang="es-AR" sz="1200" dirty="0">
              <a:latin typeface="Fira Sans Condensed"/>
            </a:endParaRPr>
          </a:p>
          <a:p>
            <a:pPr algn="ctr">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α</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1200" b="1" baseline="-25000" dirty="0">
                <a:solidFill>
                  <a:srgbClr val="1E1E1E"/>
                </a:solidFill>
                <a:effectLst>
                  <a:glow rad="101600">
                    <a:srgbClr val="FFFFFF">
                      <a:alpha val="70000"/>
                    </a:srgbClr>
                  </a:glow>
                </a:effectLst>
                <a:latin typeface="Fira Sans Condensed"/>
                <a:ea typeface="Fira Sans Condensed"/>
                <a:cs typeface="Fira Sans Condensed"/>
                <a:sym typeface="Fira Sans Condensed"/>
              </a:rPr>
              <a:t>2</a:t>
            </a:r>
            <a:endParaRPr lang="es-AR" sz="1200" dirty="0">
              <a:latin typeface="Fira Sans Condensed"/>
            </a:endParaRPr>
          </a:p>
        </p:txBody>
      </p:sp>
      <p:sp>
        <p:nvSpPr>
          <p:cNvPr id="22" name="!!Insulina unida"/>
          <p:cNvSpPr/>
          <p:nvPr/>
        </p:nvSpPr>
        <p:spPr>
          <a:xfrm>
            <a:off x="1298448" y="1463040"/>
            <a:ext cx="457200" cy="457200"/>
          </a:xfrm>
          <a:prstGeom prst="ellipse">
            <a:avLst/>
          </a:prstGeom>
          <a:gradFill rotWithShape="1">
            <a:gsLst>
              <a:gs pos="0">
                <a:srgbClr val="6D8BBD"/>
              </a:gs>
              <a:gs pos="55000">
                <a:srgbClr val="1F4E9A"/>
              </a:gs>
              <a:gs pos="100000">
                <a:srgbClr val="183E7B"/>
              </a:gs>
            </a:gsLst>
            <a:path path="circle">
              <a:fillToRect l="32000" t="28000" r="68000" b="72000"/>
            </a:path>
          </a:gradFill>
          <a:ln w="12700" cap="rnd">
            <a:solidFill>
              <a:srgbClr val="112A54"/>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Ins</a:t>
            </a:r>
            <a:endParaRPr lang="es-AR" sz="1300" dirty="0">
              <a:latin typeface="Fira Sans Condensed"/>
            </a:endParaRPr>
          </a:p>
        </p:txBody>
      </p:sp>
      <p:sp>
        <p:nvSpPr>
          <p:cNvPr id="23" name="!!PTyr 1"/>
          <p:cNvSpPr/>
          <p:nvPr/>
        </p:nvSpPr>
        <p:spPr>
          <a:xfrm>
            <a:off x="566928"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4" name="!!PTyr 2"/>
          <p:cNvSpPr/>
          <p:nvPr/>
        </p:nvSpPr>
        <p:spPr>
          <a:xfrm>
            <a:off x="1920240" y="3246120"/>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25" name="!!IRS"/>
          <p:cNvSpPr/>
          <p:nvPr/>
        </p:nvSpPr>
        <p:spPr>
          <a:xfrm>
            <a:off x="2331720" y="3337560"/>
            <a:ext cx="12344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IRS-1/2</a:t>
            </a:r>
            <a:endParaRPr lang="es-AR" sz="1300" dirty="0">
              <a:latin typeface="Fira Sans Condensed"/>
            </a:endParaRPr>
          </a:p>
        </p:txBody>
      </p:sp>
      <p:sp>
        <p:nvSpPr>
          <p:cNvPr id="26" name="!!IRS-P"/>
          <p:cNvSpPr/>
          <p:nvPr/>
        </p:nvSpPr>
        <p:spPr>
          <a:xfrm>
            <a:off x="3429000" y="3154680"/>
            <a:ext cx="274320" cy="274320"/>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FFFFFF"/>
                </a:solidFill>
                <a:latin typeface="Fira Sans Condensed"/>
                <a:ea typeface="Fira Sans Condensed"/>
                <a:cs typeface="Fira Sans Condensed"/>
                <a:sym typeface="Fira Sans Condensed"/>
              </a:rPr>
              <a:t>S</a:t>
            </a:r>
            <a:endParaRPr lang="es-AR" sz="950" dirty="0">
              <a:latin typeface="Fira Sans Condensed"/>
            </a:endParaRPr>
          </a:p>
        </p:txBody>
      </p:sp>
      <p:sp>
        <p:nvSpPr>
          <p:cNvPr id="27" name="!!PI3K"/>
          <p:cNvSpPr/>
          <p:nvPr/>
        </p:nvSpPr>
        <p:spPr>
          <a:xfrm>
            <a:off x="3703320" y="2880360"/>
            <a:ext cx="91440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PI3K</a:t>
            </a:r>
            <a:endParaRPr lang="es-AR" sz="1300" dirty="0">
              <a:latin typeface="Fira Sans Condensed"/>
            </a:endParaRPr>
          </a:p>
        </p:txBody>
      </p:sp>
      <p:sp>
        <p:nvSpPr>
          <p:cNvPr id="28" name="!!Fosfoinosítido"/>
          <p:cNvSpPr/>
          <p:nvPr/>
        </p:nvSpPr>
        <p:spPr>
          <a:xfrm>
            <a:off x="3657600" y="2377440"/>
            <a:ext cx="1005840" cy="329184"/>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C00000"/>
                </a:solidFill>
                <a:latin typeface="Fira Sans Condensed"/>
                <a:ea typeface="Fira Sans Condensed"/>
                <a:cs typeface="Fira Sans Condensed"/>
                <a:sym typeface="Fira Sans Condensed"/>
              </a:rPr>
              <a:t>PIP</a:t>
            </a:r>
            <a:r>
              <a:rPr lang="es-AR" sz="1200" b="1" baseline="-25000" dirty="0">
                <a:solidFill>
                  <a:srgbClr val="C00000"/>
                </a:solidFill>
                <a:latin typeface="Fira Sans Condensed"/>
                <a:ea typeface="Fira Sans Condensed"/>
                <a:cs typeface="Fira Sans Condensed"/>
                <a:sym typeface="Fira Sans Condensed"/>
              </a:rPr>
              <a:t>3</a:t>
            </a:r>
            <a:endParaRPr lang="es-AR" sz="1200" dirty="0">
              <a:latin typeface="Fira Sans Condensed"/>
            </a:endParaRPr>
          </a:p>
        </p:txBody>
      </p:sp>
      <p:sp>
        <p:nvSpPr>
          <p:cNvPr id="29" name="!!PDK1"/>
          <p:cNvSpPr/>
          <p:nvPr/>
        </p:nvSpPr>
        <p:spPr>
          <a:xfrm>
            <a:off x="4800600" y="2880360"/>
            <a:ext cx="822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PDK1</a:t>
            </a:r>
            <a:endParaRPr lang="es-AR" sz="1300" dirty="0">
              <a:latin typeface="Fira Sans Condensed"/>
            </a:endParaRPr>
          </a:p>
        </p:txBody>
      </p:sp>
      <p:sp>
        <p:nvSpPr>
          <p:cNvPr id="30" name="!!Akt"/>
          <p:cNvSpPr/>
          <p:nvPr/>
        </p:nvSpPr>
        <p:spPr>
          <a:xfrm>
            <a:off x="5760720" y="2880360"/>
            <a:ext cx="82296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Akt</a:t>
            </a:r>
            <a:endParaRPr lang="es-AR" sz="1400" dirty="0">
              <a:latin typeface="Fira Sans Condensed"/>
            </a:endParaRPr>
          </a:p>
        </p:txBody>
      </p:sp>
      <p:sp>
        <p:nvSpPr>
          <p:cNvPr id="31" name="!!Akt-P"/>
          <p:cNvSpPr/>
          <p:nvPr/>
        </p:nvSpPr>
        <p:spPr>
          <a:xfrm>
            <a:off x="6446520" y="2724912"/>
            <a:ext cx="274320" cy="274320"/>
          </a:xfrm>
          <a:prstGeom prst="ellipse">
            <a:avLst/>
          </a:prstGeom>
          <a:solidFill>
            <a:srgbClr val="FFC000"/>
          </a:solidFill>
          <a:ln w="12700" cap="rnd">
            <a:solidFill>
              <a:srgbClr val="1E1E1E"/>
            </a:solidFill>
            <a:round/>
          </a:ln>
        </p:spPr>
        <p:txBody>
          <a:bodyPr wrap="square" lIns="0" tIns="0" rIns="0"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P</a:t>
            </a:r>
            <a:endParaRPr lang="es-AR" sz="950" dirty="0">
              <a:latin typeface="Fira Sans Condensed"/>
            </a:endParaRPr>
          </a:p>
        </p:txBody>
      </p:sp>
      <p:sp>
        <p:nvSpPr>
          <p:cNvPr id="32" name="!!AS160"/>
          <p:cNvSpPr/>
          <p:nvPr/>
        </p:nvSpPr>
        <p:spPr>
          <a:xfrm>
            <a:off x="5897880" y="3749040"/>
            <a:ext cx="1188720" cy="4572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AS160-P</a:t>
            </a:r>
            <a:endParaRPr lang="es-AR" sz="1250" dirty="0">
              <a:latin typeface="Fira Sans Condensed"/>
            </a:endParaRPr>
          </a:p>
        </p:txBody>
      </p:sp>
      <p:grpSp>
        <p:nvGrpSpPr>
          <p:cNvPr id="33" name="!!Vesícula GLUT4 0"/>
          <p:cNvGrpSpPr/>
          <p:nvPr/>
        </p:nvGrpSpPr>
        <p:grpSpPr>
          <a:xfrm>
            <a:off x="6720840" y="2240280"/>
            <a:ext cx="566928" cy="566928"/>
            <a:chOff x="6720840" y="2240280"/>
            <a:chExt cx="566928" cy="566928"/>
          </a:xfrm>
        </p:grpSpPr>
        <p:sp>
          <p:nvSpPr>
            <p:cNvPr id="34" name="Forma 33"/>
            <p:cNvSpPr/>
            <p:nvPr/>
          </p:nvSpPr>
          <p:spPr>
            <a:xfrm>
              <a:off x="6720840" y="224028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5" name="Forma 34"/>
            <p:cNvSpPr/>
            <p:nvPr/>
          </p:nvSpPr>
          <p:spPr>
            <a:xfrm>
              <a:off x="6940296" y="235000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6" name="!!Vesícula GLUT4 1"/>
          <p:cNvGrpSpPr/>
          <p:nvPr/>
        </p:nvGrpSpPr>
        <p:grpSpPr>
          <a:xfrm>
            <a:off x="6309360" y="4937760"/>
            <a:ext cx="566928" cy="566928"/>
            <a:chOff x="6309360" y="4937760"/>
            <a:chExt cx="566928" cy="566928"/>
          </a:xfrm>
        </p:grpSpPr>
        <p:sp>
          <p:nvSpPr>
            <p:cNvPr id="37" name="Forma 36"/>
            <p:cNvSpPr/>
            <p:nvPr/>
          </p:nvSpPr>
          <p:spPr>
            <a:xfrm>
              <a:off x="6309360" y="493776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38" name="Forma 37"/>
            <p:cNvSpPr/>
            <p:nvPr/>
          </p:nvSpPr>
          <p:spPr>
            <a:xfrm>
              <a:off x="6528816" y="504748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grpSp>
        <p:nvGrpSpPr>
          <p:cNvPr id="39" name="!!Vesícula GLUT4 2"/>
          <p:cNvGrpSpPr/>
          <p:nvPr/>
        </p:nvGrpSpPr>
        <p:grpSpPr>
          <a:xfrm>
            <a:off x="7040880" y="4572000"/>
            <a:ext cx="566928" cy="566928"/>
            <a:chOff x="7040880" y="4572000"/>
            <a:chExt cx="566928" cy="566928"/>
          </a:xfrm>
        </p:grpSpPr>
        <p:sp>
          <p:nvSpPr>
            <p:cNvPr id="40" name="Forma 39"/>
            <p:cNvSpPr/>
            <p:nvPr/>
          </p:nvSpPr>
          <p:spPr>
            <a:xfrm>
              <a:off x="7040880" y="4572000"/>
              <a:ext cx="566928" cy="566928"/>
            </a:xfrm>
            <a:prstGeom prst="ellipse">
              <a:avLst/>
            </a:prstGeom>
            <a:gradFill rotWithShape="1">
              <a:gsLst>
                <a:gs pos="0">
                  <a:srgbClr val="FFFFFF"/>
                </a:gs>
                <a:gs pos="100000">
                  <a:srgbClr val="FADBD8"/>
                </a:gs>
              </a:gsLst>
              <a:path path="circle">
                <a:fillToRect l="40000" t="40000" r="60000" b="60000"/>
              </a:path>
            </a:gradFill>
            <a:ln w="19050" cap="rnd">
              <a:solidFill>
                <a:srgbClr val="B03A2E"/>
              </a:solidFill>
              <a:round/>
            </a:ln>
          </p:spPr>
        </p:sp>
        <p:sp>
          <p:nvSpPr>
            <p:cNvPr id="41" name="Forma 40"/>
            <p:cNvSpPr/>
            <p:nvPr/>
          </p:nvSpPr>
          <p:spPr>
            <a:xfrm>
              <a:off x="7260336" y="4681728"/>
              <a:ext cx="128016" cy="347472"/>
            </a:xfrm>
            <a:prstGeom prst="roundRect">
              <a:avLst>
                <a:gd name="adj" fmla="val 50000"/>
              </a:avLst>
            </a:prstGeom>
            <a:gradFill rotWithShape="1">
              <a:gsLst>
                <a:gs pos="0">
                  <a:srgbClr val="41799E"/>
                </a:gs>
                <a:gs pos="30000">
                  <a:srgbClr val="8DC5EA"/>
                </a:gs>
                <a:gs pos="55000">
                  <a:srgbClr val="5DADE2"/>
                </a:gs>
                <a:gs pos="100000">
                  <a:srgbClr val="41799E"/>
                </a:gs>
              </a:gsLst>
              <a:lin ang="5400000" scaled="0"/>
            </a:gradFill>
            <a:ln w="9525" cap="rnd">
              <a:solidFill>
                <a:srgbClr val="1F618D"/>
              </a:solidFill>
              <a:round/>
            </a:ln>
          </p:spPr>
        </p:sp>
      </p:grpSp>
      <p:sp>
        <p:nvSpPr>
          <p:cNvPr id="42" name="Cinasa JNK"/>
          <p:cNvSpPr/>
          <p:nvPr/>
        </p:nvSpPr>
        <p:spPr>
          <a:xfrm>
            <a:off x="2743200" y="4160520"/>
            <a:ext cx="105156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JNK</a:t>
            </a:r>
            <a:endParaRPr lang="es-AR" sz="1250" dirty="0">
              <a:latin typeface="Fira Sans Condensed"/>
            </a:endParaRPr>
          </a:p>
        </p:txBody>
      </p:sp>
      <p:sp>
        <p:nvSpPr>
          <p:cNvPr id="43" name="Cinasa IKKβ"/>
          <p:cNvSpPr/>
          <p:nvPr/>
        </p:nvSpPr>
        <p:spPr>
          <a:xfrm>
            <a:off x="3886200" y="4160520"/>
            <a:ext cx="105156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IKKβ</a:t>
            </a:r>
            <a:endParaRPr lang="es-AR" sz="1250" dirty="0">
              <a:latin typeface="Fira Sans Condensed"/>
            </a:endParaRPr>
          </a:p>
        </p:txBody>
      </p:sp>
      <p:sp>
        <p:nvSpPr>
          <p:cNvPr id="44" name="Cinasa PKC"/>
          <p:cNvSpPr/>
          <p:nvPr/>
        </p:nvSpPr>
        <p:spPr>
          <a:xfrm>
            <a:off x="5029200" y="4160520"/>
            <a:ext cx="105156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PKC</a:t>
            </a:r>
            <a:endParaRPr lang="es-AR" sz="1250" dirty="0">
              <a:latin typeface="Fira Sans Condensed"/>
            </a:endParaRPr>
          </a:p>
        </p:txBody>
      </p:sp>
      <p:sp>
        <p:nvSpPr>
          <p:cNvPr id="45" name="SOCS"/>
          <p:cNvSpPr/>
          <p:nvPr/>
        </p:nvSpPr>
        <p:spPr>
          <a:xfrm>
            <a:off x="2743200" y="4754880"/>
            <a:ext cx="1463040" cy="4114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SOCS</a:t>
            </a:r>
            <a:endParaRPr lang="es-AR" sz="1250" dirty="0">
              <a:latin typeface="Fira Sans Condensed"/>
            </a:endParaRPr>
          </a:p>
        </p:txBody>
      </p:sp>
      <p:grpSp>
        <p:nvGrpSpPr>
          <p:cNvPr id="46" name="!!Panel"/>
          <p:cNvGrpSpPr/>
          <p:nvPr/>
        </p:nvGrpSpPr>
        <p:grpSpPr>
          <a:xfrm>
            <a:off x="8092440" y="1051560"/>
            <a:ext cx="3749040" cy="4343400"/>
            <a:chOff x="8092440" y="1051560"/>
            <a:chExt cx="3749040" cy="4343400"/>
          </a:xfrm>
        </p:grpSpPr>
        <p:sp>
          <p:nvSpPr>
            <p:cNvPr id="47" name="Forma 46"/>
            <p:cNvSpPr/>
            <p:nvPr/>
          </p:nvSpPr>
          <p:spPr>
            <a:xfrm>
              <a:off x="8092440" y="1051560"/>
              <a:ext cx="3749040" cy="4343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48" name="Forma 47"/>
            <p:cNvSpPr/>
            <p:nvPr/>
          </p:nvSpPr>
          <p:spPr>
            <a:xfrm>
              <a:off x="8229600" y="1161288"/>
              <a:ext cx="548640" cy="502920"/>
            </a:xfrm>
            <a:prstGeom prst="rect">
              <a:avLst/>
            </a:prstGeom>
            <a:solidFill>
              <a:srgbClr val="FFC000"/>
            </a:solidFill>
            <a:ln w="19050" cap="rnd">
              <a:solidFill>
                <a:srgbClr val="1E1E1E"/>
              </a:solidFill>
              <a:round/>
            </a:ln>
          </p:spPr>
          <p:txBody>
            <a:bodyPr wrap="square" lIns="0" tIns="0" rIns="0" bIns="0" anchor="ctr" rtlCol="0">
              <a:noAutofit/>
            </a:bodyPr>
            <a:lstStyle/>
            <a:p>
              <a:pPr algn="ctr">
                <a:spcAft>
                  <a:spcPts val="300"/>
                </a:spcAft>
                <a:buNone/>
              </a:pPr>
              <a:r>
                <a:rPr lang="es-AR" sz="1600" b="1" dirty="0">
                  <a:solidFill>
                    <a:srgbClr val="C00000"/>
                  </a:solidFill>
                  <a:latin typeface="Fira Sans Condensed"/>
                  <a:ea typeface="Fira Sans Condensed"/>
                  <a:cs typeface="Fira Sans Condensed"/>
                  <a:sym typeface="Fira Sans Condensed"/>
                </a:rPr>
                <a:t>!</a:t>
              </a:r>
              <a:endParaRPr lang="es-AR" sz="1600" dirty="0">
                <a:latin typeface="Fira Sans Condensed"/>
              </a:endParaRPr>
            </a:p>
          </p:txBody>
        </p:sp>
        <p:sp>
          <p:nvSpPr>
            <p:cNvPr id="49" name="Forma 48"/>
            <p:cNvSpPr txBox="1"/>
            <p:nvPr/>
          </p:nvSpPr>
          <p:spPr>
            <a:xfrm>
              <a:off x="8915400" y="1115568"/>
              <a:ext cx="2834640" cy="594360"/>
            </a:xfrm>
            <a:prstGeom prst="rect">
              <a:avLst/>
            </a:prstGeom>
            <a:noFill/>
            <a:ln>
              <a:noFill/>
            </a:ln>
          </p:spPr>
          <p:txBody>
            <a:bodyPr wrap="square" lIns="0" tIns="0" rIns="0" bIns="0" anchor="ctr" rtlCol="0">
              <a:noAutofit/>
            </a:bodyPr>
            <a:lstStyle/>
            <a:p>
              <a:pPr algn="l">
                <a:spcAft>
                  <a:spcPts val="300"/>
                </a:spcAft>
                <a:buNone/>
              </a:pPr>
              <a:r>
                <a:rPr lang="es-AR" sz="1650" b="1" dirty="0">
                  <a:solidFill>
                    <a:srgbClr val="1E1E1E"/>
                  </a:solidFill>
                  <a:latin typeface="Fira Sans Condensed"/>
                  <a:ea typeface="Fira Sans Condensed"/>
                  <a:cs typeface="Fira Sans Condensed"/>
                  <a:sym typeface="Fira Sans Condensed"/>
                </a:rPr>
                <a:t>Desacople de la señal</a:t>
              </a:r>
              <a:endParaRPr lang="es-AR" sz="1650" dirty="0">
                <a:latin typeface="Fira Sans Condensed"/>
              </a:endParaRPr>
            </a:p>
          </p:txBody>
        </p:sp>
        <p:sp>
          <p:nvSpPr>
            <p:cNvPr id="50" name="Forma 49"/>
            <p:cNvSpPr txBox="1"/>
            <p:nvPr/>
          </p:nvSpPr>
          <p:spPr>
            <a:xfrm>
              <a:off x="8275320" y="1828800"/>
              <a:ext cx="3429000" cy="3474720"/>
            </a:xfrm>
            <a:prstGeom prst="rect">
              <a:avLst/>
            </a:prstGeom>
            <a:noFill/>
            <a:ln>
              <a:noFill/>
            </a:ln>
          </p:spPr>
          <p:txBody>
            <a:bodyPr wrap="square" lIns="0" tIns="0" rIns="0" bIns="0" anchor="t" rtlCol="0">
              <a:noAutofit/>
            </a:bodyPr>
            <a:lstStyle/>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JNK, IKKβ y PKC</a:t>
              </a:r>
              <a:r>
                <a:rPr lang="es-AR" sz="1450" dirty="0">
                  <a:solidFill>
                    <a:srgbClr val="1E1E1E"/>
                  </a:solidFill>
                  <a:latin typeface="Fira Sans Condensed"/>
                  <a:ea typeface="Fira Sans Condensed"/>
                  <a:cs typeface="Fira Sans Condensed"/>
                  <a:sym typeface="Fira Sans Condensed"/>
                </a:rPr>
                <a:t> fosforilan IRS en </a:t>
              </a:r>
              <a:r>
                <a:rPr lang="es-AR" sz="1450" b="1" dirty="0">
                  <a:solidFill>
                    <a:srgbClr val="1E1E1E"/>
                  </a:solidFill>
                  <a:latin typeface="Fira Sans Condensed"/>
                  <a:ea typeface="Fira Sans Condensed"/>
                  <a:cs typeface="Fira Sans Condensed"/>
                  <a:sym typeface="Fira Sans Condensed"/>
                </a:rPr>
                <a:t>serina/treonina</a:t>
              </a:r>
              <a:r>
                <a:rPr lang="es-AR" sz="1450" dirty="0">
                  <a:solidFill>
                    <a:srgbClr val="1E1E1E"/>
                  </a:solidFill>
                  <a:latin typeface="Fira Sans Condensed"/>
                  <a:ea typeface="Fira Sans Condensed"/>
                  <a:cs typeface="Fira Sans Condensed"/>
                  <a:sym typeface="Fira Sans Condensed"/>
                </a:rPr>
                <a:t> (S roja).</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SOCS</a:t>
              </a:r>
              <a:r>
                <a:rPr lang="es-AR" sz="1450" dirty="0">
                  <a:solidFill>
                    <a:srgbClr val="1E1E1E"/>
                  </a:solidFill>
                  <a:latin typeface="Fira Sans Condensed"/>
                  <a:ea typeface="Fira Sans Condensed"/>
                  <a:cs typeface="Fira Sans Condensed"/>
                  <a:sym typeface="Fira Sans Condensed"/>
                </a:rPr>
                <a:t> favorece la degradación de IRS.</a:t>
              </a:r>
              <a:endParaRPr lang="es-AR" sz="1450" dirty="0">
                <a:latin typeface="Fira Sans Condensed"/>
              </a:endParaRPr>
            </a:p>
            <a:p>
              <a:pPr algn="l" marL="138112" indent="-138112">
                <a:spcAft>
                  <a:spcPts val="5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fosforilación en tirosina queda </a:t>
              </a:r>
              <a:r>
                <a:rPr lang="es-AR" sz="1450" b="1" dirty="0">
                  <a:solidFill>
                    <a:srgbClr val="1E1E1E"/>
                  </a:solidFill>
                  <a:latin typeface="Fira Sans Condensed"/>
                  <a:ea typeface="Fira Sans Condensed"/>
                  <a:cs typeface="Fira Sans Condensed"/>
                  <a:sym typeface="Fira Sans Condensed"/>
                </a:rPr>
                <a:t>funcionalmente desacoplada</a:t>
              </a:r>
              <a:r>
                <a:rPr lang="es-AR" sz="1450" dirty="0">
                  <a:solidFill>
                    <a:srgbClr val="1E1E1E"/>
                  </a:solidFill>
                  <a:latin typeface="Fira Sans Condensed"/>
                  <a:ea typeface="Fira Sans Condensed"/>
                  <a:cs typeface="Fira Sans Condensed"/>
                  <a:sym typeface="Fira Sans Condensed"/>
                </a:rPr>
                <a:t>: Akt y AS160 poco activos.</a:t>
              </a:r>
              <a:endParaRPr lang="es-AR" sz="1450" dirty="0">
                <a:latin typeface="Fira Sans Condensed"/>
              </a:endParaRPr>
            </a:p>
            <a:p>
              <a:pPr algn="l" marL="138112" indent="-138112">
                <a:spcAft>
                  <a:spcPts val="5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Menos vesículas GLUT4</a:t>
              </a:r>
              <a:r>
                <a:rPr lang="es-AR" sz="1450" dirty="0">
                  <a:solidFill>
                    <a:srgbClr val="1E1E1E"/>
                  </a:solidFill>
                  <a:latin typeface="Fira Sans Condensed"/>
                  <a:ea typeface="Fira Sans Condensed"/>
                  <a:cs typeface="Fira Sans Condensed"/>
                  <a:sym typeface="Fira Sans Condensed"/>
                </a:rPr>
                <a:t> llegan a la membrana.</a:t>
              </a:r>
              <a:endParaRPr lang="es-AR" sz="1450" dirty="0">
                <a:latin typeface="Fira Sans Condensed"/>
              </a:endParaRPr>
            </a:p>
          </p:txBody>
        </p:sp>
      </p:grpSp>
      <p:grpSp>
        <p:nvGrpSpPr>
          <p:cNvPr id="51" name="!!Progreso señal"/>
          <p:cNvGrpSpPr/>
          <p:nvPr/>
        </p:nvGrpSpPr>
        <p:grpSpPr>
          <a:xfrm>
            <a:off x="8092440" y="5669280"/>
            <a:ext cx="3739896" cy="566928"/>
            <a:chOff x="8092440" y="5669280"/>
            <a:chExt cx="3739896" cy="566928"/>
          </a:xfrm>
        </p:grpSpPr>
        <p:sp>
          <p:nvSpPr>
            <p:cNvPr id="52" name="Etapa 1"/>
            <p:cNvSpPr/>
            <p:nvPr/>
          </p:nvSpPr>
          <p:spPr>
            <a:xfrm>
              <a:off x="809244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Insulina</a:t>
              </a:r>
              <a:endParaRPr lang="es-AR" sz="900" dirty="0">
                <a:latin typeface="Fira Sans Condensed"/>
              </a:endParaRPr>
            </a:p>
          </p:txBody>
        </p:sp>
        <p:sp>
          <p:nvSpPr>
            <p:cNvPr id="53" name="Etapa 2"/>
            <p:cNvSpPr/>
            <p:nvPr/>
          </p:nvSpPr>
          <p:spPr>
            <a:xfrm>
              <a:off x="863193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RTK-P</a:t>
              </a:r>
              <a:endParaRPr lang="es-AR" sz="900" dirty="0">
                <a:latin typeface="Fira Sans Condensed"/>
              </a:endParaRPr>
            </a:p>
          </p:txBody>
        </p:sp>
        <p:sp>
          <p:nvSpPr>
            <p:cNvPr id="54" name="Etapa 3"/>
            <p:cNvSpPr/>
            <p:nvPr/>
          </p:nvSpPr>
          <p:spPr>
            <a:xfrm>
              <a:off x="9171432"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IRS-Ser</a:t>
              </a:r>
              <a:endParaRPr lang="es-AR" sz="900" dirty="0">
                <a:latin typeface="Fira Sans Condensed"/>
              </a:endParaRPr>
            </a:p>
          </p:txBody>
        </p:sp>
        <p:sp>
          <p:nvSpPr>
            <p:cNvPr id="55" name="Etapa 4"/>
            <p:cNvSpPr/>
            <p:nvPr/>
          </p:nvSpPr>
          <p:spPr>
            <a:xfrm>
              <a:off x="9710928"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PI3K ↓</a:t>
              </a:r>
              <a:endParaRPr lang="es-AR" sz="900" dirty="0">
                <a:latin typeface="Fira Sans Condensed"/>
              </a:endParaRPr>
            </a:p>
          </p:txBody>
        </p:sp>
        <p:sp>
          <p:nvSpPr>
            <p:cNvPr id="56" name="Etapa 5"/>
            <p:cNvSpPr/>
            <p:nvPr/>
          </p:nvSpPr>
          <p:spPr>
            <a:xfrm>
              <a:off x="10250424"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Akt ↓</a:t>
              </a:r>
              <a:endParaRPr lang="es-AR" sz="900" dirty="0">
                <a:latin typeface="Fira Sans Condensed"/>
              </a:endParaRPr>
            </a:p>
          </p:txBody>
        </p:sp>
        <p:sp>
          <p:nvSpPr>
            <p:cNvPr id="57" name="Etapa 6"/>
            <p:cNvSpPr/>
            <p:nvPr/>
          </p:nvSpPr>
          <p:spPr>
            <a:xfrm>
              <a:off x="10789920"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GLUT4 ↓</a:t>
              </a:r>
              <a:endParaRPr lang="es-AR" sz="900" dirty="0">
                <a:latin typeface="Fira Sans Condensed"/>
              </a:endParaRPr>
            </a:p>
          </p:txBody>
        </p:sp>
        <p:sp>
          <p:nvSpPr>
            <p:cNvPr id="58" name="Etapa 7"/>
            <p:cNvSpPr/>
            <p:nvPr/>
          </p:nvSpPr>
          <p:spPr>
            <a:xfrm>
              <a:off x="11329416" y="5669280"/>
              <a:ext cx="502920" cy="566928"/>
            </a:xfrm>
            <a:prstGeom prst="rect">
              <a:avLst/>
            </a:prstGeom>
            <a:solidFill>
              <a:srgbClr val="FFFFFF"/>
            </a:solidFill>
            <a:ln w="12700" cap="rnd">
              <a:solidFill>
                <a:srgbClr val="1E1E1E"/>
              </a:solidFill>
              <a:round/>
            </a:ln>
          </p:spPr>
          <p:txBody>
            <a:bodyPr wrap="square" lIns="9144" tIns="0" rIns="9144" bIns="0" anchor="ctr" rtlCol="0">
              <a:noAutofit/>
            </a:bodyPr>
            <a:lstStyle/>
            <a:p>
              <a:pPr algn="ctr">
                <a:spcAft>
                  <a:spcPts val="300"/>
                </a:spcAft>
                <a:buNone/>
              </a:pPr>
              <a:r>
                <a:rPr lang="es-AR" sz="900" b="1" dirty="0">
                  <a:solidFill>
                    <a:srgbClr val="1E1E1E"/>
                  </a:solidFill>
                  <a:latin typeface="Fira Sans Condensed"/>
                  <a:ea typeface="Fira Sans Condensed"/>
                  <a:cs typeface="Fira Sans Condensed"/>
                  <a:sym typeface="Fira Sans Condensed"/>
                </a:rPr>
                <a:t>Glc ↓</a:t>
              </a:r>
              <a:endParaRPr lang="es-AR" sz="900" dirty="0">
                <a:latin typeface="Fira Sans Condensed"/>
              </a:endParaRPr>
            </a:p>
          </p:txBody>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SECUENCIA B · 6 · EL RECEPTOR RECIBE LA INTERFERENCIA</a:t>
            </a:r>
            <a:endParaRPr lang="es-AR" sz="27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5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42"/>
                                        </p:tgtEl>
                                        <p:attrNameLst>
                                          <p:attrName>style.visibility</p:attrName>
                                        </p:attrNameLst>
                                      </p:cBhvr>
                                      <p:to>
                                        <p:strVal val="visible"/>
                                      </p:to>
                                    </p:set>
                                    <p:anim calcmode="lin" valueType="num">
                                      <p:cBhvr>
                                        <p:cTn id="5" dur="500" fill="hold"/>
                                        <p:tgtEl>
                                          <p:spTgt spid="42"/>
                                        </p:tgtEl>
                                        <p:attrNameLst>
                                          <p:attrName>ppt_w</p:attrName>
                                        </p:attrNameLst>
                                      </p:cBhvr>
                                      <p:tavLst>
                                        <p:tav tm="0">
                                          <p:val>
                                            <p:fltVal val="0"/>
                                          </p:val>
                                        </p:tav>
                                        <p:tav tm="100000">
                                          <p:val>
                                            <p:strVal val="#ppt_w"/>
                                          </p:val>
                                        </p:tav>
                                      </p:tavLst>
                                    </p:anim>
                                    <p:anim calcmode="lin" valueType="num">
                                      <p:cBhvr>
                                        <p:cTn id="6" dur="500" fill="hold"/>
                                        <p:tgtEl>
                                          <p:spTgt spid="42"/>
                                        </p:tgtEl>
                                        <p:attrNameLst>
                                          <p:attrName>ppt_h</p:attrName>
                                        </p:attrNameLst>
                                      </p:cBhvr>
                                      <p:tavLst>
                                        <p:tav tm="0">
                                          <p:val>
                                            <p:fltVal val="0"/>
                                          </p:val>
                                        </p:tav>
                                        <p:tav tm="100000">
                                          <p:val>
                                            <p:strVal val="#ppt_h"/>
                                          </p:val>
                                        </p:tav>
                                      </p:tavLst>
                                    </p:anim>
                                    <p:animEffect transition="in" filter="fade">
                                      <p:cBhvr>
                                        <p:cTn id="7" dur="500"/>
                                        <p:tgtEl>
                                          <p:spTgt spid="42"/>
                                        </p:tgtEl>
                                      </p:cBhvr>
                                    </p:animEffect>
                                  </p:childTnLst>
                                </p:cTn>
                              </p:par>
                            </p:childTnLst>
                          </p:cTn>
                        </p:par>
                        <p:par>
                          <p:cTn id="14"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p:cTn id="11" dur="500" fill="hold"/>
                                        <p:tgtEl>
                                          <p:spTgt spid="43"/>
                                        </p:tgtEl>
                                        <p:attrNameLst>
                                          <p:attrName>ppt_w</p:attrName>
                                        </p:attrNameLst>
                                      </p:cBhvr>
                                      <p:tavLst>
                                        <p:tav tm="0">
                                          <p:val>
                                            <p:fltVal val="0"/>
                                          </p:val>
                                        </p:tav>
                                        <p:tav tm="100000">
                                          <p:val>
                                            <p:strVal val="#ppt_w"/>
                                          </p:val>
                                        </p:tav>
                                      </p:tavLst>
                                    </p:anim>
                                    <p:anim calcmode="lin" valueType="num">
                                      <p:cBhvr>
                                        <p:cTn id="12" dur="500" fill="hold"/>
                                        <p:tgtEl>
                                          <p:spTgt spid="43"/>
                                        </p:tgtEl>
                                        <p:attrNameLst>
                                          <p:attrName>ppt_h</p:attrName>
                                        </p:attrNameLst>
                                      </p:cBhvr>
                                      <p:tavLst>
                                        <p:tav tm="0">
                                          <p:val>
                                            <p:fltVal val="0"/>
                                          </p:val>
                                        </p:tav>
                                        <p:tav tm="100000">
                                          <p:val>
                                            <p:strVal val="#ppt_h"/>
                                          </p:val>
                                        </p:tav>
                                      </p:tavLst>
                                    </p:anim>
                                    <p:animEffect transition="in" filter="fade">
                                      <p:cBhvr>
                                        <p:cTn id="13" dur="500"/>
                                        <p:tgtEl>
                                          <p:spTgt spid="43"/>
                                        </p:tgtEl>
                                      </p:cBhvr>
                                    </p:animEffect>
                                  </p:childTnLst>
                                </p:cTn>
                              </p:par>
                            </p:childTnLst>
                          </p:cTn>
                        </p:par>
                        <p:par>
                          <p:cTn id="20"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p:cTn id="17" dur="500" fill="hold"/>
                                        <p:tgtEl>
                                          <p:spTgt spid="44"/>
                                        </p:tgtEl>
                                        <p:attrNameLst>
                                          <p:attrName>ppt_w</p:attrName>
                                        </p:attrNameLst>
                                      </p:cBhvr>
                                      <p:tavLst>
                                        <p:tav tm="0">
                                          <p:val>
                                            <p:fltVal val="0"/>
                                          </p:val>
                                        </p:tav>
                                        <p:tav tm="100000">
                                          <p:val>
                                            <p:strVal val="#ppt_w"/>
                                          </p:val>
                                        </p:tav>
                                      </p:tavLst>
                                    </p:anim>
                                    <p:anim calcmode="lin" valueType="num">
                                      <p:cBhvr>
                                        <p:cTn id="18" dur="500" fill="hold"/>
                                        <p:tgtEl>
                                          <p:spTgt spid="44"/>
                                        </p:tgtEl>
                                        <p:attrNameLst>
                                          <p:attrName>ppt_h</p:attrName>
                                        </p:attrNameLst>
                                      </p:cBhvr>
                                      <p:tavLst>
                                        <p:tav tm="0">
                                          <p:val>
                                            <p:fltVal val="0"/>
                                          </p:val>
                                        </p:tav>
                                        <p:tav tm="100000">
                                          <p:val>
                                            <p:strVal val="#ppt_h"/>
                                          </p:val>
                                        </p:tav>
                                      </p:tavLst>
                                    </p:anim>
                                    <p:animEffect transition="in" filter="fade">
                                      <p:cBhvr>
                                        <p:cTn id="19" dur="500"/>
                                        <p:tgtEl>
                                          <p:spTgt spid="44"/>
                                        </p:tgtEl>
                                      </p:cBhvr>
                                    </p:animEffect>
                                  </p:childTnLst>
                                </p:cTn>
                              </p:par>
                            </p:childTnLst>
                          </p:cTn>
                        </p:par>
                      </p:childTnLst>
                    </p:cTn>
                  </p:par>
                  <p:par>
                    <p:cTn id="29" fill="hold">
                      <p:stCondLst>
                        <p:cond delay="indefinite"/>
                      </p:stCondLst>
                      <p:childTnLst>
                        <p:par>
                          <p:cTn id="24" fill="hold">
                            <p:stCondLst>
                              <p:cond delay="0"/>
                            </p:stCondLst>
                            <p:childTnLst>
                              <p:par>
                                <p:cTn id="22" presetID="6" presetClass="emph" presetSubtype="0" fill="hold" grpId="0" nodeType="clickEffect">
                                  <p:stCondLst>
                                    <p:cond delay="0"/>
                                  </p:stCondLst>
                                  <p:childTnLst>
                                    <p:animScale>
                                      <p:cBhvr>
                                        <p:cTn id="23" dur="300" autoRev="1" fill="hold"/>
                                        <p:tgtEl>
                                          <p:spTgt spid="26"/>
                                        </p:tgtEl>
                                      </p:cBhvr>
                                      <p:by x="112000" y="112000"/>
                                    </p:animScale>
                                  </p:childTnLst>
                                </p:cTn>
                              </p:par>
                            </p:childTnLst>
                          </p:cTn>
                        </p:par>
                        <p:par>
                          <p:cTn id="28" fill="hold">
                            <p:stCondLst>
                              <p:cond delay="300"/>
                            </p:stCondLst>
                            <p:childTnLst>
                              <p:par>
                                <p:cTn id="25" presetID="10" presetClass="entr" presetSubtype="0"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childTnLst>
                          </p:cTn>
                        </p:par>
                      </p:childTnLst>
                    </p:cTn>
                  </p:par>
                  <p:par>
                    <p:cTn id="36" fill="hold">
                      <p:stCondLst>
                        <p:cond delay="indefinite"/>
                      </p:stCondLst>
                      <p:childTnLst>
                        <p:par>
                          <p:cTn id="32" fill="hold">
                            <p:stCondLst>
                              <p:cond delay="0"/>
                            </p:stCondLst>
                            <p:childTnLst>
                              <p:par>
                                <p:cTn id="30" presetID="6" presetClass="emph" presetSubtype="0" fill="hold" grpId="0" nodeType="clickEffect">
                                  <p:stCondLst>
                                    <p:cond delay="0"/>
                                  </p:stCondLst>
                                  <p:childTnLst>
                                    <p:animScale>
                                      <p:cBhvr>
                                        <p:cTn id="31" dur="300" autoRev="1" fill="hold"/>
                                        <p:tgtEl>
                                          <p:spTgt spid="30"/>
                                        </p:tgtEl>
                                      </p:cBhvr>
                                      <p:by x="112000" y="112000"/>
                                    </p:animScale>
                                  </p:childTnLst>
                                </p:cTn>
                              </p:par>
                            </p:childTnLst>
                          </p:cTn>
                        </p:par>
                        <p:par>
                          <p:cTn id="35" fill="hold">
                            <p:stCondLst>
                              <p:cond delay="300"/>
                            </p:stCondLst>
                            <p:childTnLst>
                              <p:par>
                                <p:cTn id="33" presetID="6" presetClass="emph" presetSubtype="0" fill="hold" grpId="0" nodeType="afterEffect">
                                  <p:stCondLst>
                                    <p:cond delay="0"/>
                                  </p:stCondLst>
                                  <p:childTnLst>
                                    <p:animScale>
                                      <p:cBhvr>
                                        <p:cTn id="34" dur="300" autoRev="1" fill="hold"/>
                                        <p:tgtEl>
                                          <p:spTgt spid="32"/>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26" grpId="0" animBg="1"/>
      <p:bldP spid="45" grpId="0" animBg="1"/>
      <p:bldP spid="30" grpId="0" animBg="1"/>
      <p:bldP spid="32" grpId="0" animBg="1"/>
    </p:bld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sp>
        <p:nvSpPr>
          <p:cNvPr id="7" name="Flecha ex→sat"/>
          <p:cNvSpPr/>
          <p:nvPr/>
        </p:nvSpPr>
        <p:spPr>
          <a:xfrm>
            <a:off x="2093976" y="1426464"/>
            <a:ext cx="109728" cy="9144"/>
          </a:xfrm>
          <a:custGeom>
            <a:avLst/>
            <a:gdLst/>
            <a:ahLst/>
            <a:cxnLst/>
            <a:rect l="0" t="0" r="r" b="b"/>
            <a:pathLst>
              <a:path w="120" h="10" fill="none">
                <a:moveTo>
                  <a:pt x="0" y="0"/>
                </a:moveTo>
                <a:lnTo>
                  <a:pt x="120" y="0"/>
                </a:lnTo>
              </a:path>
            </a:pathLst>
          </a:custGeom>
          <a:noFill/>
          <a:ln w="28575" cap="rnd">
            <a:solidFill>
              <a:srgbClr val="1E1E1E"/>
            </a:solidFill>
            <a:round/>
            <a:tailEnd type="triangle" w="med" len="med"/>
          </a:ln>
        </p:spPr>
      </p:sp>
      <p:sp>
        <p:nvSpPr>
          <p:cNvPr id="8" name="Flecha sat→ag"/>
          <p:cNvSpPr/>
          <p:nvPr/>
        </p:nvSpPr>
        <p:spPr>
          <a:xfrm>
            <a:off x="3968496" y="1426464"/>
            <a:ext cx="109728" cy="9144"/>
          </a:xfrm>
          <a:custGeom>
            <a:avLst/>
            <a:gdLst/>
            <a:ahLst/>
            <a:cxnLst/>
            <a:rect l="0" t="0" r="r" b="b"/>
            <a:pathLst>
              <a:path w="119" h="10" fill="none">
                <a:moveTo>
                  <a:pt x="0" y="0"/>
                </a:moveTo>
                <a:lnTo>
                  <a:pt x="119" y="0"/>
                </a:lnTo>
              </a:path>
            </a:pathLst>
          </a:custGeom>
          <a:noFill/>
          <a:ln w="28575" cap="rnd">
            <a:solidFill>
              <a:srgbClr val="1E1E1E"/>
            </a:solidFill>
            <a:round/>
            <a:tailEnd type="triangle" w="med" len="med"/>
          </a:ln>
        </p:spPr>
      </p:sp>
      <p:sp>
        <p:nvSpPr>
          <p:cNvPr id="9" name="Flecha ag→ect"/>
          <p:cNvSpPr/>
          <p:nvPr/>
        </p:nvSpPr>
        <p:spPr>
          <a:xfrm>
            <a:off x="5843016" y="1426464"/>
            <a:ext cx="109728" cy="9144"/>
          </a:xfrm>
          <a:custGeom>
            <a:avLst/>
            <a:gdLst/>
            <a:ahLst/>
            <a:cxnLst/>
            <a:rect l="0" t="0" r="r" b="b"/>
            <a:pathLst>
              <a:path w="120" h="10" fill="none">
                <a:moveTo>
                  <a:pt x="0" y="0"/>
                </a:moveTo>
                <a:lnTo>
                  <a:pt x="120" y="0"/>
                </a:lnTo>
              </a:path>
            </a:pathLst>
          </a:custGeom>
          <a:noFill/>
          <a:ln w="28575" cap="rnd">
            <a:solidFill>
              <a:srgbClr val="1E1E1E"/>
            </a:solidFill>
            <a:round/>
            <a:tailEnd type="triangle" w="med" len="med"/>
          </a:ln>
        </p:spPr>
      </p:sp>
      <p:sp>
        <p:nvSpPr>
          <p:cNvPr id="10" name="Flecha ect→dag"/>
          <p:cNvSpPr/>
          <p:nvPr/>
        </p:nvSpPr>
        <p:spPr>
          <a:xfrm>
            <a:off x="1188720" y="1737360"/>
            <a:ext cx="5212080" cy="384048"/>
          </a:xfrm>
          <a:custGeom>
            <a:avLst/>
            <a:gdLst/>
            <a:ahLst/>
            <a:cxnLst/>
            <a:rect l="0" t="0" r="r" b="b"/>
            <a:pathLst>
              <a:path w="5700" h="419" fill="none">
                <a:moveTo>
                  <a:pt x="5700" y="0"/>
                </a:moveTo>
                <a:lnTo>
                  <a:pt x="0" y="419"/>
                </a:lnTo>
              </a:path>
            </a:pathLst>
          </a:custGeom>
          <a:noFill/>
          <a:ln w="28575" cap="rnd">
            <a:solidFill>
              <a:srgbClr val="1E1E1E"/>
            </a:solidFill>
            <a:round/>
            <a:tailEnd type="triangle" w="med" len="med"/>
          </a:ln>
        </p:spPr>
      </p:sp>
      <p:sp>
        <p:nvSpPr>
          <p:cNvPr id="11" name="Flecha ect→cer"/>
          <p:cNvSpPr/>
          <p:nvPr/>
        </p:nvSpPr>
        <p:spPr>
          <a:xfrm>
            <a:off x="3108960" y="1737360"/>
            <a:ext cx="3474720" cy="384048"/>
          </a:xfrm>
          <a:custGeom>
            <a:avLst/>
            <a:gdLst/>
            <a:ahLst/>
            <a:cxnLst/>
            <a:rect l="0" t="0" r="r" b="b"/>
            <a:pathLst>
              <a:path w="3800" h="419" fill="none">
                <a:moveTo>
                  <a:pt x="3800" y="0"/>
                </a:moveTo>
                <a:lnTo>
                  <a:pt x="0" y="419"/>
                </a:lnTo>
              </a:path>
            </a:pathLst>
          </a:custGeom>
          <a:noFill/>
          <a:ln w="28575" cap="rnd">
            <a:solidFill>
              <a:srgbClr val="1E1E1E"/>
            </a:solidFill>
            <a:round/>
            <a:tailEnd type="triangle" w="med" len="med"/>
          </a:ln>
        </p:spPr>
      </p:sp>
      <p:sp>
        <p:nvSpPr>
          <p:cNvPr id="12" name="Flecha ect→er"/>
          <p:cNvSpPr/>
          <p:nvPr/>
        </p:nvSpPr>
        <p:spPr>
          <a:xfrm>
            <a:off x="4937760" y="1737360"/>
            <a:ext cx="1737360" cy="384048"/>
          </a:xfrm>
          <a:custGeom>
            <a:avLst/>
            <a:gdLst/>
            <a:ahLst/>
            <a:cxnLst/>
            <a:rect l="0" t="0" r="r" b="b"/>
            <a:pathLst>
              <a:path w="1899" h="419" fill="none">
                <a:moveTo>
                  <a:pt x="1899" y="0"/>
                </a:moveTo>
                <a:lnTo>
                  <a:pt x="0" y="419"/>
                </a:lnTo>
              </a:path>
            </a:pathLst>
          </a:custGeom>
          <a:noFill/>
          <a:ln w="28575" cap="rnd">
            <a:solidFill>
              <a:srgbClr val="1E1E1E"/>
            </a:solidFill>
            <a:round/>
            <a:tailEnd type="triangle" w="med" len="med"/>
          </a:ln>
        </p:spPr>
      </p:sp>
      <p:sp>
        <p:nvSpPr>
          <p:cNvPr id="13" name="Flecha ect→jnk"/>
          <p:cNvSpPr/>
          <p:nvPr/>
        </p:nvSpPr>
        <p:spPr>
          <a:xfrm>
            <a:off x="6789420" y="1746504"/>
            <a:ext cx="9144" cy="365760"/>
          </a:xfrm>
          <a:custGeom>
            <a:avLst/>
            <a:gdLst/>
            <a:ahLst/>
            <a:cxnLst/>
            <a:rect l="0" t="0" r="r" b="b"/>
            <a:pathLst>
              <a:path w="10" h="399" fill="none">
                <a:moveTo>
                  <a:pt x="0" y="0"/>
                </a:moveTo>
                <a:lnTo>
                  <a:pt x="0" y="399"/>
                </a:lnTo>
              </a:path>
            </a:pathLst>
          </a:custGeom>
          <a:noFill/>
          <a:ln w="28575" cap="rnd">
            <a:solidFill>
              <a:srgbClr val="1E1E1E"/>
            </a:solidFill>
            <a:round/>
            <a:tailEnd type="triangle" w="med" len="med"/>
          </a:ln>
        </p:spPr>
      </p:sp>
      <p:sp>
        <p:nvSpPr>
          <p:cNvPr id="14" name="Flecha dag→pkc"/>
          <p:cNvSpPr/>
          <p:nvPr/>
        </p:nvSpPr>
        <p:spPr>
          <a:xfrm>
            <a:off x="1188720" y="2679192"/>
            <a:ext cx="9144" cy="310896"/>
          </a:xfrm>
          <a:custGeom>
            <a:avLst/>
            <a:gdLst/>
            <a:ahLst/>
            <a:cxnLst/>
            <a:rect l="0" t="0" r="r" b="b"/>
            <a:pathLst>
              <a:path w="10" h="339" fill="none">
                <a:moveTo>
                  <a:pt x="0" y="0"/>
                </a:moveTo>
                <a:lnTo>
                  <a:pt x="0" y="339"/>
                </a:lnTo>
              </a:path>
            </a:pathLst>
          </a:custGeom>
          <a:noFill/>
          <a:ln w="28575" cap="rnd">
            <a:solidFill>
              <a:srgbClr val="1E1E1E"/>
            </a:solidFill>
            <a:round/>
            <a:tailEnd type="triangle" w="med" len="med"/>
          </a:ln>
        </p:spPr>
      </p:sp>
      <p:sp>
        <p:nvSpPr>
          <p:cNvPr id="15" name="Flecha jnk→pkc"/>
          <p:cNvSpPr/>
          <p:nvPr/>
        </p:nvSpPr>
        <p:spPr>
          <a:xfrm>
            <a:off x="3291840" y="2679192"/>
            <a:ext cx="3017520" cy="310896"/>
          </a:xfrm>
          <a:custGeom>
            <a:avLst/>
            <a:gdLst/>
            <a:ahLst/>
            <a:cxnLst/>
            <a:rect l="0" t="0" r="r" b="b"/>
            <a:pathLst>
              <a:path w="3300" h="339" fill="none">
                <a:moveTo>
                  <a:pt x="3300" y="0"/>
                </a:moveTo>
                <a:lnTo>
                  <a:pt x="0" y="339"/>
                </a:lnTo>
              </a:path>
            </a:pathLst>
          </a:custGeom>
          <a:noFill/>
          <a:ln w="28575" cap="rnd">
            <a:solidFill>
              <a:srgbClr val="1E1E1E"/>
            </a:solidFill>
            <a:round/>
            <a:tailEnd type="triangle" w="med" len="med"/>
          </a:ln>
        </p:spPr>
      </p:sp>
      <p:sp>
        <p:nvSpPr>
          <p:cNvPr id="16" name="Flecha cer→akt"/>
          <p:cNvSpPr/>
          <p:nvPr/>
        </p:nvSpPr>
        <p:spPr>
          <a:xfrm>
            <a:off x="3108960" y="2679192"/>
            <a:ext cx="1737360" cy="310896"/>
          </a:xfrm>
          <a:custGeom>
            <a:avLst/>
            <a:gdLst/>
            <a:ahLst/>
            <a:cxnLst/>
            <a:rect l="0" t="0" r="r" b="b"/>
            <a:pathLst>
              <a:path w="1900" h="339" fill="none">
                <a:moveTo>
                  <a:pt x="0" y="0"/>
                </a:moveTo>
                <a:lnTo>
                  <a:pt x="1900" y="339"/>
                </a:lnTo>
              </a:path>
            </a:pathLst>
          </a:custGeom>
          <a:noFill/>
          <a:ln w="28575" cap="rnd">
            <a:solidFill>
              <a:srgbClr val="1E1E1E"/>
            </a:solidFill>
            <a:round/>
            <a:tailEnd type="triangle" w="med" len="med"/>
          </a:ln>
        </p:spPr>
      </p:sp>
      <p:sp>
        <p:nvSpPr>
          <p:cNvPr id="17" name="Flecha er→akt"/>
          <p:cNvSpPr/>
          <p:nvPr/>
        </p:nvSpPr>
        <p:spPr>
          <a:xfrm>
            <a:off x="5394960" y="2679192"/>
            <a:ext cx="457200" cy="310896"/>
          </a:xfrm>
          <a:custGeom>
            <a:avLst/>
            <a:gdLst/>
            <a:ahLst/>
            <a:cxnLst/>
            <a:rect l="0" t="0" r="r" b="b"/>
            <a:pathLst>
              <a:path w="500" h="339" fill="none">
                <a:moveTo>
                  <a:pt x="0" y="0"/>
                </a:moveTo>
                <a:lnTo>
                  <a:pt x="500" y="339"/>
                </a:lnTo>
              </a:path>
            </a:pathLst>
          </a:custGeom>
          <a:noFill/>
          <a:ln w="28575" cap="rnd">
            <a:solidFill>
              <a:srgbClr val="1E1E1E"/>
            </a:solidFill>
            <a:round/>
            <a:tailEnd type="triangle" w="med" len="med"/>
          </a:ln>
        </p:spPr>
      </p:sp>
      <p:sp>
        <p:nvSpPr>
          <p:cNvPr id="18" name="Flecha pkc→o"/>
          <p:cNvSpPr/>
          <p:nvPr/>
        </p:nvSpPr>
        <p:spPr>
          <a:xfrm>
            <a:off x="2606040" y="3602736"/>
            <a:ext cx="914400" cy="246888"/>
          </a:xfrm>
          <a:custGeom>
            <a:avLst/>
            <a:gdLst/>
            <a:ahLst/>
            <a:cxnLst/>
            <a:rect l="0" t="0" r="r" b="b"/>
            <a:pathLst>
              <a:path w="1000" h="270" fill="none">
                <a:moveTo>
                  <a:pt x="0" y="0"/>
                </a:moveTo>
                <a:lnTo>
                  <a:pt x="1000" y="270"/>
                </a:lnTo>
              </a:path>
            </a:pathLst>
          </a:custGeom>
          <a:noFill/>
          <a:ln w="28575" cap="rnd">
            <a:solidFill>
              <a:srgbClr val="1E1E1E"/>
            </a:solidFill>
            <a:round/>
            <a:tailEnd type="triangle" w="med" len="med"/>
          </a:ln>
        </p:spPr>
      </p:sp>
      <p:sp>
        <p:nvSpPr>
          <p:cNvPr id="19" name="Flecha akt→o"/>
          <p:cNvSpPr/>
          <p:nvPr/>
        </p:nvSpPr>
        <p:spPr>
          <a:xfrm>
            <a:off x="4446270" y="3602736"/>
            <a:ext cx="937260" cy="246888"/>
          </a:xfrm>
          <a:custGeom>
            <a:avLst/>
            <a:gdLst/>
            <a:ahLst/>
            <a:cxnLst/>
            <a:rect l="0" t="0" r="r" b="b"/>
            <a:pathLst>
              <a:path w="1024" h="270" fill="none">
                <a:moveTo>
                  <a:pt x="1024" y="0"/>
                </a:moveTo>
                <a:lnTo>
                  <a:pt x="0" y="270"/>
                </a:lnTo>
              </a:path>
            </a:pathLst>
          </a:custGeom>
          <a:noFill/>
          <a:ln w="28575" cap="rnd">
            <a:solidFill>
              <a:srgbClr val="1E1E1E"/>
            </a:solidFill>
            <a:round/>
            <a:tailEnd type="triangle" w="med" len="med"/>
          </a:ln>
        </p:spPr>
      </p:sp>
      <p:sp>
        <p:nvSpPr>
          <p:cNvPr id="20" name="Nodo ex"/>
          <p:cNvSpPr/>
          <p:nvPr/>
        </p:nvSpPr>
        <p:spPr>
          <a:xfrm>
            <a:off x="365760" y="1143000"/>
            <a:ext cx="1691640" cy="566928"/>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Excedente energético crónico</a:t>
            </a:r>
            <a:endParaRPr lang="es-AR" sz="1200" dirty="0">
              <a:latin typeface="Fira Sans Condensed"/>
            </a:endParaRPr>
          </a:p>
        </p:txBody>
      </p:sp>
      <p:sp>
        <p:nvSpPr>
          <p:cNvPr id="21" name="Nodo sat"/>
          <p:cNvSpPr/>
          <p:nvPr/>
        </p:nvSpPr>
        <p:spPr>
          <a:xfrm>
            <a:off x="2240280" y="1143000"/>
            <a:ext cx="16916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Capacidad adiposa saturada</a:t>
            </a:r>
            <a:endParaRPr lang="es-AR" sz="1200" dirty="0">
              <a:latin typeface="Fira Sans Condensed"/>
            </a:endParaRPr>
          </a:p>
        </p:txBody>
      </p:sp>
      <p:sp>
        <p:nvSpPr>
          <p:cNvPr id="22" name="Nodo ag"/>
          <p:cNvSpPr/>
          <p:nvPr/>
        </p:nvSpPr>
        <p:spPr>
          <a:xfrm>
            <a:off x="4114800" y="1143000"/>
            <a:ext cx="169164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Lipólisis inapropiada: AGNE ↑</a:t>
            </a:r>
            <a:endParaRPr lang="es-AR" sz="1200" dirty="0">
              <a:latin typeface="Fira Sans Condensed"/>
            </a:endParaRPr>
          </a:p>
        </p:txBody>
      </p:sp>
      <p:sp>
        <p:nvSpPr>
          <p:cNvPr id="23" name="Nodo ect"/>
          <p:cNvSpPr/>
          <p:nvPr/>
        </p:nvSpPr>
        <p:spPr>
          <a:xfrm>
            <a:off x="5989320" y="1143000"/>
            <a:ext cx="1600200" cy="566928"/>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Hígado · músculo · páncreas</a:t>
            </a:r>
            <a:endParaRPr lang="es-AR" sz="1200" dirty="0">
              <a:latin typeface="Fira Sans Condensed"/>
            </a:endParaRPr>
          </a:p>
        </p:txBody>
      </p:sp>
      <p:sp>
        <p:nvSpPr>
          <p:cNvPr id="24" name="Nodo dag"/>
          <p:cNvSpPr/>
          <p:nvPr/>
        </p:nvSpPr>
        <p:spPr>
          <a:xfrm>
            <a:off x="365760" y="2148840"/>
            <a:ext cx="16916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DAG</a:t>
            </a:r>
            <a:endParaRPr lang="es-AR" sz="1600" dirty="0">
              <a:latin typeface="Fira Sans Condensed"/>
            </a:endParaRPr>
          </a:p>
        </p:txBody>
      </p:sp>
      <p:sp>
        <p:nvSpPr>
          <p:cNvPr id="25" name="Nodo cer"/>
          <p:cNvSpPr/>
          <p:nvPr/>
        </p:nvSpPr>
        <p:spPr>
          <a:xfrm>
            <a:off x="2240280" y="2148840"/>
            <a:ext cx="16916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CERAMIDAS</a:t>
            </a:r>
            <a:endParaRPr lang="es-AR" sz="1400" dirty="0">
              <a:latin typeface="Fira Sans Condensed"/>
            </a:endParaRPr>
          </a:p>
        </p:txBody>
      </p:sp>
      <p:sp>
        <p:nvSpPr>
          <p:cNvPr id="26" name="Nodo er"/>
          <p:cNvSpPr/>
          <p:nvPr/>
        </p:nvSpPr>
        <p:spPr>
          <a:xfrm>
            <a:off x="4114800" y="2148840"/>
            <a:ext cx="169164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Estrés del RE</a:t>
            </a:r>
            <a:endParaRPr lang="es-AR" sz="1300" dirty="0">
              <a:latin typeface="Fira Sans Condensed"/>
            </a:endParaRPr>
          </a:p>
        </p:txBody>
      </p:sp>
      <p:sp>
        <p:nvSpPr>
          <p:cNvPr id="27" name="Nodo jnk"/>
          <p:cNvSpPr/>
          <p:nvPr/>
        </p:nvSpPr>
        <p:spPr>
          <a:xfrm>
            <a:off x="5989320" y="2148840"/>
            <a:ext cx="160020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JNK · IKKβ/NF-κB</a:t>
            </a:r>
            <a:endParaRPr lang="es-AR" sz="1150" dirty="0">
              <a:latin typeface="Fira Sans Condensed"/>
            </a:endParaRPr>
          </a:p>
        </p:txBody>
      </p:sp>
      <p:sp>
        <p:nvSpPr>
          <p:cNvPr id="28" name="Nodo pkc"/>
          <p:cNvSpPr/>
          <p:nvPr/>
        </p:nvSpPr>
        <p:spPr>
          <a:xfrm>
            <a:off x="365760" y="3017520"/>
            <a:ext cx="35661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PKCθ / PKCε → IRS-Ser/Thr-P</a:t>
            </a:r>
            <a:endParaRPr lang="es-AR" sz="1300" dirty="0">
              <a:latin typeface="Fira Sans Condensed"/>
            </a:endParaRPr>
          </a:p>
        </p:txBody>
      </p:sp>
      <p:sp>
        <p:nvSpPr>
          <p:cNvPr id="29" name="Nodo akt"/>
          <p:cNvSpPr/>
          <p:nvPr/>
        </p:nvSpPr>
        <p:spPr>
          <a:xfrm>
            <a:off x="4114800" y="3017520"/>
            <a:ext cx="34747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PP2A / PKCζ → Akt ↓</a:t>
            </a:r>
            <a:endParaRPr lang="es-AR" sz="1300" dirty="0">
              <a:latin typeface="Fira Sans Condensed"/>
            </a:endParaRPr>
          </a:p>
        </p:txBody>
      </p:sp>
      <p:sp>
        <p:nvSpPr>
          <p:cNvPr id="30" name="Nodo o"/>
          <p:cNvSpPr/>
          <p:nvPr/>
        </p:nvSpPr>
        <p:spPr>
          <a:xfrm>
            <a:off x="365760" y="3886200"/>
            <a:ext cx="72237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MENOR SEÑAL DE INSULINA</a:t>
            </a:r>
            <a:endParaRPr lang="es-AR" sz="1500" dirty="0">
              <a:latin typeface="Fira Sans Condensed"/>
            </a:endParaRPr>
          </a:p>
        </p:txBody>
      </p:sp>
      <p:grpSp>
        <p:nvGrpSpPr>
          <p:cNvPr id="31" name="Órganos lipotoxicidad"/>
          <p:cNvGrpSpPr/>
          <p:nvPr/>
        </p:nvGrpSpPr>
        <p:grpSpPr>
          <a:xfrm>
            <a:off x="7863840" y="1097280"/>
            <a:ext cx="3977640" cy="4224528"/>
            <a:chOff x="7863840" y="1097280"/>
            <a:chExt cx="3977640" cy="4224528"/>
          </a:xfrm>
        </p:grpSpPr>
        <p:sp>
          <p:nvSpPr>
            <p:cNvPr id="32" name="Forma 31"/>
            <p:cNvSpPr/>
            <p:nvPr/>
          </p:nvSpPr>
          <p:spPr>
            <a:xfrm>
              <a:off x="7863840" y="1097280"/>
              <a:ext cx="3977640" cy="987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sp>
        <p:pic>
          <p:nvPicPr>
            <p:cNvPr id="33" name="Imagen muscle-fiber" descr="Ilustración biomédica (Servier Medical Art, CC BY)"/>
            <p:cNvPicPr>
              <a:picLocks noChangeAspect="1"/>
            </p:cNvPicPr>
            <p:nvPr/>
          </p:nvPicPr>
          <p:blipFill>
            <a:blip r:embed="rId2"/>
            <a:stretch>
              <a:fillRect/>
            </a:stretch>
          </p:blipFill>
          <p:spPr>
            <a:xfrm>
              <a:off x="7936992" y="1380254"/>
              <a:ext cx="868680" cy="403316"/>
            </a:xfrm>
            <a:prstGeom prst="rect">
              <a:avLst/>
            </a:prstGeom>
          </p:spPr>
        </p:pic>
        <p:sp>
          <p:nvSpPr>
            <p:cNvPr id="34" name="Forma 33"/>
            <p:cNvSpPr txBox="1"/>
            <p:nvPr/>
          </p:nvSpPr>
          <p:spPr>
            <a:xfrm>
              <a:off x="8915400" y="1143000"/>
              <a:ext cx="2834640" cy="32004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C00000"/>
                  </a:solidFill>
                  <a:latin typeface="Fira Sans Condensed"/>
                  <a:ea typeface="Fira Sans Condensed"/>
                  <a:cs typeface="Fira Sans Condensed"/>
                  <a:sym typeface="Fira Sans Condensed"/>
                </a:rPr>
                <a:t>Músculo</a:t>
              </a:r>
              <a:endParaRPr lang="es-AR" sz="1400" dirty="0">
                <a:latin typeface="Fira Sans Condensed"/>
              </a:endParaRPr>
            </a:p>
          </p:txBody>
        </p:sp>
        <p:sp>
          <p:nvSpPr>
            <p:cNvPr id="35" name="Forma 34"/>
            <p:cNvSpPr txBox="1"/>
            <p:nvPr/>
          </p:nvSpPr>
          <p:spPr>
            <a:xfrm>
              <a:off x="8915400" y="1481328"/>
              <a:ext cx="2834640" cy="566928"/>
            </a:xfrm>
            <a:prstGeom prst="rect">
              <a:avLst/>
            </a:prstGeom>
            <a:noFill/>
            <a:ln>
              <a:noFill/>
            </a:ln>
          </p:spPr>
          <p:txBody>
            <a:bodyPr wrap="square" lIns="0" tIns="0" rIns="0" bIns="0" anchor="t" rtlCol="0">
              <a:noAutofit/>
            </a:bodyPr>
            <a:lstStyle/>
            <a:p>
              <a:pPr algn="l">
                <a:spcAft>
                  <a:spcPts val="300"/>
                </a:spcAft>
                <a:buNone/>
              </a:pPr>
              <a:r>
                <a:rPr lang="es-AR" sz="1150" dirty="0">
                  <a:solidFill>
                    <a:srgbClr val="1E1E1E"/>
                  </a:solidFill>
                  <a:latin typeface="Fira Sans Condensed"/>
                  <a:ea typeface="Fira Sans Condensed"/>
                  <a:cs typeface="Fira Sans Condensed"/>
                  <a:sym typeface="Fira Sans Condensed"/>
                </a:rPr>
                <a:t>Captación de glucosa y glucógeno ↓; disfunción mitocondrial relativa</a:t>
              </a:r>
              <a:endParaRPr lang="es-AR" sz="1150" dirty="0">
                <a:latin typeface="Fira Sans Condensed"/>
              </a:endParaRPr>
            </a:p>
          </p:txBody>
        </p:sp>
        <p:sp>
          <p:nvSpPr>
            <p:cNvPr id="36" name="Forma 35"/>
            <p:cNvSpPr/>
            <p:nvPr/>
          </p:nvSpPr>
          <p:spPr>
            <a:xfrm>
              <a:off x="7863840" y="2176272"/>
              <a:ext cx="3977640" cy="987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sp>
        <p:pic>
          <p:nvPicPr>
            <p:cNvPr id="37" name="Imagen healthy_liver" descr="Ilustración biomédica (Servier Medical Art, CC BY)"/>
            <p:cNvPicPr>
              <a:picLocks noChangeAspect="1"/>
            </p:cNvPicPr>
            <p:nvPr/>
          </p:nvPicPr>
          <p:blipFill>
            <a:blip r:embed="rId3"/>
            <a:stretch>
              <a:fillRect/>
            </a:stretch>
          </p:blipFill>
          <p:spPr>
            <a:xfrm>
              <a:off x="7936992" y="2345743"/>
              <a:ext cx="868680" cy="630323"/>
            </a:xfrm>
            <a:prstGeom prst="rect">
              <a:avLst/>
            </a:prstGeom>
          </p:spPr>
        </p:pic>
        <p:sp>
          <p:nvSpPr>
            <p:cNvPr id="38" name="Forma 37"/>
            <p:cNvSpPr txBox="1"/>
            <p:nvPr/>
          </p:nvSpPr>
          <p:spPr>
            <a:xfrm>
              <a:off x="8915400" y="2221992"/>
              <a:ext cx="2834640" cy="32004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C00000"/>
                  </a:solidFill>
                  <a:latin typeface="Fira Sans Condensed"/>
                  <a:ea typeface="Fira Sans Condensed"/>
                  <a:cs typeface="Fira Sans Condensed"/>
                  <a:sym typeface="Fira Sans Condensed"/>
                </a:rPr>
                <a:t>Hígado</a:t>
              </a:r>
              <a:endParaRPr lang="es-AR" sz="1400" dirty="0">
                <a:latin typeface="Fira Sans Condensed"/>
              </a:endParaRPr>
            </a:p>
          </p:txBody>
        </p:sp>
        <p:sp>
          <p:nvSpPr>
            <p:cNvPr id="39" name="Forma 38"/>
            <p:cNvSpPr txBox="1"/>
            <p:nvPr/>
          </p:nvSpPr>
          <p:spPr>
            <a:xfrm>
              <a:off x="8915400" y="2560320"/>
              <a:ext cx="2834640" cy="566928"/>
            </a:xfrm>
            <a:prstGeom prst="rect">
              <a:avLst/>
            </a:prstGeom>
            <a:noFill/>
            <a:ln>
              <a:noFill/>
            </a:ln>
          </p:spPr>
          <p:txBody>
            <a:bodyPr wrap="square" lIns="0" tIns="0" rIns="0" bIns="0" anchor="t" rtlCol="0">
              <a:noAutofit/>
            </a:bodyPr>
            <a:lstStyle/>
            <a:p>
              <a:pPr algn="l">
                <a:spcAft>
                  <a:spcPts val="300"/>
                </a:spcAft>
                <a:buNone/>
              </a:pPr>
              <a:r>
                <a:rPr lang="es-AR" sz="1150" dirty="0">
                  <a:solidFill>
                    <a:srgbClr val="1E1E1E"/>
                  </a:solidFill>
                  <a:latin typeface="Fira Sans Condensed"/>
                  <a:ea typeface="Fira Sans Condensed"/>
                  <a:cs typeface="Fira Sans Condensed"/>
                  <a:sym typeface="Fira Sans Condensed"/>
                </a:rPr>
                <a:t>Gluconeogénesis mal suprimida + lipogénesis/VLDL: esteatosis</a:t>
              </a:r>
              <a:endParaRPr lang="es-AR" sz="1150" dirty="0">
                <a:latin typeface="Fira Sans Condensed"/>
              </a:endParaRPr>
            </a:p>
          </p:txBody>
        </p:sp>
        <p:sp>
          <p:nvSpPr>
            <p:cNvPr id="40" name="Forma 39"/>
            <p:cNvSpPr/>
            <p:nvPr/>
          </p:nvSpPr>
          <p:spPr>
            <a:xfrm>
              <a:off x="7863840" y="3255264"/>
              <a:ext cx="3977640" cy="987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sp>
        <p:pic>
          <p:nvPicPr>
            <p:cNvPr id="41" name="Imagen langerhans-islet-pancreas" descr="Ilustración biomédica (Servier Medical Art, CC BY)"/>
            <p:cNvPicPr>
              <a:picLocks noChangeAspect="1"/>
            </p:cNvPicPr>
            <p:nvPr/>
          </p:nvPicPr>
          <p:blipFill>
            <a:blip r:embed="rId4"/>
            <a:stretch>
              <a:fillRect/>
            </a:stretch>
          </p:blipFill>
          <p:spPr>
            <a:xfrm>
              <a:off x="7994240" y="3328416"/>
              <a:ext cx="754184" cy="822960"/>
            </a:xfrm>
            <a:prstGeom prst="rect">
              <a:avLst/>
            </a:prstGeom>
          </p:spPr>
        </p:pic>
        <p:sp>
          <p:nvSpPr>
            <p:cNvPr id="42" name="Forma 41"/>
            <p:cNvSpPr txBox="1"/>
            <p:nvPr/>
          </p:nvSpPr>
          <p:spPr>
            <a:xfrm>
              <a:off x="8915400" y="3300984"/>
              <a:ext cx="2834640" cy="32004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C00000"/>
                  </a:solidFill>
                  <a:latin typeface="Fira Sans Condensed"/>
                  <a:ea typeface="Fira Sans Condensed"/>
                  <a:cs typeface="Fira Sans Condensed"/>
                  <a:sym typeface="Fira Sans Condensed"/>
                </a:rPr>
                <a:t>Páncreas</a:t>
              </a:r>
              <a:endParaRPr lang="es-AR" sz="1400" dirty="0">
                <a:latin typeface="Fira Sans Condensed"/>
              </a:endParaRPr>
            </a:p>
          </p:txBody>
        </p:sp>
        <p:sp>
          <p:nvSpPr>
            <p:cNvPr id="43" name="Forma 42"/>
            <p:cNvSpPr txBox="1"/>
            <p:nvPr/>
          </p:nvSpPr>
          <p:spPr>
            <a:xfrm>
              <a:off x="8915400" y="3639312"/>
              <a:ext cx="2834640" cy="566928"/>
            </a:xfrm>
            <a:prstGeom prst="rect">
              <a:avLst/>
            </a:prstGeom>
            <a:noFill/>
            <a:ln>
              <a:noFill/>
            </a:ln>
          </p:spPr>
          <p:txBody>
            <a:bodyPr wrap="square" lIns="0" tIns="0" rIns="0" bIns="0" anchor="t" rtlCol="0">
              <a:noAutofit/>
            </a:bodyPr>
            <a:lstStyle/>
            <a:p>
              <a:pPr algn="l">
                <a:spcAft>
                  <a:spcPts val="300"/>
                </a:spcAft>
                <a:buNone/>
              </a:pPr>
              <a:r>
                <a:rPr lang="es-AR" sz="1150" dirty="0">
                  <a:solidFill>
                    <a:srgbClr val="1E1E1E"/>
                  </a:solidFill>
                  <a:latin typeface="Fira Sans Condensed"/>
                  <a:ea typeface="Fira Sans Condensed"/>
                  <a:cs typeface="Fira Sans Condensed"/>
                  <a:sym typeface="Fira Sans Condensed"/>
                </a:rPr>
                <a:t>Gluco/lipotoxicidad, estrés del RE, inflamación de islotes</a:t>
              </a:r>
              <a:endParaRPr lang="es-AR" sz="1150" dirty="0">
                <a:latin typeface="Fira Sans Condensed"/>
              </a:endParaRPr>
            </a:p>
          </p:txBody>
        </p:sp>
        <p:sp>
          <p:nvSpPr>
            <p:cNvPr id="44" name="Forma 43"/>
            <p:cNvSpPr/>
            <p:nvPr/>
          </p:nvSpPr>
          <p:spPr>
            <a:xfrm>
              <a:off x="7863840" y="4334256"/>
              <a:ext cx="3977640" cy="987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sp>
        <p:pic>
          <p:nvPicPr>
            <p:cNvPr id="45" name="Imagen vein-crossection-3d" descr="Ilustración biomédica (Servier Medical Art, CC BY)"/>
            <p:cNvPicPr>
              <a:picLocks noChangeAspect="1"/>
            </p:cNvPicPr>
            <p:nvPr/>
          </p:nvPicPr>
          <p:blipFill>
            <a:blip r:embed="rId5"/>
            <a:stretch>
              <a:fillRect/>
            </a:stretch>
          </p:blipFill>
          <p:spPr>
            <a:xfrm>
              <a:off x="7936992" y="4475449"/>
              <a:ext cx="868680" cy="686878"/>
            </a:xfrm>
            <a:prstGeom prst="rect">
              <a:avLst/>
            </a:prstGeom>
          </p:spPr>
        </p:pic>
        <p:sp>
          <p:nvSpPr>
            <p:cNvPr id="46" name="Forma 45"/>
            <p:cNvSpPr txBox="1"/>
            <p:nvPr/>
          </p:nvSpPr>
          <p:spPr>
            <a:xfrm>
              <a:off x="8915400" y="4379976"/>
              <a:ext cx="2834640" cy="320040"/>
            </a:xfrm>
            <a:prstGeom prst="rect">
              <a:avLst/>
            </a:prstGeom>
            <a:noFill/>
            <a:ln>
              <a:noFill/>
            </a:ln>
          </p:spPr>
          <p:txBody>
            <a:bodyPr wrap="square" lIns="0" tIns="0" rIns="0" bIns="0" anchor="ctr" rtlCol="0">
              <a:noAutofit/>
            </a:bodyPr>
            <a:lstStyle/>
            <a:p>
              <a:pPr algn="l">
                <a:spcAft>
                  <a:spcPts val="300"/>
                </a:spcAft>
                <a:buNone/>
              </a:pPr>
              <a:r>
                <a:rPr lang="es-AR" sz="1400" b="1" dirty="0">
                  <a:solidFill>
                    <a:srgbClr val="C00000"/>
                  </a:solidFill>
                  <a:latin typeface="Fira Sans Condensed"/>
                  <a:ea typeface="Fira Sans Condensed"/>
                  <a:cs typeface="Fira Sans Condensed"/>
                  <a:sym typeface="Fira Sans Condensed"/>
                </a:rPr>
                <a:t>Endotelio</a:t>
              </a:r>
              <a:endParaRPr lang="es-AR" sz="1400" dirty="0">
                <a:latin typeface="Fira Sans Condensed"/>
              </a:endParaRPr>
            </a:p>
          </p:txBody>
        </p:sp>
        <p:sp>
          <p:nvSpPr>
            <p:cNvPr id="47" name="Forma 46"/>
            <p:cNvSpPr txBox="1"/>
            <p:nvPr/>
          </p:nvSpPr>
          <p:spPr>
            <a:xfrm>
              <a:off x="8915400" y="4718304"/>
              <a:ext cx="2834640" cy="566928"/>
            </a:xfrm>
            <a:prstGeom prst="rect">
              <a:avLst/>
            </a:prstGeom>
            <a:noFill/>
            <a:ln>
              <a:noFill/>
            </a:ln>
          </p:spPr>
          <p:txBody>
            <a:bodyPr wrap="square" lIns="0" tIns="0" rIns="0" bIns="0" anchor="t" rtlCol="0">
              <a:noAutofit/>
            </a:bodyPr>
            <a:lstStyle/>
            <a:p>
              <a:pPr algn="l">
                <a:spcAft>
                  <a:spcPts val="300"/>
                </a:spcAft>
                <a:buNone/>
              </a:pPr>
              <a:r>
                <a:rPr lang="es-AR" sz="1150" dirty="0">
                  <a:solidFill>
                    <a:srgbClr val="1E1E1E"/>
                  </a:solidFill>
                  <a:latin typeface="Fira Sans Condensed"/>
                  <a:ea typeface="Fira Sans Condensed"/>
                  <a:cs typeface="Fira Sans Condensed"/>
                  <a:sym typeface="Fira Sans Condensed"/>
                </a:rPr>
                <a:t>NO ↓, vasoconstricción, inflamación, aterosclerosis</a:t>
              </a:r>
              <a:endParaRPr lang="es-AR" sz="1150" dirty="0">
                <a:latin typeface="Fira Sans Condensed"/>
              </a:endParaRPr>
            </a:p>
          </p:txBody>
        </p:sp>
      </p:grpSp>
      <p:sp>
        <p:nvSpPr>
          <p:cNvPr id="48" name="Perla clínica"/>
          <p:cNvSpPr/>
          <p:nvPr/>
        </p:nvSpPr>
        <p:spPr>
          <a:xfrm>
            <a:off x="365760" y="4709160"/>
            <a:ext cx="7223760" cy="15544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El TAG en una gota relativamente </a:t>
            </a:r>
            <a:r>
              <a:rPr lang="es-AR" sz="1450" b="1" dirty="0">
                <a:solidFill>
                  <a:srgbClr val="FFFFFF"/>
                </a:solidFill>
                <a:latin typeface="Fira Sans Condensed"/>
                <a:ea typeface="Fira Sans Condensed"/>
                <a:cs typeface="Fira Sans Condensed"/>
                <a:sym typeface="Fira Sans Condensed"/>
              </a:rPr>
              <a:t>inerte</a:t>
            </a:r>
            <a:r>
              <a:rPr lang="es-AR" sz="1450" dirty="0">
                <a:solidFill>
                  <a:srgbClr val="FFFFFF"/>
                </a:solidFill>
                <a:latin typeface="Fira Sans Condensed"/>
                <a:ea typeface="Fira Sans Condensed"/>
                <a:cs typeface="Fira Sans Condensed"/>
                <a:sym typeface="Fira Sans Condensed"/>
              </a:rPr>
              <a:t> puede ser </a:t>
            </a:r>
            <a:r>
              <a:rPr lang="es-AR" sz="1450" b="1" dirty="0">
                <a:solidFill>
                  <a:srgbClr val="FFFFFF"/>
                </a:solidFill>
                <a:latin typeface="Fira Sans Condensed"/>
                <a:ea typeface="Fira Sans Condensed"/>
                <a:cs typeface="Fira Sans Condensed"/>
                <a:sym typeface="Fira Sans Condensed"/>
              </a:rPr>
              <a:t>protector</a:t>
            </a:r>
            <a:r>
              <a:rPr lang="es-AR" sz="1450" dirty="0">
                <a:solidFill>
                  <a:srgbClr val="FFFFFF"/>
                </a:solidFill>
                <a:latin typeface="Fira Sans Condensed"/>
                <a:ea typeface="Fira Sans Condensed"/>
                <a:cs typeface="Fira Sans Condensed"/>
                <a:sym typeface="Fira Sans Condensed"/>
              </a:rPr>
              <a:t> frente a intermediarios lipídicos más señalizadores: «la grasa es tóxica» es impreciso; importan </a:t>
            </a:r>
            <a:r>
              <a:rPr lang="es-AR" sz="1450" b="1" dirty="0">
                <a:solidFill>
                  <a:srgbClr val="FFFFFF"/>
                </a:solidFill>
                <a:latin typeface="Fira Sans Condensed"/>
                <a:ea typeface="Fira Sans Condensed"/>
                <a:cs typeface="Fira Sans Condensed"/>
                <a:sym typeface="Fira Sans Condensed"/>
              </a:rPr>
              <a:t>localización, especies lipídicas, capacidad oxidativa e inflamación</a:t>
            </a:r>
            <a:r>
              <a:rPr lang="es-AR" sz="1450" dirty="0">
                <a:solidFill>
                  <a:srgbClr val="FFFFFF"/>
                </a:solidFill>
                <a:latin typeface="Fira Sans Condensed"/>
                <a:ea typeface="Fira Sans Condensed"/>
                <a:cs typeface="Fira Sans Condensed"/>
                <a:sym typeface="Fira Sans Condensed"/>
              </a:rPr>
              <a:t>.</a:t>
            </a:r>
            <a:endParaRPr lang="es-AR" sz="1450" dirty="0">
              <a:latin typeface="Fira Sans Condensed"/>
            </a:endParaRPr>
          </a:p>
        </p:txBody>
      </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LIPOTOXICIDAD: DAG, CERAMIDAS, PKC, JNK E IKK</a:t>
            </a:r>
            <a:endParaRPr lang="es-AR" sz="32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4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139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left)">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400"/>
                                        <p:tgtEl>
                                          <p:spTgt spid="23"/>
                                        </p:tgtEl>
                                      </p:cBhvr>
                                    </p:animEffect>
                                  </p:childTnLst>
                                </p:cTn>
                              </p:par>
                            </p:childTnLst>
                          </p:cTn>
                        </p:par>
                      </p:childTnLst>
                    </p:cTn>
                  </p:par>
                  <p:par>
                    <p:cTn id="64" fill="hold">
                      <p:stCondLst>
                        <p:cond delay="indefinite"/>
                      </p:stCondLst>
                      <p:childTnLst>
                        <p:par>
                          <p:cTn id="35"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par>
                          <p:cTn id="39"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childTnLst>
                          </p:cTn>
                        </p:par>
                        <p:par>
                          <p:cTn id="43" fill="hold">
                            <p:stCondLst>
                              <p:cond delay="90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7" fill="hold">
                            <p:stCondLst>
                              <p:cond delay="1400"/>
                            </p:stCondLst>
                            <p:childTnLst>
                              <p:par>
                                <p:cTn id="44" presetID="10" presetClass="entr" presetSubtype="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par>
                          <p:cTn id="51" fill="hold">
                            <p:stCondLst>
                              <p:cond delay="1800"/>
                            </p:stCondLst>
                            <p:childTnLst>
                              <p:par>
                                <p:cTn id="48" presetID="22" presetClass="entr" presetSubtype="8"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left)">
                                      <p:cBhvr>
                                        <p:cTn id="50" dur="500"/>
                                        <p:tgtEl>
                                          <p:spTgt spid="12"/>
                                        </p:tgtEl>
                                      </p:cBhvr>
                                    </p:animEffect>
                                  </p:childTnLst>
                                </p:cTn>
                              </p:par>
                            </p:childTnLst>
                          </p:cTn>
                        </p:par>
                        <p:par>
                          <p:cTn id="55" fill="hold">
                            <p:stCondLst>
                              <p:cond delay="2300"/>
                            </p:stCondLst>
                            <p:childTnLst>
                              <p:par>
                                <p:cTn id="52" presetID="10" presetClass="entr" presetSubtype="0"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00"/>
                                        <p:tgtEl>
                                          <p:spTgt spid="26"/>
                                        </p:tgtEl>
                                      </p:cBhvr>
                                    </p:animEffect>
                                  </p:childTnLst>
                                </p:cTn>
                              </p:par>
                            </p:childTnLst>
                          </p:cTn>
                        </p:par>
                        <p:par>
                          <p:cTn id="59" fill="hold">
                            <p:stCondLst>
                              <p:cond delay="2700"/>
                            </p:stCondLst>
                            <p:childTnLst>
                              <p:par>
                                <p:cTn id="56" presetID="22" presetClass="entr" presetSubtype="1"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up)">
                                      <p:cBhvr>
                                        <p:cTn id="58" dur="500"/>
                                        <p:tgtEl>
                                          <p:spTgt spid="13"/>
                                        </p:tgtEl>
                                      </p:cBhvr>
                                    </p:animEffect>
                                  </p:childTnLst>
                                </p:cTn>
                              </p:par>
                            </p:childTnLst>
                          </p:cTn>
                        </p:par>
                        <p:par>
                          <p:cTn id="63" fill="hold">
                            <p:stCondLst>
                              <p:cond delay="3200"/>
                            </p:stCondLst>
                            <p:childTnLst>
                              <p:par>
                                <p:cTn id="60" presetID="10" presetClass="entr" presetSubtype="0"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400"/>
                                        <p:tgtEl>
                                          <p:spTgt spid="27"/>
                                        </p:tgtEl>
                                      </p:cBhvr>
                                    </p:animEffect>
                                  </p:childTnLst>
                                </p:cTn>
                              </p:par>
                            </p:childTnLst>
                          </p:cTn>
                        </p:par>
                      </p:childTnLst>
                    </p:cTn>
                  </p:par>
                  <p:par>
                    <p:cTn id="89" fill="hold">
                      <p:stCondLst>
                        <p:cond delay="indefinite"/>
                      </p:stCondLst>
                      <p:childTnLst>
                        <p:par>
                          <p:cTn id="68"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par>
                          <p:cTn id="72"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left)">
                                      <p:cBhvr>
                                        <p:cTn id="71" dur="500"/>
                                        <p:tgtEl>
                                          <p:spTgt spid="15"/>
                                        </p:tgtEl>
                                      </p:cBhvr>
                                    </p:animEffect>
                                  </p:childTnLst>
                                </p:cTn>
                              </p:par>
                            </p:childTnLst>
                          </p:cTn>
                        </p:par>
                        <p:par>
                          <p:cTn id="76" fill="hold">
                            <p:stCondLst>
                              <p:cond delay="1000"/>
                            </p:stCondLst>
                            <p:childTnLst>
                              <p:par>
                                <p:cTn id="73" presetID="10" presetClass="entr" presetSubtype="0" fill="hold" grpId="0" nodeType="after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00"/>
                                        <p:tgtEl>
                                          <p:spTgt spid="28"/>
                                        </p:tgtEl>
                                      </p:cBhvr>
                                    </p:animEffect>
                                  </p:childTnLst>
                                </p:cTn>
                              </p:par>
                            </p:childTnLst>
                          </p:cTn>
                        </p:par>
                        <p:par>
                          <p:cTn id="80" fill="hold">
                            <p:stCondLst>
                              <p:cond delay="1400"/>
                            </p:stCondLst>
                            <p:childTnLst>
                              <p:par>
                                <p:cTn id="77" presetID="22" presetClass="entr" presetSubtype="8"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par>
                          <p:cTn id="84" fill="hold">
                            <p:stCondLst>
                              <p:cond delay="1900"/>
                            </p:stCondLst>
                            <p:childTnLst>
                              <p:par>
                                <p:cTn id="81" presetID="22" presetClass="entr" presetSubtype="8" fill="hold" grpId="0" nodeType="after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left)">
                                      <p:cBhvr>
                                        <p:cTn id="83" dur="500"/>
                                        <p:tgtEl>
                                          <p:spTgt spid="17"/>
                                        </p:tgtEl>
                                      </p:cBhvr>
                                    </p:animEffect>
                                  </p:childTnLst>
                                </p:cTn>
                              </p:par>
                            </p:childTnLst>
                          </p:cTn>
                        </p:par>
                        <p:par>
                          <p:cTn id="88" fill="hold">
                            <p:stCondLst>
                              <p:cond delay="2400"/>
                            </p:stCondLst>
                            <p:childTnLst>
                              <p:par>
                                <p:cTn id="85" presetID="10" presetClass="entr" presetSubtype="0"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102" fill="hold">
                      <p:stCondLst>
                        <p:cond delay="indefinite"/>
                      </p:stCondLst>
                      <p:childTnLst>
                        <p:par>
                          <p:cTn id="93"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up)">
                                      <p:cBhvr>
                                        <p:cTn id="92" dur="500"/>
                                        <p:tgtEl>
                                          <p:spTgt spid="18"/>
                                        </p:tgtEl>
                                      </p:cBhvr>
                                    </p:animEffect>
                                  </p:childTnLst>
                                </p:cTn>
                              </p:par>
                            </p:childTnLst>
                          </p:cTn>
                        </p:par>
                        <p:par>
                          <p:cTn id="97" fill="hold">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wipe(up)">
                                      <p:cBhvr>
                                        <p:cTn id="96" dur="500"/>
                                        <p:tgtEl>
                                          <p:spTgt spid="19"/>
                                        </p:tgtEl>
                                      </p:cBhvr>
                                    </p:animEffect>
                                  </p:childTnLst>
                                </p:cTn>
                              </p:par>
                            </p:childTnLst>
                          </p:cTn>
                        </p:par>
                        <p:par>
                          <p:cTn id="101" fill="hold">
                            <p:stCondLst>
                              <p:cond delay="1000"/>
                            </p:stCondLst>
                            <p:childTnLst>
                              <p:par>
                                <p:cTn id="98" presetID="10" presetClass="entr" presetSubtype="0" fill="hold" grpId="0" nodeType="after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400"/>
                                        <p:tgtEl>
                                          <p:spTgt spid="30"/>
                                        </p:tgtEl>
                                      </p:cBhvr>
                                    </p:animEffect>
                                  </p:childTnLst>
                                </p:cTn>
                              </p:par>
                            </p:childTnLst>
                          </p:cTn>
                        </p:par>
                      </p:childTnLst>
                    </p:cTn>
                  </p:par>
                  <p:par>
                    <p:cTn id="107" fill="hold">
                      <p:stCondLst>
                        <p:cond delay="indefinite"/>
                      </p:stCondLst>
                      <p:childTnLst>
                        <p:par>
                          <p:cTn id="106"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childTnLst>
                                </p:cTn>
                              </p:par>
                            </p:childTnLst>
                          </p:cTn>
                        </p:par>
                      </p:childTnLst>
                    </p:cTn>
                  </p:par>
                  <p:par>
                    <p:cTn id="114" fill="hold">
                      <p:stCondLst>
                        <p:cond delay="indefinite"/>
                      </p:stCondLst>
                      <p:childTnLst>
                        <p:par>
                          <p:cTn id="113" fill="hold">
                            <p:stCondLst>
                              <p:cond delay="0"/>
                            </p:stCondLst>
                            <p:childTnLst>
                              <p:par>
                                <p:cTn id="108" presetID="53" presetClass="entr" presetSubtype="16" fill="hold" grpId="0" nodeType="clickEffect">
                                  <p:stCondLst>
                                    <p:cond delay="0"/>
                                  </p:stCondLst>
                                  <p:childTnLst>
                                    <p:set>
                                      <p:cBhvr>
                                        <p:cTn id="109" dur="1" fill="hold">
                                          <p:stCondLst>
                                            <p:cond delay="0"/>
                                          </p:stCondLst>
                                        </p:cTn>
                                        <p:tgtEl>
                                          <p:spTgt spid="48"/>
                                        </p:tgtEl>
                                        <p:attrNameLst>
                                          <p:attrName>style.visibility</p:attrName>
                                        </p:attrNameLst>
                                      </p:cBhvr>
                                      <p:to>
                                        <p:strVal val="visible"/>
                                      </p:to>
                                    </p:set>
                                    <p:anim calcmode="lin" valueType="num">
                                      <p:cBhvr>
                                        <p:cTn id="110" dur="500" fill="hold"/>
                                        <p:tgtEl>
                                          <p:spTgt spid="48"/>
                                        </p:tgtEl>
                                        <p:attrNameLst>
                                          <p:attrName>ppt_w</p:attrName>
                                        </p:attrNameLst>
                                      </p:cBhvr>
                                      <p:tavLst>
                                        <p:tav tm="0">
                                          <p:val>
                                            <p:fltVal val="0"/>
                                          </p:val>
                                        </p:tav>
                                        <p:tav tm="100000">
                                          <p:val>
                                            <p:strVal val="#ppt_w"/>
                                          </p:val>
                                        </p:tav>
                                      </p:tavLst>
                                    </p:anim>
                                    <p:anim calcmode="lin" valueType="num">
                                      <p:cBhvr>
                                        <p:cTn id="111" dur="500" fill="hold"/>
                                        <p:tgtEl>
                                          <p:spTgt spid="48"/>
                                        </p:tgtEl>
                                        <p:attrNameLst>
                                          <p:attrName>ppt_h</p:attrName>
                                        </p:attrNameLst>
                                      </p:cBhvr>
                                      <p:tavLst>
                                        <p:tav tm="0">
                                          <p:val>
                                            <p:fltVal val="0"/>
                                          </p:val>
                                        </p:tav>
                                        <p:tav tm="100000">
                                          <p:val>
                                            <p:strVal val="#ppt_h"/>
                                          </p:val>
                                        </p:tav>
                                      </p:tavLst>
                                    </p:anim>
                                    <p:animEffect transition="in" filter="fade">
                                      <p:cBhvr>
                                        <p:cTn id="1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7" grpId="0" animBg="1"/>
      <p:bldP spid="21" grpId="0" animBg="1"/>
      <p:bldP spid="8" grpId="0" animBg="1"/>
      <p:bldP spid="22" grpId="0" animBg="1"/>
      <p:bldP spid="9" grpId="0" animBg="1"/>
      <p:bldP spid="23" grpId="0" animBg="1"/>
      <p:bldP spid="10" grpId="0" animBg="1"/>
      <p:bldP spid="24" grpId="0" animBg="1"/>
      <p:bldP spid="11" grpId="0" animBg="1"/>
      <p:bldP spid="25" grpId="0" animBg="1"/>
      <p:bldP spid="12" grpId="0" animBg="1"/>
      <p:bldP spid="26" grpId="0" animBg="1"/>
      <p:bldP spid="13" grpId="0" animBg="1"/>
      <p:bldP spid="27" grpId="0" animBg="1"/>
      <p:bldP spid="14" grpId="0" animBg="1"/>
      <p:bldP spid="15" grpId="0" animBg="1"/>
      <p:bldP spid="28" grpId="0" animBg="1"/>
      <p:bldP spid="16" grpId="0" animBg="1"/>
      <p:bldP spid="17" grpId="0" animBg="1"/>
      <p:bldP spid="29" grpId="0" animBg="1"/>
      <p:bldP spid="18" grpId="0" animBg="1"/>
      <p:bldP spid="19" grpId="0" animBg="1"/>
      <p:bldP spid="30" grpId="0" animBg="1"/>
      <p:bldP spid="48" grpId="0" animBg="1"/>
    </p:bld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Hígado selectivo" descr="Ilustración biomédica (Servier Medical Art, CC BY)"/>
          <p:cNvPicPr>
            <a:picLocks noChangeAspect="1"/>
          </p:cNvPicPr>
          <p:nvPr/>
        </p:nvPicPr>
        <p:blipFill>
          <a:blip r:embed="rId2"/>
          <a:stretch>
            <a:fillRect/>
          </a:stretch>
        </p:blipFill>
        <p:spPr>
          <a:xfrm>
            <a:off x="365760" y="1188720"/>
            <a:ext cx="3291840" cy="2388591"/>
          </a:xfrm>
          <a:prstGeom prst="rect">
            <a:avLst/>
          </a:prstGeom>
        </p:spPr>
      </p:pic>
      <p:grpSp>
        <p:nvGrpSpPr>
          <p:cNvPr id="7" name="Rama glucosa"/>
          <p:cNvGrpSpPr/>
          <p:nvPr/>
        </p:nvGrpSpPr>
        <p:grpSpPr>
          <a:xfrm>
            <a:off x="4023360" y="1143000"/>
            <a:ext cx="3794760" cy="2075688"/>
            <a:chOff x="4023360" y="1143000"/>
            <a:chExt cx="3794760" cy="2075688"/>
          </a:xfrm>
        </p:grpSpPr>
        <p:sp>
          <p:nvSpPr>
            <p:cNvPr id="8" name="Recuadro RAMA FOXO1 (glucosa): "/>
            <p:cNvSpPr/>
            <p:nvPr/>
          </p:nvSpPr>
          <p:spPr>
            <a:xfrm>
              <a:off x="4023360" y="1143000"/>
              <a:ext cx="37947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FFFFFF"/>
                  </a:solidFill>
                  <a:latin typeface="Fira Sans Condensed"/>
                  <a:ea typeface="Fira Sans Condensed"/>
                  <a:cs typeface="Fira Sans Condensed"/>
                  <a:sym typeface="Fira Sans Condensed"/>
                </a:rPr>
                <a:t>RAMA FOXO1 (glucosa): RESISTENTE</a:t>
              </a:r>
              <a:endParaRPr lang="es-AR" sz="1350" dirty="0">
                <a:latin typeface="Fira Sans Condensed"/>
              </a:endParaRPr>
            </a:p>
          </p:txBody>
        </p:sp>
        <p:sp>
          <p:nvSpPr>
            <p:cNvPr id="9" name="Forma 8"/>
            <p:cNvSpPr/>
            <p:nvPr/>
          </p:nvSpPr>
          <p:spPr>
            <a:xfrm>
              <a:off x="4023360" y="1755648"/>
              <a:ext cx="3794760" cy="14630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La insulina </a:t>
              </a:r>
              <a:r>
                <a:rPr lang="es-AR" sz="1400" b="1" dirty="0">
                  <a:solidFill>
                    <a:srgbClr val="1E1E1E"/>
                  </a:solidFill>
                  <a:latin typeface="Fira Sans Condensed"/>
                  <a:ea typeface="Fira Sans Condensed"/>
                  <a:cs typeface="Fira Sans Condensed"/>
                  <a:sym typeface="Fira Sans Condensed"/>
                </a:rPr>
                <a:t>no suprime</a:t>
              </a:r>
              <a:r>
                <a:rPr lang="es-AR" sz="1400" dirty="0">
                  <a:solidFill>
                    <a:srgbClr val="1E1E1E"/>
                  </a:solidFill>
                  <a:latin typeface="Fira Sans Condensed"/>
                  <a:ea typeface="Fira Sans Condensed"/>
                  <a:cs typeface="Fira Sans Condensed"/>
                  <a:sym typeface="Fira Sans Condensed"/>
                </a:rPr>
                <a:t> bien PEPCK/G6Pasa → </a:t>
              </a:r>
              <a:r>
                <a:rPr lang="es-AR" sz="1400" b="1" dirty="0">
                  <a:solidFill>
                    <a:srgbClr val="1E1E1E"/>
                  </a:solidFill>
                  <a:latin typeface="Fira Sans Condensed"/>
                  <a:ea typeface="Fira Sans Condensed"/>
                  <a:cs typeface="Fira Sans Condensed"/>
                  <a:sym typeface="Fira Sans Condensed"/>
                </a:rPr>
                <a:t>producción hepática de glucosa</a:t>
              </a:r>
              <a:r>
                <a:rPr lang="es-AR" sz="1400" dirty="0">
                  <a:solidFill>
                    <a:srgbClr val="1E1E1E"/>
                  </a:solidFill>
                  <a:latin typeface="Fira Sans Condensed"/>
                  <a:ea typeface="Fira Sans Condensed"/>
                  <a:cs typeface="Fira Sans Condensed"/>
                  <a:sym typeface="Fira Sans Condensed"/>
                </a:rPr>
                <a:t> inapropiada → hiperglucemia en ayunas.</a:t>
              </a:r>
              <a:endParaRPr lang="es-AR" sz="1400" dirty="0">
                <a:latin typeface="Fira Sans Condensed"/>
              </a:endParaRPr>
            </a:p>
          </p:txBody>
        </p:sp>
      </p:grpSp>
      <p:grpSp>
        <p:nvGrpSpPr>
          <p:cNvPr id="10" name="Rama lípidos"/>
          <p:cNvGrpSpPr/>
          <p:nvPr/>
        </p:nvGrpSpPr>
        <p:grpSpPr>
          <a:xfrm>
            <a:off x="8046720" y="1143000"/>
            <a:ext cx="3794760" cy="2075688"/>
            <a:chOff x="8046720" y="1143000"/>
            <a:chExt cx="3794760" cy="2075688"/>
          </a:xfrm>
        </p:grpSpPr>
        <p:sp>
          <p:nvSpPr>
            <p:cNvPr id="11" name="Recuadro RAMA SREBP-1c (lípidos"/>
            <p:cNvSpPr/>
            <p:nvPr/>
          </p:nvSpPr>
          <p:spPr>
            <a:xfrm>
              <a:off x="8046720" y="1143000"/>
              <a:ext cx="37947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RAMA SREBP-1c (LÍPIDOS): ACTIVA</a:t>
              </a:r>
              <a:endParaRPr lang="es-AR" sz="1350" dirty="0">
                <a:latin typeface="Fira Sans Condensed"/>
              </a:endParaRPr>
            </a:p>
          </p:txBody>
        </p:sp>
        <p:sp>
          <p:nvSpPr>
            <p:cNvPr id="12" name="Forma 11"/>
            <p:cNvSpPr/>
            <p:nvPr/>
          </p:nvSpPr>
          <p:spPr>
            <a:xfrm>
              <a:off x="8046720" y="1755648"/>
              <a:ext cx="3794760" cy="14630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La </a:t>
              </a:r>
              <a:r>
                <a:rPr lang="es-AR" sz="1400" b="1" dirty="0">
                  <a:solidFill>
                    <a:srgbClr val="1E1E1E"/>
                  </a:solidFill>
                  <a:latin typeface="Fira Sans Condensed"/>
                  <a:ea typeface="Fira Sans Condensed"/>
                  <a:cs typeface="Fira Sans Condensed"/>
                  <a:sym typeface="Fira Sans Condensed"/>
                </a:rPr>
                <a:t>lipogénesis</a:t>
              </a:r>
              <a:r>
                <a:rPr lang="es-AR" sz="1400" dirty="0">
                  <a:solidFill>
                    <a:srgbClr val="1E1E1E"/>
                  </a:solidFill>
                  <a:latin typeface="Fira Sans Condensed"/>
                  <a:ea typeface="Fira Sans Condensed"/>
                  <a:cs typeface="Fira Sans Condensed"/>
                  <a:sym typeface="Fira Sans Condensed"/>
                </a:rPr>
                <a:t> sigue estimulada (hiperinsulinemia, sustratos) → </a:t>
              </a:r>
              <a:r>
                <a:rPr lang="es-AR" sz="1400" b="1" dirty="0">
                  <a:solidFill>
                    <a:srgbClr val="1E1E1E"/>
                  </a:solidFill>
                  <a:latin typeface="Fira Sans Condensed"/>
                  <a:ea typeface="Fira Sans Condensed"/>
                  <a:cs typeface="Fira Sans Condensed"/>
                  <a:sym typeface="Fira Sans Condensed"/>
                </a:rPr>
                <a:t>VLDL ↑</a:t>
              </a:r>
              <a:r>
                <a:rPr lang="es-AR" sz="1400" dirty="0">
                  <a:solidFill>
                    <a:srgbClr val="1E1E1E"/>
                  </a:solidFill>
                  <a:latin typeface="Fira Sans Condensed"/>
                  <a:ea typeface="Fira Sans Condensed"/>
                  <a:cs typeface="Fira Sans Condensed"/>
                  <a:sym typeface="Fira Sans Condensed"/>
                </a:rPr>
                <a:t> y </a:t>
              </a:r>
              <a:r>
                <a:rPr lang="es-AR" sz="1400" b="1" dirty="0">
                  <a:solidFill>
                    <a:srgbClr val="1E1E1E"/>
                  </a:solidFill>
                  <a:latin typeface="Fira Sans Condensed"/>
                  <a:ea typeface="Fira Sans Condensed"/>
                  <a:cs typeface="Fira Sans Condensed"/>
                  <a:sym typeface="Fira Sans Condensed"/>
                </a:rPr>
                <a:t>esteatosis</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sp>
        <p:nvSpPr>
          <p:cNvPr id="13" name="Perla clínica"/>
          <p:cNvSpPr/>
          <p:nvPr/>
        </p:nvSpPr>
        <p:spPr>
          <a:xfrm>
            <a:off x="4023360" y="3474720"/>
            <a:ext cx="7818120" cy="1051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Lo peor de dos mundos: </a:t>
            </a:r>
            <a:r>
              <a:rPr lang="es-AR" sz="1550" b="1" dirty="0">
                <a:solidFill>
                  <a:srgbClr val="FFFFFF"/>
                </a:solidFill>
                <a:latin typeface="Fira Sans Condensed"/>
                <a:ea typeface="Fira Sans Condensed"/>
                <a:cs typeface="Fira Sans Condensed"/>
                <a:sym typeface="Fira Sans Condensed"/>
              </a:rPr>
              <a:t>hiperglucemia + hipertrigliceridemia</a:t>
            </a:r>
            <a:r>
              <a:rPr lang="es-AR" sz="1550" dirty="0">
                <a:solidFill>
                  <a:srgbClr val="FFFFFF"/>
                </a:solidFill>
                <a:latin typeface="Fira Sans Condensed"/>
                <a:ea typeface="Fira Sans Condensed"/>
                <a:cs typeface="Fira Sans Condensed"/>
                <a:sym typeface="Fira Sans Condensed"/>
              </a:rPr>
              <a:t> con hiperinsulinemia compensatoria.</a:t>
            </a:r>
            <a:endParaRPr lang="es-AR" sz="1550" dirty="0">
              <a:latin typeface="Fira Sans Condensed"/>
            </a:endParaRPr>
          </a:p>
        </p:txBody>
      </p:sp>
      <p:grpSp>
        <p:nvGrpSpPr>
          <p:cNvPr id="14" name="Cuadro Conexión clínica"/>
          <p:cNvGrpSpPr/>
          <p:nvPr/>
        </p:nvGrpSpPr>
        <p:grpSpPr>
          <a:xfrm>
            <a:off x="365760" y="4800600"/>
            <a:ext cx="11475720" cy="1463040"/>
            <a:chOff x="365760" y="4800600"/>
            <a:chExt cx="11475720" cy="1463040"/>
          </a:xfrm>
        </p:grpSpPr>
        <p:sp>
          <p:nvSpPr>
            <p:cNvPr id="15" name="Forma 14"/>
            <p:cNvSpPr/>
            <p:nvPr/>
          </p:nvSpPr>
          <p:spPr>
            <a:xfrm>
              <a:off x="365760" y="5001768"/>
              <a:ext cx="11475720" cy="12618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Explica por qué en la DM2 y el síndrome metabólico coexisten </a:t>
              </a:r>
              <a:r>
                <a:rPr lang="es-AR" sz="1500" b="1" dirty="0">
                  <a:solidFill>
                    <a:srgbClr val="1E1E1E"/>
                  </a:solidFill>
                  <a:latin typeface="Fira Sans Condensed"/>
                  <a:ea typeface="Fira Sans Condensed"/>
                  <a:cs typeface="Fira Sans Condensed"/>
                  <a:sym typeface="Fira Sans Condensed"/>
                </a:rPr>
                <a:t>producción de glucosa alta</a:t>
              </a:r>
              <a:r>
                <a:rPr lang="es-AR" sz="1500" dirty="0">
                  <a:solidFill>
                    <a:srgbClr val="1E1E1E"/>
                  </a:solidFill>
                  <a:latin typeface="Fira Sans Condensed"/>
                  <a:ea typeface="Fira Sans Condensed"/>
                  <a:cs typeface="Fira Sans Condensed"/>
                  <a:sym typeface="Fira Sans Condensed"/>
                </a:rPr>
                <a:t> y </a:t>
              </a:r>
              <a:r>
                <a:rPr lang="es-AR" sz="1500" b="1" dirty="0">
                  <a:solidFill>
                    <a:srgbClr val="1E1E1E"/>
                  </a:solidFill>
                  <a:latin typeface="Fira Sans Condensed"/>
                  <a:ea typeface="Fira Sans Condensed"/>
                  <a:cs typeface="Fira Sans Condensed"/>
                  <a:sym typeface="Fira Sans Condensed"/>
                </a:rPr>
                <a:t>producción de VLDL alta</a:t>
              </a:r>
              <a:r>
                <a:rPr lang="es-AR" sz="1500" dirty="0">
                  <a:solidFill>
                    <a:srgbClr val="1E1E1E"/>
                  </a:solidFill>
                  <a:latin typeface="Fira Sans Condensed"/>
                  <a:ea typeface="Fira Sans Condensed"/>
                  <a:cs typeface="Fira Sans Condensed"/>
                  <a:sym typeface="Fira Sans Condensed"/>
                </a:rPr>
                <a:t>, y por qué el hígado graso es frecuente.</a:t>
              </a:r>
              <a:endParaRPr lang="es-AR" sz="1500" dirty="0">
                <a:latin typeface="Fira Sans Condensed"/>
              </a:endParaRPr>
            </a:p>
          </p:txBody>
        </p:sp>
        <p:sp>
          <p:nvSpPr>
            <p:cNvPr id="16" name="Forma 15"/>
            <p:cNvSpPr/>
            <p:nvPr/>
          </p:nvSpPr>
          <p:spPr>
            <a:xfrm>
              <a:off x="502920" y="4800600"/>
              <a:ext cx="181846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CONEXIÓN CLÍNICA</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RESISTENCIA HEPÁTICA SELECTIVA</a:t>
            </a:r>
            <a:endParaRPr lang="es-AR" sz="34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SLOTE β" descr="Ilustración biomédica (Servier Medical Art, CC BY)"/>
          <p:cNvPicPr>
            <a:picLocks noChangeAspect="1"/>
          </p:cNvPicPr>
          <p:nvPr/>
        </p:nvPicPr>
        <p:blipFill>
          <a:blip r:embed="rId2"/>
          <a:stretch>
            <a:fillRect/>
          </a:stretch>
        </p:blipFill>
        <p:spPr>
          <a:xfrm>
            <a:off x="4892040" y="914400"/>
            <a:ext cx="1600200" cy="1746126"/>
          </a:xfrm>
          <a:prstGeom prst="rect">
            <a:avLst/>
          </a:prstGeom>
        </p:spPr>
      </p:pic>
      <p:sp>
        <p:nvSpPr>
          <p:cNvPr id="7" name="!!Rótulo órgano ISLOTE β"/>
          <p:cNvSpPr/>
          <p:nvPr/>
        </p:nvSpPr>
        <p:spPr>
          <a:xfrm>
            <a:off x="5120640" y="2606040"/>
            <a:ext cx="89239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ISLOTE β</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3017520"/>
            <a:ext cx="2194560" cy="1592394"/>
          </a:xfrm>
          <a:prstGeom prst="rect">
            <a:avLst/>
          </a:prstGeom>
        </p:spPr>
      </p:pic>
      <p:sp>
        <p:nvSpPr>
          <p:cNvPr id="9" name="!!Rótulo órgano HÍGADO"/>
          <p:cNvSpPr/>
          <p:nvPr/>
        </p:nvSpPr>
        <p:spPr>
          <a:xfrm>
            <a:off x="777240" y="46177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MÚSCULO" descr="Ilustración biomédica (Servier Medical Art, CC BY)"/>
          <p:cNvPicPr>
            <a:picLocks noChangeAspect="1"/>
          </p:cNvPicPr>
          <p:nvPr/>
        </p:nvPicPr>
        <p:blipFill>
          <a:blip r:embed="rId4"/>
          <a:stretch>
            <a:fillRect/>
          </a:stretch>
        </p:blipFill>
        <p:spPr>
          <a:xfrm>
            <a:off x="9509760" y="3108960"/>
            <a:ext cx="2286000" cy="1061357"/>
          </a:xfrm>
          <a:prstGeom prst="rect">
            <a:avLst/>
          </a:prstGeom>
        </p:spPr>
      </p:pic>
      <p:sp>
        <p:nvSpPr>
          <p:cNvPr id="11" name="!!Rótulo órgano MÚSCULO"/>
          <p:cNvSpPr/>
          <p:nvPr/>
        </p:nvSpPr>
        <p:spPr>
          <a:xfrm>
            <a:off x="9966960" y="425196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2" name="!!Órgano ADIPOSO" descr="Ilustración biomédica (Servier Medical Art, CC BY)"/>
          <p:cNvPicPr>
            <a:picLocks noChangeAspect="1"/>
          </p:cNvPicPr>
          <p:nvPr/>
        </p:nvPicPr>
        <p:blipFill>
          <a:blip r:embed="rId5"/>
          <a:stretch>
            <a:fillRect/>
          </a:stretch>
        </p:blipFill>
        <p:spPr>
          <a:xfrm>
            <a:off x="9875520" y="914400"/>
            <a:ext cx="1554480" cy="1585049"/>
          </a:xfrm>
          <a:prstGeom prst="rect">
            <a:avLst/>
          </a:prstGeom>
        </p:spPr>
      </p:pic>
      <p:sp>
        <p:nvSpPr>
          <p:cNvPr id="13" name="!!Rótulo órgano ADIPOSO"/>
          <p:cNvSpPr/>
          <p:nvPr/>
        </p:nvSpPr>
        <p:spPr>
          <a:xfrm>
            <a:off x="10012680" y="251460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4" name="!!Órgano ÓRGANOS BLANCO" descr="Ilustración biomédica (Servier Medical Art, CC BY)"/>
          <p:cNvPicPr>
            <a:picLocks noChangeAspect="1"/>
          </p:cNvPicPr>
          <p:nvPr/>
        </p:nvPicPr>
        <p:blipFill>
          <a:blip r:embed="rId6"/>
          <a:stretch>
            <a:fillRect/>
          </a:stretch>
        </p:blipFill>
        <p:spPr>
          <a:xfrm>
            <a:off x="4937760" y="3840480"/>
            <a:ext cx="1280160" cy="1105510"/>
          </a:xfrm>
          <a:prstGeom prst="rect">
            <a:avLst/>
          </a:prstGeom>
        </p:spPr>
      </p:pic>
      <p:sp>
        <p:nvSpPr>
          <p:cNvPr id="15" name="!!Rótulo órgano ÓRGANOS BLANCO"/>
          <p:cNvSpPr/>
          <p:nvPr/>
        </p:nvSpPr>
        <p:spPr>
          <a:xfrm>
            <a:off x="4572000" y="4983480"/>
            <a:ext cx="157812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ÓRGANOS BLANCO</a:t>
            </a:r>
            <a:endParaRPr lang="es-AR" sz="1250" dirty="0">
              <a:latin typeface="Fira Sans Condensed"/>
            </a:endParaRPr>
          </a:p>
        </p:txBody>
      </p:sp>
      <p:sp>
        <p:nvSpPr>
          <p:cNvPr id="16" name="!!Mapa elemento 0"/>
          <p:cNvSpPr/>
          <p:nvPr/>
        </p:nvSpPr>
        <p:spPr>
          <a:xfrm>
            <a:off x="2697480" y="1005840"/>
            <a:ext cx="196596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Resistencia</a:t>
            </a:r>
            <a:r>
              <a:rPr lang="es-AR" sz="1250" dirty="0">
                <a:solidFill>
                  <a:srgbClr val="1E1E1E"/>
                </a:solidFill>
                <a:latin typeface="Fira Sans Condensed"/>
                <a:ea typeface="Fira Sans Condensed"/>
                <a:cs typeface="Fira Sans Condensed"/>
                <a:sym typeface="Fira Sans Condensed"/>
              </a:rPr>
              <a:t> en hígado, músculo y adiposo</a:t>
            </a:r>
            <a:endParaRPr lang="es-AR" sz="1250" dirty="0">
              <a:latin typeface="Fira Sans Condensed"/>
            </a:endParaRPr>
          </a:p>
        </p:txBody>
      </p:sp>
      <p:grpSp>
        <p:nvGrpSpPr>
          <p:cNvPr id="17" name="!!Mapa elemento 1"/>
          <p:cNvGrpSpPr/>
          <p:nvPr/>
        </p:nvGrpSpPr>
        <p:grpSpPr>
          <a:xfrm>
            <a:off x="6583680" y="1508760"/>
            <a:ext cx="3246120" cy="226378"/>
            <a:chOff x="6583680" y="1508760"/>
            <a:chExt cx="3246120" cy="226378"/>
          </a:xfrm>
        </p:grpSpPr>
        <p:sp>
          <p:nvSpPr>
            <p:cNvPr id="18" name="Flecha 17_2"/>
            <p:cNvSpPr/>
            <p:nvPr/>
          </p:nvSpPr>
          <p:spPr>
            <a:xfrm>
              <a:off x="6583680" y="1645920"/>
              <a:ext cx="3246120" cy="9144"/>
            </a:xfrm>
            <a:custGeom>
              <a:avLst/>
              <a:gdLst/>
              <a:ahLst/>
              <a:cxnLst/>
              <a:rect l="0" t="0" r="r" b="b"/>
              <a:pathLst>
                <a:path w="3550" h="10" fill="none">
                  <a:moveTo>
                    <a:pt x="3550" y="0"/>
                  </a:moveTo>
                  <a:lnTo>
                    <a:pt x="0" y="0"/>
                  </a:lnTo>
                </a:path>
              </a:pathLst>
            </a:custGeom>
            <a:noFill/>
            <a:ln w="38100" cap="rnd">
              <a:solidFill>
                <a:srgbClr val="2563B0"/>
              </a:solidFill>
              <a:prstDash val="dash"/>
              <a:round/>
              <a:tailEnd type="triangle" w="med" len="med"/>
            </a:ln>
          </p:spPr>
        </p:sp>
        <p:sp>
          <p:nvSpPr>
            <p:cNvPr id="19" name="Rótulo AGNE · citocinas"/>
            <p:cNvSpPr/>
            <p:nvPr/>
          </p:nvSpPr>
          <p:spPr>
            <a:xfrm>
              <a:off x="7584983" y="150876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20" name="!!Mapa elemento 2"/>
          <p:cNvSpPr/>
          <p:nvPr/>
        </p:nvSpPr>
        <p:spPr>
          <a:xfrm>
            <a:off x="6812280" y="2148840"/>
            <a:ext cx="24688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HIPERINSULINEMIA compensadora</a:t>
            </a:r>
            <a:endParaRPr lang="es-AR" sz="1150" dirty="0">
              <a:latin typeface="Fira Sans Condensed"/>
            </a:endParaRPr>
          </a:p>
        </p:txBody>
      </p:sp>
      <p:grpSp>
        <p:nvGrpSpPr>
          <p:cNvPr id="21" name="!!Mapa elemento 3"/>
          <p:cNvGrpSpPr/>
          <p:nvPr/>
        </p:nvGrpSpPr>
        <p:grpSpPr>
          <a:xfrm>
            <a:off x="6583680" y="2377440"/>
            <a:ext cx="2880360" cy="1051560"/>
            <a:chOff x="6583680" y="2377440"/>
            <a:chExt cx="2880360" cy="1051560"/>
          </a:xfrm>
        </p:grpSpPr>
        <p:sp>
          <p:nvSpPr>
            <p:cNvPr id="22" name="Flecha 22_2"/>
            <p:cNvSpPr/>
            <p:nvPr/>
          </p:nvSpPr>
          <p:spPr>
            <a:xfrm>
              <a:off x="6583680" y="2377440"/>
              <a:ext cx="2880360" cy="1051560"/>
            </a:xfrm>
            <a:custGeom>
              <a:avLst/>
              <a:gdLst/>
              <a:ahLst/>
              <a:cxnLst/>
              <a:rect l="0" t="0" r="r" b="b"/>
              <a:pathLst>
                <a:path w="3149" h="1150" fill="none">
                  <a:moveTo>
                    <a:pt x="0" y="0"/>
                  </a:moveTo>
                  <a:lnTo>
                    <a:pt x="3149" y="1150"/>
                  </a:lnTo>
                </a:path>
              </a:pathLst>
            </a:custGeom>
            <a:noFill/>
            <a:ln w="38100" cap="rnd">
              <a:solidFill>
                <a:srgbClr val="1E8C3A"/>
              </a:solidFill>
              <a:round/>
              <a:tailEnd type="triangle" w="med" len="med"/>
            </a:ln>
          </p:spPr>
        </p:sp>
      </p:grpSp>
      <p:grpSp>
        <p:nvGrpSpPr>
          <p:cNvPr id="23" name="!!Mapa elemento 4"/>
          <p:cNvGrpSpPr/>
          <p:nvPr/>
        </p:nvGrpSpPr>
        <p:grpSpPr>
          <a:xfrm>
            <a:off x="2606040" y="2194560"/>
            <a:ext cx="2240280" cy="1097280"/>
            <a:chOff x="2606040" y="2194560"/>
            <a:chExt cx="2240280" cy="1097280"/>
          </a:xfrm>
        </p:grpSpPr>
        <p:sp>
          <p:nvSpPr>
            <p:cNvPr id="24" name="Flecha 25_2"/>
            <p:cNvSpPr/>
            <p:nvPr/>
          </p:nvSpPr>
          <p:spPr>
            <a:xfrm>
              <a:off x="2606040" y="2194560"/>
              <a:ext cx="2240280" cy="1097280"/>
            </a:xfrm>
            <a:custGeom>
              <a:avLst/>
              <a:gdLst/>
              <a:ahLst/>
              <a:cxnLst/>
              <a:rect l="0" t="0" r="r" b="b"/>
              <a:pathLst>
                <a:path w="2449" h="1200" fill="none">
                  <a:moveTo>
                    <a:pt x="2449" y="0"/>
                  </a:moveTo>
                  <a:lnTo>
                    <a:pt x="0" y="1200"/>
                  </a:lnTo>
                </a:path>
              </a:pathLst>
            </a:custGeom>
            <a:noFill/>
            <a:ln w="38100" cap="rnd">
              <a:solidFill>
                <a:srgbClr val="1E8C3A"/>
              </a:solidFill>
              <a:round/>
              <a:tailEnd type="triangle" w="med" len="med"/>
            </a:ln>
          </p:spPr>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MAPA 4 · DIABETES TIPO 2 · RESISTENCIA Y COMPENSACIÓN</a:t>
            </a:r>
            <a:endParaRPr lang="es-AR" sz="27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animEffect transition="in" filter="fade">
                                      <p:cBhvr>
                                        <p:cTn id="7" dur="500"/>
                                        <p:tgtEl>
                                          <p:spTgt spid="16"/>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21" fill="hold">
                      <p:stCondLst>
                        <p:cond delay="indefinite"/>
                      </p:stCondLst>
                      <p:childTnLst>
                        <p:par>
                          <p:cTn id="20"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6" fill="hold">
                      <p:stCondLst>
                        <p:cond delay="indefinite"/>
                      </p:stCondLst>
                      <p:childTnLst>
                        <p:par>
                          <p:cTn id="25"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31" fill="hold">
                      <p:stCondLst>
                        <p:cond delay="indefinite"/>
                      </p:stCondLst>
                      <p:childTnLst>
                        <p:par>
                          <p:cTn id="3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animBg="1"/>
    </p:bld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SLOTE β" descr="Ilustración biomédica (Servier Medical Art, CC BY)"/>
          <p:cNvPicPr>
            <a:picLocks noChangeAspect="1"/>
          </p:cNvPicPr>
          <p:nvPr/>
        </p:nvPicPr>
        <p:blipFill>
          <a:blip r:embed="rId2"/>
          <a:stretch>
            <a:fillRect/>
          </a:stretch>
        </p:blipFill>
        <p:spPr>
          <a:xfrm>
            <a:off x="4892040" y="914400"/>
            <a:ext cx="1600200" cy="1746126"/>
          </a:xfrm>
          <a:prstGeom prst="rect">
            <a:avLst/>
          </a:prstGeom>
        </p:spPr>
      </p:pic>
      <p:sp>
        <p:nvSpPr>
          <p:cNvPr id="7" name="!!Rótulo órgano ISLOTE β"/>
          <p:cNvSpPr/>
          <p:nvPr/>
        </p:nvSpPr>
        <p:spPr>
          <a:xfrm>
            <a:off x="5120640" y="2606040"/>
            <a:ext cx="89239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ISLOTE β</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3017520"/>
            <a:ext cx="2194560" cy="1592394"/>
          </a:xfrm>
          <a:prstGeom prst="rect">
            <a:avLst/>
          </a:prstGeom>
        </p:spPr>
      </p:pic>
      <p:sp>
        <p:nvSpPr>
          <p:cNvPr id="9" name="!!Rótulo órgano HÍGADO"/>
          <p:cNvSpPr/>
          <p:nvPr/>
        </p:nvSpPr>
        <p:spPr>
          <a:xfrm>
            <a:off x="777240" y="46177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MÚSCULO" descr="Ilustración biomédica (Servier Medical Art, CC BY)"/>
          <p:cNvPicPr>
            <a:picLocks noChangeAspect="1"/>
          </p:cNvPicPr>
          <p:nvPr/>
        </p:nvPicPr>
        <p:blipFill>
          <a:blip r:embed="rId4"/>
          <a:stretch>
            <a:fillRect/>
          </a:stretch>
        </p:blipFill>
        <p:spPr>
          <a:xfrm>
            <a:off x="9509760" y="3108960"/>
            <a:ext cx="2286000" cy="1061357"/>
          </a:xfrm>
          <a:prstGeom prst="rect">
            <a:avLst/>
          </a:prstGeom>
        </p:spPr>
      </p:pic>
      <p:sp>
        <p:nvSpPr>
          <p:cNvPr id="11" name="!!Rótulo órgano MÚSCULO"/>
          <p:cNvSpPr/>
          <p:nvPr/>
        </p:nvSpPr>
        <p:spPr>
          <a:xfrm>
            <a:off x="9966960" y="425196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2" name="!!Órgano ADIPOSO" descr="Ilustración biomédica (Servier Medical Art, CC BY)"/>
          <p:cNvPicPr>
            <a:picLocks noChangeAspect="1"/>
          </p:cNvPicPr>
          <p:nvPr/>
        </p:nvPicPr>
        <p:blipFill>
          <a:blip r:embed="rId5"/>
          <a:stretch>
            <a:fillRect/>
          </a:stretch>
        </p:blipFill>
        <p:spPr>
          <a:xfrm>
            <a:off x="9875520" y="914400"/>
            <a:ext cx="1554480" cy="1585049"/>
          </a:xfrm>
          <a:prstGeom prst="rect">
            <a:avLst/>
          </a:prstGeom>
        </p:spPr>
      </p:pic>
      <p:sp>
        <p:nvSpPr>
          <p:cNvPr id="13" name="!!Rótulo órgano ADIPOSO"/>
          <p:cNvSpPr/>
          <p:nvPr/>
        </p:nvSpPr>
        <p:spPr>
          <a:xfrm>
            <a:off x="10012680" y="251460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4" name="!!Órgano ÓRGANOS BLANCO" descr="Ilustración biomédica (Servier Medical Art, CC BY)"/>
          <p:cNvPicPr>
            <a:picLocks noChangeAspect="1"/>
          </p:cNvPicPr>
          <p:nvPr/>
        </p:nvPicPr>
        <p:blipFill>
          <a:blip r:embed="rId6"/>
          <a:stretch>
            <a:fillRect/>
          </a:stretch>
        </p:blipFill>
        <p:spPr>
          <a:xfrm>
            <a:off x="4937760" y="3840480"/>
            <a:ext cx="1280160" cy="1105510"/>
          </a:xfrm>
          <a:prstGeom prst="rect">
            <a:avLst/>
          </a:prstGeom>
        </p:spPr>
      </p:pic>
      <p:sp>
        <p:nvSpPr>
          <p:cNvPr id="15" name="!!Rótulo órgano ÓRGANOS BLANCO"/>
          <p:cNvSpPr/>
          <p:nvPr/>
        </p:nvSpPr>
        <p:spPr>
          <a:xfrm>
            <a:off x="4572000" y="4983480"/>
            <a:ext cx="157812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ÓRGANOS BLANCO</a:t>
            </a:r>
            <a:endParaRPr lang="es-AR" sz="1250" dirty="0">
              <a:latin typeface="Fira Sans Condensed"/>
            </a:endParaRPr>
          </a:p>
        </p:txBody>
      </p:sp>
      <p:sp>
        <p:nvSpPr>
          <p:cNvPr id="16" name="!!Mapa elemento 0"/>
          <p:cNvSpPr/>
          <p:nvPr/>
        </p:nvSpPr>
        <p:spPr>
          <a:xfrm>
            <a:off x="2697480" y="1005840"/>
            <a:ext cx="196596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Resistencia</a:t>
            </a:r>
            <a:r>
              <a:rPr lang="es-AR" sz="1250" dirty="0">
                <a:solidFill>
                  <a:srgbClr val="1E1E1E"/>
                </a:solidFill>
                <a:latin typeface="Fira Sans Condensed"/>
                <a:ea typeface="Fira Sans Condensed"/>
                <a:cs typeface="Fira Sans Condensed"/>
                <a:sym typeface="Fira Sans Condensed"/>
              </a:rPr>
              <a:t> en hígado, músculo y adiposo</a:t>
            </a:r>
            <a:endParaRPr lang="es-AR" sz="1250" dirty="0">
              <a:latin typeface="Fira Sans Condensed"/>
            </a:endParaRPr>
          </a:p>
        </p:txBody>
      </p:sp>
      <p:grpSp>
        <p:nvGrpSpPr>
          <p:cNvPr id="17" name="!!Mapa elemento 1"/>
          <p:cNvGrpSpPr/>
          <p:nvPr/>
        </p:nvGrpSpPr>
        <p:grpSpPr>
          <a:xfrm>
            <a:off x="6583680" y="1508760"/>
            <a:ext cx="3246120" cy="226378"/>
            <a:chOff x="6583680" y="1508760"/>
            <a:chExt cx="3246120" cy="226378"/>
          </a:xfrm>
        </p:grpSpPr>
        <p:sp>
          <p:nvSpPr>
            <p:cNvPr id="18" name="Flecha 17_2"/>
            <p:cNvSpPr/>
            <p:nvPr/>
          </p:nvSpPr>
          <p:spPr>
            <a:xfrm>
              <a:off x="6583680" y="1645920"/>
              <a:ext cx="3246120" cy="9144"/>
            </a:xfrm>
            <a:custGeom>
              <a:avLst/>
              <a:gdLst/>
              <a:ahLst/>
              <a:cxnLst/>
              <a:rect l="0" t="0" r="r" b="b"/>
              <a:pathLst>
                <a:path w="3550" h="10" fill="none">
                  <a:moveTo>
                    <a:pt x="3550" y="0"/>
                  </a:moveTo>
                  <a:lnTo>
                    <a:pt x="0" y="0"/>
                  </a:lnTo>
                </a:path>
              </a:pathLst>
            </a:custGeom>
            <a:noFill/>
            <a:ln w="38100" cap="rnd">
              <a:solidFill>
                <a:srgbClr val="2563B0"/>
              </a:solidFill>
              <a:prstDash val="dash"/>
              <a:round/>
              <a:tailEnd type="triangle" w="med" len="med"/>
            </a:ln>
          </p:spPr>
        </p:sp>
        <p:sp>
          <p:nvSpPr>
            <p:cNvPr id="19" name="Rótulo AGNE · citocinas"/>
            <p:cNvSpPr/>
            <p:nvPr/>
          </p:nvSpPr>
          <p:spPr>
            <a:xfrm>
              <a:off x="7584983" y="150876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20" name="!!Mapa elemento 2"/>
          <p:cNvSpPr/>
          <p:nvPr/>
        </p:nvSpPr>
        <p:spPr>
          <a:xfrm>
            <a:off x="6812280" y="2148840"/>
            <a:ext cx="24688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HIPERINSULINEMIA compensadora</a:t>
            </a:r>
            <a:endParaRPr lang="es-AR" sz="1150" dirty="0">
              <a:latin typeface="Fira Sans Condensed"/>
            </a:endParaRPr>
          </a:p>
        </p:txBody>
      </p:sp>
      <p:grpSp>
        <p:nvGrpSpPr>
          <p:cNvPr id="21" name="!!Mapa elemento 3"/>
          <p:cNvGrpSpPr/>
          <p:nvPr/>
        </p:nvGrpSpPr>
        <p:grpSpPr>
          <a:xfrm>
            <a:off x="6583680" y="2377440"/>
            <a:ext cx="2880360" cy="1051560"/>
            <a:chOff x="6583680" y="2377440"/>
            <a:chExt cx="2880360" cy="1051560"/>
          </a:xfrm>
        </p:grpSpPr>
        <p:sp>
          <p:nvSpPr>
            <p:cNvPr id="22" name="Flecha 22_2"/>
            <p:cNvSpPr/>
            <p:nvPr/>
          </p:nvSpPr>
          <p:spPr>
            <a:xfrm>
              <a:off x="6583680" y="2377440"/>
              <a:ext cx="2880360" cy="1051560"/>
            </a:xfrm>
            <a:custGeom>
              <a:avLst/>
              <a:gdLst/>
              <a:ahLst/>
              <a:cxnLst/>
              <a:rect l="0" t="0" r="r" b="b"/>
              <a:pathLst>
                <a:path w="3149" h="1150" fill="none">
                  <a:moveTo>
                    <a:pt x="0" y="0"/>
                  </a:moveTo>
                  <a:lnTo>
                    <a:pt x="3149" y="1150"/>
                  </a:lnTo>
                </a:path>
              </a:pathLst>
            </a:custGeom>
            <a:noFill/>
            <a:ln w="38100" cap="rnd">
              <a:solidFill>
                <a:srgbClr val="1E8C3A"/>
              </a:solidFill>
              <a:round/>
              <a:tailEnd type="triangle" w="med" len="med"/>
            </a:ln>
          </p:spPr>
        </p:sp>
      </p:grpSp>
      <p:grpSp>
        <p:nvGrpSpPr>
          <p:cNvPr id="23" name="!!Mapa elemento 4"/>
          <p:cNvGrpSpPr/>
          <p:nvPr/>
        </p:nvGrpSpPr>
        <p:grpSpPr>
          <a:xfrm>
            <a:off x="2606040" y="2194560"/>
            <a:ext cx="2240280" cy="1097280"/>
            <a:chOff x="2606040" y="2194560"/>
            <a:chExt cx="2240280" cy="1097280"/>
          </a:xfrm>
        </p:grpSpPr>
        <p:sp>
          <p:nvSpPr>
            <p:cNvPr id="24" name="Flecha 25_2"/>
            <p:cNvSpPr/>
            <p:nvPr/>
          </p:nvSpPr>
          <p:spPr>
            <a:xfrm>
              <a:off x="2606040" y="2194560"/>
              <a:ext cx="2240280" cy="1097280"/>
            </a:xfrm>
            <a:custGeom>
              <a:avLst/>
              <a:gdLst/>
              <a:ahLst/>
              <a:cxnLst/>
              <a:rect l="0" t="0" r="r" b="b"/>
              <a:pathLst>
                <a:path w="2449" h="1200" fill="none">
                  <a:moveTo>
                    <a:pt x="2449" y="0"/>
                  </a:moveTo>
                  <a:lnTo>
                    <a:pt x="0" y="1200"/>
                  </a:lnTo>
                </a:path>
              </a:pathLst>
            </a:custGeom>
            <a:noFill/>
            <a:ln w="38100" cap="rnd">
              <a:solidFill>
                <a:srgbClr val="1E8C3A"/>
              </a:solidFill>
              <a:round/>
              <a:tailEnd type="triangle" w="med" len="med"/>
            </a:ln>
          </p:spPr>
        </p:sp>
      </p:grpSp>
      <p:sp>
        <p:nvSpPr>
          <p:cNvPr id="25" name="!!Mapa elemento 5"/>
          <p:cNvSpPr/>
          <p:nvPr/>
        </p:nvSpPr>
        <p:spPr>
          <a:xfrm>
            <a:off x="2697480" y="2514600"/>
            <a:ext cx="1965960" cy="7772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Gluco/lipotoxicidad · estrés RE</a:t>
            </a:r>
            <a:endParaRPr lang="es-AR" sz="1150" dirty="0">
              <a:latin typeface="Fira Sans Condensed"/>
            </a:endParaRPr>
          </a:p>
        </p:txBody>
      </p:sp>
      <p:sp>
        <p:nvSpPr>
          <p:cNvPr id="26" name="!!Mapa elemento 6"/>
          <p:cNvSpPr/>
          <p:nvPr/>
        </p:nvSpPr>
        <p:spPr>
          <a:xfrm>
            <a:off x="6812280" y="2834640"/>
            <a:ext cx="246888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Disfunción β progresiva</a:t>
            </a:r>
            <a:endParaRPr lang="es-AR" sz="1250" dirty="0">
              <a:latin typeface="Fira Sans Condensed"/>
            </a:endParaRPr>
          </a:p>
        </p:txBody>
      </p:sp>
      <p:sp>
        <p:nvSpPr>
          <p:cNvPr id="27" name="!!Mapa elemento 7"/>
          <p:cNvSpPr/>
          <p:nvPr/>
        </p:nvSpPr>
        <p:spPr>
          <a:xfrm>
            <a:off x="2697480" y="3520440"/>
            <a:ext cx="2057400" cy="11430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Glucemia ↑ sostenida (PHG ↑, captación ↓)</a:t>
            </a:r>
            <a:endParaRPr lang="es-AR" sz="1200" dirty="0">
              <a:latin typeface="Fira Sans Condensed"/>
            </a:endParaRPr>
          </a:p>
        </p:txBody>
      </p:sp>
      <p:grpSp>
        <p:nvGrpSpPr>
          <p:cNvPr id="28" name="!!Mapa elemento 8"/>
          <p:cNvGrpSpPr/>
          <p:nvPr/>
        </p:nvGrpSpPr>
        <p:grpSpPr>
          <a:xfrm>
            <a:off x="4773168" y="4069080"/>
            <a:ext cx="256032" cy="228600"/>
            <a:chOff x="4773168" y="4069080"/>
            <a:chExt cx="256032" cy="228600"/>
          </a:xfrm>
        </p:grpSpPr>
        <p:sp>
          <p:nvSpPr>
            <p:cNvPr id="29" name="Flecha 31_2"/>
            <p:cNvSpPr/>
            <p:nvPr/>
          </p:nvSpPr>
          <p:spPr>
            <a:xfrm>
              <a:off x="4773168" y="4069080"/>
              <a:ext cx="256032" cy="228600"/>
            </a:xfrm>
            <a:custGeom>
              <a:avLst/>
              <a:gdLst/>
              <a:ahLst/>
              <a:cxnLst/>
              <a:rect l="0" t="0" r="r" b="b"/>
              <a:pathLst>
                <a:path w="280" h="250" fill="none">
                  <a:moveTo>
                    <a:pt x="0" y="0"/>
                  </a:moveTo>
                  <a:lnTo>
                    <a:pt x="280" y="250"/>
                  </a:lnTo>
                </a:path>
              </a:pathLst>
            </a:custGeom>
            <a:noFill/>
            <a:ln w="38100" cap="rnd">
              <a:solidFill>
                <a:srgbClr val="1E1E1E"/>
              </a:solidFill>
              <a:round/>
              <a:tailEnd type="triangle" w="med" len="med"/>
            </a:ln>
          </p:spPr>
        </p:sp>
      </p:grpSp>
      <p:sp>
        <p:nvSpPr>
          <p:cNvPr id="30" name="!!Mapa elemento 9"/>
          <p:cNvSpPr/>
          <p:nvPr/>
        </p:nvSpPr>
        <p:spPr>
          <a:xfrm>
            <a:off x="6583680" y="3977640"/>
            <a:ext cx="274320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Micro y macroangiopatía</a:t>
            </a:r>
            <a:endParaRPr lang="es-AR" sz="12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MAPA 4 · DIABETES TIPO 2 · FRACASO </a:t>
            </a:r>
            <a:r>
              <a:rPr lang="es-AR" sz="3400" dirty="0">
                <a:solidFill>
                  <a:srgbClr val="1E1E1E"/>
                </a:solidFill>
                <a:effectLst>
                  <a:glow rad="101600">
                    <a:srgbClr val="FFFFFF">
                      <a:alpha val="70000"/>
                    </a:srgbClr>
                  </a:glow>
                </a:effectLst>
                <a:latin typeface="Fira Sans Condensed"/>
                <a:ea typeface="Fira Sans Condensed"/>
                <a:cs typeface="Fira Sans Condensed"/>
                <a:sym typeface="Fira Sans Condensed"/>
              </a:rPr>
              <a:t>β</a:t>
            </a: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 Y DAÑO</a:t>
            </a:r>
            <a:endParaRPr lang="es-AR" sz="34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142</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 calcmode="lin" valueType="num">
                                      <p:cBhvr>
                                        <p:cTn id="5" dur="500" fill="hold"/>
                                        <p:tgtEl>
                                          <p:spTgt spid="25"/>
                                        </p:tgtEl>
                                        <p:attrNameLst>
                                          <p:attrName>ppt_w</p:attrName>
                                        </p:attrNameLst>
                                      </p:cBhvr>
                                      <p:tavLst>
                                        <p:tav tm="0">
                                          <p:val>
                                            <p:fltVal val="0"/>
                                          </p:val>
                                        </p:tav>
                                        <p:tav tm="100000">
                                          <p:val>
                                            <p:strVal val="#ppt_w"/>
                                          </p:val>
                                        </p:tav>
                                      </p:tavLst>
                                    </p:anim>
                                    <p:anim calcmode="lin" valueType="num">
                                      <p:cBhvr>
                                        <p:cTn id="6" dur="500" fill="hold"/>
                                        <p:tgtEl>
                                          <p:spTgt spid="25"/>
                                        </p:tgtEl>
                                        <p:attrNameLst>
                                          <p:attrName>ppt_h</p:attrName>
                                        </p:attrNameLst>
                                      </p:cBhvr>
                                      <p:tavLst>
                                        <p:tav tm="0">
                                          <p:val>
                                            <p:fltVal val="0"/>
                                          </p:val>
                                        </p:tav>
                                        <p:tav tm="100000">
                                          <p:val>
                                            <p:strVal val="#ppt_h"/>
                                          </p:val>
                                        </p:tav>
                                      </p:tavLst>
                                    </p:anim>
                                    <p:animEffect transition="in" filter="fade">
                                      <p:cBhvr>
                                        <p:cTn id="7" dur="500"/>
                                        <p:tgtEl>
                                          <p:spTgt spid="25"/>
                                        </p:tgtEl>
                                      </p:cBhvr>
                                    </p:animEffect>
                                  </p:childTnLst>
                                </p:cTn>
                              </p:par>
                            </p:childTnLst>
                          </p:cTn>
                        </p:par>
                      </p:childTnLst>
                    </p:cTn>
                  </p:par>
                  <p:par>
                    <p:cTn id="16" fill="hold">
                      <p:stCondLst>
                        <p:cond delay="indefinite"/>
                      </p:stCondLst>
                      <p:childTnLst>
                        <p:par>
                          <p:cTn id="15"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fill="hold"/>
                                        <p:tgtEl>
                                          <p:spTgt spid="26"/>
                                        </p:tgtEl>
                                        <p:attrNameLst>
                                          <p:attrName>ppt_w</p:attrName>
                                        </p:attrNameLst>
                                      </p:cBhvr>
                                      <p:tavLst>
                                        <p:tav tm="0">
                                          <p:val>
                                            <p:fltVal val="0"/>
                                          </p:val>
                                        </p:tav>
                                        <p:tav tm="100000">
                                          <p:val>
                                            <p:strVal val="#ppt_w"/>
                                          </p:val>
                                        </p:tav>
                                      </p:tavLst>
                                    </p:anim>
                                    <p:anim calcmode="lin" valueType="num">
                                      <p:cBhvr>
                                        <p:cTn id="13" dur="500" fill="hold"/>
                                        <p:tgtEl>
                                          <p:spTgt spid="26"/>
                                        </p:tgtEl>
                                        <p:attrNameLst>
                                          <p:attrName>ppt_h</p:attrName>
                                        </p:attrNameLst>
                                      </p:cBhvr>
                                      <p:tavLst>
                                        <p:tav tm="0">
                                          <p:val>
                                            <p:fltVal val="0"/>
                                          </p:val>
                                        </p:tav>
                                        <p:tav tm="100000">
                                          <p:val>
                                            <p:strVal val="#ppt_h"/>
                                          </p:val>
                                        </p:tav>
                                      </p:tavLst>
                                    </p:anim>
                                    <p:animEffect transition="in" filter="fade">
                                      <p:cBhvr>
                                        <p:cTn id="14" dur="500"/>
                                        <p:tgtEl>
                                          <p:spTgt spid="26"/>
                                        </p:tgtEl>
                                      </p:cBhvr>
                                    </p:animEffect>
                                  </p:childTnLst>
                                </p:cTn>
                              </p:par>
                            </p:childTnLst>
                          </p:cTn>
                        </p:par>
                      </p:childTnLst>
                    </p:cTn>
                  </p:par>
                  <p:par>
                    <p:cTn id="23" fill="hold">
                      <p:stCondLst>
                        <p:cond delay="indefinite"/>
                      </p:stCondLst>
                      <p:childTnLst>
                        <p:par>
                          <p:cTn id="22"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Effect transition="in" filter="fade">
                                      <p:cBhvr>
                                        <p:cTn id="21" dur="500"/>
                                        <p:tgtEl>
                                          <p:spTgt spid="27"/>
                                        </p:tgtEl>
                                      </p:cBhvr>
                                    </p:animEffect>
                                  </p:childTnLst>
                                </p:cTn>
                              </p:par>
                            </p:childTnLst>
                          </p:cTn>
                        </p:par>
                      </p:childTnLst>
                    </p:cTn>
                  </p:par>
                  <p:par>
                    <p:cTn id="28"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35" fill="hold">
                      <p:stCondLst>
                        <p:cond delay="indefinite"/>
                      </p:stCondLst>
                      <p:childTnLst>
                        <p:par>
                          <p:cTn id="34"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0" grpId="0" animBg="1"/>
    </p:bld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Órgano ISLOTE β" descr="Ilustración biomédica (Servier Medical Art, CC BY)"/>
          <p:cNvPicPr>
            <a:picLocks noChangeAspect="1"/>
          </p:cNvPicPr>
          <p:nvPr/>
        </p:nvPicPr>
        <p:blipFill>
          <a:blip r:embed="rId2"/>
          <a:stretch>
            <a:fillRect/>
          </a:stretch>
        </p:blipFill>
        <p:spPr>
          <a:xfrm>
            <a:off x="4892040" y="914400"/>
            <a:ext cx="1600200" cy="1746126"/>
          </a:xfrm>
          <a:prstGeom prst="rect">
            <a:avLst/>
          </a:prstGeom>
        </p:spPr>
      </p:pic>
      <p:sp>
        <p:nvSpPr>
          <p:cNvPr id="7" name="!!Rótulo órgano ISLOTE β"/>
          <p:cNvSpPr/>
          <p:nvPr/>
        </p:nvSpPr>
        <p:spPr>
          <a:xfrm>
            <a:off x="5120640" y="2606040"/>
            <a:ext cx="89239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ISLOTE β</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365760" y="3017520"/>
            <a:ext cx="2194560" cy="1592394"/>
          </a:xfrm>
          <a:prstGeom prst="rect">
            <a:avLst/>
          </a:prstGeom>
        </p:spPr>
      </p:pic>
      <p:sp>
        <p:nvSpPr>
          <p:cNvPr id="9" name="!!Rótulo órgano HÍGADO"/>
          <p:cNvSpPr/>
          <p:nvPr/>
        </p:nvSpPr>
        <p:spPr>
          <a:xfrm>
            <a:off x="777240" y="46177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MÚSCULO" descr="Ilustración biomédica (Servier Medical Art, CC BY)"/>
          <p:cNvPicPr>
            <a:picLocks noChangeAspect="1"/>
          </p:cNvPicPr>
          <p:nvPr/>
        </p:nvPicPr>
        <p:blipFill>
          <a:blip r:embed="rId4"/>
          <a:stretch>
            <a:fillRect/>
          </a:stretch>
        </p:blipFill>
        <p:spPr>
          <a:xfrm>
            <a:off x="9509760" y="3108960"/>
            <a:ext cx="2286000" cy="1061357"/>
          </a:xfrm>
          <a:prstGeom prst="rect">
            <a:avLst/>
          </a:prstGeom>
        </p:spPr>
      </p:pic>
      <p:sp>
        <p:nvSpPr>
          <p:cNvPr id="11" name="!!Rótulo órgano MÚSCULO"/>
          <p:cNvSpPr/>
          <p:nvPr/>
        </p:nvSpPr>
        <p:spPr>
          <a:xfrm>
            <a:off x="9966960" y="425196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2" name="!!Órgano ADIPOSO" descr="Ilustración biomédica (Servier Medical Art, CC BY)"/>
          <p:cNvPicPr>
            <a:picLocks noChangeAspect="1"/>
          </p:cNvPicPr>
          <p:nvPr/>
        </p:nvPicPr>
        <p:blipFill>
          <a:blip r:embed="rId5"/>
          <a:stretch>
            <a:fillRect/>
          </a:stretch>
        </p:blipFill>
        <p:spPr>
          <a:xfrm>
            <a:off x="9875520" y="914400"/>
            <a:ext cx="1554480" cy="1585049"/>
          </a:xfrm>
          <a:prstGeom prst="rect">
            <a:avLst/>
          </a:prstGeom>
        </p:spPr>
      </p:pic>
      <p:sp>
        <p:nvSpPr>
          <p:cNvPr id="13" name="!!Rótulo órgano ADIPOSO"/>
          <p:cNvSpPr/>
          <p:nvPr/>
        </p:nvSpPr>
        <p:spPr>
          <a:xfrm>
            <a:off x="10012680" y="2514600"/>
            <a:ext cx="92619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a:t>
            </a:r>
            <a:endParaRPr lang="es-AR" sz="1250" dirty="0">
              <a:latin typeface="Fira Sans Condensed"/>
            </a:endParaRPr>
          </a:p>
        </p:txBody>
      </p:sp>
      <p:pic>
        <p:nvPicPr>
          <p:cNvPr id="14" name="!!Órgano ÓRGANOS BLANCO" descr="Ilustración biomédica (Servier Medical Art, CC BY)"/>
          <p:cNvPicPr>
            <a:picLocks noChangeAspect="1"/>
          </p:cNvPicPr>
          <p:nvPr/>
        </p:nvPicPr>
        <p:blipFill>
          <a:blip r:embed="rId6"/>
          <a:stretch>
            <a:fillRect/>
          </a:stretch>
        </p:blipFill>
        <p:spPr>
          <a:xfrm>
            <a:off x="4937760" y="3840480"/>
            <a:ext cx="1280160" cy="1105510"/>
          </a:xfrm>
          <a:prstGeom prst="rect">
            <a:avLst/>
          </a:prstGeom>
        </p:spPr>
      </p:pic>
      <p:sp>
        <p:nvSpPr>
          <p:cNvPr id="15" name="!!Rótulo órgano ÓRGANOS BLANCO"/>
          <p:cNvSpPr/>
          <p:nvPr/>
        </p:nvSpPr>
        <p:spPr>
          <a:xfrm>
            <a:off x="4572000" y="4983480"/>
            <a:ext cx="157812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ÓRGANOS BLANCO</a:t>
            </a:r>
            <a:endParaRPr lang="es-AR" sz="1250" dirty="0">
              <a:latin typeface="Fira Sans Condensed"/>
            </a:endParaRPr>
          </a:p>
        </p:txBody>
      </p:sp>
      <p:sp>
        <p:nvSpPr>
          <p:cNvPr id="16" name="!!Mapa elemento 0"/>
          <p:cNvSpPr/>
          <p:nvPr/>
        </p:nvSpPr>
        <p:spPr>
          <a:xfrm>
            <a:off x="2697480" y="1005840"/>
            <a:ext cx="1965960" cy="13716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b="1" dirty="0">
                <a:solidFill>
                  <a:srgbClr val="1E1E1E"/>
                </a:solidFill>
                <a:latin typeface="Fira Sans Condensed"/>
                <a:ea typeface="Fira Sans Condensed"/>
                <a:cs typeface="Fira Sans Condensed"/>
                <a:sym typeface="Fira Sans Condensed"/>
              </a:rPr>
              <a:t>Resistencia</a:t>
            </a:r>
            <a:r>
              <a:rPr lang="es-AR" sz="1250" dirty="0">
                <a:solidFill>
                  <a:srgbClr val="1E1E1E"/>
                </a:solidFill>
                <a:latin typeface="Fira Sans Condensed"/>
                <a:ea typeface="Fira Sans Condensed"/>
                <a:cs typeface="Fira Sans Condensed"/>
                <a:sym typeface="Fira Sans Condensed"/>
              </a:rPr>
              <a:t> en hígado, músculo y adiposo</a:t>
            </a:r>
            <a:endParaRPr lang="es-AR" sz="1250" dirty="0">
              <a:latin typeface="Fira Sans Condensed"/>
            </a:endParaRPr>
          </a:p>
        </p:txBody>
      </p:sp>
      <p:grpSp>
        <p:nvGrpSpPr>
          <p:cNvPr id="17" name="!!Mapa elemento 1"/>
          <p:cNvGrpSpPr/>
          <p:nvPr/>
        </p:nvGrpSpPr>
        <p:grpSpPr>
          <a:xfrm>
            <a:off x="6583680" y="1508760"/>
            <a:ext cx="3246120" cy="226378"/>
            <a:chOff x="6583680" y="1508760"/>
            <a:chExt cx="3246120" cy="226378"/>
          </a:xfrm>
        </p:grpSpPr>
        <p:sp>
          <p:nvSpPr>
            <p:cNvPr id="18" name="Flecha 17_2"/>
            <p:cNvSpPr/>
            <p:nvPr/>
          </p:nvSpPr>
          <p:spPr>
            <a:xfrm>
              <a:off x="6583680" y="1645920"/>
              <a:ext cx="3246120" cy="9144"/>
            </a:xfrm>
            <a:custGeom>
              <a:avLst/>
              <a:gdLst/>
              <a:ahLst/>
              <a:cxnLst/>
              <a:rect l="0" t="0" r="r" b="b"/>
              <a:pathLst>
                <a:path w="3550" h="10" fill="none">
                  <a:moveTo>
                    <a:pt x="3550" y="0"/>
                  </a:moveTo>
                  <a:lnTo>
                    <a:pt x="0" y="0"/>
                  </a:lnTo>
                </a:path>
              </a:pathLst>
            </a:custGeom>
            <a:noFill/>
            <a:ln w="38100" cap="rnd">
              <a:solidFill>
                <a:srgbClr val="2563B0"/>
              </a:solidFill>
              <a:prstDash val="dash"/>
              <a:round/>
              <a:tailEnd type="triangle" w="med" len="med"/>
            </a:ln>
          </p:spPr>
        </p:sp>
        <p:sp>
          <p:nvSpPr>
            <p:cNvPr id="19" name="Rótulo AGNE · citocinas"/>
            <p:cNvSpPr/>
            <p:nvPr/>
          </p:nvSpPr>
          <p:spPr>
            <a:xfrm>
              <a:off x="7584983" y="150876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20" name="!!Mapa elemento 2"/>
          <p:cNvSpPr/>
          <p:nvPr/>
        </p:nvSpPr>
        <p:spPr>
          <a:xfrm>
            <a:off x="6812280" y="2148840"/>
            <a:ext cx="246888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HIPERINSULINEMIA compensadora</a:t>
            </a:r>
            <a:endParaRPr lang="es-AR" sz="1150" dirty="0">
              <a:latin typeface="Fira Sans Condensed"/>
            </a:endParaRPr>
          </a:p>
        </p:txBody>
      </p:sp>
      <p:grpSp>
        <p:nvGrpSpPr>
          <p:cNvPr id="21" name="!!Mapa elemento 3"/>
          <p:cNvGrpSpPr/>
          <p:nvPr/>
        </p:nvGrpSpPr>
        <p:grpSpPr>
          <a:xfrm>
            <a:off x="6583680" y="2377440"/>
            <a:ext cx="2880360" cy="1051560"/>
            <a:chOff x="6583680" y="2377440"/>
            <a:chExt cx="2880360" cy="1051560"/>
          </a:xfrm>
        </p:grpSpPr>
        <p:sp>
          <p:nvSpPr>
            <p:cNvPr id="22" name="Flecha 22_2"/>
            <p:cNvSpPr/>
            <p:nvPr/>
          </p:nvSpPr>
          <p:spPr>
            <a:xfrm>
              <a:off x="6583680" y="2377440"/>
              <a:ext cx="2880360" cy="1051560"/>
            </a:xfrm>
            <a:custGeom>
              <a:avLst/>
              <a:gdLst/>
              <a:ahLst/>
              <a:cxnLst/>
              <a:rect l="0" t="0" r="r" b="b"/>
              <a:pathLst>
                <a:path w="3149" h="1150" fill="none">
                  <a:moveTo>
                    <a:pt x="0" y="0"/>
                  </a:moveTo>
                  <a:lnTo>
                    <a:pt x="3149" y="1150"/>
                  </a:lnTo>
                </a:path>
              </a:pathLst>
            </a:custGeom>
            <a:noFill/>
            <a:ln w="38100" cap="rnd">
              <a:solidFill>
                <a:srgbClr val="1E8C3A"/>
              </a:solidFill>
              <a:round/>
              <a:tailEnd type="triangle" w="med" len="med"/>
            </a:ln>
          </p:spPr>
        </p:sp>
      </p:grpSp>
      <p:grpSp>
        <p:nvGrpSpPr>
          <p:cNvPr id="23" name="!!Mapa elemento 4"/>
          <p:cNvGrpSpPr/>
          <p:nvPr/>
        </p:nvGrpSpPr>
        <p:grpSpPr>
          <a:xfrm>
            <a:off x="2606040" y="2194560"/>
            <a:ext cx="2240280" cy="1097280"/>
            <a:chOff x="2606040" y="2194560"/>
            <a:chExt cx="2240280" cy="1097280"/>
          </a:xfrm>
        </p:grpSpPr>
        <p:sp>
          <p:nvSpPr>
            <p:cNvPr id="24" name="Flecha 25_2"/>
            <p:cNvSpPr/>
            <p:nvPr/>
          </p:nvSpPr>
          <p:spPr>
            <a:xfrm>
              <a:off x="2606040" y="2194560"/>
              <a:ext cx="2240280" cy="1097280"/>
            </a:xfrm>
            <a:custGeom>
              <a:avLst/>
              <a:gdLst/>
              <a:ahLst/>
              <a:cxnLst/>
              <a:rect l="0" t="0" r="r" b="b"/>
              <a:pathLst>
                <a:path w="2449" h="1200" fill="none">
                  <a:moveTo>
                    <a:pt x="2449" y="0"/>
                  </a:moveTo>
                  <a:lnTo>
                    <a:pt x="0" y="1200"/>
                  </a:lnTo>
                </a:path>
              </a:pathLst>
            </a:custGeom>
            <a:noFill/>
            <a:ln w="38100" cap="rnd">
              <a:solidFill>
                <a:srgbClr val="1E8C3A"/>
              </a:solidFill>
              <a:round/>
              <a:tailEnd type="triangle" w="med" len="med"/>
            </a:ln>
          </p:spPr>
        </p:sp>
      </p:grpSp>
      <p:sp>
        <p:nvSpPr>
          <p:cNvPr id="25" name="!!Mapa elemento 5"/>
          <p:cNvSpPr/>
          <p:nvPr/>
        </p:nvSpPr>
        <p:spPr>
          <a:xfrm>
            <a:off x="2697480" y="2514600"/>
            <a:ext cx="1965960" cy="7772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Gluco/lipotoxicidad · estrés RE</a:t>
            </a:r>
            <a:endParaRPr lang="es-AR" sz="1150" dirty="0">
              <a:latin typeface="Fira Sans Condensed"/>
            </a:endParaRPr>
          </a:p>
        </p:txBody>
      </p:sp>
      <p:sp>
        <p:nvSpPr>
          <p:cNvPr id="26" name="!!Mapa elemento 6"/>
          <p:cNvSpPr/>
          <p:nvPr/>
        </p:nvSpPr>
        <p:spPr>
          <a:xfrm>
            <a:off x="6812280" y="2834640"/>
            <a:ext cx="246888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Disfunción β progresiva</a:t>
            </a:r>
            <a:endParaRPr lang="es-AR" sz="1250" dirty="0">
              <a:latin typeface="Fira Sans Condensed"/>
            </a:endParaRPr>
          </a:p>
        </p:txBody>
      </p:sp>
      <p:sp>
        <p:nvSpPr>
          <p:cNvPr id="27" name="!!Mapa elemento 7"/>
          <p:cNvSpPr/>
          <p:nvPr/>
        </p:nvSpPr>
        <p:spPr>
          <a:xfrm>
            <a:off x="2697480" y="3520440"/>
            <a:ext cx="2057400" cy="11430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Glucemia ↑ sostenida (PHG ↑, captación ↓)</a:t>
            </a:r>
            <a:endParaRPr lang="es-AR" sz="1200" dirty="0">
              <a:latin typeface="Fira Sans Condensed"/>
            </a:endParaRPr>
          </a:p>
        </p:txBody>
      </p:sp>
      <p:grpSp>
        <p:nvGrpSpPr>
          <p:cNvPr id="28" name="!!Mapa elemento 8"/>
          <p:cNvGrpSpPr/>
          <p:nvPr/>
        </p:nvGrpSpPr>
        <p:grpSpPr>
          <a:xfrm>
            <a:off x="4773168" y="4069080"/>
            <a:ext cx="256032" cy="228600"/>
            <a:chOff x="4773168" y="4069080"/>
            <a:chExt cx="256032" cy="228600"/>
          </a:xfrm>
        </p:grpSpPr>
        <p:sp>
          <p:nvSpPr>
            <p:cNvPr id="29" name="Flecha 31_2"/>
            <p:cNvSpPr/>
            <p:nvPr/>
          </p:nvSpPr>
          <p:spPr>
            <a:xfrm>
              <a:off x="4773168" y="4069080"/>
              <a:ext cx="256032" cy="228600"/>
            </a:xfrm>
            <a:custGeom>
              <a:avLst/>
              <a:gdLst/>
              <a:ahLst/>
              <a:cxnLst/>
              <a:rect l="0" t="0" r="r" b="b"/>
              <a:pathLst>
                <a:path w="280" h="250" fill="none">
                  <a:moveTo>
                    <a:pt x="0" y="0"/>
                  </a:moveTo>
                  <a:lnTo>
                    <a:pt x="280" y="250"/>
                  </a:lnTo>
                </a:path>
              </a:pathLst>
            </a:custGeom>
            <a:noFill/>
            <a:ln w="38100" cap="rnd">
              <a:solidFill>
                <a:srgbClr val="1E1E1E"/>
              </a:solidFill>
              <a:round/>
              <a:tailEnd type="triangle" w="med" len="med"/>
            </a:ln>
          </p:spPr>
        </p:sp>
      </p:grpSp>
      <p:sp>
        <p:nvSpPr>
          <p:cNvPr id="30" name="!!Mapa elemento 9"/>
          <p:cNvSpPr/>
          <p:nvPr/>
        </p:nvSpPr>
        <p:spPr>
          <a:xfrm>
            <a:off x="6583680" y="3977640"/>
            <a:ext cx="274320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Micro y macroangiopatía</a:t>
            </a:r>
            <a:endParaRPr lang="es-AR" sz="1250" dirty="0">
              <a:latin typeface="Fira Sans Condensed"/>
            </a:endParaRPr>
          </a:p>
        </p:txBody>
      </p:sp>
      <p:sp>
        <p:nvSpPr>
          <p:cNvPr id="31" name="!!Conclusión mapa"/>
          <p:cNvSpPr/>
          <p:nvPr/>
        </p:nvSpPr>
        <p:spPr>
          <a:xfrm>
            <a:off x="365760" y="5623560"/>
            <a:ext cx="1147572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Resistencia → </a:t>
            </a:r>
            <a:r>
              <a:rPr lang="es-AR" sz="1450" b="1" dirty="0">
                <a:solidFill>
                  <a:srgbClr val="FFFFFF"/>
                </a:solidFill>
                <a:latin typeface="Fira Sans Condensed"/>
                <a:ea typeface="Fira Sans Condensed"/>
                <a:cs typeface="Fira Sans Condensed"/>
                <a:sym typeface="Fira Sans Condensed"/>
              </a:rPr>
              <a:t>compensación β</a:t>
            </a:r>
            <a:r>
              <a:rPr lang="es-AR" sz="1450" dirty="0">
                <a:solidFill>
                  <a:srgbClr val="FFFFFF"/>
                </a:solidFill>
                <a:latin typeface="Fira Sans Condensed"/>
                <a:ea typeface="Fira Sans Condensed"/>
                <a:cs typeface="Fira Sans Condensed"/>
                <a:sym typeface="Fira Sans Condensed"/>
              </a:rPr>
              <a:t> → </a:t>
            </a:r>
            <a:r>
              <a:rPr lang="es-AR" sz="1450" b="1" dirty="0">
                <a:solidFill>
                  <a:srgbClr val="FFFFFF"/>
                </a:solidFill>
                <a:latin typeface="Fira Sans Condensed"/>
                <a:ea typeface="Fira Sans Condensed"/>
                <a:cs typeface="Fira Sans Condensed"/>
                <a:sym typeface="Fira Sans Condensed"/>
              </a:rPr>
              <a:t>fracaso secretor</a:t>
            </a:r>
            <a:r>
              <a:rPr lang="es-AR" sz="1450" dirty="0">
                <a:solidFill>
                  <a:srgbClr val="FFFFFF"/>
                </a:solidFill>
                <a:latin typeface="Fira Sans Condensed"/>
                <a:ea typeface="Fira Sans Condensed"/>
                <a:cs typeface="Fira Sans Condensed"/>
                <a:sym typeface="Fira Sans Condensed"/>
              </a:rPr>
              <a:t> → hiperglucemia sostenida → </a:t>
            </a:r>
            <a:r>
              <a:rPr lang="es-AR" sz="1450" b="1" dirty="0">
                <a:solidFill>
                  <a:srgbClr val="FFFFFF"/>
                </a:solidFill>
                <a:latin typeface="Fira Sans Condensed"/>
                <a:ea typeface="Fira Sans Condensed"/>
                <a:cs typeface="Fira Sans Condensed"/>
                <a:sym typeface="Fira Sans Condensed"/>
              </a:rPr>
              <a:t>daño orgánico</a:t>
            </a:r>
            <a:r>
              <a:rPr lang="es-AR" sz="1450" dirty="0">
                <a:solidFill>
                  <a:srgbClr val="FFFFFF"/>
                </a:solidFill>
                <a:latin typeface="Fira Sans Condensed"/>
                <a:ea typeface="Fira Sans Condensed"/>
                <a:cs typeface="Fira Sans Condensed"/>
                <a:sym typeface="Fira Sans Condensed"/>
              </a:rPr>
              <a:t>.</a:t>
            </a:r>
            <a:endParaRPr lang="es-AR" sz="1450" dirty="0">
              <a:latin typeface="Fira Sans Condensed"/>
            </a:endParaRPr>
          </a:p>
        </p:txBody>
      </p:sp>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MAPA 4 · DIABETES TIPO 2 · SISTEMA COMPLETO</a:t>
            </a:r>
            <a:endParaRPr lang="es-AR" sz="3300" dirty="0">
              <a:latin typeface="Permanent Marker"/>
            </a:endParaRPr>
          </a:p>
        </p:txBody>
      </p:sp>
      <p:sp>
        <p:nvSpPr>
          <p:cNvPr id="5"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 calcmode="lin" valueType="num">
                                      <p:cBhvr>
                                        <p:cTn id="5" dur="500" fill="hold"/>
                                        <p:tgtEl>
                                          <p:spTgt spid="31"/>
                                        </p:tgtEl>
                                        <p:attrNameLst>
                                          <p:attrName>ppt_w</p:attrName>
                                        </p:attrNameLst>
                                      </p:cBhvr>
                                      <p:tavLst>
                                        <p:tav tm="0">
                                          <p:val>
                                            <p:fltVal val="0"/>
                                          </p:val>
                                        </p:tav>
                                        <p:tav tm="100000">
                                          <p:val>
                                            <p:strVal val="#ppt_w"/>
                                          </p:val>
                                        </p:tav>
                                      </p:tavLst>
                                    </p:anim>
                                    <p:anim calcmode="lin" valueType="num">
                                      <p:cBhvr>
                                        <p:cTn id="6" dur="500" fill="hold"/>
                                        <p:tgtEl>
                                          <p:spTgt spid="31"/>
                                        </p:tgtEl>
                                        <p:attrNameLst>
                                          <p:attrName>ppt_h</p:attrName>
                                        </p:attrNameLst>
                                      </p:cBhvr>
                                      <p:tavLst>
                                        <p:tav tm="0">
                                          <p:val>
                                            <p:fltVal val="0"/>
                                          </p:val>
                                        </p:tav>
                                        <p:tav tm="100000">
                                          <p:val>
                                            <p:strVal val="#ppt_h"/>
                                          </p:val>
                                        </p:tav>
                                      </p:tavLst>
                                    </p:anim>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pic>
        <p:nvPicPr>
          <p:cNvPr id="7" name="!!Órgano ADIPOSO VISCERAL" descr="Ilustración biomédica (Servier Medical Art, CC BY)"/>
          <p:cNvPicPr>
            <a:picLocks noChangeAspect="1"/>
          </p:cNvPicPr>
          <p:nvPr/>
        </p:nvPicPr>
        <p:blipFill>
          <a:blip r:embed="rId2"/>
          <a:stretch>
            <a:fillRect/>
          </a:stretch>
        </p:blipFill>
        <p:spPr>
          <a:xfrm>
            <a:off x="365760" y="960120"/>
            <a:ext cx="1920240" cy="1958001"/>
          </a:xfrm>
          <a:prstGeom prst="rect">
            <a:avLst/>
          </a:prstGeom>
        </p:spPr>
      </p:pic>
      <p:sp>
        <p:nvSpPr>
          <p:cNvPr id="8" name="!!Rótulo órgano ADIPOSO VISCERAL"/>
          <p:cNvSpPr/>
          <p:nvPr/>
        </p:nvSpPr>
        <p:spPr>
          <a:xfrm>
            <a:off x="365760" y="2880360"/>
            <a:ext cx="162076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 VISCERAL</a:t>
            </a:r>
            <a:endParaRPr lang="es-AR" sz="1250" dirty="0">
              <a:latin typeface="Fira Sans Condensed"/>
            </a:endParaRPr>
          </a:p>
        </p:txBody>
      </p:sp>
      <p:pic>
        <p:nvPicPr>
          <p:cNvPr id="9" name="!!Órgano HÍGADO" descr="Ilustración biomédica (Servier Medical Art, CC BY)"/>
          <p:cNvPicPr>
            <a:picLocks noChangeAspect="1"/>
          </p:cNvPicPr>
          <p:nvPr/>
        </p:nvPicPr>
        <p:blipFill>
          <a:blip r:embed="rId3"/>
          <a:stretch>
            <a:fillRect/>
          </a:stretch>
        </p:blipFill>
        <p:spPr>
          <a:xfrm>
            <a:off x="4206240" y="960120"/>
            <a:ext cx="2194560" cy="1592394"/>
          </a:xfrm>
          <a:prstGeom prst="rect">
            <a:avLst/>
          </a:prstGeom>
        </p:spPr>
      </p:pic>
      <p:sp>
        <p:nvSpPr>
          <p:cNvPr id="10" name="!!Rótulo órgano HÍGADO"/>
          <p:cNvSpPr/>
          <p:nvPr/>
        </p:nvSpPr>
        <p:spPr>
          <a:xfrm>
            <a:off x="4617720" y="25603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1" name="!!Órgano MÚSCULO" descr="Ilustración biomédica (Servier Medical Art, CC BY)"/>
          <p:cNvPicPr>
            <a:picLocks noChangeAspect="1"/>
          </p:cNvPicPr>
          <p:nvPr/>
        </p:nvPicPr>
        <p:blipFill>
          <a:blip r:embed="rId4"/>
          <a:stretch>
            <a:fillRect/>
          </a:stretch>
        </p:blipFill>
        <p:spPr>
          <a:xfrm>
            <a:off x="9052560" y="1051560"/>
            <a:ext cx="2377440" cy="1103811"/>
          </a:xfrm>
          <a:prstGeom prst="rect">
            <a:avLst/>
          </a:prstGeom>
        </p:spPr>
      </p:pic>
      <p:sp>
        <p:nvSpPr>
          <p:cNvPr id="12" name="!!Rótulo órgano MÚSCULO"/>
          <p:cNvSpPr/>
          <p:nvPr/>
        </p:nvSpPr>
        <p:spPr>
          <a:xfrm>
            <a:off x="9509760" y="2240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3" name="!!Órgano PÁNCREAS" descr="Ilustración biomédica (Servier Medical Art, CC BY)"/>
          <p:cNvPicPr>
            <a:picLocks noChangeAspect="1"/>
          </p:cNvPicPr>
          <p:nvPr/>
        </p:nvPicPr>
        <p:blipFill>
          <a:blip r:embed="rId5"/>
          <a:stretch>
            <a:fillRect/>
          </a:stretch>
        </p:blipFill>
        <p:spPr>
          <a:xfrm>
            <a:off x="9098280" y="3017520"/>
            <a:ext cx="1371600" cy="1496680"/>
          </a:xfrm>
          <a:prstGeom prst="rect">
            <a:avLst/>
          </a:prstGeom>
        </p:spPr>
      </p:pic>
      <p:sp>
        <p:nvSpPr>
          <p:cNvPr id="14" name="!!Rótulo órgano PÁNCREAS"/>
          <p:cNvSpPr/>
          <p:nvPr/>
        </p:nvSpPr>
        <p:spPr>
          <a:xfrm>
            <a:off x="10561320" y="35661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5" name="!!Órgano CORAZÓN · VASOS" descr="Ilustración biomédica (Servier Medical Art, CC BY)"/>
          <p:cNvPicPr>
            <a:picLocks noChangeAspect="1"/>
          </p:cNvPicPr>
          <p:nvPr/>
        </p:nvPicPr>
        <p:blipFill>
          <a:blip r:embed="rId6"/>
          <a:stretch>
            <a:fillRect/>
          </a:stretch>
        </p:blipFill>
        <p:spPr>
          <a:xfrm>
            <a:off x="4480560" y="3429000"/>
            <a:ext cx="1280160" cy="1812158"/>
          </a:xfrm>
          <a:prstGeom prst="rect">
            <a:avLst/>
          </a:prstGeom>
        </p:spPr>
      </p:pic>
      <p:sp>
        <p:nvSpPr>
          <p:cNvPr id="16" name="!!Rótulo órgano CORAZÓN · VASOS"/>
          <p:cNvSpPr/>
          <p:nvPr/>
        </p:nvSpPr>
        <p:spPr>
          <a:xfrm>
            <a:off x="5852160" y="4023360"/>
            <a:ext cx="153226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 · VASOS</a:t>
            </a:r>
            <a:endParaRPr lang="es-AR" sz="1250" dirty="0">
              <a:latin typeface="Fira Sans Condensed"/>
            </a:endParaRPr>
          </a:p>
        </p:txBody>
      </p:sp>
      <p:sp>
        <p:nvSpPr>
          <p:cNvPr id="17" name="!!Mapa elemento 0"/>
          <p:cNvSpPr/>
          <p:nvPr/>
        </p:nvSpPr>
        <p:spPr>
          <a:xfrm>
            <a:off x="365760" y="3429000"/>
            <a:ext cx="26517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Hipertrofia · hipoxia · macrófagos</a:t>
            </a:r>
            <a:endParaRPr lang="es-AR" sz="1150" dirty="0">
              <a:latin typeface="Fira Sans Condensed"/>
            </a:endParaRPr>
          </a:p>
        </p:txBody>
      </p:sp>
      <p:grpSp>
        <p:nvGrpSpPr>
          <p:cNvPr id="18" name="!!Mapa elemento 1"/>
          <p:cNvGrpSpPr/>
          <p:nvPr/>
        </p:nvGrpSpPr>
        <p:grpSpPr>
          <a:xfrm>
            <a:off x="2103120" y="1051560"/>
            <a:ext cx="2057400" cy="420624"/>
            <a:chOff x="2103120" y="1051560"/>
            <a:chExt cx="2057400" cy="420624"/>
          </a:xfrm>
        </p:grpSpPr>
        <p:sp>
          <p:nvSpPr>
            <p:cNvPr id="19" name="Flecha 18_2"/>
            <p:cNvSpPr/>
            <p:nvPr/>
          </p:nvSpPr>
          <p:spPr>
            <a:xfrm>
              <a:off x="2331720" y="1463040"/>
              <a:ext cx="1828800" cy="9144"/>
            </a:xfrm>
            <a:custGeom>
              <a:avLst/>
              <a:gdLst/>
              <a:ahLst/>
              <a:cxnLst/>
              <a:rect l="0" t="0" r="r" b="b"/>
              <a:pathLst>
                <a:path w="2000" h="10" fill="none">
                  <a:moveTo>
                    <a:pt x="0" y="0"/>
                  </a:moveTo>
                  <a:lnTo>
                    <a:pt x="2000" y="0"/>
                  </a:lnTo>
                </a:path>
              </a:pathLst>
            </a:custGeom>
            <a:noFill/>
            <a:ln w="38100" cap="rnd">
              <a:solidFill>
                <a:srgbClr val="2563B0"/>
              </a:solidFill>
              <a:prstDash val="dash"/>
              <a:round/>
              <a:tailEnd type="triangle" w="med" len="med"/>
            </a:ln>
          </p:spPr>
        </p:sp>
        <p:sp>
          <p:nvSpPr>
            <p:cNvPr id="20" name="Rótulo AGNE (porta) · TNF"/>
            <p:cNvSpPr/>
            <p:nvPr/>
          </p:nvSpPr>
          <p:spPr>
            <a:xfrm>
              <a:off x="2103120" y="1051560"/>
              <a:ext cx="186795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(porta) · TNF-α · IL-6</a:t>
              </a:r>
              <a:endParaRPr lang="es-AR" sz="1150" dirty="0">
                <a:latin typeface="Fira Sans Condensed"/>
              </a:endParaRPr>
            </a:p>
          </p:txBody>
        </p:sp>
      </p:grpSp>
      <p:grpSp>
        <p:nvGrpSpPr>
          <p:cNvPr id="21" name="!!Mapa elemento 2"/>
          <p:cNvGrpSpPr/>
          <p:nvPr/>
        </p:nvGrpSpPr>
        <p:grpSpPr>
          <a:xfrm>
            <a:off x="2286000" y="1737360"/>
            <a:ext cx="6720840" cy="637858"/>
            <a:chOff x="2286000" y="1737360"/>
            <a:chExt cx="6720840" cy="637858"/>
          </a:xfrm>
        </p:grpSpPr>
        <p:sp>
          <p:nvSpPr>
            <p:cNvPr id="22" name="Flecha 22_2"/>
            <p:cNvSpPr/>
            <p:nvPr/>
          </p:nvSpPr>
          <p:spPr>
            <a:xfrm>
              <a:off x="2286000" y="1737360"/>
              <a:ext cx="6720840" cy="365760"/>
            </a:xfrm>
            <a:custGeom>
              <a:avLst/>
              <a:gdLst/>
              <a:ahLst/>
              <a:cxnLst/>
              <a:rect l="0" t="0" r="r" b="b"/>
              <a:pathLst>
                <a:path w="7350" h="399" fill="none">
                  <a:moveTo>
                    <a:pt x="0" y="399"/>
                  </a:moveTo>
                  <a:lnTo>
                    <a:pt x="7350" y="0"/>
                  </a:lnTo>
                </a:path>
              </a:pathLst>
            </a:custGeom>
            <a:noFill/>
            <a:ln w="38100" cap="rnd">
              <a:solidFill>
                <a:srgbClr val="2563B0"/>
              </a:solidFill>
              <a:prstDash val="dash"/>
              <a:round/>
              <a:tailEnd type="triangle" w="med" len="med"/>
            </a:ln>
          </p:spPr>
        </p:sp>
        <p:sp>
          <p:nvSpPr>
            <p:cNvPr id="23" name="Rótulo AGNE · citocinas"/>
            <p:cNvSpPr/>
            <p:nvPr/>
          </p:nvSpPr>
          <p:spPr>
            <a:xfrm>
              <a:off x="6035040" y="214884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grpSp>
        <p:nvGrpSpPr>
          <p:cNvPr id="24" name="!!Mapa elemento 3"/>
          <p:cNvGrpSpPr/>
          <p:nvPr/>
        </p:nvGrpSpPr>
        <p:grpSpPr>
          <a:xfrm>
            <a:off x="2103120" y="2788920"/>
            <a:ext cx="6949440" cy="777240"/>
            <a:chOff x="2103120" y="2788920"/>
            <a:chExt cx="6949440" cy="777240"/>
          </a:xfrm>
        </p:grpSpPr>
        <p:sp>
          <p:nvSpPr>
            <p:cNvPr id="25" name="Flecha 26_2"/>
            <p:cNvSpPr/>
            <p:nvPr/>
          </p:nvSpPr>
          <p:spPr>
            <a:xfrm>
              <a:off x="2103120" y="2788920"/>
              <a:ext cx="6949440" cy="777240"/>
            </a:xfrm>
            <a:custGeom>
              <a:avLst/>
              <a:gdLst/>
              <a:ahLst/>
              <a:cxnLst/>
              <a:rect l="0" t="0" r="r" b="b"/>
              <a:pathLst>
                <a:path w="7600" h="850" fill="none">
                  <a:moveTo>
                    <a:pt x="0" y="0"/>
                  </a:moveTo>
                  <a:lnTo>
                    <a:pt x="7600" y="850"/>
                  </a:lnTo>
                </a:path>
              </a:pathLst>
            </a:custGeom>
            <a:noFill/>
            <a:ln w="38100" cap="rnd">
              <a:solidFill>
                <a:srgbClr val="2563B0"/>
              </a:solidFill>
              <a:prstDash val="dash"/>
              <a:round/>
              <a:tailEnd type="triangle" w="med" len="med"/>
            </a:ln>
          </p:spPr>
        </p:sp>
        <p:sp>
          <p:nvSpPr>
            <p:cNvPr id="26" name="Rótulo lípidos ectópicos"/>
            <p:cNvSpPr/>
            <p:nvPr/>
          </p:nvSpPr>
          <p:spPr>
            <a:xfrm>
              <a:off x="6355080" y="3063240"/>
              <a:ext cx="132273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lípidos ectópicos</a:t>
              </a:r>
              <a:endParaRPr lang="es-AR" sz="1150" dirty="0">
                <a:latin typeface="Fira Sans Condensed"/>
              </a:endParaRPr>
            </a:p>
          </p:txBody>
        </p:sp>
      </p:grpSp>
      <p:sp>
        <p:nvSpPr>
          <p:cNvPr id="5" name="Título"/>
          <p:cNvSpPr txBox="1"/>
          <p:nvPr/>
        </p:nvSpPr>
        <p:spPr>
          <a:xfrm>
            <a:off x="320040" y="91440"/>
            <a:ext cx="11551615" cy="4894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300" dirty="0">
                <a:solidFill>
                  <a:srgbClr val="1E1E1E"/>
                </a:solidFill>
                <a:effectLst>
                  <a:glow rad="101600">
                    <a:srgbClr val="FFFFFF">
                      <a:alpha val="70000"/>
                    </a:srgbClr>
                  </a:glow>
                </a:effectLst>
                <a:latin typeface="Permanent Marker"/>
                <a:ea typeface="Permanent Marker"/>
                <a:cs typeface="Permanent Marker"/>
                <a:sym typeface="Permanent Marker"/>
              </a:rPr>
              <a:t>MAPA 5 · OBESIDAD DISFUNCIONAL · SEÑALES QUE SALEN DEL ADIPOSO</a:t>
            </a:r>
            <a:endParaRPr lang="es-AR" sz="23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2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 calcmode="lin" valueType="num">
                                      <p:cBhvr>
                                        <p:cTn id="5" dur="500" fill="hold"/>
                                        <p:tgtEl>
                                          <p:spTgt spid="17"/>
                                        </p:tgtEl>
                                        <p:attrNameLst>
                                          <p:attrName>ppt_w</p:attrName>
                                        </p:attrNameLst>
                                      </p:cBhvr>
                                      <p:tavLst>
                                        <p:tav tm="0">
                                          <p:val>
                                            <p:fltVal val="0"/>
                                          </p:val>
                                        </p:tav>
                                        <p:tav tm="100000">
                                          <p:val>
                                            <p:strVal val="#ppt_w"/>
                                          </p:val>
                                        </p:tav>
                                      </p:tavLst>
                                    </p:anim>
                                    <p:anim calcmode="lin" valueType="num">
                                      <p:cBhvr>
                                        <p:cTn id="6" dur="500" fill="hold"/>
                                        <p:tgtEl>
                                          <p:spTgt spid="17"/>
                                        </p:tgtEl>
                                        <p:attrNameLst>
                                          <p:attrName>ppt_h</p:attrName>
                                        </p:attrNameLst>
                                      </p:cBhvr>
                                      <p:tavLst>
                                        <p:tav tm="0">
                                          <p:val>
                                            <p:fltVal val="0"/>
                                          </p:val>
                                        </p:tav>
                                        <p:tav tm="100000">
                                          <p:val>
                                            <p:strVal val="#ppt_h"/>
                                          </p:val>
                                        </p:tav>
                                      </p:tavLst>
                                    </p:anim>
                                    <p:animEffect transition="in" filter="fade">
                                      <p:cBhvr>
                                        <p:cTn id="7" dur="500"/>
                                        <p:tgtEl>
                                          <p:spTgt spid="17"/>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pic>
        <p:nvPicPr>
          <p:cNvPr id="7" name="!!Órgano ADIPOSO VISCERAL" descr="Ilustración biomédica (Servier Medical Art, CC BY)"/>
          <p:cNvPicPr>
            <a:picLocks noChangeAspect="1"/>
          </p:cNvPicPr>
          <p:nvPr/>
        </p:nvPicPr>
        <p:blipFill>
          <a:blip r:embed="rId2"/>
          <a:stretch>
            <a:fillRect/>
          </a:stretch>
        </p:blipFill>
        <p:spPr>
          <a:xfrm>
            <a:off x="365760" y="960120"/>
            <a:ext cx="1920240" cy="1958001"/>
          </a:xfrm>
          <a:prstGeom prst="rect">
            <a:avLst/>
          </a:prstGeom>
        </p:spPr>
      </p:pic>
      <p:sp>
        <p:nvSpPr>
          <p:cNvPr id="8" name="!!Rótulo órgano ADIPOSO VISCERAL"/>
          <p:cNvSpPr/>
          <p:nvPr/>
        </p:nvSpPr>
        <p:spPr>
          <a:xfrm>
            <a:off x="365760" y="2880360"/>
            <a:ext cx="162076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 VISCERAL</a:t>
            </a:r>
            <a:endParaRPr lang="es-AR" sz="1250" dirty="0">
              <a:latin typeface="Fira Sans Condensed"/>
            </a:endParaRPr>
          </a:p>
        </p:txBody>
      </p:sp>
      <p:pic>
        <p:nvPicPr>
          <p:cNvPr id="9" name="!!Órgano HÍGADO" descr="Ilustración biomédica (Servier Medical Art, CC BY)"/>
          <p:cNvPicPr>
            <a:picLocks noChangeAspect="1"/>
          </p:cNvPicPr>
          <p:nvPr/>
        </p:nvPicPr>
        <p:blipFill>
          <a:blip r:embed="rId3"/>
          <a:stretch>
            <a:fillRect/>
          </a:stretch>
        </p:blipFill>
        <p:spPr>
          <a:xfrm>
            <a:off x="4206240" y="960120"/>
            <a:ext cx="2194560" cy="1592394"/>
          </a:xfrm>
          <a:prstGeom prst="rect">
            <a:avLst/>
          </a:prstGeom>
        </p:spPr>
      </p:pic>
      <p:sp>
        <p:nvSpPr>
          <p:cNvPr id="10" name="!!Rótulo órgano HÍGADO"/>
          <p:cNvSpPr/>
          <p:nvPr/>
        </p:nvSpPr>
        <p:spPr>
          <a:xfrm>
            <a:off x="4617720" y="25603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1" name="!!Órgano MÚSCULO" descr="Ilustración biomédica (Servier Medical Art, CC BY)"/>
          <p:cNvPicPr>
            <a:picLocks noChangeAspect="1"/>
          </p:cNvPicPr>
          <p:nvPr/>
        </p:nvPicPr>
        <p:blipFill>
          <a:blip r:embed="rId4"/>
          <a:stretch>
            <a:fillRect/>
          </a:stretch>
        </p:blipFill>
        <p:spPr>
          <a:xfrm>
            <a:off x="9052560" y="1051560"/>
            <a:ext cx="2377440" cy="1103811"/>
          </a:xfrm>
          <a:prstGeom prst="rect">
            <a:avLst/>
          </a:prstGeom>
        </p:spPr>
      </p:pic>
      <p:sp>
        <p:nvSpPr>
          <p:cNvPr id="12" name="!!Rótulo órgano MÚSCULO"/>
          <p:cNvSpPr/>
          <p:nvPr/>
        </p:nvSpPr>
        <p:spPr>
          <a:xfrm>
            <a:off x="9509760" y="2240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3" name="!!Órgano PÁNCREAS" descr="Ilustración biomédica (Servier Medical Art, CC BY)"/>
          <p:cNvPicPr>
            <a:picLocks noChangeAspect="1"/>
          </p:cNvPicPr>
          <p:nvPr/>
        </p:nvPicPr>
        <p:blipFill>
          <a:blip r:embed="rId5"/>
          <a:stretch>
            <a:fillRect/>
          </a:stretch>
        </p:blipFill>
        <p:spPr>
          <a:xfrm>
            <a:off x="9098280" y="3017520"/>
            <a:ext cx="1371600" cy="1496680"/>
          </a:xfrm>
          <a:prstGeom prst="rect">
            <a:avLst/>
          </a:prstGeom>
        </p:spPr>
      </p:pic>
      <p:sp>
        <p:nvSpPr>
          <p:cNvPr id="14" name="!!Rótulo órgano PÁNCREAS"/>
          <p:cNvSpPr/>
          <p:nvPr/>
        </p:nvSpPr>
        <p:spPr>
          <a:xfrm>
            <a:off x="10561320" y="35661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5" name="!!Órgano CORAZÓN · VASOS" descr="Ilustración biomédica (Servier Medical Art, CC BY)"/>
          <p:cNvPicPr>
            <a:picLocks noChangeAspect="1"/>
          </p:cNvPicPr>
          <p:nvPr/>
        </p:nvPicPr>
        <p:blipFill>
          <a:blip r:embed="rId6"/>
          <a:stretch>
            <a:fillRect/>
          </a:stretch>
        </p:blipFill>
        <p:spPr>
          <a:xfrm>
            <a:off x="4480560" y="3429000"/>
            <a:ext cx="1280160" cy="1812158"/>
          </a:xfrm>
          <a:prstGeom prst="rect">
            <a:avLst/>
          </a:prstGeom>
        </p:spPr>
      </p:pic>
      <p:sp>
        <p:nvSpPr>
          <p:cNvPr id="16" name="!!Rótulo órgano CORAZÓN · VASOS"/>
          <p:cNvSpPr/>
          <p:nvPr/>
        </p:nvSpPr>
        <p:spPr>
          <a:xfrm>
            <a:off x="5852160" y="4023360"/>
            <a:ext cx="153226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 · VASOS</a:t>
            </a:r>
            <a:endParaRPr lang="es-AR" sz="1250" dirty="0">
              <a:latin typeface="Fira Sans Condensed"/>
            </a:endParaRPr>
          </a:p>
        </p:txBody>
      </p:sp>
      <p:sp>
        <p:nvSpPr>
          <p:cNvPr id="17" name="!!Mapa elemento 0"/>
          <p:cNvSpPr/>
          <p:nvPr/>
        </p:nvSpPr>
        <p:spPr>
          <a:xfrm>
            <a:off x="365760" y="3429000"/>
            <a:ext cx="26517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Hipertrofia · hipoxia · macrófagos</a:t>
            </a:r>
            <a:endParaRPr lang="es-AR" sz="1150" dirty="0">
              <a:latin typeface="Fira Sans Condensed"/>
            </a:endParaRPr>
          </a:p>
        </p:txBody>
      </p:sp>
      <p:grpSp>
        <p:nvGrpSpPr>
          <p:cNvPr id="18" name="!!Mapa elemento 1"/>
          <p:cNvGrpSpPr/>
          <p:nvPr/>
        </p:nvGrpSpPr>
        <p:grpSpPr>
          <a:xfrm>
            <a:off x="2103120" y="1051560"/>
            <a:ext cx="2057400" cy="420624"/>
            <a:chOff x="2103120" y="1051560"/>
            <a:chExt cx="2057400" cy="420624"/>
          </a:xfrm>
        </p:grpSpPr>
        <p:sp>
          <p:nvSpPr>
            <p:cNvPr id="19" name="Flecha 18_2"/>
            <p:cNvSpPr/>
            <p:nvPr/>
          </p:nvSpPr>
          <p:spPr>
            <a:xfrm>
              <a:off x="2331720" y="1463040"/>
              <a:ext cx="1828800" cy="9144"/>
            </a:xfrm>
            <a:custGeom>
              <a:avLst/>
              <a:gdLst/>
              <a:ahLst/>
              <a:cxnLst/>
              <a:rect l="0" t="0" r="r" b="b"/>
              <a:pathLst>
                <a:path w="2000" h="10" fill="none">
                  <a:moveTo>
                    <a:pt x="0" y="0"/>
                  </a:moveTo>
                  <a:lnTo>
                    <a:pt x="2000" y="0"/>
                  </a:lnTo>
                </a:path>
              </a:pathLst>
            </a:custGeom>
            <a:noFill/>
            <a:ln w="38100" cap="rnd">
              <a:solidFill>
                <a:srgbClr val="2563B0"/>
              </a:solidFill>
              <a:prstDash val="dash"/>
              <a:round/>
              <a:tailEnd type="triangle" w="med" len="med"/>
            </a:ln>
          </p:spPr>
        </p:sp>
        <p:sp>
          <p:nvSpPr>
            <p:cNvPr id="20" name="Rótulo AGNE (porta) · TNF"/>
            <p:cNvSpPr/>
            <p:nvPr/>
          </p:nvSpPr>
          <p:spPr>
            <a:xfrm>
              <a:off x="2103120" y="1051560"/>
              <a:ext cx="186795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(porta) · TNF-α · IL-6</a:t>
              </a:r>
              <a:endParaRPr lang="es-AR" sz="1150" dirty="0">
                <a:latin typeface="Fira Sans Condensed"/>
              </a:endParaRPr>
            </a:p>
          </p:txBody>
        </p:sp>
      </p:grpSp>
      <p:grpSp>
        <p:nvGrpSpPr>
          <p:cNvPr id="21" name="!!Mapa elemento 2"/>
          <p:cNvGrpSpPr/>
          <p:nvPr/>
        </p:nvGrpSpPr>
        <p:grpSpPr>
          <a:xfrm>
            <a:off x="2286000" y="1737360"/>
            <a:ext cx="6720840" cy="637858"/>
            <a:chOff x="2286000" y="1737360"/>
            <a:chExt cx="6720840" cy="637858"/>
          </a:xfrm>
        </p:grpSpPr>
        <p:sp>
          <p:nvSpPr>
            <p:cNvPr id="22" name="Flecha 22_2"/>
            <p:cNvSpPr/>
            <p:nvPr/>
          </p:nvSpPr>
          <p:spPr>
            <a:xfrm>
              <a:off x="2286000" y="1737360"/>
              <a:ext cx="6720840" cy="365760"/>
            </a:xfrm>
            <a:custGeom>
              <a:avLst/>
              <a:gdLst/>
              <a:ahLst/>
              <a:cxnLst/>
              <a:rect l="0" t="0" r="r" b="b"/>
              <a:pathLst>
                <a:path w="7350" h="399" fill="none">
                  <a:moveTo>
                    <a:pt x="0" y="399"/>
                  </a:moveTo>
                  <a:lnTo>
                    <a:pt x="7350" y="0"/>
                  </a:lnTo>
                </a:path>
              </a:pathLst>
            </a:custGeom>
            <a:noFill/>
            <a:ln w="38100" cap="rnd">
              <a:solidFill>
                <a:srgbClr val="2563B0"/>
              </a:solidFill>
              <a:prstDash val="dash"/>
              <a:round/>
              <a:tailEnd type="triangle" w="med" len="med"/>
            </a:ln>
          </p:spPr>
        </p:sp>
        <p:sp>
          <p:nvSpPr>
            <p:cNvPr id="23" name="Rótulo AGNE · citocinas"/>
            <p:cNvSpPr/>
            <p:nvPr/>
          </p:nvSpPr>
          <p:spPr>
            <a:xfrm>
              <a:off x="6035040" y="214884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grpSp>
        <p:nvGrpSpPr>
          <p:cNvPr id="24" name="!!Mapa elemento 3"/>
          <p:cNvGrpSpPr/>
          <p:nvPr/>
        </p:nvGrpSpPr>
        <p:grpSpPr>
          <a:xfrm>
            <a:off x="2103120" y="2788920"/>
            <a:ext cx="6949440" cy="777240"/>
            <a:chOff x="2103120" y="2788920"/>
            <a:chExt cx="6949440" cy="777240"/>
          </a:xfrm>
        </p:grpSpPr>
        <p:sp>
          <p:nvSpPr>
            <p:cNvPr id="25" name="Flecha 26_2"/>
            <p:cNvSpPr/>
            <p:nvPr/>
          </p:nvSpPr>
          <p:spPr>
            <a:xfrm>
              <a:off x="2103120" y="2788920"/>
              <a:ext cx="6949440" cy="777240"/>
            </a:xfrm>
            <a:custGeom>
              <a:avLst/>
              <a:gdLst/>
              <a:ahLst/>
              <a:cxnLst/>
              <a:rect l="0" t="0" r="r" b="b"/>
              <a:pathLst>
                <a:path w="7600" h="850" fill="none">
                  <a:moveTo>
                    <a:pt x="0" y="0"/>
                  </a:moveTo>
                  <a:lnTo>
                    <a:pt x="7600" y="850"/>
                  </a:lnTo>
                </a:path>
              </a:pathLst>
            </a:custGeom>
            <a:noFill/>
            <a:ln w="38100" cap="rnd">
              <a:solidFill>
                <a:srgbClr val="2563B0"/>
              </a:solidFill>
              <a:prstDash val="dash"/>
              <a:round/>
              <a:tailEnd type="triangle" w="med" len="med"/>
            </a:ln>
          </p:spPr>
        </p:sp>
        <p:sp>
          <p:nvSpPr>
            <p:cNvPr id="26" name="Rótulo lípidos ectópicos"/>
            <p:cNvSpPr/>
            <p:nvPr/>
          </p:nvSpPr>
          <p:spPr>
            <a:xfrm>
              <a:off x="6355080" y="3063240"/>
              <a:ext cx="132273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lípidos ectópicos</a:t>
              </a:r>
              <a:endParaRPr lang="es-AR" sz="1150" dirty="0">
                <a:latin typeface="Fira Sans Condensed"/>
              </a:endParaRPr>
            </a:p>
          </p:txBody>
        </p:sp>
      </p:grpSp>
      <p:sp>
        <p:nvSpPr>
          <p:cNvPr id="27" name="!!Mapa elemento 4"/>
          <p:cNvSpPr/>
          <p:nvPr/>
        </p:nvSpPr>
        <p:spPr>
          <a:xfrm>
            <a:off x="6537960" y="914400"/>
            <a:ext cx="23774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Hígado</a:t>
            </a:r>
            <a:r>
              <a:rPr lang="es-AR" sz="1200" dirty="0">
                <a:solidFill>
                  <a:srgbClr val="1E1E1E"/>
                </a:solidFill>
                <a:latin typeface="Fira Sans Condensed"/>
                <a:ea typeface="Fira Sans Condensed"/>
                <a:cs typeface="Fira Sans Condensed"/>
                <a:sym typeface="Fira Sans Condensed"/>
              </a:rPr>
              <a:t>: PHG ↑, VLDL ↑, esteatosis</a:t>
            </a:r>
            <a:endParaRPr lang="es-AR" sz="1200" dirty="0">
              <a:latin typeface="Fira Sans Condensed"/>
            </a:endParaRPr>
          </a:p>
        </p:txBody>
      </p:sp>
      <p:sp>
        <p:nvSpPr>
          <p:cNvPr id="28" name="!!Mapa elemento 5"/>
          <p:cNvSpPr/>
          <p:nvPr/>
        </p:nvSpPr>
        <p:spPr>
          <a:xfrm>
            <a:off x="9144000" y="4434840"/>
            <a:ext cx="26517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β</a:t>
            </a:r>
            <a:r>
              <a:rPr lang="es-AR" sz="1200" dirty="0">
                <a:solidFill>
                  <a:srgbClr val="1E1E1E"/>
                </a:solidFill>
                <a:latin typeface="Fira Sans Condensed"/>
                <a:ea typeface="Fira Sans Condensed"/>
                <a:cs typeface="Fira Sans Condensed"/>
                <a:sym typeface="Fira Sans Condensed"/>
              </a:rPr>
              <a:t>: secreción ↓ progresiva</a:t>
            </a:r>
            <a:endParaRPr lang="es-AR" sz="1200" dirty="0">
              <a:latin typeface="Fira Sans Condensed"/>
            </a:endParaRPr>
          </a:p>
        </p:txBody>
      </p:sp>
      <p:sp>
        <p:nvSpPr>
          <p:cNvPr id="29" name="!!Mapa elemento 6"/>
          <p:cNvSpPr/>
          <p:nvPr/>
        </p:nvSpPr>
        <p:spPr>
          <a:xfrm>
            <a:off x="365760" y="4069080"/>
            <a:ext cx="384048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Músculo</a:t>
            </a:r>
            <a:r>
              <a:rPr lang="es-AR" sz="1200" dirty="0">
                <a:solidFill>
                  <a:srgbClr val="1E1E1E"/>
                </a:solidFill>
                <a:latin typeface="Fira Sans Condensed"/>
                <a:ea typeface="Fira Sans Condensed"/>
                <a:cs typeface="Fira Sans Condensed"/>
                <a:sym typeface="Fira Sans Condensed"/>
              </a:rPr>
              <a:t>: captación de glucosa ↓ (DAG/PKC)</a:t>
            </a:r>
            <a:endParaRPr lang="es-AR" sz="1200" dirty="0">
              <a:latin typeface="Fira Sans Condensed"/>
            </a:endParaRPr>
          </a:p>
        </p:txBody>
      </p:sp>
      <p:grpSp>
        <p:nvGrpSpPr>
          <p:cNvPr id="30" name="!!Mapa elemento 7"/>
          <p:cNvGrpSpPr/>
          <p:nvPr/>
        </p:nvGrpSpPr>
        <p:grpSpPr>
          <a:xfrm>
            <a:off x="4858702" y="2606040"/>
            <a:ext cx="981077" cy="777240"/>
            <a:chOff x="4858702" y="2606040"/>
            <a:chExt cx="981077" cy="777240"/>
          </a:xfrm>
        </p:grpSpPr>
        <p:sp>
          <p:nvSpPr>
            <p:cNvPr id="31" name="Flecha 33_2"/>
            <p:cNvSpPr/>
            <p:nvPr/>
          </p:nvSpPr>
          <p:spPr>
            <a:xfrm>
              <a:off x="5212080" y="2606040"/>
              <a:ext cx="274320" cy="777240"/>
            </a:xfrm>
            <a:custGeom>
              <a:avLst/>
              <a:gdLst/>
              <a:ahLst/>
              <a:cxnLst/>
              <a:rect l="0" t="0" r="r" b="b"/>
              <a:pathLst>
                <a:path w="299" h="850" fill="none">
                  <a:moveTo>
                    <a:pt x="299" y="0"/>
                  </a:moveTo>
                  <a:lnTo>
                    <a:pt x="0" y="850"/>
                  </a:lnTo>
                </a:path>
              </a:pathLst>
            </a:custGeom>
            <a:noFill/>
            <a:ln w="38100" cap="rnd">
              <a:solidFill>
                <a:srgbClr val="1E1E1E"/>
              </a:solidFill>
              <a:round/>
              <a:tailEnd type="triangle" w="med" len="med"/>
            </a:ln>
          </p:spPr>
        </p:sp>
        <p:sp>
          <p:nvSpPr>
            <p:cNvPr id="32" name="Rótulo VLDL · ApoB"/>
            <p:cNvSpPr/>
            <p:nvPr/>
          </p:nvSpPr>
          <p:spPr>
            <a:xfrm>
              <a:off x="4858702" y="2857500"/>
              <a:ext cx="981077"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VLDL · ApoB</a:t>
              </a:r>
              <a:endParaRPr lang="es-AR" sz="1150" dirty="0">
                <a:latin typeface="Fira Sans Condensed"/>
              </a:endParaRPr>
            </a:p>
          </p:txBody>
        </p:sp>
      </p:grpSp>
      <p:sp>
        <p:nvSpPr>
          <p:cNvPr id="33" name="!!Mapa elemento 8"/>
          <p:cNvSpPr/>
          <p:nvPr/>
        </p:nvSpPr>
        <p:spPr>
          <a:xfrm>
            <a:off x="4343400" y="4800600"/>
            <a:ext cx="4480560" cy="7772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Endotelio</a:t>
            </a:r>
            <a:r>
              <a:rPr lang="es-AR" sz="1200" dirty="0">
                <a:solidFill>
                  <a:srgbClr val="1E1E1E"/>
                </a:solidFill>
                <a:latin typeface="Fira Sans Condensed"/>
                <a:ea typeface="Fira Sans Condensed"/>
                <a:cs typeface="Fira Sans Condensed"/>
                <a:sym typeface="Fira Sans Condensed"/>
              </a:rPr>
              <a:t>: NO ↓, inflamación, PAI-1 ↑ → aterosclerosis</a:t>
            </a:r>
            <a:endParaRPr lang="es-AR" sz="1200" dirty="0">
              <a:latin typeface="Fira Sans Condensed"/>
            </a:endParaRPr>
          </a:p>
        </p:txBody>
      </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MAPA 5 · OBESIDAD DISFUNCIONAL · DAÑO EN ÓRGANOS</a:t>
            </a:r>
            <a:endParaRPr lang="es-AR" sz="29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 calcmode="lin" valueType="num">
                                      <p:cBhvr>
                                        <p:cTn id="5" dur="500" fill="hold"/>
                                        <p:tgtEl>
                                          <p:spTgt spid="27"/>
                                        </p:tgtEl>
                                        <p:attrNameLst>
                                          <p:attrName>ppt_w</p:attrName>
                                        </p:attrNameLst>
                                      </p:cBhvr>
                                      <p:tavLst>
                                        <p:tav tm="0">
                                          <p:val>
                                            <p:fltVal val="0"/>
                                          </p:val>
                                        </p:tav>
                                        <p:tav tm="100000">
                                          <p:val>
                                            <p:strVal val="#ppt_w"/>
                                          </p:val>
                                        </p:tav>
                                      </p:tavLst>
                                    </p:anim>
                                    <p:anim calcmode="lin" valueType="num">
                                      <p:cBhvr>
                                        <p:cTn id="6" dur="500" fill="hold"/>
                                        <p:tgtEl>
                                          <p:spTgt spid="27"/>
                                        </p:tgtEl>
                                        <p:attrNameLst>
                                          <p:attrName>ppt_h</p:attrName>
                                        </p:attrNameLst>
                                      </p:cBhvr>
                                      <p:tavLst>
                                        <p:tav tm="0">
                                          <p:val>
                                            <p:fltVal val="0"/>
                                          </p:val>
                                        </p:tav>
                                        <p:tav tm="100000">
                                          <p:val>
                                            <p:strVal val="#ppt_h"/>
                                          </p:val>
                                        </p:tav>
                                      </p:tavLst>
                                    </p:anim>
                                    <p:animEffect transition="in" filter="fade">
                                      <p:cBhvr>
                                        <p:cTn id="7" dur="500"/>
                                        <p:tgtEl>
                                          <p:spTgt spid="27"/>
                                        </p:tgtEl>
                                      </p:cBhvr>
                                    </p:animEffect>
                                  </p:childTnLst>
                                </p:cTn>
                              </p:par>
                            </p:childTnLst>
                          </p:cTn>
                        </p:par>
                      </p:childTnLst>
                    </p:cTn>
                  </p:par>
                  <p:par>
                    <p:cTn id="16" fill="hold">
                      <p:stCondLst>
                        <p:cond delay="indefinite"/>
                      </p:stCondLst>
                      <p:childTnLst>
                        <p:par>
                          <p:cTn id="15"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childTnLst>
                          </p:cTn>
                        </p:par>
                      </p:childTnLst>
                    </p:cTn>
                  </p:par>
                  <p:par>
                    <p:cTn id="23" fill="hold">
                      <p:stCondLst>
                        <p:cond delay="indefinite"/>
                      </p:stCondLst>
                      <p:childTnLst>
                        <p:par>
                          <p:cTn id="22"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childTnLst>
                          </p:cTn>
                        </p:par>
                      </p:childTnLst>
                    </p:cTn>
                  </p:par>
                  <p:par>
                    <p:cTn id="28"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par>
                    <p:cTn id="35" fill="hold">
                      <p:stCondLst>
                        <p:cond delay="indefinite"/>
                      </p:stCondLst>
                      <p:childTnLst>
                        <p:par>
                          <p:cTn id="34"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fltVal val="0"/>
                                          </p:val>
                                        </p:tav>
                                        <p:tav tm="100000">
                                          <p:val>
                                            <p:strVal val="#ppt_h"/>
                                          </p:val>
                                        </p:tav>
                                      </p:tavLst>
                                    </p:anim>
                                    <p:animEffect transition="in" filter="fade">
                                      <p:cBhvr>
                                        <p:cTn id="3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3" grpId="0" animBg="1"/>
    </p:bld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pic>
        <p:nvPicPr>
          <p:cNvPr id="7" name="!!Órgano ADIPOSO VISCERAL" descr="Ilustración biomédica (Servier Medical Art, CC BY)"/>
          <p:cNvPicPr>
            <a:picLocks noChangeAspect="1"/>
          </p:cNvPicPr>
          <p:nvPr/>
        </p:nvPicPr>
        <p:blipFill>
          <a:blip r:embed="rId2"/>
          <a:stretch>
            <a:fillRect/>
          </a:stretch>
        </p:blipFill>
        <p:spPr>
          <a:xfrm>
            <a:off x="365760" y="960120"/>
            <a:ext cx="1920240" cy="1958001"/>
          </a:xfrm>
          <a:prstGeom prst="rect">
            <a:avLst/>
          </a:prstGeom>
        </p:spPr>
      </p:pic>
      <p:sp>
        <p:nvSpPr>
          <p:cNvPr id="8" name="!!Rótulo órgano ADIPOSO VISCERAL"/>
          <p:cNvSpPr/>
          <p:nvPr/>
        </p:nvSpPr>
        <p:spPr>
          <a:xfrm>
            <a:off x="365760" y="2880360"/>
            <a:ext cx="1620763"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ADIPOSO VISCERAL</a:t>
            </a:r>
            <a:endParaRPr lang="es-AR" sz="1250" dirty="0">
              <a:latin typeface="Fira Sans Condensed"/>
            </a:endParaRPr>
          </a:p>
        </p:txBody>
      </p:sp>
      <p:pic>
        <p:nvPicPr>
          <p:cNvPr id="9" name="!!Órgano HÍGADO" descr="Ilustración biomédica (Servier Medical Art, CC BY)"/>
          <p:cNvPicPr>
            <a:picLocks noChangeAspect="1"/>
          </p:cNvPicPr>
          <p:nvPr/>
        </p:nvPicPr>
        <p:blipFill>
          <a:blip r:embed="rId3"/>
          <a:stretch>
            <a:fillRect/>
          </a:stretch>
        </p:blipFill>
        <p:spPr>
          <a:xfrm>
            <a:off x="4206240" y="960120"/>
            <a:ext cx="2194560" cy="1592394"/>
          </a:xfrm>
          <a:prstGeom prst="rect">
            <a:avLst/>
          </a:prstGeom>
        </p:spPr>
      </p:pic>
      <p:sp>
        <p:nvSpPr>
          <p:cNvPr id="10" name="!!Rótulo órgano HÍGADO"/>
          <p:cNvSpPr/>
          <p:nvPr/>
        </p:nvSpPr>
        <p:spPr>
          <a:xfrm>
            <a:off x="4617720" y="256032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1" name="!!Órgano MÚSCULO" descr="Ilustración biomédica (Servier Medical Art, CC BY)"/>
          <p:cNvPicPr>
            <a:picLocks noChangeAspect="1"/>
          </p:cNvPicPr>
          <p:nvPr/>
        </p:nvPicPr>
        <p:blipFill>
          <a:blip r:embed="rId4"/>
          <a:stretch>
            <a:fillRect/>
          </a:stretch>
        </p:blipFill>
        <p:spPr>
          <a:xfrm>
            <a:off x="9052560" y="1051560"/>
            <a:ext cx="2377440" cy="1103811"/>
          </a:xfrm>
          <a:prstGeom prst="rect">
            <a:avLst/>
          </a:prstGeom>
        </p:spPr>
      </p:pic>
      <p:sp>
        <p:nvSpPr>
          <p:cNvPr id="12" name="!!Rótulo órgano MÚSCULO"/>
          <p:cNvSpPr/>
          <p:nvPr/>
        </p:nvSpPr>
        <p:spPr>
          <a:xfrm>
            <a:off x="9509760" y="2240280"/>
            <a:ext cx="96764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MÚSCULO</a:t>
            </a:r>
            <a:endParaRPr lang="es-AR" sz="1250" dirty="0">
              <a:latin typeface="Fira Sans Condensed"/>
            </a:endParaRPr>
          </a:p>
        </p:txBody>
      </p:sp>
      <p:pic>
        <p:nvPicPr>
          <p:cNvPr id="13" name="!!Órgano PÁNCREAS" descr="Ilustración biomédica (Servier Medical Art, CC BY)"/>
          <p:cNvPicPr>
            <a:picLocks noChangeAspect="1"/>
          </p:cNvPicPr>
          <p:nvPr/>
        </p:nvPicPr>
        <p:blipFill>
          <a:blip r:embed="rId5"/>
          <a:stretch>
            <a:fillRect/>
          </a:stretch>
        </p:blipFill>
        <p:spPr>
          <a:xfrm>
            <a:off x="9098280" y="3017520"/>
            <a:ext cx="1371600" cy="1496680"/>
          </a:xfrm>
          <a:prstGeom prst="rect">
            <a:avLst/>
          </a:prstGeom>
        </p:spPr>
      </p:pic>
      <p:sp>
        <p:nvSpPr>
          <p:cNvPr id="14" name="!!Rótulo órgano PÁNCREAS"/>
          <p:cNvSpPr/>
          <p:nvPr/>
        </p:nvSpPr>
        <p:spPr>
          <a:xfrm>
            <a:off x="10561320" y="356616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5" name="!!Órgano CORAZÓN · VASOS" descr="Ilustración biomédica (Servier Medical Art, CC BY)"/>
          <p:cNvPicPr>
            <a:picLocks noChangeAspect="1"/>
          </p:cNvPicPr>
          <p:nvPr/>
        </p:nvPicPr>
        <p:blipFill>
          <a:blip r:embed="rId6"/>
          <a:stretch>
            <a:fillRect/>
          </a:stretch>
        </p:blipFill>
        <p:spPr>
          <a:xfrm>
            <a:off x="4480560" y="3429000"/>
            <a:ext cx="1280160" cy="1812158"/>
          </a:xfrm>
          <a:prstGeom prst="rect">
            <a:avLst/>
          </a:prstGeom>
        </p:spPr>
      </p:pic>
      <p:sp>
        <p:nvSpPr>
          <p:cNvPr id="16" name="!!Rótulo órgano CORAZÓN · VASOS"/>
          <p:cNvSpPr/>
          <p:nvPr/>
        </p:nvSpPr>
        <p:spPr>
          <a:xfrm>
            <a:off x="5852160" y="4023360"/>
            <a:ext cx="1532265"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 · VASOS</a:t>
            </a:r>
            <a:endParaRPr lang="es-AR" sz="1250" dirty="0">
              <a:latin typeface="Fira Sans Condensed"/>
            </a:endParaRPr>
          </a:p>
        </p:txBody>
      </p:sp>
      <p:sp>
        <p:nvSpPr>
          <p:cNvPr id="17" name="!!Mapa elemento 0"/>
          <p:cNvSpPr/>
          <p:nvPr/>
        </p:nvSpPr>
        <p:spPr>
          <a:xfrm>
            <a:off x="365760" y="3429000"/>
            <a:ext cx="26517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Hipertrofia · hipoxia · macrófagos</a:t>
            </a:r>
            <a:endParaRPr lang="es-AR" sz="1150" dirty="0">
              <a:latin typeface="Fira Sans Condensed"/>
            </a:endParaRPr>
          </a:p>
        </p:txBody>
      </p:sp>
      <p:grpSp>
        <p:nvGrpSpPr>
          <p:cNvPr id="18" name="!!Mapa elemento 1"/>
          <p:cNvGrpSpPr/>
          <p:nvPr/>
        </p:nvGrpSpPr>
        <p:grpSpPr>
          <a:xfrm>
            <a:off x="2103120" y="1051560"/>
            <a:ext cx="2057400" cy="420624"/>
            <a:chOff x="2103120" y="1051560"/>
            <a:chExt cx="2057400" cy="420624"/>
          </a:xfrm>
        </p:grpSpPr>
        <p:sp>
          <p:nvSpPr>
            <p:cNvPr id="19" name="Flecha 18_2"/>
            <p:cNvSpPr/>
            <p:nvPr/>
          </p:nvSpPr>
          <p:spPr>
            <a:xfrm>
              <a:off x="2331720" y="1463040"/>
              <a:ext cx="1828800" cy="9144"/>
            </a:xfrm>
            <a:custGeom>
              <a:avLst/>
              <a:gdLst/>
              <a:ahLst/>
              <a:cxnLst/>
              <a:rect l="0" t="0" r="r" b="b"/>
              <a:pathLst>
                <a:path w="2000" h="10" fill="none">
                  <a:moveTo>
                    <a:pt x="0" y="0"/>
                  </a:moveTo>
                  <a:lnTo>
                    <a:pt x="2000" y="0"/>
                  </a:lnTo>
                </a:path>
              </a:pathLst>
            </a:custGeom>
            <a:noFill/>
            <a:ln w="38100" cap="rnd">
              <a:solidFill>
                <a:srgbClr val="2563B0"/>
              </a:solidFill>
              <a:prstDash val="dash"/>
              <a:round/>
              <a:tailEnd type="triangle" w="med" len="med"/>
            </a:ln>
          </p:spPr>
        </p:sp>
        <p:sp>
          <p:nvSpPr>
            <p:cNvPr id="20" name="Rótulo AGNE (porta) · TNF"/>
            <p:cNvSpPr/>
            <p:nvPr/>
          </p:nvSpPr>
          <p:spPr>
            <a:xfrm>
              <a:off x="2103120" y="1051560"/>
              <a:ext cx="186795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(porta) · TNF-α · IL-6</a:t>
              </a:r>
              <a:endParaRPr lang="es-AR" sz="1150" dirty="0">
                <a:latin typeface="Fira Sans Condensed"/>
              </a:endParaRPr>
            </a:p>
          </p:txBody>
        </p:sp>
      </p:grpSp>
      <p:grpSp>
        <p:nvGrpSpPr>
          <p:cNvPr id="21" name="!!Mapa elemento 2"/>
          <p:cNvGrpSpPr/>
          <p:nvPr/>
        </p:nvGrpSpPr>
        <p:grpSpPr>
          <a:xfrm>
            <a:off x="2286000" y="1737360"/>
            <a:ext cx="6720840" cy="637858"/>
            <a:chOff x="2286000" y="1737360"/>
            <a:chExt cx="6720840" cy="637858"/>
          </a:xfrm>
        </p:grpSpPr>
        <p:sp>
          <p:nvSpPr>
            <p:cNvPr id="22" name="Flecha 22_2"/>
            <p:cNvSpPr/>
            <p:nvPr/>
          </p:nvSpPr>
          <p:spPr>
            <a:xfrm>
              <a:off x="2286000" y="1737360"/>
              <a:ext cx="6720840" cy="365760"/>
            </a:xfrm>
            <a:custGeom>
              <a:avLst/>
              <a:gdLst/>
              <a:ahLst/>
              <a:cxnLst/>
              <a:rect l="0" t="0" r="r" b="b"/>
              <a:pathLst>
                <a:path w="7350" h="399" fill="none">
                  <a:moveTo>
                    <a:pt x="0" y="399"/>
                  </a:moveTo>
                  <a:lnTo>
                    <a:pt x="7350" y="0"/>
                  </a:lnTo>
                </a:path>
              </a:pathLst>
            </a:custGeom>
            <a:noFill/>
            <a:ln w="38100" cap="rnd">
              <a:solidFill>
                <a:srgbClr val="2563B0"/>
              </a:solidFill>
              <a:prstDash val="dash"/>
              <a:round/>
              <a:tailEnd type="triangle" w="med" len="med"/>
            </a:ln>
          </p:spPr>
        </p:sp>
        <p:sp>
          <p:nvSpPr>
            <p:cNvPr id="23" name="Rótulo AGNE · citocinas"/>
            <p:cNvSpPr/>
            <p:nvPr/>
          </p:nvSpPr>
          <p:spPr>
            <a:xfrm>
              <a:off x="6035040" y="214884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grpSp>
        <p:nvGrpSpPr>
          <p:cNvPr id="24" name="!!Mapa elemento 3"/>
          <p:cNvGrpSpPr/>
          <p:nvPr/>
        </p:nvGrpSpPr>
        <p:grpSpPr>
          <a:xfrm>
            <a:off x="2103120" y="2788920"/>
            <a:ext cx="6949440" cy="777240"/>
            <a:chOff x="2103120" y="2788920"/>
            <a:chExt cx="6949440" cy="777240"/>
          </a:xfrm>
        </p:grpSpPr>
        <p:sp>
          <p:nvSpPr>
            <p:cNvPr id="25" name="Flecha 26_2"/>
            <p:cNvSpPr/>
            <p:nvPr/>
          </p:nvSpPr>
          <p:spPr>
            <a:xfrm>
              <a:off x="2103120" y="2788920"/>
              <a:ext cx="6949440" cy="777240"/>
            </a:xfrm>
            <a:custGeom>
              <a:avLst/>
              <a:gdLst/>
              <a:ahLst/>
              <a:cxnLst/>
              <a:rect l="0" t="0" r="r" b="b"/>
              <a:pathLst>
                <a:path w="7600" h="850" fill="none">
                  <a:moveTo>
                    <a:pt x="0" y="0"/>
                  </a:moveTo>
                  <a:lnTo>
                    <a:pt x="7600" y="850"/>
                  </a:lnTo>
                </a:path>
              </a:pathLst>
            </a:custGeom>
            <a:noFill/>
            <a:ln w="38100" cap="rnd">
              <a:solidFill>
                <a:srgbClr val="2563B0"/>
              </a:solidFill>
              <a:prstDash val="dash"/>
              <a:round/>
              <a:tailEnd type="triangle" w="med" len="med"/>
            </a:ln>
          </p:spPr>
        </p:sp>
        <p:sp>
          <p:nvSpPr>
            <p:cNvPr id="26" name="Rótulo lípidos ectópicos"/>
            <p:cNvSpPr/>
            <p:nvPr/>
          </p:nvSpPr>
          <p:spPr>
            <a:xfrm>
              <a:off x="6355080" y="3063240"/>
              <a:ext cx="132273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lípidos ectópicos</a:t>
              </a:r>
              <a:endParaRPr lang="es-AR" sz="1150" dirty="0">
                <a:latin typeface="Fira Sans Condensed"/>
              </a:endParaRPr>
            </a:p>
          </p:txBody>
        </p:sp>
      </p:grpSp>
      <p:sp>
        <p:nvSpPr>
          <p:cNvPr id="27" name="!!Mapa elemento 4"/>
          <p:cNvSpPr/>
          <p:nvPr/>
        </p:nvSpPr>
        <p:spPr>
          <a:xfrm>
            <a:off x="6537960" y="914400"/>
            <a:ext cx="23774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Hígado</a:t>
            </a:r>
            <a:r>
              <a:rPr lang="es-AR" sz="1200" dirty="0">
                <a:solidFill>
                  <a:srgbClr val="1E1E1E"/>
                </a:solidFill>
                <a:latin typeface="Fira Sans Condensed"/>
                <a:ea typeface="Fira Sans Condensed"/>
                <a:cs typeface="Fira Sans Condensed"/>
                <a:sym typeface="Fira Sans Condensed"/>
              </a:rPr>
              <a:t>: PHG ↑, VLDL ↑, esteatosis</a:t>
            </a:r>
            <a:endParaRPr lang="es-AR" sz="1200" dirty="0">
              <a:latin typeface="Fira Sans Condensed"/>
            </a:endParaRPr>
          </a:p>
        </p:txBody>
      </p:sp>
      <p:sp>
        <p:nvSpPr>
          <p:cNvPr id="28" name="!!Mapa elemento 5"/>
          <p:cNvSpPr/>
          <p:nvPr/>
        </p:nvSpPr>
        <p:spPr>
          <a:xfrm>
            <a:off x="9144000" y="4434840"/>
            <a:ext cx="265176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β</a:t>
            </a:r>
            <a:r>
              <a:rPr lang="es-AR" sz="1200" dirty="0">
                <a:solidFill>
                  <a:srgbClr val="1E1E1E"/>
                </a:solidFill>
                <a:latin typeface="Fira Sans Condensed"/>
                <a:ea typeface="Fira Sans Condensed"/>
                <a:cs typeface="Fira Sans Condensed"/>
                <a:sym typeface="Fira Sans Condensed"/>
              </a:rPr>
              <a:t>: secreción ↓ progresiva</a:t>
            </a:r>
            <a:endParaRPr lang="es-AR" sz="1200" dirty="0">
              <a:latin typeface="Fira Sans Condensed"/>
            </a:endParaRPr>
          </a:p>
        </p:txBody>
      </p:sp>
      <p:sp>
        <p:nvSpPr>
          <p:cNvPr id="29" name="!!Mapa elemento 6"/>
          <p:cNvSpPr/>
          <p:nvPr/>
        </p:nvSpPr>
        <p:spPr>
          <a:xfrm>
            <a:off x="365760" y="4069080"/>
            <a:ext cx="384048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Músculo</a:t>
            </a:r>
            <a:r>
              <a:rPr lang="es-AR" sz="1200" dirty="0">
                <a:solidFill>
                  <a:srgbClr val="1E1E1E"/>
                </a:solidFill>
                <a:latin typeface="Fira Sans Condensed"/>
                <a:ea typeface="Fira Sans Condensed"/>
                <a:cs typeface="Fira Sans Condensed"/>
                <a:sym typeface="Fira Sans Condensed"/>
              </a:rPr>
              <a:t>: captación de glucosa ↓ (DAG/PKC)</a:t>
            </a:r>
            <a:endParaRPr lang="es-AR" sz="1200" dirty="0">
              <a:latin typeface="Fira Sans Condensed"/>
            </a:endParaRPr>
          </a:p>
        </p:txBody>
      </p:sp>
      <p:grpSp>
        <p:nvGrpSpPr>
          <p:cNvPr id="30" name="!!Mapa elemento 7"/>
          <p:cNvGrpSpPr/>
          <p:nvPr/>
        </p:nvGrpSpPr>
        <p:grpSpPr>
          <a:xfrm>
            <a:off x="4858702" y="2606040"/>
            <a:ext cx="981077" cy="777240"/>
            <a:chOff x="4858702" y="2606040"/>
            <a:chExt cx="981077" cy="777240"/>
          </a:xfrm>
        </p:grpSpPr>
        <p:sp>
          <p:nvSpPr>
            <p:cNvPr id="31" name="Flecha 33_2"/>
            <p:cNvSpPr/>
            <p:nvPr/>
          </p:nvSpPr>
          <p:spPr>
            <a:xfrm>
              <a:off x="5212080" y="2606040"/>
              <a:ext cx="274320" cy="777240"/>
            </a:xfrm>
            <a:custGeom>
              <a:avLst/>
              <a:gdLst/>
              <a:ahLst/>
              <a:cxnLst/>
              <a:rect l="0" t="0" r="r" b="b"/>
              <a:pathLst>
                <a:path w="299" h="850" fill="none">
                  <a:moveTo>
                    <a:pt x="299" y="0"/>
                  </a:moveTo>
                  <a:lnTo>
                    <a:pt x="0" y="850"/>
                  </a:lnTo>
                </a:path>
              </a:pathLst>
            </a:custGeom>
            <a:noFill/>
            <a:ln w="38100" cap="rnd">
              <a:solidFill>
                <a:srgbClr val="1E1E1E"/>
              </a:solidFill>
              <a:round/>
              <a:tailEnd type="triangle" w="med" len="med"/>
            </a:ln>
          </p:spPr>
        </p:sp>
        <p:sp>
          <p:nvSpPr>
            <p:cNvPr id="32" name="Rótulo VLDL · ApoB"/>
            <p:cNvSpPr/>
            <p:nvPr/>
          </p:nvSpPr>
          <p:spPr>
            <a:xfrm>
              <a:off x="4858702" y="2857500"/>
              <a:ext cx="981077"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VLDL · ApoB</a:t>
              </a:r>
              <a:endParaRPr lang="es-AR" sz="1150" dirty="0">
                <a:latin typeface="Fira Sans Condensed"/>
              </a:endParaRPr>
            </a:p>
          </p:txBody>
        </p:sp>
      </p:grpSp>
      <p:sp>
        <p:nvSpPr>
          <p:cNvPr id="33" name="!!Mapa elemento 8"/>
          <p:cNvSpPr/>
          <p:nvPr/>
        </p:nvSpPr>
        <p:spPr>
          <a:xfrm>
            <a:off x="4343400" y="4800600"/>
            <a:ext cx="4480560" cy="7772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Endotelio</a:t>
            </a:r>
            <a:r>
              <a:rPr lang="es-AR" sz="1200" dirty="0">
                <a:solidFill>
                  <a:srgbClr val="1E1E1E"/>
                </a:solidFill>
                <a:latin typeface="Fira Sans Condensed"/>
                <a:ea typeface="Fira Sans Condensed"/>
                <a:cs typeface="Fira Sans Condensed"/>
                <a:sym typeface="Fira Sans Condensed"/>
              </a:rPr>
              <a:t>: NO ↓, inflamación, PAI-1 ↑ → aterosclerosis</a:t>
            </a:r>
            <a:endParaRPr lang="es-AR" sz="1200" dirty="0">
              <a:latin typeface="Fira Sans Condensed"/>
            </a:endParaRPr>
          </a:p>
        </p:txBody>
      </p:sp>
      <p:sp>
        <p:nvSpPr>
          <p:cNvPr id="34" name="!!Conclusión mapa"/>
          <p:cNvSpPr/>
          <p:nvPr/>
        </p:nvSpPr>
        <p:spPr>
          <a:xfrm>
            <a:off x="365760" y="5760720"/>
            <a:ext cx="114757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Almacenar TAG </a:t>
            </a:r>
            <a:r>
              <a:rPr lang="es-AR" sz="1400" b="1" dirty="0">
                <a:solidFill>
                  <a:srgbClr val="FFFFFF"/>
                </a:solidFill>
                <a:latin typeface="Fira Sans Condensed"/>
                <a:ea typeface="Fira Sans Condensed"/>
                <a:cs typeface="Fira Sans Condensed"/>
                <a:sym typeface="Fira Sans Condensed"/>
              </a:rPr>
              <a:t>protege</a:t>
            </a:r>
            <a:r>
              <a:rPr lang="es-AR" sz="1400" dirty="0">
                <a:solidFill>
                  <a:srgbClr val="FFFFFF"/>
                </a:solidFill>
                <a:latin typeface="Fira Sans Condensed"/>
                <a:ea typeface="Fira Sans Condensed"/>
                <a:cs typeface="Fira Sans Condensed"/>
                <a:sym typeface="Fira Sans Condensed"/>
              </a:rPr>
              <a:t>; desbordar la capacidad libera </a:t>
            </a:r>
            <a:r>
              <a:rPr lang="es-AR" sz="1400" b="1" dirty="0">
                <a:solidFill>
                  <a:srgbClr val="FFFFFF"/>
                </a:solidFill>
                <a:latin typeface="Fira Sans Condensed"/>
                <a:ea typeface="Fira Sans Condensed"/>
                <a:cs typeface="Fira Sans Condensed"/>
                <a:sym typeface="Fira Sans Condensed"/>
              </a:rPr>
              <a:t>AGNE, DAG, ceramidas e inflamación</a:t>
            </a:r>
            <a:r>
              <a:rPr lang="es-AR" sz="1400" dirty="0">
                <a:solidFill>
                  <a:srgbClr val="FFFFFF"/>
                </a:solidFill>
                <a:latin typeface="Fira Sans Condensed"/>
                <a:ea typeface="Fira Sans Condensed"/>
                <a:cs typeface="Fira Sans Condensed"/>
                <a:sym typeface="Fira Sans Condensed"/>
              </a:rPr>
              <a:t>.</a:t>
            </a:r>
            <a:endParaRPr lang="es-AR" sz="1400" dirty="0">
              <a:latin typeface="Fira Sans Condensed"/>
            </a:endParaRPr>
          </a:p>
        </p:txBody>
      </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MAPA 5 · OBESIDAD DISFUNCIONAL · SISTEMA COMPLETO</a:t>
            </a:r>
            <a:endParaRPr lang="es-AR" sz="28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4"/>
                                        </p:tgtEl>
                                        <p:attrNameLst>
                                          <p:attrName>style.visibility</p:attrName>
                                        </p:attrNameLst>
                                      </p:cBhvr>
                                      <p:to>
                                        <p:strVal val="visible"/>
                                      </p:to>
                                    </p:set>
                                    <p:anim calcmode="lin" valueType="num">
                                      <p:cBhvr>
                                        <p:cTn id="5" dur="500" fill="hold"/>
                                        <p:tgtEl>
                                          <p:spTgt spid="34"/>
                                        </p:tgtEl>
                                        <p:attrNameLst>
                                          <p:attrName>ppt_w</p:attrName>
                                        </p:attrNameLst>
                                      </p:cBhvr>
                                      <p:tavLst>
                                        <p:tav tm="0">
                                          <p:val>
                                            <p:fltVal val="0"/>
                                          </p:val>
                                        </p:tav>
                                        <p:tav tm="100000">
                                          <p:val>
                                            <p:strVal val="#ppt_w"/>
                                          </p:val>
                                        </p:tav>
                                      </p:tavLst>
                                    </p:anim>
                                    <p:anim calcmode="lin" valueType="num">
                                      <p:cBhvr>
                                        <p:cTn id="6" dur="500" fill="hold"/>
                                        <p:tgtEl>
                                          <p:spTgt spid="34"/>
                                        </p:tgtEl>
                                        <p:attrNameLst>
                                          <p:attrName>ppt_h</p:attrName>
                                        </p:attrNameLst>
                                      </p:cBhvr>
                                      <p:tavLst>
                                        <p:tav tm="0">
                                          <p:val>
                                            <p:fltVal val="0"/>
                                          </p:val>
                                        </p:tav>
                                        <p:tav tm="100000">
                                          <p:val>
                                            <p:strVal val="#ppt_h"/>
                                          </p:val>
                                        </p:tav>
                                      </p:tavLst>
                                    </p:anim>
                                    <p:animEffect transition="in" filter="fad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Estado DESPUÉS DE COMER"/>
          <p:cNvGrpSpPr/>
          <p:nvPr/>
        </p:nvGrpSpPr>
        <p:grpSpPr>
          <a:xfrm>
            <a:off x="365760" y="1097280"/>
            <a:ext cx="11475720" cy="1051560"/>
            <a:chOff x="365760" y="1097280"/>
            <a:chExt cx="11475720" cy="1051560"/>
          </a:xfrm>
        </p:grpSpPr>
        <p:sp>
          <p:nvSpPr>
            <p:cNvPr id="8" name="Recuadro DESPUÉS DE COMER"/>
            <p:cNvSpPr/>
            <p:nvPr/>
          </p:nvSpPr>
          <p:spPr>
            <a:xfrm>
              <a:off x="365760" y="1097280"/>
              <a:ext cx="3017520" cy="105156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DESPUÉS DE COMER</a:t>
              </a:r>
              <a:endParaRPr lang="es-AR" sz="1500" dirty="0">
                <a:latin typeface="Fira Sans Condensed"/>
              </a:endParaRPr>
            </a:p>
          </p:txBody>
        </p:sp>
        <p:sp>
          <p:nvSpPr>
            <p:cNvPr id="9" name="Forma 8"/>
            <p:cNvSpPr/>
            <p:nvPr/>
          </p:nvSpPr>
          <p:spPr>
            <a:xfrm>
              <a:off x="3520440" y="1097280"/>
              <a:ext cx="83210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Incretinas y glucosa → insulina: suprime PHG, ↑ captación muscular, almacenamiento adiposo, lipólisis ↓.</a:t>
              </a:r>
              <a:endParaRPr lang="es-AR" sz="1450" dirty="0">
                <a:latin typeface="Fira Sans Condensed"/>
              </a:endParaRPr>
            </a:p>
          </p:txBody>
        </p:sp>
      </p:grpSp>
      <p:grpSp>
        <p:nvGrpSpPr>
          <p:cNvPr id="10" name="Estado AYUNO"/>
          <p:cNvGrpSpPr/>
          <p:nvPr/>
        </p:nvGrpSpPr>
        <p:grpSpPr>
          <a:xfrm>
            <a:off x="365760" y="2304288"/>
            <a:ext cx="11475720" cy="1051560"/>
            <a:chOff x="365760" y="2304288"/>
            <a:chExt cx="11475720" cy="1051560"/>
          </a:xfrm>
        </p:grpSpPr>
        <p:sp>
          <p:nvSpPr>
            <p:cNvPr id="11" name="Recuadro AYUNO"/>
            <p:cNvSpPr/>
            <p:nvPr/>
          </p:nvSpPr>
          <p:spPr>
            <a:xfrm>
              <a:off x="365760" y="2304288"/>
              <a:ext cx="3017520" cy="10515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AYUNO</a:t>
              </a:r>
              <a:endParaRPr lang="es-AR" sz="1500" dirty="0">
                <a:latin typeface="Fira Sans Condensed"/>
              </a:endParaRPr>
            </a:p>
          </p:txBody>
        </p:sp>
        <p:sp>
          <p:nvSpPr>
            <p:cNvPr id="12" name="Forma 11"/>
            <p:cNvSpPr/>
            <p:nvPr/>
          </p:nvSpPr>
          <p:spPr>
            <a:xfrm>
              <a:off x="3520440" y="2304288"/>
              <a:ext cx="83210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Insulina ↓, glucagón/insulina ↑: hígado sostiene la glucemia; adipocito libera AGNE y glicerol; músculo oxida lípidos.</a:t>
              </a:r>
              <a:endParaRPr lang="es-AR" sz="1450" dirty="0">
                <a:latin typeface="Fira Sans Condensed"/>
              </a:endParaRPr>
            </a:p>
          </p:txBody>
        </p:sp>
      </p:grpSp>
      <p:grpSp>
        <p:nvGrpSpPr>
          <p:cNvPr id="13" name="Estado OBESIDAD VISCERAL"/>
          <p:cNvGrpSpPr/>
          <p:nvPr/>
        </p:nvGrpSpPr>
        <p:grpSpPr>
          <a:xfrm>
            <a:off x="365760" y="3511296"/>
            <a:ext cx="11475720" cy="1051560"/>
            <a:chOff x="365760" y="3511296"/>
            <a:chExt cx="11475720" cy="1051560"/>
          </a:xfrm>
        </p:grpSpPr>
        <p:sp>
          <p:nvSpPr>
            <p:cNvPr id="14" name="Recuadro OBESIDAD VISCERAL"/>
            <p:cNvSpPr/>
            <p:nvPr/>
          </p:nvSpPr>
          <p:spPr>
            <a:xfrm>
              <a:off x="365760" y="3511296"/>
              <a:ext cx="3017520" cy="10515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OBESIDAD VISCERAL</a:t>
              </a:r>
              <a:endParaRPr lang="es-AR" sz="1500" dirty="0">
                <a:latin typeface="Fira Sans Condensed"/>
              </a:endParaRPr>
            </a:p>
          </p:txBody>
        </p:sp>
        <p:sp>
          <p:nvSpPr>
            <p:cNvPr id="15" name="Forma 14"/>
            <p:cNvSpPr/>
            <p:nvPr/>
          </p:nvSpPr>
          <p:spPr>
            <a:xfrm>
              <a:off x="3520440" y="3511296"/>
              <a:ext cx="83210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Adiposo inflexible; hígado acumula lípidos y produce glucosa/VLDL; músculo capta menos; riñón reabsorbe hasta saturarse; SNC menos sensible a leptina/insulina.</a:t>
              </a:r>
              <a:endParaRPr lang="es-AR" sz="1450" dirty="0">
                <a:latin typeface="Fira Sans Condensed"/>
              </a:endParaRPr>
            </a:p>
          </p:txBody>
        </p:sp>
      </p:grpSp>
      <p:grpSp>
        <p:nvGrpSpPr>
          <p:cNvPr id="16" name="Estado DM1 SIN INSULINA"/>
          <p:cNvGrpSpPr/>
          <p:nvPr/>
        </p:nvGrpSpPr>
        <p:grpSpPr>
          <a:xfrm>
            <a:off x="365760" y="4718304"/>
            <a:ext cx="11475720" cy="1051560"/>
            <a:chOff x="365760" y="4718304"/>
            <a:chExt cx="11475720" cy="1051560"/>
          </a:xfrm>
        </p:grpSpPr>
        <p:sp>
          <p:nvSpPr>
            <p:cNvPr id="17" name="Recuadro DM1 SIN INSULINA"/>
            <p:cNvSpPr/>
            <p:nvPr/>
          </p:nvSpPr>
          <p:spPr>
            <a:xfrm>
              <a:off x="365760" y="4718304"/>
              <a:ext cx="3017520" cy="1051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DM1 SIN INSULINA</a:t>
              </a:r>
              <a:endParaRPr lang="es-AR" sz="1500" dirty="0">
                <a:latin typeface="Fira Sans Condensed"/>
              </a:endParaRPr>
            </a:p>
          </p:txBody>
        </p:sp>
        <p:sp>
          <p:nvSpPr>
            <p:cNvPr id="18" name="Forma 17"/>
            <p:cNvSpPr/>
            <p:nvPr/>
          </p:nvSpPr>
          <p:spPr>
            <a:xfrm>
              <a:off x="3520440" y="4718304"/>
              <a:ext cx="83210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Las adaptaciones del ayuno se exacerban patológicamente hasta la </a:t>
              </a:r>
              <a:r>
                <a:rPr lang="es-AR" sz="1450" b="1" dirty="0">
                  <a:solidFill>
                    <a:srgbClr val="1E1E1E"/>
                  </a:solidFill>
                  <a:latin typeface="Fira Sans Condensed"/>
                  <a:ea typeface="Fira Sans Condensed"/>
                  <a:cs typeface="Fira Sans Condensed"/>
                  <a:sym typeface="Fira Sans Condensed"/>
                </a:rPr>
                <a:t>CAD</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gr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INTEGRACIÓN ADIPOCITO–HÍGADO–RIÑÓN–MÚSCULO–SNC</a:t>
            </a:r>
            <a:endParaRPr lang="es-AR" sz="2800" dirty="0">
              <a:latin typeface="Permanent Marker"/>
            </a:endParaRPr>
          </a:p>
        </p:txBody>
      </p:sp>
      <p:sp>
        <p:nvSpPr>
          <p:cNvPr id="6" name="Etiqueta sección"/>
          <p:cNvSpPr/>
          <p:nvPr/>
        </p:nvSpPr>
        <p:spPr>
          <a:xfrm>
            <a:off x="164592" y="6510528"/>
            <a:ext cx="17241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 · TEJIDO ADIPOSO</a:t>
            </a:r>
            <a:endParaRPr lang="es-AR" sz="950" dirty="0">
              <a:latin typeface="Fira Sans Condensed"/>
            </a:endParaRPr>
          </a:p>
        </p:txBody>
      </p:sp>
      <p:sp>
        <p:nvSpPr>
          <p:cNvPr id="1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VI</a:t>
            </a:r>
            <a:endParaRPr lang="es-AR" sz="2000" dirty="0">
              <a:latin typeface="Fira Sans Condensed"/>
            </a:endParaRPr>
          </a:p>
        </p:txBody>
      </p:sp>
      <p:sp>
        <p:nvSpPr>
          <p:cNvPr id="6" name="Título unidad"/>
          <p:cNvSpPr txBox="1"/>
          <p:nvPr/>
        </p:nvSpPr>
        <p:spPr>
          <a:xfrm>
            <a:off x="2468880" y="960120"/>
            <a:ext cx="7223760" cy="17607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APETITO, PESO Y</a:t>
            </a:r>
            <a:endParaRPr lang="es-AR" sz="5000" dirty="0">
              <a:latin typeface="Permanent Marker"/>
            </a:endParaRPr>
          </a:p>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GASTO ENERGÉTICO</a:t>
            </a:r>
            <a:endParaRPr lang="es-AR" sz="50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Hipotálamo, tronco, recompensa y estrés</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Balance y gasto energético</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Secuencia E: del adipocito al núcleo arcuato</a:t>
            </a:r>
            <a:endParaRPr lang="es-AR" sz="13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POMC/CART frente a AgRP/NPY</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Leptina, insulina y grelina</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Saciedad: CCK, GLP-1, PYY, vago</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Recompensa: VTA → accumbens</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Serotonina, endocannabinoides, estrés</a:t>
            </a:r>
            <a:endParaRPr lang="es-AR" sz="1400" dirty="0">
              <a:latin typeface="Fira Sans Condensed"/>
            </a:endParaRPr>
          </a:p>
        </p:txBody>
      </p:sp>
      <p:sp>
        <p:nvSpPr>
          <p:cNvPr id="15" name="Tema 8"/>
          <p:cNvSpPr/>
          <p:nvPr/>
        </p:nvSpPr>
        <p:spPr>
          <a:xfrm>
            <a:off x="617220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AMPK/mTOR, sueño y Mapa 6</a:t>
            </a:r>
            <a:endParaRPr lang="es-AR" sz="1400" dirty="0">
              <a:latin typeface="Fira Sans Condensed"/>
            </a:endParaRPr>
          </a:p>
        </p:txBody>
      </p:sp>
      <p:pic>
        <p:nvPicPr>
          <p:cNvPr id="16" name="Cerebro" descr="Ilustración biomédica (Servier Medical Art, CC BY)"/>
          <p:cNvPicPr>
            <a:picLocks noChangeAspect="1"/>
          </p:cNvPicPr>
          <p:nvPr/>
        </p:nvPicPr>
        <p:blipFill>
          <a:blip r:embed="rId2"/>
          <a:stretch>
            <a:fillRect/>
          </a:stretch>
        </p:blipFill>
        <p:spPr>
          <a:xfrm>
            <a:off x="9692640" y="548640"/>
            <a:ext cx="2286000" cy="2334354"/>
          </a:xfrm>
          <a:prstGeom prst="rect">
            <a:avLst/>
          </a:prstGeom>
        </p:spPr>
      </p:pic>
      <p:pic>
        <p:nvPicPr>
          <p:cNvPr id="17" name="Estómago" descr="Ilustración biomédica (Servier Medical Art, CC BY)"/>
          <p:cNvPicPr>
            <a:picLocks noChangeAspect="1"/>
          </p:cNvPicPr>
          <p:nvPr/>
        </p:nvPicPr>
        <p:blipFill>
          <a:blip r:embed="rId3"/>
          <a:stretch>
            <a:fillRect/>
          </a:stretch>
        </p:blipFill>
        <p:spPr>
          <a:xfrm>
            <a:off x="10058400" y="3291840"/>
            <a:ext cx="1645920" cy="1711952"/>
          </a:xfrm>
          <a:prstGeom prst="rect">
            <a:avLst/>
          </a:prstGeom>
        </p:spPr>
      </p:pic>
      <p:pic>
        <p:nvPicPr>
          <p:cNvPr id="18" name="Adipocitos" descr="Ilustración biomédica (Servier Medical Art, CC BY)"/>
          <p:cNvPicPr>
            <a:picLocks noChangeAspect="1"/>
          </p:cNvPicPr>
          <p:nvPr/>
        </p:nvPicPr>
        <p:blipFill>
          <a:blip r:embed="rId4"/>
          <a:stretch>
            <a:fillRect/>
          </a:stretch>
        </p:blipFill>
        <p:spPr>
          <a:xfrm>
            <a:off x="182880" y="4297680"/>
            <a:ext cx="2011680" cy="2051240"/>
          </a:xfrm>
          <a:prstGeom prst="rect">
            <a:avLst/>
          </a:prstGeom>
        </p:spPr>
      </p:pic>
      <p:grpSp>
        <p:nvGrpSpPr>
          <p:cNvPr id="19" name="Glc"/>
          <p:cNvGrpSpPr/>
          <p:nvPr/>
        </p:nvGrpSpPr>
        <p:grpSpPr>
          <a:xfrm>
            <a:off x="298332" y="1214051"/>
            <a:ext cx="1593553" cy="1275184"/>
            <a:chOff x="298332" y="1214051"/>
            <a:chExt cx="1593553" cy="1275184"/>
          </a:xfrm>
        </p:grpSpPr>
        <p:sp>
          <p:nvSpPr>
            <p:cNvPr id="20" name="Átomo H"/>
            <p:cNvSpPr/>
            <p:nvPr/>
          </p:nvSpPr>
          <p:spPr>
            <a:xfrm>
              <a:off x="1347516" y="1849401"/>
              <a:ext cx="106430" cy="10643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1" name="Átomo H_2"/>
            <p:cNvSpPr/>
            <p:nvPr/>
          </p:nvSpPr>
          <p:spPr>
            <a:xfrm>
              <a:off x="1511396" y="1362214"/>
              <a:ext cx="107050" cy="10705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2" name="Flecha 21_2"/>
            <p:cNvSpPr/>
            <p:nvPr/>
          </p:nvSpPr>
          <p:spPr>
            <a:xfrm>
              <a:off x="1564921" y="1415739"/>
              <a:ext cx="153062" cy="84999"/>
            </a:xfrm>
            <a:custGeom>
              <a:avLst/>
              <a:gdLst/>
              <a:ahLst/>
              <a:cxnLst/>
              <a:rect l="0" t="0" r="r" b="b"/>
              <a:pathLst>
                <a:path w="167" h="92" fill="none">
                  <a:moveTo>
                    <a:pt x="167" y="92"/>
                  </a:moveTo>
                  <a:lnTo>
                    <a:pt x="0" y="0"/>
                  </a:lnTo>
                </a:path>
              </a:pathLst>
            </a:custGeom>
            <a:noFill/>
            <a:ln w="27175" cap="rnd">
              <a:solidFill>
                <a:srgbClr val="9A9A9A"/>
              </a:solidFill>
              <a:round/>
            </a:ln>
          </p:spPr>
        </p:sp>
        <p:sp>
          <p:nvSpPr>
            <p:cNvPr id="23" name="Flecha 23_2"/>
            <p:cNvSpPr/>
            <p:nvPr/>
          </p:nvSpPr>
          <p:spPr>
            <a:xfrm>
              <a:off x="1400731" y="1902616"/>
              <a:ext cx="51875" cy="44321"/>
            </a:xfrm>
            <a:custGeom>
              <a:avLst/>
              <a:gdLst/>
              <a:ahLst/>
              <a:cxnLst/>
              <a:rect l="0" t="0" r="r" b="b"/>
              <a:pathLst>
                <a:path w="56" h="48" fill="none">
                  <a:moveTo>
                    <a:pt x="56" y="48"/>
                  </a:moveTo>
                  <a:lnTo>
                    <a:pt x="0" y="0"/>
                  </a:lnTo>
                </a:path>
              </a:pathLst>
            </a:custGeom>
            <a:noFill/>
            <a:ln w="27175" cap="rnd">
              <a:solidFill>
                <a:srgbClr val="9A9A9A"/>
              </a:solidFill>
              <a:round/>
            </a:ln>
          </p:spPr>
        </p:sp>
        <p:sp>
          <p:nvSpPr>
            <p:cNvPr id="24" name="Átomo H_3"/>
            <p:cNvSpPr/>
            <p:nvPr/>
          </p:nvSpPr>
          <p:spPr>
            <a:xfrm>
              <a:off x="1783630" y="2037027"/>
              <a:ext cx="108255" cy="10825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5" name="Átomo H_4"/>
            <p:cNvSpPr/>
            <p:nvPr/>
          </p:nvSpPr>
          <p:spPr>
            <a:xfrm>
              <a:off x="783226" y="1771300"/>
              <a:ext cx="108737" cy="10873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6" name="Átomo O"/>
            <p:cNvSpPr/>
            <p:nvPr/>
          </p:nvSpPr>
          <p:spPr>
            <a:xfrm>
              <a:off x="1632499" y="1415254"/>
              <a:ext cx="170968" cy="17096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7" name="Flecha 28_2"/>
            <p:cNvSpPr/>
            <p:nvPr/>
          </p:nvSpPr>
          <p:spPr>
            <a:xfrm>
              <a:off x="1667558" y="2091154"/>
              <a:ext cx="170199" cy="83395"/>
            </a:xfrm>
            <a:custGeom>
              <a:avLst/>
              <a:gdLst/>
              <a:ahLst/>
              <a:cxnLst/>
              <a:rect l="0" t="0" r="r" b="b"/>
              <a:pathLst>
                <a:path w="186" h="91" fill="none">
                  <a:moveTo>
                    <a:pt x="0" y="91"/>
                  </a:moveTo>
                  <a:lnTo>
                    <a:pt x="186" y="0"/>
                  </a:lnTo>
                </a:path>
              </a:pathLst>
            </a:custGeom>
            <a:noFill/>
            <a:ln w="27175" cap="rnd">
              <a:solidFill>
                <a:srgbClr val="9A9A9A"/>
              </a:solidFill>
              <a:round/>
            </a:ln>
          </p:spPr>
        </p:sp>
        <p:sp>
          <p:nvSpPr>
            <p:cNvPr id="28" name="Átomo H_5"/>
            <p:cNvSpPr/>
            <p:nvPr/>
          </p:nvSpPr>
          <p:spPr>
            <a:xfrm>
              <a:off x="1199449" y="2379624"/>
              <a:ext cx="109610" cy="109610"/>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9" name="Átomo O_2"/>
            <p:cNvSpPr/>
            <p:nvPr/>
          </p:nvSpPr>
          <p:spPr>
            <a:xfrm>
              <a:off x="1581415" y="2088406"/>
              <a:ext cx="172286" cy="17228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0" name="Flecha 32_2"/>
            <p:cNvSpPr/>
            <p:nvPr/>
          </p:nvSpPr>
          <p:spPr>
            <a:xfrm>
              <a:off x="1452607" y="1946938"/>
              <a:ext cx="214951" cy="227612"/>
            </a:xfrm>
            <a:custGeom>
              <a:avLst/>
              <a:gdLst/>
              <a:ahLst/>
              <a:cxnLst/>
              <a:rect l="0" t="0" r="r" b="b"/>
              <a:pathLst>
                <a:path w="235" h="248" fill="none">
                  <a:moveTo>
                    <a:pt x="0" y="0"/>
                  </a:moveTo>
                  <a:lnTo>
                    <a:pt x="235" y="248"/>
                  </a:lnTo>
                </a:path>
              </a:pathLst>
            </a:custGeom>
            <a:noFill/>
            <a:ln w="27175" cap="rnd">
              <a:solidFill>
                <a:srgbClr val="9A9A9A"/>
              </a:solidFill>
              <a:round/>
            </a:ln>
          </p:spPr>
        </p:sp>
        <p:sp>
          <p:nvSpPr>
            <p:cNvPr id="31" name="Átomo C"/>
            <p:cNvSpPr/>
            <p:nvPr/>
          </p:nvSpPr>
          <p:spPr>
            <a:xfrm>
              <a:off x="1361160" y="1855491"/>
              <a:ext cx="182894" cy="18289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2" name="Flecha 35_2"/>
            <p:cNvSpPr/>
            <p:nvPr/>
          </p:nvSpPr>
          <p:spPr>
            <a:xfrm>
              <a:off x="1079273" y="2317578"/>
              <a:ext cx="174981" cy="116851"/>
            </a:xfrm>
            <a:custGeom>
              <a:avLst/>
              <a:gdLst/>
              <a:ahLst/>
              <a:cxnLst/>
              <a:rect l="0" t="0" r="r" b="b"/>
              <a:pathLst>
                <a:path w="191" h="127" fill="none">
                  <a:moveTo>
                    <a:pt x="0" y="0"/>
                  </a:moveTo>
                  <a:lnTo>
                    <a:pt x="191" y="127"/>
                  </a:lnTo>
                </a:path>
              </a:pathLst>
            </a:custGeom>
            <a:noFill/>
            <a:ln w="27175" cap="rnd">
              <a:solidFill>
                <a:srgbClr val="9A9A9A"/>
              </a:solidFill>
              <a:round/>
            </a:ln>
          </p:spPr>
        </p:sp>
        <p:sp>
          <p:nvSpPr>
            <p:cNvPr id="33" name="Átomo O_3"/>
            <p:cNvSpPr/>
            <p:nvPr/>
          </p:nvSpPr>
          <p:spPr>
            <a:xfrm>
              <a:off x="992775" y="2231081"/>
              <a:ext cx="172996" cy="17299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4" name="Flecha 38_2"/>
            <p:cNvSpPr/>
            <p:nvPr/>
          </p:nvSpPr>
          <p:spPr>
            <a:xfrm>
              <a:off x="837595" y="1815254"/>
              <a:ext cx="109367" cy="10415"/>
            </a:xfrm>
            <a:custGeom>
              <a:avLst/>
              <a:gdLst/>
              <a:ahLst/>
              <a:cxnLst/>
              <a:rect l="0" t="0" r="r" b="b"/>
              <a:pathLst>
                <a:path w="119" h="11" fill="none">
                  <a:moveTo>
                    <a:pt x="119" y="0"/>
                  </a:moveTo>
                  <a:lnTo>
                    <a:pt x="0" y="11"/>
                  </a:lnTo>
                </a:path>
              </a:pathLst>
            </a:custGeom>
            <a:noFill/>
            <a:ln w="27175" cap="rnd">
              <a:solidFill>
                <a:srgbClr val="9A9A9A"/>
              </a:solidFill>
              <a:round/>
            </a:ln>
          </p:spPr>
        </p:sp>
        <p:sp>
          <p:nvSpPr>
            <p:cNvPr id="35" name="Flecha 40_2"/>
            <p:cNvSpPr/>
            <p:nvPr/>
          </p:nvSpPr>
          <p:spPr>
            <a:xfrm>
              <a:off x="1576381" y="1500738"/>
              <a:ext cx="141602" cy="174983"/>
            </a:xfrm>
            <a:custGeom>
              <a:avLst/>
              <a:gdLst/>
              <a:ahLst/>
              <a:cxnLst/>
              <a:rect l="0" t="0" r="r" b="b"/>
              <a:pathLst>
                <a:path w="154" h="191" fill="none">
                  <a:moveTo>
                    <a:pt x="0" y="191"/>
                  </a:moveTo>
                  <a:lnTo>
                    <a:pt x="154" y="0"/>
                  </a:lnTo>
                </a:path>
              </a:pathLst>
            </a:custGeom>
            <a:noFill/>
            <a:ln w="27175" cap="rnd">
              <a:solidFill>
                <a:srgbClr val="9A9A9A"/>
              </a:solidFill>
              <a:round/>
            </a:ln>
          </p:spPr>
        </p:sp>
        <p:sp>
          <p:nvSpPr>
            <p:cNvPr id="36" name="Flecha 42_2"/>
            <p:cNvSpPr/>
            <p:nvPr/>
          </p:nvSpPr>
          <p:spPr>
            <a:xfrm>
              <a:off x="1452607" y="1675721"/>
              <a:ext cx="123774" cy="271216"/>
            </a:xfrm>
            <a:custGeom>
              <a:avLst/>
              <a:gdLst/>
              <a:ahLst/>
              <a:cxnLst/>
              <a:rect l="0" t="0" r="r" b="b"/>
              <a:pathLst>
                <a:path w="135" h="296" fill="none">
                  <a:moveTo>
                    <a:pt x="135" y="0"/>
                  </a:moveTo>
                  <a:lnTo>
                    <a:pt x="0" y="296"/>
                  </a:lnTo>
                </a:path>
              </a:pathLst>
            </a:custGeom>
            <a:noFill/>
            <a:ln w="27175" cap="rnd">
              <a:solidFill>
                <a:srgbClr val="9A9A9A"/>
              </a:solidFill>
              <a:round/>
            </a:ln>
          </p:spPr>
        </p:sp>
        <p:sp>
          <p:nvSpPr>
            <p:cNvPr id="37" name="Flecha 44_2"/>
            <p:cNvSpPr/>
            <p:nvPr/>
          </p:nvSpPr>
          <p:spPr>
            <a:xfrm>
              <a:off x="1180714" y="1946938"/>
              <a:ext cx="271893" cy="108220"/>
            </a:xfrm>
            <a:custGeom>
              <a:avLst/>
              <a:gdLst/>
              <a:ahLst/>
              <a:cxnLst/>
              <a:rect l="0" t="0" r="r" b="b"/>
              <a:pathLst>
                <a:path w="297" h="118" fill="none">
                  <a:moveTo>
                    <a:pt x="297" y="0"/>
                  </a:moveTo>
                  <a:lnTo>
                    <a:pt x="0" y="118"/>
                  </a:lnTo>
                </a:path>
              </a:pathLst>
            </a:custGeom>
            <a:noFill/>
            <a:ln w="27175" cap="rnd">
              <a:solidFill>
                <a:srgbClr val="9A9A9A"/>
              </a:solidFill>
              <a:round/>
            </a:ln>
          </p:spPr>
        </p:sp>
        <p:sp>
          <p:nvSpPr>
            <p:cNvPr id="38" name="Flecha 46_2"/>
            <p:cNvSpPr/>
            <p:nvPr/>
          </p:nvSpPr>
          <p:spPr>
            <a:xfrm>
              <a:off x="1079273" y="2055158"/>
              <a:ext cx="101441" cy="262421"/>
            </a:xfrm>
            <a:custGeom>
              <a:avLst/>
              <a:gdLst/>
              <a:ahLst/>
              <a:cxnLst/>
              <a:rect l="0" t="0" r="r" b="b"/>
              <a:pathLst>
                <a:path w="110" h="286" fill="none">
                  <a:moveTo>
                    <a:pt x="110" y="0"/>
                  </a:moveTo>
                  <a:lnTo>
                    <a:pt x="0" y="286"/>
                  </a:lnTo>
                </a:path>
              </a:pathLst>
            </a:custGeom>
            <a:noFill/>
            <a:ln w="27175" cap="rnd">
              <a:solidFill>
                <a:srgbClr val="9A9A9A"/>
              </a:solidFill>
              <a:round/>
            </a:ln>
          </p:spPr>
        </p:sp>
        <p:sp>
          <p:nvSpPr>
            <p:cNvPr id="39" name="Átomo C_2"/>
            <p:cNvSpPr/>
            <p:nvPr/>
          </p:nvSpPr>
          <p:spPr>
            <a:xfrm>
              <a:off x="853791" y="1722083"/>
              <a:ext cx="186342" cy="1863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Flecha 49_2"/>
            <p:cNvSpPr/>
            <p:nvPr/>
          </p:nvSpPr>
          <p:spPr>
            <a:xfrm>
              <a:off x="946962" y="1815254"/>
              <a:ext cx="233752" cy="239903"/>
            </a:xfrm>
            <a:custGeom>
              <a:avLst/>
              <a:gdLst/>
              <a:ahLst/>
              <a:cxnLst/>
              <a:rect l="0" t="0" r="r" b="b"/>
              <a:pathLst>
                <a:path w="255" h="262" fill="none">
                  <a:moveTo>
                    <a:pt x="255" y="262"/>
                  </a:moveTo>
                  <a:lnTo>
                    <a:pt x="0" y="0"/>
                  </a:lnTo>
                </a:path>
              </a:pathLst>
            </a:custGeom>
            <a:noFill/>
            <a:ln w="27175" cap="rnd">
              <a:solidFill>
                <a:srgbClr val="9A9A9A"/>
              </a:solidFill>
              <a:round/>
            </a:ln>
          </p:spPr>
        </p:sp>
        <p:sp>
          <p:nvSpPr>
            <p:cNvPr id="41" name="Flecha 51_2"/>
            <p:cNvSpPr/>
            <p:nvPr/>
          </p:nvSpPr>
          <p:spPr>
            <a:xfrm>
              <a:off x="946962" y="1524247"/>
              <a:ext cx="119690" cy="291008"/>
            </a:xfrm>
            <a:custGeom>
              <a:avLst/>
              <a:gdLst/>
              <a:ahLst/>
              <a:cxnLst/>
              <a:rect l="0" t="0" r="r" b="b"/>
              <a:pathLst>
                <a:path w="130" h="318" fill="none">
                  <a:moveTo>
                    <a:pt x="0" y="318"/>
                  </a:moveTo>
                  <a:lnTo>
                    <a:pt x="130" y="0"/>
                  </a:lnTo>
                </a:path>
              </a:pathLst>
            </a:custGeom>
            <a:noFill/>
            <a:ln w="27175" cap="rnd">
              <a:solidFill>
                <a:srgbClr val="9A9A9A"/>
              </a:solidFill>
              <a:round/>
            </a:ln>
          </p:spPr>
        </p:sp>
        <p:sp>
          <p:nvSpPr>
            <p:cNvPr id="42" name="Átomo C_3"/>
            <p:cNvSpPr/>
            <p:nvPr/>
          </p:nvSpPr>
          <p:spPr>
            <a:xfrm>
              <a:off x="1483110" y="1582450"/>
              <a:ext cx="186543" cy="1865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3" name="Átomo C_4"/>
            <p:cNvSpPr/>
            <p:nvPr/>
          </p:nvSpPr>
          <p:spPr>
            <a:xfrm>
              <a:off x="1087371" y="1961814"/>
              <a:ext cx="186687" cy="18668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Átomo O_4"/>
            <p:cNvSpPr/>
            <p:nvPr/>
          </p:nvSpPr>
          <p:spPr>
            <a:xfrm>
              <a:off x="978624" y="1436218"/>
              <a:ext cx="176057" cy="17605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5" name="Flecha 56_2"/>
            <p:cNvSpPr/>
            <p:nvPr/>
          </p:nvSpPr>
          <p:spPr>
            <a:xfrm>
              <a:off x="1576381" y="1675721"/>
              <a:ext cx="169696" cy="63650"/>
            </a:xfrm>
            <a:custGeom>
              <a:avLst/>
              <a:gdLst/>
              <a:ahLst/>
              <a:cxnLst/>
              <a:rect l="0" t="0" r="r" b="b"/>
              <a:pathLst>
                <a:path w="185" h="69" fill="none">
                  <a:moveTo>
                    <a:pt x="0" y="0"/>
                  </a:moveTo>
                  <a:lnTo>
                    <a:pt x="185" y="69"/>
                  </a:lnTo>
                </a:path>
              </a:pathLst>
            </a:custGeom>
            <a:noFill/>
            <a:ln w="27175" cap="rnd">
              <a:solidFill>
                <a:srgbClr val="9A9A9A"/>
              </a:solidFill>
              <a:round/>
            </a:ln>
          </p:spPr>
        </p:sp>
        <p:sp>
          <p:nvSpPr>
            <p:cNvPr id="46" name="Flecha 58_2"/>
            <p:cNvSpPr/>
            <p:nvPr/>
          </p:nvSpPr>
          <p:spPr>
            <a:xfrm>
              <a:off x="1336011" y="1503249"/>
              <a:ext cx="240370" cy="172472"/>
            </a:xfrm>
            <a:custGeom>
              <a:avLst/>
              <a:gdLst/>
              <a:ahLst/>
              <a:cxnLst/>
              <a:rect l="0" t="0" r="r" b="b"/>
              <a:pathLst>
                <a:path w="262" h="188" fill="none">
                  <a:moveTo>
                    <a:pt x="0" y="0"/>
                  </a:moveTo>
                  <a:lnTo>
                    <a:pt x="262" y="188"/>
                  </a:lnTo>
                </a:path>
              </a:pathLst>
            </a:custGeom>
            <a:noFill/>
            <a:ln w="27175" cap="rnd">
              <a:solidFill>
                <a:srgbClr val="9A9A9A"/>
              </a:solidFill>
              <a:round/>
            </a:ln>
          </p:spPr>
        </p:sp>
        <p:sp>
          <p:nvSpPr>
            <p:cNvPr id="47" name="Flecha 60_2"/>
            <p:cNvSpPr/>
            <p:nvPr/>
          </p:nvSpPr>
          <p:spPr>
            <a:xfrm>
              <a:off x="1066652" y="1503249"/>
              <a:ext cx="269359" cy="20998"/>
            </a:xfrm>
            <a:custGeom>
              <a:avLst/>
              <a:gdLst/>
              <a:ahLst/>
              <a:cxnLst/>
              <a:rect l="0" t="0" r="r" b="b"/>
              <a:pathLst>
                <a:path w="294" h="22" fill="none">
                  <a:moveTo>
                    <a:pt x="0" y="22"/>
                  </a:moveTo>
                  <a:lnTo>
                    <a:pt x="294" y="0"/>
                  </a:lnTo>
                </a:path>
              </a:pathLst>
            </a:custGeom>
            <a:noFill/>
            <a:ln w="27175" cap="rnd">
              <a:solidFill>
                <a:srgbClr val="9A9A9A"/>
              </a:solidFill>
              <a:round/>
            </a:ln>
          </p:spPr>
        </p:sp>
        <p:sp>
          <p:nvSpPr>
            <p:cNvPr id="48" name="Flecha 62_2"/>
            <p:cNvSpPr/>
            <p:nvPr/>
          </p:nvSpPr>
          <p:spPr>
            <a:xfrm>
              <a:off x="712348" y="1815254"/>
              <a:ext cx="234614" cy="44226"/>
            </a:xfrm>
            <a:custGeom>
              <a:avLst/>
              <a:gdLst/>
              <a:ahLst/>
              <a:cxnLst/>
              <a:rect l="0" t="0" r="r" b="b"/>
              <a:pathLst>
                <a:path w="256" h="48" fill="none">
                  <a:moveTo>
                    <a:pt x="0" y="48"/>
                  </a:moveTo>
                  <a:lnTo>
                    <a:pt x="256" y="0"/>
                  </a:lnTo>
                </a:path>
              </a:pathLst>
            </a:custGeom>
            <a:noFill/>
            <a:ln w="27175" cap="rnd">
              <a:solidFill>
                <a:srgbClr val="9A9A9A"/>
              </a:solidFill>
              <a:round/>
            </a:ln>
          </p:spPr>
        </p:sp>
        <p:sp>
          <p:nvSpPr>
            <p:cNvPr id="49" name="Flecha 64_2"/>
            <p:cNvSpPr/>
            <p:nvPr/>
          </p:nvSpPr>
          <p:spPr>
            <a:xfrm>
              <a:off x="1180714" y="2055158"/>
              <a:ext cx="54311" cy="55686"/>
            </a:xfrm>
            <a:custGeom>
              <a:avLst/>
              <a:gdLst/>
              <a:ahLst/>
              <a:cxnLst/>
              <a:rect l="0" t="0" r="r" b="b"/>
              <a:pathLst>
                <a:path w="59" h="60" fill="none">
                  <a:moveTo>
                    <a:pt x="0" y="0"/>
                  </a:moveTo>
                  <a:lnTo>
                    <a:pt x="59" y="60"/>
                  </a:lnTo>
                </a:path>
              </a:pathLst>
            </a:custGeom>
            <a:noFill/>
            <a:ln w="27175" cap="rnd">
              <a:solidFill>
                <a:srgbClr val="9A9A9A"/>
              </a:solidFill>
              <a:round/>
            </a:ln>
          </p:spPr>
        </p:sp>
        <p:sp>
          <p:nvSpPr>
            <p:cNvPr id="50" name="Átomo H_6"/>
            <p:cNvSpPr/>
            <p:nvPr/>
          </p:nvSpPr>
          <p:spPr>
            <a:xfrm>
              <a:off x="1688994" y="1682288"/>
              <a:ext cx="114167" cy="11416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1" name="Átomo C_5"/>
            <p:cNvSpPr/>
            <p:nvPr/>
          </p:nvSpPr>
          <p:spPr>
            <a:xfrm>
              <a:off x="1240825" y="1408062"/>
              <a:ext cx="190373" cy="1903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2" name="Flecha 68_2"/>
            <p:cNvSpPr/>
            <p:nvPr/>
          </p:nvSpPr>
          <p:spPr>
            <a:xfrm>
              <a:off x="1336011" y="1271202"/>
              <a:ext cx="55426" cy="232046"/>
            </a:xfrm>
            <a:custGeom>
              <a:avLst/>
              <a:gdLst/>
              <a:ahLst/>
              <a:cxnLst/>
              <a:rect l="0" t="0" r="r" b="b"/>
              <a:pathLst>
                <a:path w="60" h="253" fill="none">
                  <a:moveTo>
                    <a:pt x="0" y="253"/>
                  </a:moveTo>
                  <a:lnTo>
                    <a:pt x="60" y="0"/>
                  </a:lnTo>
                </a:path>
              </a:pathLst>
            </a:custGeom>
            <a:noFill/>
            <a:ln w="27175" cap="rnd">
              <a:solidFill>
                <a:srgbClr val="9A9A9A"/>
              </a:solidFill>
              <a:round/>
            </a:ln>
          </p:spPr>
        </p:sp>
        <p:sp>
          <p:nvSpPr>
            <p:cNvPr id="53" name="Átomo H_7"/>
            <p:cNvSpPr/>
            <p:nvPr/>
          </p:nvSpPr>
          <p:spPr>
            <a:xfrm>
              <a:off x="1334286" y="1214051"/>
              <a:ext cx="114304" cy="11430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4" name="Átomo O_5"/>
            <p:cNvSpPr/>
            <p:nvPr/>
          </p:nvSpPr>
          <p:spPr>
            <a:xfrm>
              <a:off x="375688" y="1589424"/>
              <a:ext cx="179659" cy="17965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5" name="Flecha 72_2"/>
            <p:cNvSpPr/>
            <p:nvPr/>
          </p:nvSpPr>
          <p:spPr>
            <a:xfrm>
              <a:off x="465517" y="1679254"/>
              <a:ext cx="246831" cy="180227"/>
            </a:xfrm>
            <a:custGeom>
              <a:avLst/>
              <a:gdLst/>
              <a:ahLst/>
              <a:cxnLst/>
              <a:rect l="0" t="0" r="r" b="b"/>
              <a:pathLst>
                <a:path w="269" h="197" fill="none">
                  <a:moveTo>
                    <a:pt x="0" y="0"/>
                  </a:moveTo>
                  <a:lnTo>
                    <a:pt x="269" y="197"/>
                  </a:lnTo>
                </a:path>
              </a:pathLst>
            </a:custGeom>
            <a:noFill/>
            <a:ln w="27175" cap="rnd">
              <a:solidFill>
                <a:srgbClr val="9A9A9A"/>
              </a:solidFill>
              <a:round/>
            </a:ln>
          </p:spPr>
        </p:sp>
        <p:sp>
          <p:nvSpPr>
            <p:cNvPr id="56" name="Flecha 74_2"/>
            <p:cNvSpPr/>
            <p:nvPr/>
          </p:nvSpPr>
          <p:spPr>
            <a:xfrm>
              <a:off x="636644" y="1859481"/>
              <a:ext cx="75704" cy="225441"/>
            </a:xfrm>
            <a:custGeom>
              <a:avLst/>
              <a:gdLst/>
              <a:ahLst/>
              <a:cxnLst/>
              <a:rect l="0" t="0" r="r" b="b"/>
              <a:pathLst>
                <a:path w="82" h="246" fill="none">
                  <a:moveTo>
                    <a:pt x="82" y="0"/>
                  </a:moveTo>
                  <a:lnTo>
                    <a:pt x="0" y="246"/>
                  </a:lnTo>
                </a:path>
              </a:pathLst>
            </a:custGeom>
            <a:noFill/>
            <a:ln w="27175" cap="rnd">
              <a:solidFill>
                <a:srgbClr val="9A9A9A"/>
              </a:solidFill>
              <a:round/>
            </a:ln>
          </p:spPr>
        </p:sp>
        <p:sp>
          <p:nvSpPr>
            <p:cNvPr id="57" name="Átomo C_6"/>
            <p:cNvSpPr/>
            <p:nvPr/>
          </p:nvSpPr>
          <p:spPr>
            <a:xfrm>
              <a:off x="616358" y="1763490"/>
              <a:ext cx="191981" cy="19198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8" name="Átomo H_8"/>
            <p:cNvSpPr/>
            <p:nvPr/>
          </p:nvSpPr>
          <p:spPr>
            <a:xfrm>
              <a:off x="579020" y="2027298"/>
              <a:ext cx="115247" cy="1152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9" name="Átomo H_9"/>
            <p:cNvSpPr/>
            <p:nvPr/>
          </p:nvSpPr>
          <p:spPr>
            <a:xfrm>
              <a:off x="1177392" y="2053210"/>
              <a:ext cx="115267" cy="11526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0" name="Flecha 79_2"/>
            <p:cNvSpPr/>
            <p:nvPr/>
          </p:nvSpPr>
          <p:spPr>
            <a:xfrm>
              <a:off x="356802" y="1661715"/>
              <a:ext cx="108715" cy="17539"/>
            </a:xfrm>
            <a:custGeom>
              <a:avLst/>
              <a:gdLst/>
              <a:ahLst/>
              <a:cxnLst/>
              <a:rect l="0" t="0" r="r" b="b"/>
              <a:pathLst>
                <a:path w="118" h="19" fill="none">
                  <a:moveTo>
                    <a:pt x="118" y="19"/>
                  </a:moveTo>
                  <a:lnTo>
                    <a:pt x="0" y="0"/>
                  </a:lnTo>
                </a:path>
              </a:pathLst>
            </a:custGeom>
            <a:noFill/>
            <a:ln w="27175" cap="rnd">
              <a:solidFill>
                <a:srgbClr val="9A9A9A"/>
              </a:solidFill>
              <a:round/>
            </a:ln>
          </p:spPr>
        </p:sp>
        <p:sp>
          <p:nvSpPr>
            <p:cNvPr id="61" name="Flecha 81_2"/>
            <p:cNvSpPr/>
            <p:nvPr/>
          </p:nvSpPr>
          <p:spPr>
            <a:xfrm>
              <a:off x="1305167" y="1503249"/>
              <a:ext cx="30845" cy="95554"/>
            </a:xfrm>
            <a:custGeom>
              <a:avLst/>
              <a:gdLst/>
              <a:ahLst/>
              <a:cxnLst/>
              <a:rect l="0" t="0" r="r" b="b"/>
              <a:pathLst>
                <a:path w="33" h="104" fill="none">
                  <a:moveTo>
                    <a:pt x="33" y="0"/>
                  </a:moveTo>
                  <a:lnTo>
                    <a:pt x="0" y="104"/>
                  </a:lnTo>
                </a:path>
              </a:pathLst>
            </a:custGeom>
            <a:noFill/>
            <a:ln w="27175" cap="rnd">
              <a:solidFill>
                <a:srgbClr val="9A9A9A"/>
              </a:solidFill>
              <a:round/>
            </a:ln>
          </p:spPr>
        </p:sp>
        <p:sp>
          <p:nvSpPr>
            <p:cNvPr id="62" name="Flecha 83_2"/>
            <p:cNvSpPr/>
            <p:nvPr/>
          </p:nvSpPr>
          <p:spPr>
            <a:xfrm>
              <a:off x="712348" y="1799156"/>
              <a:ext cx="81376" cy="60325"/>
            </a:xfrm>
            <a:custGeom>
              <a:avLst/>
              <a:gdLst/>
              <a:ahLst/>
              <a:cxnLst/>
              <a:rect l="0" t="0" r="r" b="b"/>
              <a:pathLst>
                <a:path w="88" h="65" fill="none">
                  <a:moveTo>
                    <a:pt x="0" y="65"/>
                  </a:moveTo>
                  <a:lnTo>
                    <a:pt x="88" y="0"/>
                  </a:lnTo>
                </a:path>
              </a:pathLst>
            </a:custGeom>
            <a:noFill/>
            <a:ln w="27175" cap="rnd">
              <a:solidFill>
                <a:srgbClr val="9A9A9A"/>
              </a:solidFill>
              <a:round/>
            </a:ln>
          </p:spPr>
        </p:sp>
        <p:sp>
          <p:nvSpPr>
            <p:cNvPr id="63" name="Átomo H_10"/>
            <p:cNvSpPr/>
            <p:nvPr/>
          </p:nvSpPr>
          <p:spPr>
            <a:xfrm>
              <a:off x="298332" y="1603245"/>
              <a:ext cx="116941" cy="11694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4" name="Átomo H_11"/>
            <p:cNvSpPr/>
            <p:nvPr/>
          </p:nvSpPr>
          <p:spPr>
            <a:xfrm>
              <a:off x="734577" y="1740008"/>
              <a:ext cx="118296" cy="11829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5" name="Átomo O_6"/>
            <p:cNvSpPr/>
            <p:nvPr/>
          </p:nvSpPr>
          <p:spPr>
            <a:xfrm>
              <a:off x="1212106" y="1505742"/>
              <a:ext cx="186121" cy="18612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6" name="Flecha 88_2"/>
            <p:cNvSpPr/>
            <p:nvPr/>
          </p:nvSpPr>
          <p:spPr>
            <a:xfrm>
              <a:off x="1305167" y="1515729"/>
              <a:ext cx="167473" cy="83073"/>
            </a:xfrm>
            <a:custGeom>
              <a:avLst/>
              <a:gdLst/>
              <a:ahLst/>
              <a:cxnLst/>
              <a:rect l="0" t="0" r="r" b="b"/>
              <a:pathLst>
                <a:path w="183" h="90" fill="none">
                  <a:moveTo>
                    <a:pt x="0" y="90"/>
                  </a:moveTo>
                  <a:lnTo>
                    <a:pt x="183" y="0"/>
                  </a:lnTo>
                </a:path>
              </a:pathLst>
            </a:custGeom>
            <a:noFill/>
            <a:ln w="27175" cap="rnd">
              <a:solidFill>
                <a:srgbClr val="9A9A9A"/>
              </a:solidFill>
              <a:round/>
            </a:ln>
          </p:spPr>
        </p:sp>
        <p:sp>
          <p:nvSpPr>
            <p:cNvPr id="67" name="Átomo H_12"/>
            <p:cNvSpPr/>
            <p:nvPr/>
          </p:nvSpPr>
          <p:spPr>
            <a:xfrm>
              <a:off x="1412631" y="1455721"/>
              <a:ext cx="120017" cy="12001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sp>
        <p:nvSpPr>
          <p:cNvPr id="6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par>
                          <p:cTn id="34" fill="hold">
                            <p:stCondLst>
                              <p:cond delay="175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Balanza"/>
          <p:cNvGrpSpPr/>
          <p:nvPr/>
        </p:nvGrpSpPr>
        <p:grpSpPr>
          <a:xfrm>
            <a:off x="1463040" y="1051560"/>
            <a:ext cx="9235440" cy="2606040"/>
            <a:chOff x="1463040" y="1051560"/>
            <a:chExt cx="9235440" cy="2606040"/>
          </a:xfrm>
        </p:grpSpPr>
        <p:sp>
          <p:nvSpPr>
            <p:cNvPr id="8" name="Forma 7"/>
            <p:cNvSpPr/>
            <p:nvPr/>
          </p:nvSpPr>
          <p:spPr>
            <a:xfrm>
              <a:off x="5394960" y="1828800"/>
              <a:ext cx="1371600" cy="274320"/>
            </a:xfrm>
            <a:prstGeom prst="rect">
              <a:avLst/>
            </a:prstGeom>
            <a:solidFill>
              <a:srgbClr val="1E1E1E"/>
            </a:solidFill>
            <a:ln>
              <a:noFill/>
            </a:ln>
          </p:spPr>
        </p:sp>
        <p:sp>
          <p:nvSpPr>
            <p:cNvPr id="9" name="Forma 8"/>
            <p:cNvSpPr/>
            <p:nvPr/>
          </p:nvSpPr>
          <p:spPr>
            <a:xfrm>
              <a:off x="5943600" y="2103120"/>
              <a:ext cx="274320" cy="1554480"/>
            </a:xfrm>
            <a:prstGeom prst="rect">
              <a:avLst/>
            </a:prstGeom>
            <a:solidFill>
              <a:srgbClr val="1E1E1E"/>
            </a:solidFill>
            <a:ln>
              <a:noFill/>
            </a:ln>
          </p:spPr>
        </p:sp>
        <p:sp>
          <p:nvSpPr>
            <p:cNvPr id="10" name="Forma 9"/>
            <p:cNvSpPr/>
            <p:nvPr/>
          </p:nvSpPr>
          <p:spPr>
            <a:xfrm rot="-240000">
              <a:off x="1828800" y="1691640"/>
              <a:ext cx="8503920" cy="137160"/>
            </a:xfrm>
            <a:prstGeom prst="rect">
              <a:avLst/>
            </a:prstGeom>
            <a:solidFill>
              <a:srgbClr val="7F8C8D"/>
            </a:solidFill>
            <a:ln w="12700" cap="rnd">
              <a:solidFill>
                <a:srgbClr val="1E1E1E"/>
              </a:solidFill>
              <a:round/>
            </a:ln>
          </p:spPr>
        </p:sp>
        <p:sp>
          <p:nvSpPr>
            <p:cNvPr id="11" name="Recuadro ENERGÍA INCORPORADA"/>
            <p:cNvSpPr/>
            <p:nvPr/>
          </p:nvSpPr>
          <p:spPr>
            <a:xfrm>
              <a:off x="1463040" y="1051560"/>
              <a:ext cx="29260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ENERGÍA INCORPORADA</a:t>
              </a:r>
              <a:endParaRPr lang="es-AR" sz="1500" dirty="0">
                <a:latin typeface="Fira Sans Condensed"/>
              </a:endParaRPr>
            </a:p>
          </p:txBody>
        </p:sp>
        <p:sp>
          <p:nvSpPr>
            <p:cNvPr id="12" name="Recuadro ENERGÍA GASTADA"/>
            <p:cNvSpPr/>
            <p:nvPr/>
          </p:nvSpPr>
          <p:spPr>
            <a:xfrm>
              <a:off x="7772400" y="1051560"/>
              <a:ext cx="29260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ENERGÍA GASTADA</a:t>
              </a:r>
              <a:endParaRPr lang="es-AR" sz="1500" dirty="0">
                <a:latin typeface="Fira Sans Condensed"/>
              </a:endParaRPr>
            </a:p>
          </p:txBody>
        </p:sp>
      </p:grpSp>
      <p:sp>
        <p:nvSpPr>
          <p:cNvPr id="13" name="Fórmula"/>
          <p:cNvSpPr/>
          <p:nvPr/>
        </p:nvSpPr>
        <p:spPr>
          <a:xfrm>
            <a:off x="365760" y="3886200"/>
            <a:ext cx="11475720" cy="64008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Δ reservas = energía incorporada − energía gastada (en intervalos prolongados)</a:t>
            </a:r>
            <a:endParaRPr lang="es-AR" sz="1800" dirty="0">
              <a:latin typeface="Fira Sans Condensed"/>
            </a:endParaRPr>
          </a:p>
        </p:txBody>
      </p:sp>
      <p:grpSp>
        <p:nvGrpSpPr>
          <p:cNvPr id="14" name="Paso 1"/>
          <p:cNvGrpSpPr/>
          <p:nvPr/>
        </p:nvGrpSpPr>
        <p:grpSpPr>
          <a:xfrm>
            <a:off x="365760" y="4709160"/>
            <a:ext cx="11475720" cy="457200"/>
            <a:chOff x="365760" y="4709160"/>
            <a:chExt cx="11475720" cy="457200"/>
          </a:xfrm>
        </p:grpSpPr>
        <p:sp>
          <p:nvSpPr>
            <p:cNvPr id="15" name="Forma 14"/>
            <p:cNvSpPr/>
            <p:nvPr/>
          </p:nvSpPr>
          <p:spPr>
            <a:xfrm>
              <a:off x="365760" y="470916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Ingesta y gasto </a:t>
              </a:r>
              <a:r>
                <a:rPr lang="es-AR" sz="1450" b="1" dirty="0">
                  <a:solidFill>
                    <a:srgbClr val="1E1E1E"/>
                  </a:solidFill>
                  <a:latin typeface="Fira Sans Condensed"/>
                  <a:ea typeface="Fira Sans Condensed"/>
                  <a:cs typeface="Fira Sans Condensed"/>
                  <a:sym typeface="Fira Sans Condensed"/>
                </a:rPr>
                <a:t>no son independientes</a:t>
              </a:r>
              <a:r>
                <a:rPr lang="es-AR" sz="1450" dirty="0">
                  <a:solidFill>
                    <a:srgbClr val="1E1E1E"/>
                  </a:solidFill>
                  <a:latin typeface="Fira Sans Condensed"/>
                  <a:ea typeface="Fira Sans Condensed"/>
                  <a:cs typeface="Fira Sans Condensed"/>
                  <a:sym typeface="Fira Sans Condensed"/>
                </a:rPr>
                <a:t>: la restricción activa </a:t>
              </a:r>
              <a:r>
                <a:rPr lang="es-AR" sz="1450" b="1" dirty="0">
                  <a:solidFill>
                    <a:srgbClr val="1E1E1E"/>
                  </a:solidFill>
                  <a:latin typeface="Fira Sans Condensed"/>
                  <a:ea typeface="Fira Sans Condensed"/>
                  <a:cs typeface="Fira Sans Condensed"/>
                  <a:sym typeface="Fira Sans Condensed"/>
                </a:rPr>
                <a:t>hambre</a:t>
              </a:r>
              <a:r>
                <a:rPr lang="es-AR" sz="1450" dirty="0">
                  <a:solidFill>
                    <a:srgbClr val="1E1E1E"/>
                  </a:solidFill>
                  <a:latin typeface="Fira Sans Condensed"/>
                  <a:ea typeface="Fira Sans Condensed"/>
                  <a:cs typeface="Fira Sans Condensed"/>
                  <a:sym typeface="Fira Sans Condensed"/>
                </a:rPr>
                <a:t>, baja el </a:t>
              </a:r>
              <a:r>
                <a:rPr lang="es-AR" sz="1450" b="1" dirty="0">
                  <a:solidFill>
                    <a:srgbClr val="1E1E1E"/>
                  </a:solidFill>
                  <a:latin typeface="Fira Sans Condensed"/>
                  <a:ea typeface="Fira Sans Condensed"/>
                  <a:cs typeface="Fira Sans Condensed"/>
                  <a:sym typeface="Fira Sans Condensed"/>
                </a:rPr>
                <a:t>gasto espontáneo</a:t>
              </a:r>
              <a:r>
                <a:rPr lang="es-AR" sz="1450" dirty="0">
                  <a:solidFill>
                    <a:srgbClr val="1E1E1E"/>
                  </a:solidFill>
                  <a:latin typeface="Fira Sans Condensed"/>
                  <a:ea typeface="Fira Sans Condensed"/>
                  <a:cs typeface="Fira Sans Condensed"/>
                  <a:sym typeface="Fira Sans Condensed"/>
                </a:rPr>
                <a:t> y modifica el basal.</a:t>
              </a:r>
              <a:endParaRPr lang="es-AR" sz="1450" dirty="0">
                <a:latin typeface="Fira Sans Condensed"/>
              </a:endParaRPr>
            </a:p>
          </p:txBody>
        </p:sp>
        <p:sp>
          <p:nvSpPr>
            <p:cNvPr id="16" name="Forma 15"/>
            <p:cNvSpPr/>
            <p:nvPr/>
          </p:nvSpPr>
          <p:spPr>
            <a:xfrm>
              <a:off x="457200" y="47640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7" name="Paso 2"/>
          <p:cNvGrpSpPr/>
          <p:nvPr/>
        </p:nvGrpSpPr>
        <p:grpSpPr>
          <a:xfrm>
            <a:off x="365760" y="5257800"/>
            <a:ext cx="11475720" cy="606552"/>
            <a:chOff x="365760" y="5257800"/>
            <a:chExt cx="11475720" cy="606552"/>
          </a:xfrm>
        </p:grpSpPr>
        <p:sp>
          <p:nvSpPr>
            <p:cNvPr id="18" name="Forma 17"/>
            <p:cNvSpPr/>
            <p:nvPr/>
          </p:nvSpPr>
          <p:spPr>
            <a:xfrm>
              <a:off x="365760" y="5257800"/>
              <a:ext cx="11475720" cy="6065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Entorno alimentario, </a:t>
              </a:r>
              <a:r>
                <a:rPr lang="es-AR" sz="1450" b="1" dirty="0">
                  <a:solidFill>
                    <a:srgbClr val="1E1E1E"/>
                  </a:solidFill>
                  <a:latin typeface="Fira Sans Condensed"/>
                  <a:ea typeface="Fira Sans Condensed"/>
                  <a:cs typeface="Fira Sans Condensed"/>
                  <a:sym typeface="Fira Sans Condensed"/>
                </a:rPr>
                <a:t>sueño, estrés, fármacos, genética y recompensa</a:t>
              </a:r>
              <a:r>
                <a:rPr lang="es-AR" sz="1450" dirty="0">
                  <a:solidFill>
                    <a:srgbClr val="1E1E1E"/>
                  </a:solidFill>
                  <a:latin typeface="Fira Sans Condensed"/>
                  <a:ea typeface="Fira Sans Condensed"/>
                  <a:cs typeface="Fira Sans Condensed"/>
                  <a:sym typeface="Fira Sans Condensed"/>
                </a:rPr>
                <a:t> modulan el balance: «come menos y muévete más» ignora la compensación.</a:t>
              </a:r>
              <a:endParaRPr lang="es-AR" sz="1450" dirty="0">
                <a:latin typeface="Fira Sans Condensed"/>
              </a:endParaRPr>
            </a:p>
          </p:txBody>
        </p:sp>
        <p:sp>
          <p:nvSpPr>
            <p:cNvPr id="19" name="Forma 18"/>
            <p:cNvSpPr/>
            <p:nvPr/>
          </p:nvSpPr>
          <p:spPr>
            <a:xfrm>
              <a:off x="457200" y="538734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BALANCE ENERGÉTICO: ECUACIÓN NECESARIA, NO SUFICIENTE</a:t>
            </a:r>
            <a:endParaRPr lang="es-AR" sz="26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149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500"/>
                                        <p:tgtEl>
                                          <p:spTgt spid="13"/>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Componente GET 0"/>
          <p:cNvGrpSpPr/>
          <p:nvPr/>
        </p:nvGrpSpPr>
        <p:grpSpPr>
          <a:xfrm>
            <a:off x="822960" y="4023360"/>
            <a:ext cx="11018520" cy="2011680"/>
            <a:chOff x="822960" y="4023360"/>
            <a:chExt cx="11018520" cy="2011680"/>
          </a:xfrm>
        </p:grpSpPr>
        <p:sp>
          <p:nvSpPr>
            <p:cNvPr id="8" name="Forma 7"/>
            <p:cNvSpPr/>
            <p:nvPr/>
          </p:nvSpPr>
          <p:spPr>
            <a:xfrm>
              <a:off x="822960" y="4023360"/>
              <a:ext cx="2194560" cy="2011680"/>
            </a:xfrm>
            <a:prstGeom prst="rect">
              <a:avLst/>
            </a:prstGeom>
            <a:solidFill>
              <a:srgbClr val="F4877F"/>
            </a:solidFill>
            <a:ln w="19050" cap="rnd">
              <a:solidFill>
                <a:srgbClr val="1E1E1E"/>
              </a:solidFill>
              <a:round/>
            </a:ln>
          </p:spPr>
        </p:sp>
        <p:sp>
          <p:nvSpPr>
            <p:cNvPr id="9" name="Flecha 8_2"/>
            <p:cNvSpPr/>
            <p:nvPr/>
          </p:nvSpPr>
          <p:spPr>
            <a:xfrm>
              <a:off x="3063240" y="5029200"/>
              <a:ext cx="594360" cy="9144"/>
            </a:xfrm>
            <a:custGeom>
              <a:avLst/>
              <a:gdLst/>
              <a:ahLst/>
              <a:cxnLst/>
              <a:rect l="0" t="0" r="r" b="b"/>
              <a:pathLst>
                <a:path w="649" h="10" fill="none">
                  <a:moveTo>
                    <a:pt x="0" y="0"/>
                  </a:moveTo>
                  <a:lnTo>
                    <a:pt x="649" y="0"/>
                  </a:lnTo>
                </a:path>
              </a:pathLst>
            </a:custGeom>
            <a:noFill/>
            <a:ln w="25400" cap="rnd">
              <a:solidFill>
                <a:srgbClr val="1E1E1E"/>
              </a:solidFill>
              <a:round/>
              <a:tailEnd type="triangle" w="med" len="med"/>
            </a:ln>
          </p:spPr>
        </p:sp>
        <p:sp>
          <p:nvSpPr>
            <p:cNvPr id="10" name="Recuadro Metabolismo en reposo "/>
            <p:cNvSpPr/>
            <p:nvPr/>
          </p:nvSpPr>
          <p:spPr>
            <a:xfrm>
              <a:off x="3749040" y="4782312"/>
              <a:ext cx="3108960" cy="493776"/>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Metabolismo en reposo / basal</a:t>
              </a:r>
              <a:endParaRPr lang="es-AR" sz="1300" dirty="0">
                <a:latin typeface="Fira Sans Condensed"/>
              </a:endParaRPr>
            </a:p>
          </p:txBody>
        </p:sp>
        <p:sp>
          <p:nvSpPr>
            <p:cNvPr id="11" name="Forma 11"/>
            <p:cNvSpPr txBox="1"/>
            <p:nvPr/>
          </p:nvSpPr>
          <p:spPr>
            <a:xfrm>
              <a:off x="6995160" y="4782312"/>
              <a:ext cx="4846320" cy="493776"/>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Masa libre de grasa, órganos, edad, sexo</a:t>
              </a:r>
              <a:endParaRPr lang="es-AR" sz="1350" dirty="0">
                <a:latin typeface="Fira Sans Condensed"/>
              </a:endParaRPr>
            </a:p>
          </p:txBody>
        </p:sp>
      </p:grpSp>
      <p:grpSp>
        <p:nvGrpSpPr>
          <p:cNvPr id="12" name="Componente GET 1"/>
          <p:cNvGrpSpPr/>
          <p:nvPr/>
        </p:nvGrpSpPr>
        <p:grpSpPr>
          <a:xfrm>
            <a:off x="822960" y="3291840"/>
            <a:ext cx="11018520" cy="731520"/>
            <a:chOff x="822960" y="3291840"/>
            <a:chExt cx="11018520" cy="731520"/>
          </a:xfrm>
        </p:grpSpPr>
        <p:sp>
          <p:nvSpPr>
            <p:cNvPr id="13" name="Forma 13"/>
            <p:cNvSpPr/>
            <p:nvPr/>
          </p:nvSpPr>
          <p:spPr>
            <a:xfrm>
              <a:off x="822960" y="3291840"/>
              <a:ext cx="2194560" cy="731520"/>
            </a:xfrm>
            <a:prstGeom prst="rect">
              <a:avLst/>
            </a:prstGeom>
            <a:solidFill>
              <a:srgbClr val="9DC3E6"/>
            </a:solidFill>
            <a:ln w="19050" cap="rnd">
              <a:solidFill>
                <a:srgbClr val="1E1E1E"/>
              </a:solidFill>
              <a:round/>
            </a:ln>
          </p:spPr>
        </p:sp>
        <p:sp>
          <p:nvSpPr>
            <p:cNvPr id="14" name="Flecha 14_2"/>
            <p:cNvSpPr/>
            <p:nvPr/>
          </p:nvSpPr>
          <p:spPr>
            <a:xfrm>
              <a:off x="3063240" y="3657600"/>
              <a:ext cx="594360" cy="9144"/>
            </a:xfrm>
            <a:custGeom>
              <a:avLst/>
              <a:gdLst/>
              <a:ahLst/>
              <a:cxnLst/>
              <a:rect l="0" t="0" r="r" b="b"/>
              <a:pathLst>
                <a:path w="649" h="10" fill="none">
                  <a:moveTo>
                    <a:pt x="0" y="0"/>
                  </a:moveTo>
                  <a:lnTo>
                    <a:pt x="649" y="0"/>
                  </a:lnTo>
                </a:path>
              </a:pathLst>
            </a:custGeom>
            <a:noFill/>
            <a:ln w="25400" cap="rnd">
              <a:solidFill>
                <a:srgbClr val="1E1E1E"/>
              </a:solidFill>
              <a:round/>
              <a:tailEnd type="triangle" w="med" len="med"/>
            </a:ln>
          </p:spPr>
        </p:sp>
        <p:sp>
          <p:nvSpPr>
            <p:cNvPr id="15" name="Recuadro Actividad física estru"/>
            <p:cNvSpPr/>
            <p:nvPr/>
          </p:nvSpPr>
          <p:spPr>
            <a:xfrm>
              <a:off x="3749040" y="3410712"/>
              <a:ext cx="3108960" cy="493776"/>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Actividad física estructurada</a:t>
              </a:r>
              <a:endParaRPr lang="es-AR" sz="1300" dirty="0">
                <a:latin typeface="Fira Sans Condensed"/>
              </a:endParaRPr>
            </a:p>
          </p:txBody>
        </p:sp>
        <p:sp>
          <p:nvSpPr>
            <p:cNvPr id="16" name="Forma 17"/>
            <p:cNvSpPr txBox="1"/>
            <p:nvPr/>
          </p:nvSpPr>
          <p:spPr>
            <a:xfrm>
              <a:off x="6995160" y="3410712"/>
              <a:ext cx="4846320" cy="493776"/>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Ejercicio planificado</a:t>
              </a:r>
              <a:endParaRPr lang="es-AR" sz="1350" dirty="0">
                <a:latin typeface="Fira Sans Condensed"/>
              </a:endParaRPr>
            </a:p>
          </p:txBody>
        </p:sp>
      </p:grpSp>
      <p:grpSp>
        <p:nvGrpSpPr>
          <p:cNvPr id="17" name="Componente GET 2"/>
          <p:cNvGrpSpPr/>
          <p:nvPr/>
        </p:nvGrpSpPr>
        <p:grpSpPr>
          <a:xfrm>
            <a:off x="822960" y="2468880"/>
            <a:ext cx="11018520" cy="822960"/>
            <a:chOff x="822960" y="2468880"/>
            <a:chExt cx="11018520" cy="822960"/>
          </a:xfrm>
        </p:grpSpPr>
        <p:sp>
          <p:nvSpPr>
            <p:cNvPr id="18" name="Forma 19"/>
            <p:cNvSpPr/>
            <p:nvPr/>
          </p:nvSpPr>
          <p:spPr>
            <a:xfrm>
              <a:off x="822960" y="2468880"/>
              <a:ext cx="2194560" cy="822960"/>
            </a:xfrm>
            <a:prstGeom prst="rect">
              <a:avLst/>
            </a:prstGeom>
            <a:solidFill>
              <a:srgbClr val="92D050"/>
            </a:solidFill>
            <a:ln w="19050" cap="rnd">
              <a:solidFill>
                <a:srgbClr val="1E1E1E"/>
              </a:solidFill>
              <a:round/>
            </a:ln>
          </p:spPr>
        </p:sp>
        <p:sp>
          <p:nvSpPr>
            <p:cNvPr id="19" name="Flecha 20_2"/>
            <p:cNvSpPr/>
            <p:nvPr/>
          </p:nvSpPr>
          <p:spPr>
            <a:xfrm>
              <a:off x="3063240" y="2880360"/>
              <a:ext cx="594360" cy="9144"/>
            </a:xfrm>
            <a:custGeom>
              <a:avLst/>
              <a:gdLst/>
              <a:ahLst/>
              <a:cxnLst/>
              <a:rect l="0" t="0" r="r" b="b"/>
              <a:pathLst>
                <a:path w="649" h="10" fill="none">
                  <a:moveTo>
                    <a:pt x="0" y="0"/>
                  </a:moveTo>
                  <a:lnTo>
                    <a:pt x="649" y="0"/>
                  </a:lnTo>
                </a:path>
              </a:pathLst>
            </a:custGeom>
            <a:noFill/>
            <a:ln w="25400" cap="rnd">
              <a:solidFill>
                <a:srgbClr val="1E1E1E"/>
              </a:solidFill>
              <a:round/>
              <a:tailEnd type="triangle" w="med" len="med"/>
            </a:ln>
          </p:spPr>
        </p:sp>
        <p:sp>
          <p:nvSpPr>
            <p:cNvPr id="20" name="Recuadro NEAT"/>
            <p:cNvSpPr/>
            <p:nvPr/>
          </p:nvSpPr>
          <p:spPr>
            <a:xfrm>
              <a:off x="3749040" y="2633472"/>
              <a:ext cx="3108960" cy="493776"/>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NEAT</a:t>
              </a:r>
              <a:endParaRPr lang="es-AR" sz="1300" dirty="0">
                <a:latin typeface="Fira Sans Condensed"/>
              </a:endParaRPr>
            </a:p>
          </p:txBody>
        </p:sp>
        <p:sp>
          <p:nvSpPr>
            <p:cNvPr id="21" name="Forma 23"/>
            <p:cNvSpPr txBox="1"/>
            <p:nvPr/>
          </p:nvSpPr>
          <p:spPr>
            <a:xfrm>
              <a:off x="6995160" y="2633472"/>
              <a:ext cx="4846320" cy="493776"/>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Estar de pie, caminar, posturas, actividad cotidiana</a:t>
              </a:r>
              <a:endParaRPr lang="es-AR" sz="1350" dirty="0">
                <a:latin typeface="Fira Sans Condensed"/>
              </a:endParaRPr>
            </a:p>
          </p:txBody>
        </p:sp>
      </p:grpSp>
      <p:grpSp>
        <p:nvGrpSpPr>
          <p:cNvPr id="22" name="Componente GET 3"/>
          <p:cNvGrpSpPr/>
          <p:nvPr/>
        </p:nvGrpSpPr>
        <p:grpSpPr>
          <a:xfrm>
            <a:off x="822960" y="2016252"/>
            <a:ext cx="11018520" cy="493776"/>
            <a:chOff x="822960" y="2016252"/>
            <a:chExt cx="11018520" cy="493776"/>
          </a:xfrm>
        </p:grpSpPr>
        <p:sp>
          <p:nvSpPr>
            <p:cNvPr id="23" name="Forma 25"/>
            <p:cNvSpPr/>
            <p:nvPr/>
          </p:nvSpPr>
          <p:spPr>
            <a:xfrm>
              <a:off x="822960" y="2057400"/>
              <a:ext cx="2194560" cy="411480"/>
            </a:xfrm>
            <a:prstGeom prst="rect">
              <a:avLst/>
            </a:prstGeom>
            <a:solidFill>
              <a:srgbClr val="FFC000"/>
            </a:solidFill>
            <a:ln w="19050" cap="rnd">
              <a:solidFill>
                <a:srgbClr val="1E1E1E"/>
              </a:solidFill>
              <a:round/>
            </a:ln>
          </p:spPr>
        </p:sp>
        <p:sp>
          <p:nvSpPr>
            <p:cNvPr id="24" name="Flecha 26_2"/>
            <p:cNvSpPr/>
            <p:nvPr/>
          </p:nvSpPr>
          <p:spPr>
            <a:xfrm>
              <a:off x="3063240" y="2263140"/>
              <a:ext cx="594360" cy="9144"/>
            </a:xfrm>
            <a:custGeom>
              <a:avLst/>
              <a:gdLst/>
              <a:ahLst/>
              <a:cxnLst/>
              <a:rect l="0" t="0" r="r" b="b"/>
              <a:pathLst>
                <a:path w="649" h="10" fill="none">
                  <a:moveTo>
                    <a:pt x="0" y="0"/>
                  </a:moveTo>
                  <a:lnTo>
                    <a:pt x="649" y="0"/>
                  </a:lnTo>
                </a:path>
              </a:pathLst>
            </a:custGeom>
            <a:noFill/>
            <a:ln w="25400" cap="rnd">
              <a:solidFill>
                <a:srgbClr val="1E1E1E"/>
              </a:solidFill>
              <a:round/>
              <a:tailEnd type="triangle" w="med" len="med"/>
            </a:ln>
          </p:spPr>
        </p:sp>
        <p:sp>
          <p:nvSpPr>
            <p:cNvPr id="25" name="Recuadro Termogénesis de los al"/>
            <p:cNvSpPr/>
            <p:nvPr/>
          </p:nvSpPr>
          <p:spPr>
            <a:xfrm>
              <a:off x="3749040" y="2016252"/>
              <a:ext cx="3108960" cy="493776"/>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Termogénesis de los alimentos</a:t>
              </a:r>
              <a:endParaRPr lang="es-AR" sz="1300" dirty="0">
                <a:latin typeface="Fira Sans Condensed"/>
              </a:endParaRPr>
            </a:p>
          </p:txBody>
        </p:sp>
        <p:sp>
          <p:nvSpPr>
            <p:cNvPr id="26" name="Forma 29"/>
            <p:cNvSpPr txBox="1"/>
            <p:nvPr/>
          </p:nvSpPr>
          <p:spPr>
            <a:xfrm>
              <a:off x="6995160" y="2016252"/>
              <a:ext cx="4846320" cy="493776"/>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Efecto térmico de su procesamiento</a:t>
              </a:r>
              <a:endParaRPr lang="es-AR" sz="1350" dirty="0">
                <a:latin typeface="Fira Sans Condensed"/>
              </a:endParaRPr>
            </a:p>
          </p:txBody>
        </p:sp>
      </p:grpSp>
      <p:grpSp>
        <p:nvGrpSpPr>
          <p:cNvPr id="27" name="Componente GET 4"/>
          <p:cNvGrpSpPr/>
          <p:nvPr/>
        </p:nvGrpSpPr>
        <p:grpSpPr>
          <a:xfrm>
            <a:off x="822960" y="1673352"/>
            <a:ext cx="11018520" cy="493776"/>
            <a:chOff x="822960" y="1673352"/>
            <a:chExt cx="11018520" cy="493776"/>
          </a:xfrm>
        </p:grpSpPr>
        <p:sp>
          <p:nvSpPr>
            <p:cNvPr id="28" name="Forma 31"/>
            <p:cNvSpPr/>
            <p:nvPr/>
          </p:nvSpPr>
          <p:spPr>
            <a:xfrm>
              <a:off x="822960" y="1783080"/>
              <a:ext cx="2194560" cy="274320"/>
            </a:xfrm>
            <a:prstGeom prst="rect">
              <a:avLst/>
            </a:prstGeom>
            <a:solidFill>
              <a:srgbClr val="C39BD3"/>
            </a:solidFill>
            <a:ln w="19050" cap="rnd">
              <a:solidFill>
                <a:srgbClr val="1E1E1E"/>
              </a:solidFill>
              <a:round/>
            </a:ln>
          </p:spPr>
        </p:sp>
        <p:sp>
          <p:nvSpPr>
            <p:cNvPr id="29" name="Flecha 32_2"/>
            <p:cNvSpPr/>
            <p:nvPr/>
          </p:nvSpPr>
          <p:spPr>
            <a:xfrm>
              <a:off x="3063240" y="1920240"/>
              <a:ext cx="594360" cy="9144"/>
            </a:xfrm>
            <a:custGeom>
              <a:avLst/>
              <a:gdLst/>
              <a:ahLst/>
              <a:cxnLst/>
              <a:rect l="0" t="0" r="r" b="b"/>
              <a:pathLst>
                <a:path w="649" h="10" fill="none">
                  <a:moveTo>
                    <a:pt x="0" y="0"/>
                  </a:moveTo>
                  <a:lnTo>
                    <a:pt x="649" y="0"/>
                  </a:lnTo>
                </a:path>
              </a:pathLst>
            </a:custGeom>
            <a:noFill/>
            <a:ln w="25400" cap="rnd">
              <a:solidFill>
                <a:srgbClr val="1E1E1E"/>
              </a:solidFill>
              <a:round/>
              <a:tailEnd type="triangle" w="med" len="med"/>
            </a:ln>
          </p:spPr>
        </p:sp>
        <p:sp>
          <p:nvSpPr>
            <p:cNvPr id="30" name="Recuadro Termogénesis adaptativ"/>
            <p:cNvSpPr/>
            <p:nvPr/>
          </p:nvSpPr>
          <p:spPr>
            <a:xfrm>
              <a:off x="3749040" y="1673352"/>
              <a:ext cx="3108960" cy="493776"/>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Termogénesis adaptativa</a:t>
              </a:r>
              <a:endParaRPr lang="es-AR" sz="1300" dirty="0">
                <a:latin typeface="Fira Sans Condensed"/>
              </a:endParaRPr>
            </a:p>
          </p:txBody>
        </p:sp>
        <p:sp>
          <p:nvSpPr>
            <p:cNvPr id="31" name="Forma 35"/>
            <p:cNvSpPr txBox="1"/>
            <p:nvPr/>
          </p:nvSpPr>
          <p:spPr>
            <a:xfrm>
              <a:off x="6995160" y="1673352"/>
              <a:ext cx="4846320" cy="493776"/>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Frío · activación simpática</a:t>
              </a:r>
              <a:endParaRPr lang="es-AR" sz="1350" dirty="0">
                <a:latin typeface="Fira Sans Condensed"/>
              </a:endParaRPr>
            </a:p>
          </p:txBody>
        </p:sp>
      </p:grpSp>
      <p:sp>
        <p:nvSpPr>
          <p:cNvPr id="32" name="Forma 36"/>
          <p:cNvSpPr txBox="1"/>
          <p:nvPr/>
        </p:nvSpPr>
        <p:spPr>
          <a:xfrm>
            <a:off x="548640" y="1325880"/>
            <a:ext cx="2743200" cy="36576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GASTO ENERGÉTICO TOTAL</a:t>
            </a:r>
            <a:endParaRPr lang="es-AR" sz="1300" dirty="0">
              <a:latin typeface="Fira Sans Condensed"/>
            </a:endParaRPr>
          </a:p>
        </p:txBody>
      </p:sp>
      <p:sp>
        <p:nvSpPr>
          <p:cNvPr id="33" name="Perla clínica"/>
          <p:cNvSpPr/>
          <p:nvPr/>
        </p:nvSpPr>
        <p:spPr>
          <a:xfrm>
            <a:off x="3749040" y="5623560"/>
            <a:ext cx="809244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Las alturas son </a:t>
            </a:r>
            <a:r>
              <a:rPr lang="es-AR" sz="1400" b="1" dirty="0">
                <a:solidFill>
                  <a:srgbClr val="FFFFFF"/>
                </a:solidFill>
                <a:latin typeface="Fira Sans Condensed"/>
                <a:ea typeface="Fira Sans Condensed"/>
                <a:cs typeface="Fira Sans Condensed"/>
                <a:sym typeface="Fira Sans Condensed"/>
              </a:rPr>
              <a:t>esquemáticas</a:t>
            </a:r>
            <a:r>
              <a:rPr lang="es-AR" sz="1400" dirty="0">
                <a:solidFill>
                  <a:srgbClr val="FFFFFF"/>
                </a:solidFill>
                <a:latin typeface="Fira Sans Condensed"/>
                <a:ea typeface="Fira Sans Condensed"/>
                <a:cs typeface="Fira Sans Condensed"/>
                <a:sym typeface="Fira Sans Condensed"/>
              </a:rPr>
              <a:t>: no se suman porcentajes fijos; cambian entre individuos y según el gasto total.</a:t>
            </a:r>
            <a:endParaRPr lang="es-AR" sz="14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COMPONENTES DEL GASTO ENERGÉTICO TOTAL</a:t>
            </a:r>
            <a:endParaRPr lang="es-AR" sz="34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p:cTn id="30" dur="500" fill="hold"/>
                                        <p:tgtEl>
                                          <p:spTgt spid="33"/>
                                        </p:tgtEl>
                                        <p:attrNameLst>
                                          <p:attrName>ppt_w</p:attrName>
                                        </p:attrNameLst>
                                      </p:cBhvr>
                                      <p:tavLst>
                                        <p:tav tm="0">
                                          <p:val>
                                            <p:fltVal val="0"/>
                                          </p:val>
                                        </p:tav>
                                        <p:tav tm="100000">
                                          <p:val>
                                            <p:strVal val="#ppt_w"/>
                                          </p:val>
                                        </p:tav>
                                      </p:tavLst>
                                    </p:anim>
                                    <p:anim calcmode="lin" valueType="num">
                                      <p:cBhvr>
                                        <p:cTn id="31" dur="500" fill="hold"/>
                                        <p:tgtEl>
                                          <p:spTgt spid="33"/>
                                        </p:tgtEl>
                                        <p:attrNameLst>
                                          <p:attrName>ppt_h</p:attrName>
                                        </p:attrNameLst>
                                      </p:cBhvr>
                                      <p:tavLst>
                                        <p:tav tm="0">
                                          <p:val>
                                            <p:fltVal val="0"/>
                                          </p:val>
                                        </p:tav>
                                        <p:tav tm="100000">
                                          <p:val>
                                            <p:strVal val="#ppt_h"/>
                                          </p:val>
                                        </p:tav>
                                      </p:tavLst>
                                    </p:anim>
                                    <p:animEffect transition="in" filter="fade">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sp>
        <p:nvSpPr>
          <p:cNvPr id="6" name="Flecha w→l"/>
          <p:cNvSpPr/>
          <p:nvPr/>
        </p:nvSpPr>
        <p:spPr>
          <a:xfrm>
            <a:off x="3154680" y="1371600"/>
            <a:ext cx="457200" cy="91440"/>
          </a:xfrm>
          <a:custGeom>
            <a:avLst/>
            <a:gdLst/>
            <a:ahLst/>
            <a:cxnLst/>
            <a:rect l="0" t="0" r="r" b="b"/>
            <a:pathLst>
              <a:path w="500" h="100" fill="none">
                <a:moveTo>
                  <a:pt x="0" y="100"/>
                </a:moveTo>
                <a:lnTo>
                  <a:pt x="500" y="0"/>
                </a:lnTo>
              </a:path>
            </a:pathLst>
          </a:custGeom>
          <a:noFill/>
          <a:ln w="28575" cap="rnd">
            <a:solidFill>
              <a:srgbClr val="1E1E1E"/>
            </a:solidFill>
            <a:round/>
            <a:tailEnd type="triangle" w="med" len="med"/>
          </a:ln>
        </p:spPr>
      </p:sp>
      <p:sp>
        <p:nvSpPr>
          <p:cNvPr id="7" name="Flecha w→g"/>
          <p:cNvSpPr/>
          <p:nvPr/>
        </p:nvSpPr>
        <p:spPr>
          <a:xfrm>
            <a:off x="3154680" y="1554480"/>
            <a:ext cx="457200" cy="548640"/>
          </a:xfrm>
          <a:custGeom>
            <a:avLst/>
            <a:gdLst/>
            <a:ahLst/>
            <a:cxnLst/>
            <a:rect l="0" t="0" r="r" b="b"/>
            <a:pathLst>
              <a:path w="500" h="599" fill="none">
                <a:moveTo>
                  <a:pt x="0" y="0"/>
                </a:moveTo>
                <a:lnTo>
                  <a:pt x="500" y="599"/>
                </a:lnTo>
              </a:path>
            </a:pathLst>
          </a:custGeom>
          <a:noFill/>
          <a:ln w="28575" cap="rnd">
            <a:solidFill>
              <a:srgbClr val="1E1E1E"/>
            </a:solidFill>
            <a:round/>
            <a:tailEnd type="triangle" w="med" len="med"/>
          </a:ln>
        </p:spPr>
      </p:sp>
      <p:sp>
        <p:nvSpPr>
          <p:cNvPr id="8" name="Flecha w→e"/>
          <p:cNvSpPr/>
          <p:nvPr/>
        </p:nvSpPr>
        <p:spPr>
          <a:xfrm>
            <a:off x="3154680" y="1645920"/>
            <a:ext cx="457200" cy="1188720"/>
          </a:xfrm>
          <a:custGeom>
            <a:avLst/>
            <a:gdLst/>
            <a:ahLst/>
            <a:cxnLst/>
            <a:rect l="0" t="0" r="r" b="b"/>
            <a:pathLst>
              <a:path w="500" h="1300" fill="none">
                <a:moveTo>
                  <a:pt x="0" y="0"/>
                </a:moveTo>
                <a:lnTo>
                  <a:pt x="500" y="1300"/>
                </a:lnTo>
              </a:path>
            </a:pathLst>
          </a:custGeom>
          <a:noFill/>
          <a:ln w="28575" cap="rnd">
            <a:solidFill>
              <a:srgbClr val="1E1E1E"/>
            </a:solidFill>
            <a:round/>
            <a:tailEnd type="triangle" w="med" len="med"/>
          </a:ln>
        </p:spPr>
      </p:sp>
      <p:sp>
        <p:nvSpPr>
          <p:cNvPr id="9" name="Flecha w→a"/>
          <p:cNvSpPr/>
          <p:nvPr/>
        </p:nvSpPr>
        <p:spPr>
          <a:xfrm>
            <a:off x="3154680" y="1737360"/>
            <a:ext cx="457200" cy="1828800"/>
          </a:xfrm>
          <a:custGeom>
            <a:avLst/>
            <a:gdLst/>
            <a:ahLst/>
            <a:cxnLst/>
            <a:rect l="0" t="0" r="r" b="b"/>
            <a:pathLst>
              <a:path w="500" h="2000" fill="none">
                <a:moveTo>
                  <a:pt x="0" y="0"/>
                </a:moveTo>
                <a:lnTo>
                  <a:pt x="500" y="2000"/>
                </a:lnTo>
              </a:path>
            </a:pathLst>
          </a:custGeom>
          <a:noFill/>
          <a:ln w="28575" cap="rnd">
            <a:solidFill>
              <a:srgbClr val="1E1E1E"/>
            </a:solidFill>
            <a:round/>
            <a:tailEnd type="triangle" w="med" len="med"/>
          </a:ln>
        </p:spPr>
      </p:sp>
      <p:sp>
        <p:nvSpPr>
          <p:cNvPr id="10" name="Flecha g→r"/>
          <p:cNvSpPr/>
          <p:nvPr/>
        </p:nvSpPr>
        <p:spPr>
          <a:xfrm>
            <a:off x="7534656" y="2103120"/>
            <a:ext cx="475488" cy="365760"/>
          </a:xfrm>
          <a:custGeom>
            <a:avLst/>
            <a:gdLst/>
            <a:ahLst/>
            <a:cxnLst/>
            <a:rect l="0" t="0" r="r" b="b"/>
            <a:pathLst>
              <a:path w="520" h="400" fill="none">
                <a:moveTo>
                  <a:pt x="0" y="0"/>
                </a:moveTo>
                <a:lnTo>
                  <a:pt x="520" y="400"/>
                </a:lnTo>
              </a:path>
            </a:pathLst>
          </a:custGeom>
          <a:noFill/>
          <a:ln w="28575" cap="rnd">
            <a:solidFill>
              <a:srgbClr val="1E1E1E"/>
            </a:solidFill>
            <a:round/>
            <a:tailEnd type="triangle" w="med" len="med"/>
          </a:ln>
        </p:spPr>
      </p:sp>
      <p:sp>
        <p:nvSpPr>
          <p:cNvPr id="11" name="Flecha e→r"/>
          <p:cNvSpPr/>
          <p:nvPr/>
        </p:nvSpPr>
        <p:spPr>
          <a:xfrm>
            <a:off x="7543800" y="2651760"/>
            <a:ext cx="457200" cy="182880"/>
          </a:xfrm>
          <a:custGeom>
            <a:avLst/>
            <a:gdLst/>
            <a:ahLst/>
            <a:cxnLst/>
            <a:rect l="0" t="0" r="r" b="b"/>
            <a:pathLst>
              <a:path w="500" h="200" fill="none">
                <a:moveTo>
                  <a:pt x="0" y="200"/>
                </a:moveTo>
                <a:lnTo>
                  <a:pt x="500" y="0"/>
                </a:lnTo>
              </a:path>
            </a:pathLst>
          </a:custGeom>
          <a:noFill/>
          <a:ln w="28575" cap="rnd">
            <a:solidFill>
              <a:srgbClr val="1E1E1E"/>
            </a:solidFill>
            <a:round/>
            <a:tailEnd type="triangle" w="med" len="med"/>
          </a:ln>
        </p:spPr>
      </p:sp>
      <p:sp>
        <p:nvSpPr>
          <p:cNvPr id="12" name="Nodo w"/>
          <p:cNvSpPr/>
          <p:nvPr/>
        </p:nvSpPr>
        <p:spPr>
          <a:xfrm>
            <a:off x="365760" y="1188720"/>
            <a:ext cx="274320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PÉRDIDA DE PESO</a:t>
            </a:r>
            <a:endParaRPr lang="es-AR" sz="1700" dirty="0">
              <a:latin typeface="Fira Sans Condensed"/>
            </a:endParaRPr>
          </a:p>
        </p:txBody>
      </p:sp>
      <p:sp>
        <p:nvSpPr>
          <p:cNvPr id="13" name="Nodo l"/>
          <p:cNvSpPr/>
          <p:nvPr/>
        </p:nvSpPr>
        <p:spPr>
          <a:xfrm>
            <a:off x="3657600" y="1097280"/>
            <a:ext cx="38404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Leptina ↓ (menos adiposo y energía)</a:t>
            </a:r>
            <a:endParaRPr lang="es-AR" sz="1350" dirty="0">
              <a:latin typeface="Fira Sans Condensed"/>
            </a:endParaRPr>
          </a:p>
        </p:txBody>
      </p:sp>
      <p:sp>
        <p:nvSpPr>
          <p:cNvPr id="14" name="Nodo g"/>
          <p:cNvSpPr/>
          <p:nvPr/>
        </p:nvSpPr>
        <p:spPr>
          <a:xfrm>
            <a:off x="3657600" y="1828800"/>
            <a:ext cx="38404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Grelina y otras señales ↑ → hambre ↑</a:t>
            </a:r>
            <a:endParaRPr lang="es-AR" sz="1350" dirty="0">
              <a:latin typeface="Fira Sans Condensed"/>
            </a:endParaRPr>
          </a:p>
        </p:txBody>
      </p:sp>
      <p:sp>
        <p:nvSpPr>
          <p:cNvPr id="15" name="Nodo e"/>
          <p:cNvSpPr/>
          <p:nvPr/>
        </p:nvSpPr>
        <p:spPr>
          <a:xfrm>
            <a:off x="3657600" y="2560320"/>
            <a:ext cx="38404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Gasto absoluto ↓ (menor masa)</a:t>
            </a:r>
            <a:endParaRPr lang="es-AR" sz="1350" dirty="0">
              <a:latin typeface="Fira Sans Condensed"/>
            </a:endParaRPr>
          </a:p>
        </p:txBody>
      </p:sp>
      <p:sp>
        <p:nvSpPr>
          <p:cNvPr id="16" name="Nodo a"/>
          <p:cNvSpPr/>
          <p:nvPr/>
        </p:nvSpPr>
        <p:spPr>
          <a:xfrm>
            <a:off x="3657600" y="3291840"/>
            <a:ext cx="38404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 adaptación metabólica adicional</a:t>
            </a:r>
            <a:endParaRPr lang="es-AR" sz="1350" dirty="0">
              <a:latin typeface="Fira Sans Condensed"/>
            </a:endParaRPr>
          </a:p>
        </p:txBody>
      </p:sp>
      <p:sp>
        <p:nvSpPr>
          <p:cNvPr id="17" name="Nodo r"/>
          <p:cNvSpPr/>
          <p:nvPr/>
        </p:nvSpPr>
        <p:spPr>
          <a:xfrm>
            <a:off x="8046720" y="1828800"/>
            <a:ext cx="3794760" cy="12801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Tendencia a recuperar peso: el mantenimiento requiere apoyo prolongado</a:t>
            </a:r>
            <a:endParaRPr lang="es-AR" sz="1400" dirty="0">
              <a:latin typeface="Fira Sans Condensed"/>
            </a:endParaRPr>
          </a:p>
        </p:txBody>
      </p:sp>
      <p:grpSp>
        <p:nvGrpSpPr>
          <p:cNvPr id="18" name="Cuadro Interpretación"/>
          <p:cNvGrpSpPr/>
          <p:nvPr/>
        </p:nvGrpSpPr>
        <p:grpSpPr>
          <a:xfrm>
            <a:off x="365760" y="4206240"/>
            <a:ext cx="11475720" cy="2057400"/>
            <a:chOff x="365760" y="4206240"/>
            <a:chExt cx="11475720" cy="2057400"/>
          </a:xfrm>
        </p:grpSpPr>
        <p:sp>
          <p:nvSpPr>
            <p:cNvPr id="19" name="Forma 18"/>
            <p:cNvSpPr/>
            <p:nvPr/>
          </p:nvSpPr>
          <p:spPr>
            <a:xfrm>
              <a:off x="365760" y="4407408"/>
              <a:ext cx="11475720" cy="18562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50" dirty="0">
                  <a:solidFill>
                    <a:srgbClr val="1E1E1E"/>
                  </a:solidFill>
                  <a:latin typeface="Fira Sans Condensed"/>
                  <a:ea typeface="Fira Sans Condensed"/>
                  <a:cs typeface="Fira Sans Condensed"/>
                  <a:sym typeface="Fira Sans Condensed"/>
                </a:rPr>
                <a:t>Estos mecanismos </a:t>
              </a:r>
              <a:r>
                <a:rPr lang="es-AR" sz="1550" b="1" dirty="0">
                  <a:solidFill>
                    <a:srgbClr val="1E1E1E"/>
                  </a:solidFill>
                  <a:latin typeface="Fira Sans Condensed"/>
                  <a:ea typeface="Fira Sans Condensed"/>
                  <a:cs typeface="Fira Sans Condensed"/>
                  <a:sym typeface="Fira Sans Condensed"/>
                </a:rPr>
                <a:t>no niegan</a:t>
              </a:r>
              <a:r>
                <a:rPr lang="es-AR" sz="1550" dirty="0">
                  <a:solidFill>
                    <a:srgbClr val="1E1E1E"/>
                  </a:solidFill>
                  <a:latin typeface="Fira Sans Condensed"/>
                  <a:ea typeface="Fira Sans Condensed"/>
                  <a:cs typeface="Fira Sans Condensed"/>
                  <a:sym typeface="Fira Sans Condensed"/>
                </a:rPr>
                <a:t> la conservación de la energía: explican por qué sostener el descenso requiere </a:t>
              </a:r>
              <a:r>
                <a:rPr lang="es-AR" sz="1550" b="1" dirty="0">
                  <a:solidFill>
                    <a:srgbClr val="1E1E1E"/>
                  </a:solidFill>
                  <a:latin typeface="Fira Sans Condensed"/>
                  <a:ea typeface="Fira Sans Condensed"/>
                  <a:cs typeface="Fira Sans Condensed"/>
                  <a:sym typeface="Fira Sans Condensed"/>
                </a:rPr>
                <a:t>estrategias conductuales y, cuando corresponde, farmacológicas</a:t>
              </a:r>
              <a:r>
                <a:rPr lang="es-AR" sz="1550" dirty="0">
                  <a:solidFill>
                    <a:srgbClr val="1E1E1E"/>
                  </a:solidFill>
                  <a:latin typeface="Fira Sans Condensed"/>
                  <a:ea typeface="Fira Sans Condensed"/>
                  <a:cs typeface="Fira Sans Condensed"/>
                  <a:sym typeface="Fira Sans Condensed"/>
                </a:rPr>
                <a:t> de largo plazo, y por qué la obesidad es </a:t>
              </a:r>
              <a:r>
                <a:rPr lang="es-AR" sz="1550" b="1" dirty="0">
                  <a:solidFill>
                    <a:srgbClr val="1E1E1E"/>
                  </a:solidFill>
                  <a:latin typeface="Fira Sans Condensed"/>
                  <a:ea typeface="Fira Sans Condensed"/>
                  <a:cs typeface="Fira Sans Condensed"/>
                  <a:sym typeface="Fira Sans Condensed"/>
                </a:rPr>
                <a:t>crónica y recidivante</a:t>
              </a:r>
              <a:r>
                <a:rPr lang="es-AR" sz="1550" dirty="0">
                  <a:solidFill>
                    <a:srgbClr val="1E1E1E"/>
                  </a:solidFill>
                  <a:latin typeface="Fira Sans Condensed"/>
                  <a:ea typeface="Fira Sans Condensed"/>
                  <a:cs typeface="Fira Sans Condensed"/>
                  <a:sym typeface="Fira Sans Condensed"/>
                </a:rPr>
                <a:t>.</a:t>
              </a:r>
              <a:endParaRPr lang="es-AR" sz="1550" dirty="0">
                <a:latin typeface="Fira Sans Condensed"/>
              </a:endParaRPr>
            </a:p>
          </p:txBody>
        </p:sp>
        <p:sp>
          <p:nvSpPr>
            <p:cNvPr id="20" name="Forma 19"/>
            <p:cNvSpPr/>
            <p:nvPr/>
          </p:nvSpPr>
          <p:spPr>
            <a:xfrm>
              <a:off x="502920" y="4206240"/>
              <a:ext cx="169155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INTERPRETACIÓN</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ADAPTACIÓN TRAS LA PÉRDIDA DE PESO</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childTnLst>
                          </p:cTn>
                        </p:par>
                      </p:childTnLst>
                    </p:cTn>
                  </p:par>
                  <p:par>
                    <p:cTn id="24"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41"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childTnLst>
                          </p:cTn>
                        </p:par>
                        <p:par>
                          <p:cTn id="36" fill="hold">
                            <p:stCondLst>
                              <p:cond delay="900"/>
                            </p:stCondLst>
                            <p:childTnLst>
                              <p:par>
                                <p:cTn id="33" presetID="2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par>
                          <p:cTn id="40" fill="hold">
                            <p:stCondLst>
                              <p:cond delay="140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childTnLst>
                          </p:cTn>
                        </p:par>
                      </p:childTnLst>
                    </p:cTn>
                  </p:par>
                  <p:par>
                    <p:cTn id="54" fill="hold">
                      <p:stCondLst>
                        <p:cond delay="indefinite"/>
                      </p:stCondLst>
                      <p:childTnLst>
                        <p:par>
                          <p:cTn id="45"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9"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childTnLst>
                          </p:cTn>
                        </p:par>
                        <p:par>
                          <p:cTn id="53"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childTnLst>
                                </p:cTn>
                              </p:par>
                            </p:childTnLst>
                          </p:cTn>
                        </p:par>
                      </p:childTnLst>
                    </p:cTn>
                  </p:par>
                  <p:par>
                    <p:cTn id="59" fill="hold">
                      <p:stCondLst>
                        <p:cond delay="indefinite"/>
                      </p:stCondLst>
                      <p:childTnLst>
                        <p:par>
                          <p:cTn id="58"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13" grpId="0" animBg="1"/>
      <p:bldP spid="7" grpId="0" animBg="1"/>
      <p:bldP spid="14" grpId="0" animBg="1"/>
      <p:bldP spid="8" grpId="0" animBg="1"/>
      <p:bldP spid="15" grpId="0" animBg="1"/>
      <p:bldP spid="9" grpId="0" animBg="1"/>
      <p:bldP spid="16" grpId="0" animBg="1"/>
      <p:bldP spid="10" grpId="0" animBg="1"/>
      <p:bldP spid="11" grpId="0" animBg="1"/>
      <p:bldP spid="17" grpId="0" animBg="1"/>
    </p:bld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Organismo E" descr="Ilustración biomédica (Servier Medical Art, CC BY)"/>
          <p:cNvPicPr>
            <a:picLocks noChangeAspect="1"/>
          </p:cNvPicPr>
          <p:nvPr/>
        </p:nvPicPr>
        <p:blipFill>
          <a:blip r:embed="rId2"/>
          <a:stretch>
            <a:fillRect/>
          </a:stretch>
        </p:blipFill>
        <p:spPr>
          <a:xfrm>
            <a:off x="914400" y="1005840"/>
            <a:ext cx="2147926" cy="5303520"/>
          </a:xfrm>
          <a:prstGeom prst="rect">
            <a:avLst/>
          </a:prstGeom>
        </p:spPr>
      </p:pic>
      <p:pic>
        <p:nvPicPr>
          <p:cNvPr id="8" name="!!Adiposo E" descr="Ilustración biomédica (Servier Medical Art, CC BY)"/>
          <p:cNvPicPr>
            <a:picLocks noChangeAspect="1"/>
          </p:cNvPicPr>
          <p:nvPr/>
        </p:nvPicPr>
        <p:blipFill>
          <a:blip r:embed="rId3"/>
          <a:stretch>
            <a:fillRect/>
          </a:stretch>
        </p:blipFill>
        <p:spPr>
          <a:xfrm>
            <a:off x="1828800" y="3200400"/>
            <a:ext cx="548640" cy="559429"/>
          </a:xfrm>
          <a:prstGeom prst="rect">
            <a:avLst/>
          </a:prstGeom>
        </p:spPr>
      </p:pic>
      <p:pic>
        <p:nvPicPr>
          <p:cNvPr id="9" name="!!Cerebro E" descr="Ilustración biomédica (Servier Medical Art, CC BY)"/>
          <p:cNvPicPr>
            <a:picLocks noChangeAspect="1"/>
          </p:cNvPicPr>
          <p:nvPr/>
        </p:nvPicPr>
        <p:blipFill>
          <a:blip r:embed="rId4"/>
          <a:stretch>
            <a:fillRect/>
          </a:stretch>
        </p:blipFill>
        <p:spPr>
          <a:xfrm>
            <a:off x="1600200" y="1005840"/>
            <a:ext cx="685800" cy="700306"/>
          </a:xfrm>
          <a:prstGeom prst="rect">
            <a:avLst/>
          </a:prstGeom>
        </p:spPr>
      </p:pic>
      <p:sp>
        <p:nvSpPr>
          <p:cNvPr id="10" name="!!Lupa E"/>
          <p:cNvSpPr/>
          <p:nvPr/>
        </p:nvSpPr>
        <p:spPr>
          <a:xfrm>
            <a:off x="1554480" y="3017520"/>
            <a:ext cx="1097280" cy="914400"/>
          </a:xfrm>
          <a:prstGeom prst="ellipse">
            <a:avLst/>
          </a:prstGeom>
          <a:noFill/>
          <a:ln w="38100" cap="rnd">
            <a:solidFill>
              <a:srgbClr val="C00000"/>
            </a:solidFill>
            <a:round/>
          </a:ln>
        </p:spPr>
      </p:sp>
      <p:grpSp>
        <p:nvGrpSpPr>
          <p:cNvPr id="11" name="Cuadro La pregunta"/>
          <p:cNvGrpSpPr/>
          <p:nvPr/>
        </p:nvGrpSpPr>
        <p:grpSpPr>
          <a:xfrm>
            <a:off x="4206240" y="1188720"/>
            <a:ext cx="7635240" cy="1828800"/>
            <a:chOff x="4206240" y="1188720"/>
            <a:chExt cx="7635240" cy="1828800"/>
          </a:xfrm>
        </p:grpSpPr>
        <p:sp>
          <p:nvSpPr>
            <p:cNvPr id="12" name="Forma 11"/>
            <p:cNvSpPr/>
            <p:nvPr/>
          </p:nvSpPr>
          <p:spPr>
            <a:xfrm>
              <a:off x="4206240" y="1389888"/>
              <a:ext cx="7635240" cy="16276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600" dirty="0">
                  <a:solidFill>
                    <a:srgbClr val="1E1E1E"/>
                  </a:solidFill>
                  <a:latin typeface="Fira Sans Condensed"/>
                  <a:ea typeface="Fira Sans Condensed"/>
                  <a:cs typeface="Fira Sans Condensed"/>
                  <a:sym typeface="Fira Sans Condensed"/>
                </a:rPr>
                <a:t>El organismo necesita </a:t>
              </a:r>
              <a:r>
                <a:rPr lang="es-AR" sz="1600" b="1" dirty="0">
                  <a:solidFill>
                    <a:srgbClr val="1E1E1E"/>
                  </a:solidFill>
                  <a:latin typeface="Fira Sans Condensed"/>
                  <a:ea typeface="Fira Sans Condensed"/>
                  <a:cs typeface="Fira Sans Condensed"/>
                  <a:sym typeface="Fira Sans Condensed"/>
                </a:rPr>
                <a:t>informar al cerebro</a:t>
              </a:r>
              <a:r>
                <a:rPr lang="es-AR" sz="1600" dirty="0">
                  <a:solidFill>
                    <a:srgbClr val="1E1E1E"/>
                  </a:solidFill>
                  <a:latin typeface="Fira Sans Condensed"/>
                  <a:ea typeface="Fira Sans Condensed"/>
                  <a:cs typeface="Fira Sans Condensed"/>
                  <a:sym typeface="Fira Sans Condensed"/>
                </a:rPr>
                <a:t> cuánta energía tiene almacenada. Esa información proviene principalmente del </a:t>
              </a:r>
              <a:r>
                <a:rPr lang="es-AR" sz="1600" b="1" dirty="0">
                  <a:solidFill>
                    <a:srgbClr val="1E1E1E"/>
                  </a:solidFill>
                  <a:latin typeface="Fira Sans Condensed"/>
                  <a:ea typeface="Fira Sans Condensed"/>
                  <a:cs typeface="Fira Sans Condensed"/>
                  <a:sym typeface="Fira Sans Condensed"/>
                </a:rPr>
                <a:t>tejido adiposo</a:t>
              </a:r>
              <a:r>
                <a:rPr lang="es-AR" sz="1600" dirty="0">
                  <a:solidFill>
                    <a:srgbClr val="1E1E1E"/>
                  </a:solidFill>
                  <a:latin typeface="Fira Sans Condensed"/>
                  <a:ea typeface="Fira Sans Condensed"/>
                  <a:cs typeface="Fira Sans Condensed"/>
                  <a:sym typeface="Fira Sans Condensed"/>
                </a:rPr>
                <a:t> (leptina) y del </a:t>
              </a:r>
              <a:r>
                <a:rPr lang="es-AR" sz="1600" b="1" dirty="0">
                  <a:solidFill>
                    <a:srgbClr val="1E1E1E"/>
                  </a:solidFill>
                  <a:latin typeface="Fira Sans Condensed"/>
                  <a:ea typeface="Fira Sans Condensed"/>
                  <a:cs typeface="Fira Sans Condensed"/>
                  <a:sym typeface="Fira Sans Condensed"/>
                </a:rPr>
                <a:t>páncreas</a:t>
              </a:r>
              <a:r>
                <a:rPr lang="es-AR" sz="1600" dirty="0">
                  <a:solidFill>
                    <a:srgbClr val="1E1E1E"/>
                  </a:solidFill>
                  <a:latin typeface="Fira Sans Condensed"/>
                  <a:ea typeface="Fira Sans Condensed"/>
                  <a:cs typeface="Fira Sans Condensed"/>
                  <a:sym typeface="Fira Sans Condensed"/>
                </a:rPr>
                <a:t> (insulina).</a:t>
              </a:r>
              <a:endParaRPr lang="es-AR" sz="1600" dirty="0">
                <a:latin typeface="Fira Sans Condensed"/>
              </a:endParaRPr>
            </a:p>
          </p:txBody>
        </p:sp>
        <p:sp>
          <p:nvSpPr>
            <p:cNvPr id="13" name="Forma 12"/>
            <p:cNvSpPr/>
            <p:nvPr/>
          </p:nvSpPr>
          <p:spPr>
            <a:xfrm>
              <a:off x="4343400" y="1188720"/>
              <a:ext cx="1419905"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LA PREGUNTA</a:t>
              </a:r>
              <a:endParaRPr lang="es-AR" sz="1400" dirty="0">
                <a:latin typeface="Fira Sans Condensed"/>
              </a:endParaRPr>
            </a:p>
          </p:txBody>
        </p:sp>
      </p:grpSp>
      <p:grpSp>
        <p:nvGrpSpPr>
          <p:cNvPr id="14" name="Cuadro Tres niveles de señal"/>
          <p:cNvGrpSpPr/>
          <p:nvPr/>
        </p:nvGrpSpPr>
        <p:grpSpPr>
          <a:xfrm>
            <a:off x="4206240" y="3291840"/>
            <a:ext cx="7635240" cy="2103120"/>
            <a:chOff x="4206240" y="3291840"/>
            <a:chExt cx="7635240" cy="2103120"/>
          </a:xfrm>
        </p:grpSpPr>
        <p:sp>
          <p:nvSpPr>
            <p:cNvPr id="15" name="Forma 14"/>
            <p:cNvSpPr/>
            <p:nvPr/>
          </p:nvSpPr>
          <p:spPr>
            <a:xfrm>
              <a:off x="4206240" y="3493008"/>
              <a:ext cx="7635240" cy="19019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Largo plazo</a:t>
              </a:r>
              <a:r>
                <a:rPr lang="es-AR" sz="1550" dirty="0">
                  <a:solidFill>
                    <a:srgbClr val="1E1E1E"/>
                  </a:solidFill>
                  <a:latin typeface="Fira Sans Condensed"/>
                  <a:ea typeface="Fira Sans Condensed"/>
                  <a:cs typeface="Fira Sans Condensed"/>
                  <a:sym typeface="Fira Sans Condensed"/>
                </a:rPr>
                <a:t>: leptina e insulina (reservas).</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Corto plazo</a:t>
              </a:r>
              <a:r>
                <a:rPr lang="es-AR" sz="1550" dirty="0">
                  <a:solidFill>
                    <a:srgbClr val="1E1E1E"/>
                  </a:solidFill>
                  <a:latin typeface="Fira Sans Condensed"/>
                  <a:ea typeface="Fira Sans Condensed"/>
                  <a:cs typeface="Fira Sans Condensed"/>
                  <a:sym typeface="Fira Sans Condensed"/>
                </a:rPr>
                <a:t>: grelina, CCK, GLP-1, PYY, distensión gástrica (comida a comida).</a:t>
              </a:r>
              <a:endParaRPr lang="es-AR" sz="1550" dirty="0">
                <a:latin typeface="Fira Sans Condensed"/>
              </a:endParaRPr>
            </a:p>
            <a:p>
              <a:pPr algn="l" marL="147637" indent="-147637">
                <a:spcAft>
                  <a:spcPts val="400"/>
                </a:spcAft>
                <a:buClr>
                  <a:srgbClr val="1E1E1E"/>
                </a:buClr>
                <a:buFont typeface="Arial"/>
                <a:buChar char="•"/>
              </a:pPr>
              <a:r>
                <a:rPr lang="es-AR" sz="1550" b="1" dirty="0">
                  <a:solidFill>
                    <a:srgbClr val="1E1E1E"/>
                  </a:solidFill>
                  <a:latin typeface="Fira Sans Condensed"/>
                  <a:ea typeface="Fira Sans Condensed"/>
                  <a:cs typeface="Fira Sans Condensed"/>
                  <a:sym typeface="Fira Sans Condensed"/>
                </a:rPr>
                <a:t>Moduladores</a:t>
              </a:r>
              <a:r>
                <a:rPr lang="es-AR" sz="1550" dirty="0">
                  <a:solidFill>
                    <a:srgbClr val="1E1E1E"/>
                  </a:solidFill>
                  <a:latin typeface="Fira Sans Condensed"/>
                  <a:ea typeface="Fira Sans Condensed"/>
                  <a:cs typeface="Fira Sans Condensed"/>
                  <a:sym typeface="Fira Sans Condensed"/>
                </a:rPr>
                <a:t>: recompensa, estrés, sueño, entorno.</a:t>
              </a:r>
              <a:endParaRPr lang="es-AR" sz="1550" dirty="0">
                <a:latin typeface="Fira Sans Condensed"/>
              </a:endParaRPr>
            </a:p>
          </p:txBody>
        </p:sp>
        <p:sp>
          <p:nvSpPr>
            <p:cNvPr id="16" name="Forma 15"/>
            <p:cNvSpPr/>
            <p:nvPr/>
          </p:nvSpPr>
          <p:spPr>
            <a:xfrm>
              <a:off x="4343400" y="3291840"/>
              <a:ext cx="220025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TRES NIVELES DE SEÑAL</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E · 1 · ORGANISMO Y RESERVAS</a:t>
            </a:r>
            <a:endParaRPr lang="es-AR" sz="34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 calcmode="lin" valueType="num">
                                      <p:cBhvr>
                                        <p:cTn id="5" dur="500" fill="hold"/>
                                        <p:tgtEl>
                                          <p:spTgt spid="10"/>
                                        </p:tgtEl>
                                        <p:attrNameLst>
                                          <p:attrName>ppt_w</p:attrName>
                                        </p:attrNameLst>
                                      </p:cBhvr>
                                      <p:tavLst>
                                        <p:tav tm="0">
                                          <p:val>
                                            <p:fltVal val="0"/>
                                          </p:val>
                                        </p:tav>
                                        <p:tav tm="100000">
                                          <p:val>
                                            <p:strVal val="#ppt_w"/>
                                          </p:val>
                                        </p:tav>
                                      </p:tavLst>
                                    </p:anim>
                                    <p:anim calcmode="lin" valueType="num">
                                      <p:cBhvr>
                                        <p:cTn id="6" dur="500" fill="hold"/>
                                        <p:tgtEl>
                                          <p:spTgt spid="10"/>
                                        </p:tgtEl>
                                        <p:attrNameLst>
                                          <p:attrName>ppt_h</p:attrName>
                                        </p:attrNameLst>
                                      </p:cBhvr>
                                      <p:tavLst>
                                        <p:tav tm="0">
                                          <p:val>
                                            <p:fltVal val="0"/>
                                          </p:val>
                                        </p:tav>
                                        <p:tav tm="100000">
                                          <p:val>
                                            <p:strVal val="#ppt_h"/>
                                          </p:val>
                                        </p:tav>
                                      </p:tavLst>
                                    </p:anim>
                                    <p:animEffect transition="in" filter="fade">
                                      <p:cBhvr>
                                        <p:cTn id="7" dur="500"/>
                                        <p:tgtEl>
                                          <p:spTgt spid="10"/>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Organismo E" descr="Ilustración biomédica (Servier Medical Art, CC BY)"/>
          <p:cNvPicPr>
            <a:picLocks noChangeAspect="1"/>
          </p:cNvPicPr>
          <p:nvPr/>
        </p:nvPicPr>
        <p:blipFill>
          <a:blip r:embed="rId2">
            <a:alphaModFix amt="85000"/>
          </a:blip>
          <a:stretch>
            <a:fillRect/>
          </a:stretch>
        </p:blipFill>
        <p:spPr>
          <a:xfrm>
            <a:off x="-18288000" y="-8229600"/>
            <a:ext cx="12591288" cy="31089600"/>
          </a:xfrm>
          <a:prstGeom prst="rect">
            <a:avLst/>
          </a:prstGeom>
        </p:spPr>
      </p:pic>
      <p:pic>
        <p:nvPicPr>
          <p:cNvPr id="8" name="!!Adiposo E" descr="Ilustración biomédica (Servier Medical Art, CC BY)"/>
          <p:cNvPicPr>
            <a:picLocks noChangeAspect="1"/>
          </p:cNvPicPr>
          <p:nvPr/>
        </p:nvPicPr>
        <p:blipFill>
          <a:blip r:embed="rId3"/>
          <a:stretch>
            <a:fillRect/>
          </a:stretch>
        </p:blipFill>
        <p:spPr>
          <a:xfrm>
            <a:off x="457200" y="1097280"/>
            <a:ext cx="4389120" cy="4475432"/>
          </a:xfrm>
          <a:prstGeom prst="rect">
            <a:avLst/>
          </a:prstGeom>
        </p:spPr>
      </p:pic>
      <p:pic>
        <p:nvPicPr>
          <p:cNvPr id="9" name="!!Cerebro E" descr="Ilustración biomédica (Servier Medical Art, CC BY)"/>
          <p:cNvPicPr>
            <a:picLocks noChangeAspect="1"/>
          </p:cNvPicPr>
          <p:nvPr/>
        </p:nvPicPr>
        <p:blipFill>
          <a:blip r:embed="rId4"/>
          <a:stretch>
            <a:fillRect/>
          </a:stretch>
        </p:blipFill>
        <p:spPr>
          <a:xfrm>
            <a:off x="10058400" y="822960"/>
            <a:ext cx="1463040" cy="1493987"/>
          </a:xfrm>
          <a:prstGeom prst="rect">
            <a:avLst/>
          </a:prstGeom>
        </p:spPr>
      </p:pic>
      <p:sp>
        <p:nvSpPr>
          <p:cNvPr id="10" name="!!Leptina 0"/>
          <p:cNvSpPr/>
          <p:nvPr/>
        </p:nvSpPr>
        <p:spPr>
          <a:xfrm>
            <a:off x="3291840" y="210312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1" name="!!Leptina 1"/>
          <p:cNvSpPr/>
          <p:nvPr/>
        </p:nvSpPr>
        <p:spPr>
          <a:xfrm>
            <a:off x="3977640" y="265176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2" name="!!Leptina 2"/>
          <p:cNvSpPr/>
          <p:nvPr/>
        </p:nvSpPr>
        <p:spPr>
          <a:xfrm>
            <a:off x="4663440" y="210312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3" name="!!Leptina 3"/>
          <p:cNvSpPr/>
          <p:nvPr/>
        </p:nvSpPr>
        <p:spPr>
          <a:xfrm>
            <a:off x="5349240" y="265176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grpSp>
        <p:nvGrpSpPr>
          <p:cNvPr id="14" name="Cuadro Leptina"/>
          <p:cNvGrpSpPr/>
          <p:nvPr/>
        </p:nvGrpSpPr>
        <p:grpSpPr>
          <a:xfrm>
            <a:off x="5394960" y="2651760"/>
            <a:ext cx="6400800" cy="2743200"/>
            <a:chOff x="5394960" y="2651760"/>
            <a:chExt cx="6400800" cy="2743200"/>
          </a:xfrm>
        </p:grpSpPr>
        <p:sp>
          <p:nvSpPr>
            <p:cNvPr id="15" name="Forma 14"/>
            <p:cNvSpPr/>
            <p:nvPr/>
          </p:nvSpPr>
          <p:spPr>
            <a:xfrm>
              <a:off x="5394960" y="2852928"/>
              <a:ext cx="6400800" cy="2542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La </a:t>
              </a:r>
              <a:r>
                <a:rPr lang="es-AR" sz="1500" b="1" dirty="0">
                  <a:solidFill>
                    <a:srgbClr val="1E1E1E"/>
                  </a:solidFill>
                  <a:latin typeface="Fira Sans Condensed"/>
                  <a:ea typeface="Fira Sans Condensed"/>
                  <a:cs typeface="Fira Sans Condensed"/>
                  <a:sym typeface="Fira Sans Condensed"/>
                </a:rPr>
                <a:t>leptina</a:t>
              </a:r>
              <a:r>
                <a:rPr lang="es-AR" sz="1500" dirty="0">
                  <a:solidFill>
                    <a:srgbClr val="1E1E1E"/>
                  </a:solidFill>
                  <a:latin typeface="Fira Sans Condensed"/>
                  <a:ea typeface="Fira Sans Condensed"/>
                  <a:cs typeface="Fira Sans Condensed"/>
                  <a:sym typeface="Fira Sans Condensed"/>
                </a:rPr>
                <a:t> circulante se relaciona con la </a:t>
              </a:r>
              <a:r>
                <a:rPr lang="es-AR" sz="1500" b="1" dirty="0">
                  <a:solidFill>
                    <a:srgbClr val="1E1E1E"/>
                  </a:solidFill>
                  <a:latin typeface="Fira Sans Condensed"/>
                  <a:ea typeface="Fira Sans Condensed"/>
                  <a:cs typeface="Fira Sans Condensed"/>
                  <a:sym typeface="Fira Sans Condensed"/>
                </a:rPr>
                <a:t>cantidad de grasa</a:t>
              </a:r>
              <a:r>
                <a:rPr lang="es-AR" sz="1500" dirty="0">
                  <a:solidFill>
                    <a:srgbClr val="1E1E1E"/>
                  </a:solidFill>
                  <a:latin typeface="Fira Sans Condensed"/>
                  <a:ea typeface="Fira Sans Condensed"/>
                  <a:cs typeface="Fira Sans Condensed"/>
                  <a:sym typeface="Fira Sans Condensed"/>
                </a:rPr>
                <a:t> y el estado nutricional.</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Señala </a:t>
              </a:r>
              <a:r>
                <a:rPr lang="es-AR" sz="1500" b="1" dirty="0">
                  <a:solidFill>
                    <a:srgbClr val="1E1E1E"/>
                  </a:solidFill>
                  <a:latin typeface="Fira Sans Condensed"/>
                  <a:ea typeface="Fira Sans Condensed"/>
                  <a:cs typeface="Fira Sans Condensed"/>
                  <a:sym typeface="Fira Sans Condensed"/>
                </a:rPr>
                <a:t>suficiencia de reservas</a:t>
              </a:r>
              <a:r>
                <a:rPr lang="es-AR" sz="1500" dirty="0">
                  <a:solidFill>
                    <a:srgbClr val="1E1E1E"/>
                  </a:solidFill>
                  <a:latin typeface="Fira Sans Condensed"/>
                  <a:ea typeface="Fira Sans Condensed"/>
                  <a:cs typeface="Fira Sans Condensed"/>
                  <a:sym typeface="Fira Sans Condensed"/>
                </a:rPr>
                <a:t>; permite funciones reproductivas, tiroideas e inmunitarias.</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En ayuno y descenso rápido de energía puede </a:t>
              </a:r>
              <a:r>
                <a:rPr lang="es-AR" sz="1500" b="1" dirty="0">
                  <a:solidFill>
                    <a:srgbClr val="1E1E1E"/>
                  </a:solidFill>
                  <a:latin typeface="Fira Sans Condensed"/>
                  <a:ea typeface="Fira Sans Condensed"/>
                  <a:cs typeface="Fira Sans Condensed"/>
                  <a:sym typeface="Fira Sans Condensed"/>
                </a:rPr>
                <a:t>caer desproporcionadamente</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16" name="Forma 15"/>
            <p:cNvSpPr/>
            <p:nvPr/>
          </p:nvSpPr>
          <p:spPr>
            <a:xfrm>
              <a:off x="5532120" y="2651760"/>
              <a:ext cx="100571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LEPTINA</a:t>
              </a:r>
              <a:endParaRPr lang="es-AR" sz="1400" dirty="0">
                <a:latin typeface="Fira Sans Condensed"/>
              </a:endParaRPr>
            </a:p>
          </p:txBody>
        </p:sp>
      </p:grpSp>
      <p:sp>
        <p:nvSpPr>
          <p:cNvPr id="5"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SECUENCIA E · 2 · EL ADIPOCITO SECRETA LEPTINA</a:t>
            </a:r>
            <a:endParaRPr lang="es-AR" sz="32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7"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 calcmode="lin" valueType="num">
                                      <p:cBhvr>
                                        <p:cTn id="5" dur="200" fill="hold"/>
                                        <p:tgtEl>
                                          <p:spTgt spid="10"/>
                                        </p:tgtEl>
                                        <p:attrNameLst>
                                          <p:attrName>ppt_w</p:attrName>
                                        </p:attrNameLst>
                                      </p:cBhvr>
                                      <p:tavLst>
                                        <p:tav tm="0">
                                          <p:val>
                                            <p:fltVal val="0"/>
                                          </p:val>
                                        </p:tav>
                                        <p:tav tm="100000">
                                          <p:val>
                                            <p:strVal val="#ppt_w"/>
                                          </p:val>
                                        </p:tav>
                                      </p:tavLst>
                                    </p:anim>
                                    <p:anim calcmode="lin" valueType="num">
                                      <p:cBhvr>
                                        <p:cTn id="6" dur="200" fill="hold"/>
                                        <p:tgtEl>
                                          <p:spTgt spid="10"/>
                                        </p:tgtEl>
                                        <p:attrNameLst>
                                          <p:attrName>ppt_h</p:attrName>
                                        </p:attrNameLst>
                                      </p:cBhvr>
                                      <p:tavLst>
                                        <p:tav tm="0">
                                          <p:val>
                                            <p:fltVal val="0"/>
                                          </p:val>
                                        </p:tav>
                                        <p:tav tm="100000">
                                          <p:val>
                                            <p:strVal val="#ppt_h"/>
                                          </p:val>
                                        </p:tav>
                                      </p:tavLst>
                                    </p:anim>
                                    <p:animEffect transition="in" filter="fade">
                                      <p:cBhvr>
                                        <p:cTn id="7" dur="200"/>
                                        <p:tgtEl>
                                          <p:spTgt spid="10"/>
                                        </p:tgtEl>
                                      </p:cBhvr>
                                    </p:animEffect>
                                  </p:childTnLst>
                                </p:cTn>
                              </p:par>
                            </p:childTnLst>
                          </p:cTn>
                        </p:par>
                        <p:par>
                          <p:cTn id="14" fill="hold">
                            <p:stCondLst>
                              <p:cond delay="200"/>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200" fill="hold"/>
                                        <p:tgtEl>
                                          <p:spTgt spid="11"/>
                                        </p:tgtEl>
                                        <p:attrNameLst>
                                          <p:attrName>ppt_w</p:attrName>
                                        </p:attrNameLst>
                                      </p:cBhvr>
                                      <p:tavLst>
                                        <p:tav tm="0">
                                          <p:val>
                                            <p:fltVal val="0"/>
                                          </p:val>
                                        </p:tav>
                                        <p:tav tm="100000">
                                          <p:val>
                                            <p:strVal val="#ppt_w"/>
                                          </p:val>
                                        </p:tav>
                                      </p:tavLst>
                                    </p:anim>
                                    <p:anim calcmode="lin" valueType="num">
                                      <p:cBhvr>
                                        <p:cTn id="12" dur="200" fill="hold"/>
                                        <p:tgtEl>
                                          <p:spTgt spid="11"/>
                                        </p:tgtEl>
                                        <p:attrNameLst>
                                          <p:attrName>ppt_h</p:attrName>
                                        </p:attrNameLst>
                                      </p:cBhvr>
                                      <p:tavLst>
                                        <p:tav tm="0">
                                          <p:val>
                                            <p:fltVal val="0"/>
                                          </p:val>
                                        </p:tav>
                                        <p:tav tm="100000">
                                          <p:val>
                                            <p:strVal val="#ppt_h"/>
                                          </p:val>
                                        </p:tav>
                                      </p:tavLst>
                                    </p:anim>
                                    <p:animEffect transition="in" filter="fade">
                                      <p:cBhvr>
                                        <p:cTn id="13" dur="200"/>
                                        <p:tgtEl>
                                          <p:spTgt spid="11"/>
                                        </p:tgtEl>
                                      </p:cBhvr>
                                    </p:animEffect>
                                  </p:childTnLst>
                                </p:cTn>
                              </p:par>
                            </p:childTnLst>
                          </p:cTn>
                        </p:par>
                        <p:par>
                          <p:cTn id="20" fill="hold">
                            <p:stCondLst>
                              <p:cond delay="400"/>
                            </p:stCondLst>
                            <p:childTnLst>
                              <p:par>
                                <p:cTn id="15" presetID="53" presetClass="entr" presetSubtype="16"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200" fill="hold"/>
                                        <p:tgtEl>
                                          <p:spTgt spid="12"/>
                                        </p:tgtEl>
                                        <p:attrNameLst>
                                          <p:attrName>ppt_w</p:attrName>
                                        </p:attrNameLst>
                                      </p:cBhvr>
                                      <p:tavLst>
                                        <p:tav tm="0">
                                          <p:val>
                                            <p:fltVal val="0"/>
                                          </p:val>
                                        </p:tav>
                                        <p:tav tm="100000">
                                          <p:val>
                                            <p:strVal val="#ppt_w"/>
                                          </p:val>
                                        </p:tav>
                                      </p:tavLst>
                                    </p:anim>
                                    <p:anim calcmode="lin" valueType="num">
                                      <p:cBhvr>
                                        <p:cTn id="18" dur="200" fill="hold"/>
                                        <p:tgtEl>
                                          <p:spTgt spid="12"/>
                                        </p:tgtEl>
                                        <p:attrNameLst>
                                          <p:attrName>ppt_h</p:attrName>
                                        </p:attrNameLst>
                                      </p:cBhvr>
                                      <p:tavLst>
                                        <p:tav tm="0">
                                          <p:val>
                                            <p:fltVal val="0"/>
                                          </p:val>
                                        </p:tav>
                                        <p:tav tm="100000">
                                          <p:val>
                                            <p:strVal val="#ppt_h"/>
                                          </p:val>
                                        </p:tav>
                                      </p:tavLst>
                                    </p:anim>
                                    <p:animEffect transition="in" filter="fade">
                                      <p:cBhvr>
                                        <p:cTn id="19" dur="200"/>
                                        <p:tgtEl>
                                          <p:spTgt spid="12"/>
                                        </p:tgtEl>
                                      </p:cBhvr>
                                    </p:animEffect>
                                  </p:childTnLst>
                                </p:cTn>
                              </p:par>
                            </p:childTnLst>
                          </p:cTn>
                        </p:par>
                        <p:par>
                          <p:cTn id="26" fill="hold">
                            <p:stCondLst>
                              <p:cond delay="600"/>
                            </p:stCondLst>
                            <p:childTnLst>
                              <p:par>
                                <p:cTn id="21" presetID="53" presetClass="entr" presetSubtype="16"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200" fill="hold"/>
                                        <p:tgtEl>
                                          <p:spTgt spid="13"/>
                                        </p:tgtEl>
                                        <p:attrNameLst>
                                          <p:attrName>ppt_w</p:attrName>
                                        </p:attrNameLst>
                                      </p:cBhvr>
                                      <p:tavLst>
                                        <p:tav tm="0">
                                          <p:val>
                                            <p:fltVal val="0"/>
                                          </p:val>
                                        </p:tav>
                                        <p:tav tm="100000">
                                          <p:val>
                                            <p:strVal val="#ppt_w"/>
                                          </p:val>
                                        </p:tav>
                                      </p:tavLst>
                                    </p:anim>
                                    <p:anim calcmode="lin" valueType="num">
                                      <p:cBhvr>
                                        <p:cTn id="24" dur="200" fill="hold"/>
                                        <p:tgtEl>
                                          <p:spTgt spid="13"/>
                                        </p:tgtEl>
                                        <p:attrNameLst>
                                          <p:attrName>ppt_h</p:attrName>
                                        </p:attrNameLst>
                                      </p:cBhvr>
                                      <p:tavLst>
                                        <p:tav tm="0">
                                          <p:val>
                                            <p:fltVal val="0"/>
                                          </p:val>
                                        </p:tav>
                                        <p:tav tm="100000">
                                          <p:val>
                                            <p:strVal val="#ppt_h"/>
                                          </p:val>
                                        </p:tav>
                                      </p:tavLst>
                                    </p:anim>
                                    <p:animEffect transition="in" filter="fade">
                                      <p:cBhvr>
                                        <p:cTn id="25" dur="200"/>
                                        <p:tgtEl>
                                          <p:spTgt spid="13"/>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Adiposo E" descr="Ilustración biomédica (Servier Medical Art, CC BY)"/>
          <p:cNvPicPr>
            <a:picLocks noChangeAspect="1"/>
          </p:cNvPicPr>
          <p:nvPr/>
        </p:nvPicPr>
        <p:blipFill>
          <a:blip r:embed="rId2"/>
          <a:stretch>
            <a:fillRect/>
          </a:stretch>
        </p:blipFill>
        <p:spPr>
          <a:xfrm>
            <a:off x="365760" y="4206240"/>
            <a:ext cx="1645920" cy="1678287"/>
          </a:xfrm>
          <a:prstGeom prst="rect">
            <a:avLst/>
          </a:prstGeom>
        </p:spPr>
      </p:pic>
      <p:pic>
        <p:nvPicPr>
          <p:cNvPr id="8" name="!!Cerebro E" descr="Ilustración biomédica (Servier Medical Art, CC BY)"/>
          <p:cNvPicPr>
            <a:picLocks noChangeAspect="1"/>
          </p:cNvPicPr>
          <p:nvPr/>
        </p:nvPicPr>
        <p:blipFill>
          <a:blip r:embed="rId3"/>
          <a:stretch>
            <a:fillRect/>
          </a:stretch>
        </p:blipFill>
        <p:spPr>
          <a:xfrm>
            <a:off x="4846320" y="914400"/>
            <a:ext cx="4023360" cy="4108464"/>
          </a:xfrm>
          <a:prstGeom prst="rect">
            <a:avLst/>
          </a:prstGeom>
        </p:spPr>
      </p:pic>
      <p:sp>
        <p:nvSpPr>
          <p:cNvPr id="9" name="!!Leptina 0"/>
          <p:cNvSpPr/>
          <p:nvPr/>
        </p:nvSpPr>
        <p:spPr>
          <a:xfrm>
            <a:off x="1737360" y="420624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0" name="!!Leptina 1"/>
          <p:cNvSpPr/>
          <p:nvPr/>
        </p:nvSpPr>
        <p:spPr>
          <a:xfrm>
            <a:off x="2286000" y="402336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1" name="!!Leptina 2"/>
          <p:cNvSpPr/>
          <p:nvPr/>
        </p:nvSpPr>
        <p:spPr>
          <a:xfrm>
            <a:off x="2834640" y="384048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2" name="!!Leptina 3"/>
          <p:cNvSpPr/>
          <p:nvPr/>
        </p:nvSpPr>
        <p:spPr>
          <a:xfrm>
            <a:off x="3383280" y="3657600"/>
            <a:ext cx="502920" cy="384048"/>
          </a:xfrm>
          <a:prstGeom prst="roundRect">
            <a:avLst/>
          </a:prstGeom>
          <a:solidFill>
            <a:srgbClr val="C39BD3"/>
          </a:solidFill>
          <a:ln w="15875" cap="rnd">
            <a:solidFill>
              <a:srgbClr val="5B2C6F"/>
            </a:solidFill>
            <a:round/>
          </a:ln>
        </p:spPr>
        <p:txBody>
          <a:bodyPr wrap="square" lIns="0" tIns="0" rIns="0" bIns="0" anchor="ctr" rtlCol="0">
            <a:noAutofit/>
          </a:bodyPr>
          <a:lstStyle/>
          <a:p>
            <a:pPr algn="ctr">
              <a:spcAft>
                <a:spcPts val="300"/>
              </a:spcAft>
              <a:buNone/>
            </a:pPr>
            <a:r>
              <a:rPr lang="es-AR" sz="850" b="1" dirty="0">
                <a:solidFill>
                  <a:srgbClr val="1E1E1E"/>
                </a:solidFill>
                <a:latin typeface="Fira Sans Condensed"/>
                <a:ea typeface="Fira Sans Condensed"/>
                <a:cs typeface="Fira Sans Condensed"/>
                <a:sym typeface="Fira Sans Condensed"/>
              </a:rPr>
              <a:t>Leptina</a:t>
            </a:r>
            <a:endParaRPr lang="es-AR" sz="850" dirty="0">
              <a:latin typeface="Fira Sans Condensed"/>
            </a:endParaRPr>
          </a:p>
        </p:txBody>
      </p:sp>
      <p:sp>
        <p:nvSpPr>
          <p:cNvPr id="13" name="!!Lupa hipotálamo"/>
          <p:cNvSpPr/>
          <p:nvPr/>
        </p:nvSpPr>
        <p:spPr>
          <a:xfrm>
            <a:off x="6537960" y="3291840"/>
            <a:ext cx="731520" cy="548640"/>
          </a:xfrm>
          <a:prstGeom prst="ellipse">
            <a:avLst/>
          </a:prstGeom>
          <a:noFill/>
          <a:ln w="38100" cap="rnd">
            <a:solidFill>
              <a:srgbClr val="C00000"/>
            </a:solidFill>
            <a:round/>
          </a:ln>
        </p:spPr>
      </p:sp>
      <p:grpSp>
        <p:nvGrpSpPr>
          <p:cNvPr id="14" name="Cuadro Llegada"/>
          <p:cNvGrpSpPr/>
          <p:nvPr/>
        </p:nvGrpSpPr>
        <p:grpSpPr>
          <a:xfrm>
            <a:off x="9052560" y="1097280"/>
            <a:ext cx="2788920" cy="4023360"/>
            <a:chOff x="9052560" y="1097280"/>
            <a:chExt cx="2788920" cy="4023360"/>
          </a:xfrm>
        </p:grpSpPr>
        <p:sp>
          <p:nvSpPr>
            <p:cNvPr id="15" name="Forma 14"/>
            <p:cNvSpPr/>
            <p:nvPr/>
          </p:nvSpPr>
          <p:spPr>
            <a:xfrm>
              <a:off x="9052560" y="1298448"/>
              <a:ext cx="2788920" cy="38221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Acceso por la región de la </a:t>
              </a:r>
              <a:r>
                <a:rPr lang="es-AR" sz="1400" b="1" dirty="0">
                  <a:solidFill>
                    <a:srgbClr val="1E1E1E"/>
                  </a:solidFill>
                  <a:latin typeface="Fira Sans Condensed"/>
                  <a:ea typeface="Fira Sans Condensed"/>
                  <a:cs typeface="Fira Sans Condensed"/>
                  <a:sym typeface="Fira Sans Condensed"/>
                </a:rPr>
                <a:t>eminencia media</a:t>
              </a:r>
              <a:r>
                <a:rPr lang="es-AR" sz="1400" dirty="0">
                  <a:solidFill>
                    <a:srgbClr val="1E1E1E"/>
                  </a:solidFill>
                  <a:latin typeface="Fira Sans Condensed"/>
                  <a:ea typeface="Fira Sans Condensed"/>
                  <a:cs typeface="Fira Sans Condensed"/>
                  <a:sym typeface="Fira Sans Condensed"/>
                </a:rPr>
                <a:t> cercana al </a:t>
              </a:r>
              <a:r>
                <a:rPr lang="es-AR" sz="1400" b="1" dirty="0">
                  <a:solidFill>
                    <a:srgbClr val="1E1E1E"/>
                  </a:solidFill>
                  <a:latin typeface="Fira Sans Condensed"/>
                  <a:ea typeface="Fira Sans Condensed"/>
                  <a:cs typeface="Fira Sans Condensed"/>
                  <a:sym typeface="Fira Sans Condensed"/>
                </a:rPr>
                <a:t>núcleo arcuato</a:t>
              </a:r>
              <a:r>
                <a:rPr lang="es-AR" sz="1400" dirty="0">
                  <a:solidFill>
                    <a:srgbClr val="1E1E1E"/>
                  </a:solidFill>
                  <a:latin typeface="Fira Sans Condensed"/>
                  <a:ea typeface="Fira Sans Condensed"/>
                  <a:cs typeface="Fira Sans Condensed"/>
                  <a:sym typeface="Fira Sans Condensed"/>
                </a:rPr>
                <a:t> y por transporte; alteraciones del </a:t>
              </a:r>
              <a:r>
                <a:rPr lang="es-AR" sz="1400" b="1" dirty="0">
                  <a:solidFill>
                    <a:srgbClr val="1E1E1E"/>
                  </a:solidFill>
                  <a:latin typeface="Fira Sans Condensed"/>
                  <a:ea typeface="Fira Sans Condensed"/>
                  <a:cs typeface="Fira Sans Condensed"/>
                  <a:sym typeface="Fira Sans Condensed"/>
                </a:rPr>
                <a:t>transporte o la señal central</a:t>
              </a:r>
              <a:r>
                <a:rPr lang="es-AR" sz="1400" dirty="0">
                  <a:solidFill>
                    <a:srgbClr val="1E1E1E"/>
                  </a:solidFill>
                  <a:latin typeface="Fira Sans Condensed"/>
                  <a:ea typeface="Fira Sans Condensed"/>
                  <a:cs typeface="Fira Sans Condensed"/>
                  <a:sym typeface="Fira Sans Condensed"/>
                </a:rPr>
                <a:t> contribuyen a la resistencia a la leptina.</a:t>
              </a:r>
              <a:endParaRPr lang="es-AR" sz="1400" dirty="0">
                <a:latin typeface="Fira Sans Condensed"/>
              </a:endParaRPr>
            </a:p>
          </p:txBody>
        </p:sp>
        <p:sp>
          <p:nvSpPr>
            <p:cNvPr id="16" name="Forma 15"/>
            <p:cNvSpPr/>
            <p:nvPr/>
          </p:nvSpPr>
          <p:spPr>
            <a:xfrm>
              <a:off x="9189720" y="1097280"/>
              <a:ext cx="106030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LLEGADA</a:t>
              </a:r>
              <a:endParaRPr lang="es-AR" sz="1400" dirty="0">
                <a:latin typeface="Fira Sans Condensed"/>
              </a:endParaRPr>
            </a:p>
          </p:txBody>
        </p:sp>
      </p:gr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SECUENCIA E · 3 · LA LEPTINA LLEGA AL HIPOTÁLAMO</a:t>
            </a:r>
            <a:endParaRPr lang="es-AR" sz="30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5" fill="hold">
                            <p:stCondLst>
                              <p:cond delay="0"/>
                            </p:stCondLst>
                            <p:childTnLst>
                              <p:par>
                                <p:cTn id="3" presetID="0" presetClass="path" presetSubtype="0" accel="20000" decel="20000" fill="hold" grpId="0" nodeType="clickEffect">
                                  <p:stCondLst>
                                    <p:cond delay="0"/>
                                  </p:stCondLst>
                                  <p:childTnLst>
                                    <p:animMotion origin="layout" path="M 0 0 L 0.4275 -0.1000 E" pathEditMode="relative" ptsTypes="">
                                      <p:cBhvr>
                                        <p:cTn id="4" dur="1600" fill="hold"/>
                                        <p:tgtEl>
                                          <p:spTgt spid="9"/>
                                        </p:tgtEl>
                                        <p:attrNameLst>
                                          <p:attrName>ppt_x</p:attrName>
                                          <p:attrName>ppt_y</p:attrName>
                                        </p:attrNameLst>
                                      </p:cBhvr>
                                      <p:rCtr x="21375" y="-5000"/>
                                    </p:animMotion>
                                  </p:childTnLst>
                                </p:cTn>
                              </p:par>
                            </p:childTnLst>
                          </p:cTn>
                        </p:par>
                        <p:par>
                          <p:cTn id="8" fill="hold">
                            <p:stCondLst>
                              <p:cond delay="200"/>
                            </p:stCondLst>
                            <p:childTnLst>
                              <p:par>
                                <p:cTn id="6" presetID="0" presetClass="path" presetSubtype="0" accel="20000" decel="20000" fill="hold" grpId="0" nodeType="afterEffect">
                                  <p:stCondLst>
                                    <p:cond delay="0"/>
                                  </p:stCondLst>
                                  <p:childTnLst>
                                    <p:animMotion origin="layout" path="M 0 0 L 0.4050 -0.0667 E" pathEditMode="relative" ptsTypes="">
                                      <p:cBhvr>
                                        <p:cTn id="7" dur="1600" fill="hold"/>
                                        <p:tgtEl>
                                          <p:spTgt spid="10"/>
                                        </p:tgtEl>
                                        <p:attrNameLst>
                                          <p:attrName>ppt_x</p:attrName>
                                          <p:attrName>ppt_y</p:attrName>
                                        </p:attrNameLst>
                                      </p:cBhvr>
                                      <p:rCtr x="20250" y="-3333"/>
                                    </p:animMotion>
                                  </p:childTnLst>
                                </p:cTn>
                              </p:par>
                            </p:childTnLst>
                          </p:cTn>
                        </p:par>
                        <p:par>
                          <p:cTn id="11" fill="hold">
                            <p:stCondLst>
                              <p:cond delay="600"/>
                            </p:stCondLst>
                            <p:childTnLst>
                              <p:par>
                                <p:cTn id="9" presetID="0" presetClass="path" presetSubtype="0" accel="20000" decel="20000" fill="hold" grpId="0" nodeType="afterEffect">
                                  <p:stCondLst>
                                    <p:cond delay="0"/>
                                  </p:stCondLst>
                                  <p:childTnLst>
                                    <p:animMotion origin="layout" path="M 0 0 L 0.3825 -0.0333 E" pathEditMode="relative" ptsTypes="">
                                      <p:cBhvr>
                                        <p:cTn id="10" dur="1600" fill="hold"/>
                                        <p:tgtEl>
                                          <p:spTgt spid="11"/>
                                        </p:tgtEl>
                                        <p:attrNameLst>
                                          <p:attrName>ppt_x</p:attrName>
                                          <p:attrName>ppt_y</p:attrName>
                                        </p:attrNameLst>
                                      </p:cBhvr>
                                      <p:rCtr x="19125" y="-1666"/>
                                    </p:animMotion>
                                  </p:childTnLst>
                                </p:cTn>
                              </p:par>
                            </p:childTnLst>
                          </p:cTn>
                        </p:par>
                        <p:par>
                          <p:cTn id="14" fill="hold">
                            <p:stCondLst>
                              <p:cond delay="1200"/>
                            </p:stCondLst>
                            <p:childTnLst>
                              <p:par>
                                <p:cTn id="12" presetID="0" presetClass="path" presetSubtype="0" accel="20000" decel="20000" fill="hold" grpId="0" nodeType="afterEffect">
                                  <p:stCondLst>
                                    <p:cond delay="0"/>
                                  </p:stCondLst>
                                  <p:childTnLst>
                                    <p:animMotion origin="layout" path="M 0 0 L 0.3600 0.0000 E" pathEditMode="relative" ptsTypes="">
                                      <p:cBhvr>
                                        <p:cTn id="13" dur="1600" fill="hold"/>
                                        <p:tgtEl>
                                          <p:spTgt spid="12"/>
                                        </p:tgtEl>
                                        <p:attrNameLst>
                                          <p:attrName>ppt_x</p:attrName>
                                          <p:attrName>ppt_y</p:attrName>
                                        </p:attrNameLst>
                                      </p:cBhvr>
                                      <p:rCtr x="18000" y="0"/>
                                    </p:animMotion>
                                  </p:childTnLst>
                                </p:cTn>
                              </p:par>
                            </p:childTnLst>
                          </p:cTn>
                        </p:par>
                      </p:childTnLst>
                    </p:cTn>
                  </p:par>
                  <p:par>
                    <p:cTn id="22" fill="hold">
                      <p:stCondLst>
                        <p:cond delay="indefinite"/>
                      </p:stCondLst>
                      <p:childTnLst>
                        <p:par>
                          <p:cTn id="21"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Encéfalo sagital"/>
          <p:cNvGrpSpPr/>
          <p:nvPr/>
        </p:nvGrpSpPr>
        <p:grpSpPr>
          <a:xfrm>
            <a:off x="365760" y="960120"/>
            <a:ext cx="6675120" cy="5303520"/>
            <a:chOff x="365760" y="960120"/>
            <a:chExt cx="6675120" cy="5303520"/>
          </a:xfrm>
        </p:grpSpPr>
        <p:sp>
          <p:nvSpPr>
            <p:cNvPr id="7" name="Forma 6"/>
            <p:cNvSpPr/>
            <p:nvPr/>
          </p:nvSpPr>
          <p:spPr>
            <a:xfrm>
              <a:off x="365760" y="960120"/>
              <a:ext cx="6675120" cy="5303520"/>
            </a:xfrm>
            <a:custGeom>
              <a:avLst/>
              <a:gdLst/>
              <a:ahLst/>
              <a:cxnLst/>
              <a:rect l="0" t="0" r="r" b="b"/>
              <a:pathLst>
                <a:path w="1000" h="1000">
                  <a:moveTo>
                    <a:pt x="120" y="520"/>
                  </a:moveTo>
                  <a:cubicBezTo>
                    <a:pt x="106" y="489"/>
                    <a:pt x="94" y="417"/>
                    <a:pt x="100" y="380"/>
                  </a:cubicBezTo>
                  <a:cubicBezTo>
                    <a:pt x="105" y="342"/>
                    <a:pt x="133" y="273"/>
                    <a:pt x="160" y="240"/>
                  </a:cubicBezTo>
                  <a:cubicBezTo>
                    <a:pt x="186" y="206"/>
                    <a:pt x="254" y="150"/>
                    <a:pt x="300" y="130"/>
                  </a:cubicBezTo>
                  <a:cubicBezTo>
                    <a:pt x="345" y="110"/>
                    <a:pt x="446" y="91"/>
                    <a:pt x="500" y="90"/>
                  </a:cubicBezTo>
                  <a:cubicBezTo>
                    <a:pt x="553" y="88"/>
                    <a:pt x="652" y="101"/>
                    <a:pt x="700" y="120"/>
                  </a:cubicBezTo>
                  <a:cubicBezTo>
                    <a:pt x="748" y="138"/>
                    <a:pt x="829" y="192"/>
                    <a:pt x="860" y="230"/>
                  </a:cubicBezTo>
                  <a:cubicBezTo>
                    <a:pt x="890" y="267"/>
                    <a:pt x="924" y="356"/>
                    <a:pt x="930" y="400"/>
                  </a:cubicBezTo>
                  <a:cubicBezTo>
                    <a:pt x="935" y="444"/>
                    <a:pt x="917" y="532"/>
                    <a:pt x="900" y="560"/>
                  </a:cubicBezTo>
                  <a:cubicBezTo>
                    <a:pt x="882" y="588"/>
                    <a:pt x="832" y="606"/>
                    <a:pt x="800" y="610"/>
                  </a:cubicBezTo>
                  <a:cubicBezTo>
                    <a:pt x="768" y="614"/>
                    <a:pt x="692" y="587"/>
                    <a:pt x="660" y="590"/>
                  </a:cubicBezTo>
                  <a:cubicBezTo>
                    <a:pt x="628" y="592"/>
                    <a:pt x="588" y="622"/>
                    <a:pt x="560" y="630"/>
                  </a:cubicBezTo>
                  <a:cubicBezTo>
                    <a:pt x="532" y="638"/>
                    <a:pt x="480" y="648"/>
                    <a:pt x="450" y="650"/>
                  </a:cubicBezTo>
                  <a:cubicBezTo>
                    <a:pt x="419" y="651"/>
                    <a:pt x="363" y="645"/>
                    <a:pt x="330" y="640"/>
                  </a:cubicBezTo>
                  <a:cubicBezTo>
                    <a:pt x="296" y="634"/>
                    <a:pt x="228" y="626"/>
                    <a:pt x="200" y="610"/>
                  </a:cubicBezTo>
                  <a:cubicBezTo>
                    <a:pt x="172" y="594"/>
                    <a:pt x="133" y="550"/>
                    <a:pt x="120" y="520"/>
                  </a:cubicBezTo>
                  <a:close/>
                </a:path>
              </a:pathLst>
            </a:custGeom>
            <a:gradFill rotWithShape="1">
              <a:gsLst>
                <a:gs pos="0">
                  <a:srgbClr val="FDEDEC"/>
                </a:gs>
                <a:gs pos="100000">
                  <a:srgbClr val="F1A7B5"/>
                </a:gs>
              </a:gsLst>
              <a:path path="circle">
                <a:fillToRect l="45000" t="40000" r="55000" b="60000"/>
              </a:path>
            </a:gradFill>
            <a:ln w="25400" cap="rnd">
              <a:solidFill>
                <a:srgbClr val="A93226"/>
              </a:solidFill>
              <a:round/>
            </a:ln>
          </p:spPr>
        </p:sp>
        <p:sp>
          <p:nvSpPr>
            <p:cNvPr id="8" name="Forma 7"/>
            <p:cNvSpPr/>
            <p:nvPr/>
          </p:nvSpPr>
          <p:spPr>
            <a:xfrm>
              <a:off x="365760" y="960120"/>
              <a:ext cx="6675120" cy="5303520"/>
            </a:xfrm>
            <a:custGeom>
              <a:avLst/>
              <a:gdLst/>
              <a:ahLst/>
              <a:cxnLst/>
              <a:rect l="0" t="0" r="r" b="b"/>
              <a:pathLst>
                <a:path w="1000" h="1000" fill="none">
                  <a:moveTo>
                    <a:pt x="300" y="420"/>
                  </a:moveTo>
                  <a:cubicBezTo>
                    <a:pt x="320" y="412"/>
                    <a:pt x="407" y="365"/>
                    <a:pt x="450" y="360"/>
                  </a:cubicBezTo>
                  <a:cubicBezTo>
                    <a:pt x="492" y="354"/>
                    <a:pt x="584" y="368"/>
                    <a:pt x="620" y="380"/>
                  </a:cubicBezTo>
                  <a:cubicBezTo>
                    <a:pt x="656" y="392"/>
                    <a:pt x="706" y="440"/>
                    <a:pt x="720" y="450"/>
                  </a:cubicBezTo>
                </a:path>
              </a:pathLst>
            </a:custGeom>
            <a:noFill/>
            <a:ln w="76200" cap="rnd">
              <a:solidFill>
                <a:srgbClr val="B03A2E"/>
              </a:solidFill>
              <a:round/>
            </a:ln>
          </p:spPr>
        </p:sp>
        <p:sp>
          <p:nvSpPr>
            <p:cNvPr id="9" name="Forma 8"/>
            <p:cNvSpPr/>
            <p:nvPr/>
          </p:nvSpPr>
          <p:spPr>
            <a:xfrm>
              <a:off x="365760" y="960120"/>
              <a:ext cx="6675120" cy="5303520"/>
            </a:xfrm>
            <a:custGeom>
              <a:avLst/>
              <a:gdLst/>
              <a:ahLst/>
              <a:cxnLst/>
              <a:rect l="0" t="0" r="r" b="b"/>
              <a:pathLst>
                <a:path w="1000" h="1000">
                  <a:moveTo>
                    <a:pt x="720" y="610"/>
                  </a:moveTo>
                  <a:cubicBezTo>
                    <a:pt x="736" y="594"/>
                    <a:pt x="796" y="593"/>
                    <a:pt x="820" y="600"/>
                  </a:cubicBezTo>
                  <a:cubicBezTo>
                    <a:pt x="844" y="606"/>
                    <a:pt x="892" y="638"/>
                    <a:pt x="900" y="660"/>
                  </a:cubicBezTo>
                  <a:cubicBezTo>
                    <a:pt x="908" y="681"/>
                    <a:pt x="896" y="742"/>
                    <a:pt x="880" y="760"/>
                  </a:cubicBezTo>
                  <a:cubicBezTo>
                    <a:pt x="864" y="777"/>
                    <a:pt x="804" y="795"/>
                    <a:pt x="780" y="790"/>
                  </a:cubicBezTo>
                  <a:cubicBezTo>
                    <a:pt x="756" y="784"/>
                    <a:pt x="708" y="744"/>
                    <a:pt x="700" y="720"/>
                  </a:cubicBezTo>
                  <a:cubicBezTo>
                    <a:pt x="692" y="696"/>
                    <a:pt x="704" y="626"/>
                    <a:pt x="720" y="610"/>
                  </a:cubicBezTo>
                  <a:close/>
                </a:path>
              </a:pathLst>
            </a:custGeom>
            <a:gradFill rotWithShape="1">
              <a:gsLst>
                <a:gs pos="0">
                  <a:srgbClr val="F5CBA7"/>
                </a:gs>
                <a:gs pos="100000">
                  <a:srgbClr val="DC7633"/>
                </a:gs>
              </a:gsLst>
              <a:path path="circle">
                <a:fillToRect l="45000" t="40000" r="55000" b="60000"/>
              </a:path>
            </a:gradFill>
            <a:ln w="19050" cap="rnd">
              <a:solidFill>
                <a:srgbClr val="A04000"/>
              </a:solidFill>
              <a:round/>
            </a:ln>
          </p:spPr>
        </p:sp>
        <p:sp>
          <p:nvSpPr>
            <p:cNvPr id="10" name="Forma 9"/>
            <p:cNvSpPr/>
            <p:nvPr/>
          </p:nvSpPr>
          <p:spPr>
            <a:xfrm>
              <a:off x="365760" y="960120"/>
              <a:ext cx="6675120" cy="5303520"/>
            </a:xfrm>
            <a:custGeom>
              <a:avLst/>
              <a:gdLst/>
              <a:ahLst/>
              <a:cxnLst/>
              <a:rect l="0" t="0" r="r" b="b"/>
              <a:pathLst>
                <a:path w="1000" h="1000">
                  <a:moveTo>
                    <a:pt x="560" y="600"/>
                  </a:moveTo>
                  <a:cubicBezTo>
                    <a:pt x="568" y="585"/>
                    <a:pt x="640" y="594"/>
                    <a:pt x="650" y="610"/>
                  </a:cubicBezTo>
                  <a:cubicBezTo>
                    <a:pt x="660" y="626"/>
                    <a:pt x="661" y="725"/>
                    <a:pt x="660" y="760"/>
                  </a:cubicBezTo>
                  <a:cubicBezTo>
                    <a:pt x="659" y="795"/>
                    <a:pt x="648" y="940"/>
                    <a:pt x="640" y="960"/>
                  </a:cubicBezTo>
                  <a:cubicBezTo>
                    <a:pt x="632" y="980"/>
                    <a:pt x="587" y="980"/>
                    <a:pt x="580" y="960"/>
                  </a:cubicBezTo>
                  <a:cubicBezTo>
                    <a:pt x="573" y="940"/>
                    <a:pt x="572" y="796"/>
                    <a:pt x="570" y="760"/>
                  </a:cubicBezTo>
                  <a:cubicBezTo>
                    <a:pt x="568" y="724"/>
                    <a:pt x="552" y="615"/>
                    <a:pt x="560" y="600"/>
                  </a:cubicBezTo>
                  <a:close/>
                </a:path>
              </a:pathLst>
            </a:custGeom>
            <a:gradFill rotWithShape="1">
              <a:gsLst>
                <a:gs pos="0">
                  <a:srgbClr val="F5B7B1"/>
                </a:gs>
                <a:gs pos="100000">
                  <a:srgbClr val="E6B0AA"/>
                </a:gs>
              </a:gsLst>
              <a:lin ang="0" scaled="0"/>
            </a:gradFill>
            <a:ln w="19050" cap="rnd">
              <a:solidFill>
                <a:srgbClr val="A93226"/>
              </a:solidFill>
              <a:round/>
            </a:ln>
          </p:spPr>
        </p:sp>
        <p:sp>
          <p:nvSpPr>
            <p:cNvPr id="11" name="Forma 10"/>
            <p:cNvSpPr/>
            <p:nvPr/>
          </p:nvSpPr>
          <p:spPr>
            <a:xfrm>
              <a:off x="3002432" y="4460443"/>
              <a:ext cx="467258" cy="424282"/>
            </a:xfrm>
            <a:prstGeom prst="ellipse">
              <a:avLst/>
            </a:prstGeom>
            <a:solidFill>
              <a:srgbClr val="D7BDE2"/>
            </a:solidFill>
            <a:ln w="15875" cap="rnd">
              <a:solidFill>
                <a:srgbClr val="6C3483"/>
              </a:solidFill>
              <a:round/>
            </a:ln>
          </p:spPr>
        </p:sp>
      </p:grpSp>
      <p:sp>
        <p:nvSpPr>
          <p:cNvPr id="12" name="!!Núcleo PFC"/>
          <p:cNvSpPr/>
          <p:nvPr/>
        </p:nvSpPr>
        <p:spPr>
          <a:xfrm>
            <a:off x="1642262" y="2518258"/>
            <a:ext cx="384048" cy="384048"/>
          </a:xfrm>
          <a:prstGeom prst="ellipse">
            <a:avLst/>
          </a:prstGeom>
          <a:solidFill>
            <a:srgbClr val="5DADE2"/>
          </a:solidFill>
          <a:ln w="19050" cap="rnd">
            <a:solidFill>
              <a:srgbClr val="1E1E1E"/>
            </a:solidFill>
            <a:round/>
          </a:ln>
          <a:effectLst>
            <a:outerShdw blurRad="63500" dist="38100" dir="2700000" algn="tl" rotWithShape="0">
              <a:srgbClr val="000000">
                <a:alpha val="32000"/>
              </a:srgbClr>
            </a:outerShdw>
          </a:effectLst>
        </p:spPr>
      </p:sp>
      <p:sp>
        <p:nvSpPr>
          <p:cNvPr id="13" name="!!Rótulo PFC"/>
          <p:cNvSpPr/>
          <p:nvPr/>
        </p:nvSpPr>
        <p:spPr>
          <a:xfrm>
            <a:off x="2108606" y="2527402"/>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Corteza</a:t>
            </a:r>
            <a:endParaRPr lang="es-AR" sz="1050" dirty="0">
              <a:latin typeface="Fira Sans Condensed"/>
            </a:endParaRPr>
          </a:p>
          <a:p>
            <a:pPr algn="ctr">
              <a:spcAft>
                <a:spcPts val="300"/>
              </a:spcAft>
              <a:buNone/>
            </a:pPr>
            <a:r>
              <a:rPr lang="es-AR" sz="1050" b="1" dirty="0">
                <a:solidFill>
                  <a:srgbClr val="1E1E1E"/>
                </a:solidFill>
                <a:latin typeface="Fira Sans Condensed"/>
                <a:ea typeface="Fira Sans Condensed"/>
                <a:cs typeface="Fira Sans Condensed"/>
                <a:sym typeface="Fira Sans Condensed"/>
              </a:rPr>
              <a:t>prefrontal</a:t>
            </a:r>
            <a:endParaRPr lang="es-AR" sz="1050" dirty="0">
              <a:latin typeface="Fira Sans Condensed"/>
            </a:endParaRPr>
          </a:p>
        </p:txBody>
      </p:sp>
      <p:sp>
        <p:nvSpPr>
          <p:cNvPr id="14" name="!!Núcleo NAc"/>
          <p:cNvSpPr/>
          <p:nvPr/>
        </p:nvSpPr>
        <p:spPr>
          <a:xfrm>
            <a:off x="2376526" y="3419856"/>
            <a:ext cx="384048" cy="384048"/>
          </a:xfrm>
          <a:prstGeom prst="ellipse">
            <a:avLst/>
          </a:prstGeom>
          <a:solidFill>
            <a:srgbClr val="F39C12"/>
          </a:solidFill>
          <a:ln w="19050" cap="rnd">
            <a:solidFill>
              <a:srgbClr val="1E1E1E"/>
            </a:solidFill>
            <a:round/>
          </a:ln>
          <a:effectLst>
            <a:outerShdw blurRad="63500" dist="38100" dir="2700000" algn="tl" rotWithShape="0">
              <a:srgbClr val="000000">
                <a:alpha val="32000"/>
              </a:srgbClr>
            </a:outerShdw>
          </a:effectLst>
        </p:spPr>
      </p:sp>
      <p:sp>
        <p:nvSpPr>
          <p:cNvPr id="15" name="!!Rótulo NAc"/>
          <p:cNvSpPr/>
          <p:nvPr/>
        </p:nvSpPr>
        <p:spPr>
          <a:xfrm>
            <a:off x="694030" y="3429000"/>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 accumbens</a:t>
            </a:r>
            <a:endParaRPr lang="es-AR" sz="1150" dirty="0">
              <a:latin typeface="Fira Sans Condensed"/>
            </a:endParaRPr>
          </a:p>
        </p:txBody>
      </p:sp>
      <p:sp>
        <p:nvSpPr>
          <p:cNvPr id="16" name="!!Núcleo VTA"/>
          <p:cNvSpPr/>
          <p:nvPr/>
        </p:nvSpPr>
        <p:spPr>
          <a:xfrm>
            <a:off x="4178808" y="4268419"/>
            <a:ext cx="384048" cy="384048"/>
          </a:xfrm>
          <a:prstGeom prst="ellipse">
            <a:avLst/>
          </a:prstGeom>
          <a:solidFill>
            <a:srgbClr val="E74C3C"/>
          </a:solidFill>
          <a:ln w="19050" cap="rnd">
            <a:solidFill>
              <a:srgbClr val="1E1E1E"/>
            </a:solidFill>
            <a:round/>
          </a:ln>
          <a:effectLst>
            <a:outerShdw blurRad="63500" dist="38100" dir="2700000" algn="tl" rotWithShape="0">
              <a:srgbClr val="000000">
                <a:alpha val="32000"/>
              </a:srgbClr>
            </a:outerShdw>
          </a:effectLst>
        </p:spPr>
      </p:sp>
      <p:sp>
        <p:nvSpPr>
          <p:cNvPr id="17" name="!!Rótulo VTA"/>
          <p:cNvSpPr/>
          <p:nvPr/>
        </p:nvSpPr>
        <p:spPr>
          <a:xfrm>
            <a:off x="4645152" y="4414723"/>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ATV</a:t>
            </a:r>
            <a:endParaRPr lang="es-AR" sz="1150" dirty="0">
              <a:latin typeface="Fira Sans Condensed"/>
            </a:endParaRPr>
          </a:p>
        </p:txBody>
      </p:sp>
      <p:sp>
        <p:nvSpPr>
          <p:cNvPr id="18" name="!!Núcleo HT"/>
          <p:cNvSpPr/>
          <p:nvPr/>
        </p:nvSpPr>
        <p:spPr>
          <a:xfrm>
            <a:off x="3028493" y="3761842"/>
            <a:ext cx="548640" cy="548640"/>
          </a:xfrm>
          <a:prstGeom prst="ellipse">
            <a:avLst/>
          </a:prstGeom>
          <a:solidFill>
            <a:srgbClr val="FFC000"/>
          </a:solidFill>
          <a:ln w="19050" cap="rnd">
            <a:solidFill>
              <a:srgbClr val="1E1E1E"/>
            </a:solidFill>
            <a:round/>
          </a:ln>
          <a:effectLst>
            <a:outerShdw blurRad="63500" dist="38100" dir="2700000" algn="tl" rotWithShape="0">
              <a:srgbClr val="000000">
                <a:alpha val="32000"/>
              </a:srgbClr>
            </a:outerShdw>
          </a:effectLst>
        </p:spPr>
      </p:sp>
      <p:sp>
        <p:nvSpPr>
          <p:cNvPr id="19" name="!!Rótulo HT"/>
          <p:cNvSpPr/>
          <p:nvPr/>
        </p:nvSpPr>
        <p:spPr>
          <a:xfrm>
            <a:off x="2525573" y="4420210"/>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Hipotálamo</a:t>
            </a:r>
            <a:endParaRPr lang="es-AR" sz="1150" dirty="0">
              <a:latin typeface="Fira Sans Condensed"/>
            </a:endParaRPr>
          </a:p>
        </p:txBody>
      </p:sp>
      <p:sp>
        <p:nvSpPr>
          <p:cNvPr id="20" name="!!Núcleo NTS"/>
          <p:cNvSpPr/>
          <p:nvPr/>
        </p:nvSpPr>
        <p:spPr>
          <a:xfrm>
            <a:off x="4312310" y="5116982"/>
            <a:ext cx="384048" cy="384048"/>
          </a:xfrm>
          <a:prstGeom prst="ellipse">
            <a:avLst/>
          </a:prstGeom>
          <a:solidFill>
            <a:srgbClr val="27AE60"/>
          </a:solidFill>
          <a:ln w="19050" cap="rnd">
            <a:solidFill>
              <a:srgbClr val="1E1E1E"/>
            </a:solidFill>
            <a:round/>
          </a:ln>
          <a:effectLst>
            <a:outerShdw blurRad="63500" dist="38100" dir="2700000" algn="tl" rotWithShape="0">
              <a:srgbClr val="000000">
                <a:alpha val="32000"/>
              </a:srgbClr>
            </a:outerShdw>
          </a:effectLst>
        </p:spPr>
      </p:sp>
      <p:sp>
        <p:nvSpPr>
          <p:cNvPr id="21" name="!!Rótulo NTS"/>
          <p:cNvSpPr/>
          <p:nvPr/>
        </p:nvSpPr>
        <p:spPr>
          <a:xfrm>
            <a:off x="4778654" y="5126126"/>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NTS</a:t>
            </a:r>
            <a:endParaRPr lang="es-AR" sz="1150" dirty="0">
              <a:latin typeface="Fira Sans Condensed"/>
            </a:endParaRPr>
          </a:p>
        </p:txBody>
      </p:sp>
      <p:grpSp>
        <p:nvGrpSpPr>
          <p:cNvPr id="22" name="Cuadro Red, no centro"/>
          <p:cNvGrpSpPr/>
          <p:nvPr/>
        </p:nvGrpSpPr>
        <p:grpSpPr>
          <a:xfrm>
            <a:off x="7269480" y="1051560"/>
            <a:ext cx="4572000" cy="4206240"/>
            <a:chOff x="7269480" y="1051560"/>
            <a:chExt cx="4572000" cy="4206240"/>
          </a:xfrm>
        </p:grpSpPr>
        <p:sp>
          <p:nvSpPr>
            <p:cNvPr id="23" name="Forma 22"/>
            <p:cNvSpPr/>
            <p:nvPr/>
          </p:nvSpPr>
          <p:spPr>
            <a:xfrm>
              <a:off x="7269480" y="1252728"/>
              <a:ext cx="4572000" cy="4005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Hipotálamo</a:t>
              </a:r>
              <a:r>
                <a:rPr lang="es-AR" sz="1450" dirty="0">
                  <a:solidFill>
                    <a:srgbClr val="1E1E1E"/>
                  </a:solidFill>
                  <a:latin typeface="Fira Sans Condensed"/>
                  <a:ea typeface="Fira Sans Condensed"/>
                  <a:cs typeface="Fira Sans Condensed"/>
                  <a:sym typeface="Fira Sans Condensed"/>
                </a:rPr>
                <a:t>: balance energético (ARC, PVN, LHA, VMH, DMH).</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NTS (tronco)</a:t>
              </a:r>
              <a:r>
                <a:rPr lang="es-AR" sz="1450" dirty="0">
                  <a:solidFill>
                    <a:srgbClr val="1E1E1E"/>
                  </a:solidFill>
                  <a:latin typeface="Fira Sans Condensed"/>
                  <a:ea typeface="Fira Sans Condensed"/>
                  <a:cs typeface="Fira Sans Condensed"/>
                  <a:sym typeface="Fira Sans Condensed"/>
                </a:rPr>
                <a:t>: señales vagales digestivas + humorales.</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ATV → núcleo accumbens</a:t>
              </a:r>
              <a:r>
                <a:rPr lang="es-AR" sz="1450" dirty="0">
                  <a:solidFill>
                    <a:srgbClr val="1E1E1E"/>
                  </a:solidFill>
                  <a:latin typeface="Fira Sans Condensed"/>
                  <a:ea typeface="Fira Sans Condensed"/>
                  <a:cs typeface="Fira Sans Condensed"/>
                  <a:sym typeface="Fira Sans Condensed"/>
                </a:rPr>
                <a:t>: dopamina, motivación.</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Corteza prefrontal</a:t>
              </a:r>
              <a:r>
                <a:rPr lang="es-AR" sz="1450" dirty="0">
                  <a:solidFill>
                    <a:srgbClr val="1E1E1E"/>
                  </a:solidFill>
                  <a:latin typeface="Fira Sans Condensed"/>
                  <a:ea typeface="Fira Sans Condensed"/>
                  <a:cs typeface="Fira Sans Condensed"/>
                  <a:sym typeface="Fira Sans Condensed"/>
                </a:rPr>
                <a:t>: decisión y control ejecutivo.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No existe un único «centro del hambre».</a:t>
              </a:r>
              <a:endParaRPr lang="es-AR" sz="1450" dirty="0">
                <a:latin typeface="Fira Sans Condensed"/>
              </a:endParaRPr>
            </a:p>
          </p:txBody>
        </p:sp>
        <p:sp>
          <p:nvSpPr>
            <p:cNvPr id="24" name="Forma 23"/>
            <p:cNvSpPr/>
            <p:nvPr/>
          </p:nvSpPr>
          <p:spPr>
            <a:xfrm>
              <a:off x="7406640" y="1051560"/>
              <a:ext cx="164958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RED, NO CENTRO</a:t>
              </a:r>
              <a:endParaRPr lang="es-AR" sz="1400" dirty="0">
                <a:latin typeface="Fira Sans Condensed"/>
              </a:endParaRPr>
            </a:p>
          </p:txBody>
        </p:sp>
      </p:grpSp>
      <p:sp>
        <p:nvSpPr>
          <p:cNvPr id="25" name="Perla clínica"/>
          <p:cNvSpPr/>
          <p:nvPr/>
        </p:nvSpPr>
        <p:spPr>
          <a:xfrm>
            <a:off x="7269480" y="5440680"/>
            <a:ext cx="4572000" cy="8229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250" dirty="0">
                <a:solidFill>
                  <a:srgbClr val="FFFFFF"/>
                </a:solidFill>
                <a:latin typeface="Fira Sans Condensed"/>
                <a:ea typeface="Fira Sans Condensed"/>
                <a:cs typeface="Fira Sans Condensed"/>
                <a:sym typeface="Fira Sans Condensed"/>
              </a:rPr>
              <a:t>Hipotálamo = balance · tronco = vísceras · mesolímbico = motivación · corteza = decisión</a:t>
            </a:r>
            <a:endParaRPr lang="es-AR" sz="1250" dirty="0">
              <a:latin typeface="Fira Sans Condensed"/>
            </a:endParaRPr>
          </a:p>
        </p:txBody>
      </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SECUENCIA E · 4 · CORTE SAGITAL: CENTROS Y CIRCUITOS</a:t>
            </a:r>
            <a:endParaRPr lang="es-AR" sz="29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8"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18"/>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20"/>
                                        </p:tgtEl>
                                      </p:cBhvr>
                                      <p:by x="112000" y="112000"/>
                                    </p:animScale>
                                  </p:childTnLst>
                                </p:cTn>
                              </p:par>
                            </p:childTnLst>
                          </p:cTn>
                        </p:par>
                        <p:par>
                          <p:cTn id="11" fill="hold">
                            <p:stCondLst>
                              <p:cond delay="600"/>
                            </p:stCondLst>
                            <p:childTnLst>
                              <p:par>
                                <p:cTn id="9" presetID="6" presetClass="emph" presetSubtype="0" fill="hold" grpId="0" nodeType="afterEffect">
                                  <p:stCondLst>
                                    <p:cond delay="0"/>
                                  </p:stCondLst>
                                  <p:childTnLst>
                                    <p:animScale>
                                      <p:cBhvr>
                                        <p:cTn id="10" dur="300" autoRev="1" fill="hold"/>
                                        <p:tgtEl>
                                          <p:spTgt spid="16"/>
                                        </p:tgtEl>
                                      </p:cBhvr>
                                      <p:by x="112000" y="112000"/>
                                    </p:animScale>
                                  </p:childTnLst>
                                </p:cTn>
                              </p:par>
                            </p:childTnLst>
                          </p:cTn>
                        </p:par>
                        <p:par>
                          <p:cTn id="14" fill="hold">
                            <p:stCondLst>
                              <p:cond delay="900"/>
                            </p:stCondLst>
                            <p:childTnLst>
                              <p:par>
                                <p:cTn id="12" presetID="6" presetClass="emph" presetSubtype="0" fill="hold" grpId="0" nodeType="afterEffect">
                                  <p:stCondLst>
                                    <p:cond delay="0"/>
                                  </p:stCondLst>
                                  <p:childTnLst>
                                    <p:animScale>
                                      <p:cBhvr>
                                        <p:cTn id="13" dur="300" autoRev="1" fill="hold"/>
                                        <p:tgtEl>
                                          <p:spTgt spid="14"/>
                                        </p:tgtEl>
                                      </p:cBhvr>
                                      <p:by x="112000" y="112000"/>
                                    </p:animScale>
                                  </p:childTnLst>
                                </p:cTn>
                              </p:par>
                            </p:childTnLst>
                          </p:cTn>
                        </p:par>
                        <p:par>
                          <p:cTn id="17" fill="hold">
                            <p:stCondLst>
                              <p:cond delay="1200"/>
                            </p:stCondLst>
                            <p:childTnLst>
                              <p:par>
                                <p:cTn id="15" presetID="6" presetClass="emph" presetSubtype="0" fill="hold" grpId="0" nodeType="afterEffect">
                                  <p:stCondLst>
                                    <p:cond delay="0"/>
                                  </p:stCondLst>
                                  <p:childTnLst>
                                    <p:animScale>
                                      <p:cBhvr>
                                        <p:cTn id="16" dur="300" autoRev="1" fill="hold"/>
                                        <p:tgtEl>
                                          <p:spTgt spid="12"/>
                                        </p:tgtEl>
                                      </p:cBhvr>
                                      <p:by x="112000" y="112000"/>
                                    </p:animScale>
                                  </p:childTnLst>
                                </p:cTn>
                              </p:par>
                            </p:childTnLst>
                          </p:cTn>
                        </p:par>
                      </p:childTnLst>
                    </p:cTn>
                  </p:par>
                  <p:par>
                    <p:cTn id="23" fill="hold">
                      <p:stCondLst>
                        <p:cond delay="indefinite"/>
                      </p:stCondLst>
                      <p:childTnLst>
                        <p:par>
                          <p:cTn id="22"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childTnLst>
                    </p:cTn>
                  </p:par>
                  <p:par>
                    <p:cTn id="30" fill="hold">
                      <p:stCondLst>
                        <p:cond delay="indefinite"/>
                      </p:stCondLst>
                      <p:childTnLst>
                        <p:par>
                          <p:cTn id="29"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16" grpId="0" animBg="1"/>
      <p:bldP spid="14" grpId="0" animBg="1"/>
      <p:bldP spid="12" grpId="0" animBg="1"/>
      <p:bldP spid="25" grpId="0" animBg="1"/>
    </p:bld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Encéfalo sagital"/>
          <p:cNvGrpSpPr/>
          <p:nvPr/>
        </p:nvGrpSpPr>
        <p:grpSpPr>
          <a:xfrm>
            <a:off x="-13781837" y="-14890090"/>
            <a:ext cx="40050720" cy="31821120"/>
            <a:chOff x="-13781837" y="-14890090"/>
            <a:chExt cx="40050720" cy="31821120"/>
          </a:xfrm>
        </p:grpSpPr>
        <p:sp>
          <p:nvSpPr>
            <p:cNvPr id="7" name="Forma 6"/>
            <p:cNvSpPr/>
            <p:nvPr/>
          </p:nvSpPr>
          <p:spPr>
            <a:xfrm>
              <a:off x="-13781837" y="-14890090"/>
              <a:ext cx="40050720" cy="31821120"/>
            </a:xfrm>
            <a:custGeom>
              <a:avLst/>
              <a:gdLst/>
              <a:ahLst/>
              <a:cxnLst/>
              <a:rect l="0" t="0" r="r" b="b"/>
              <a:pathLst>
                <a:path w="1000" h="1000">
                  <a:moveTo>
                    <a:pt x="120" y="520"/>
                  </a:moveTo>
                  <a:cubicBezTo>
                    <a:pt x="106" y="489"/>
                    <a:pt x="94" y="417"/>
                    <a:pt x="100" y="380"/>
                  </a:cubicBezTo>
                  <a:cubicBezTo>
                    <a:pt x="105" y="342"/>
                    <a:pt x="133" y="273"/>
                    <a:pt x="160" y="240"/>
                  </a:cubicBezTo>
                  <a:cubicBezTo>
                    <a:pt x="186" y="206"/>
                    <a:pt x="254" y="150"/>
                    <a:pt x="300" y="130"/>
                  </a:cubicBezTo>
                  <a:cubicBezTo>
                    <a:pt x="345" y="110"/>
                    <a:pt x="446" y="91"/>
                    <a:pt x="500" y="90"/>
                  </a:cubicBezTo>
                  <a:cubicBezTo>
                    <a:pt x="553" y="88"/>
                    <a:pt x="652" y="101"/>
                    <a:pt x="700" y="120"/>
                  </a:cubicBezTo>
                  <a:cubicBezTo>
                    <a:pt x="748" y="138"/>
                    <a:pt x="829" y="192"/>
                    <a:pt x="860" y="230"/>
                  </a:cubicBezTo>
                  <a:cubicBezTo>
                    <a:pt x="890" y="267"/>
                    <a:pt x="924" y="356"/>
                    <a:pt x="930" y="400"/>
                  </a:cubicBezTo>
                  <a:cubicBezTo>
                    <a:pt x="935" y="444"/>
                    <a:pt x="917" y="532"/>
                    <a:pt x="900" y="560"/>
                  </a:cubicBezTo>
                  <a:cubicBezTo>
                    <a:pt x="882" y="588"/>
                    <a:pt x="832" y="606"/>
                    <a:pt x="800" y="610"/>
                  </a:cubicBezTo>
                  <a:cubicBezTo>
                    <a:pt x="768" y="614"/>
                    <a:pt x="692" y="587"/>
                    <a:pt x="660" y="590"/>
                  </a:cubicBezTo>
                  <a:cubicBezTo>
                    <a:pt x="628" y="592"/>
                    <a:pt x="588" y="622"/>
                    <a:pt x="560" y="630"/>
                  </a:cubicBezTo>
                  <a:cubicBezTo>
                    <a:pt x="532" y="638"/>
                    <a:pt x="480" y="648"/>
                    <a:pt x="450" y="650"/>
                  </a:cubicBezTo>
                  <a:cubicBezTo>
                    <a:pt x="419" y="651"/>
                    <a:pt x="363" y="645"/>
                    <a:pt x="330" y="640"/>
                  </a:cubicBezTo>
                  <a:cubicBezTo>
                    <a:pt x="296" y="634"/>
                    <a:pt x="228" y="626"/>
                    <a:pt x="200" y="610"/>
                  </a:cubicBezTo>
                  <a:cubicBezTo>
                    <a:pt x="172" y="594"/>
                    <a:pt x="133" y="550"/>
                    <a:pt x="120" y="520"/>
                  </a:cubicBezTo>
                  <a:close/>
                </a:path>
              </a:pathLst>
            </a:custGeom>
            <a:gradFill rotWithShape="1">
              <a:gsLst>
                <a:gs pos="0">
                  <a:srgbClr val="FDEDEC"/>
                </a:gs>
                <a:gs pos="100000">
                  <a:srgbClr val="F1A7B5"/>
                </a:gs>
              </a:gsLst>
              <a:path path="circle">
                <a:fillToRect l="45000" t="40000" r="55000" b="60000"/>
              </a:path>
            </a:gradFill>
            <a:ln w="25400" cap="rnd">
              <a:solidFill>
                <a:srgbClr val="A93226"/>
              </a:solidFill>
              <a:round/>
            </a:ln>
          </p:spPr>
        </p:sp>
        <p:sp>
          <p:nvSpPr>
            <p:cNvPr id="8" name="Forma 7"/>
            <p:cNvSpPr/>
            <p:nvPr/>
          </p:nvSpPr>
          <p:spPr>
            <a:xfrm>
              <a:off x="-13781837" y="-14890090"/>
              <a:ext cx="40050720" cy="31821120"/>
            </a:xfrm>
            <a:custGeom>
              <a:avLst/>
              <a:gdLst/>
              <a:ahLst/>
              <a:cxnLst/>
              <a:rect l="0" t="0" r="r" b="b"/>
              <a:pathLst>
                <a:path w="1000" h="1000" fill="none">
                  <a:moveTo>
                    <a:pt x="300" y="420"/>
                  </a:moveTo>
                  <a:cubicBezTo>
                    <a:pt x="320" y="412"/>
                    <a:pt x="407" y="365"/>
                    <a:pt x="450" y="360"/>
                  </a:cubicBezTo>
                  <a:cubicBezTo>
                    <a:pt x="492" y="354"/>
                    <a:pt x="584" y="368"/>
                    <a:pt x="620" y="380"/>
                  </a:cubicBezTo>
                  <a:cubicBezTo>
                    <a:pt x="656" y="392"/>
                    <a:pt x="706" y="440"/>
                    <a:pt x="720" y="450"/>
                  </a:cubicBezTo>
                </a:path>
              </a:pathLst>
            </a:custGeom>
            <a:noFill/>
            <a:ln w="76200" cap="rnd">
              <a:solidFill>
                <a:srgbClr val="B03A2E"/>
              </a:solidFill>
              <a:round/>
            </a:ln>
          </p:spPr>
        </p:sp>
        <p:sp>
          <p:nvSpPr>
            <p:cNvPr id="9" name="Forma 8"/>
            <p:cNvSpPr/>
            <p:nvPr/>
          </p:nvSpPr>
          <p:spPr>
            <a:xfrm>
              <a:off x="-13781837" y="-14890090"/>
              <a:ext cx="40050720" cy="31821120"/>
            </a:xfrm>
            <a:custGeom>
              <a:avLst/>
              <a:gdLst/>
              <a:ahLst/>
              <a:cxnLst/>
              <a:rect l="0" t="0" r="r" b="b"/>
              <a:pathLst>
                <a:path w="1000" h="1000">
                  <a:moveTo>
                    <a:pt x="720" y="610"/>
                  </a:moveTo>
                  <a:cubicBezTo>
                    <a:pt x="736" y="594"/>
                    <a:pt x="796" y="593"/>
                    <a:pt x="820" y="600"/>
                  </a:cubicBezTo>
                  <a:cubicBezTo>
                    <a:pt x="844" y="606"/>
                    <a:pt x="892" y="638"/>
                    <a:pt x="900" y="660"/>
                  </a:cubicBezTo>
                  <a:cubicBezTo>
                    <a:pt x="908" y="681"/>
                    <a:pt x="896" y="742"/>
                    <a:pt x="880" y="760"/>
                  </a:cubicBezTo>
                  <a:cubicBezTo>
                    <a:pt x="864" y="777"/>
                    <a:pt x="804" y="795"/>
                    <a:pt x="780" y="790"/>
                  </a:cubicBezTo>
                  <a:cubicBezTo>
                    <a:pt x="756" y="784"/>
                    <a:pt x="708" y="744"/>
                    <a:pt x="700" y="720"/>
                  </a:cubicBezTo>
                  <a:cubicBezTo>
                    <a:pt x="692" y="696"/>
                    <a:pt x="704" y="626"/>
                    <a:pt x="720" y="610"/>
                  </a:cubicBezTo>
                  <a:close/>
                </a:path>
              </a:pathLst>
            </a:custGeom>
            <a:gradFill rotWithShape="1">
              <a:gsLst>
                <a:gs pos="0">
                  <a:srgbClr val="F5CBA7"/>
                </a:gs>
                <a:gs pos="100000">
                  <a:srgbClr val="DC7633"/>
                </a:gs>
              </a:gsLst>
              <a:path path="circle">
                <a:fillToRect l="45000" t="40000" r="55000" b="60000"/>
              </a:path>
            </a:gradFill>
            <a:ln w="19050" cap="rnd">
              <a:solidFill>
                <a:srgbClr val="A04000"/>
              </a:solidFill>
              <a:round/>
            </a:ln>
          </p:spPr>
        </p:sp>
        <p:sp>
          <p:nvSpPr>
            <p:cNvPr id="10" name="Forma 9"/>
            <p:cNvSpPr/>
            <p:nvPr/>
          </p:nvSpPr>
          <p:spPr>
            <a:xfrm>
              <a:off x="-13781837" y="-14890090"/>
              <a:ext cx="40050720" cy="31821120"/>
            </a:xfrm>
            <a:custGeom>
              <a:avLst/>
              <a:gdLst/>
              <a:ahLst/>
              <a:cxnLst/>
              <a:rect l="0" t="0" r="r" b="b"/>
              <a:pathLst>
                <a:path w="1000" h="1000">
                  <a:moveTo>
                    <a:pt x="560" y="600"/>
                  </a:moveTo>
                  <a:cubicBezTo>
                    <a:pt x="568" y="585"/>
                    <a:pt x="640" y="594"/>
                    <a:pt x="650" y="610"/>
                  </a:cubicBezTo>
                  <a:cubicBezTo>
                    <a:pt x="660" y="626"/>
                    <a:pt x="661" y="725"/>
                    <a:pt x="660" y="760"/>
                  </a:cubicBezTo>
                  <a:cubicBezTo>
                    <a:pt x="659" y="795"/>
                    <a:pt x="648" y="940"/>
                    <a:pt x="640" y="960"/>
                  </a:cubicBezTo>
                  <a:cubicBezTo>
                    <a:pt x="632" y="980"/>
                    <a:pt x="587" y="980"/>
                    <a:pt x="580" y="960"/>
                  </a:cubicBezTo>
                  <a:cubicBezTo>
                    <a:pt x="573" y="940"/>
                    <a:pt x="572" y="796"/>
                    <a:pt x="570" y="760"/>
                  </a:cubicBezTo>
                  <a:cubicBezTo>
                    <a:pt x="568" y="724"/>
                    <a:pt x="552" y="615"/>
                    <a:pt x="560" y="600"/>
                  </a:cubicBezTo>
                  <a:close/>
                </a:path>
              </a:pathLst>
            </a:custGeom>
            <a:gradFill rotWithShape="1">
              <a:gsLst>
                <a:gs pos="0">
                  <a:srgbClr val="F5B7B1"/>
                </a:gs>
                <a:gs pos="100000">
                  <a:srgbClr val="E6B0AA"/>
                </a:gs>
              </a:gsLst>
              <a:lin ang="0" scaled="0"/>
            </a:gradFill>
            <a:ln w="19050" cap="rnd">
              <a:solidFill>
                <a:srgbClr val="A93226"/>
              </a:solidFill>
              <a:round/>
            </a:ln>
          </p:spPr>
        </p:sp>
        <p:sp>
          <p:nvSpPr>
            <p:cNvPr id="11" name="Forma 10"/>
            <p:cNvSpPr/>
            <p:nvPr/>
          </p:nvSpPr>
          <p:spPr>
            <a:xfrm>
              <a:off x="2038198" y="6111850"/>
              <a:ext cx="2803550" cy="2545690"/>
            </a:xfrm>
            <a:prstGeom prst="ellipse">
              <a:avLst/>
            </a:prstGeom>
            <a:solidFill>
              <a:srgbClr val="D7BDE2"/>
            </a:solidFill>
            <a:ln w="15875" cap="rnd">
              <a:solidFill>
                <a:srgbClr val="6C3483"/>
              </a:solidFill>
              <a:round/>
            </a:ln>
          </p:spPr>
        </p:sp>
      </p:grpSp>
      <p:sp>
        <p:nvSpPr>
          <p:cNvPr id="12" name="!!Núcleo PFC"/>
          <p:cNvSpPr/>
          <p:nvPr/>
        </p:nvSpPr>
        <p:spPr>
          <a:xfrm>
            <a:off x="-6122822" y="-5541264"/>
            <a:ext cx="2304288" cy="2304288"/>
          </a:xfrm>
          <a:prstGeom prst="ellipse">
            <a:avLst/>
          </a:prstGeom>
          <a:solidFill>
            <a:srgbClr val="5DADE2"/>
          </a:solidFill>
          <a:ln w="19050" cap="rnd">
            <a:solidFill>
              <a:srgbClr val="1E1E1E"/>
            </a:solidFill>
            <a:round/>
          </a:ln>
          <a:effectLst>
            <a:outerShdw blurRad="63500" dist="38100" dir="2700000" algn="tl" rotWithShape="0">
              <a:srgbClr val="000000">
                <a:alpha val="32000"/>
              </a:srgbClr>
            </a:outerShdw>
          </a:effectLst>
        </p:spPr>
      </p:sp>
      <p:sp>
        <p:nvSpPr>
          <p:cNvPr id="13" name="!!Núcleo NAc"/>
          <p:cNvSpPr/>
          <p:nvPr/>
        </p:nvSpPr>
        <p:spPr>
          <a:xfrm>
            <a:off x="-1717243" y="-131674"/>
            <a:ext cx="2304288" cy="2304288"/>
          </a:xfrm>
          <a:prstGeom prst="ellipse">
            <a:avLst/>
          </a:prstGeom>
          <a:solidFill>
            <a:srgbClr val="F39C12"/>
          </a:solidFill>
          <a:ln w="19050" cap="rnd">
            <a:solidFill>
              <a:srgbClr val="1E1E1E"/>
            </a:solidFill>
            <a:round/>
          </a:ln>
          <a:effectLst>
            <a:outerShdw blurRad="63500" dist="38100" dir="2700000" algn="tl" rotWithShape="0">
              <a:srgbClr val="000000">
                <a:alpha val="32000"/>
              </a:srgbClr>
            </a:outerShdw>
          </a:effectLst>
        </p:spPr>
      </p:sp>
      <p:sp>
        <p:nvSpPr>
          <p:cNvPr id="14" name="!!Núcleo VTA"/>
          <p:cNvSpPr/>
          <p:nvPr/>
        </p:nvSpPr>
        <p:spPr>
          <a:xfrm>
            <a:off x="9096451" y="4959706"/>
            <a:ext cx="2304288" cy="2304288"/>
          </a:xfrm>
          <a:prstGeom prst="ellipse">
            <a:avLst/>
          </a:prstGeom>
          <a:solidFill>
            <a:srgbClr val="E74C3C"/>
          </a:solidFill>
          <a:ln w="19050" cap="rnd">
            <a:solidFill>
              <a:srgbClr val="1E1E1E"/>
            </a:solidFill>
            <a:round/>
          </a:ln>
          <a:effectLst>
            <a:outerShdw blurRad="63500" dist="38100" dir="2700000" algn="tl" rotWithShape="0">
              <a:srgbClr val="000000">
                <a:alpha val="32000"/>
              </a:srgbClr>
            </a:outerShdw>
          </a:effectLst>
        </p:spPr>
      </p:sp>
      <p:sp>
        <p:nvSpPr>
          <p:cNvPr id="15" name="!!Núcleo HT"/>
          <p:cNvSpPr/>
          <p:nvPr/>
        </p:nvSpPr>
        <p:spPr>
          <a:xfrm>
            <a:off x="2194560" y="1920240"/>
            <a:ext cx="3291840" cy="3291840"/>
          </a:xfrm>
          <a:prstGeom prst="ellipse">
            <a:avLst/>
          </a:prstGeom>
          <a:solidFill>
            <a:srgbClr val="FFC000"/>
          </a:solidFill>
          <a:ln w="19050" cap="rnd">
            <a:solidFill>
              <a:srgbClr val="1E1E1E"/>
            </a:solidFill>
            <a:round/>
          </a:ln>
          <a:effectLst>
            <a:outerShdw blurRad="63500" dist="38100" dir="2700000" algn="tl" rotWithShape="0">
              <a:srgbClr val="000000">
                <a:alpha val="32000"/>
              </a:srgbClr>
            </a:outerShdw>
          </a:effectLst>
        </p:spPr>
      </p:sp>
      <p:sp>
        <p:nvSpPr>
          <p:cNvPr id="16" name="!!Núcleo NTS"/>
          <p:cNvSpPr/>
          <p:nvPr/>
        </p:nvSpPr>
        <p:spPr>
          <a:xfrm>
            <a:off x="9897466" y="10051085"/>
            <a:ext cx="2304288" cy="2304288"/>
          </a:xfrm>
          <a:prstGeom prst="ellipse">
            <a:avLst/>
          </a:prstGeom>
          <a:solidFill>
            <a:srgbClr val="27AE60"/>
          </a:solidFill>
          <a:ln w="19050" cap="rnd">
            <a:solidFill>
              <a:srgbClr val="1E1E1E"/>
            </a:solidFill>
            <a:round/>
          </a:ln>
          <a:effectLst>
            <a:outerShdw blurRad="63500" dist="38100" dir="2700000" algn="tl" rotWithShape="0">
              <a:srgbClr val="000000">
                <a:alpha val="32000"/>
              </a:srgbClr>
            </a:outerShdw>
          </a:effectLst>
        </p:spPr>
      </p:sp>
      <p:sp>
        <p:nvSpPr>
          <p:cNvPr id="17" name="!!Núcleo Hipotálamo ampliado"/>
          <p:cNvSpPr/>
          <p:nvPr/>
        </p:nvSpPr>
        <p:spPr>
          <a:xfrm>
            <a:off x="365760" y="1005840"/>
            <a:ext cx="6949440" cy="5257800"/>
          </a:xfrm>
          <a:prstGeom prst="roundRect">
            <a:avLst>
              <a:gd name="adj" fmla="val 8000"/>
            </a:avLst>
          </a:prstGeom>
          <a:gradFill rotWithShape="1">
            <a:gsLst>
              <a:gs pos="0">
                <a:srgbClr val="FDF2E9"/>
              </a:gs>
              <a:gs pos="100000">
                <a:srgbClr val="F5CBA7"/>
              </a:gs>
            </a:gsLst>
            <a:path path="circle">
              <a:fillToRect l="50000" t="50000" r="50000" b="50000"/>
            </a:path>
          </a:gradFill>
          <a:ln w="25400" cap="rnd">
            <a:solidFill>
              <a:srgbClr val="A04000"/>
            </a:solidFill>
            <a:round/>
          </a:ln>
          <a:effectLst>
            <a:outerShdw blurRad="63500" dist="38100" dir="2700000" algn="tl" rotWithShape="0">
              <a:srgbClr val="000000">
                <a:alpha val="32000"/>
              </a:srgbClr>
            </a:outerShdw>
          </a:effectLst>
        </p:spPr>
      </p:sp>
      <p:sp>
        <p:nvSpPr>
          <p:cNvPr id="18" name="!!Eminencia media"/>
          <p:cNvSpPr/>
          <p:nvPr/>
        </p:nvSpPr>
        <p:spPr>
          <a:xfrm>
            <a:off x="365760" y="5257800"/>
            <a:ext cx="6949440" cy="1005840"/>
          </a:xfrm>
          <a:prstGeom prst="rect">
            <a:avLst/>
          </a:prstGeom>
          <a:gradFill rotWithShape="1">
            <a:gsLst>
              <a:gs pos="0">
                <a:srgbClr val="D6EAF8"/>
              </a:gs>
              <a:gs pos="100000">
                <a:srgbClr val="AED6F1"/>
              </a:gs>
            </a:gsLst>
            <a:lin ang="5400000" scaled="0"/>
          </a:gra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Eminencia media · capilares fenestrados</a:t>
            </a:r>
            <a:endParaRPr lang="es-AR" sz="1200" dirty="0">
              <a:latin typeface="Fira Sans Condensed"/>
            </a:endParaRPr>
          </a:p>
        </p:txBody>
      </p:sp>
      <p:sp>
        <p:nvSpPr>
          <p:cNvPr id="19" name="!!Tercer ventrículo"/>
          <p:cNvSpPr/>
          <p:nvPr/>
        </p:nvSpPr>
        <p:spPr>
          <a:xfrm>
            <a:off x="3520440" y="1005840"/>
            <a:ext cx="640080" cy="4251960"/>
          </a:xfrm>
          <a:prstGeom prst="rect">
            <a:avLst/>
          </a:prstGeom>
          <a:gradFill rotWithShape="1">
            <a:gsLst>
              <a:gs pos="0">
                <a:srgbClr val="D6EAF8"/>
              </a:gs>
              <a:gs pos="100000">
                <a:srgbClr val="EBF5FB"/>
              </a:gs>
            </a:gsLst>
            <a:lin ang="0" scaled="0"/>
          </a:gradFill>
          <a:ln>
            <a:noFill/>
          </a:ln>
        </p:spPr>
        <p:txBody>
          <a:bodyPr wrap="square" lIns="73152" tIns="45720" rIns="73152" bIns="4572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3.er</a:t>
            </a:r>
            <a:endParaRPr lang="es-AR" sz="1000" dirty="0">
              <a:latin typeface="Fira Sans Condensed"/>
            </a:endParaRPr>
          </a:p>
          <a:p>
            <a:pPr algn="ctr">
              <a:spcAft>
                <a:spcPts val="300"/>
              </a:spcAft>
              <a:buNone/>
            </a:pPr>
            <a:r>
              <a:rPr lang="es-AR" sz="1000" b="1" dirty="0">
                <a:solidFill>
                  <a:srgbClr val="1F618D"/>
                </a:solidFill>
                <a:latin typeface="Fira Sans Condensed"/>
                <a:ea typeface="Fira Sans Condensed"/>
                <a:cs typeface="Fira Sans Condensed"/>
                <a:sym typeface="Fira Sans Condensed"/>
              </a:rPr>
              <a:t>ventrículo</a:t>
            </a:r>
            <a:endParaRPr lang="es-AR" sz="1000" dirty="0">
              <a:latin typeface="Fira Sans Condensed"/>
            </a:endParaRPr>
          </a:p>
        </p:txBody>
      </p:sp>
      <p:sp>
        <p:nvSpPr>
          <p:cNvPr id="20" name="!!Rótulo ARC"/>
          <p:cNvSpPr txBox="1"/>
          <p:nvPr/>
        </p:nvSpPr>
        <p:spPr>
          <a:xfrm>
            <a:off x="502920" y="4160520"/>
            <a:ext cx="2743200" cy="32004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NÚCLEO ARCUATO</a:t>
            </a:r>
            <a:endParaRPr lang="es-AR" sz="1300" dirty="0">
              <a:latin typeface="Fira Sans Condensed"/>
            </a:endParaRPr>
          </a:p>
        </p:txBody>
      </p:sp>
      <p:sp>
        <p:nvSpPr>
          <p:cNvPr id="21" name="!!Neurona POMC"/>
          <p:cNvSpPr/>
          <p:nvPr/>
        </p:nvSpPr>
        <p:spPr>
          <a:xfrm>
            <a:off x="640080" y="2971800"/>
            <a:ext cx="1234440" cy="1097280"/>
          </a:xfrm>
          <a:prstGeom prst="ellipse">
            <a:avLst/>
          </a:prstGeom>
          <a:gradFill rotWithShape="1">
            <a:gsLst>
              <a:gs pos="0">
                <a:srgbClr val="9AE6BA"/>
              </a:gs>
              <a:gs pos="55000">
                <a:srgbClr val="58D68D"/>
              </a:gs>
              <a:gs pos="100000">
                <a:srgbClr val="3D9562"/>
              </a:gs>
            </a:gsLst>
            <a:path path="circle">
              <a:fillToRect l="32000" t="28000" r="68000" b="72000"/>
            </a:path>
          </a:gradFill>
          <a:ln w="15875" cap="rnd">
            <a:solidFill>
              <a:srgbClr val="1D8348"/>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POMC</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CART</a:t>
            </a:r>
            <a:endParaRPr lang="es-AR" sz="1300" dirty="0">
              <a:latin typeface="Fira Sans Condensed"/>
            </a:endParaRPr>
          </a:p>
        </p:txBody>
      </p:sp>
      <p:sp>
        <p:nvSpPr>
          <p:cNvPr id="22" name="!!Neurona AgRP"/>
          <p:cNvSpPr/>
          <p:nvPr/>
        </p:nvSpPr>
        <p:spPr>
          <a:xfrm>
            <a:off x="2103120" y="3291840"/>
            <a:ext cx="1234440" cy="1097280"/>
          </a:xfrm>
          <a:prstGeom prst="ellipse">
            <a:avLst/>
          </a:prstGeom>
          <a:gradFill rotWithShape="1">
            <a:gsLst>
              <a:gs pos="0">
                <a:srgbClr val="F3A9A1"/>
              </a:gs>
              <a:gs pos="55000">
                <a:srgbClr val="EC7063"/>
              </a:gs>
              <a:gs pos="100000">
                <a:srgbClr val="A54E45"/>
              </a:gs>
            </a:gsLst>
            <a:path path="circle">
              <a:fillToRect l="32000" t="28000" r="68000" b="72000"/>
            </a:path>
          </a:gradFill>
          <a:ln w="15875" cap="rnd">
            <a:solidFill>
              <a:srgbClr val="922B21"/>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AgRP</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NPY</a:t>
            </a:r>
            <a:endParaRPr lang="es-AR" sz="1300" dirty="0">
              <a:latin typeface="Fira Sans Condensed"/>
            </a:endParaRPr>
          </a:p>
        </p:txBody>
      </p:sp>
      <p:sp>
        <p:nvSpPr>
          <p:cNvPr id="23" name="!!Neurona PVN"/>
          <p:cNvSpPr/>
          <p:nvPr/>
        </p:nvSpPr>
        <p:spPr>
          <a:xfrm>
            <a:off x="4480560" y="1325880"/>
            <a:ext cx="1600200" cy="1280160"/>
          </a:xfrm>
          <a:prstGeom prst="ellipse">
            <a:avLst/>
          </a:prstGeom>
          <a:gradFill rotWithShape="1">
            <a:gsLst>
              <a:gs pos="0">
                <a:srgbClr val="9DCDED"/>
              </a:gs>
              <a:gs pos="55000">
                <a:srgbClr val="5DADE2"/>
              </a:gs>
              <a:gs pos="100000">
                <a:srgbClr val="41799E"/>
              </a:gs>
            </a:gsLst>
            <a:path path="circle">
              <a:fillToRect l="32000" t="28000" r="68000" b="72000"/>
            </a:path>
          </a:gradFill>
          <a:ln w="19050" cap="rnd">
            <a:solidFill>
              <a:srgbClr val="1F618D"/>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PVN</a:t>
            </a:r>
            <a:endParaRPr lang="es-AR" sz="1400" dirty="0">
              <a:latin typeface="Fira Sans Condensed"/>
            </a:endParaRPr>
          </a:p>
          <a:p>
            <a:pPr algn="ctr">
              <a:spcAft>
                <a:spcPts val="300"/>
              </a:spcAft>
              <a:buNone/>
            </a:pPr>
            <a:r>
              <a:rPr lang="es-AR" sz="1400" b="1" dirty="0">
                <a:solidFill>
                  <a:srgbClr val="1E1E1E"/>
                </a:solidFill>
                <a:latin typeface="Fira Sans Condensed"/>
                <a:ea typeface="Fira Sans Condensed"/>
                <a:cs typeface="Fira Sans Condensed"/>
                <a:sym typeface="Fira Sans Condensed"/>
              </a:rPr>
              <a:t>MC4R</a:t>
            </a:r>
            <a:endParaRPr lang="es-AR" sz="1400" dirty="0">
              <a:latin typeface="Fira Sans Condensed"/>
            </a:endParaRPr>
          </a:p>
        </p:txBody>
      </p:sp>
      <p:sp>
        <p:nvSpPr>
          <p:cNvPr id="24" name="!!Axón POMC"/>
          <p:cNvSpPr/>
          <p:nvPr/>
        </p:nvSpPr>
        <p:spPr>
          <a:xfrm>
            <a:off x="1463040" y="2057400"/>
            <a:ext cx="2971800" cy="868680"/>
          </a:xfrm>
          <a:custGeom>
            <a:avLst/>
            <a:gdLst/>
            <a:ahLst/>
            <a:cxnLst/>
            <a:rect l="0" t="0" r="r" b="b"/>
            <a:pathLst>
              <a:path w="3249" h="950" fill="none">
                <a:moveTo>
                  <a:pt x="0" y="950"/>
                </a:moveTo>
                <a:lnTo>
                  <a:pt x="3249" y="0"/>
                </a:lnTo>
              </a:path>
            </a:pathLst>
          </a:custGeom>
          <a:noFill/>
          <a:ln w="19050" cap="rnd">
            <a:solidFill>
              <a:srgbClr val="7F8C8D"/>
            </a:solidFill>
            <a:round/>
            <a:tailEnd type="triangle" w="med" len="med"/>
          </a:ln>
        </p:spPr>
      </p:sp>
      <p:sp>
        <p:nvSpPr>
          <p:cNvPr id="25" name="!!Axón AgRP"/>
          <p:cNvSpPr/>
          <p:nvPr/>
        </p:nvSpPr>
        <p:spPr>
          <a:xfrm>
            <a:off x="3017520" y="2514600"/>
            <a:ext cx="1508760" cy="731520"/>
          </a:xfrm>
          <a:custGeom>
            <a:avLst/>
            <a:gdLst/>
            <a:ahLst/>
            <a:cxnLst/>
            <a:rect l="0" t="0" r="r" b="b"/>
            <a:pathLst>
              <a:path w="1650" h="799" fill="none">
                <a:moveTo>
                  <a:pt x="0" y="799"/>
                </a:moveTo>
                <a:lnTo>
                  <a:pt x="1650" y="0"/>
                </a:lnTo>
              </a:path>
            </a:pathLst>
          </a:custGeom>
          <a:noFill/>
          <a:ln w="19050" cap="rnd">
            <a:solidFill>
              <a:srgbClr val="7F8C8D"/>
            </a:solidFill>
            <a:round/>
            <a:tailEnd type="triangle" w="med" len="med"/>
          </a:ln>
        </p:spPr>
      </p:sp>
      <p:grpSp>
        <p:nvGrpSpPr>
          <p:cNvPr id="26" name="!!GABA a POMC"/>
          <p:cNvGrpSpPr/>
          <p:nvPr/>
        </p:nvGrpSpPr>
        <p:grpSpPr>
          <a:xfrm>
            <a:off x="1837164" y="3518490"/>
            <a:ext cx="265956" cy="186780"/>
            <a:chOff x="1837164" y="3518490"/>
            <a:chExt cx="265956" cy="186780"/>
          </a:xfrm>
        </p:grpSpPr>
        <p:sp>
          <p:nvSpPr>
            <p:cNvPr id="27" name="Flecha 26_2"/>
            <p:cNvSpPr/>
            <p:nvPr/>
          </p:nvSpPr>
          <p:spPr>
            <a:xfrm>
              <a:off x="1874520" y="3611880"/>
              <a:ext cx="228600" cy="91440"/>
            </a:xfrm>
            <a:custGeom>
              <a:avLst/>
              <a:gdLst/>
              <a:ahLst/>
              <a:cxnLst/>
              <a:rect l="0" t="0" r="r" b="b"/>
              <a:pathLst>
                <a:path w="250" h="99" fill="none">
                  <a:moveTo>
                    <a:pt x="250" y="99"/>
                  </a:moveTo>
                  <a:lnTo>
                    <a:pt x="0" y="0"/>
                  </a:lnTo>
                </a:path>
              </a:pathLst>
            </a:custGeom>
            <a:noFill/>
            <a:ln w="19050" cap="rnd">
              <a:solidFill>
                <a:srgbClr val="7F8C8D"/>
              </a:solidFill>
              <a:round/>
            </a:ln>
          </p:spPr>
        </p:sp>
        <p:sp>
          <p:nvSpPr>
            <p:cNvPr id="28" name="Flecha 28_2"/>
            <p:cNvSpPr/>
            <p:nvPr/>
          </p:nvSpPr>
          <p:spPr>
            <a:xfrm>
              <a:off x="1837164" y="3518490"/>
              <a:ext cx="74712" cy="186780"/>
            </a:xfrm>
            <a:custGeom>
              <a:avLst/>
              <a:gdLst/>
              <a:ahLst/>
              <a:cxnLst/>
              <a:rect l="0" t="0" r="r" b="b"/>
              <a:pathLst>
                <a:path w="81" h="204" fill="none">
                  <a:moveTo>
                    <a:pt x="0" y="204"/>
                  </a:moveTo>
                  <a:lnTo>
                    <a:pt x="81" y="0"/>
                  </a:lnTo>
                </a:path>
              </a:pathLst>
            </a:custGeom>
            <a:noFill/>
            <a:ln w="30480" cap="rnd">
              <a:solidFill>
                <a:srgbClr val="7F8C8D"/>
              </a:solidFill>
              <a:round/>
            </a:ln>
          </p:spPr>
        </p:sp>
      </p:grpSp>
      <p:sp>
        <p:nvSpPr>
          <p:cNvPr id="29" name="!!Salida ARC"/>
          <p:cNvSpPr/>
          <p:nvPr/>
        </p:nvSpPr>
        <p:spPr>
          <a:xfrm>
            <a:off x="4297680" y="3108960"/>
            <a:ext cx="2743200" cy="914400"/>
          </a:xfrm>
          <a:prstGeom prst="rect">
            <a:avLst/>
          </a:prstGeom>
          <a:solidFill>
            <a:srgbClr val="FFFFFF"/>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500" b="1" dirty="0">
                <a:solidFill>
                  <a:srgbClr val="1E1E1E"/>
                </a:solidFill>
                <a:latin typeface="Fira Sans Condensed"/>
                <a:ea typeface="Fira Sans Condensed"/>
                <a:cs typeface="Fira Sans Condensed"/>
                <a:sym typeface="Fira Sans Condensed"/>
              </a:rPr>
              <a:t>Salida melanocortínica</a:t>
            </a:r>
            <a:endParaRPr lang="es-AR" sz="1500" dirty="0">
              <a:latin typeface="Fira Sans Condensed"/>
            </a:endParaRPr>
          </a:p>
        </p:txBody>
      </p:sp>
      <p:grpSp>
        <p:nvGrpSpPr>
          <p:cNvPr id="30" name="Cuadro Dos poblaciones"/>
          <p:cNvGrpSpPr/>
          <p:nvPr/>
        </p:nvGrpSpPr>
        <p:grpSpPr>
          <a:xfrm>
            <a:off x="7589520" y="1051560"/>
            <a:ext cx="4251960" cy="5212080"/>
            <a:chOff x="7589520" y="1051560"/>
            <a:chExt cx="4251960" cy="5212080"/>
          </a:xfrm>
        </p:grpSpPr>
        <p:sp>
          <p:nvSpPr>
            <p:cNvPr id="31" name="Forma 32"/>
            <p:cNvSpPr/>
            <p:nvPr/>
          </p:nvSpPr>
          <p:spPr>
            <a:xfrm>
              <a:off x="7589520" y="1252728"/>
              <a:ext cx="4251960" cy="5010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POMC/CART</a:t>
              </a:r>
              <a:r>
                <a:rPr lang="es-AR" sz="1450" dirty="0">
                  <a:solidFill>
                    <a:srgbClr val="1E1E1E"/>
                  </a:solidFill>
                  <a:latin typeface="Fira Sans Condensed"/>
                  <a:ea typeface="Fira Sans Condensed"/>
                  <a:cs typeface="Fira Sans Condensed"/>
                  <a:sym typeface="Fira Sans Condensed"/>
                </a:rPr>
                <a:t> (anorexígenas) y </a:t>
              </a:r>
              <a:r>
                <a:rPr lang="es-AR" sz="1450" b="1" dirty="0">
                  <a:solidFill>
                    <a:srgbClr val="1E1E1E"/>
                  </a:solidFill>
                  <a:latin typeface="Fira Sans Condensed"/>
                  <a:ea typeface="Fira Sans Condensed"/>
                  <a:cs typeface="Fira Sans Condensed"/>
                  <a:sym typeface="Fira Sans Condensed"/>
                </a:rPr>
                <a:t>AgRP/NPY/GABA</a:t>
              </a:r>
              <a:r>
                <a:rPr lang="es-AR" sz="1450" dirty="0">
                  <a:solidFill>
                    <a:srgbClr val="1E1E1E"/>
                  </a:solidFill>
                  <a:latin typeface="Fira Sans Condensed"/>
                  <a:ea typeface="Fira Sans Condensed"/>
                  <a:cs typeface="Fira Sans Condensed"/>
                  <a:sym typeface="Fira Sans Condensed"/>
                </a:rPr>
                <a:t> (orexígenas) en el ARC.</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Ambas proyectan a neuronas de </a:t>
              </a:r>
              <a:r>
                <a:rPr lang="es-AR" sz="1450" b="1" dirty="0">
                  <a:solidFill>
                    <a:srgbClr val="1E1E1E"/>
                  </a:solidFill>
                  <a:latin typeface="Fira Sans Condensed"/>
                  <a:ea typeface="Fira Sans Condensed"/>
                  <a:cs typeface="Fira Sans Condensed"/>
                  <a:sym typeface="Fira Sans Condensed"/>
                </a:rPr>
                <a:t>segundo orden</a:t>
              </a:r>
              <a:r>
                <a:rPr lang="es-AR" sz="1450" dirty="0">
                  <a:solidFill>
                    <a:srgbClr val="1E1E1E"/>
                  </a:solidFill>
                  <a:latin typeface="Fira Sans Condensed"/>
                  <a:ea typeface="Fira Sans Condensed"/>
                  <a:cs typeface="Fira Sans Condensed"/>
                  <a:sym typeface="Fira Sans Condensed"/>
                </a:rPr>
                <a:t> del </a:t>
              </a:r>
              <a:r>
                <a:rPr lang="es-AR" sz="1450" b="1" dirty="0">
                  <a:solidFill>
                    <a:srgbClr val="1E1E1E"/>
                  </a:solidFill>
                  <a:latin typeface="Fira Sans Condensed"/>
                  <a:ea typeface="Fira Sans Condensed"/>
                  <a:cs typeface="Fira Sans Condensed"/>
                  <a:sym typeface="Fira Sans Condensed"/>
                </a:rPr>
                <a:t>PVN</a:t>
              </a:r>
              <a:r>
                <a:rPr lang="es-AR" sz="1450" dirty="0">
                  <a:solidFill>
                    <a:srgbClr val="1E1E1E"/>
                  </a:solidFill>
                  <a:latin typeface="Fira Sans Condensed"/>
                  <a:ea typeface="Fira Sans Condensed"/>
                  <a:cs typeface="Fira Sans Condensed"/>
                  <a:sym typeface="Fira Sans Condensed"/>
                </a:rPr>
                <a:t>, que expresan </a:t>
              </a:r>
              <a:r>
                <a:rPr lang="es-AR" sz="1450" b="1" dirty="0">
                  <a:solidFill>
                    <a:srgbClr val="1E1E1E"/>
                  </a:solidFill>
                  <a:latin typeface="Fira Sans Condensed"/>
                  <a:ea typeface="Fira Sans Condensed"/>
                  <a:cs typeface="Fira Sans Condensed"/>
                  <a:sym typeface="Fira Sans Condensed"/>
                </a:rPr>
                <a:t>MC4R</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Leptina e insulina </a:t>
              </a:r>
              <a:r>
                <a:rPr lang="es-AR" sz="1450" b="1" dirty="0">
                  <a:solidFill>
                    <a:srgbClr val="1E1E1E"/>
                  </a:solidFill>
                  <a:latin typeface="Fira Sans Condensed"/>
                  <a:ea typeface="Fira Sans Condensed"/>
                  <a:cs typeface="Fira Sans Condensed"/>
                  <a:sym typeface="Fira Sans Condensed"/>
                </a:rPr>
                <a:t>estimulan POMC</a:t>
              </a:r>
              <a:r>
                <a:rPr lang="es-AR" sz="1450" dirty="0">
                  <a:solidFill>
                    <a:srgbClr val="1E1E1E"/>
                  </a:solidFill>
                  <a:latin typeface="Fira Sans Condensed"/>
                  <a:ea typeface="Fira Sans Condensed"/>
                  <a:cs typeface="Fira Sans Condensed"/>
                  <a:sym typeface="Fira Sans Condensed"/>
                </a:rPr>
                <a:t> e </a:t>
              </a:r>
              <a:r>
                <a:rPr lang="es-AR" sz="1450" b="1" dirty="0">
                  <a:solidFill>
                    <a:srgbClr val="1E1E1E"/>
                  </a:solidFill>
                  <a:latin typeface="Fira Sans Condensed"/>
                  <a:ea typeface="Fira Sans Condensed"/>
                  <a:cs typeface="Fira Sans Condensed"/>
                  <a:sym typeface="Fira Sans Condensed"/>
                </a:rPr>
                <a:t>inhiben AgRP</a:t>
              </a:r>
              <a:r>
                <a:rPr lang="es-AR" sz="1450" dirty="0">
                  <a:solidFill>
                    <a:srgbClr val="1E1E1E"/>
                  </a:solidFill>
                  <a:latin typeface="Fira Sans Condensed"/>
                  <a:ea typeface="Fira Sans Condensed"/>
                  <a:cs typeface="Fira Sans Condensed"/>
                  <a:sym typeface="Fira Sans Condensed"/>
                </a:rPr>
                <a:t>; la grelina </a:t>
              </a:r>
              <a:r>
                <a:rPr lang="es-AR" sz="1450" b="1" dirty="0">
                  <a:solidFill>
                    <a:srgbClr val="1E1E1E"/>
                  </a:solidFill>
                  <a:latin typeface="Fira Sans Condensed"/>
                  <a:ea typeface="Fira Sans Condensed"/>
                  <a:cs typeface="Fira Sans Condensed"/>
                  <a:sym typeface="Fira Sans Condensed"/>
                </a:rPr>
                <a:t>activa AgRP</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El equilibrio </a:t>
              </a:r>
              <a:r>
                <a:rPr lang="es-AR" sz="1450" b="1" dirty="0">
                  <a:solidFill>
                    <a:srgbClr val="1E1E1E"/>
                  </a:solidFill>
                  <a:latin typeface="Fira Sans Condensed"/>
                  <a:ea typeface="Fira Sans Condensed"/>
                  <a:cs typeface="Fira Sans Condensed"/>
                  <a:sym typeface="Fira Sans Condensed"/>
                </a:rPr>
                <a:t>no es aritmético</a:t>
              </a:r>
              <a:r>
                <a:rPr lang="es-AR" sz="1450" dirty="0">
                  <a:solidFill>
                    <a:srgbClr val="1E1E1E"/>
                  </a:solidFill>
                  <a:latin typeface="Fira Sans Condensed"/>
                  <a:ea typeface="Fira Sans Condensed"/>
                  <a:cs typeface="Fira Sans Condensed"/>
                  <a:sym typeface="Fira Sans Condensed"/>
                </a:rPr>
                <a:t>: importan tiempo de disparo, plasticidad, aprendizaje y señales del tronco.</a:t>
              </a:r>
              <a:endParaRPr lang="es-AR" sz="1450" dirty="0">
                <a:latin typeface="Fira Sans Condensed"/>
              </a:endParaRPr>
            </a:p>
          </p:txBody>
        </p:sp>
        <p:sp>
          <p:nvSpPr>
            <p:cNvPr id="32" name="Forma 33"/>
            <p:cNvSpPr/>
            <p:nvPr/>
          </p:nvSpPr>
          <p:spPr>
            <a:xfrm>
              <a:off x="7726680" y="1051560"/>
              <a:ext cx="182834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DOS POBLACIONES</a:t>
              </a:r>
              <a:endParaRPr lang="es-AR" sz="1400" dirty="0">
                <a:latin typeface="Fira Sans Condensed"/>
              </a:endParaRPr>
            </a:p>
          </p:txBody>
        </p:sp>
      </p:gr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SECUENCIA E · 5 · NÚCLEO ARCUATO: DOS POBLACIONES</a:t>
            </a:r>
            <a:endParaRPr lang="es-AR" sz="29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2" fill="hold">
                      <p:stCondLst>
                        <p:cond delay="indefinite"/>
                      </p:stCondLst>
                      <p:childTnLst>
                        <p:par>
                          <p:cTn id="5" fill="hold">
                            <p:stCondLst>
                              <p:cond delay="0"/>
                            </p:stCondLst>
                            <p:childTnLst>
                              <p:par>
                                <p:cTn id="3" presetID="6" presetClass="emph" presetSubtype="0" fill="hold" grpId="0" nodeType="clickEffect">
                                  <p:stCondLst>
                                    <p:cond delay="0"/>
                                  </p:stCondLst>
                                  <p:childTnLst>
                                    <p:animScale>
                                      <p:cBhvr>
                                        <p:cTn id="4" dur="300" autoRev="1" fill="hold"/>
                                        <p:tgtEl>
                                          <p:spTgt spid="21"/>
                                        </p:tgtEl>
                                      </p:cBhvr>
                                      <p:by x="112000" y="112000"/>
                                    </p:animScale>
                                  </p:childTnLst>
                                </p:cTn>
                              </p:par>
                            </p:childTnLst>
                          </p:cTn>
                        </p:par>
                        <p:par>
                          <p:cTn id="8" fill="hold">
                            <p:stCondLst>
                              <p:cond delay="300"/>
                            </p:stCondLst>
                            <p:childTnLst>
                              <p:par>
                                <p:cTn id="6" presetID="6" presetClass="emph" presetSubtype="0" fill="hold" grpId="0" nodeType="afterEffect">
                                  <p:stCondLst>
                                    <p:cond delay="0"/>
                                  </p:stCondLst>
                                  <p:childTnLst>
                                    <p:animScale>
                                      <p:cBhvr>
                                        <p:cTn id="7" dur="300" autoRev="1" fill="hold"/>
                                        <p:tgtEl>
                                          <p:spTgt spid="22"/>
                                        </p:tgtEl>
                                      </p:cBhvr>
                                      <p:by x="112000" y="112000"/>
                                    </p:animScale>
                                  </p:childTnLst>
                                </p:cTn>
                              </p:par>
                            </p:childTnLst>
                          </p:cTn>
                        </p:par>
                        <p:par>
                          <p:cTn id="11" fill="hold">
                            <p:stCondLst>
                              <p:cond delay="600"/>
                            </p:stCondLst>
                            <p:childTnLst>
                              <p:par>
                                <p:cTn id="9" presetID="6" presetClass="emph" presetSubtype="0" fill="hold" grpId="0" nodeType="afterEffect">
                                  <p:stCondLst>
                                    <p:cond delay="0"/>
                                  </p:stCondLst>
                                  <p:childTnLst>
                                    <p:animScale>
                                      <p:cBhvr>
                                        <p:cTn id="10" dur="300" autoRev="1" fill="hold"/>
                                        <p:tgtEl>
                                          <p:spTgt spid="23"/>
                                        </p:tgtEl>
                                      </p:cBhvr>
                                      <p:by x="112000" y="112000"/>
                                    </p:animScale>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Núcleo Hipotálamo ampliado"/>
          <p:cNvSpPr/>
          <p:nvPr/>
        </p:nvSpPr>
        <p:spPr>
          <a:xfrm>
            <a:off x="365760" y="1005840"/>
            <a:ext cx="6949440" cy="5257800"/>
          </a:xfrm>
          <a:prstGeom prst="roundRect">
            <a:avLst>
              <a:gd name="adj" fmla="val 8000"/>
            </a:avLst>
          </a:prstGeom>
          <a:gradFill rotWithShape="1">
            <a:gsLst>
              <a:gs pos="0">
                <a:srgbClr val="FDF2E9"/>
              </a:gs>
              <a:gs pos="100000">
                <a:srgbClr val="F5CBA7"/>
              </a:gs>
            </a:gsLst>
            <a:path path="circle">
              <a:fillToRect l="50000" t="50000" r="50000" b="50000"/>
            </a:path>
          </a:gradFill>
          <a:ln w="25400" cap="rnd">
            <a:solidFill>
              <a:srgbClr val="A04000"/>
            </a:solidFill>
            <a:round/>
          </a:ln>
          <a:effectLst>
            <a:outerShdw blurRad="63500" dist="38100" dir="2700000" algn="tl" rotWithShape="0">
              <a:srgbClr val="000000">
                <a:alpha val="32000"/>
              </a:srgbClr>
            </a:outerShdw>
          </a:effectLst>
        </p:spPr>
      </p:sp>
      <p:sp>
        <p:nvSpPr>
          <p:cNvPr id="7" name="!!Eminencia media"/>
          <p:cNvSpPr/>
          <p:nvPr/>
        </p:nvSpPr>
        <p:spPr>
          <a:xfrm>
            <a:off x="365760" y="5257800"/>
            <a:ext cx="6949440" cy="1005840"/>
          </a:xfrm>
          <a:prstGeom prst="rect">
            <a:avLst/>
          </a:prstGeom>
          <a:gradFill rotWithShape="1">
            <a:gsLst>
              <a:gs pos="0">
                <a:srgbClr val="D6EAF8"/>
              </a:gs>
              <a:gs pos="100000">
                <a:srgbClr val="AED6F1"/>
              </a:gs>
            </a:gsLst>
            <a:lin ang="5400000" scaled="0"/>
          </a:gra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Eminencia media · capilares fenestrados</a:t>
            </a:r>
            <a:endParaRPr lang="es-AR" sz="1200" dirty="0">
              <a:latin typeface="Fira Sans Condensed"/>
            </a:endParaRPr>
          </a:p>
        </p:txBody>
      </p:sp>
      <p:sp>
        <p:nvSpPr>
          <p:cNvPr id="8" name="!!Tercer ventrículo"/>
          <p:cNvSpPr/>
          <p:nvPr/>
        </p:nvSpPr>
        <p:spPr>
          <a:xfrm>
            <a:off x="3520440" y="1005840"/>
            <a:ext cx="640080" cy="4251960"/>
          </a:xfrm>
          <a:prstGeom prst="rect">
            <a:avLst/>
          </a:prstGeom>
          <a:gradFill rotWithShape="1">
            <a:gsLst>
              <a:gs pos="0">
                <a:srgbClr val="D6EAF8"/>
              </a:gs>
              <a:gs pos="100000">
                <a:srgbClr val="EBF5FB"/>
              </a:gs>
            </a:gsLst>
            <a:lin ang="0" scaled="0"/>
          </a:gradFill>
          <a:ln>
            <a:noFill/>
          </a:ln>
        </p:spPr>
        <p:txBody>
          <a:bodyPr wrap="square" lIns="73152" tIns="45720" rIns="73152" bIns="4572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3.er</a:t>
            </a:r>
            <a:endParaRPr lang="es-AR" sz="1000" dirty="0">
              <a:latin typeface="Fira Sans Condensed"/>
            </a:endParaRPr>
          </a:p>
          <a:p>
            <a:pPr algn="ctr">
              <a:spcAft>
                <a:spcPts val="300"/>
              </a:spcAft>
              <a:buNone/>
            </a:pPr>
            <a:r>
              <a:rPr lang="es-AR" sz="1000" b="1" dirty="0">
                <a:solidFill>
                  <a:srgbClr val="1F618D"/>
                </a:solidFill>
                <a:latin typeface="Fira Sans Condensed"/>
                <a:ea typeface="Fira Sans Condensed"/>
                <a:cs typeface="Fira Sans Condensed"/>
                <a:sym typeface="Fira Sans Condensed"/>
              </a:rPr>
              <a:t>ventrículo</a:t>
            </a:r>
            <a:endParaRPr lang="es-AR" sz="1000" dirty="0">
              <a:latin typeface="Fira Sans Condensed"/>
            </a:endParaRPr>
          </a:p>
        </p:txBody>
      </p:sp>
      <p:sp>
        <p:nvSpPr>
          <p:cNvPr id="9" name="!!Rótulo ARC"/>
          <p:cNvSpPr txBox="1"/>
          <p:nvPr/>
        </p:nvSpPr>
        <p:spPr>
          <a:xfrm>
            <a:off x="502920" y="4160520"/>
            <a:ext cx="2743200" cy="32004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NÚCLEO ARCUATO</a:t>
            </a:r>
            <a:endParaRPr lang="es-AR" sz="1300" dirty="0">
              <a:latin typeface="Fira Sans Condensed"/>
            </a:endParaRPr>
          </a:p>
        </p:txBody>
      </p:sp>
      <p:sp>
        <p:nvSpPr>
          <p:cNvPr id="10" name="!!Neurona POMC"/>
          <p:cNvSpPr/>
          <p:nvPr/>
        </p:nvSpPr>
        <p:spPr>
          <a:xfrm>
            <a:off x="640080" y="2971800"/>
            <a:ext cx="1234440" cy="1097280"/>
          </a:xfrm>
          <a:prstGeom prst="ellipse">
            <a:avLst/>
          </a:prstGeom>
          <a:gradFill rotWithShape="1">
            <a:gsLst>
              <a:gs pos="0">
                <a:srgbClr val="9AE6BA"/>
              </a:gs>
              <a:gs pos="55000">
                <a:srgbClr val="58D68D"/>
              </a:gs>
              <a:gs pos="100000">
                <a:srgbClr val="3D9562"/>
              </a:gs>
            </a:gsLst>
            <a:path path="circle">
              <a:fillToRect l="32000" t="28000" r="68000" b="72000"/>
            </a:path>
          </a:gradFill>
          <a:ln w="31750" cap="rnd">
            <a:solidFill>
              <a:srgbClr val="1D8348"/>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POMC</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CART</a:t>
            </a:r>
            <a:endParaRPr lang="es-AR" sz="1300" dirty="0">
              <a:latin typeface="Fira Sans Condensed"/>
            </a:endParaRPr>
          </a:p>
        </p:txBody>
      </p:sp>
      <p:sp>
        <p:nvSpPr>
          <p:cNvPr id="11" name="!!Neurona AgRP"/>
          <p:cNvSpPr/>
          <p:nvPr/>
        </p:nvSpPr>
        <p:spPr>
          <a:xfrm>
            <a:off x="2103120" y="3291840"/>
            <a:ext cx="1234440" cy="1097280"/>
          </a:xfrm>
          <a:prstGeom prst="ellipse">
            <a:avLst/>
          </a:prstGeom>
          <a:gradFill rotWithShape="1">
            <a:gsLst>
              <a:gs pos="0">
                <a:srgbClr val="F3A9A1"/>
              </a:gs>
              <a:gs pos="55000">
                <a:srgbClr val="EC7063"/>
              </a:gs>
              <a:gs pos="100000">
                <a:srgbClr val="A54E45"/>
              </a:gs>
            </a:gsLst>
            <a:path path="circle">
              <a:fillToRect l="32000" t="28000" r="68000" b="72000"/>
            </a:path>
          </a:gradFill>
          <a:ln w="15875" cap="rnd">
            <a:solidFill>
              <a:srgbClr val="922B21"/>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AgRP</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NPY</a:t>
            </a:r>
            <a:endParaRPr lang="es-AR" sz="1300" dirty="0">
              <a:latin typeface="Fira Sans Condensed"/>
            </a:endParaRPr>
          </a:p>
        </p:txBody>
      </p:sp>
      <p:sp>
        <p:nvSpPr>
          <p:cNvPr id="12" name="!!Neurona PVN"/>
          <p:cNvSpPr/>
          <p:nvPr/>
        </p:nvSpPr>
        <p:spPr>
          <a:xfrm>
            <a:off x="4480560" y="1325880"/>
            <a:ext cx="1600200" cy="1280160"/>
          </a:xfrm>
          <a:prstGeom prst="ellipse">
            <a:avLst/>
          </a:prstGeom>
          <a:gradFill rotWithShape="1">
            <a:gsLst>
              <a:gs pos="0">
                <a:srgbClr val="9DCDED"/>
              </a:gs>
              <a:gs pos="55000">
                <a:srgbClr val="5DADE2"/>
              </a:gs>
              <a:gs pos="100000">
                <a:srgbClr val="41799E"/>
              </a:gs>
            </a:gsLst>
            <a:path path="circle">
              <a:fillToRect l="32000" t="28000" r="68000" b="72000"/>
            </a:path>
          </a:gradFill>
          <a:ln w="19050" cap="rnd">
            <a:solidFill>
              <a:srgbClr val="1F618D"/>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PVN</a:t>
            </a:r>
            <a:endParaRPr lang="es-AR" sz="1400" dirty="0">
              <a:latin typeface="Fira Sans Condensed"/>
            </a:endParaRPr>
          </a:p>
          <a:p>
            <a:pPr algn="ctr">
              <a:spcAft>
                <a:spcPts val="300"/>
              </a:spcAft>
              <a:buNone/>
            </a:pPr>
            <a:r>
              <a:rPr lang="es-AR" sz="1400" b="1" dirty="0">
                <a:solidFill>
                  <a:srgbClr val="1E1E1E"/>
                </a:solidFill>
                <a:latin typeface="Fira Sans Condensed"/>
                <a:ea typeface="Fira Sans Condensed"/>
                <a:cs typeface="Fira Sans Condensed"/>
                <a:sym typeface="Fira Sans Condensed"/>
              </a:rPr>
              <a:t>MC4R</a:t>
            </a:r>
            <a:endParaRPr lang="es-AR" sz="1400" dirty="0">
              <a:latin typeface="Fira Sans Condensed"/>
            </a:endParaRPr>
          </a:p>
        </p:txBody>
      </p:sp>
      <p:sp>
        <p:nvSpPr>
          <p:cNvPr id="13" name="!!Axón POMC"/>
          <p:cNvSpPr/>
          <p:nvPr/>
        </p:nvSpPr>
        <p:spPr>
          <a:xfrm>
            <a:off x="1463040" y="2057400"/>
            <a:ext cx="2971800" cy="868680"/>
          </a:xfrm>
          <a:custGeom>
            <a:avLst/>
            <a:gdLst/>
            <a:ahLst/>
            <a:cxnLst/>
            <a:rect l="0" t="0" r="r" b="b"/>
            <a:pathLst>
              <a:path w="3249" h="950" fill="none">
                <a:moveTo>
                  <a:pt x="0" y="950"/>
                </a:moveTo>
                <a:lnTo>
                  <a:pt x="3249" y="0"/>
                </a:lnTo>
              </a:path>
            </a:pathLst>
          </a:custGeom>
          <a:noFill/>
          <a:ln w="44450" cap="rnd">
            <a:solidFill>
              <a:srgbClr val="1E8C3A"/>
            </a:solidFill>
            <a:round/>
            <a:tailEnd type="triangle" w="med" len="med"/>
          </a:ln>
        </p:spPr>
      </p:sp>
      <p:sp>
        <p:nvSpPr>
          <p:cNvPr id="14" name="!!Axón AgRP"/>
          <p:cNvSpPr/>
          <p:nvPr/>
        </p:nvSpPr>
        <p:spPr>
          <a:xfrm>
            <a:off x="3017520" y="2514600"/>
            <a:ext cx="1508760" cy="731520"/>
          </a:xfrm>
          <a:custGeom>
            <a:avLst/>
            <a:gdLst/>
            <a:ahLst/>
            <a:cxnLst/>
            <a:rect l="0" t="0" r="r" b="b"/>
            <a:pathLst>
              <a:path w="1650" h="799" fill="none">
                <a:moveTo>
                  <a:pt x="0" y="799"/>
                </a:moveTo>
                <a:lnTo>
                  <a:pt x="1650" y="0"/>
                </a:lnTo>
              </a:path>
            </a:pathLst>
          </a:custGeom>
          <a:noFill/>
          <a:ln w="19050" cap="rnd">
            <a:solidFill>
              <a:srgbClr val="7F8C8D"/>
            </a:solidFill>
            <a:round/>
            <a:tailEnd type="triangle" w="med" len="med"/>
          </a:ln>
        </p:spPr>
      </p:sp>
      <p:grpSp>
        <p:nvGrpSpPr>
          <p:cNvPr id="15" name="!!GABA a POMC"/>
          <p:cNvGrpSpPr/>
          <p:nvPr/>
        </p:nvGrpSpPr>
        <p:grpSpPr>
          <a:xfrm>
            <a:off x="1837164" y="3518490"/>
            <a:ext cx="265956" cy="186780"/>
            <a:chOff x="1837164" y="3518490"/>
            <a:chExt cx="265956" cy="186780"/>
          </a:xfrm>
        </p:grpSpPr>
        <p:sp>
          <p:nvSpPr>
            <p:cNvPr id="16" name="Flecha 15_2"/>
            <p:cNvSpPr/>
            <p:nvPr/>
          </p:nvSpPr>
          <p:spPr>
            <a:xfrm>
              <a:off x="1874520" y="3611880"/>
              <a:ext cx="228600" cy="91440"/>
            </a:xfrm>
            <a:custGeom>
              <a:avLst/>
              <a:gdLst/>
              <a:ahLst/>
              <a:cxnLst/>
              <a:rect l="0" t="0" r="r" b="b"/>
              <a:pathLst>
                <a:path w="250" h="99" fill="none">
                  <a:moveTo>
                    <a:pt x="250" y="99"/>
                  </a:moveTo>
                  <a:lnTo>
                    <a:pt x="0" y="0"/>
                  </a:lnTo>
                </a:path>
              </a:pathLst>
            </a:custGeom>
            <a:noFill/>
            <a:ln w="19050" cap="rnd">
              <a:solidFill>
                <a:srgbClr val="7F8C8D"/>
              </a:solidFill>
              <a:round/>
            </a:ln>
          </p:spPr>
        </p:sp>
        <p:sp>
          <p:nvSpPr>
            <p:cNvPr id="17" name="Flecha 17_2"/>
            <p:cNvSpPr/>
            <p:nvPr/>
          </p:nvSpPr>
          <p:spPr>
            <a:xfrm>
              <a:off x="1837164" y="3518490"/>
              <a:ext cx="74712" cy="186780"/>
            </a:xfrm>
            <a:custGeom>
              <a:avLst/>
              <a:gdLst/>
              <a:ahLst/>
              <a:cxnLst/>
              <a:rect l="0" t="0" r="r" b="b"/>
              <a:pathLst>
                <a:path w="81" h="204" fill="none">
                  <a:moveTo>
                    <a:pt x="0" y="204"/>
                  </a:moveTo>
                  <a:lnTo>
                    <a:pt x="81" y="0"/>
                  </a:lnTo>
                </a:path>
              </a:pathLst>
            </a:custGeom>
            <a:noFill/>
            <a:ln w="30480" cap="rnd">
              <a:solidFill>
                <a:srgbClr val="7F8C8D"/>
              </a:solidFill>
              <a:round/>
            </a:ln>
          </p:spPr>
        </p:sp>
      </p:grpSp>
      <p:sp>
        <p:nvSpPr>
          <p:cNvPr id="18" name="!!Salida ARC"/>
          <p:cNvSpPr/>
          <p:nvPr/>
        </p:nvSpPr>
        <p:spPr>
          <a:xfrm>
            <a:off x="4297680" y="3108960"/>
            <a:ext cx="2743200" cy="914400"/>
          </a:xfrm>
          <a:prstGeom prst="rect">
            <a:avLst/>
          </a:prstGeom>
          <a:solidFill>
            <a:srgbClr val="00A651"/>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500" b="1" dirty="0">
                <a:solidFill>
                  <a:srgbClr val="FFFFFF"/>
                </a:solidFill>
                <a:latin typeface="Fira Sans Condensed"/>
                <a:ea typeface="Fira Sans Condensed"/>
                <a:cs typeface="Fira Sans Condensed"/>
                <a:sym typeface="Fira Sans Condensed"/>
              </a:rPr>
              <a:t>Ingesta ↓ · gasto ↑</a:t>
            </a:r>
            <a:endParaRPr lang="es-AR" sz="1500" dirty="0">
              <a:latin typeface="Fira Sans Condensed"/>
            </a:endParaRPr>
          </a:p>
        </p:txBody>
      </p:sp>
      <p:sp>
        <p:nvSpPr>
          <p:cNvPr id="19" name="Flecha l→r"/>
          <p:cNvSpPr/>
          <p:nvPr/>
        </p:nvSpPr>
        <p:spPr>
          <a:xfrm>
            <a:off x="8806815" y="1591056"/>
            <a:ext cx="605790" cy="155448"/>
          </a:xfrm>
          <a:custGeom>
            <a:avLst/>
            <a:gdLst/>
            <a:ahLst/>
            <a:cxnLst/>
            <a:rect l="0" t="0" r="r" b="b"/>
            <a:pathLst>
              <a:path w="662" h="169" fill="none">
                <a:moveTo>
                  <a:pt x="0" y="0"/>
                </a:moveTo>
                <a:lnTo>
                  <a:pt x="662" y="169"/>
                </a:lnTo>
              </a:path>
            </a:pathLst>
          </a:custGeom>
          <a:noFill/>
          <a:ln w="28575" cap="rnd">
            <a:solidFill>
              <a:srgbClr val="1E1E1E"/>
            </a:solidFill>
            <a:round/>
            <a:tailEnd type="triangle" w="med" len="med"/>
          </a:ln>
        </p:spPr>
      </p:sp>
      <p:sp>
        <p:nvSpPr>
          <p:cNvPr id="20" name="Flecha i→r"/>
          <p:cNvSpPr/>
          <p:nvPr/>
        </p:nvSpPr>
        <p:spPr>
          <a:xfrm>
            <a:off x="10018395" y="1591056"/>
            <a:ext cx="605790" cy="155448"/>
          </a:xfrm>
          <a:custGeom>
            <a:avLst/>
            <a:gdLst/>
            <a:ahLst/>
            <a:cxnLst/>
            <a:rect l="0" t="0" r="r" b="b"/>
            <a:pathLst>
              <a:path w="662" h="169" fill="none">
                <a:moveTo>
                  <a:pt x="662" y="0"/>
                </a:moveTo>
                <a:lnTo>
                  <a:pt x="0" y="169"/>
                </a:lnTo>
              </a:path>
            </a:pathLst>
          </a:custGeom>
          <a:noFill/>
          <a:ln w="28575" cap="rnd">
            <a:solidFill>
              <a:srgbClr val="1E1E1E"/>
            </a:solidFill>
            <a:round/>
            <a:tailEnd type="triangle" w="med" len="med"/>
          </a:ln>
        </p:spPr>
      </p:sp>
      <p:sp>
        <p:nvSpPr>
          <p:cNvPr id="21" name="Flecha r→p"/>
          <p:cNvSpPr/>
          <p:nvPr/>
        </p:nvSpPr>
        <p:spPr>
          <a:xfrm>
            <a:off x="9715500" y="23225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22" name="Flecha p→m"/>
          <p:cNvSpPr/>
          <p:nvPr/>
        </p:nvSpPr>
        <p:spPr>
          <a:xfrm>
            <a:off x="9715500" y="305409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23" name="Flecha m→o"/>
          <p:cNvSpPr/>
          <p:nvPr/>
        </p:nvSpPr>
        <p:spPr>
          <a:xfrm>
            <a:off x="9715500" y="37856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24" name="Nodo l"/>
          <p:cNvSpPr/>
          <p:nvPr/>
        </p:nvSpPr>
        <p:spPr>
          <a:xfrm>
            <a:off x="7589520" y="1051560"/>
            <a:ext cx="182880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Leptina</a:t>
            </a:r>
            <a:endParaRPr lang="es-AR" sz="1500" dirty="0">
              <a:latin typeface="Fira Sans Condensed"/>
            </a:endParaRPr>
          </a:p>
        </p:txBody>
      </p:sp>
      <p:sp>
        <p:nvSpPr>
          <p:cNvPr id="25" name="Nodo i"/>
          <p:cNvSpPr/>
          <p:nvPr/>
        </p:nvSpPr>
        <p:spPr>
          <a:xfrm>
            <a:off x="10012680" y="1051560"/>
            <a:ext cx="182880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Insulina</a:t>
            </a:r>
            <a:endParaRPr lang="es-AR" sz="1500" dirty="0">
              <a:latin typeface="Fira Sans Condensed"/>
            </a:endParaRPr>
          </a:p>
        </p:txBody>
      </p:sp>
      <p:sp>
        <p:nvSpPr>
          <p:cNvPr id="26" name="Nodo r"/>
          <p:cNvSpPr/>
          <p:nvPr/>
        </p:nvSpPr>
        <p:spPr>
          <a:xfrm>
            <a:off x="7589520" y="1783080"/>
            <a:ext cx="425196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LEPRb → JAK2–STAT3 · IRS–PI3K/Akt</a:t>
            </a:r>
            <a:endParaRPr lang="es-AR" sz="1300" dirty="0">
              <a:latin typeface="Fira Sans Condensed"/>
            </a:endParaRPr>
          </a:p>
        </p:txBody>
      </p:sp>
      <p:sp>
        <p:nvSpPr>
          <p:cNvPr id="27" name="Nodo p"/>
          <p:cNvSpPr/>
          <p:nvPr/>
        </p:nvSpPr>
        <p:spPr>
          <a:xfrm>
            <a:off x="7589520" y="2514600"/>
            <a:ext cx="42519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POMC → CONVERTASAS (PC1/3) → α-MSH</a:t>
            </a:r>
            <a:endParaRPr lang="es-AR" sz="1300" dirty="0">
              <a:latin typeface="Fira Sans Condensed"/>
            </a:endParaRPr>
          </a:p>
        </p:txBody>
      </p:sp>
      <p:sp>
        <p:nvSpPr>
          <p:cNvPr id="28" name="Nodo m"/>
          <p:cNvSpPr/>
          <p:nvPr/>
        </p:nvSpPr>
        <p:spPr>
          <a:xfrm>
            <a:off x="7589520" y="3246120"/>
            <a:ext cx="425196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α-MSH activa MC4R (PVN)</a:t>
            </a:r>
            <a:endParaRPr lang="es-AR" sz="1400" dirty="0">
              <a:latin typeface="Fira Sans Condensed"/>
            </a:endParaRPr>
          </a:p>
        </p:txBody>
      </p:sp>
      <p:sp>
        <p:nvSpPr>
          <p:cNvPr id="29" name="Nodo o"/>
          <p:cNvSpPr/>
          <p:nvPr/>
        </p:nvSpPr>
        <p:spPr>
          <a:xfrm>
            <a:off x="7589520" y="3977640"/>
            <a:ext cx="425196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Ingesta ↓ · respuestas autonómicas · gasto ↑</a:t>
            </a:r>
            <a:endParaRPr lang="es-AR" sz="1300" dirty="0">
              <a:latin typeface="Fira Sans Condensed"/>
            </a:endParaRPr>
          </a:p>
        </p:txBody>
      </p:sp>
      <p:sp>
        <p:nvSpPr>
          <p:cNvPr id="30" name="aMSH 0"/>
          <p:cNvSpPr/>
          <p:nvPr/>
        </p:nvSpPr>
        <p:spPr>
          <a:xfrm>
            <a:off x="1737360" y="2788920"/>
            <a:ext cx="502920" cy="292608"/>
          </a:xfrm>
          <a:prstGeom prst="roundRect">
            <a:avLst/>
          </a:prstGeom>
          <a:solidFill>
            <a:srgbClr val="58D68D"/>
          </a:solidFill>
          <a:ln w="12700" cap="rnd">
            <a:solidFill>
              <a:srgbClr val="1D8348"/>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α-MSH</a:t>
            </a:r>
            <a:endParaRPr lang="es-AR" sz="800" dirty="0">
              <a:latin typeface="Fira Sans Condensed"/>
            </a:endParaRPr>
          </a:p>
        </p:txBody>
      </p:sp>
      <p:sp>
        <p:nvSpPr>
          <p:cNvPr id="31" name="aMSH 1"/>
          <p:cNvSpPr/>
          <p:nvPr/>
        </p:nvSpPr>
        <p:spPr>
          <a:xfrm>
            <a:off x="2377440" y="2560320"/>
            <a:ext cx="502920" cy="292608"/>
          </a:xfrm>
          <a:prstGeom prst="roundRect">
            <a:avLst/>
          </a:prstGeom>
          <a:solidFill>
            <a:srgbClr val="58D68D"/>
          </a:solidFill>
          <a:ln w="12700" cap="rnd">
            <a:solidFill>
              <a:srgbClr val="1D8348"/>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α-MSH</a:t>
            </a:r>
            <a:endParaRPr lang="es-AR" sz="800" dirty="0">
              <a:latin typeface="Fira Sans Condensed"/>
            </a:endParaRPr>
          </a:p>
        </p:txBody>
      </p:sp>
      <p:sp>
        <p:nvSpPr>
          <p:cNvPr id="32" name="aMSH 2"/>
          <p:cNvSpPr/>
          <p:nvPr/>
        </p:nvSpPr>
        <p:spPr>
          <a:xfrm>
            <a:off x="3017520" y="2331720"/>
            <a:ext cx="502920" cy="292608"/>
          </a:xfrm>
          <a:prstGeom prst="roundRect">
            <a:avLst/>
          </a:prstGeom>
          <a:solidFill>
            <a:srgbClr val="58D68D"/>
          </a:solidFill>
          <a:ln w="12700" cap="rnd">
            <a:solidFill>
              <a:srgbClr val="1D8348"/>
            </a:solidFill>
            <a:round/>
          </a:ln>
        </p:spPr>
        <p:txBody>
          <a:bodyPr wrap="square" lIns="0" tIns="0" rIns="0" bIns="0" anchor="ctr" rtlCol="0">
            <a:noAutofit/>
          </a:bodyPr>
          <a:lstStyle/>
          <a:p>
            <a:pPr algn="ctr">
              <a:spcAft>
                <a:spcPts val="300"/>
              </a:spcAft>
              <a:buNone/>
            </a:pPr>
            <a:r>
              <a:rPr lang="es-AR" sz="800" b="1" dirty="0">
                <a:solidFill>
                  <a:srgbClr val="1E1E1E"/>
                </a:solidFill>
                <a:latin typeface="Fira Sans Condensed"/>
                <a:ea typeface="Fira Sans Condensed"/>
                <a:cs typeface="Fira Sans Condensed"/>
                <a:sym typeface="Fira Sans Condensed"/>
              </a:rPr>
              <a:t>α-MSH</a:t>
            </a:r>
            <a:endParaRPr lang="es-AR" sz="800" dirty="0">
              <a:latin typeface="Fira Sans Condensed"/>
            </a:endParaRPr>
          </a:p>
        </p:txBody>
      </p:sp>
      <p:sp>
        <p:nvSpPr>
          <p:cNvPr id="33" name="Forma 34"/>
          <p:cNvSpPr/>
          <p:nvPr/>
        </p:nvSpPr>
        <p:spPr>
          <a:xfrm>
            <a:off x="7589520" y="4754880"/>
            <a:ext cx="4251960" cy="15087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Setmelanotida</a:t>
            </a:r>
            <a:r>
              <a:rPr lang="es-AR" sz="1350" dirty="0">
                <a:solidFill>
                  <a:srgbClr val="1E1E1E"/>
                </a:solidFill>
                <a:latin typeface="Fira Sans Condensed"/>
                <a:ea typeface="Fira Sans Condensed"/>
                <a:cs typeface="Fira Sans Condensed"/>
                <a:sym typeface="Fira Sans Condensed"/>
              </a:rPr>
              <a:t> (agonista MC4R) trata subgrupos de obesidad </a:t>
            </a:r>
            <a:r>
              <a:rPr lang="es-AR" sz="1350" b="1" dirty="0">
                <a:solidFill>
                  <a:srgbClr val="1E1E1E"/>
                </a:solidFill>
                <a:latin typeface="Fira Sans Condensed"/>
                <a:ea typeface="Fira Sans Condensed"/>
                <a:cs typeface="Fira Sans Condensed"/>
                <a:sym typeface="Fira Sans Condensed"/>
              </a:rPr>
              <a:t>genética definida</a:t>
            </a:r>
            <a:r>
              <a:rPr lang="es-AR" sz="1350" dirty="0">
                <a:solidFill>
                  <a:srgbClr val="1E1E1E"/>
                </a:solidFill>
                <a:latin typeface="Fira Sans Condensed"/>
                <a:ea typeface="Fira Sans Condensed"/>
                <a:cs typeface="Fira Sans Condensed"/>
                <a:sym typeface="Fira Sans Condensed"/>
              </a:rPr>
              <a:t>, no la obesidad común.</a:t>
            </a:r>
            <a:endParaRPr lang="es-AR" sz="13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EJEMPLO 6 · VÍA POMC: SEÑAL ANOREXÍGENA</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childTnLst>
                          </p:cTn>
                        </p:par>
                        <p:par>
                          <p:cTn id="10"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00"/>
                                        <p:tgtEl>
                                          <p:spTgt spid="25"/>
                                        </p:tgtEl>
                                      </p:cBhvr>
                                    </p:animEffect>
                                  </p:childTnLst>
                                </p:cTn>
                              </p:par>
                            </p:childTnLst>
                          </p:cTn>
                        </p:par>
                      </p:childTnLst>
                    </p:cTn>
                  </p:par>
                  <p:par>
                    <p:cTn id="24" fill="hold">
                      <p:stCondLst>
                        <p:cond delay="indefinite"/>
                      </p:stCondLst>
                      <p:childTnLst>
                        <p:par>
                          <p:cTn id="15"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up)">
                                      <p:cBhvr>
                                        <p:cTn id="14" dur="500"/>
                                        <p:tgtEl>
                                          <p:spTgt spid="19"/>
                                        </p:tgtEl>
                                      </p:cBhvr>
                                    </p:animEffect>
                                  </p:childTnLst>
                                </p:cTn>
                              </p:par>
                            </p:childTnLst>
                          </p:cTn>
                        </p:par>
                        <p:par>
                          <p:cTn id="19" fill="hold">
                            <p:stCondLst>
                              <p:cond delay="500"/>
                            </p:stCondLst>
                            <p:childTnLst>
                              <p:par>
                                <p:cTn id="16" presetID="22" presetClass="entr" presetSubtype="1"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childTnLst>
                          </p:cTn>
                        </p:par>
                        <p:par>
                          <p:cTn id="23"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33" fill="hold">
                      <p:stCondLst>
                        <p:cond delay="indefinite"/>
                      </p:stCondLst>
                      <p:childTnLst>
                        <p:par>
                          <p:cTn id="28"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32"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childTnLst>
                          </p:cTn>
                        </p:par>
                      </p:childTnLst>
                    </p:cTn>
                  </p:par>
                  <p:par>
                    <p:cTn id="42" fill="hold">
                      <p:stCondLst>
                        <p:cond delay="indefinite"/>
                      </p:stCondLst>
                      <p:childTnLst>
                        <p:par>
                          <p:cTn id="37"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childTnLst>
                          </p:cTn>
                        </p:par>
                        <p:par>
                          <p:cTn id="41"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51" fill="hold">
                      <p:stCondLst>
                        <p:cond delay="indefinite"/>
                      </p:stCondLst>
                      <p:childTnLst>
                        <p:par>
                          <p:cTn id="46"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500"/>
                                        <p:tgtEl>
                                          <p:spTgt spid="23"/>
                                        </p:tgtEl>
                                      </p:cBhvr>
                                    </p:animEffect>
                                  </p:childTnLst>
                                </p:cTn>
                              </p:par>
                            </p:childTnLst>
                          </p:cTn>
                        </p:par>
                        <p:par>
                          <p:cTn id="50"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400"/>
                                        <p:tgtEl>
                                          <p:spTgt spid="29"/>
                                        </p:tgtEl>
                                      </p:cBhvr>
                                    </p:animEffect>
                                  </p:childTnLst>
                                </p:cTn>
                              </p:par>
                            </p:childTnLst>
                          </p:cTn>
                        </p:par>
                      </p:childTnLst>
                    </p:cTn>
                  </p:par>
                  <p:par>
                    <p:cTn id="72" fill="hold">
                      <p:stCondLst>
                        <p:cond delay="indefinite"/>
                      </p:stCondLst>
                      <p:childTnLst>
                        <p:par>
                          <p:cTn id="55"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150"/>
                                        <p:tgtEl>
                                          <p:spTgt spid="30"/>
                                        </p:tgtEl>
                                      </p:cBhvr>
                                    </p:animEffect>
                                  </p:childTnLst>
                                </p:cTn>
                              </p:par>
                            </p:childTnLst>
                          </p:cTn>
                        </p:par>
                        <p:par>
                          <p:cTn id="59" fill="hold">
                            <p:stCondLst>
                              <p:cond delay="150"/>
                            </p:stCondLst>
                            <p:childTnLst>
                              <p:par>
                                <p:cTn id="56" presetID="10" presetClass="entr" presetSubtype="0"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150"/>
                                        <p:tgtEl>
                                          <p:spTgt spid="31"/>
                                        </p:tgtEl>
                                      </p:cBhvr>
                                    </p:animEffect>
                                  </p:childTnLst>
                                </p:cTn>
                              </p:par>
                            </p:childTnLst>
                          </p:cTn>
                        </p:par>
                        <p:par>
                          <p:cTn id="65" fill="hold">
                            <p:stCondLst>
                              <p:cond delay="300"/>
                            </p:stCondLst>
                            <p:childTnLst>
                              <p:par>
                                <p:cTn id="60" presetID="10" presetClass="entr" presetSubtype="0" fill="hold" grpId="0" nodeType="after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50"/>
                                        <p:tgtEl>
                                          <p:spTgt spid="32"/>
                                        </p:tgtEl>
                                      </p:cBhvr>
                                    </p:animEffect>
                                  </p:childTnLst>
                                </p:cTn>
                              </p:par>
                              <p:par>
                                <p:cTn id="63" presetID="0" presetClass="path" presetSubtype="0" accel="20000" decel="20000" fill="hold" grpId="0" nodeType="withEffect">
                                  <p:stCondLst>
                                    <p:cond delay="0"/>
                                  </p:stCondLst>
                                  <p:childTnLst>
                                    <p:animMotion origin="layout" path="M 0 0 L 0.2250 -0.1133 E" pathEditMode="relative" ptsTypes="">
                                      <p:cBhvr>
                                        <p:cTn id="64" dur="1400" fill="hold"/>
                                        <p:tgtEl>
                                          <p:spTgt spid="30"/>
                                        </p:tgtEl>
                                        <p:attrNameLst>
                                          <p:attrName>ppt_x</p:attrName>
                                          <p:attrName>ppt_y</p:attrName>
                                        </p:attrNameLst>
                                      </p:cBhvr>
                                      <p:rCtr x="11250" y="-5666"/>
                                    </p:animMotion>
                                  </p:childTnLst>
                                </p:cTn>
                              </p:par>
                            </p:childTnLst>
                          </p:cTn>
                        </p:par>
                        <p:par>
                          <p:cTn id="68" fill="hold">
                            <p:stCondLst>
                              <p:cond delay="500"/>
                            </p:stCondLst>
                            <p:childTnLst>
                              <p:par>
                                <p:cTn id="66" presetID="0" presetClass="path" presetSubtype="0" accel="20000" decel="20000" fill="hold" grpId="0" nodeType="afterEffect">
                                  <p:stCondLst>
                                    <p:cond delay="0"/>
                                  </p:stCondLst>
                                  <p:childTnLst>
                                    <p:animMotion origin="layout" path="M 0 0 L 0.1725 -0.0800 E" pathEditMode="relative" ptsTypes="">
                                      <p:cBhvr>
                                        <p:cTn id="67" dur="1400" fill="hold"/>
                                        <p:tgtEl>
                                          <p:spTgt spid="31"/>
                                        </p:tgtEl>
                                        <p:attrNameLst>
                                          <p:attrName>ppt_x</p:attrName>
                                          <p:attrName>ppt_y</p:attrName>
                                        </p:attrNameLst>
                                      </p:cBhvr>
                                      <p:rCtr x="8625" y="-3999"/>
                                    </p:animMotion>
                                  </p:childTnLst>
                                </p:cTn>
                              </p:par>
                            </p:childTnLst>
                          </p:cTn>
                        </p:par>
                        <p:par>
                          <p:cTn id="71" fill="hold">
                            <p:stCondLst>
                              <p:cond delay="900"/>
                            </p:stCondLst>
                            <p:childTnLst>
                              <p:par>
                                <p:cTn id="69" presetID="0" presetClass="path" presetSubtype="0" accel="20000" decel="20000" fill="hold" grpId="0" nodeType="afterEffect">
                                  <p:stCondLst>
                                    <p:cond delay="0"/>
                                  </p:stCondLst>
                                  <p:childTnLst>
                                    <p:animMotion origin="layout" path="M 0 0 L 0.1200 -0.0467 E" pathEditMode="relative" ptsTypes="">
                                      <p:cBhvr>
                                        <p:cTn id="70" dur="1400" fill="hold"/>
                                        <p:tgtEl>
                                          <p:spTgt spid="32"/>
                                        </p:tgtEl>
                                        <p:attrNameLst>
                                          <p:attrName>ppt_x</p:attrName>
                                          <p:attrName>ppt_y</p:attrName>
                                        </p:attrNameLst>
                                      </p:cBhvr>
                                      <p:rCtr x="6000" y="-2333"/>
                                    </p:animMotion>
                                  </p:childTnLst>
                                </p:cTn>
                              </p:par>
                            </p:childTnLst>
                          </p:cTn>
                        </p:par>
                      </p:childTnLst>
                    </p:cTn>
                  </p:par>
                  <p:par>
                    <p:cTn id="77" fill="hold">
                      <p:stCondLst>
                        <p:cond delay="indefinite"/>
                      </p:stCondLst>
                      <p:childTnLst>
                        <p:par>
                          <p:cTn id="76"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19" grpId="0" animBg="1"/>
      <p:bldP spid="20" grpId="0" animBg="1"/>
      <p:bldP spid="26" grpId="0" animBg="1"/>
      <p:bldP spid="21" grpId="0" animBg="1"/>
      <p:bldP spid="27" grpId="0" animBg="1"/>
      <p:bldP spid="22" grpId="0" animBg="1"/>
      <p:bldP spid="28" grpId="0" animBg="1"/>
      <p:bldP spid="23" grpId="0" animBg="1"/>
      <p:bldP spid="29" grpId="0" animBg="1"/>
      <p:bldP spid="30" grpId="0" animBg="1"/>
      <p:bldP spid="31" grpId="0" animBg="1"/>
      <p:bldP spid="32" grpId="0" animBg="1"/>
      <p:bldP spid="33" grpId="0" animBg="1"/>
    </p:bld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Núcleo Hipotálamo ampliado"/>
          <p:cNvSpPr/>
          <p:nvPr/>
        </p:nvSpPr>
        <p:spPr>
          <a:xfrm>
            <a:off x="365760" y="1005840"/>
            <a:ext cx="6949440" cy="5257800"/>
          </a:xfrm>
          <a:prstGeom prst="roundRect">
            <a:avLst>
              <a:gd name="adj" fmla="val 8000"/>
            </a:avLst>
          </a:prstGeom>
          <a:gradFill rotWithShape="1">
            <a:gsLst>
              <a:gs pos="0">
                <a:srgbClr val="FDF2E9"/>
              </a:gs>
              <a:gs pos="100000">
                <a:srgbClr val="F5CBA7"/>
              </a:gs>
            </a:gsLst>
            <a:path path="circle">
              <a:fillToRect l="50000" t="50000" r="50000" b="50000"/>
            </a:path>
          </a:gradFill>
          <a:ln w="25400" cap="rnd">
            <a:solidFill>
              <a:srgbClr val="A04000"/>
            </a:solidFill>
            <a:round/>
          </a:ln>
          <a:effectLst>
            <a:outerShdw blurRad="63500" dist="38100" dir="2700000" algn="tl" rotWithShape="0">
              <a:srgbClr val="000000">
                <a:alpha val="32000"/>
              </a:srgbClr>
            </a:outerShdw>
          </a:effectLst>
        </p:spPr>
      </p:sp>
      <p:sp>
        <p:nvSpPr>
          <p:cNvPr id="7" name="!!Eminencia media"/>
          <p:cNvSpPr/>
          <p:nvPr/>
        </p:nvSpPr>
        <p:spPr>
          <a:xfrm>
            <a:off x="365760" y="5257800"/>
            <a:ext cx="6949440" cy="1005840"/>
          </a:xfrm>
          <a:prstGeom prst="rect">
            <a:avLst/>
          </a:prstGeom>
          <a:gradFill rotWithShape="1">
            <a:gsLst>
              <a:gs pos="0">
                <a:srgbClr val="D6EAF8"/>
              </a:gs>
              <a:gs pos="100000">
                <a:srgbClr val="AED6F1"/>
              </a:gs>
            </a:gsLst>
            <a:lin ang="5400000" scaled="0"/>
          </a:gradFill>
          <a:ln w="12700" cap="rnd">
            <a:solidFill>
              <a:srgbClr val="1E1E1E"/>
            </a:solidFill>
            <a:round/>
          </a:ln>
        </p:spPr>
        <p:txBody>
          <a:bodyPr wrap="square" lIns="73152" tIns="45720" rIns="73152" bIns="45720" anchor="ctr" rtlCol="0">
            <a:noAutofit/>
          </a:bodyPr>
          <a:lstStyle/>
          <a:p>
            <a:pPr algn="ctr">
              <a:spcAft>
                <a:spcPts val="300"/>
              </a:spcAft>
              <a:buNone/>
            </a:pPr>
            <a:r>
              <a:rPr lang="es-AR" sz="1200" b="1" dirty="0">
                <a:solidFill>
                  <a:srgbClr val="1E1E1E"/>
                </a:solidFill>
                <a:latin typeface="Fira Sans Condensed"/>
                <a:ea typeface="Fira Sans Condensed"/>
                <a:cs typeface="Fira Sans Condensed"/>
                <a:sym typeface="Fira Sans Condensed"/>
              </a:rPr>
              <a:t>Eminencia media · capilares fenestrados</a:t>
            </a:r>
            <a:endParaRPr lang="es-AR" sz="1200" dirty="0">
              <a:latin typeface="Fira Sans Condensed"/>
            </a:endParaRPr>
          </a:p>
        </p:txBody>
      </p:sp>
      <p:sp>
        <p:nvSpPr>
          <p:cNvPr id="8" name="!!Tercer ventrículo"/>
          <p:cNvSpPr/>
          <p:nvPr/>
        </p:nvSpPr>
        <p:spPr>
          <a:xfrm>
            <a:off x="3520440" y="1005840"/>
            <a:ext cx="640080" cy="4251960"/>
          </a:xfrm>
          <a:prstGeom prst="rect">
            <a:avLst/>
          </a:prstGeom>
          <a:gradFill rotWithShape="1">
            <a:gsLst>
              <a:gs pos="0">
                <a:srgbClr val="D6EAF8"/>
              </a:gs>
              <a:gs pos="100000">
                <a:srgbClr val="EBF5FB"/>
              </a:gs>
            </a:gsLst>
            <a:lin ang="0" scaled="0"/>
          </a:gradFill>
          <a:ln>
            <a:noFill/>
          </a:ln>
        </p:spPr>
        <p:txBody>
          <a:bodyPr wrap="square" lIns="73152" tIns="45720" rIns="73152" bIns="45720" anchor="ctr" rtlCol="0">
            <a:noAutofit/>
          </a:bodyPr>
          <a:lstStyle/>
          <a:p>
            <a:pPr algn="ctr">
              <a:spcAft>
                <a:spcPts val="300"/>
              </a:spcAft>
              <a:buNone/>
            </a:pPr>
            <a:r>
              <a:rPr lang="es-AR" sz="1000" b="1" dirty="0">
                <a:solidFill>
                  <a:srgbClr val="1F618D"/>
                </a:solidFill>
                <a:latin typeface="Fira Sans Condensed"/>
                <a:ea typeface="Fira Sans Condensed"/>
                <a:cs typeface="Fira Sans Condensed"/>
                <a:sym typeface="Fira Sans Condensed"/>
              </a:rPr>
              <a:t>3.er</a:t>
            </a:r>
            <a:endParaRPr lang="es-AR" sz="1000" dirty="0">
              <a:latin typeface="Fira Sans Condensed"/>
            </a:endParaRPr>
          </a:p>
          <a:p>
            <a:pPr algn="ctr">
              <a:spcAft>
                <a:spcPts val="300"/>
              </a:spcAft>
              <a:buNone/>
            </a:pPr>
            <a:r>
              <a:rPr lang="es-AR" sz="1000" b="1" dirty="0">
                <a:solidFill>
                  <a:srgbClr val="1F618D"/>
                </a:solidFill>
                <a:latin typeface="Fira Sans Condensed"/>
                <a:ea typeface="Fira Sans Condensed"/>
                <a:cs typeface="Fira Sans Condensed"/>
                <a:sym typeface="Fira Sans Condensed"/>
              </a:rPr>
              <a:t>ventrículo</a:t>
            </a:r>
            <a:endParaRPr lang="es-AR" sz="1000" dirty="0">
              <a:latin typeface="Fira Sans Condensed"/>
            </a:endParaRPr>
          </a:p>
        </p:txBody>
      </p:sp>
      <p:sp>
        <p:nvSpPr>
          <p:cNvPr id="9" name="!!Rótulo ARC"/>
          <p:cNvSpPr txBox="1"/>
          <p:nvPr/>
        </p:nvSpPr>
        <p:spPr>
          <a:xfrm>
            <a:off x="502920" y="4160520"/>
            <a:ext cx="2743200" cy="32004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NÚCLEO ARCUATO</a:t>
            </a:r>
            <a:endParaRPr lang="es-AR" sz="1300" dirty="0">
              <a:latin typeface="Fira Sans Condensed"/>
            </a:endParaRPr>
          </a:p>
        </p:txBody>
      </p:sp>
      <p:sp>
        <p:nvSpPr>
          <p:cNvPr id="10" name="!!Neurona POMC"/>
          <p:cNvSpPr/>
          <p:nvPr/>
        </p:nvSpPr>
        <p:spPr>
          <a:xfrm>
            <a:off x="640080" y="2971800"/>
            <a:ext cx="1234440" cy="1097280"/>
          </a:xfrm>
          <a:prstGeom prst="ellipse">
            <a:avLst/>
          </a:prstGeom>
          <a:gradFill rotWithShape="1">
            <a:gsLst>
              <a:gs pos="0">
                <a:srgbClr val="9AE6BA"/>
              </a:gs>
              <a:gs pos="55000">
                <a:srgbClr val="58D68D"/>
              </a:gs>
              <a:gs pos="100000">
                <a:srgbClr val="3D9562"/>
              </a:gs>
            </a:gsLst>
            <a:path path="circle">
              <a:fillToRect l="32000" t="28000" r="68000" b="72000"/>
            </a:path>
          </a:gradFill>
          <a:ln w="15875" cap="rnd">
            <a:solidFill>
              <a:srgbClr val="1D8348"/>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POMC</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CART</a:t>
            </a:r>
            <a:endParaRPr lang="es-AR" sz="1300" dirty="0">
              <a:latin typeface="Fira Sans Condensed"/>
            </a:endParaRPr>
          </a:p>
        </p:txBody>
      </p:sp>
      <p:sp>
        <p:nvSpPr>
          <p:cNvPr id="11" name="!!Neurona AgRP"/>
          <p:cNvSpPr/>
          <p:nvPr/>
        </p:nvSpPr>
        <p:spPr>
          <a:xfrm>
            <a:off x="2103120" y="3291840"/>
            <a:ext cx="1234440" cy="1097280"/>
          </a:xfrm>
          <a:prstGeom prst="ellipse">
            <a:avLst/>
          </a:prstGeom>
          <a:gradFill rotWithShape="1">
            <a:gsLst>
              <a:gs pos="0">
                <a:srgbClr val="F3A9A1"/>
              </a:gs>
              <a:gs pos="55000">
                <a:srgbClr val="EC7063"/>
              </a:gs>
              <a:gs pos="100000">
                <a:srgbClr val="A54E45"/>
              </a:gs>
            </a:gsLst>
            <a:path path="circle">
              <a:fillToRect l="32000" t="28000" r="68000" b="72000"/>
            </a:path>
          </a:gradFill>
          <a:ln w="31750" cap="rnd">
            <a:solidFill>
              <a:srgbClr val="922B21"/>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AgRP</a:t>
            </a:r>
            <a:endParaRPr lang="es-AR" sz="1300" dirty="0">
              <a:latin typeface="Fira Sans Condensed"/>
            </a:endParaRPr>
          </a:p>
          <a:p>
            <a:pPr algn="ctr">
              <a:spcAft>
                <a:spcPts val="300"/>
              </a:spcAft>
              <a:buNone/>
            </a:pPr>
            <a:r>
              <a:rPr lang="es-AR" sz="1300" b="1" dirty="0">
                <a:solidFill>
                  <a:srgbClr val="1E1E1E"/>
                </a:solidFill>
                <a:latin typeface="Fira Sans Condensed"/>
                <a:ea typeface="Fira Sans Condensed"/>
                <a:cs typeface="Fira Sans Condensed"/>
                <a:sym typeface="Fira Sans Condensed"/>
              </a:rPr>
              <a:t>NPY</a:t>
            </a:r>
            <a:endParaRPr lang="es-AR" sz="1300" dirty="0">
              <a:latin typeface="Fira Sans Condensed"/>
            </a:endParaRPr>
          </a:p>
        </p:txBody>
      </p:sp>
      <p:sp>
        <p:nvSpPr>
          <p:cNvPr id="12" name="!!Neurona PVN"/>
          <p:cNvSpPr/>
          <p:nvPr/>
        </p:nvSpPr>
        <p:spPr>
          <a:xfrm>
            <a:off x="4480560" y="1325880"/>
            <a:ext cx="1600200" cy="1280160"/>
          </a:xfrm>
          <a:prstGeom prst="ellipse">
            <a:avLst/>
          </a:prstGeom>
          <a:gradFill rotWithShape="1">
            <a:gsLst>
              <a:gs pos="0">
                <a:srgbClr val="9DCDED"/>
              </a:gs>
              <a:gs pos="55000">
                <a:srgbClr val="5DADE2"/>
              </a:gs>
              <a:gs pos="100000">
                <a:srgbClr val="41799E"/>
              </a:gs>
            </a:gsLst>
            <a:path path="circle">
              <a:fillToRect l="32000" t="28000" r="68000" b="72000"/>
            </a:path>
          </a:gradFill>
          <a:ln w="19050" cap="rnd">
            <a:solidFill>
              <a:srgbClr val="1F618D"/>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PVN</a:t>
            </a:r>
            <a:endParaRPr lang="es-AR" sz="1400" dirty="0">
              <a:latin typeface="Fira Sans Condensed"/>
            </a:endParaRPr>
          </a:p>
          <a:p>
            <a:pPr algn="ctr">
              <a:spcAft>
                <a:spcPts val="300"/>
              </a:spcAft>
              <a:buNone/>
            </a:pPr>
            <a:r>
              <a:rPr lang="es-AR" sz="1400" b="1" dirty="0">
                <a:solidFill>
                  <a:srgbClr val="1E1E1E"/>
                </a:solidFill>
                <a:latin typeface="Fira Sans Condensed"/>
                <a:ea typeface="Fira Sans Condensed"/>
                <a:cs typeface="Fira Sans Condensed"/>
                <a:sym typeface="Fira Sans Condensed"/>
              </a:rPr>
              <a:t>MC4R</a:t>
            </a:r>
            <a:endParaRPr lang="es-AR" sz="1400" dirty="0">
              <a:latin typeface="Fira Sans Condensed"/>
            </a:endParaRPr>
          </a:p>
        </p:txBody>
      </p:sp>
      <p:sp>
        <p:nvSpPr>
          <p:cNvPr id="13" name="!!Axón POMC"/>
          <p:cNvSpPr/>
          <p:nvPr/>
        </p:nvSpPr>
        <p:spPr>
          <a:xfrm>
            <a:off x="1463040" y="2057400"/>
            <a:ext cx="2971800" cy="868680"/>
          </a:xfrm>
          <a:custGeom>
            <a:avLst/>
            <a:gdLst/>
            <a:ahLst/>
            <a:cxnLst/>
            <a:rect l="0" t="0" r="r" b="b"/>
            <a:pathLst>
              <a:path w="3249" h="950" fill="none">
                <a:moveTo>
                  <a:pt x="0" y="950"/>
                </a:moveTo>
                <a:lnTo>
                  <a:pt x="3249" y="0"/>
                </a:lnTo>
              </a:path>
            </a:pathLst>
          </a:custGeom>
          <a:noFill/>
          <a:ln w="19050" cap="rnd">
            <a:solidFill>
              <a:srgbClr val="7F8C8D"/>
            </a:solidFill>
            <a:round/>
            <a:tailEnd type="triangle" w="med" len="med"/>
          </a:ln>
        </p:spPr>
      </p:sp>
      <p:sp>
        <p:nvSpPr>
          <p:cNvPr id="14" name="!!Axón AgRP"/>
          <p:cNvSpPr/>
          <p:nvPr/>
        </p:nvSpPr>
        <p:spPr>
          <a:xfrm>
            <a:off x="3017520" y="2514600"/>
            <a:ext cx="1508760" cy="731520"/>
          </a:xfrm>
          <a:custGeom>
            <a:avLst/>
            <a:gdLst/>
            <a:ahLst/>
            <a:cxnLst/>
            <a:rect l="0" t="0" r="r" b="b"/>
            <a:pathLst>
              <a:path w="1650" h="799" fill="none">
                <a:moveTo>
                  <a:pt x="0" y="799"/>
                </a:moveTo>
                <a:lnTo>
                  <a:pt x="1650" y="0"/>
                </a:lnTo>
              </a:path>
            </a:pathLst>
          </a:custGeom>
          <a:noFill/>
          <a:ln w="44450" cap="rnd">
            <a:solidFill>
              <a:srgbClr val="C00000"/>
            </a:solidFill>
            <a:round/>
            <a:tailEnd type="triangle" w="med" len="med"/>
          </a:ln>
        </p:spPr>
      </p:sp>
      <p:grpSp>
        <p:nvGrpSpPr>
          <p:cNvPr id="15" name="!!GABA a POMC"/>
          <p:cNvGrpSpPr/>
          <p:nvPr/>
        </p:nvGrpSpPr>
        <p:grpSpPr>
          <a:xfrm>
            <a:off x="1837164" y="3518490"/>
            <a:ext cx="265956" cy="186780"/>
            <a:chOff x="1837164" y="3518490"/>
            <a:chExt cx="265956" cy="186780"/>
          </a:xfrm>
        </p:grpSpPr>
        <p:sp>
          <p:nvSpPr>
            <p:cNvPr id="16" name="Flecha 15_2"/>
            <p:cNvSpPr/>
            <p:nvPr/>
          </p:nvSpPr>
          <p:spPr>
            <a:xfrm>
              <a:off x="1874520" y="3611880"/>
              <a:ext cx="228600" cy="91440"/>
            </a:xfrm>
            <a:custGeom>
              <a:avLst/>
              <a:gdLst/>
              <a:ahLst/>
              <a:cxnLst/>
              <a:rect l="0" t="0" r="r" b="b"/>
              <a:pathLst>
                <a:path w="250" h="99" fill="none">
                  <a:moveTo>
                    <a:pt x="250" y="99"/>
                  </a:moveTo>
                  <a:lnTo>
                    <a:pt x="0" y="0"/>
                  </a:lnTo>
                </a:path>
              </a:pathLst>
            </a:custGeom>
            <a:noFill/>
            <a:ln w="38100" cap="rnd">
              <a:solidFill>
                <a:srgbClr val="C00000"/>
              </a:solidFill>
              <a:round/>
            </a:ln>
          </p:spPr>
        </p:sp>
        <p:sp>
          <p:nvSpPr>
            <p:cNvPr id="17" name="Flecha 17_2"/>
            <p:cNvSpPr/>
            <p:nvPr/>
          </p:nvSpPr>
          <p:spPr>
            <a:xfrm>
              <a:off x="1837164" y="3518490"/>
              <a:ext cx="74712" cy="186780"/>
            </a:xfrm>
            <a:custGeom>
              <a:avLst/>
              <a:gdLst/>
              <a:ahLst/>
              <a:cxnLst/>
              <a:rect l="0" t="0" r="r" b="b"/>
              <a:pathLst>
                <a:path w="81" h="204" fill="none">
                  <a:moveTo>
                    <a:pt x="0" y="204"/>
                  </a:moveTo>
                  <a:lnTo>
                    <a:pt x="81" y="0"/>
                  </a:lnTo>
                </a:path>
              </a:pathLst>
            </a:custGeom>
            <a:noFill/>
            <a:ln w="60960" cap="rnd">
              <a:solidFill>
                <a:srgbClr val="C00000"/>
              </a:solidFill>
              <a:round/>
            </a:ln>
          </p:spPr>
        </p:sp>
      </p:grpSp>
      <p:sp>
        <p:nvSpPr>
          <p:cNvPr id="18" name="!!Salida ARC"/>
          <p:cNvSpPr/>
          <p:nvPr/>
        </p:nvSpPr>
        <p:spPr>
          <a:xfrm>
            <a:off x="4297680" y="3108960"/>
            <a:ext cx="2743200" cy="914400"/>
          </a:xfrm>
          <a:prstGeom prst="rect">
            <a:avLst/>
          </a:prstGeom>
          <a:solidFill>
            <a:srgbClr val="C00000"/>
          </a:solidFill>
          <a:ln w="19050" cap="rnd">
            <a:solidFill>
              <a:srgbClr val="1E1E1E"/>
            </a:solidFill>
            <a:round/>
          </a:ln>
        </p:spPr>
        <p:txBody>
          <a:bodyPr wrap="square" lIns="73152" tIns="45720" rIns="73152" bIns="45720" anchor="ctr" rtlCol="0">
            <a:noAutofit/>
          </a:bodyPr>
          <a:lstStyle/>
          <a:p>
            <a:pPr algn="ctr">
              <a:spcAft>
                <a:spcPts val="300"/>
              </a:spcAft>
              <a:buNone/>
            </a:pPr>
            <a:r>
              <a:rPr lang="es-AR" sz="1500" b="1" dirty="0">
                <a:solidFill>
                  <a:srgbClr val="FFFFFF"/>
                </a:solidFill>
                <a:latin typeface="Fira Sans Condensed"/>
                <a:ea typeface="Fira Sans Condensed"/>
                <a:cs typeface="Fira Sans Condensed"/>
                <a:sym typeface="Fira Sans Condensed"/>
              </a:rPr>
              <a:t>HAMBRE ↑</a:t>
            </a:r>
            <a:endParaRPr lang="es-AR" sz="1500" dirty="0">
              <a:latin typeface="Fira Sans Condensed"/>
            </a:endParaRPr>
          </a:p>
        </p:txBody>
      </p:sp>
      <p:sp>
        <p:nvSpPr>
          <p:cNvPr id="19" name="Flecha g→a"/>
          <p:cNvSpPr/>
          <p:nvPr/>
        </p:nvSpPr>
        <p:spPr>
          <a:xfrm>
            <a:off x="9715500" y="159105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20" name="Flecha a→n"/>
          <p:cNvSpPr/>
          <p:nvPr/>
        </p:nvSpPr>
        <p:spPr>
          <a:xfrm>
            <a:off x="8892540" y="2322576"/>
            <a:ext cx="548640" cy="155448"/>
          </a:xfrm>
          <a:custGeom>
            <a:avLst/>
            <a:gdLst/>
            <a:ahLst/>
            <a:cxnLst/>
            <a:rect l="0" t="0" r="r" b="b"/>
            <a:pathLst>
              <a:path w="599" h="169" fill="none">
                <a:moveTo>
                  <a:pt x="599" y="0"/>
                </a:moveTo>
                <a:lnTo>
                  <a:pt x="0" y="169"/>
                </a:lnTo>
              </a:path>
            </a:pathLst>
          </a:custGeom>
          <a:noFill/>
          <a:ln w="28575" cap="rnd">
            <a:solidFill>
              <a:srgbClr val="1E1E1E"/>
            </a:solidFill>
            <a:round/>
            <a:tailEnd type="triangle" w="med" len="med"/>
          </a:ln>
        </p:spPr>
      </p:sp>
      <p:sp>
        <p:nvSpPr>
          <p:cNvPr id="21" name="Flecha a→ag"/>
          <p:cNvSpPr/>
          <p:nvPr/>
        </p:nvSpPr>
        <p:spPr>
          <a:xfrm>
            <a:off x="9989820" y="2322576"/>
            <a:ext cx="548640" cy="155448"/>
          </a:xfrm>
          <a:custGeom>
            <a:avLst/>
            <a:gdLst/>
            <a:ahLst/>
            <a:cxnLst/>
            <a:rect l="0" t="0" r="r" b="b"/>
            <a:pathLst>
              <a:path w="599" h="169" fill="none">
                <a:moveTo>
                  <a:pt x="0" y="0"/>
                </a:moveTo>
                <a:lnTo>
                  <a:pt x="599" y="169"/>
                </a:lnTo>
              </a:path>
            </a:pathLst>
          </a:custGeom>
          <a:noFill/>
          <a:ln w="28575" cap="rnd">
            <a:solidFill>
              <a:srgbClr val="1E1E1E"/>
            </a:solidFill>
            <a:round/>
            <a:tailEnd type="triangle" w="med" len="med"/>
          </a:ln>
        </p:spPr>
      </p:sp>
      <p:sp>
        <p:nvSpPr>
          <p:cNvPr id="22" name="Flecha n→gb"/>
          <p:cNvSpPr/>
          <p:nvPr/>
        </p:nvSpPr>
        <p:spPr>
          <a:xfrm>
            <a:off x="8595360" y="3090672"/>
            <a:ext cx="9144" cy="128016"/>
          </a:xfrm>
          <a:custGeom>
            <a:avLst/>
            <a:gdLst/>
            <a:ahLst/>
            <a:cxnLst/>
            <a:rect l="0" t="0" r="r" b="b"/>
            <a:pathLst>
              <a:path w="10" h="140" fill="none">
                <a:moveTo>
                  <a:pt x="0" y="0"/>
                </a:moveTo>
                <a:lnTo>
                  <a:pt x="0" y="140"/>
                </a:lnTo>
              </a:path>
            </a:pathLst>
          </a:custGeom>
          <a:noFill/>
          <a:ln w="28575" cap="rnd">
            <a:solidFill>
              <a:srgbClr val="1E1E1E"/>
            </a:solidFill>
            <a:round/>
            <a:tailEnd type="triangle" w="med" len="med"/>
          </a:ln>
        </p:spPr>
      </p:sp>
      <p:sp>
        <p:nvSpPr>
          <p:cNvPr id="23" name="Flecha gb→o"/>
          <p:cNvSpPr/>
          <p:nvPr/>
        </p:nvSpPr>
        <p:spPr>
          <a:xfrm>
            <a:off x="9715500" y="378561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24" name="Nodo g"/>
          <p:cNvSpPr/>
          <p:nvPr/>
        </p:nvSpPr>
        <p:spPr>
          <a:xfrm>
            <a:off x="7589520" y="1051560"/>
            <a:ext cx="4251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Grelina (GHSR) · déficit energético</a:t>
            </a:r>
            <a:endParaRPr lang="es-AR" sz="1350" dirty="0">
              <a:latin typeface="Fira Sans Condensed"/>
            </a:endParaRPr>
          </a:p>
        </p:txBody>
      </p:sp>
      <p:sp>
        <p:nvSpPr>
          <p:cNvPr id="25" name="Nodo a"/>
          <p:cNvSpPr/>
          <p:nvPr/>
        </p:nvSpPr>
        <p:spPr>
          <a:xfrm>
            <a:off x="7589520" y="1783080"/>
            <a:ext cx="425196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NEURONAS AgRP/NPY/GABA ACTIVAS</a:t>
            </a:r>
            <a:endParaRPr lang="es-AR" sz="1350" dirty="0">
              <a:latin typeface="Fira Sans Condensed"/>
            </a:endParaRPr>
          </a:p>
        </p:txBody>
      </p:sp>
      <p:sp>
        <p:nvSpPr>
          <p:cNvPr id="26" name="Nodo n"/>
          <p:cNvSpPr/>
          <p:nvPr/>
        </p:nvSpPr>
        <p:spPr>
          <a:xfrm>
            <a:off x="7589520" y="2514600"/>
            <a:ext cx="2057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NPY → Y1/Y5</a:t>
            </a:r>
            <a:endParaRPr lang="es-AR" sz="1300" dirty="0">
              <a:latin typeface="Fira Sans Condensed"/>
            </a:endParaRPr>
          </a:p>
        </p:txBody>
      </p:sp>
      <p:sp>
        <p:nvSpPr>
          <p:cNvPr id="27" name="Nodo ag"/>
          <p:cNvSpPr/>
          <p:nvPr/>
        </p:nvSpPr>
        <p:spPr>
          <a:xfrm>
            <a:off x="9784080" y="2514600"/>
            <a:ext cx="2057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AgRP </a:t>
            </a:r>
            <a:r>
              <a:rPr lang="es-AR" sz="1200" b="1" dirty="0">
                <a:solidFill>
                  <a:srgbClr val="1E1E1E"/>
                </a:solidFill>
                <a:latin typeface="Cambria Math"/>
                <a:ea typeface="Cambria Math"/>
                <a:cs typeface="Cambria Math"/>
                <a:sym typeface="Cambria Math"/>
              </a:rPr>
              <a:t>⊣</a:t>
            </a:r>
            <a:r>
              <a:rPr lang="es-AR" sz="1200" b="1" dirty="0">
                <a:solidFill>
                  <a:srgbClr val="1E1E1E"/>
                </a:solidFill>
                <a:latin typeface="Fira Sans Condensed"/>
                <a:ea typeface="Fira Sans Condensed"/>
                <a:cs typeface="Fira Sans Condensed"/>
                <a:sym typeface="Fira Sans Condensed"/>
              </a:rPr>
              <a:t> MC3R/MC4R</a:t>
            </a:r>
            <a:endParaRPr lang="es-AR" sz="1200" dirty="0">
              <a:latin typeface="Fira Sans Condensed"/>
            </a:endParaRPr>
          </a:p>
        </p:txBody>
      </p:sp>
      <p:sp>
        <p:nvSpPr>
          <p:cNvPr id="28" name="Nodo gb"/>
          <p:cNvSpPr/>
          <p:nvPr/>
        </p:nvSpPr>
        <p:spPr>
          <a:xfrm>
            <a:off x="7589520" y="3246120"/>
            <a:ext cx="425196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GABA inhibe POMC y dianas</a:t>
            </a:r>
            <a:endParaRPr lang="es-AR" sz="1300" dirty="0">
              <a:latin typeface="Fira Sans Condensed"/>
            </a:endParaRPr>
          </a:p>
        </p:txBody>
      </p:sp>
      <p:sp>
        <p:nvSpPr>
          <p:cNvPr id="29" name="Nodo o"/>
          <p:cNvSpPr/>
          <p:nvPr/>
        </p:nvSpPr>
        <p:spPr>
          <a:xfrm>
            <a:off x="7589520" y="3977640"/>
            <a:ext cx="425196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HAMBRE y búsqueda de alimento ↑</a:t>
            </a:r>
            <a:endParaRPr lang="es-AR" sz="1400" dirty="0">
              <a:latin typeface="Fira Sans Condensed"/>
            </a:endParaRPr>
          </a:p>
        </p:txBody>
      </p:sp>
      <p:grpSp>
        <p:nvGrpSpPr>
          <p:cNvPr id="30" name="Leptina inhibe AgRP"/>
          <p:cNvGrpSpPr/>
          <p:nvPr/>
        </p:nvGrpSpPr>
        <p:grpSpPr>
          <a:xfrm>
            <a:off x="548640" y="4347509"/>
            <a:ext cx="2061584" cy="837139"/>
            <a:chOff x="548640" y="4347509"/>
            <a:chExt cx="2061584" cy="837139"/>
          </a:xfrm>
        </p:grpSpPr>
        <p:grpSp>
          <p:nvGrpSpPr>
            <p:cNvPr id="31" name="Inhibición"/>
            <p:cNvGrpSpPr/>
            <p:nvPr/>
          </p:nvGrpSpPr>
          <p:grpSpPr>
            <a:xfrm>
              <a:off x="1280160" y="4347509"/>
              <a:ext cx="1330064" cy="818851"/>
              <a:chOff x="1280160" y="4347509"/>
              <a:chExt cx="1330064" cy="818851"/>
            </a:xfrm>
          </p:grpSpPr>
          <p:sp>
            <p:nvSpPr>
              <p:cNvPr id="32" name="Flecha 33_2"/>
              <p:cNvSpPr/>
              <p:nvPr/>
            </p:nvSpPr>
            <p:spPr>
              <a:xfrm>
                <a:off x="1280160" y="4434840"/>
                <a:ext cx="1280160" cy="731520"/>
              </a:xfrm>
              <a:custGeom>
                <a:avLst/>
                <a:gdLst/>
                <a:ahLst/>
                <a:cxnLst/>
                <a:rect l="0" t="0" r="r" b="b"/>
                <a:pathLst>
                  <a:path w="1400" h="800" fill="none">
                    <a:moveTo>
                      <a:pt x="0" y="800"/>
                    </a:moveTo>
                    <a:lnTo>
                      <a:pt x="1400" y="0"/>
                    </a:lnTo>
                  </a:path>
                </a:pathLst>
              </a:custGeom>
              <a:noFill/>
              <a:ln w="38100" cap="rnd">
                <a:solidFill>
                  <a:srgbClr val="C00000"/>
                </a:solidFill>
                <a:round/>
              </a:ln>
            </p:spPr>
          </p:sp>
          <p:sp>
            <p:nvSpPr>
              <p:cNvPr id="33" name="Flecha 35_2"/>
              <p:cNvSpPr/>
              <p:nvPr/>
            </p:nvSpPr>
            <p:spPr>
              <a:xfrm>
                <a:off x="2510416" y="4347509"/>
                <a:ext cx="99807" cy="174663"/>
              </a:xfrm>
              <a:custGeom>
                <a:avLst/>
                <a:gdLst/>
                <a:ahLst/>
                <a:cxnLst/>
                <a:rect l="0" t="0" r="r" b="b"/>
                <a:pathLst>
                  <a:path w="109" h="191" fill="none">
                    <a:moveTo>
                      <a:pt x="0" y="0"/>
                    </a:moveTo>
                    <a:lnTo>
                      <a:pt x="109" y="191"/>
                    </a:lnTo>
                  </a:path>
                </a:pathLst>
              </a:custGeom>
              <a:noFill/>
              <a:ln w="60960" cap="rnd">
                <a:solidFill>
                  <a:srgbClr val="C00000"/>
                </a:solidFill>
                <a:round/>
              </a:ln>
            </p:spPr>
          </p:sp>
        </p:grpSp>
        <p:sp>
          <p:nvSpPr>
            <p:cNvPr id="34" name="Forma 37"/>
            <p:cNvSpPr/>
            <p:nvPr/>
          </p:nvSpPr>
          <p:spPr>
            <a:xfrm>
              <a:off x="548640" y="4800600"/>
              <a:ext cx="1188720" cy="384048"/>
            </a:xfrm>
            <a:prstGeom prst="roundRect">
              <a:avLst/>
            </a:prstGeom>
            <a:solidFill>
              <a:srgbClr val="C39BD3"/>
            </a:solidFill>
            <a:ln w="15875" cap="rnd">
              <a:solidFill>
                <a:srgbClr val="5B2C6F"/>
              </a:solidFill>
              <a:round/>
            </a:ln>
          </p:spPr>
          <p:txBody>
            <a:bodyPr wrap="square" lIns="73152" tIns="45720" rIns="73152" bIns="4572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Leptina</a:t>
              </a:r>
              <a:endParaRPr lang="es-AR" sz="1100" dirty="0">
                <a:latin typeface="Fira Sans Condensed"/>
              </a:endParaRPr>
            </a:p>
          </p:txBody>
        </p:sp>
      </p:grpSp>
      <p:sp>
        <p:nvSpPr>
          <p:cNvPr id="35" name="Forma 38"/>
          <p:cNvSpPr/>
          <p:nvPr/>
        </p:nvSpPr>
        <p:spPr>
          <a:xfrm>
            <a:off x="7589520" y="4754880"/>
            <a:ext cx="4251960" cy="15087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Homeostático</a:t>
            </a:r>
            <a:r>
              <a:rPr lang="es-AR" sz="1350" dirty="0">
                <a:solidFill>
                  <a:srgbClr val="1E1E1E"/>
                </a:solidFill>
                <a:latin typeface="Fira Sans Condensed"/>
                <a:ea typeface="Fira Sans Condensed"/>
                <a:cs typeface="Fira Sans Condensed"/>
                <a:sym typeface="Fira Sans Condensed"/>
              </a:rPr>
              <a:t>: compara reservas y necesidades. Los sistemas </a:t>
            </a:r>
            <a:r>
              <a:rPr lang="es-AR" sz="1350" b="1" dirty="0">
                <a:solidFill>
                  <a:srgbClr val="1E1E1E"/>
                </a:solidFill>
                <a:latin typeface="Fira Sans Condensed"/>
                <a:ea typeface="Fira Sans Condensed"/>
                <a:cs typeface="Fira Sans Condensed"/>
                <a:sym typeface="Fira Sans Condensed"/>
              </a:rPr>
              <a:t>hedónicos</a:t>
            </a:r>
            <a:r>
              <a:rPr lang="es-AR" sz="1350" dirty="0">
                <a:solidFill>
                  <a:srgbClr val="1E1E1E"/>
                </a:solidFill>
                <a:latin typeface="Fira Sans Condensed"/>
                <a:ea typeface="Fira Sans Condensed"/>
                <a:cs typeface="Fira Sans Condensed"/>
                <a:sym typeface="Fira Sans Condensed"/>
              </a:rPr>
              <a:t> pueden impulsar la ingesta sin déficit (diapositivas siguientes).</a:t>
            </a:r>
            <a:endParaRPr lang="es-AR" sz="1350" dirty="0">
              <a:latin typeface="Fira Sans Condensed"/>
            </a:endParaRPr>
          </a:p>
        </p:txBody>
      </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EJEMPLO 6 · VÍA AGRP/NPY: SEÑAL OREXÍGENA (EN PARALELO)</a:t>
            </a:r>
            <a:endParaRPr lang="es-AR" sz="26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wipe(up)">
                                      <p:cBhvr>
                                        <p:cTn id="9" dur="500"/>
                                        <p:tgtEl>
                                          <p:spTgt spid="19"/>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childTnLst>
                          </p:cTn>
                        </p:par>
                      </p:childTnLst>
                    </p:cTn>
                  </p:par>
                  <p:par>
                    <p:cTn id="32" fill="hold">
                      <p:stCondLst>
                        <p:cond delay="indefinite"/>
                      </p:stCondLst>
                      <p:childTnLst>
                        <p:par>
                          <p:cTn id="19"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par>
                          <p:cTn id="27" fill="hold">
                            <p:stCondLst>
                              <p:cond delay="900"/>
                            </p:stCondLst>
                            <p:childTnLst>
                              <p:par>
                                <p:cTn id="24" presetID="22" presetClass="entr" presetSubtype="1"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up)">
                                      <p:cBhvr>
                                        <p:cTn id="26" dur="500"/>
                                        <p:tgtEl>
                                          <p:spTgt spid="21"/>
                                        </p:tgtEl>
                                      </p:cBhvr>
                                    </p:animEffect>
                                  </p:childTnLst>
                                </p:cTn>
                              </p:par>
                            </p:childTnLst>
                          </p:cTn>
                        </p:par>
                        <p:par>
                          <p:cTn id="31" fill="hold">
                            <p:stCondLst>
                              <p:cond delay="1400"/>
                            </p:stCondLst>
                            <p:childTnLst>
                              <p:par>
                                <p:cTn id="28" presetID="10" presetClass="entr" presetSubtype="0"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400"/>
                                        <p:tgtEl>
                                          <p:spTgt spid="27"/>
                                        </p:tgtEl>
                                      </p:cBhvr>
                                    </p:animEffect>
                                  </p:childTnLst>
                                </p:cTn>
                              </p:par>
                            </p:childTnLst>
                          </p:cTn>
                        </p:par>
                      </p:childTnLst>
                    </p:cTn>
                  </p:par>
                  <p:par>
                    <p:cTn id="41" fill="hold">
                      <p:stCondLst>
                        <p:cond delay="indefinite"/>
                      </p:stCondLst>
                      <p:childTnLst>
                        <p:par>
                          <p:cTn id="36"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left)">
                                      <p:cBhvr>
                                        <p:cTn id="35" dur="500"/>
                                        <p:tgtEl>
                                          <p:spTgt spid="22"/>
                                        </p:tgtEl>
                                      </p:cBhvr>
                                    </p:animEffect>
                                  </p:childTnLst>
                                </p:cTn>
                              </p:par>
                            </p:childTnLst>
                          </p:cTn>
                        </p:par>
                        <p:par>
                          <p:cTn id="40"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childTnLst>
                          </p:cTn>
                        </p:par>
                      </p:childTnLst>
                    </p:cTn>
                  </p:par>
                  <p:par>
                    <p:cTn id="50" fill="hold">
                      <p:stCondLst>
                        <p:cond delay="indefinite"/>
                      </p:stCondLst>
                      <p:childTnLst>
                        <p:par>
                          <p:cTn id="45"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cTn>
                              </p:par>
                            </p:childTnLst>
                          </p:cTn>
                        </p:par>
                        <p:par>
                          <p:cTn id="49"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childTnLst>
                          </p:cTn>
                        </p:par>
                      </p:childTnLst>
                    </p:cTn>
                  </p:par>
                  <p:par>
                    <p:cTn id="55" fill="hold">
                      <p:stCondLst>
                        <p:cond delay="indefinite"/>
                      </p:stCondLst>
                      <p:childTnLst>
                        <p:par>
                          <p:cTn id="54"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childTnLst>
                    </p:cTn>
                  </p:par>
                  <p:par>
                    <p:cTn id="60" fill="hold">
                      <p:stCondLst>
                        <p:cond delay="indefinite"/>
                      </p:stCondLst>
                      <p:childTnLst>
                        <p:par>
                          <p:cTn id="59"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9" grpId="0" animBg="1"/>
      <p:bldP spid="25" grpId="0" animBg="1"/>
      <p:bldP spid="20" grpId="0" animBg="1"/>
      <p:bldP spid="26" grpId="0" animBg="1"/>
      <p:bldP spid="21" grpId="0" animBg="1"/>
      <p:bldP spid="27" grpId="0" animBg="1"/>
      <p:bldP spid="22" grpId="0" animBg="1"/>
      <p:bldP spid="28" grpId="0" animBg="1"/>
      <p:bldP spid="23" grpId="0" animBg="1"/>
      <p:bldP spid="29" grpId="0" animBg="1"/>
      <p:bldP spid="35" grpId="0" animBg="1"/>
    </p:bld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sp>
        <p:nvSpPr>
          <p:cNvPr id="6" name="Flecha l→r"/>
          <p:cNvSpPr/>
          <p:nvPr/>
        </p:nvSpPr>
        <p:spPr>
          <a:xfrm>
            <a:off x="2779776" y="137160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7" name="Flecha r→j"/>
          <p:cNvSpPr/>
          <p:nvPr/>
        </p:nvSpPr>
        <p:spPr>
          <a:xfrm>
            <a:off x="5980176" y="1371600"/>
            <a:ext cx="384048" cy="9144"/>
          </a:xfrm>
          <a:custGeom>
            <a:avLst/>
            <a:gdLst/>
            <a:ahLst/>
            <a:cxnLst/>
            <a:rect l="0" t="0" r="r" b="b"/>
            <a:pathLst>
              <a:path w="419" h="10" fill="none">
                <a:moveTo>
                  <a:pt x="0" y="0"/>
                </a:moveTo>
                <a:lnTo>
                  <a:pt x="419" y="0"/>
                </a:lnTo>
              </a:path>
            </a:pathLst>
          </a:custGeom>
          <a:noFill/>
          <a:ln w="28575" cap="rnd">
            <a:solidFill>
              <a:srgbClr val="1E1E1E"/>
            </a:solidFill>
            <a:round/>
            <a:tailEnd type="triangle" w="med" len="med"/>
          </a:ln>
        </p:spPr>
      </p:sp>
      <p:sp>
        <p:nvSpPr>
          <p:cNvPr id="8" name="Flecha r→p"/>
          <p:cNvSpPr/>
          <p:nvPr/>
        </p:nvSpPr>
        <p:spPr>
          <a:xfrm>
            <a:off x="4572000" y="896112"/>
            <a:ext cx="5943600" cy="155448"/>
          </a:xfrm>
          <a:custGeom>
            <a:avLst/>
            <a:gdLst/>
            <a:ahLst/>
            <a:cxnLst/>
            <a:rect l="0" t="0" r="r" b="b"/>
            <a:pathLst>
              <a:path w="6500" h="169" fill="none">
                <a:moveTo>
                  <a:pt x="0" y="169"/>
                </a:moveTo>
                <a:lnTo>
                  <a:pt x="0" y="0"/>
                </a:lnTo>
                <a:lnTo>
                  <a:pt x="6500" y="0"/>
                </a:lnTo>
                <a:lnTo>
                  <a:pt x="6500" y="169"/>
                </a:lnTo>
              </a:path>
            </a:pathLst>
          </a:custGeom>
          <a:noFill/>
          <a:ln w="28575" cap="rnd">
            <a:solidFill>
              <a:srgbClr val="1E1E1E"/>
            </a:solidFill>
            <a:round/>
            <a:tailEnd type="triangle" w="med" len="med"/>
          </a:ln>
        </p:spPr>
      </p:sp>
      <p:sp>
        <p:nvSpPr>
          <p:cNvPr id="9" name="Flecha j→o"/>
          <p:cNvSpPr/>
          <p:nvPr/>
        </p:nvSpPr>
        <p:spPr>
          <a:xfrm>
            <a:off x="7972425" y="1682496"/>
            <a:ext cx="765810" cy="292608"/>
          </a:xfrm>
          <a:custGeom>
            <a:avLst/>
            <a:gdLst/>
            <a:ahLst/>
            <a:cxnLst/>
            <a:rect l="0" t="0" r="r" b="b"/>
            <a:pathLst>
              <a:path w="837" h="320" fill="none">
                <a:moveTo>
                  <a:pt x="0" y="0"/>
                </a:moveTo>
                <a:lnTo>
                  <a:pt x="837" y="320"/>
                </a:lnTo>
              </a:path>
            </a:pathLst>
          </a:custGeom>
          <a:noFill/>
          <a:ln w="28575" cap="rnd">
            <a:solidFill>
              <a:srgbClr val="1E1E1E"/>
            </a:solidFill>
            <a:round/>
            <a:tailEnd type="triangle" w="med" len="med"/>
          </a:ln>
        </p:spPr>
      </p:sp>
      <p:grpSp>
        <p:nvGrpSpPr>
          <p:cNvPr id="10" name="Flecha s→j"/>
          <p:cNvGrpSpPr/>
          <p:nvPr/>
        </p:nvGrpSpPr>
        <p:grpSpPr>
          <a:xfrm>
            <a:off x="5989320" y="1691640"/>
            <a:ext cx="1060704" cy="594360"/>
            <a:chOff x="5989320" y="1691640"/>
            <a:chExt cx="1060704" cy="594360"/>
          </a:xfrm>
        </p:grpSpPr>
        <p:sp>
          <p:nvSpPr>
            <p:cNvPr id="11" name="Flecha 10_2"/>
            <p:cNvSpPr/>
            <p:nvPr/>
          </p:nvSpPr>
          <p:spPr>
            <a:xfrm>
              <a:off x="5989320" y="1691640"/>
              <a:ext cx="960120" cy="594360"/>
            </a:xfrm>
            <a:custGeom>
              <a:avLst/>
              <a:gdLst/>
              <a:ahLst/>
              <a:cxnLst/>
              <a:rect l="0" t="0" r="r" b="b"/>
              <a:pathLst>
                <a:path w="1049" h="649" fill="none">
                  <a:moveTo>
                    <a:pt x="0" y="649"/>
                  </a:moveTo>
                  <a:lnTo>
                    <a:pt x="1049" y="649"/>
                  </a:lnTo>
                  <a:lnTo>
                    <a:pt x="1049" y="0"/>
                  </a:lnTo>
                </a:path>
              </a:pathLst>
            </a:custGeom>
            <a:noFill/>
            <a:ln w="34925" cap="rnd">
              <a:solidFill>
                <a:srgbClr val="C00000"/>
              </a:solidFill>
              <a:round/>
            </a:ln>
          </p:spPr>
        </p:sp>
        <p:sp>
          <p:nvSpPr>
            <p:cNvPr id="12" name="Flecha 12_2"/>
            <p:cNvSpPr/>
            <p:nvPr/>
          </p:nvSpPr>
          <p:spPr>
            <a:xfrm>
              <a:off x="6848856" y="1691640"/>
              <a:ext cx="201168" cy="9144"/>
            </a:xfrm>
            <a:custGeom>
              <a:avLst/>
              <a:gdLst/>
              <a:ahLst/>
              <a:cxnLst/>
              <a:rect l="0" t="0" r="r" b="b"/>
              <a:pathLst>
                <a:path w="220" h="10" fill="none">
                  <a:moveTo>
                    <a:pt x="0" y="0"/>
                  </a:moveTo>
                  <a:lnTo>
                    <a:pt x="220" y="0"/>
                  </a:lnTo>
                </a:path>
              </a:pathLst>
            </a:custGeom>
            <a:noFill/>
            <a:ln w="55880" cap="rnd">
              <a:solidFill>
                <a:srgbClr val="C00000"/>
              </a:solidFill>
              <a:round/>
            </a:ln>
          </p:spPr>
        </p:sp>
      </p:grpSp>
      <p:sp>
        <p:nvSpPr>
          <p:cNvPr id="13" name="Nodo l"/>
          <p:cNvSpPr/>
          <p:nvPr/>
        </p:nvSpPr>
        <p:spPr>
          <a:xfrm>
            <a:off x="365760" y="1097280"/>
            <a:ext cx="23774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LEPTINA</a:t>
            </a:r>
            <a:endParaRPr lang="es-AR" sz="1700" dirty="0">
              <a:latin typeface="Fira Sans Condensed"/>
            </a:endParaRPr>
          </a:p>
        </p:txBody>
      </p:sp>
      <p:sp>
        <p:nvSpPr>
          <p:cNvPr id="14" name="Nodo r"/>
          <p:cNvSpPr/>
          <p:nvPr/>
        </p:nvSpPr>
        <p:spPr>
          <a:xfrm>
            <a:off x="3200400" y="1097280"/>
            <a:ext cx="27432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LEPRb (isoforma larga)</a:t>
            </a:r>
            <a:endParaRPr lang="es-AR" sz="1400" dirty="0">
              <a:latin typeface="Fira Sans Condensed"/>
            </a:endParaRPr>
          </a:p>
        </p:txBody>
      </p:sp>
      <p:sp>
        <p:nvSpPr>
          <p:cNvPr id="15" name="Nodo j"/>
          <p:cNvSpPr/>
          <p:nvPr/>
        </p:nvSpPr>
        <p:spPr>
          <a:xfrm>
            <a:off x="6400800" y="1097280"/>
            <a:ext cx="23774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JAK2 → STAT3</a:t>
            </a:r>
            <a:endParaRPr lang="es-AR" sz="1500" dirty="0">
              <a:latin typeface="Fira Sans Condensed"/>
            </a:endParaRPr>
          </a:p>
        </p:txBody>
      </p:sp>
      <p:sp>
        <p:nvSpPr>
          <p:cNvPr id="16" name="Nodo p"/>
          <p:cNvSpPr/>
          <p:nvPr/>
        </p:nvSpPr>
        <p:spPr>
          <a:xfrm>
            <a:off x="9235440" y="1097280"/>
            <a:ext cx="26060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PI3K · MAPK</a:t>
            </a:r>
            <a:endParaRPr lang="es-AR" sz="1500" dirty="0">
              <a:latin typeface="Fira Sans Condensed"/>
            </a:endParaRPr>
          </a:p>
        </p:txBody>
      </p:sp>
      <p:sp>
        <p:nvSpPr>
          <p:cNvPr id="17" name="Nodo o"/>
          <p:cNvSpPr/>
          <p:nvPr/>
        </p:nvSpPr>
        <p:spPr>
          <a:xfrm>
            <a:off x="6400800" y="2011680"/>
            <a:ext cx="5440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POMC ↑ · NPY/AgRP ↓ (según circuito)</a:t>
            </a:r>
            <a:endParaRPr lang="es-AR" sz="1400" dirty="0">
              <a:latin typeface="Fira Sans Condensed"/>
            </a:endParaRPr>
          </a:p>
        </p:txBody>
      </p:sp>
      <p:sp>
        <p:nvSpPr>
          <p:cNvPr id="18" name="Nodo s"/>
          <p:cNvSpPr/>
          <p:nvPr/>
        </p:nvSpPr>
        <p:spPr>
          <a:xfrm>
            <a:off x="365760" y="2011680"/>
            <a:ext cx="557784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Freno: SOCS3 · PTP1B</a:t>
            </a:r>
            <a:endParaRPr lang="es-AR" sz="1400" dirty="0">
              <a:latin typeface="Fira Sans Condensed"/>
            </a:endParaRPr>
          </a:p>
        </p:txBody>
      </p:sp>
      <p:grpSp>
        <p:nvGrpSpPr>
          <p:cNvPr id="19" name="Cuadro Resistencia a la lepti"/>
          <p:cNvGrpSpPr/>
          <p:nvPr/>
        </p:nvGrpSpPr>
        <p:grpSpPr>
          <a:xfrm>
            <a:off x="365760" y="2880360"/>
            <a:ext cx="5577840" cy="3383280"/>
            <a:chOff x="365760" y="2880360"/>
            <a:chExt cx="5577840" cy="3383280"/>
          </a:xfrm>
        </p:grpSpPr>
        <p:sp>
          <p:nvSpPr>
            <p:cNvPr id="20" name="Forma 21"/>
            <p:cNvSpPr/>
            <p:nvPr/>
          </p:nvSpPr>
          <p:spPr>
            <a:xfrm>
              <a:off x="365760" y="3081528"/>
              <a:ext cx="5577840" cy="31821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Transporte</a:t>
              </a:r>
              <a:r>
                <a:rPr lang="es-AR" sz="1500" dirty="0">
                  <a:solidFill>
                    <a:srgbClr val="1E1E1E"/>
                  </a:solidFill>
                  <a:latin typeface="Fira Sans Condensed"/>
                  <a:ea typeface="Fira Sans Condensed"/>
                  <a:cs typeface="Fira Sans Condensed"/>
                  <a:sym typeface="Fira Sans Condensed"/>
                </a:rPr>
                <a:t> o señal central alterados.</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SOCS3</a:t>
              </a:r>
              <a:r>
                <a:rPr lang="es-AR" sz="1500" dirty="0">
                  <a:solidFill>
                    <a:srgbClr val="1E1E1E"/>
                  </a:solidFill>
                  <a:latin typeface="Fira Sans Condensed"/>
                  <a:ea typeface="Fira Sans Condensed"/>
                  <a:cs typeface="Fira Sans Condensed"/>
                  <a:sym typeface="Fira Sans Condensed"/>
                </a:rPr>
                <a:t> y </a:t>
              </a:r>
              <a:r>
                <a:rPr lang="es-AR" sz="1500" b="1" dirty="0">
                  <a:solidFill>
                    <a:srgbClr val="1E1E1E"/>
                  </a:solidFill>
                  <a:latin typeface="Fira Sans Condensed"/>
                  <a:ea typeface="Fira Sans Condensed"/>
                  <a:cs typeface="Fira Sans Condensed"/>
                  <a:sym typeface="Fira Sans Condensed"/>
                </a:rPr>
                <a:t>PTP1B</a:t>
              </a:r>
              <a:r>
                <a:rPr lang="es-AR" sz="1500" dirty="0">
                  <a:solidFill>
                    <a:srgbClr val="1E1E1E"/>
                  </a:solidFill>
                  <a:latin typeface="Fira Sans Condensed"/>
                  <a:ea typeface="Fira Sans Condensed"/>
                  <a:cs typeface="Fira Sans Condensed"/>
                  <a:sym typeface="Fira Sans Condensed"/>
                </a:rPr>
                <a:t> (frenos de la vía).</a:t>
              </a:r>
              <a:endParaRPr lang="es-AR" sz="1500" dirty="0">
                <a:latin typeface="Fira Sans Condensed"/>
              </a:endParaRPr>
            </a:p>
            <a:p>
              <a:pPr algn="l" marL="142875" indent="-142875">
                <a:spcAft>
                  <a:spcPts val="400"/>
                </a:spcAft>
                <a:buClr>
                  <a:srgbClr val="1E1E1E"/>
                </a:buClr>
                <a:buFont typeface="Arial"/>
                <a:buChar char="•"/>
              </a:pPr>
              <a:r>
                <a:rPr lang="es-AR" sz="1500" b="1" dirty="0">
                  <a:solidFill>
                    <a:srgbClr val="1E1E1E"/>
                  </a:solidFill>
                  <a:latin typeface="Fira Sans Condensed"/>
                  <a:ea typeface="Fira Sans Condensed"/>
                  <a:cs typeface="Fira Sans Condensed"/>
                  <a:sym typeface="Fira Sans Condensed"/>
                </a:rPr>
                <a:t>Inflamación hipotalámica</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a:p>
              <a:pPr algn="l" marL="142875" indent="-142875">
                <a:spcAft>
                  <a:spcPts val="400"/>
                </a:spcAft>
                <a:buClr>
                  <a:srgbClr val="1E1E1E"/>
                </a:buClr>
                <a:buFont typeface="Arial"/>
                <a:buChar char="•"/>
              </a:pPr>
              <a:r>
                <a:rPr lang="es-AR" sz="1500" dirty="0">
                  <a:solidFill>
                    <a:srgbClr val="1E1E1E"/>
                  </a:solidFill>
                  <a:latin typeface="Fira Sans Condensed"/>
                  <a:ea typeface="Fira Sans Condensed"/>
                  <a:cs typeface="Fira Sans Condensed"/>
                  <a:sym typeface="Fira Sans Condensed"/>
                </a:rPr>
                <a:t>Cambios de </a:t>
              </a:r>
              <a:r>
                <a:rPr lang="es-AR" sz="1500" b="1" dirty="0">
                  <a:solidFill>
                    <a:srgbClr val="1E1E1E"/>
                  </a:solidFill>
                  <a:latin typeface="Fira Sans Condensed"/>
                  <a:ea typeface="Fira Sans Condensed"/>
                  <a:cs typeface="Fira Sans Condensed"/>
                  <a:sym typeface="Fira Sans Condensed"/>
                </a:rPr>
                <a:t>circuitos</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21" name="Forma 22"/>
            <p:cNvSpPr/>
            <p:nvPr/>
          </p:nvSpPr>
          <p:spPr>
            <a:xfrm>
              <a:off x="502920" y="2880360"/>
              <a:ext cx="410250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RESISTENCIA A LA LEPTINA EN OBESIDAD COMÚN</a:t>
              </a:r>
              <a:endParaRPr lang="es-AR" sz="1400" dirty="0">
                <a:latin typeface="Fira Sans Condensed"/>
              </a:endParaRPr>
            </a:p>
          </p:txBody>
        </p:sp>
      </p:grpSp>
      <p:sp>
        <p:nvSpPr>
          <p:cNvPr id="22" name="Perla clínica"/>
          <p:cNvSpPr/>
          <p:nvPr/>
        </p:nvSpPr>
        <p:spPr>
          <a:xfrm>
            <a:off x="6263640" y="2880360"/>
            <a:ext cx="5577840" cy="1645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Leptina </a:t>
            </a:r>
            <a:r>
              <a:rPr lang="es-AR" sz="1550" b="1" dirty="0">
                <a:solidFill>
                  <a:srgbClr val="FFFFFF"/>
                </a:solidFill>
                <a:latin typeface="Fira Sans Condensed"/>
                <a:ea typeface="Fira Sans Condensed"/>
                <a:cs typeface="Fira Sans Condensed"/>
                <a:sym typeface="Fira Sans Condensed"/>
              </a:rPr>
              <a:t>alta</a:t>
            </a:r>
            <a:r>
              <a:rPr lang="es-AR" sz="1550" dirty="0">
                <a:solidFill>
                  <a:srgbClr val="FFFFFF"/>
                </a:solidFill>
                <a:latin typeface="Fira Sans Condensed"/>
                <a:ea typeface="Fira Sans Condensed"/>
                <a:cs typeface="Fira Sans Condensed"/>
                <a:sym typeface="Fira Sans Condensed"/>
              </a:rPr>
              <a:t> con respuesta </a:t>
            </a:r>
            <a:r>
              <a:rPr lang="es-AR" sz="1550" b="1" dirty="0">
                <a:solidFill>
                  <a:srgbClr val="FFFFFF"/>
                </a:solidFill>
                <a:latin typeface="Fira Sans Condensed"/>
                <a:ea typeface="Fira Sans Condensed"/>
                <a:cs typeface="Fira Sans Condensed"/>
                <a:sym typeface="Fira Sans Condensed"/>
              </a:rPr>
              <a:t>ineficaz</a:t>
            </a:r>
            <a:r>
              <a:rPr lang="es-AR" sz="1550" dirty="0">
                <a:solidFill>
                  <a:srgbClr val="FFFFFF"/>
                </a:solidFill>
                <a:latin typeface="Fira Sans Condensed"/>
                <a:ea typeface="Fira Sans Condensed"/>
                <a:cs typeface="Fira Sans Condensed"/>
                <a:sym typeface="Fira Sans Condensed"/>
              </a:rPr>
              <a:t>: no suponer </a:t>
            </a:r>
            <a:r>
              <a:rPr lang="es-AR" sz="1550" b="1" dirty="0">
                <a:solidFill>
                  <a:srgbClr val="FFFFFF"/>
                </a:solidFill>
                <a:latin typeface="Fira Sans Condensed"/>
                <a:ea typeface="Fira Sans Condensed"/>
                <a:cs typeface="Fira Sans Condensed"/>
                <a:sym typeface="Fira Sans Condensed"/>
              </a:rPr>
              <a:t>deficiencia absoluta</a:t>
            </a:r>
            <a:r>
              <a:rPr lang="es-AR" sz="1550" dirty="0">
                <a:solidFill>
                  <a:srgbClr val="FFFFFF"/>
                </a:solidFill>
                <a:latin typeface="Fira Sans Condensed"/>
                <a:ea typeface="Fira Sans Condensed"/>
                <a:cs typeface="Fira Sans Condensed"/>
                <a:sym typeface="Fira Sans Condensed"/>
              </a:rPr>
              <a:t> en toda obesidad.</a:t>
            </a:r>
            <a:endParaRPr lang="es-AR" sz="1550" dirty="0">
              <a:latin typeface="Fira Sans Condensed"/>
            </a:endParaRPr>
          </a:p>
        </p:txBody>
      </p:sp>
      <p:sp>
        <p:nvSpPr>
          <p:cNvPr id="23" name="Forma 24"/>
          <p:cNvSpPr/>
          <p:nvPr/>
        </p:nvSpPr>
        <p:spPr>
          <a:xfrm>
            <a:off x="6263640" y="4709160"/>
            <a:ext cx="5577840" cy="15544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La leptina </a:t>
            </a:r>
            <a:r>
              <a:rPr lang="es-AR" sz="1450" b="1" dirty="0">
                <a:solidFill>
                  <a:srgbClr val="1E1E1E"/>
                </a:solidFill>
                <a:latin typeface="Fira Sans Condensed"/>
                <a:ea typeface="Fira Sans Condensed"/>
                <a:cs typeface="Fira Sans Condensed"/>
                <a:sym typeface="Fira Sans Condensed"/>
              </a:rPr>
              <a:t>recombinante</a:t>
            </a:r>
            <a:r>
              <a:rPr lang="es-AR" sz="1450" dirty="0">
                <a:solidFill>
                  <a:srgbClr val="1E1E1E"/>
                </a:solidFill>
                <a:latin typeface="Fira Sans Condensed"/>
                <a:ea typeface="Fira Sans Condensed"/>
                <a:cs typeface="Fira Sans Condensed"/>
                <a:sym typeface="Fira Sans Condensed"/>
              </a:rPr>
              <a:t> es útil en deficiencias </a:t>
            </a:r>
            <a:r>
              <a:rPr lang="es-AR" sz="1450" b="1" dirty="0">
                <a:solidFill>
                  <a:srgbClr val="1E1E1E"/>
                </a:solidFill>
                <a:latin typeface="Fira Sans Condensed"/>
                <a:ea typeface="Fira Sans Condensed"/>
                <a:cs typeface="Fira Sans Condensed"/>
                <a:sym typeface="Fira Sans Condensed"/>
              </a:rPr>
              <a:t>congénitas</a:t>
            </a:r>
            <a:r>
              <a:rPr lang="es-AR" sz="1450" dirty="0">
                <a:solidFill>
                  <a:srgbClr val="1E1E1E"/>
                </a:solidFill>
                <a:latin typeface="Fira Sans Condensed"/>
                <a:ea typeface="Fira Sans Condensed"/>
                <a:cs typeface="Fira Sans Condensed"/>
                <a:sym typeface="Fira Sans Condensed"/>
              </a:rPr>
              <a:t> de leptina, no como supresor general del apetito.</a:t>
            </a:r>
            <a:endParaRPr lang="es-AR" sz="1450"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LEPTINA: SEÑAL DE RESERVAS Y RESISTENCIA FUNCIONAL</a:t>
            </a:r>
            <a:endParaRPr lang="es-AR" sz="28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159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500"/>
                                        <p:tgtEl>
                                          <p:spTgt spid="6"/>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childTnLst>
                          </p:cTn>
                        </p:par>
                      </p:childTnLst>
                    </p:cTn>
                  </p:par>
                  <p:par>
                    <p:cTn id="40" fill="hold">
                      <p:stCondLst>
                        <p:cond delay="indefinite"/>
                      </p:stCondLst>
                      <p:childTnLst>
                        <p:par>
                          <p:cTn id="35"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500"/>
                                        <p:tgtEl>
                                          <p:spTgt spid="9"/>
                                        </p:tgtEl>
                                      </p:cBhvr>
                                    </p:animEffect>
                                  </p:childTnLst>
                                </p:cTn>
                              </p:par>
                            </p:childTnLst>
                          </p:cTn>
                        </p:par>
                        <p:par>
                          <p:cTn id="39"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49" fill="hold">
                      <p:stCondLst>
                        <p:cond delay="indefinite"/>
                      </p:stCondLst>
                      <p:childTnLst>
                        <p:par>
                          <p:cTn id="4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childTnLst>
                          </p:cTn>
                        </p:par>
                        <p:par>
                          <p:cTn id="48" fill="hold">
                            <p:stCondLst>
                              <p:cond delay="400"/>
                            </p:stCondLst>
                            <p:childTnLst>
                              <p:par>
                                <p:cTn id="45" presetID="22" presetClass="entr" presetSubtype="8"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54" fill="hold">
                      <p:stCondLst>
                        <p:cond delay="indefinite"/>
                      </p:stCondLst>
                      <p:childTnLst>
                        <p:par>
                          <p:cTn id="5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par>
                    <p:cTn id="61" fill="hold">
                      <p:stCondLst>
                        <p:cond delay="indefinite"/>
                      </p:stCondLst>
                      <p:childTnLst>
                        <p:par>
                          <p:cTn id="60"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p:cTn id="57" dur="500" fill="hold"/>
                                        <p:tgtEl>
                                          <p:spTgt spid="22"/>
                                        </p:tgtEl>
                                        <p:attrNameLst>
                                          <p:attrName>ppt_w</p:attrName>
                                        </p:attrNameLst>
                                      </p:cBhvr>
                                      <p:tavLst>
                                        <p:tav tm="0">
                                          <p:val>
                                            <p:fltVal val="0"/>
                                          </p:val>
                                        </p:tav>
                                        <p:tav tm="100000">
                                          <p:val>
                                            <p:strVal val="#ppt_w"/>
                                          </p:val>
                                        </p:tav>
                                      </p:tavLst>
                                    </p:anim>
                                    <p:anim calcmode="lin" valueType="num">
                                      <p:cBhvr>
                                        <p:cTn id="58" dur="500" fill="hold"/>
                                        <p:tgtEl>
                                          <p:spTgt spid="22"/>
                                        </p:tgtEl>
                                        <p:attrNameLst>
                                          <p:attrName>ppt_h</p:attrName>
                                        </p:attrNameLst>
                                      </p:cBhvr>
                                      <p:tavLst>
                                        <p:tav tm="0">
                                          <p:val>
                                            <p:fltVal val="0"/>
                                          </p:val>
                                        </p:tav>
                                        <p:tav tm="100000">
                                          <p:val>
                                            <p:strVal val="#ppt_h"/>
                                          </p:val>
                                        </p:tav>
                                      </p:tavLst>
                                    </p:anim>
                                    <p:animEffect transition="in" filter="fade">
                                      <p:cBhvr>
                                        <p:cTn id="59" dur="500"/>
                                        <p:tgtEl>
                                          <p:spTgt spid="22"/>
                                        </p:tgtEl>
                                      </p:cBhvr>
                                    </p:animEffect>
                                  </p:childTnLst>
                                </p:cTn>
                              </p:par>
                            </p:childTnLst>
                          </p:cTn>
                        </p:par>
                      </p:childTnLst>
                    </p:cTn>
                  </p:par>
                  <p:par>
                    <p:cTn id="66" fill="hold">
                      <p:stCondLst>
                        <p:cond delay="indefinite"/>
                      </p:stCondLst>
                      <p:childTnLst>
                        <p:par>
                          <p:cTn id="65"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animBg="1"/>
      <p:bldP spid="14" grpId="0" animBg="1"/>
      <p:bldP spid="7" grpId="0" animBg="1"/>
      <p:bldP spid="15" grpId="0" animBg="1"/>
      <p:bldP spid="8" grpId="0" animBg="1"/>
      <p:bldP spid="16" grpId="0" animBg="1"/>
      <p:bldP spid="9" grpId="0" animBg="1"/>
      <p:bldP spid="17" grpId="0" animBg="1"/>
      <p:bldP spid="18" grpId="0" animBg="1"/>
      <p:bldP spid="22" grpId="0" animBg="1"/>
      <p:bldP spid="23" grpId="0" animBg="1"/>
    </p:bld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pSp>
        <p:nvGrpSpPr>
          <p:cNvPr id="6" name="Insulina central"/>
          <p:cNvGrpSpPr/>
          <p:nvPr/>
        </p:nvGrpSpPr>
        <p:grpSpPr>
          <a:xfrm>
            <a:off x="365760" y="1097280"/>
            <a:ext cx="5486400" cy="3383280"/>
            <a:chOff x="365760" y="1097280"/>
            <a:chExt cx="5486400" cy="3383280"/>
          </a:xfrm>
        </p:grpSpPr>
        <p:sp>
          <p:nvSpPr>
            <p:cNvPr id="7" name="Recuadro INSULINA COMO SEÑAL CE"/>
            <p:cNvSpPr/>
            <p:nvPr/>
          </p:nvSpPr>
          <p:spPr>
            <a:xfrm>
              <a:off x="365760" y="1097280"/>
              <a:ext cx="54864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INSULINA COMO SEÑAL CENTRAL</a:t>
              </a:r>
              <a:endParaRPr lang="es-AR" sz="1500" dirty="0">
                <a:latin typeface="Fira Sans Condensed"/>
              </a:endParaRPr>
            </a:p>
          </p:txBody>
        </p:sp>
        <p:sp>
          <p:nvSpPr>
            <p:cNvPr id="8" name="Forma 7"/>
            <p:cNvSpPr/>
            <p:nvPr/>
          </p:nvSpPr>
          <p:spPr>
            <a:xfrm>
              <a:off x="365760" y="1737360"/>
              <a:ext cx="5486400" cy="2743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Informa al SNC la </a:t>
              </a:r>
              <a:r>
                <a:rPr lang="es-AR" sz="1400" b="1" dirty="0">
                  <a:solidFill>
                    <a:srgbClr val="1E1E1E"/>
                  </a:solidFill>
                  <a:latin typeface="Fira Sans Condensed"/>
                  <a:ea typeface="Fira Sans Condensed"/>
                  <a:cs typeface="Fira Sans Condensed"/>
                  <a:sym typeface="Fira Sans Condensed"/>
                </a:rPr>
                <a:t>disponibilidad energética</a:t>
              </a:r>
              <a:r>
                <a:rPr lang="es-AR" sz="1400" dirty="0">
                  <a:solidFill>
                    <a:srgbClr val="1E1E1E"/>
                  </a:solidFill>
                  <a:latin typeface="Fira Sans Condensed"/>
                  <a:ea typeface="Fira Sans Condensed"/>
                  <a:cs typeface="Fira Sans Condensed"/>
                  <a:sym typeface="Fira Sans Condensed"/>
                </a:rPr>
                <a:t> a largo plazo.</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Receptores </a:t>
              </a:r>
              <a:r>
                <a:rPr lang="es-AR" sz="1400" b="1" dirty="0">
                  <a:solidFill>
                    <a:srgbClr val="1E1E1E"/>
                  </a:solidFill>
                  <a:latin typeface="Fira Sans Condensed"/>
                  <a:ea typeface="Fira Sans Condensed"/>
                  <a:cs typeface="Fira Sans Condensed"/>
                  <a:sym typeface="Fira Sans Condensed"/>
                </a:rPr>
                <a:t>hipotalámicos y mesolímbicos</a:t>
              </a:r>
              <a:r>
                <a:rPr lang="es-AR" sz="1400" dirty="0">
                  <a:solidFill>
                    <a:srgbClr val="1E1E1E"/>
                  </a:solidFill>
                  <a:latin typeface="Fira Sans Condensed"/>
                  <a:ea typeface="Fira Sans Condensed"/>
                  <a:cs typeface="Fira Sans Condensed"/>
                  <a:sym typeface="Fira Sans Condensed"/>
                </a:rPr>
                <a:t>: saciedad, ingesta, función autonómica.</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La señal IRS–PI3K/Akt neuronal </a:t>
              </a:r>
              <a:r>
                <a:rPr lang="es-AR" sz="1400" b="1" dirty="0">
                  <a:solidFill>
                    <a:srgbClr val="1E1E1E"/>
                  </a:solidFill>
                  <a:latin typeface="Fira Sans Condensed"/>
                  <a:ea typeface="Fira Sans Condensed"/>
                  <a:cs typeface="Fira Sans Condensed"/>
                  <a:sym typeface="Fira Sans Condensed"/>
                </a:rPr>
                <a:t>no equivale</a:t>
              </a:r>
              <a:r>
                <a:rPr lang="es-AR" sz="1400" dirty="0">
                  <a:solidFill>
                    <a:srgbClr val="1E1E1E"/>
                  </a:solidFill>
                  <a:latin typeface="Fira Sans Condensed"/>
                  <a:ea typeface="Fira Sans Condensed"/>
                  <a:cs typeface="Fira Sans Condensed"/>
                  <a:sym typeface="Fira Sans Condensed"/>
                </a:rPr>
                <a:t> a la del músculo.</a:t>
              </a:r>
              <a:endParaRPr lang="es-AR" sz="1400" dirty="0">
                <a:latin typeface="Fira Sans Condensed"/>
              </a:endParaRPr>
            </a:p>
            <a:p>
              <a:pPr algn="l" marL="133350" indent="-133350">
                <a:spcAft>
                  <a:spcPts val="4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Resistencia central</a:t>
              </a:r>
              <a:r>
                <a:rPr lang="es-AR" sz="1400" dirty="0">
                  <a:solidFill>
                    <a:srgbClr val="1E1E1E"/>
                  </a:solidFill>
                  <a:latin typeface="Fira Sans Condensed"/>
                  <a:ea typeface="Fira Sans Condensed"/>
                  <a:cs typeface="Fira Sans Condensed"/>
                  <a:sym typeface="Fira Sans Condensed"/>
                </a:rPr>
                <a:t> puede coexistir con </a:t>
              </a:r>
              <a:r>
                <a:rPr lang="es-AR" sz="1400" b="1" dirty="0">
                  <a:solidFill>
                    <a:srgbClr val="1E1E1E"/>
                  </a:solidFill>
                  <a:latin typeface="Fira Sans Condensed"/>
                  <a:ea typeface="Fira Sans Condensed"/>
                  <a:cs typeface="Fira Sans Condensed"/>
                  <a:sym typeface="Fira Sans Condensed"/>
                </a:rPr>
                <a:t>hiperinsulinemia periférica</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Modula el </a:t>
              </a:r>
              <a:r>
                <a:rPr lang="es-AR" sz="1400" b="1" dirty="0">
                  <a:solidFill>
                    <a:srgbClr val="1E1E1E"/>
                  </a:solidFill>
                  <a:latin typeface="Fira Sans Condensed"/>
                  <a:ea typeface="Fira Sans Condensed"/>
                  <a:cs typeface="Fira Sans Condensed"/>
                  <a:sym typeface="Fira Sans Condensed"/>
                </a:rPr>
                <a:t>transportador de dopamina</a:t>
              </a:r>
              <a:r>
                <a:rPr lang="es-AR" sz="1400" dirty="0">
                  <a:solidFill>
                    <a:srgbClr val="1E1E1E"/>
                  </a:solidFill>
                  <a:latin typeface="Fira Sans Condensed"/>
                  <a:ea typeface="Fira Sans Condensed"/>
                  <a:cs typeface="Fira Sans Condensed"/>
                  <a:sym typeface="Fira Sans Condensed"/>
                </a:rPr>
                <a:t> y la recompensa.</a:t>
              </a:r>
              <a:endParaRPr lang="es-AR" sz="1400" dirty="0">
                <a:latin typeface="Fira Sans Condensed"/>
              </a:endParaRPr>
            </a:p>
          </p:txBody>
        </p:sp>
      </p:grpSp>
      <p:grpSp>
        <p:nvGrpSpPr>
          <p:cNvPr id="9" name="Grelina"/>
          <p:cNvGrpSpPr/>
          <p:nvPr/>
        </p:nvGrpSpPr>
        <p:grpSpPr>
          <a:xfrm>
            <a:off x="6263640" y="1097280"/>
            <a:ext cx="5577840" cy="3383280"/>
            <a:chOff x="6263640" y="1097280"/>
            <a:chExt cx="5577840" cy="3383280"/>
          </a:xfrm>
        </p:grpSpPr>
        <p:sp>
          <p:nvSpPr>
            <p:cNvPr id="10" name="Recuadro GRELINA (GHRELINA)"/>
            <p:cNvSpPr/>
            <p:nvPr/>
          </p:nvSpPr>
          <p:spPr>
            <a:xfrm>
              <a:off x="6263640" y="1097280"/>
              <a:ext cx="55778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GRELINA (GHRELINA)</a:t>
              </a:r>
              <a:endParaRPr lang="es-AR" sz="1500" dirty="0">
                <a:latin typeface="Fira Sans Condensed"/>
              </a:endParaRPr>
            </a:p>
          </p:txBody>
        </p:sp>
        <p:pic>
          <p:nvPicPr>
            <p:cNvPr id="11" name="Estómago grelina" descr="Ilustración biomédica (Servier Medical Art, CC BY)"/>
            <p:cNvPicPr>
              <a:picLocks noChangeAspect="1"/>
            </p:cNvPicPr>
            <p:nvPr/>
          </p:nvPicPr>
          <p:blipFill>
            <a:blip r:embed="rId2"/>
            <a:stretch>
              <a:fillRect/>
            </a:stretch>
          </p:blipFill>
          <p:spPr>
            <a:xfrm>
              <a:off x="6355080" y="1783080"/>
              <a:ext cx="1554480" cy="1616844"/>
            </a:xfrm>
            <a:prstGeom prst="rect">
              <a:avLst/>
            </a:prstGeom>
          </p:spPr>
        </p:pic>
        <p:sp>
          <p:nvSpPr>
            <p:cNvPr id="12" name="Forma 11"/>
            <p:cNvSpPr/>
            <p:nvPr/>
          </p:nvSpPr>
          <p:spPr>
            <a:xfrm>
              <a:off x="8046720" y="1737360"/>
              <a:ext cx="3794760" cy="27432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28587" indent="-128587">
                <a:spcAft>
                  <a:spcPts val="400"/>
                </a:spcAft>
                <a:buClr>
                  <a:srgbClr val="1E1E1E"/>
                </a:buClr>
                <a:buFont typeface="Arial"/>
                <a:buChar char="•"/>
              </a:pPr>
              <a:r>
                <a:rPr lang="es-AR" sz="1350" b="1" dirty="0">
                  <a:solidFill>
                    <a:srgbClr val="1E1E1E"/>
                  </a:solidFill>
                  <a:latin typeface="Fira Sans Condensed"/>
                  <a:ea typeface="Fira Sans Condensed"/>
                  <a:cs typeface="Fira Sans Condensed"/>
                  <a:sym typeface="Fira Sans Condensed"/>
                </a:rPr>
                <a:t>Fundus gástrico</a:t>
              </a:r>
              <a:r>
                <a:rPr lang="es-AR" sz="1350" dirty="0">
                  <a:solidFill>
                    <a:srgbClr val="1E1E1E"/>
                  </a:solidFill>
                  <a:latin typeface="Fira Sans Condensed"/>
                  <a:ea typeface="Fira Sans Condensed"/>
                  <a:cs typeface="Fira Sans Condensed"/>
                  <a:sym typeface="Fira Sans Condensed"/>
                </a:rPr>
                <a:t>; acilada por </a:t>
              </a:r>
              <a:r>
                <a:rPr lang="es-AR" sz="1350" b="1" dirty="0">
                  <a:solidFill>
                    <a:srgbClr val="1E1E1E"/>
                  </a:solidFill>
                  <a:latin typeface="Fira Sans Condensed"/>
                  <a:ea typeface="Fira Sans Condensed"/>
                  <a:cs typeface="Fira Sans Condensed"/>
                  <a:sym typeface="Fira Sans Condensed"/>
                </a:rPr>
                <a:t>GOAT</a:t>
              </a:r>
              <a:r>
                <a:rPr lang="es-AR" sz="1350" dirty="0">
                  <a:solidFill>
                    <a:srgbClr val="1E1E1E"/>
                  </a:solidFill>
                  <a:latin typeface="Fira Sans Condensed"/>
                  <a:ea typeface="Fira Sans Condensed"/>
                  <a:cs typeface="Fira Sans Condensed"/>
                  <a:sym typeface="Fira Sans Condensed"/>
                </a:rPr>
                <a:t> → </a:t>
              </a:r>
              <a:r>
                <a:rPr lang="es-AR" sz="1350" b="1" dirty="0">
                  <a:solidFill>
                    <a:srgbClr val="1E1E1E"/>
                  </a:solidFill>
                  <a:latin typeface="Fira Sans Condensed"/>
                  <a:ea typeface="Fira Sans Condensed"/>
                  <a:cs typeface="Fira Sans Condensed"/>
                  <a:sym typeface="Fira Sans Condensed"/>
                </a:rPr>
                <a:t>GHSR1a</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a:p>
              <a:pPr algn="l" marL="128587" indent="-128587">
                <a:spcAft>
                  <a:spcPts val="400"/>
                </a:spcAft>
                <a:buClr>
                  <a:srgbClr val="1E1E1E"/>
                </a:buClr>
                <a:buFont typeface="Arial"/>
                <a:buChar char="•"/>
              </a:pPr>
              <a:r>
                <a:rPr lang="es-AR" sz="1350" b="1" dirty="0">
                  <a:solidFill>
                    <a:srgbClr val="1E1E1E"/>
                  </a:solidFill>
                  <a:latin typeface="Fira Sans Condensed"/>
                  <a:ea typeface="Fira Sans Condensed"/>
                  <a:cs typeface="Fira Sans Condensed"/>
                  <a:sym typeface="Fira Sans Condensed"/>
                </a:rPr>
                <a:t>Sube antes</a:t>
              </a:r>
              <a:r>
                <a:rPr lang="es-AR" sz="1350" dirty="0">
                  <a:solidFill>
                    <a:srgbClr val="1E1E1E"/>
                  </a:solidFill>
                  <a:latin typeface="Fira Sans Condensed"/>
                  <a:ea typeface="Fira Sans Condensed"/>
                  <a:cs typeface="Fira Sans Condensed"/>
                  <a:sym typeface="Fira Sans Condensed"/>
                </a:rPr>
                <a:t> de comer y baja después (dinámica cambia con obesidad y cirugía).</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Activa </a:t>
              </a:r>
              <a:r>
                <a:rPr lang="es-AR" sz="1350" b="1" dirty="0">
                  <a:solidFill>
                    <a:srgbClr val="1E1E1E"/>
                  </a:solidFill>
                  <a:latin typeface="Fira Sans Condensed"/>
                  <a:ea typeface="Fira Sans Condensed"/>
                  <a:cs typeface="Fira Sans Condensed"/>
                  <a:sym typeface="Fira Sans Condensed"/>
                </a:rPr>
                <a:t>NPY/AgRP</a:t>
              </a:r>
              <a:r>
                <a:rPr lang="es-AR" sz="1350" dirty="0">
                  <a:solidFill>
                    <a:srgbClr val="1E1E1E"/>
                  </a:solidFill>
                  <a:latin typeface="Fira Sans Condensed"/>
                  <a:ea typeface="Fira Sans Condensed"/>
                  <a:cs typeface="Fira Sans Condensed"/>
                  <a:sym typeface="Fira Sans Condensed"/>
                </a:rPr>
                <a:t>, apetito, búsqueda y </a:t>
              </a:r>
              <a:r>
                <a:rPr lang="es-AR" sz="1350" b="1" dirty="0">
                  <a:solidFill>
                    <a:srgbClr val="1E1E1E"/>
                  </a:solidFill>
                  <a:latin typeface="Fira Sans Condensed"/>
                  <a:ea typeface="Fira Sans Condensed"/>
                  <a:cs typeface="Fira Sans Condensed"/>
                  <a:sym typeface="Fira Sans Condensed"/>
                </a:rPr>
                <a:t>GH</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grpSp>
      <p:sp>
        <p:nvSpPr>
          <p:cNvPr id="13" name="Perla clínica"/>
          <p:cNvSpPr/>
          <p:nvPr/>
        </p:nvSpPr>
        <p:spPr>
          <a:xfrm>
            <a:off x="365760" y="4709160"/>
            <a:ext cx="11475720" cy="15544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La </a:t>
            </a:r>
            <a:r>
              <a:rPr lang="es-AR" sz="1550" b="1" dirty="0">
                <a:solidFill>
                  <a:srgbClr val="FFFFFF"/>
                </a:solidFill>
                <a:latin typeface="Fira Sans Condensed"/>
                <a:ea typeface="Fira Sans Condensed"/>
                <a:cs typeface="Fira Sans Condensed"/>
                <a:sym typeface="Fira Sans Condensed"/>
              </a:rPr>
              <a:t>grelina desacilada</a:t>
            </a:r>
            <a:r>
              <a:rPr lang="es-AR" sz="1550" dirty="0">
                <a:solidFill>
                  <a:srgbClr val="FFFFFF"/>
                </a:solidFill>
                <a:latin typeface="Fira Sans Condensed"/>
                <a:ea typeface="Fira Sans Condensed"/>
                <a:cs typeface="Fira Sans Condensed"/>
                <a:sym typeface="Fira Sans Condensed"/>
              </a:rPr>
              <a:t> tiene biología propia y no es idéntica a la activa. Término correcto: </a:t>
            </a:r>
            <a:r>
              <a:rPr lang="es-AR" sz="1550" b="1" dirty="0">
                <a:solidFill>
                  <a:srgbClr val="FFFFFF"/>
                </a:solidFill>
                <a:latin typeface="Fira Sans Condensed"/>
                <a:ea typeface="Fira Sans Condensed"/>
                <a:cs typeface="Fira Sans Condensed"/>
                <a:sym typeface="Fira Sans Condensed"/>
              </a:rPr>
              <a:t>grelina/ghrelina</a:t>
            </a:r>
            <a:r>
              <a:rPr lang="es-AR" sz="1550" dirty="0">
                <a:solidFill>
                  <a:srgbClr val="FFFFFF"/>
                </a:solidFill>
                <a:latin typeface="Fira Sans Condensed"/>
                <a:ea typeface="Fira Sans Condensed"/>
                <a:cs typeface="Fira Sans Condensed"/>
                <a:sym typeface="Fira Sans Condensed"/>
              </a:rPr>
              <a:t> (no «GHrelina»).</a:t>
            </a:r>
            <a:endParaRPr lang="es-AR" sz="15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INSULINA CENTRAL Y GRELINA</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Estómago sac" descr="Ilustración biomédica (Servier Medical Art, CC BY)"/>
          <p:cNvPicPr>
            <a:picLocks noChangeAspect="1"/>
          </p:cNvPicPr>
          <p:nvPr/>
        </p:nvPicPr>
        <p:blipFill>
          <a:blip r:embed="rId2"/>
          <a:stretch>
            <a:fillRect/>
          </a:stretch>
        </p:blipFill>
        <p:spPr>
          <a:xfrm>
            <a:off x="365760" y="3291840"/>
            <a:ext cx="1645920" cy="1711952"/>
          </a:xfrm>
          <a:prstGeom prst="rect">
            <a:avLst/>
          </a:prstGeom>
        </p:spPr>
      </p:pic>
      <p:pic>
        <p:nvPicPr>
          <p:cNvPr id="8" name="Intestino sac" descr="Ilustración biomédica (Servier Medical Art, CC BY)"/>
          <p:cNvPicPr>
            <a:picLocks noChangeAspect="1"/>
          </p:cNvPicPr>
          <p:nvPr/>
        </p:nvPicPr>
        <p:blipFill>
          <a:blip r:embed="rId3"/>
          <a:stretch>
            <a:fillRect/>
          </a:stretch>
        </p:blipFill>
        <p:spPr>
          <a:xfrm>
            <a:off x="2103120" y="4206240"/>
            <a:ext cx="1737360" cy="1724950"/>
          </a:xfrm>
          <a:prstGeom prst="rect">
            <a:avLst/>
          </a:prstGeom>
        </p:spPr>
      </p:pic>
      <p:pic>
        <p:nvPicPr>
          <p:cNvPr id="9" name="Páncreas sac" descr="Ilustración biomédica (Servier Medical Art, CC BY)"/>
          <p:cNvPicPr>
            <a:picLocks noChangeAspect="1"/>
          </p:cNvPicPr>
          <p:nvPr/>
        </p:nvPicPr>
        <p:blipFill>
          <a:blip r:embed="rId4"/>
          <a:stretch>
            <a:fillRect/>
          </a:stretch>
        </p:blipFill>
        <p:spPr>
          <a:xfrm>
            <a:off x="548640" y="5486400"/>
            <a:ext cx="1737360" cy="721004"/>
          </a:xfrm>
          <a:prstGeom prst="rect">
            <a:avLst/>
          </a:prstGeom>
        </p:spPr>
      </p:pic>
      <p:grpSp>
        <p:nvGrpSpPr>
          <p:cNvPr id="10" name="Señal CCK"/>
          <p:cNvGrpSpPr/>
          <p:nvPr/>
        </p:nvGrpSpPr>
        <p:grpSpPr>
          <a:xfrm>
            <a:off x="4023360" y="1051560"/>
            <a:ext cx="7818120" cy="603504"/>
            <a:chOff x="4023360" y="1051560"/>
            <a:chExt cx="7818120" cy="603504"/>
          </a:xfrm>
        </p:grpSpPr>
        <p:sp>
          <p:nvSpPr>
            <p:cNvPr id="11" name="Recuadro CCK"/>
            <p:cNvSpPr/>
            <p:nvPr/>
          </p:nvSpPr>
          <p:spPr>
            <a:xfrm>
              <a:off x="4023360" y="1051560"/>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CCK</a:t>
              </a:r>
              <a:endParaRPr lang="es-AR" sz="1400" dirty="0">
                <a:latin typeface="Fira Sans Condensed"/>
              </a:endParaRPr>
            </a:p>
          </p:txBody>
        </p:sp>
        <p:sp>
          <p:nvSpPr>
            <p:cNvPr id="12" name="Forma 11"/>
            <p:cNvSpPr/>
            <p:nvPr/>
          </p:nvSpPr>
          <p:spPr>
            <a:xfrm>
              <a:off x="5669280" y="1051560"/>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Células I duodeno/yeyuno (grasas, proteínas) → CCK1 en aferencias vagales: tamaño de comida ↓, vaciamiento ↓, secreción pancreática y vesicular</a:t>
              </a:r>
              <a:endParaRPr lang="es-AR" sz="1200" dirty="0">
                <a:latin typeface="Fira Sans Condensed"/>
              </a:endParaRPr>
            </a:p>
          </p:txBody>
        </p:sp>
      </p:grpSp>
      <p:grpSp>
        <p:nvGrpSpPr>
          <p:cNvPr id="13" name="Señal GLP-1"/>
          <p:cNvGrpSpPr/>
          <p:nvPr/>
        </p:nvGrpSpPr>
        <p:grpSpPr>
          <a:xfrm>
            <a:off x="4023360" y="1764792"/>
            <a:ext cx="7818120" cy="603504"/>
            <a:chOff x="4023360" y="1764792"/>
            <a:chExt cx="7818120" cy="603504"/>
          </a:xfrm>
        </p:grpSpPr>
        <p:sp>
          <p:nvSpPr>
            <p:cNvPr id="14" name="Recuadro GLP-1"/>
            <p:cNvSpPr/>
            <p:nvPr/>
          </p:nvSpPr>
          <p:spPr>
            <a:xfrm>
              <a:off x="4023360" y="1764792"/>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GLP-1</a:t>
              </a:r>
              <a:endParaRPr lang="es-AR" sz="1400" dirty="0">
                <a:latin typeface="Fira Sans Condensed"/>
              </a:endParaRPr>
            </a:p>
          </p:txBody>
        </p:sp>
        <p:sp>
          <p:nvSpPr>
            <p:cNvPr id="15" name="Forma 14"/>
            <p:cNvSpPr/>
            <p:nvPr/>
          </p:nvSpPr>
          <p:spPr>
            <a:xfrm>
              <a:off x="5669280" y="1764792"/>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Células L → GLP-1R (Gs–AMPc–PKA/Epac): insulina glucosa-dependiente, glucagón ↓, vaciamiento ↓, saciedad</a:t>
              </a:r>
              <a:endParaRPr lang="es-AR" sz="1200" dirty="0">
                <a:latin typeface="Fira Sans Condensed"/>
              </a:endParaRPr>
            </a:p>
          </p:txBody>
        </p:sp>
      </p:grpSp>
      <p:grpSp>
        <p:nvGrpSpPr>
          <p:cNvPr id="16" name="Señal GIP"/>
          <p:cNvGrpSpPr/>
          <p:nvPr/>
        </p:nvGrpSpPr>
        <p:grpSpPr>
          <a:xfrm>
            <a:off x="4023360" y="2478024"/>
            <a:ext cx="7818120" cy="603504"/>
            <a:chOff x="4023360" y="2478024"/>
            <a:chExt cx="7818120" cy="603504"/>
          </a:xfrm>
        </p:grpSpPr>
        <p:sp>
          <p:nvSpPr>
            <p:cNvPr id="17" name="Recuadro GIP"/>
            <p:cNvSpPr/>
            <p:nvPr/>
          </p:nvSpPr>
          <p:spPr>
            <a:xfrm>
              <a:off x="4023360" y="2478024"/>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GIP</a:t>
              </a:r>
              <a:endParaRPr lang="es-AR" sz="1400" dirty="0">
                <a:latin typeface="Fira Sans Condensed"/>
              </a:endParaRPr>
            </a:p>
          </p:txBody>
        </p:sp>
        <p:sp>
          <p:nvSpPr>
            <p:cNvPr id="18" name="Forma 17"/>
            <p:cNvSpPr/>
            <p:nvPr/>
          </p:nvSpPr>
          <p:spPr>
            <a:xfrm>
              <a:off x="5669280" y="2478024"/>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Células K → GIPR: insulina glucosa-dependiente; base de los agonistas duales</a:t>
              </a:r>
              <a:endParaRPr lang="es-AR" sz="1200" dirty="0">
                <a:latin typeface="Fira Sans Condensed"/>
              </a:endParaRPr>
            </a:p>
          </p:txBody>
        </p:sp>
      </p:grpSp>
      <p:grpSp>
        <p:nvGrpSpPr>
          <p:cNvPr id="19" name="Señal PYY₃₋₃₆"/>
          <p:cNvGrpSpPr/>
          <p:nvPr/>
        </p:nvGrpSpPr>
        <p:grpSpPr>
          <a:xfrm>
            <a:off x="4023360" y="3191256"/>
            <a:ext cx="7818120" cy="603504"/>
            <a:chOff x="4023360" y="3191256"/>
            <a:chExt cx="7818120" cy="603504"/>
          </a:xfrm>
        </p:grpSpPr>
        <p:sp>
          <p:nvSpPr>
            <p:cNvPr id="20" name="Recuadro PYY₃₋₃₆"/>
            <p:cNvSpPr/>
            <p:nvPr/>
          </p:nvSpPr>
          <p:spPr>
            <a:xfrm>
              <a:off x="4023360" y="3191256"/>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PYY₃₋₃₆</a:t>
              </a:r>
              <a:endParaRPr lang="es-AR" sz="1400" dirty="0">
                <a:latin typeface="Fira Sans Condensed"/>
              </a:endParaRPr>
            </a:p>
          </p:txBody>
        </p:sp>
        <p:sp>
          <p:nvSpPr>
            <p:cNvPr id="21" name="Forma 20"/>
            <p:cNvSpPr/>
            <p:nvPr/>
          </p:nvSpPr>
          <p:spPr>
            <a:xfrm>
              <a:off x="5669280" y="3191256"/>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Células L posprandiales → receptores Y2: inhibe actividad orexígena</a:t>
              </a:r>
              <a:endParaRPr lang="es-AR" sz="1200" dirty="0">
                <a:latin typeface="Fira Sans Condensed"/>
              </a:endParaRPr>
            </a:p>
          </p:txBody>
        </p:sp>
      </p:grpSp>
      <p:grpSp>
        <p:nvGrpSpPr>
          <p:cNvPr id="22" name="Señal Oxintomodulina"/>
          <p:cNvGrpSpPr/>
          <p:nvPr/>
        </p:nvGrpSpPr>
        <p:grpSpPr>
          <a:xfrm>
            <a:off x="4023360" y="3904488"/>
            <a:ext cx="7818120" cy="603504"/>
            <a:chOff x="4023360" y="3904488"/>
            <a:chExt cx="7818120" cy="603504"/>
          </a:xfrm>
        </p:grpSpPr>
        <p:sp>
          <p:nvSpPr>
            <p:cNvPr id="23" name="Recuadro Oxintomodulina"/>
            <p:cNvSpPr/>
            <p:nvPr/>
          </p:nvSpPr>
          <p:spPr>
            <a:xfrm>
              <a:off x="4023360" y="3904488"/>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Oxintomodulina</a:t>
              </a:r>
              <a:endParaRPr lang="es-AR" sz="1400" dirty="0">
                <a:latin typeface="Fira Sans Condensed"/>
              </a:endParaRPr>
            </a:p>
          </p:txBody>
        </p:sp>
        <p:sp>
          <p:nvSpPr>
            <p:cNvPr id="24" name="Forma 23"/>
            <p:cNvSpPr/>
            <p:nvPr/>
          </p:nvSpPr>
          <p:spPr>
            <a:xfrm>
              <a:off x="5669280" y="3904488"/>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Derivada de proglucagón; receptores relacionados con saciedad</a:t>
              </a:r>
              <a:endParaRPr lang="es-AR" sz="1200" dirty="0">
                <a:latin typeface="Fira Sans Condensed"/>
              </a:endParaRPr>
            </a:p>
          </p:txBody>
        </p:sp>
      </p:grpSp>
      <p:grpSp>
        <p:nvGrpSpPr>
          <p:cNvPr id="25" name="Señal Amilina"/>
          <p:cNvGrpSpPr/>
          <p:nvPr/>
        </p:nvGrpSpPr>
        <p:grpSpPr>
          <a:xfrm>
            <a:off x="4023360" y="4617720"/>
            <a:ext cx="7818120" cy="603504"/>
            <a:chOff x="4023360" y="4617720"/>
            <a:chExt cx="7818120" cy="603504"/>
          </a:xfrm>
        </p:grpSpPr>
        <p:sp>
          <p:nvSpPr>
            <p:cNvPr id="26" name="Recuadro Amilina"/>
            <p:cNvSpPr/>
            <p:nvPr/>
          </p:nvSpPr>
          <p:spPr>
            <a:xfrm>
              <a:off x="4023360" y="4617720"/>
              <a:ext cx="1554480" cy="60350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Amilina</a:t>
              </a:r>
              <a:endParaRPr lang="es-AR" sz="1400" dirty="0">
                <a:latin typeface="Fira Sans Condensed"/>
              </a:endParaRPr>
            </a:p>
          </p:txBody>
        </p:sp>
        <p:sp>
          <p:nvSpPr>
            <p:cNvPr id="27" name="Forma 26"/>
            <p:cNvSpPr/>
            <p:nvPr/>
          </p:nvSpPr>
          <p:spPr>
            <a:xfrm>
              <a:off x="5669280" y="4617720"/>
              <a:ext cx="6172200" cy="603504"/>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Cosecretada con insulina (β): saciedad, glucagón ↓, vaciamiento ↓ (área postrema/NTS)</a:t>
              </a:r>
              <a:endParaRPr lang="es-AR" sz="1200" dirty="0">
                <a:latin typeface="Fira Sans Condensed"/>
              </a:endParaRPr>
            </a:p>
          </p:txBody>
        </p:sp>
      </p:grpSp>
      <p:grpSp>
        <p:nvGrpSpPr>
          <p:cNvPr id="28" name="Vago NTS"/>
          <p:cNvGrpSpPr/>
          <p:nvPr/>
        </p:nvGrpSpPr>
        <p:grpSpPr>
          <a:xfrm>
            <a:off x="365760" y="1005840"/>
            <a:ext cx="2286000" cy="2331720"/>
            <a:chOff x="365760" y="1005840"/>
            <a:chExt cx="2286000" cy="2331720"/>
          </a:xfrm>
        </p:grpSpPr>
        <p:pic>
          <p:nvPicPr>
            <p:cNvPr id="29" name="Cerebro sac" descr="Ilustración biomédica (Servier Medical Art, CC BY)"/>
            <p:cNvPicPr>
              <a:picLocks noChangeAspect="1"/>
            </p:cNvPicPr>
            <p:nvPr/>
          </p:nvPicPr>
          <p:blipFill>
            <a:blip r:embed="rId5"/>
            <a:stretch>
              <a:fillRect/>
            </a:stretch>
          </p:blipFill>
          <p:spPr>
            <a:xfrm>
              <a:off x="960120" y="1005840"/>
              <a:ext cx="1691640" cy="1727422"/>
            </a:xfrm>
            <a:prstGeom prst="rect">
              <a:avLst/>
            </a:prstGeom>
          </p:spPr>
        </p:pic>
        <p:sp>
          <p:nvSpPr>
            <p:cNvPr id="30" name="Flecha 29_2"/>
            <p:cNvSpPr/>
            <p:nvPr/>
          </p:nvSpPr>
          <p:spPr>
            <a:xfrm>
              <a:off x="1188720" y="2697480"/>
              <a:ext cx="274320" cy="640080"/>
            </a:xfrm>
            <a:custGeom>
              <a:avLst/>
              <a:gdLst/>
              <a:ahLst/>
              <a:cxnLst/>
              <a:rect l="0" t="0" r="r" b="b"/>
              <a:pathLst>
                <a:path w="300" h="699" fill="none">
                  <a:moveTo>
                    <a:pt x="0" y="699"/>
                  </a:moveTo>
                  <a:lnTo>
                    <a:pt x="300" y="0"/>
                  </a:lnTo>
                </a:path>
              </a:pathLst>
            </a:custGeom>
            <a:noFill/>
            <a:ln w="50800" cap="rnd">
              <a:solidFill>
                <a:srgbClr val="7030A0"/>
              </a:solidFill>
              <a:round/>
              <a:tailEnd type="triangle" w="med" len="med"/>
            </a:ln>
          </p:spPr>
        </p:sp>
        <p:sp>
          <p:nvSpPr>
            <p:cNvPr id="31" name="Forma 31"/>
            <p:cNvSpPr txBox="1"/>
            <p:nvPr/>
          </p:nvSpPr>
          <p:spPr>
            <a:xfrm>
              <a:off x="365760" y="2697480"/>
              <a:ext cx="914400" cy="548640"/>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7030A0"/>
                  </a:solidFill>
                  <a:effectLst>
                    <a:glow rad="101600">
                      <a:srgbClr val="FFFFFF">
                        <a:alpha val="70000"/>
                      </a:srgbClr>
                    </a:glow>
                  </a:effectLst>
                  <a:latin typeface="Fira Sans Condensed"/>
                  <a:ea typeface="Fira Sans Condensed"/>
                  <a:cs typeface="Fira Sans Condensed"/>
                  <a:sym typeface="Fira Sans Condensed"/>
                </a:rPr>
                <a:t>vago</a:t>
              </a:r>
              <a:endParaRPr lang="es-AR" sz="1200" dirty="0">
                <a:latin typeface="Fira Sans Condensed"/>
              </a:endParaRPr>
            </a:p>
            <a:p>
              <a:pPr algn="ctr">
                <a:spcAft>
                  <a:spcPts val="300"/>
                </a:spcAft>
                <a:buNone/>
              </a:pPr>
              <a:r>
                <a:rPr lang="es-AR" sz="1200" b="1" dirty="0">
                  <a:solidFill>
                    <a:srgbClr val="7030A0"/>
                  </a:solidFill>
                  <a:effectLst>
                    <a:glow rad="101600">
                      <a:srgbClr val="FFFFFF">
                        <a:alpha val="70000"/>
                      </a:srgbClr>
                    </a:glow>
                  </a:effectLst>
                  <a:latin typeface="Fira Sans Condensed"/>
                  <a:ea typeface="Fira Sans Condensed"/>
                  <a:cs typeface="Fira Sans Condensed"/>
                  <a:sym typeface="Fira Sans Condensed"/>
                </a:rPr>
                <a:t>→ NTS</a:t>
              </a:r>
              <a:endParaRPr lang="es-AR" sz="1200" dirty="0">
                <a:latin typeface="Fira Sans Condensed"/>
              </a:endParaRPr>
            </a:p>
          </p:txBody>
        </p:sp>
      </p:gr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SACIEDAD DE CORTO PLAZO: EJE INTESTINO–VAGO–TRONCO</a:t>
            </a:r>
            <a:endParaRPr lang="es-AR" sz="27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500"/>
                                        <p:tgtEl>
                                          <p:spTgt spid="2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Encéfalo sagital"/>
          <p:cNvGrpSpPr/>
          <p:nvPr/>
        </p:nvGrpSpPr>
        <p:grpSpPr>
          <a:xfrm>
            <a:off x="365760" y="960120"/>
            <a:ext cx="6675120" cy="5303520"/>
            <a:chOff x="365760" y="960120"/>
            <a:chExt cx="6675120" cy="5303520"/>
          </a:xfrm>
        </p:grpSpPr>
        <p:sp>
          <p:nvSpPr>
            <p:cNvPr id="8" name="Forma 7"/>
            <p:cNvSpPr/>
            <p:nvPr/>
          </p:nvSpPr>
          <p:spPr>
            <a:xfrm>
              <a:off x="365760" y="960120"/>
              <a:ext cx="6675120" cy="5303520"/>
            </a:xfrm>
            <a:custGeom>
              <a:avLst/>
              <a:gdLst/>
              <a:ahLst/>
              <a:cxnLst/>
              <a:rect l="0" t="0" r="r" b="b"/>
              <a:pathLst>
                <a:path w="1000" h="1000">
                  <a:moveTo>
                    <a:pt x="120" y="520"/>
                  </a:moveTo>
                  <a:cubicBezTo>
                    <a:pt x="106" y="489"/>
                    <a:pt x="94" y="417"/>
                    <a:pt x="100" y="380"/>
                  </a:cubicBezTo>
                  <a:cubicBezTo>
                    <a:pt x="105" y="342"/>
                    <a:pt x="133" y="273"/>
                    <a:pt x="160" y="240"/>
                  </a:cubicBezTo>
                  <a:cubicBezTo>
                    <a:pt x="186" y="206"/>
                    <a:pt x="254" y="150"/>
                    <a:pt x="300" y="130"/>
                  </a:cubicBezTo>
                  <a:cubicBezTo>
                    <a:pt x="345" y="110"/>
                    <a:pt x="446" y="91"/>
                    <a:pt x="500" y="90"/>
                  </a:cubicBezTo>
                  <a:cubicBezTo>
                    <a:pt x="553" y="88"/>
                    <a:pt x="652" y="101"/>
                    <a:pt x="700" y="120"/>
                  </a:cubicBezTo>
                  <a:cubicBezTo>
                    <a:pt x="748" y="138"/>
                    <a:pt x="829" y="192"/>
                    <a:pt x="860" y="230"/>
                  </a:cubicBezTo>
                  <a:cubicBezTo>
                    <a:pt x="890" y="267"/>
                    <a:pt x="924" y="356"/>
                    <a:pt x="930" y="400"/>
                  </a:cubicBezTo>
                  <a:cubicBezTo>
                    <a:pt x="935" y="444"/>
                    <a:pt x="917" y="532"/>
                    <a:pt x="900" y="560"/>
                  </a:cubicBezTo>
                  <a:cubicBezTo>
                    <a:pt x="882" y="588"/>
                    <a:pt x="832" y="606"/>
                    <a:pt x="800" y="610"/>
                  </a:cubicBezTo>
                  <a:cubicBezTo>
                    <a:pt x="768" y="614"/>
                    <a:pt x="692" y="587"/>
                    <a:pt x="660" y="590"/>
                  </a:cubicBezTo>
                  <a:cubicBezTo>
                    <a:pt x="628" y="592"/>
                    <a:pt x="588" y="622"/>
                    <a:pt x="560" y="630"/>
                  </a:cubicBezTo>
                  <a:cubicBezTo>
                    <a:pt x="532" y="638"/>
                    <a:pt x="480" y="648"/>
                    <a:pt x="450" y="650"/>
                  </a:cubicBezTo>
                  <a:cubicBezTo>
                    <a:pt x="419" y="651"/>
                    <a:pt x="363" y="645"/>
                    <a:pt x="330" y="640"/>
                  </a:cubicBezTo>
                  <a:cubicBezTo>
                    <a:pt x="296" y="634"/>
                    <a:pt x="228" y="626"/>
                    <a:pt x="200" y="610"/>
                  </a:cubicBezTo>
                  <a:cubicBezTo>
                    <a:pt x="172" y="594"/>
                    <a:pt x="133" y="550"/>
                    <a:pt x="120" y="520"/>
                  </a:cubicBezTo>
                  <a:close/>
                </a:path>
              </a:pathLst>
            </a:custGeom>
            <a:gradFill rotWithShape="1">
              <a:gsLst>
                <a:gs pos="0">
                  <a:srgbClr val="FDEDEC"/>
                </a:gs>
                <a:gs pos="100000">
                  <a:srgbClr val="F1A7B5"/>
                </a:gs>
              </a:gsLst>
              <a:path path="circle">
                <a:fillToRect l="45000" t="40000" r="55000" b="60000"/>
              </a:path>
            </a:gradFill>
            <a:ln w="25400" cap="rnd">
              <a:solidFill>
                <a:srgbClr val="A93226"/>
              </a:solidFill>
              <a:round/>
            </a:ln>
          </p:spPr>
        </p:sp>
        <p:sp>
          <p:nvSpPr>
            <p:cNvPr id="9" name="Forma 8"/>
            <p:cNvSpPr/>
            <p:nvPr/>
          </p:nvSpPr>
          <p:spPr>
            <a:xfrm>
              <a:off x="365760" y="960120"/>
              <a:ext cx="6675120" cy="5303520"/>
            </a:xfrm>
            <a:custGeom>
              <a:avLst/>
              <a:gdLst/>
              <a:ahLst/>
              <a:cxnLst/>
              <a:rect l="0" t="0" r="r" b="b"/>
              <a:pathLst>
                <a:path w="1000" h="1000" fill="none">
                  <a:moveTo>
                    <a:pt x="300" y="420"/>
                  </a:moveTo>
                  <a:cubicBezTo>
                    <a:pt x="320" y="412"/>
                    <a:pt x="407" y="365"/>
                    <a:pt x="450" y="360"/>
                  </a:cubicBezTo>
                  <a:cubicBezTo>
                    <a:pt x="492" y="354"/>
                    <a:pt x="584" y="368"/>
                    <a:pt x="620" y="380"/>
                  </a:cubicBezTo>
                  <a:cubicBezTo>
                    <a:pt x="656" y="392"/>
                    <a:pt x="706" y="440"/>
                    <a:pt x="720" y="450"/>
                  </a:cubicBezTo>
                </a:path>
              </a:pathLst>
            </a:custGeom>
            <a:noFill/>
            <a:ln w="76200" cap="rnd">
              <a:solidFill>
                <a:srgbClr val="B03A2E"/>
              </a:solidFill>
              <a:round/>
            </a:ln>
          </p:spPr>
        </p:sp>
        <p:sp>
          <p:nvSpPr>
            <p:cNvPr id="10" name="Forma 9"/>
            <p:cNvSpPr/>
            <p:nvPr/>
          </p:nvSpPr>
          <p:spPr>
            <a:xfrm>
              <a:off x="365760" y="960120"/>
              <a:ext cx="6675120" cy="5303520"/>
            </a:xfrm>
            <a:custGeom>
              <a:avLst/>
              <a:gdLst/>
              <a:ahLst/>
              <a:cxnLst/>
              <a:rect l="0" t="0" r="r" b="b"/>
              <a:pathLst>
                <a:path w="1000" h="1000">
                  <a:moveTo>
                    <a:pt x="720" y="610"/>
                  </a:moveTo>
                  <a:cubicBezTo>
                    <a:pt x="736" y="594"/>
                    <a:pt x="796" y="593"/>
                    <a:pt x="820" y="600"/>
                  </a:cubicBezTo>
                  <a:cubicBezTo>
                    <a:pt x="844" y="606"/>
                    <a:pt x="892" y="638"/>
                    <a:pt x="900" y="660"/>
                  </a:cubicBezTo>
                  <a:cubicBezTo>
                    <a:pt x="908" y="681"/>
                    <a:pt x="896" y="742"/>
                    <a:pt x="880" y="760"/>
                  </a:cubicBezTo>
                  <a:cubicBezTo>
                    <a:pt x="864" y="777"/>
                    <a:pt x="804" y="795"/>
                    <a:pt x="780" y="790"/>
                  </a:cubicBezTo>
                  <a:cubicBezTo>
                    <a:pt x="756" y="784"/>
                    <a:pt x="708" y="744"/>
                    <a:pt x="700" y="720"/>
                  </a:cubicBezTo>
                  <a:cubicBezTo>
                    <a:pt x="692" y="696"/>
                    <a:pt x="704" y="626"/>
                    <a:pt x="720" y="610"/>
                  </a:cubicBezTo>
                  <a:close/>
                </a:path>
              </a:pathLst>
            </a:custGeom>
            <a:gradFill rotWithShape="1">
              <a:gsLst>
                <a:gs pos="0">
                  <a:srgbClr val="F5CBA7"/>
                </a:gs>
                <a:gs pos="100000">
                  <a:srgbClr val="DC7633"/>
                </a:gs>
              </a:gsLst>
              <a:path path="circle">
                <a:fillToRect l="45000" t="40000" r="55000" b="60000"/>
              </a:path>
            </a:gradFill>
            <a:ln w="19050" cap="rnd">
              <a:solidFill>
                <a:srgbClr val="A04000"/>
              </a:solidFill>
              <a:round/>
            </a:ln>
          </p:spPr>
        </p:sp>
        <p:sp>
          <p:nvSpPr>
            <p:cNvPr id="11" name="Forma 10"/>
            <p:cNvSpPr/>
            <p:nvPr/>
          </p:nvSpPr>
          <p:spPr>
            <a:xfrm>
              <a:off x="365760" y="960120"/>
              <a:ext cx="6675120" cy="5303520"/>
            </a:xfrm>
            <a:custGeom>
              <a:avLst/>
              <a:gdLst/>
              <a:ahLst/>
              <a:cxnLst/>
              <a:rect l="0" t="0" r="r" b="b"/>
              <a:pathLst>
                <a:path w="1000" h="1000">
                  <a:moveTo>
                    <a:pt x="560" y="600"/>
                  </a:moveTo>
                  <a:cubicBezTo>
                    <a:pt x="568" y="585"/>
                    <a:pt x="640" y="594"/>
                    <a:pt x="650" y="610"/>
                  </a:cubicBezTo>
                  <a:cubicBezTo>
                    <a:pt x="660" y="626"/>
                    <a:pt x="661" y="725"/>
                    <a:pt x="660" y="760"/>
                  </a:cubicBezTo>
                  <a:cubicBezTo>
                    <a:pt x="659" y="795"/>
                    <a:pt x="648" y="940"/>
                    <a:pt x="640" y="960"/>
                  </a:cubicBezTo>
                  <a:cubicBezTo>
                    <a:pt x="632" y="980"/>
                    <a:pt x="587" y="980"/>
                    <a:pt x="580" y="960"/>
                  </a:cubicBezTo>
                  <a:cubicBezTo>
                    <a:pt x="573" y="940"/>
                    <a:pt x="572" y="796"/>
                    <a:pt x="570" y="760"/>
                  </a:cubicBezTo>
                  <a:cubicBezTo>
                    <a:pt x="568" y="724"/>
                    <a:pt x="552" y="615"/>
                    <a:pt x="560" y="600"/>
                  </a:cubicBezTo>
                  <a:close/>
                </a:path>
              </a:pathLst>
            </a:custGeom>
            <a:gradFill rotWithShape="1">
              <a:gsLst>
                <a:gs pos="0">
                  <a:srgbClr val="F5B7B1"/>
                </a:gs>
                <a:gs pos="100000">
                  <a:srgbClr val="E6B0AA"/>
                </a:gs>
              </a:gsLst>
              <a:lin ang="0" scaled="0"/>
            </a:gradFill>
            <a:ln w="19050" cap="rnd">
              <a:solidFill>
                <a:srgbClr val="A93226"/>
              </a:solidFill>
              <a:round/>
            </a:ln>
          </p:spPr>
        </p:sp>
        <p:sp>
          <p:nvSpPr>
            <p:cNvPr id="12" name="Forma 11"/>
            <p:cNvSpPr/>
            <p:nvPr/>
          </p:nvSpPr>
          <p:spPr>
            <a:xfrm>
              <a:off x="3002432" y="4460443"/>
              <a:ext cx="467258" cy="424282"/>
            </a:xfrm>
            <a:prstGeom prst="ellipse">
              <a:avLst/>
            </a:prstGeom>
            <a:solidFill>
              <a:srgbClr val="D7BDE2"/>
            </a:solidFill>
            <a:ln w="15875" cap="rnd">
              <a:solidFill>
                <a:srgbClr val="6C3483"/>
              </a:solidFill>
              <a:round/>
            </a:ln>
          </p:spPr>
        </p:sp>
      </p:grpSp>
      <p:sp>
        <p:nvSpPr>
          <p:cNvPr id="13" name="Núcleo PFC"/>
          <p:cNvSpPr/>
          <p:nvPr/>
        </p:nvSpPr>
        <p:spPr>
          <a:xfrm>
            <a:off x="1642262" y="2518258"/>
            <a:ext cx="384048" cy="384048"/>
          </a:xfrm>
          <a:prstGeom prst="ellipse">
            <a:avLst/>
          </a:prstGeom>
          <a:solidFill>
            <a:srgbClr val="5DADE2"/>
          </a:solidFill>
          <a:ln w="19050" cap="rnd">
            <a:solidFill>
              <a:srgbClr val="1E1E1E"/>
            </a:solidFill>
            <a:round/>
          </a:ln>
          <a:effectLst>
            <a:outerShdw blurRad="63500" dist="38100" dir="2700000" algn="tl" rotWithShape="0">
              <a:srgbClr val="000000">
                <a:alpha val="32000"/>
              </a:srgbClr>
            </a:outerShdw>
          </a:effectLst>
        </p:spPr>
      </p:sp>
      <p:sp>
        <p:nvSpPr>
          <p:cNvPr id="14" name="Rótulo PFC"/>
          <p:cNvSpPr/>
          <p:nvPr/>
        </p:nvSpPr>
        <p:spPr>
          <a:xfrm>
            <a:off x="2108606" y="2527402"/>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050" b="1" dirty="0">
                <a:solidFill>
                  <a:srgbClr val="1E1E1E"/>
                </a:solidFill>
                <a:latin typeface="Fira Sans Condensed"/>
                <a:ea typeface="Fira Sans Condensed"/>
                <a:cs typeface="Fira Sans Condensed"/>
                <a:sym typeface="Fira Sans Condensed"/>
              </a:rPr>
              <a:t>Corteza</a:t>
            </a:r>
            <a:endParaRPr lang="es-AR" sz="1050" dirty="0">
              <a:latin typeface="Fira Sans Condensed"/>
            </a:endParaRPr>
          </a:p>
          <a:p>
            <a:pPr algn="ctr">
              <a:spcAft>
                <a:spcPts val="300"/>
              </a:spcAft>
              <a:buNone/>
            </a:pPr>
            <a:r>
              <a:rPr lang="es-AR" sz="1050" b="1" dirty="0">
                <a:solidFill>
                  <a:srgbClr val="1E1E1E"/>
                </a:solidFill>
                <a:latin typeface="Fira Sans Condensed"/>
                <a:ea typeface="Fira Sans Condensed"/>
                <a:cs typeface="Fira Sans Condensed"/>
                <a:sym typeface="Fira Sans Condensed"/>
              </a:rPr>
              <a:t>prefrontal</a:t>
            </a:r>
            <a:endParaRPr lang="es-AR" sz="1050" dirty="0">
              <a:latin typeface="Fira Sans Condensed"/>
            </a:endParaRPr>
          </a:p>
        </p:txBody>
      </p:sp>
      <p:sp>
        <p:nvSpPr>
          <p:cNvPr id="15" name="Núcleo NAc"/>
          <p:cNvSpPr/>
          <p:nvPr/>
        </p:nvSpPr>
        <p:spPr>
          <a:xfrm>
            <a:off x="2376526" y="3419856"/>
            <a:ext cx="384048" cy="384048"/>
          </a:xfrm>
          <a:prstGeom prst="ellipse">
            <a:avLst/>
          </a:prstGeom>
          <a:solidFill>
            <a:srgbClr val="F39C12"/>
          </a:solidFill>
          <a:ln w="19050" cap="rnd">
            <a:solidFill>
              <a:srgbClr val="1E1E1E"/>
            </a:solidFill>
            <a:round/>
          </a:ln>
          <a:effectLst>
            <a:outerShdw blurRad="63500" dist="38100" dir="2700000" algn="tl" rotWithShape="0">
              <a:srgbClr val="000000">
                <a:alpha val="32000"/>
              </a:srgbClr>
            </a:outerShdw>
          </a:effectLst>
        </p:spPr>
      </p:sp>
      <p:sp>
        <p:nvSpPr>
          <p:cNvPr id="16" name="Rótulo NAc"/>
          <p:cNvSpPr/>
          <p:nvPr/>
        </p:nvSpPr>
        <p:spPr>
          <a:xfrm>
            <a:off x="694030" y="3429000"/>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 accumbens</a:t>
            </a:r>
            <a:endParaRPr lang="es-AR" sz="1150" dirty="0">
              <a:latin typeface="Fira Sans Condensed"/>
            </a:endParaRPr>
          </a:p>
        </p:txBody>
      </p:sp>
      <p:sp>
        <p:nvSpPr>
          <p:cNvPr id="17" name="Núcleo VTA"/>
          <p:cNvSpPr/>
          <p:nvPr/>
        </p:nvSpPr>
        <p:spPr>
          <a:xfrm>
            <a:off x="4178808" y="4268419"/>
            <a:ext cx="384048" cy="384048"/>
          </a:xfrm>
          <a:prstGeom prst="ellipse">
            <a:avLst/>
          </a:prstGeom>
          <a:solidFill>
            <a:srgbClr val="E74C3C"/>
          </a:solidFill>
          <a:ln w="19050" cap="rnd">
            <a:solidFill>
              <a:srgbClr val="1E1E1E"/>
            </a:solidFill>
            <a:round/>
          </a:ln>
          <a:effectLst>
            <a:outerShdw blurRad="63500" dist="38100" dir="2700000" algn="tl" rotWithShape="0">
              <a:srgbClr val="000000">
                <a:alpha val="32000"/>
              </a:srgbClr>
            </a:outerShdw>
          </a:effectLst>
        </p:spPr>
      </p:sp>
      <p:sp>
        <p:nvSpPr>
          <p:cNvPr id="18" name="Rótulo VTA"/>
          <p:cNvSpPr/>
          <p:nvPr/>
        </p:nvSpPr>
        <p:spPr>
          <a:xfrm>
            <a:off x="4645152" y="4414723"/>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ATV</a:t>
            </a:r>
            <a:endParaRPr lang="es-AR" sz="1150" dirty="0">
              <a:latin typeface="Fira Sans Condensed"/>
            </a:endParaRPr>
          </a:p>
        </p:txBody>
      </p:sp>
      <p:sp>
        <p:nvSpPr>
          <p:cNvPr id="19" name="Núcleo HT"/>
          <p:cNvSpPr/>
          <p:nvPr/>
        </p:nvSpPr>
        <p:spPr>
          <a:xfrm>
            <a:off x="3028493" y="3761842"/>
            <a:ext cx="548640" cy="548640"/>
          </a:xfrm>
          <a:prstGeom prst="ellipse">
            <a:avLst/>
          </a:prstGeom>
          <a:solidFill>
            <a:srgbClr val="FFC000"/>
          </a:solidFill>
          <a:ln w="19050" cap="rnd">
            <a:solidFill>
              <a:srgbClr val="1E1E1E"/>
            </a:solidFill>
            <a:round/>
          </a:ln>
          <a:effectLst>
            <a:outerShdw blurRad="63500" dist="38100" dir="2700000" algn="tl" rotWithShape="0">
              <a:srgbClr val="000000">
                <a:alpha val="32000"/>
              </a:srgbClr>
            </a:outerShdw>
          </a:effectLst>
        </p:spPr>
      </p:sp>
      <p:sp>
        <p:nvSpPr>
          <p:cNvPr id="20" name="Rótulo HT"/>
          <p:cNvSpPr/>
          <p:nvPr/>
        </p:nvSpPr>
        <p:spPr>
          <a:xfrm>
            <a:off x="2525573" y="4420210"/>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Hipotálamo</a:t>
            </a:r>
            <a:endParaRPr lang="es-AR" sz="1150" dirty="0">
              <a:latin typeface="Fira Sans Condensed"/>
            </a:endParaRPr>
          </a:p>
        </p:txBody>
      </p:sp>
      <p:sp>
        <p:nvSpPr>
          <p:cNvPr id="21" name="Núcleo NTS"/>
          <p:cNvSpPr/>
          <p:nvPr/>
        </p:nvSpPr>
        <p:spPr>
          <a:xfrm>
            <a:off x="4312310" y="5116982"/>
            <a:ext cx="384048" cy="384048"/>
          </a:xfrm>
          <a:prstGeom prst="ellipse">
            <a:avLst/>
          </a:prstGeom>
          <a:solidFill>
            <a:srgbClr val="27AE60"/>
          </a:solidFill>
          <a:ln w="19050" cap="rnd">
            <a:solidFill>
              <a:srgbClr val="1E1E1E"/>
            </a:solidFill>
            <a:round/>
          </a:ln>
          <a:effectLst>
            <a:outerShdw blurRad="63500" dist="38100" dir="2700000" algn="tl" rotWithShape="0">
              <a:srgbClr val="000000">
                <a:alpha val="32000"/>
              </a:srgbClr>
            </a:outerShdw>
          </a:effectLst>
        </p:spPr>
      </p:sp>
      <p:sp>
        <p:nvSpPr>
          <p:cNvPr id="22" name="Rótulo NTS"/>
          <p:cNvSpPr/>
          <p:nvPr/>
        </p:nvSpPr>
        <p:spPr>
          <a:xfrm>
            <a:off x="4778654" y="5126126"/>
            <a:ext cx="1554480" cy="365760"/>
          </a:xfrm>
          <a:prstGeom prst="rect">
            <a:avLst/>
          </a:prstGeom>
          <a:solidFill>
            <a:srgbClr val="FFFFFF"/>
          </a:solidFill>
          <a:ln w="12700"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NTS</a:t>
            </a:r>
            <a:endParaRPr lang="es-AR" sz="1150" dirty="0">
              <a:latin typeface="Fira Sans Condensed"/>
            </a:endParaRPr>
          </a:p>
        </p:txBody>
      </p:sp>
      <p:sp>
        <p:nvSpPr>
          <p:cNvPr id="23" name="Vía dopaminérgica"/>
          <p:cNvSpPr/>
          <p:nvPr/>
        </p:nvSpPr>
        <p:spPr>
          <a:xfrm>
            <a:off x="2768803" y="3611880"/>
            <a:ext cx="1401775" cy="636422"/>
          </a:xfrm>
          <a:custGeom>
            <a:avLst/>
            <a:gdLst/>
            <a:ahLst/>
            <a:cxnLst/>
            <a:rect l="0" t="0" r="r" b="b"/>
            <a:pathLst>
              <a:path w="1533" h="695" fill="none">
                <a:moveTo>
                  <a:pt x="1533" y="695"/>
                </a:moveTo>
                <a:lnTo>
                  <a:pt x="0" y="0"/>
                </a:lnTo>
              </a:path>
            </a:pathLst>
          </a:custGeom>
          <a:noFill/>
          <a:ln w="63500" cap="rnd">
            <a:solidFill>
              <a:srgbClr val="C00000"/>
            </a:solidFill>
            <a:round/>
            <a:tailEnd type="triangle" w="med" len="med"/>
          </a:ln>
        </p:spPr>
      </p:sp>
      <p:sp>
        <p:nvSpPr>
          <p:cNvPr id="24" name="Vía a corteza"/>
          <p:cNvSpPr/>
          <p:nvPr/>
        </p:nvSpPr>
        <p:spPr>
          <a:xfrm>
            <a:off x="2034540" y="2816352"/>
            <a:ext cx="2136038" cy="1325880"/>
          </a:xfrm>
          <a:custGeom>
            <a:avLst/>
            <a:gdLst/>
            <a:ahLst/>
            <a:cxnLst/>
            <a:rect l="0" t="0" r="r" b="b"/>
            <a:pathLst>
              <a:path w="2336" h="1450" fill="none">
                <a:moveTo>
                  <a:pt x="2336" y="1450"/>
                </a:moveTo>
                <a:lnTo>
                  <a:pt x="0" y="0"/>
                </a:lnTo>
              </a:path>
            </a:pathLst>
          </a:custGeom>
          <a:noFill/>
          <a:ln w="38100" cap="rnd">
            <a:solidFill>
              <a:srgbClr val="C00000"/>
            </a:solidFill>
            <a:prstDash val="dash"/>
            <a:round/>
            <a:tailEnd type="triangle" w="med" len="med"/>
          </a:ln>
        </p:spPr>
      </p:sp>
      <p:sp>
        <p:nvSpPr>
          <p:cNvPr id="25" name="Forma 24"/>
          <p:cNvSpPr txBox="1"/>
          <p:nvPr/>
        </p:nvSpPr>
        <p:spPr>
          <a:xfrm>
            <a:off x="2194560" y="3794760"/>
            <a:ext cx="1463040" cy="292608"/>
          </a:xfrm>
          <a:prstGeom prst="rect">
            <a:avLst/>
          </a:prstGeom>
          <a:noFill/>
          <a:ln>
            <a:noFill/>
          </a:ln>
        </p:spPr>
        <p:txBody>
          <a:bodyPr wrap="square" lIns="0" tIns="0" rIns="0" bIns="0" anchor="ctr" rtlCol="0">
            <a:noAutofit/>
          </a:bodyPr>
          <a:lstStyle/>
          <a:p>
            <a:pPr algn="ctr">
              <a:spcAft>
                <a:spcPts val="300"/>
              </a:spcAft>
              <a:buNone/>
            </a:pPr>
            <a:r>
              <a:rPr lang="es-AR" sz="12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DOPAMINA</a:t>
            </a:r>
            <a:endParaRPr lang="es-AR" sz="1200" dirty="0">
              <a:latin typeface="Fira Sans Condensed"/>
            </a:endParaRPr>
          </a:p>
        </p:txBody>
      </p:sp>
      <p:grpSp>
        <p:nvGrpSpPr>
          <p:cNvPr id="26" name="Cuadro ATV → accumbens"/>
          <p:cNvGrpSpPr/>
          <p:nvPr/>
        </p:nvGrpSpPr>
        <p:grpSpPr>
          <a:xfrm>
            <a:off x="7269480" y="1051560"/>
            <a:ext cx="4572000" cy="2377440"/>
            <a:chOff x="7269480" y="1051560"/>
            <a:chExt cx="4572000" cy="2377440"/>
          </a:xfrm>
        </p:grpSpPr>
        <p:sp>
          <p:nvSpPr>
            <p:cNvPr id="27" name="Forma 26"/>
            <p:cNvSpPr/>
            <p:nvPr/>
          </p:nvSpPr>
          <p:spPr>
            <a:xfrm>
              <a:off x="7269480" y="1252728"/>
              <a:ext cx="457200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3350" indent="-133350">
                <a:spcAft>
                  <a:spcPts val="400"/>
                </a:spcAft>
                <a:buClr>
                  <a:srgbClr val="1E1E1E"/>
                </a:buClr>
                <a:buFont typeface="Arial"/>
                <a:buChar char="•"/>
              </a:pPr>
              <a:r>
                <a:rPr lang="es-AR" sz="1400" dirty="0">
                  <a:solidFill>
                    <a:srgbClr val="1E1E1E"/>
                  </a:solidFill>
                  <a:latin typeface="Fira Sans Condensed"/>
                  <a:ea typeface="Fira Sans Condensed"/>
                  <a:cs typeface="Fira Sans Condensed"/>
                  <a:sym typeface="Fira Sans Condensed"/>
                </a:rPr>
                <a:t>Dopamina = </a:t>
              </a:r>
              <a:r>
                <a:rPr lang="es-AR" sz="1400" b="1" dirty="0">
                  <a:solidFill>
                    <a:srgbClr val="1E1E1E"/>
                  </a:solidFill>
                  <a:latin typeface="Fira Sans Condensed"/>
                  <a:ea typeface="Fira Sans Condensed"/>
                  <a:cs typeface="Fira Sans Condensed"/>
                  <a:sym typeface="Fira Sans Condensed"/>
                </a:rPr>
                <a:t>saliencia motivacional</a:t>
              </a:r>
              <a:r>
                <a:rPr lang="es-AR" sz="1400" dirty="0">
                  <a:solidFill>
                    <a:srgbClr val="1E1E1E"/>
                  </a:solidFill>
                  <a:latin typeface="Fira Sans Condensed"/>
                  <a:ea typeface="Fira Sans Condensed"/>
                  <a:cs typeface="Fira Sans Condensed"/>
                  <a:sym typeface="Fira Sans Condensed"/>
                </a:rPr>
                <a:t>, aprendizaje por recompensa, selección de acciones.</a:t>
              </a:r>
              <a:endParaRPr lang="es-AR" sz="1400" dirty="0">
                <a:latin typeface="Fira Sans Condensed"/>
              </a:endParaRPr>
            </a:p>
            <a:p>
              <a:pPr algn="l" marL="133350" indent="-133350">
                <a:spcAft>
                  <a:spcPts val="400"/>
                </a:spcAft>
                <a:buClr>
                  <a:srgbClr val="1E1E1E"/>
                </a:buClr>
                <a:buFont typeface="Arial"/>
                <a:buChar char="•"/>
              </a:pPr>
              <a:r>
                <a:rPr lang="es-AR" sz="1400" b="1" dirty="0">
                  <a:solidFill>
                    <a:srgbClr val="1E1E1E"/>
                  </a:solidFill>
                  <a:latin typeface="Fira Sans Condensed"/>
                  <a:ea typeface="Fira Sans Condensed"/>
                  <a:cs typeface="Fira Sans Condensed"/>
                  <a:sym typeface="Fira Sans Condensed"/>
                </a:rPr>
                <a:t>No</a:t>
              </a:r>
              <a:r>
                <a:rPr lang="es-AR" sz="1400" dirty="0">
                  <a:solidFill>
                    <a:srgbClr val="1E1E1E"/>
                  </a:solidFill>
                  <a:latin typeface="Fira Sans Condensed"/>
                  <a:ea typeface="Fira Sans Condensed"/>
                  <a:cs typeface="Fira Sans Condensed"/>
                  <a:sym typeface="Fira Sans Condensed"/>
                </a:rPr>
                <a:t> es idéntica al placer subjetivo ni equivale a «adicción» ante cualquier comida apetecible.</a:t>
              </a:r>
              <a:endParaRPr lang="es-AR" sz="1400" dirty="0">
                <a:latin typeface="Fira Sans Condensed"/>
              </a:endParaRPr>
            </a:p>
          </p:txBody>
        </p:sp>
        <p:sp>
          <p:nvSpPr>
            <p:cNvPr id="28" name="Forma 27"/>
            <p:cNvSpPr/>
            <p:nvPr/>
          </p:nvSpPr>
          <p:spPr>
            <a:xfrm>
              <a:off x="7406640" y="1051560"/>
              <a:ext cx="185594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ATV → ACCUMBENS</a:t>
              </a:r>
              <a:endParaRPr lang="es-AR" sz="1400" dirty="0">
                <a:latin typeface="Fira Sans Condensed"/>
              </a:endParaRPr>
            </a:p>
          </p:txBody>
        </p:sp>
      </p:grpSp>
      <p:grpSp>
        <p:nvGrpSpPr>
          <p:cNvPr id="29" name="Cuadro Hedónico"/>
          <p:cNvGrpSpPr/>
          <p:nvPr/>
        </p:nvGrpSpPr>
        <p:grpSpPr>
          <a:xfrm>
            <a:off x="7269480" y="3611880"/>
            <a:ext cx="4572000" cy="1691640"/>
            <a:chOff x="7269480" y="3611880"/>
            <a:chExt cx="4572000" cy="1691640"/>
          </a:xfrm>
        </p:grpSpPr>
        <p:sp>
          <p:nvSpPr>
            <p:cNvPr id="30" name="Forma 29"/>
            <p:cNvSpPr/>
            <p:nvPr/>
          </p:nvSpPr>
          <p:spPr>
            <a:xfrm>
              <a:off x="7269480" y="3813048"/>
              <a:ext cx="4572000" cy="1490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Alimentos </a:t>
              </a:r>
              <a:r>
                <a:rPr lang="es-AR" sz="1400" b="1" dirty="0">
                  <a:solidFill>
                    <a:srgbClr val="1E1E1E"/>
                  </a:solidFill>
                  <a:latin typeface="Fira Sans Condensed"/>
                  <a:ea typeface="Fira Sans Condensed"/>
                  <a:cs typeface="Fira Sans Condensed"/>
                  <a:sym typeface="Fira Sans Condensed"/>
                </a:rPr>
                <a:t>palatables</a:t>
              </a:r>
              <a:r>
                <a:rPr lang="es-AR" sz="1400" dirty="0">
                  <a:solidFill>
                    <a:srgbClr val="1E1E1E"/>
                  </a:solidFill>
                  <a:latin typeface="Fira Sans Condensed"/>
                  <a:ea typeface="Fira Sans Condensed"/>
                  <a:cs typeface="Fira Sans Condensed"/>
                  <a:sym typeface="Fira Sans Condensed"/>
                </a:rPr>
                <a:t>, señales </a:t>
              </a:r>
              <a:r>
                <a:rPr lang="es-AR" sz="1400" b="1" dirty="0">
                  <a:solidFill>
                    <a:srgbClr val="1E1E1E"/>
                  </a:solidFill>
                  <a:latin typeface="Fira Sans Condensed"/>
                  <a:ea typeface="Fira Sans Condensed"/>
                  <a:cs typeface="Fira Sans Condensed"/>
                  <a:sym typeface="Fira Sans Condensed"/>
                </a:rPr>
                <a:t>condicionadas</a:t>
              </a:r>
              <a:r>
                <a:rPr lang="es-AR" sz="1400" dirty="0">
                  <a:solidFill>
                    <a:srgbClr val="1E1E1E"/>
                  </a:solidFill>
                  <a:latin typeface="Fira Sans Condensed"/>
                  <a:ea typeface="Fira Sans Condensed"/>
                  <a:cs typeface="Fira Sans Condensed"/>
                  <a:sym typeface="Fira Sans Condensed"/>
                </a:rPr>
                <a:t>, estrés y expectativa pueden activar la búsqueda </a:t>
              </a:r>
              <a:r>
                <a:rPr lang="es-AR" sz="1400" b="1" dirty="0">
                  <a:solidFill>
                    <a:srgbClr val="1E1E1E"/>
                  </a:solidFill>
                  <a:latin typeface="Fira Sans Condensed"/>
                  <a:ea typeface="Fira Sans Condensed"/>
                  <a:cs typeface="Fira Sans Condensed"/>
                  <a:sym typeface="Fira Sans Condensed"/>
                </a:rPr>
                <a:t>sin déficit</a:t>
              </a:r>
              <a:r>
                <a:rPr lang="es-AR" sz="1400" dirty="0">
                  <a:solidFill>
                    <a:srgbClr val="1E1E1E"/>
                  </a:solidFill>
                  <a:latin typeface="Fira Sans Condensed"/>
                  <a:ea typeface="Fira Sans Condensed"/>
                  <a:cs typeface="Fira Sans Condensed"/>
                  <a:sym typeface="Fira Sans Condensed"/>
                </a:rPr>
                <a:t> homeostático.</a:t>
              </a:r>
              <a:endParaRPr lang="es-AR" sz="1400" dirty="0">
                <a:latin typeface="Fira Sans Condensed"/>
              </a:endParaRPr>
            </a:p>
          </p:txBody>
        </p:sp>
        <p:sp>
          <p:nvSpPr>
            <p:cNvPr id="31" name="Forma 30"/>
            <p:cNvSpPr/>
            <p:nvPr/>
          </p:nvSpPr>
          <p:spPr>
            <a:xfrm>
              <a:off x="7406640" y="3611880"/>
              <a:ext cx="118439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HEDÓNICO</a:t>
              </a:r>
              <a:endParaRPr lang="es-AR" sz="1400" dirty="0">
                <a:latin typeface="Fira Sans Condensed"/>
              </a:endParaRPr>
            </a:p>
          </p:txBody>
        </p:sp>
      </p:grpSp>
      <p:sp>
        <p:nvSpPr>
          <p:cNvPr id="32" name="Perla clínica"/>
          <p:cNvSpPr/>
          <p:nvPr/>
        </p:nvSpPr>
        <p:spPr>
          <a:xfrm>
            <a:off x="7269480" y="5486400"/>
            <a:ext cx="4572000" cy="7772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La obesidad </a:t>
            </a:r>
            <a:r>
              <a:rPr lang="es-AR" sz="1350" b="1" dirty="0">
                <a:solidFill>
                  <a:srgbClr val="FFFFFF"/>
                </a:solidFill>
                <a:latin typeface="Fira Sans Condensed"/>
                <a:ea typeface="Fira Sans Condensed"/>
                <a:cs typeface="Fira Sans Condensed"/>
                <a:sym typeface="Fira Sans Condensed"/>
              </a:rPr>
              <a:t>no es falta de voluntad</a:t>
            </a:r>
            <a:r>
              <a:rPr lang="es-AR" sz="1350" dirty="0">
                <a:solidFill>
                  <a:srgbClr val="FFFFFF"/>
                </a:solidFill>
                <a:latin typeface="Fira Sans Condensed"/>
                <a:ea typeface="Fira Sans Condensed"/>
                <a:cs typeface="Fira Sans Condensed"/>
                <a:sym typeface="Fira Sans Condensed"/>
              </a:rPr>
              <a:t>: biología + entorno + aprendizaje.</a:t>
            </a:r>
            <a:endParaRPr lang="es-AR" sz="1350" dirty="0">
              <a:latin typeface="Fira Sans Condensed"/>
            </a:endParaRPr>
          </a:p>
        </p:txBody>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RECOMPENSA: HOMEOSTÁTICO FRENTE A HEDÓNICO</a:t>
            </a:r>
            <a:endParaRPr lang="es-AR" sz="31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22" presetClass="entr" presetSubtype="2"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wipe(right)">
                                      <p:cBhvr>
                                        <p:cTn id="5" dur="600"/>
                                        <p:tgtEl>
                                          <p:spTgt spid="23"/>
                                        </p:tgtEl>
                                      </p:cBhvr>
                                    </p:animEffect>
                                  </p:childTnLst>
                                </p:cTn>
                              </p:par>
                            </p:childTnLst>
                          </p:cTn>
                        </p:par>
                        <p:par>
                          <p:cTn id="10" fill="hold">
                            <p:stCondLst>
                              <p:cond delay="600"/>
                            </p:stCondLst>
                            <p:childTnLst>
                              <p:par>
                                <p:cTn id="7" presetID="22" presetClass="entr" presetSubtype="2" fill="hold" grpId="0" nodeType="after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wipe(right)">
                                      <p:cBhvr>
                                        <p:cTn id="9" dur="600"/>
                                        <p:tgtEl>
                                          <p:spTgt spid="24"/>
                                        </p:tgtEl>
                                      </p:cBhvr>
                                    </p:animEffect>
                                  </p:childTnLst>
                                </p:cTn>
                              </p:par>
                            </p:childTnLst>
                          </p:cTn>
                        </p:par>
                      </p:childTnLst>
                    </p:cTn>
                  </p:par>
                  <p:par>
                    <p:cTn id="16" fill="hold">
                      <p:stCondLst>
                        <p:cond delay="indefinite"/>
                      </p:stCondLst>
                      <p:childTnLst>
                        <p:par>
                          <p:cTn id="15"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21" fill="hold">
                      <p:stCondLst>
                        <p:cond delay="indefinite"/>
                      </p:stCondLst>
                      <p:childTnLst>
                        <p:par>
                          <p:cTn id="2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par>
                    <p:cTn id="28" fill="hold">
                      <p:stCondLst>
                        <p:cond delay="indefinite"/>
                      </p:stCondLst>
                      <p:childTnLst>
                        <p:par>
                          <p:cTn id="27"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 calcmode="lin" valueType="num">
                                      <p:cBhvr>
                                        <p:cTn id="24" dur="500" fill="hold"/>
                                        <p:tgtEl>
                                          <p:spTgt spid="32"/>
                                        </p:tgtEl>
                                        <p:attrNameLst>
                                          <p:attrName>ppt_w</p:attrName>
                                        </p:attrNameLst>
                                      </p:cBhvr>
                                      <p:tavLst>
                                        <p:tav tm="0">
                                          <p:val>
                                            <p:fltVal val="0"/>
                                          </p:val>
                                        </p:tav>
                                        <p:tav tm="100000">
                                          <p:val>
                                            <p:strVal val="#ppt_w"/>
                                          </p:val>
                                        </p:tav>
                                      </p:tavLst>
                                    </p:anim>
                                    <p:anim calcmode="lin" valueType="num">
                                      <p:cBhvr>
                                        <p:cTn id="25" dur="500" fill="hold"/>
                                        <p:tgtEl>
                                          <p:spTgt spid="32"/>
                                        </p:tgtEl>
                                        <p:attrNameLst>
                                          <p:attrName>ppt_h</p:attrName>
                                        </p:attrNameLst>
                                      </p:cBhvr>
                                      <p:tavLst>
                                        <p:tav tm="0">
                                          <p:val>
                                            <p:fltVal val="0"/>
                                          </p:val>
                                        </p:tav>
                                        <p:tav tm="100000">
                                          <p:val>
                                            <p:strVal val="#ppt_h"/>
                                          </p:val>
                                        </p:tav>
                                      </p:tavLst>
                                    </p:anim>
                                    <p:animEffect transition="in" filter="fade">
                                      <p:cBhvr>
                                        <p:cTn id="2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32" grpId="0" animBg="1"/>
    </p:bld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grpSp>
        <p:nvGrpSpPr>
          <p:cNvPr id="6" name="Serotonina"/>
          <p:cNvGrpSpPr/>
          <p:nvPr/>
        </p:nvGrpSpPr>
        <p:grpSpPr>
          <a:xfrm>
            <a:off x="365760" y="1097280"/>
            <a:ext cx="5486400" cy="3749040"/>
            <a:chOff x="365760" y="1097280"/>
            <a:chExt cx="5486400" cy="3749040"/>
          </a:xfrm>
        </p:grpSpPr>
        <p:sp>
          <p:nvSpPr>
            <p:cNvPr id="7" name="Recuadro SEROTONINA (5-HT)"/>
            <p:cNvSpPr/>
            <p:nvPr/>
          </p:nvSpPr>
          <p:spPr>
            <a:xfrm>
              <a:off x="365760" y="1097280"/>
              <a:ext cx="548640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SEROTONINA (5-HT)</a:t>
              </a:r>
              <a:endParaRPr lang="es-AR" sz="1500" dirty="0">
                <a:latin typeface="Fira Sans Condensed"/>
              </a:endParaRPr>
            </a:p>
          </p:txBody>
        </p:sp>
        <p:sp>
          <p:nvSpPr>
            <p:cNvPr id="8" name="Fórmula"/>
            <p:cNvSpPr/>
            <p:nvPr/>
          </p:nvSpPr>
          <p:spPr>
            <a:xfrm>
              <a:off x="365760" y="1783080"/>
              <a:ext cx="5486400" cy="5486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350" b="1" dirty="0">
                  <a:solidFill>
                    <a:srgbClr val="1E1E1E"/>
                  </a:solidFill>
                  <a:latin typeface="Fira Sans Condensed"/>
                  <a:ea typeface="Fira Sans Condensed"/>
                  <a:cs typeface="Fira Sans Condensed"/>
                  <a:sym typeface="Fira Sans Condensed"/>
                </a:rPr>
                <a:t>Triptófano → (TPH) 5-HTP → (descarboxilasa) 5-HT</a:t>
              </a:r>
              <a:endParaRPr lang="es-AR" sz="1350" dirty="0">
                <a:latin typeface="Fira Sans Condensed"/>
              </a:endParaRPr>
            </a:p>
          </p:txBody>
        </p:sp>
        <p:sp>
          <p:nvSpPr>
            <p:cNvPr id="9" name="Forma 8"/>
            <p:cNvSpPr/>
            <p:nvPr/>
          </p:nvSpPr>
          <p:spPr>
            <a:xfrm>
              <a:off x="365760" y="2468880"/>
              <a:ext cx="548640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28587" indent="-128587">
                <a:spcAft>
                  <a:spcPts val="400"/>
                </a:spcAft>
                <a:buClr>
                  <a:srgbClr val="1E1E1E"/>
                </a:buClr>
                <a:buFont typeface="Arial"/>
                <a:buChar char="•"/>
              </a:pPr>
              <a:r>
                <a:rPr lang="es-AR" sz="1350" b="1" dirty="0">
                  <a:solidFill>
                    <a:srgbClr val="1E1E1E"/>
                  </a:solidFill>
                  <a:latin typeface="Fira Sans Condensed"/>
                  <a:ea typeface="Fira Sans Condensed"/>
                  <a:cs typeface="Fira Sans Condensed"/>
                  <a:sym typeface="Fira Sans Condensed"/>
                </a:rPr>
                <a:t>5-HT2C</a:t>
              </a:r>
              <a:r>
                <a:rPr lang="es-AR" sz="1350" dirty="0">
                  <a:solidFill>
                    <a:srgbClr val="1E1E1E"/>
                  </a:solidFill>
                  <a:latin typeface="Fira Sans Condensed"/>
                  <a:ea typeface="Fira Sans Condensed"/>
                  <a:cs typeface="Fira Sans Condensed"/>
                  <a:sym typeface="Fira Sans Condensed"/>
                </a:rPr>
                <a:t> en ciertas neuronas </a:t>
              </a:r>
              <a:r>
                <a:rPr lang="es-AR" sz="1350" b="1" dirty="0">
                  <a:solidFill>
                    <a:srgbClr val="1E1E1E"/>
                  </a:solidFill>
                  <a:latin typeface="Fira Sans Condensed"/>
                  <a:ea typeface="Fira Sans Condensed"/>
                  <a:cs typeface="Fira Sans Condensed"/>
                  <a:sym typeface="Fira Sans Condensed"/>
                </a:rPr>
                <a:t>activa POMC</a:t>
              </a:r>
              <a:r>
                <a:rPr lang="es-AR" sz="1350" dirty="0">
                  <a:solidFill>
                    <a:srgbClr val="1E1E1E"/>
                  </a:solidFill>
                  <a:latin typeface="Fira Sans Condensed"/>
                  <a:ea typeface="Fira Sans Condensed"/>
                  <a:cs typeface="Fira Sans Condensed"/>
                  <a:sym typeface="Fira Sans Condensed"/>
                </a:rPr>
                <a:t> → ingesta ↓.</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Otros subtipos tienen acciones </a:t>
              </a:r>
              <a:r>
                <a:rPr lang="es-AR" sz="1350" b="1" dirty="0">
                  <a:solidFill>
                    <a:srgbClr val="1E1E1E"/>
                  </a:solidFill>
                  <a:latin typeface="Fira Sans Condensed"/>
                  <a:ea typeface="Fira Sans Condensed"/>
                  <a:cs typeface="Fira Sans Condensed"/>
                  <a:sym typeface="Fira Sans Condensed"/>
                </a:rPr>
                <a:t>diferentes u opuestas</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La 5-HT corporal es mayormente </a:t>
              </a:r>
              <a:r>
                <a:rPr lang="es-AR" sz="1350" b="1" dirty="0">
                  <a:solidFill>
                    <a:srgbClr val="1E1E1E"/>
                  </a:solidFill>
                  <a:latin typeface="Fira Sans Condensed"/>
                  <a:ea typeface="Fira Sans Condensed"/>
                  <a:cs typeface="Fira Sans Condensed"/>
                  <a:sym typeface="Fira Sans Condensed"/>
                </a:rPr>
                <a:t>periférica</a:t>
              </a:r>
              <a:r>
                <a:rPr lang="es-AR" sz="1350" dirty="0">
                  <a:solidFill>
                    <a:srgbClr val="1E1E1E"/>
                  </a:solidFill>
                  <a:latin typeface="Fira Sans Condensed"/>
                  <a:ea typeface="Fira Sans Condensed"/>
                  <a:cs typeface="Fira Sans Condensed"/>
                  <a:sym typeface="Fira Sans Condensed"/>
                </a:rPr>
                <a:t> y no cruza libremente la BHE.</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No es simplemente «hormona de saciedad».</a:t>
              </a:r>
              <a:endParaRPr lang="es-AR" sz="1350" dirty="0">
                <a:latin typeface="Fira Sans Condensed"/>
              </a:endParaRPr>
            </a:p>
          </p:txBody>
        </p:sp>
      </p:grpSp>
      <p:grpSp>
        <p:nvGrpSpPr>
          <p:cNvPr id="10" name="Endocannabinoides"/>
          <p:cNvGrpSpPr/>
          <p:nvPr/>
        </p:nvGrpSpPr>
        <p:grpSpPr>
          <a:xfrm>
            <a:off x="6263640" y="1097280"/>
            <a:ext cx="5577840" cy="3749040"/>
            <a:chOff x="6263640" y="1097280"/>
            <a:chExt cx="5577840" cy="3749040"/>
          </a:xfrm>
        </p:grpSpPr>
        <p:sp>
          <p:nvSpPr>
            <p:cNvPr id="11" name="Recuadro ANANDAMIDA (AEA) · 2-A"/>
            <p:cNvSpPr/>
            <p:nvPr/>
          </p:nvSpPr>
          <p:spPr>
            <a:xfrm>
              <a:off x="6263640" y="1097280"/>
              <a:ext cx="55778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ANANDAMIDA (AEA) · 2-AG</a:t>
              </a:r>
              <a:endParaRPr lang="es-AR" sz="1500" dirty="0">
                <a:latin typeface="Fira Sans Condensed"/>
              </a:endParaRPr>
            </a:p>
          </p:txBody>
        </p:sp>
        <p:sp>
          <p:nvSpPr>
            <p:cNvPr id="12" name="Fórmula_2"/>
            <p:cNvSpPr/>
            <p:nvPr/>
          </p:nvSpPr>
          <p:spPr>
            <a:xfrm>
              <a:off x="6263640" y="1783080"/>
              <a:ext cx="5577840" cy="5486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350" b="1" dirty="0">
                  <a:solidFill>
                    <a:srgbClr val="1E1E1E"/>
                  </a:solidFill>
                  <a:latin typeface="Fira Sans Condensed"/>
                  <a:ea typeface="Fira Sans Condensed"/>
                  <a:cs typeface="Fira Sans Condensed"/>
                  <a:sym typeface="Fira Sans Condensed"/>
                </a:rPr>
                <a:t>Fosfolípidos → a demanda → AEA / 2-AG → CB1</a:t>
              </a:r>
              <a:endParaRPr lang="es-AR" sz="1350" dirty="0">
                <a:latin typeface="Fira Sans Condensed"/>
              </a:endParaRPr>
            </a:p>
          </p:txBody>
        </p:sp>
        <p:sp>
          <p:nvSpPr>
            <p:cNvPr id="13" name="Forma 12"/>
            <p:cNvSpPr/>
            <p:nvPr/>
          </p:nvSpPr>
          <p:spPr>
            <a:xfrm>
              <a:off x="6263640" y="2468880"/>
              <a:ext cx="557784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marL="128587" indent="-128587">
                <a:spcAft>
                  <a:spcPts val="400"/>
                </a:spcAft>
                <a:buClr>
                  <a:srgbClr val="1E1E1E"/>
                </a:buClr>
                <a:buFont typeface="Arial"/>
                <a:buChar char="•"/>
              </a:pPr>
              <a:r>
                <a:rPr lang="es-AR" sz="1350" b="1" dirty="0">
                  <a:solidFill>
                    <a:srgbClr val="1E1E1E"/>
                  </a:solidFill>
                  <a:latin typeface="Fira Sans Condensed"/>
                  <a:ea typeface="Fira Sans Condensed"/>
                  <a:cs typeface="Fira Sans Condensed"/>
                  <a:sym typeface="Fira Sans Condensed"/>
                </a:rPr>
                <a:t>CB1</a:t>
              </a:r>
              <a:r>
                <a:rPr lang="es-AR" sz="1350" dirty="0">
                  <a:solidFill>
                    <a:srgbClr val="1E1E1E"/>
                  </a:solidFill>
                  <a:latin typeface="Fira Sans Condensed"/>
                  <a:ea typeface="Fira Sans Condensed"/>
                  <a:cs typeface="Fira Sans Condensed"/>
                  <a:sym typeface="Fira Sans Condensed"/>
                </a:rPr>
                <a:t>: SNC y tejidos periféricos; modula liberación presináptica, apetito, recompensa, metabolismo.</a:t>
              </a:r>
              <a:endParaRPr lang="es-AR" sz="1350" dirty="0">
                <a:latin typeface="Fira Sans Condensed"/>
              </a:endParaRPr>
            </a:p>
            <a:p>
              <a:pPr algn="l" marL="128587" indent="-128587">
                <a:spcAft>
                  <a:spcPts val="400"/>
                </a:spcAft>
                <a:buClr>
                  <a:srgbClr val="1E1E1E"/>
                </a:buClr>
                <a:buFont typeface="Arial"/>
                <a:buChar char="•"/>
              </a:pPr>
              <a:r>
                <a:rPr lang="es-AR" sz="1350" b="1" dirty="0">
                  <a:solidFill>
                    <a:srgbClr val="1E1E1E"/>
                  </a:solidFill>
                  <a:latin typeface="Fira Sans Condensed"/>
                  <a:ea typeface="Fira Sans Condensed"/>
                  <a:cs typeface="Fira Sans Condensed"/>
                  <a:sym typeface="Fira Sans Condensed"/>
                </a:rPr>
                <a:t>CB2</a:t>
              </a:r>
              <a:r>
                <a:rPr lang="es-AR" sz="1350" dirty="0">
                  <a:solidFill>
                    <a:srgbClr val="1E1E1E"/>
                  </a:solidFill>
                  <a:latin typeface="Fira Sans Condensed"/>
                  <a:ea typeface="Fira Sans Condensed"/>
                  <a:cs typeface="Fira Sans Condensed"/>
                  <a:sym typeface="Fira Sans Condensed"/>
                </a:rPr>
                <a:t>: inmunidad.</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Degradación: </a:t>
              </a:r>
              <a:r>
                <a:rPr lang="es-AR" sz="1350" b="1" dirty="0">
                  <a:solidFill>
                    <a:srgbClr val="1E1E1E"/>
                  </a:solidFill>
                  <a:latin typeface="Fira Sans Condensed"/>
                  <a:ea typeface="Fira Sans Condensed"/>
                  <a:cs typeface="Fira Sans Condensed"/>
                  <a:sym typeface="Fira Sans Condensed"/>
                </a:rPr>
                <a:t>FAAH</a:t>
              </a:r>
              <a:r>
                <a:rPr lang="es-AR" sz="1350" dirty="0">
                  <a:solidFill>
                    <a:srgbClr val="1E1E1E"/>
                  </a:solidFill>
                  <a:latin typeface="Fira Sans Condensed"/>
                  <a:ea typeface="Fira Sans Condensed"/>
                  <a:cs typeface="Fira Sans Condensed"/>
                  <a:sym typeface="Fira Sans Condensed"/>
                </a:rPr>
                <a:t> (AEA) y </a:t>
              </a:r>
              <a:r>
                <a:rPr lang="es-AR" sz="1350" b="1" dirty="0">
                  <a:solidFill>
                    <a:srgbClr val="1E1E1E"/>
                  </a:solidFill>
                  <a:latin typeface="Fira Sans Condensed"/>
                  <a:ea typeface="Fira Sans Condensed"/>
                  <a:cs typeface="Fira Sans Condensed"/>
                  <a:sym typeface="Fira Sans Condensed"/>
                </a:rPr>
                <a:t>MAGL</a:t>
              </a:r>
              <a:r>
                <a:rPr lang="es-AR" sz="1350" dirty="0">
                  <a:solidFill>
                    <a:srgbClr val="1E1E1E"/>
                  </a:solidFill>
                  <a:latin typeface="Fira Sans Condensed"/>
                  <a:ea typeface="Fira Sans Condensed"/>
                  <a:cs typeface="Fira Sans Condensed"/>
                  <a:sym typeface="Fira Sans Condensed"/>
                </a:rPr>
                <a:t> (2-AG).</a:t>
              </a:r>
              <a:endParaRPr lang="es-AR" sz="1350" dirty="0">
                <a:latin typeface="Fira Sans Condensed"/>
              </a:endParaRPr>
            </a:p>
            <a:p>
              <a:pPr algn="l" marL="128587" indent="-128587">
                <a:spcAft>
                  <a:spcPts val="400"/>
                </a:spcAft>
                <a:buClr>
                  <a:srgbClr val="1E1E1E"/>
                </a:buClr>
                <a:buFont typeface="Arial"/>
                <a:buChar char="•"/>
              </a:pPr>
              <a:r>
                <a:rPr lang="es-AR" sz="1350" dirty="0">
                  <a:solidFill>
                    <a:srgbClr val="1E1E1E"/>
                  </a:solidFill>
                  <a:latin typeface="Fira Sans Condensed"/>
                  <a:ea typeface="Fira Sans Condensed"/>
                  <a:cs typeface="Fira Sans Condensed"/>
                  <a:sym typeface="Fira Sans Condensed"/>
                </a:rPr>
                <a:t>CB1 suele </a:t>
              </a:r>
              <a:r>
                <a:rPr lang="es-AR" sz="1350" b="1" dirty="0">
                  <a:solidFill>
                    <a:srgbClr val="1E1E1E"/>
                  </a:solidFill>
                  <a:latin typeface="Fira Sans Condensed"/>
                  <a:ea typeface="Fira Sans Condensed"/>
                  <a:cs typeface="Fira Sans Condensed"/>
                  <a:sym typeface="Fira Sans Condensed"/>
                </a:rPr>
                <a:t>promover ingesta</a:t>
              </a:r>
              <a:r>
                <a:rPr lang="es-AR" sz="1350" dirty="0">
                  <a:solidFill>
                    <a:srgbClr val="1E1E1E"/>
                  </a:solidFill>
                  <a:latin typeface="Fira Sans Condensed"/>
                  <a:ea typeface="Fira Sans Condensed"/>
                  <a:cs typeface="Fira Sans Condensed"/>
                  <a:sym typeface="Fira Sans Condensed"/>
                </a:rPr>
                <a:t> y lipogénesis en ciertos tejidos.</a:t>
              </a:r>
              <a:endParaRPr lang="es-AR" sz="1350" dirty="0">
                <a:latin typeface="Fira Sans Condensed"/>
              </a:endParaRPr>
            </a:p>
          </p:txBody>
        </p:sp>
      </p:grpSp>
      <p:sp>
        <p:nvSpPr>
          <p:cNvPr id="14" name="Perla clínica"/>
          <p:cNvSpPr/>
          <p:nvPr/>
        </p:nvSpPr>
        <p:spPr>
          <a:xfrm>
            <a:off x="365760" y="5074920"/>
            <a:ext cx="11475720" cy="11887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b="1" dirty="0">
                <a:solidFill>
                  <a:srgbClr val="FFFFFF"/>
                </a:solidFill>
                <a:latin typeface="Fira Sans Condensed"/>
                <a:ea typeface="Fira Sans Condensed"/>
                <a:cs typeface="Fira Sans Condensed"/>
                <a:sym typeface="Fira Sans Condensed"/>
              </a:rPr>
              <a:t>Rimonabant</a:t>
            </a:r>
            <a:r>
              <a:rPr lang="es-AR" sz="1500" dirty="0">
                <a:solidFill>
                  <a:srgbClr val="FFFFFF"/>
                </a:solidFill>
                <a:latin typeface="Fira Sans Condensed"/>
                <a:ea typeface="Fira Sans Condensed"/>
                <a:cs typeface="Fira Sans Condensed"/>
                <a:sym typeface="Fira Sans Condensed"/>
              </a:rPr>
              <a:t> (antagonista/inverso CB1) reducía peso, pero fue </a:t>
            </a:r>
            <a:r>
              <a:rPr lang="es-AR" sz="1500" b="1" dirty="0">
                <a:solidFill>
                  <a:srgbClr val="FFFFFF"/>
                </a:solidFill>
                <a:latin typeface="Fira Sans Condensed"/>
                <a:ea typeface="Fira Sans Condensed"/>
                <a:cs typeface="Fira Sans Condensed"/>
                <a:sym typeface="Fira Sans Condensed"/>
              </a:rPr>
              <a:t>retirado por efectos psiquiátricos graves</a:t>
            </a:r>
            <a:r>
              <a:rPr lang="es-AR" sz="1500" dirty="0">
                <a:solidFill>
                  <a:srgbClr val="FFFFFF"/>
                </a:solidFill>
                <a:latin typeface="Fira Sans Condensed"/>
                <a:ea typeface="Fira Sans Condensed"/>
                <a:cs typeface="Fira Sans Condensed"/>
                <a:sym typeface="Fira Sans Condensed"/>
              </a:rPr>
              <a:t> (ANMAT, Disp. 6238/2008): </a:t>
            </a:r>
            <a:r>
              <a:rPr lang="es-AR" sz="1500" b="1" dirty="0">
                <a:solidFill>
                  <a:srgbClr val="FFFFFF"/>
                </a:solidFill>
                <a:latin typeface="Fira Sans Condensed"/>
                <a:ea typeface="Fira Sans Condensed"/>
                <a:cs typeface="Fira Sans Condensed"/>
                <a:sym typeface="Fira Sans Condensed"/>
              </a:rPr>
              <a:t>no es tratamiento vigente</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SEROTONINA Y SISTEMA ENDOCANNABINOIDE</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Flecha st→crh"/>
          <p:cNvSpPr/>
          <p:nvPr/>
        </p:nvSpPr>
        <p:spPr>
          <a:xfrm>
            <a:off x="2505456" y="1371600"/>
            <a:ext cx="292608" cy="9144"/>
          </a:xfrm>
          <a:custGeom>
            <a:avLst/>
            <a:gdLst/>
            <a:ahLst/>
            <a:cxnLst/>
            <a:rect l="0" t="0" r="r" b="b"/>
            <a:pathLst>
              <a:path w="320" h="10" fill="none">
                <a:moveTo>
                  <a:pt x="0" y="0"/>
                </a:moveTo>
                <a:lnTo>
                  <a:pt x="320" y="0"/>
                </a:lnTo>
              </a:path>
            </a:pathLst>
          </a:custGeom>
          <a:noFill/>
          <a:ln w="28575" cap="rnd">
            <a:solidFill>
              <a:srgbClr val="1E1E1E"/>
            </a:solidFill>
            <a:round/>
            <a:tailEnd type="triangle" w="med" len="med"/>
          </a:ln>
        </p:spPr>
      </p:sp>
      <p:sp>
        <p:nvSpPr>
          <p:cNvPr id="7" name="Flecha crh→acth"/>
          <p:cNvSpPr/>
          <p:nvPr/>
        </p:nvSpPr>
        <p:spPr>
          <a:xfrm>
            <a:off x="4974336" y="1371600"/>
            <a:ext cx="292608" cy="9144"/>
          </a:xfrm>
          <a:custGeom>
            <a:avLst/>
            <a:gdLst/>
            <a:ahLst/>
            <a:cxnLst/>
            <a:rect l="0" t="0" r="r" b="b"/>
            <a:pathLst>
              <a:path w="319" h="10" fill="none">
                <a:moveTo>
                  <a:pt x="0" y="0"/>
                </a:moveTo>
                <a:lnTo>
                  <a:pt x="319" y="0"/>
                </a:lnTo>
              </a:path>
            </a:pathLst>
          </a:custGeom>
          <a:noFill/>
          <a:ln w="28575" cap="rnd">
            <a:solidFill>
              <a:srgbClr val="1E1E1E"/>
            </a:solidFill>
            <a:round/>
            <a:tailEnd type="triangle" w="med" len="med"/>
          </a:ln>
        </p:spPr>
      </p:sp>
      <p:sp>
        <p:nvSpPr>
          <p:cNvPr id="8" name="Flecha acth→cor"/>
          <p:cNvSpPr/>
          <p:nvPr/>
        </p:nvSpPr>
        <p:spPr>
          <a:xfrm>
            <a:off x="7717536" y="1371600"/>
            <a:ext cx="292608" cy="9144"/>
          </a:xfrm>
          <a:custGeom>
            <a:avLst/>
            <a:gdLst/>
            <a:ahLst/>
            <a:cxnLst/>
            <a:rect l="0" t="0" r="r" b="b"/>
            <a:pathLst>
              <a:path w="320" h="10" fill="none">
                <a:moveTo>
                  <a:pt x="0" y="0"/>
                </a:moveTo>
                <a:lnTo>
                  <a:pt x="320" y="0"/>
                </a:lnTo>
              </a:path>
            </a:pathLst>
          </a:custGeom>
          <a:noFill/>
          <a:ln w="28575" cap="rnd">
            <a:solidFill>
              <a:srgbClr val="1E1E1E"/>
            </a:solidFill>
            <a:round/>
            <a:tailEnd type="triangle" w="med" len="med"/>
          </a:ln>
        </p:spPr>
      </p:sp>
      <p:sp>
        <p:nvSpPr>
          <p:cNvPr id="9" name="Flecha cor→gr"/>
          <p:cNvSpPr/>
          <p:nvPr/>
        </p:nvSpPr>
        <p:spPr>
          <a:xfrm>
            <a:off x="10094976" y="1371600"/>
            <a:ext cx="201168" cy="9144"/>
          </a:xfrm>
          <a:custGeom>
            <a:avLst/>
            <a:gdLst/>
            <a:ahLst/>
            <a:cxnLst/>
            <a:rect l="0" t="0" r="r" b="b"/>
            <a:pathLst>
              <a:path w="220" h="10" fill="none">
                <a:moveTo>
                  <a:pt x="0" y="0"/>
                </a:moveTo>
                <a:lnTo>
                  <a:pt x="220" y="0"/>
                </a:lnTo>
              </a:path>
            </a:pathLst>
          </a:custGeom>
          <a:noFill/>
          <a:ln w="28575" cap="rnd">
            <a:solidFill>
              <a:srgbClr val="1E1E1E"/>
            </a:solidFill>
            <a:round/>
            <a:tailEnd type="triangle" w="med" len="med"/>
          </a:ln>
        </p:spPr>
      </p:sp>
      <p:sp>
        <p:nvSpPr>
          <p:cNvPr id="10" name="Flecha cor→ef"/>
          <p:cNvSpPr/>
          <p:nvPr/>
        </p:nvSpPr>
        <p:spPr>
          <a:xfrm>
            <a:off x="8692515" y="1682496"/>
            <a:ext cx="240030" cy="246888"/>
          </a:xfrm>
          <a:custGeom>
            <a:avLst/>
            <a:gdLst/>
            <a:ahLst/>
            <a:cxnLst/>
            <a:rect l="0" t="0" r="r" b="b"/>
            <a:pathLst>
              <a:path w="262" h="270" fill="none">
                <a:moveTo>
                  <a:pt x="262" y="0"/>
                </a:moveTo>
                <a:lnTo>
                  <a:pt x="0" y="270"/>
                </a:lnTo>
              </a:path>
            </a:pathLst>
          </a:custGeom>
          <a:noFill/>
          <a:ln w="28575" cap="rnd">
            <a:solidFill>
              <a:srgbClr val="1E1E1E"/>
            </a:solidFill>
            <a:round/>
            <a:tailEnd type="triangle" w="med" len="med"/>
          </a:ln>
        </p:spPr>
      </p:sp>
      <p:sp>
        <p:nvSpPr>
          <p:cNvPr id="11" name="Nodo st"/>
          <p:cNvSpPr/>
          <p:nvPr/>
        </p:nvSpPr>
        <p:spPr>
          <a:xfrm>
            <a:off x="365760" y="1097280"/>
            <a:ext cx="210312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Estrés</a:t>
            </a:r>
            <a:endParaRPr lang="es-AR" sz="1600" dirty="0">
              <a:latin typeface="Fira Sans Condensed"/>
            </a:endParaRPr>
          </a:p>
        </p:txBody>
      </p:sp>
      <p:sp>
        <p:nvSpPr>
          <p:cNvPr id="12" name="Nodo crh"/>
          <p:cNvSpPr/>
          <p:nvPr/>
        </p:nvSpPr>
        <p:spPr>
          <a:xfrm>
            <a:off x="2834640" y="1097280"/>
            <a:ext cx="210312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CRH (hipotálamo)</a:t>
            </a:r>
            <a:endParaRPr lang="es-AR" sz="1350" dirty="0">
              <a:latin typeface="Fira Sans Condensed"/>
            </a:endParaRPr>
          </a:p>
        </p:txBody>
      </p:sp>
      <p:sp>
        <p:nvSpPr>
          <p:cNvPr id="13" name="Nodo acth"/>
          <p:cNvSpPr/>
          <p:nvPr/>
        </p:nvSpPr>
        <p:spPr>
          <a:xfrm>
            <a:off x="5303520" y="1097280"/>
            <a:ext cx="237744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ACTH (de POMC hipofisario)</a:t>
            </a:r>
            <a:endParaRPr lang="es-AR" sz="1250" dirty="0">
              <a:latin typeface="Fira Sans Condensed"/>
            </a:endParaRPr>
          </a:p>
        </p:txBody>
      </p:sp>
      <p:sp>
        <p:nvSpPr>
          <p:cNvPr id="14" name="Nodo cor"/>
          <p:cNvSpPr/>
          <p:nvPr/>
        </p:nvSpPr>
        <p:spPr>
          <a:xfrm>
            <a:off x="8046720" y="1097280"/>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CORTISOL</a:t>
            </a:r>
            <a:endParaRPr lang="es-AR" sz="1600" dirty="0">
              <a:latin typeface="Fira Sans Condensed"/>
            </a:endParaRPr>
          </a:p>
        </p:txBody>
      </p:sp>
      <p:sp>
        <p:nvSpPr>
          <p:cNvPr id="15" name="Nodo gr"/>
          <p:cNvSpPr/>
          <p:nvPr/>
        </p:nvSpPr>
        <p:spPr>
          <a:xfrm>
            <a:off x="10332720" y="1097280"/>
            <a:ext cx="15087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GR nuclear</a:t>
            </a:r>
            <a:endParaRPr lang="es-AR" sz="1300" dirty="0">
              <a:latin typeface="Fira Sans Condensed"/>
            </a:endParaRPr>
          </a:p>
        </p:txBody>
      </p:sp>
      <p:sp>
        <p:nvSpPr>
          <p:cNvPr id="16" name="Nodo ef"/>
          <p:cNvSpPr/>
          <p:nvPr/>
        </p:nvSpPr>
        <p:spPr>
          <a:xfrm>
            <a:off x="5303520" y="1965960"/>
            <a:ext cx="653796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Sustratos ↑ · gluconeogénesis · respuesta vascular a catecolaminas; crónico: adiposidad central, apetito ↑, músculo ↓, HTA, hiperglucemia</a:t>
            </a:r>
            <a:endParaRPr lang="es-AR" sz="1200" dirty="0">
              <a:latin typeface="Fira Sans Condensed"/>
            </a:endParaRPr>
          </a:p>
        </p:txBody>
      </p:sp>
      <p:grpSp>
        <p:nvGrpSpPr>
          <p:cNvPr id="17" name="Cuadro Sin un único sentido"/>
          <p:cNvGrpSpPr/>
          <p:nvPr/>
        </p:nvGrpSpPr>
        <p:grpSpPr>
          <a:xfrm>
            <a:off x="365760" y="1965960"/>
            <a:ext cx="4663440" cy="1828800"/>
            <a:chOff x="365760" y="1965960"/>
            <a:chExt cx="4663440" cy="1828800"/>
          </a:xfrm>
        </p:grpSpPr>
        <p:sp>
          <p:nvSpPr>
            <p:cNvPr id="18" name="Forma 17"/>
            <p:cNvSpPr/>
            <p:nvPr/>
          </p:nvSpPr>
          <p:spPr>
            <a:xfrm>
              <a:off x="365760" y="2167128"/>
              <a:ext cx="4663440" cy="16276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ACTH no es por sí misma una hormona orexígena principal. CRH </a:t>
              </a:r>
              <a:r>
                <a:rPr lang="es-AR" sz="1300" b="1" dirty="0">
                  <a:solidFill>
                    <a:srgbClr val="1E1E1E"/>
                  </a:solidFill>
                  <a:latin typeface="Fira Sans Condensed"/>
                  <a:ea typeface="Fira Sans Condensed"/>
                  <a:cs typeface="Fira Sans Condensed"/>
                  <a:sym typeface="Fira Sans Condensed"/>
                </a:rPr>
                <a:t>aguda</a:t>
              </a:r>
              <a:r>
                <a:rPr lang="es-AR" sz="1300" dirty="0">
                  <a:solidFill>
                    <a:srgbClr val="1E1E1E"/>
                  </a:solidFill>
                  <a:latin typeface="Fira Sans Condensed"/>
                  <a:ea typeface="Fira Sans Condensed"/>
                  <a:cs typeface="Fira Sans Condensed"/>
                  <a:sym typeface="Fira Sans Condensed"/>
                </a:rPr>
                <a:t> puede </a:t>
              </a:r>
              <a:r>
                <a:rPr lang="es-AR" sz="1300" b="1" dirty="0">
                  <a:solidFill>
                    <a:srgbClr val="1E1E1E"/>
                  </a:solidFill>
                  <a:latin typeface="Fira Sans Condensed"/>
                  <a:ea typeface="Fira Sans Condensed"/>
                  <a:cs typeface="Fira Sans Condensed"/>
                  <a:sym typeface="Fira Sans Condensed"/>
                </a:rPr>
                <a:t>reducir</a:t>
              </a:r>
              <a:r>
                <a:rPr lang="es-AR" sz="1300" dirty="0">
                  <a:solidFill>
                    <a:srgbClr val="1E1E1E"/>
                  </a:solidFill>
                  <a:latin typeface="Fira Sans Condensed"/>
                  <a:ea typeface="Fira Sans Condensed"/>
                  <a:cs typeface="Fira Sans Condensed"/>
                  <a:sym typeface="Fira Sans Condensed"/>
                </a:rPr>
                <a:t> el apetito; estrés </a:t>
              </a:r>
              <a:r>
                <a:rPr lang="es-AR" sz="1300" b="1" dirty="0">
                  <a:solidFill>
                    <a:srgbClr val="1E1E1E"/>
                  </a:solidFill>
                  <a:latin typeface="Fira Sans Condensed"/>
                  <a:ea typeface="Fira Sans Condensed"/>
                  <a:cs typeface="Fira Sans Condensed"/>
                  <a:sym typeface="Fira Sans Condensed"/>
                </a:rPr>
                <a:t>crónico</a:t>
              </a:r>
              <a:r>
                <a:rPr lang="es-AR" sz="1300" dirty="0">
                  <a:solidFill>
                    <a:srgbClr val="1E1E1E"/>
                  </a:solidFill>
                  <a:latin typeface="Fira Sans Condensed"/>
                  <a:ea typeface="Fira Sans Condensed"/>
                  <a:cs typeface="Fira Sans Condensed"/>
                  <a:sym typeface="Fira Sans Condensed"/>
                </a:rPr>
                <a:t> y recompensa pueden </a:t>
              </a:r>
              <a:r>
                <a:rPr lang="es-AR" sz="1300" b="1" dirty="0">
                  <a:solidFill>
                    <a:srgbClr val="1E1E1E"/>
                  </a:solidFill>
                  <a:latin typeface="Fira Sans Condensed"/>
                  <a:ea typeface="Fira Sans Condensed"/>
                  <a:cs typeface="Fira Sans Condensed"/>
                  <a:sym typeface="Fira Sans Condensed"/>
                </a:rPr>
                <a:t>aumentarlo</a:t>
              </a: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p:txBody>
        </p:sp>
        <p:sp>
          <p:nvSpPr>
            <p:cNvPr id="19" name="Forma 18"/>
            <p:cNvSpPr/>
            <p:nvPr/>
          </p:nvSpPr>
          <p:spPr>
            <a:xfrm>
              <a:off x="502920" y="1965960"/>
              <a:ext cx="214685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SIN UN ÚNICO SENTIDO</a:t>
              </a:r>
              <a:endParaRPr lang="es-AR" sz="1400" dirty="0">
                <a:latin typeface="Fira Sans Condensed"/>
              </a:endParaRPr>
            </a:p>
          </p:txBody>
        </p:sp>
      </p:grpSp>
      <p:grpSp>
        <p:nvGrpSpPr>
          <p:cNvPr id="20" name="Otra Oxitocina"/>
          <p:cNvGrpSpPr/>
          <p:nvPr/>
        </p:nvGrpSpPr>
        <p:grpSpPr>
          <a:xfrm>
            <a:off x="365760" y="3977640"/>
            <a:ext cx="11475720" cy="402336"/>
            <a:chOff x="365760" y="3977640"/>
            <a:chExt cx="11475720" cy="402336"/>
          </a:xfrm>
        </p:grpSpPr>
        <p:sp>
          <p:nvSpPr>
            <p:cNvPr id="21" name="Recuadro Oxitocina"/>
            <p:cNvSpPr/>
            <p:nvPr/>
          </p:nvSpPr>
          <p:spPr>
            <a:xfrm>
              <a:off x="365760" y="3977640"/>
              <a:ext cx="2194560" cy="402336"/>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Oxitocina</a:t>
              </a:r>
              <a:endParaRPr lang="es-AR" sz="1200" dirty="0">
                <a:latin typeface="Fira Sans Condensed"/>
              </a:endParaRPr>
            </a:p>
          </p:txBody>
        </p:sp>
        <p:sp>
          <p:nvSpPr>
            <p:cNvPr id="22" name="Forma 21"/>
            <p:cNvSpPr txBox="1"/>
            <p:nvPr/>
          </p:nvSpPr>
          <p:spPr>
            <a:xfrm>
              <a:off x="2697480" y="3977640"/>
              <a:ext cx="9144000" cy="402336"/>
            </a:xfrm>
            <a:prstGeom prst="rect">
              <a:avLst/>
            </a:prstGeom>
            <a:noFill/>
            <a:ln>
              <a:noFill/>
            </a:ln>
          </p:spPr>
          <p:txBody>
            <a:bodyPr wrap="square" lIns="0" tIns="0" rIns="0" bIns="0" anchor="ctr" rtlCol="0">
              <a:noAutofit/>
            </a:bodyPr>
            <a:lstStyle/>
            <a:p>
              <a:pPr algn="l">
                <a:spcAft>
                  <a:spcPts val="300"/>
                </a:spcAft>
                <a:buNone/>
              </a:pPr>
              <a:r>
                <a:rPr lang="es-AR" sz="1250" dirty="0">
                  <a:solidFill>
                    <a:srgbClr val="1E1E1E"/>
                  </a:solidFill>
                  <a:latin typeface="Fira Sans Condensed"/>
                  <a:ea typeface="Fira Sans Condensed"/>
                  <a:cs typeface="Fira Sans Condensed"/>
                  <a:sym typeface="Fira Sans Condensed"/>
                </a:rPr>
                <a:t>PVN/supraóptico: saciedad en circuitos hipotalámicos/tronco; no es terapia adelgazante</a:t>
              </a:r>
              <a:endParaRPr lang="es-AR" sz="1250" dirty="0">
                <a:latin typeface="Fira Sans Condensed"/>
              </a:endParaRPr>
            </a:p>
          </p:txBody>
        </p:sp>
      </p:grpSp>
      <p:grpSp>
        <p:nvGrpSpPr>
          <p:cNvPr id="23" name="Otra Orexina A/B"/>
          <p:cNvGrpSpPr/>
          <p:nvPr/>
        </p:nvGrpSpPr>
        <p:grpSpPr>
          <a:xfrm>
            <a:off x="365760" y="4434840"/>
            <a:ext cx="11475720" cy="402336"/>
            <a:chOff x="365760" y="4434840"/>
            <a:chExt cx="11475720" cy="402336"/>
          </a:xfrm>
        </p:grpSpPr>
        <p:sp>
          <p:nvSpPr>
            <p:cNvPr id="24" name="Recuadro Orexina A/B"/>
            <p:cNvSpPr/>
            <p:nvPr/>
          </p:nvSpPr>
          <p:spPr>
            <a:xfrm>
              <a:off x="365760" y="4434840"/>
              <a:ext cx="2194560" cy="402336"/>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Orexina A/B</a:t>
              </a:r>
              <a:endParaRPr lang="es-AR" sz="1200" dirty="0">
                <a:latin typeface="Fira Sans Condensed"/>
              </a:endParaRPr>
            </a:p>
          </p:txBody>
        </p:sp>
        <p:sp>
          <p:nvSpPr>
            <p:cNvPr id="25" name="Forma 24"/>
            <p:cNvSpPr txBox="1"/>
            <p:nvPr/>
          </p:nvSpPr>
          <p:spPr>
            <a:xfrm>
              <a:off x="2697480" y="4434840"/>
              <a:ext cx="9144000" cy="402336"/>
            </a:xfrm>
            <a:prstGeom prst="rect">
              <a:avLst/>
            </a:prstGeom>
            <a:noFill/>
            <a:ln>
              <a:noFill/>
            </a:ln>
          </p:spPr>
          <p:txBody>
            <a:bodyPr wrap="square" lIns="0" tIns="0" rIns="0" bIns="0" anchor="ctr" rtlCol="0">
              <a:noAutofit/>
            </a:bodyPr>
            <a:lstStyle/>
            <a:p>
              <a:pPr algn="l">
                <a:spcAft>
                  <a:spcPts val="300"/>
                </a:spcAft>
                <a:buNone/>
              </a:pPr>
              <a:r>
                <a:rPr lang="es-AR" sz="1250" dirty="0">
                  <a:solidFill>
                    <a:srgbClr val="1E1E1E"/>
                  </a:solidFill>
                  <a:latin typeface="Fira Sans Condensed"/>
                  <a:ea typeface="Fira Sans Condensed"/>
                  <a:cs typeface="Fira Sans Condensed"/>
                  <a:sym typeface="Fira Sans Condensed"/>
                </a:rPr>
                <a:t>Hipotálamo lateral: vigilia, motivación, alimentación</a:t>
              </a:r>
              <a:endParaRPr lang="es-AR" sz="1250" dirty="0">
                <a:latin typeface="Fira Sans Condensed"/>
              </a:endParaRPr>
            </a:p>
          </p:txBody>
        </p:sp>
      </p:grpSp>
      <p:grpSp>
        <p:nvGrpSpPr>
          <p:cNvPr id="26" name="Otra MCH"/>
          <p:cNvGrpSpPr/>
          <p:nvPr/>
        </p:nvGrpSpPr>
        <p:grpSpPr>
          <a:xfrm>
            <a:off x="365760" y="4892040"/>
            <a:ext cx="11475720" cy="402336"/>
            <a:chOff x="365760" y="4892040"/>
            <a:chExt cx="11475720" cy="402336"/>
          </a:xfrm>
        </p:grpSpPr>
        <p:sp>
          <p:nvSpPr>
            <p:cNvPr id="27" name="Recuadro MCH"/>
            <p:cNvSpPr/>
            <p:nvPr/>
          </p:nvSpPr>
          <p:spPr>
            <a:xfrm>
              <a:off x="365760" y="4892040"/>
              <a:ext cx="2194560" cy="402336"/>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MCH</a:t>
              </a:r>
              <a:endParaRPr lang="es-AR" sz="1200" dirty="0">
                <a:latin typeface="Fira Sans Condensed"/>
              </a:endParaRPr>
            </a:p>
          </p:txBody>
        </p:sp>
        <p:sp>
          <p:nvSpPr>
            <p:cNvPr id="28" name="Forma 27"/>
            <p:cNvSpPr txBox="1"/>
            <p:nvPr/>
          </p:nvSpPr>
          <p:spPr>
            <a:xfrm>
              <a:off x="2697480" y="4892040"/>
              <a:ext cx="9144000" cy="402336"/>
            </a:xfrm>
            <a:prstGeom prst="rect">
              <a:avLst/>
            </a:prstGeom>
            <a:noFill/>
            <a:ln>
              <a:noFill/>
            </a:ln>
          </p:spPr>
          <p:txBody>
            <a:bodyPr wrap="square" lIns="0" tIns="0" rIns="0" bIns="0" anchor="ctr" rtlCol="0">
              <a:noAutofit/>
            </a:bodyPr>
            <a:lstStyle/>
            <a:p>
              <a:pPr algn="l">
                <a:spcAft>
                  <a:spcPts val="300"/>
                </a:spcAft>
                <a:buNone/>
              </a:pPr>
              <a:r>
                <a:rPr lang="es-AR" sz="1250" dirty="0">
                  <a:solidFill>
                    <a:srgbClr val="1E1E1E"/>
                  </a:solidFill>
                  <a:latin typeface="Fira Sans Condensed"/>
                  <a:ea typeface="Fira Sans Condensed"/>
                  <a:cs typeface="Fira Sans Condensed"/>
                  <a:sym typeface="Fira Sans Condensed"/>
                </a:rPr>
                <a:t>Hipotálamo lateral: favorece ingesta</a:t>
              </a:r>
              <a:endParaRPr lang="es-AR" sz="1250" dirty="0">
                <a:latin typeface="Fira Sans Condensed"/>
              </a:endParaRPr>
            </a:p>
          </p:txBody>
        </p:sp>
      </p:grpSp>
      <p:grpSp>
        <p:nvGrpSpPr>
          <p:cNvPr id="29" name="Otra Histamina H1"/>
          <p:cNvGrpSpPr/>
          <p:nvPr/>
        </p:nvGrpSpPr>
        <p:grpSpPr>
          <a:xfrm>
            <a:off x="365760" y="5349240"/>
            <a:ext cx="11475720" cy="402336"/>
            <a:chOff x="365760" y="5349240"/>
            <a:chExt cx="11475720" cy="402336"/>
          </a:xfrm>
        </p:grpSpPr>
        <p:sp>
          <p:nvSpPr>
            <p:cNvPr id="30" name="Recuadro Histamina H1"/>
            <p:cNvSpPr/>
            <p:nvPr/>
          </p:nvSpPr>
          <p:spPr>
            <a:xfrm>
              <a:off x="365760" y="5349240"/>
              <a:ext cx="2194560" cy="402336"/>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Histamina H1</a:t>
              </a:r>
              <a:endParaRPr lang="es-AR" sz="1200" dirty="0">
                <a:latin typeface="Fira Sans Condensed"/>
              </a:endParaRPr>
            </a:p>
          </p:txBody>
        </p:sp>
        <p:sp>
          <p:nvSpPr>
            <p:cNvPr id="31" name="Forma 30"/>
            <p:cNvSpPr txBox="1"/>
            <p:nvPr/>
          </p:nvSpPr>
          <p:spPr>
            <a:xfrm>
              <a:off x="2697480" y="5349240"/>
              <a:ext cx="9144000" cy="402336"/>
            </a:xfrm>
            <a:prstGeom prst="rect">
              <a:avLst/>
            </a:prstGeom>
            <a:noFill/>
            <a:ln>
              <a:noFill/>
            </a:ln>
          </p:spPr>
          <p:txBody>
            <a:bodyPr wrap="square" lIns="0" tIns="0" rIns="0" bIns="0" anchor="ctr" rtlCol="0">
              <a:noAutofit/>
            </a:bodyPr>
            <a:lstStyle/>
            <a:p>
              <a:pPr algn="l">
                <a:spcAft>
                  <a:spcPts val="300"/>
                </a:spcAft>
                <a:buNone/>
              </a:pPr>
              <a:r>
                <a:rPr lang="es-AR" sz="1250" dirty="0">
                  <a:solidFill>
                    <a:srgbClr val="1E1E1E"/>
                  </a:solidFill>
                  <a:latin typeface="Fira Sans Condensed"/>
                  <a:ea typeface="Fira Sans Condensed"/>
                  <a:cs typeface="Fira Sans Condensed"/>
                  <a:sym typeface="Fira Sans Condensed"/>
                </a:rPr>
                <a:t>Suprime apetito; el bloqueo H1 de fármacos puede aumentar peso</a:t>
              </a:r>
              <a:endParaRPr lang="es-AR" sz="1250" dirty="0">
                <a:latin typeface="Fira Sans Condensed"/>
              </a:endParaRPr>
            </a:p>
          </p:txBody>
        </p:sp>
      </p:grpSp>
      <p:grpSp>
        <p:nvGrpSpPr>
          <p:cNvPr id="32" name="Otra Opioides endógenos"/>
          <p:cNvGrpSpPr/>
          <p:nvPr/>
        </p:nvGrpSpPr>
        <p:grpSpPr>
          <a:xfrm>
            <a:off x="365760" y="5806440"/>
            <a:ext cx="11475720" cy="402336"/>
            <a:chOff x="365760" y="5806440"/>
            <a:chExt cx="11475720" cy="402336"/>
          </a:xfrm>
        </p:grpSpPr>
        <p:sp>
          <p:nvSpPr>
            <p:cNvPr id="33" name="Recuadro Opioides endógenos"/>
            <p:cNvSpPr/>
            <p:nvPr/>
          </p:nvSpPr>
          <p:spPr>
            <a:xfrm>
              <a:off x="365760" y="5806440"/>
              <a:ext cx="2194560" cy="402336"/>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Opioides endógenos</a:t>
              </a:r>
              <a:endParaRPr lang="es-AR" sz="1200" dirty="0">
                <a:latin typeface="Fira Sans Condensed"/>
              </a:endParaRPr>
            </a:p>
          </p:txBody>
        </p:sp>
        <p:sp>
          <p:nvSpPr>
            <p:cNvPr id="34" name="Forma 33"/>
            <p:cNvSpPr txBox="1"/>
            <p:nvPr/>
          </p:nvSpPr>
          <p:spPr>
            <a:xfrm>
              <a:off x="2697480" y="5806440"/>
              <a:ext cx="9144000" cy="402336"/>
            </a:xfrm>
            <a:prstGeom prst="rect">
              <a:avLst/>
            </a:prstGeom>
            <a:noFill/>
            <a:ln>
              <a:noFill/>
            </a:ln>
          </p:spPr>
          <p:txBody>
            <a:bodyPr wrap="square" lIns="0" tIns="0" rIns="0" bIns="0" anchor="ctr" rtlCol="0">
              <a:noAutofit/>
            </a:bodyPr>
            <a:lstStyle/>
            <a:p>
              <a:pPr algn="l">
                <a:spcAft>
                  <a:spcPts val="300"/>
                </a:spcAft>
                <a:buNone/>
              </a:pPr>
              <a:r>
                <a:rPr lang="es-AR" sz="1250" dirty="0">
                  <a:solidFill>
                    <a:srgbClr val="1E1E1E"/>
                  </a:solidFill>
                  <a:latin typeface="Fira Sans Condensed"/>
                  <a:ea typeface="Fira Sans Condensed"/>
                  <a:cs typeface="Fira Sans Condensed"/>
                  <a:sym typeface="Fira Sans Condensed"/>
                </a:rPr>
                <a:t>Aspectos hedónicos y palatabilidad</a:t>
              </a:r>
              <a:endParaRPr lang="es-AR" sz="125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ESTRÉS, CORTISOL Y OTRAS SEÑALES CENTRALES</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500"/>
                                        <p:tgtEl>
                                          <p:spTgt spid="6"/>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par>
                          <p:cTn id="26"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30" fill="hold">
                            <p:stCondLst>
                              <p:cond delay="27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par>
                          <p:cTn id="34" fill="hold">
                            <p:stCondLst>
                              <p:cond delay="3100"/>
                            </p:stCondLst>
                            <p:childTnLst>
                              <p:par>
                                <p:cTn id="31" presetID="22" presetClass="entr" presetSubtype="8"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par>
                          <p:cTn id="38" fill="hold">
                            <p:stCondLst>
                              <p:cond delay="360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childTnLst>
                          </p:cTn>
                        </p:par>
                      </p:childTnLst>
                    </p:cTn>
                  </p:par>
                  <p:par>
                    <p:cTn id="48" fill="hold">
                      <p:stCondLst>
                        <p:cond delay="indefinite"/>
                      </p:stCondLst>
                      <p:childTnLst>
                        <p:par>
                          <p:cTn id="43"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up)">
                                      <p:cBhvr>
                                        <p:cTn id="42" dur="500"/>
                                        <p:tgtEl>
                                          <p:spTgt spid="10"/>
                                        </p:tgtEl>
                                      </p:cBhvr>
                                    </p:animEffect>
                                  </p:childTnLst>
                                </p:cTn>
                              </p:par>
                            </p:childTnLst>
                          </p:cTn>
                        </p:par>
                        <p:par>
                          <p:cTn id="47"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00"/>
                                        <p:tgtEl>
                                          <p:spTgt spid="16"/>
                                        </p:tgtEl>
                                      </p:cBhvr>
                                    </p:animEffect>
                                  </p:childTnLst>
                                </p:cTn>
                              </p:par>
                            </p:childTnLst>
                          </p:cTn>
                        </p:par>
                      </p:childTnLst>
                    </p:cTn>
                  </p:par>
                  <p:par>
                    <p:cTn id="53" fill="hold">
                      <p:stCondLst>
                        <p:cond delay="indefinite"/>
                      </p:stCondLst>
                      <p:childTnLst>
                        <p:par>
                          <p:cTn id="52"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par>
                    <p:cTn id="74" fill="hold">
                      <p:stCondLst>
                        <p:cond delay="indefinite"/>
                      </p:stCondLst>
                      <p:childTnLst>
                        <p:par>
                          <p:cTn id="57"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200"/>
                                        <p:tgtEl>
                                          <p:spTgt spid="20"/>
                                        </p:tgtEl>
                                      </p:cBhvr>
                                    </p:animEffect>
                                  </p:childTnLst>
                                </p:cTn>
                              </p:par>
                            </p:childTnLst>
                          </p:cTn>
                        </p:par>
                        <p:par>
                          <p:cTn id="61" fill="hold">
                            <p:stCondLst>
                              <p:cond delay="200"/>
                            </p:stCondLst>
                            <p:childTnLst>
                              <p:par>
                                <p:cTn id="58" presetID="10" presetClass="entr" presetSubtype="0"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200"/>
                                        <p:tgtEl>
                                          <p:spTgt spid="23"/>
                                        </p:tgtEl>
                                      </p:cBhvr>
                                    </p:animEffect>
                                  </p:childTnLst>
                                </p:cTn>
                              </p:par>
                            </p:childTnLst>
                          </p:cTn>
                        </p:par>
                        <p:par>
                          <p:cTn id="65" fill="hold">
                            <p:stCondLst>
                              <p:cond delay="40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200"/>
                                        <p:tgtEl>
                                          <p:spTgt spid="26"/>
                                        </p:tgtEl>
                                      </p:cBhvr>
                                    </p:animEffect>
                                  </p:childTnLst>
                                </p:cTn>
                              </p:par>
                            </p:childTnLst>
                          </p:cTn>
                        </p:par>
                        <p:par>
                          <p:cTn id="69" fill="hold">
                            <p:stCondLst>
                              <p:cond delay="600"/>
                            </p:stCondLst>
                            <p:childTnLst>
                              <p:par>
                                <p:cTn id="66" presetID="10" presetClass="entr" presetSubtype="0" fill="hold" grpId="0" nodeType="after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200"/>
                                        <p:tgtEl>
                                          <p:spTgt spid="29"/>
                                        </p:tgtEl>
                                      </p:cBhvr>
                                    </p:animEffect>
                                  </p:childTnLst>
                                </p:cTn>
                              </p:par>
                            </p:childTnLst>
                          </p:cTn>
                        </p:par>
                        <p:par>
                          <p:cTn id="73" fill="hold">
                            <p:stCondLst>
                              <p:cond delay="800"/>
                            </p:stCondLst>
                            <p:childTnLst>
                              <p:par>
                                <p:cTn id="70" presetID="10" presetClass="entr" presetSubtype="0"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2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12" grpId="0" animBg="1"/>
      <p:bldP spid="7" grpId="0" animBg="1"/>
      <p:bldP spid="13" grpId="0" animBg="1"/>
      <p:bldP spid="8" grpId="0" animBg="1"/>
      <p:bldP spid="14" grpId="0" animBg="1"/>
      <p:bldP spid="9" grpId="0" animBg="1"/>
      <p:bldP spid="15" grpId="0" animBg="1"/>
      <p:bldP spid="10" grpId="0" animBg="1"/>
      <p:bldP spid="16" grpId="0" animBg="1"/>
    </p:bld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AMPK mTOR"/>
          <p:cNvGrpSpPr/>
          <p:nvPr/>
        </p:nvGrpSpPr>
        <p:grpSpPr>
          <a:xfrm>
            <a:off x="365760" y="1097280"/>
            <a:ext cx="5486400" cy="3977640"/>
            <a:chOff x="365760" y="1097280"/>
            <a:chExt cx="5486400" cy="3977640"/>
          </a:xfrm>
        </p:grpSpPr>
        <p:sp>
          <p:nvSpPr>
            <p:cNvPr id="7" name="Recuadro AMPK"/>
            <p:cNvSpPr/>
            <p:nvPr/>
          </p:nvSpPr>
          <p:spPr>
            <a:xfrm>
              <a:off x="365760" y="1097280"/>
              <a:ext cx="26517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AMPK</a:t>
              </a:r>
              <a:endParaRPr lang="es-AR" sz="1700" dirty="0">
                <a:latin typeface="Fira Sans Condensed"/>
              </a:endParaRPr>
            </a:p>
          </p:txBody>
        </p:sp>
        <p:sp>
          <p:nvSpPr>
            <p:cNvPr id="8" name="Forma 7"/>
            <p:cNvSpPr/>
            <p:nvPr/>
          </p:nvSpPr>
          <p:spPr>
            <a:xfrm>
              <a:off x="365760" y="1737360"/>
              <a:ext cx="2651760" cy="2011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AMP/ADP ↑ (déficit). En ciertos circuitos </a:t>
              </a:r>
              <a:r>
                <a:rPr lang="es-AR" sz="1300" b="1" dirty="0">
                  <a:solidFill>
                    <a:srgbClr val="1E1E1E"/>
                  </a:solidFill>
                  <a:latin typeface="Fira Sans Condensed"/>
                  <a:ea typeface="Fira Sans Condensed"/>
                  <a:cs typeface="Fira Sans Condensed"/>
                  <a:sym typeface="Fira Sans Condensed"/>
                </a:rPr>
                <a:t>hipotalámicos</a:t>
              </a:r>
              <a:r>
                <a:rPr lang="es-AR" sz="1300" dirty="0">
                  <a:solidFill>
                    <a:srgbClr val="1E1E1E"/>
                  </a:solidFill>
                  <a:latin typeface="Fira Sans Condensed"/>
                  <a:ea typeface="Fira Sans Condensed"/>
                  <a:cs typeface="Fira Sans Condensed"/>
                  <a:sym typeface="Fira Sans Condensed"/>
                </a:rPr>
                <a:t> favorece el </a:t>
              </a:r>
              <a:r>
                <a:rPr lang="es-AR" sz="1300" b="1" dirty="0">
                  <a:solidFill>
                    <a:srgbClr val="1E1E1E"/>
                  </a:solidFill>
                  <a:latin typeface="Fira Sans Condensed"/>
                  <a:ea typeface="Fira Sans Condensed"/>
                  <a:cs typeface="Fira Sans Condensed"/>
                  <a:sym typeface="Fira Sans Condensed"/>
                </a:rPr>
                <a:t>apetito</a:t>
              </a:r>
              <a:r>
                <a:rPr lang="es-AR" sz="1300" dirty="0">
                  <a:solidFill>
                    <a:srgbClr val="1E1E1E"/>
                  </a:solidFill>
                  <a:latin typeface="Fira Sans Condensed"/>
                  <a:ea typeface="Fira Sans Condensed"/>
                  <a:cs typeface="Fira Sans Condensed"/>
                  <a:sym typeface="Fira Sans Condensed"/>
                </a:rPr>
                <a:t>; en </a:t>
              </a:r>
              <a:r>
                <a:rPr lang="es-AR" sz="1300" b="1" dirty="0">
                  <a:solidFill>
                    <a:srgbClr val="1E1E1E"/>
                  </a:solidFill>
                  <a:latin typeface="Fira Sans Condensed"/>
                  <a:ea typeface="Fira Sans Condensed"/>
                  <a:cs typeface="Fira Sans Condensed"/>
                  <a:sym typeface="Fira Sans Condensed"/>
                </a:rPr>
                <a:t>músculo</a:t>
              </a:r>
              <a:r>
                <a:rPr lang="es-AR" sz="1300" dirty="0">
                  <a:solidFill>
                    <a:srgbClr val="1E1E1E"/>
                  </a:solidFill>
                  <a:latin typeface="Fira Sans Condensed"/>
                  <a:ea typeface="Fira Sans Condensed"/>
                  <a:cs typeface="Fira Sans Condensed"/>
                  <a:sym typeface="Fira Sans Condensed"/>
                </a:rPr>
                <a:t>, oxidación y captación de glucosa.</a:t>
              </a:r>
              <a:endParaRPr lang="es-AR" sz="1300" dirty="0">
                <a:latin typeface="Fira Sans Condensed"/>
              </a:endParaRPr>
            </a:p>
          </p:txBody>
        </p:sp>
        <p:sp>
          <p:nvSpPr>
            <p:cNvPr id="9" name="Recuadro mTORC1"/>
            <p:cNvSpPr/>
            <p:nvPr/>
          </p:nvSpPr>
          <p:spPr>
            <a:xfrm>
              <a:off x="3200400" y="1097280"/>
              <a:ext cx="265176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mTORC1</a:t>
              </a:r>
              <a:endParaRPr lang="es-AR" sz="1700" dirty="0">
                <a:latin typeface="Fira Sans Condensed"/>
              </a:endParaRPr>
            </a:p>
          </p:txBody>
        </p:sp>
        <p:sp>
          <p:nvSpPr>
            <p:cNvPr id="10" name="Forma 9"/>
            <p:cNvSpPr/>
            <p:nvPr/>
          </p:nvSpPr>
          <p:spPr>
            <a:xfrm>
              <a:off x="3200400" y="1737360"/>
              <a:ext cx="2651760" cy="2011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Responde a aminoácidos, energía e insulina; anabólico; en redes hipotalámicas puede relacionarse con </a:t>
              </a:r>
              <a:r>
                <a:rPr lang="es-AR" sz="1300" b="1" dirty="0">
                  <a:solidFill>
                    <a:srgbClr val="1E1E1E"/>
                  </a:solidFill>
                  <a:latin typeface="Fira Sans Condensed"/>
                  <a:ea typeface="Fira Sans Condensed"/>
                  <a:cs typeface="Fira Sans Condensed"/>
                  <a:sym typeface="Fira Sans Condensed"/>
                </a:rPr>
                <a:t>saciedad</a:t>
              </a: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p:txBody>
        </p:sp>
        <p:sp>
          <p:nvSpPr>
            <p:cNvPr id="11" name="Perla clínica"/>
            <p:cNvSpPr/>
            <p:nvPr/>
          </p:nvSpPr>
          <p:spPr>
            <a:xfrm>
              <a:off x="365760" y="3931920"/>
              <a:ext cx="5486400" cy="11430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350" dirty="0">
                  <a:solidFill>
                    <a:srgbClr val="FFFFFF"/>
                  </a:solidFill>
                  <a:latin typeface="Fira Sans Condensed"/>
                  <a:ea typeface="Fira Sans Condensed"/>
                  <a:cs typeface="Fira Sans Condensed"/>
                  <a:sym typeface="Fira Sans Condensed"/>
                </a:rPr>
                <a:t>No trasladar sin matices los efectos de AMPK del </a:t>
              </a:r>
              <a:r>
                <a:rPr lang="es-AR" sz="1350" b="1" dirty="0">
                  <a:solidFill>
                    <a:srgbClr val="FFFFFF"/>
                  </a:solidFill>
                  <a:latin typeface="Fira Sans Condensed"/>
                  <a:ea typeface="Fira Sans Condensed"/>
                  <a:cs typeface="Fira Sans Condensed"/>
                  <a:sym typeface="Fira Sans Condensed"/>
                </a:rPr>
                <a:t>músculo</a:t>
              </a:r>
              <a:r>
                <a:rPr lang="es-AR" sz="1350" dirty="0">
                  <a:solidFill>
                    <a:srgbClr val="FFFFFF"/>
                  </a:solidFill>
                  <a:latin typeface="Fira Sans Condensed"/>
                  <a:ea typeface="Fira Sans Condensed"/>
                  <a:cs typeface="Fira Sans Condensed"/>
                  <a:sym typeface="Fira Sans Condensed"/>
                </a:rPr>
                <a:t> al </a:t>
              </a:r>
              <a:r>
                <a:rPr lang="es-AR" sz="1350" b="1" dirty="0">
                  <a:solidFill>
                    <a:srgbClr val="FFFFFF"/>
                  </a:solidFill>
                  <a:latin typeface="Fira Sans Condensed"/>
                  <a:ea typeface="Fira Sans Condensed"/>
                  <a:cs typeface="Fira Sans Condensed"/>
                  <a:sym typeface="Fira Sans Condensed"/>
                </a:rPr>
                <a:t>hipotálamo</a:t>
              </a:r>
              <a:r>
                <a:rPr lang="es-AR" sz="1350" dirty="0">
                  <a:solidFill>
                    <a:srgbClr val="FFFFFF"/>
                  </a:solidFill>
                  <a:latin typeface="Fira Sans Condensed"/>
                  <a:ea typeface="Fira Sans Condensed"/>
                  <a:cs typeface="Fira Sans Condensed"/>
                  <a:sym typeface="Fira Sans Condensed"/>
                </a:rPr>
                <a:t>: depende del tipo neuronal.</a:t>
              </a:r>
              <a:endParaRPr lang="es-AR" sz="1350" dirty="0">
                <a:latin typeface="Fira Sans Condensed"/>
              </a:endParaRPr>
            </a:p>
          </p:txBody>
        </p:sp>
      </p:grpSp>
      <p:grpSp>
        <p:nvGrpSpPr>
          <p:cNvPr id="12" name="Sueño"/>
          <p:cNvGrpSpPr/>
          <p:nvPr/>
        </p:nvGrpSpPr>
        <p:grpSpPr>
          <a:xfrm>
            <a:off x="6263640" y="1097280"/>
            <a:ext cx="5577840" cy="3977640"/>
            <a:chOff x="6263640" y="1097280"/>
            <a:chExt cx="5577840" cy="3977640"/>
          </a:xfrm>
        </p:grpSpPr>
        <p:sp>
          <p:nvSpPr>
            <p:cNvPr id="13" name="Recuadro SUEÑO, RITMO CIRCADIAN"/>
            <p:cNvSpPr/>
            <p:nvPr/>
          </p:nvSpPr>
          <p:spPr>
            <a:xfrm>
              <a:off x="6263640" y="1097280"/>
              <a:ext cx="55778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SUEÑO, RITMO CIRCADIANO Y APNEA</a:t>
              </a:r>
              <a:endParaRPr lang="es-AR" sz="1500" dirty="0">
                <a:latin typeface="Fira Sans Condensed"/>
              </a:endParaRPr>
            </a:p>
          </p:txBody>
        </p:sp>
        <p:sp>
          <p:nvSpPr>
            <p:cNvPr id="14" name="Forma 13"/>
            <p:cNvSpPr/>
            <p:nvPr/>
          </p:nvSpPr>
          <p:spPr>
            <a:xfrm>
              <a:off x="6263640" y="1737360"/>
              <a:ext cx="5577840" cy="2011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Deprivación de sueño</a:t>
              </a:r>
              <a:r>
                <a:rPr lang="es-AR" sz="1350" dirty="0">
                  <a:solidFill>
                    <a:srgbClr val="1E1E1E"/>
                  </a:solidFill>
                  <a:latin typeface="Fira Sans Condensed"/>
                  <a:ea typeface="Fira Sans Condensed"/>
                  <a:cs typeface="Fira Sans Condensed"/>
                  <a:sym typeface="Fira Sans Condensed"/>
                </a:rPr>
                <a:t>: apetito, control ejecutivo, sensibilidad insulínica, eje HPA y cronobiología alterados; los cambios de grelina/leptina </a:t>
              </a:r>
              <a:r>
                <a:rPr lang="es-AR" sz="1350" b="1" dirty="0">
                  <a:solidFill>
                    <a:srgbClr val="1E1E1E"/>
                  </a:solidFill>
                  <a:latin typeface="Fira Sans Condensed"/>
                  <a:ea typeface="Fira Sans Condensed"/>
                  <a:cs typeface="Fira Sans Condensed"/>
                  <a:sym typeface="Fira Sans Condensed"/>
                </a:rPr>
                <a:t>no son uniformes</a:t>
              </a:r>
              <a:r>
                <a:rPr lang="es-AR" sz="1350" dirty="0">
                  <a:solidFill>
                    <a:srgbClr val="1E1E1E"/>
                  </a:solidFill>
                  <a:latin typeface="Fira Sans Condensed"/>
                  <a:ea typeface="Fira Sans Condensed"/>
                  <a:cs typeface="Fira Sans Condensed"/>
                  <a:sym typeface="Fira Sans Condensed"/>
                </a:rPr>
                <a:t> entre estudios.</a:t>
              </a:r>
              <a:endParaRPr lang="es-AR" sz="1350" dirty="0">
                <a:latin typeface="Fira Sans Condensed"/>
              </a:endParaRPr>
            </a:p>
          </p:txBody>
        </p:sp>
        <p:sp>
          <p:nvSpPr>
            <p:cNvPr id="15" name="Forma 14"/>
            <p:cNvSpPr/>
            <p:nvPr/>
          </p:nvSpPr>
          <p:spPr>
            <a:xfrm>
              <a:off x="6263640" y="3931920"/>
              <a:ext cx="5577840" cy="11430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AOS</a:t>
              </a:r>
              <a:r>
                <a:rPr lang="es-AR" sz="1350" dirty="0">
                  <a:solidFill>
                    <a:srgbClr val="1E1E1E"/>
                  </a:solidFill>
                  <a:latin typeface="Fira Sans Condensed"/>
                  <a:ea typeface="Fira Sans Condensed"/>
                  <a:cs typeface="Fira Sans Condensed"/>
                  <a:sym typeface="Fira Sans Condensed"/>
                </a:rPr>
                <a:t>: despertares, hipoxemia intermitente y activación simpática → </a:t>
              </a:r>
              <a:r>
                <a:rPr lang="es-AR" sz="1350" b="1" dirty="0">
                  <a:solidFill>
                    <a:srgbClr val="1E1E1E"/>
                  </a:solidFill>
                  <a:latin typeface="Fira Sans Condensed"/>
                  <a:ea typeface="Fira Sans Condensed"/>
                  <a:cs typeface="Fira Sans Condensed"/>
                  <a:sym typeface="Fira Sans Condensed"/>
                </a:rPr>
                <a:t>HTA y resistencia insulínica</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grpSp>
      <p:sp>
        <p:nvSpPr>
          <p:cNvPr id="16" name="Forma 15"/>
          <p:cNvSpPr/>
          <p:nvPr/>
        </p:nvSpPr>
        <p:spPr>
          <a:xfrm>
            <a:off x="365760" y="5257800"/>
            <a:ext cx="11475720" cy="10058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Caso 20: ronquido intenso y </a:t>
            </a:r>
            <a:r>
              <a:rPr lang="es-AR" sz="1450" b="1" dirty="0">
                <a:solidFill>
                  <a:srgbClr val="1E1E1E"/>
                </a:solidFill>
                <a:latin typeface="Fira Sans Condensed"/>
                <a:ea typeface="Fira Sans Condensed"/>
                <a:cs typeface="Fira Sans Condensed"/>
                <a:sym typeface="Fira Sans Condensed"/>
              </a:rPr>
              <a:t>somnolencia diurna</a:t>
            </a:r>
            <a:r>
              <a:rPr lang="es-AR" sz="1450" dirty="0">
                <a:solidFill>
                  <a:srgbClr val="1E1E1E"/>
                </a:solidFill>
                <a:latin typeface="Fira Sans Condensed"/>
                <a:ea typeface="Fira Sans Condensed"/>
                <a:cs typeface="Fira Sans Condensed"/>
                <a:sym typeface="Fira Sans Condensed"/>
              </a:rPr>
              <a:t> con 170 kg exigen evaluación clínica y, típicamente, </a:t>
            </a:r>
            <a:r>
              <a:rPr lang="es-AR" sz="1450" b="1" dirty="0">
                <a:solidFill>
                  <a:srgbClr val="1E1E1E"/>
                </a:solidFill>
                <a:latin typeface="Fira Sans Condensed"/>
                <a:ea typeface="Fira Sans Condensed"/>
                <a:cs typeface="Fira Sans Condensed"/>
                <a:sym typeface="Fira Sans Condensed"/>
              </a:rPr>
              <a:t>estudio de sueño</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SENSORES DE NUTRIENTES Y SUEÑO</a:t>
            </a:r>
            <a:endParaRPr lang="es-AR" sz="34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pic>
        <p:nvPicPr>
          <p:cNvPr id="6" name="!!Órgano ESTÓMAGO" descr="Ilustración biomédica (Servier Medical Art, CC BY)"/>
          <p:cNvPicPr>
            <a:picLocks noChangeAspect="1"/>
          </p:cNvPicPr>
          <p:nvPr/>
        </p:nvPicPr>
        <p:blipFill>
          <a:blip r:embed="rId2"/>
          <a:stretch>
            <a:fillRect/>
          </a:stretch>
        </p:blipFill>
        <p:spPr>
          <a:xfrm>
            <a:off x="365760" y="1005840"/>
            <a:ext cx="1463040" cy="1521736"/>
          </a:xfrm>
          <a:prstGeom prst="rect">
            <a:avLst/>
          </a:prstGeom>
        </p:spPr>
      </p:pic>
      <p:sp>
        <p:nvSpPr>
          <p:cNvPr id="7" name="!!Rótulo órgano ESTÓMAGO"/>
          <p:cNvSpPr/>
          <p:nvPr/>
        </p:nvSpPr>
        <p:spPr>
          <a:xfrm>
            <a:off x="411480" y="2514600"/>
            <a:ext cx="1058858"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ESTÓMAGO</a:t>
            </a:r>
            <a:endParaRPr lang="es-AR" sz="1250" dirty="0">
              <a:latin typeface="Fira Sans Condensed"/>
            </a:endParaRPr>
          </a:p>
        </p:txBody>
      </p:sp>
      <p:pic>
        <p:nvPicPr>
          <p:cNvPr id="8" name="!!Órgano INTESTINO" descr="Ilustración biomédica (Servier Medical Art, CC BY)"/>
          <p:cNvPicPr>
            <a:picLocks noChangeAspect="1"/>
          </p:cNvPicPr>
          <p:nvPr/>
        </p:nvPicPr>
        <p:blipFill>
          <a:blip r:embed="rId3"/>
          <a:stretch>
            <a:fillRect/>
          </a:stretch>
        </p:blipFill>
        <p:spPr>
          <a:xfrm>
            <a:off x="411480" y="3108960"/>
            <a:ext cx="1463040" cy="1452590"/>
          </a:xfrm>
          <a:prstGeom prst="rect">
            <a:avLst/>
          </a:prstGeom>
        </p:spPr>
      </p:pic>
      <p:sp>
        <p:nvSpPr>
          <p:cNvPr id="9" name="!!Rótulo órgano INTESTINO"/>
          <p:cNvSpPr/>
          <p:nvPr/>
        </p:nvSpPr>
        <p:spPr>
          <a:xfrm>
            <a:off x="411480" y="461772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10" name="!!Órgano TEJIDO ADIPOSO" descr="Ilustración biomédica (Servier Medical Art, CC BY)"/>
          <p:cNvPicPr>
            <a:picLocks noChangeAspect="1"/>
          </p:cNvPicPr>
          <p:nvPr/>
        </p:nvPicPr>
        <p:blipFill>
          <a:blip r:embed="rId4"/>
          <a:stretch>
            <a:fillRect/>
          </a:stretch>
        </p:blipFill>
        <p:spPr>
          <a:xfrm>
            <a:off x="10058400" y="1005840"/>
            <a:ext cx="1645920" cy="1678287"/>
          </a:xfrm>
          <a:prstGeom prst="rect">
            <a:avLst/>
          </a:prstGeom>
        </p:spPr>
      </p:pic>
      <p:sp>
        <p:nvSpPr>
          <p:cNvPr id="11" name="!!Rótulo órgano TEJIDO ADIPOSO"/>
          <p:cNvSpPr/>
          <p:nvPr/>
        </p:nvSpPr>
        <p:spPr>
          <a:xfrm>
            <a:off x="9921240" y="26974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2" name="!!Órgano PÁNCREAS" descr="Ilustración biomédica (Servier Medical Art, CC BY)"/>
          <p:cNvPicPr>
            <a:picLocks noChangeAspect="1"/>
          </p:cNvPicPr>
          <p:nvPr/>
        </p:nvPicPr>
        <p:blipFill>
          <a:blip r:embed="rId5"/>
          <a:stretch>
            <a:fillRect/>
          </a:stretch>
        </p:blipFill>
        <p:spPr>
          <a:xfrm>
            <a:off x="9829800" y="3657600"/>
            <a:ext cx="2011680" cy="834847"/>
          </a:xfrm>
          <a:prstGeom prst="rect">
            <a:avLst/>
          </a:prstGeom>
        </p:spPr>
      </p:pic>
      <p:sp>
        <p:nvSpPr>
          <p:cNvPr id="13" name="!!Rótulo órgano PÁNCREAS"/>
          <p:cNvSpPr/>
          <p:nvPr/>
        </p:nvSpPr>
        <p:spPr>
          <a:xfrm>
            <a:off x="10149840" y="452628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4" name="!!Órgano CEREBRO" descr="Ilustración biomédica (Servier Medical Art, CC BY)"/>
          <p:cNvPicPr>
            <a:picLocks noChangeAspect="1"/>
          </p:cNvPicPr>
          <p:nvPr/>
        </p:nvPicPr>
        <p:blipFill>
          <a:blip r:embed="rId6"/>
          <a:stretch>
            <a:fillRect/>
          </a:stretch>
        </p:blipFill>
        <p:spPr>
          <a:xfrm>
            <a:off x="4937760" y="960120"/>
            <a:ext cx="2194560" cy="2240980"/>
          </a:xfrm>
          <a:prstGeom prst="rect">
            <a:avLst/>
          </a:prstGeom>
        </p:spPr>
      </p:pic>
      <p:sp>
        <p:nvSpPr>
          <p:cNvPr id="15" name="!!Rótulo órgano CEREBRO"/>
          <p:cNvSpPr/>
          <p:nvPr/>
        </p:nvSpPr>
        <p:spPr>
          <a:xfrm>
            <a:off x="5440680" y="320040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6" name="!!Mapa elemento 0"/>
          <p:cNvGrpSpPr/>
          <p:nvPr/>
        </p:nvGrpSpPr>
        <p:grpSpPr>
          <a:xfrm>
            <a:off x="1874520" y="1600200"/>
            <a:ext cx="3017520" cy="228600"/>
            <a:chOff x="1874520" y="1600200"/>
            <a:chExt cx="3017520" cy="228600"/>
          </a:xfrm>
        </p:grpSpPr>
        <p:sp>
          <p:nvSpPr>
            <p:cNvPr id="17" name="Flecha 16_2"/>
            <p:cNvSpPr/>
            <p:nvPr/>
          </p:nvSpPr>
          <p:spPr>
            <a:xfrm>
              <a:off x="1874520" y="1645920"/>
              <a:ext cx="3017520" cy="182880"/>
            </a:xfrm>
            <a:custGeom>
              <a:avLst/>
              <a:gdLst/>
              <a:ahLst/>
              <a:cxnLst/>
              <a:rect l="0" t="0" r="r" b="b"/>
              <a:pathLst>
                <a:path w="3300" h="199" fill="none">
                  <a:moveTo>
                    <a:pt x="0" y="0"/>
                  </a:moveTo>
                  <a:lnTo>
                    <a:pt x="3300" y="199"/>
                  </a:lnTo>
                </a:path>
              </a:pathLst>
            </a:custGeom>
            <a:noFill/>
            <a:ln w="38100" cap="rnd">
              <a:solidFill>
                <a:srgbClr val="7030A0"/>
              </a:solidFill>
              <a:round/>
              <a:tailEnd type="triangle" w="med" len="med"/>
            </a:ln>
          </p:spPr>
        </p:sp>
        <p:sp>
          <p:nvSpPr>
            <p:cNvPr id="18" name="Rótulo grelina ↑ (antes)"/>
            <p:cNvSpPr/>
            <p:nvPr/>
          </p:nvSpPr>
          <p:spPr>
            <a:xfrm>
              <a:off x="2717889" y="1600200"/>
              <a:ext cx="1330781"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grelina ↑ (antes)</a:t>
              </a:r>
              <a:endParaRPr lang="es-AR" sz="1150" dirty="0">
                <a:latin typeface="Fira Sans Condensed"/>
              </a:endParaRPr>
            </a:p>
          </p:txBody>
        </p:sp>
      </p:grpSp>
      <p:grpSp>
        <p:nvGrpSpPr>
          <p:cNvPr id="19" name="!!Mapa elemento 1"/>
          <p:cNvGrpSpPr/>
          <p:nvPr/>
        </p:nvGrpSpPr>
        <p:grpSpPr>
          <a:xfrm>
            <a:off x="1920240" y="2743200"/>
            <a:ext cx="3200400" cy="1095058"/>
            <a:chOff x="1920240" y="2743200"/>
            <a:chExt cx="3200400" cy="1095058"/>
          </a:xfrm>
        </p:grpSpPr>
        <p:sp>
          <p:nvSpPr>
            <p:cNvPr id="20" name="Flecha 20_2"/>
            <p:cNvSpPr/>
            <p:nvPr/>
          </p:nvSpPr>
          <p:spPr>
            <a:xfrm>
              <a:off x="1920240" y="2743200"/>
              <a:ext cx="3200400" cy="1005840"/>
            </a:xfrm>
            <a:custGeom>
              <a:avLst/>
              <a:gdLst/>
              <a:ahLst/>
              <a:cxnLst/>
              <a:rect l="0" t="0" r="r" b="b"/>
              <a:pathLst>
                <a:path w="3499" h="1099" fill="none">
                  <a:moveTo>
                    <a:pt x="0" y="1099"/>
                  </a:moveTo>
                  <a:lnTo>
                    <a:pt x="3499" y="0"/>
                  </a:lnTo>
                </a:path>
              </a:pathLst>
            </a:custGeom>
            <a:noFill/>
            <a:ln w="38100" cap="rnd">
              <a:solidFill>
                <a:srgbClr val="1E8C3A"/>
              </a:solidFill>
              <a:round/>
              <a:tailEnd type="triangle" w="med" len="med"/>
            </a:ln>
          </p:spPr>
        </p:sp>
        <p:sp>
          <p:nvSpPr>
            <p:cNvPr id="21" name="Rótulo CCK · GLP-1 · PYY "/>
            <p:cNvSpPr/>
            <p:nvPr/>
          </p:nvSpPr>
          <p:spPr>
            <a:xfrm>
              <a:off x="2377440" y="3611880"/>
              <a:ext cx="168762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CCK · GLP-1 · PYY · vago</a:t>
              </a:r>
              <a:endParaRPr lang="es-AR" sz="1150" dirty="0">
                <a:latin typeface="Fira Sans Condensed"/>
              </a:endParaRPr>
            </a:p>
          </p:txBody>
        </p:sp>
      </p:grpSp>
      <p:grpSp>
        <p:nvGrpSpPr>
          <p:cNvPr id="22" name="!!Mapa elemento 2"/>
          <p:cNvGrpSpPr/>
          <p:nvPr/>
        </p:nvGrpSpPr>
        <p:grpSpPr>
          <a:xfrm>
            <a:off x="7178040" y="1645920"/>
            <a:ext cx="2834640" cy="226378"/>
            <a:chOff x="7178040" y="1645920"/>
            <a:chExt cx="2834640" cy="226378"/>
          </a:xfrm>
        </p:grpSpPr>
        <p:sp>
          <p:nvSpPr>
            <p:cNvPr id="23" name="Flecha 24_2"/>
            <p:cNvSpPr/>
            <p:nvPr/>
          </p:nvSpPr>
          <p:spPr>
            <a:xfrm>
              <a:off x="7178040" y="1737360"/>
              <a:ext cx="2834640" cy="91440"/>
            </a:xfrm>
            <a:custGeom>
              <a:avLst/>
              <a:gdLst/>
              <a:ahLst/>
              <a:cxnLst/>
              <a:rect l="0" t="0" r="r" b="b"/>
              <a:pathLst>
                <a:path w="3099" h="100" fill="none">
                  <a:moveTo>
                    <a:pt x="3099" y="0"/>
                  </a:moveTo>
                  <a:lnTo>
                    <a:pt x="0" y="100"/>
                  </a:lnTo>
                </a:path>
              </a:pathLst>
            </a:custGeom>
            <a:noFill/>
            <a:ln w="38100" cap="rnd">
              <a:solidFill>
                <a:srgbClr val="1E8C3A"/>
              </a:solidFill>
              <a:round/>
              <a:tailEnd type="triangle" w="med" len="med"/>
            </a:ln>
          </p:spPr>
        </p:sp>
        <p:sp>
          <p:nvSpPr>
            <p:cNvPr id="24" name="Rótulo leptina"/>
            <p:cNvSpPr/>
            <p:nvPr/>
          </p:nvSpPr>
          <p:spPr>
            <a:xfrm>
              <a:off x="8255129" y="1645920"/>
              <a:ext cx="68046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leptina</a:t>
              </a:r>
              <a:endParaRPr lang="es-AR" sz="1150" dirty="0">
                <a:latin typeface="Fira Sans Condensed"/>
              </a:endParaRPr>
            </a:p>
          </p:txBody>
        </p:sp>
      </p:grpSp>
      <p:grpSp>
        <p:nvGrpSpPr>
          <p:cNvPr id="25" name="!!Mapa elemento 3"/>
          <p:cNvGrpSpPr/>
          <p:nvPr/>
        </p:nvGrpSpPr>
        <p:grpSpPr>
          <a:xfrm>
            <a:off x="7040880" y="2651760"/>
            <a:ext cx="2743200" cy="1371600"/>
            <a:chOff x="7040880" y="2651760"/>
            <a:chExt cx="2743200" cy="1371600"/>
          </a:xfrm>
        </p:grpSpPr>
        <p:sp>
          <p:nvSpPr>
            <p:cNvPr id="26" name="Flecha 28_2"/>
            <p:cNvSpPr/>
            <p:nvPr/>
          </p:nvSpPr>
          <p:spPr>
            <a:xfrm>
              <a:off x="7040880" y="2651760"/>
              <a:ext cx="2743200" cy="1371600"/>
            </a:xfrm>
            <a:custGeom>
              <a:avLst/>
              <a:gdLst/>
              <a:ahLst/>
              <a:cxnLst/>
              <a:rect l="0" t="0" r="r" b="b"/>
              <a:pathLst>
                <a:path w="2999" h="1500" fill="none">
                  <a:moveTo>
                    <a:pt x="2999" y="1500"/>
                  </a:moveTo>
                  <a:lnTo>
                    <a:pt x="0" y="0"/>
                  </a:lnTo>
                </a:path>
              </a:pathLst>
            </a:custGeom>
            <a:noFill/>
            <a:ln w="38100" cap="rnd">
              <a:solidFill>
                <a:srgbClr val="1E8C3A"/>
              </a:solidFill>
              <a:round/>
              <a:tailEnd type="triangle" w="med" len="med"/>
            </a:ln>
          </p:spPr>
        </p:sp>
        <p:sp>
          <p:nvSpPr>
            <p:cNvPr id="27" name="Rótulo insulina · amilina"/>
            <p:cNvSpPr/>
            <p:nvPr/>
          </p:nvSpPr>
          <p:spPr>
            <a:xfrm>
              <a:off x="7406640" y="3520440"/>
              <a:ext cx="1314942"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insulina · amilina</a:t>
              </a:r>
              <a:endParaRPr lang="es-AR" sz="1150" dirty="0">
                <a:latin typeface="Fira Sans Condensed"/>
              </a:endParaRPr>
            </a:p>
          </p:txBody>
        </p:sp>
      </p:grpSp>
      <p:sp>
        <p:nvSpPr>
          <p:cNvPr id="4"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MAPA 6 · CONTROL DEL PESO · SEÑALES DE ENTRADA</a:t>
            </a:r>
            <a:endParaRPr lang="es-AR" sz="31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pic>
        <p:nvPicPr>
          <p:cNvPr id="6" name="!!Órgano ESTÓMAGO" descr="Ilustración biomédica (Servier Medical Art, CC BY)"/>
          <p:cNvPicPr>
            <a:picLocks noChangeAspect="1"/>
          </p:cNvPicPr>
          <p:nvPr/>
        </p:nvPicPr>
        <p:blipFill>
          <a:blip r:embed="rId2"/>
          <a:stretch>
            <a:fillRect/>
          </a:stretch>
        </p:blipFill>
        <p:spPr>
          <a:xfrm>
            <a:off x="365760" y="1005840"/>
            <a:ext cx="1463040" cy="1521736"/>
          </a:xfrm>
          <a:prstGeom prst="rect">
            <a:avLst/>
          </a:prstGeom>
        </p:spPr>
      </p:pic>
      <p:sp>
        <p:nvSpPr>
          <p:cNvPr id="7" name="!!Rótulo órgano ESTÓMAGO"/>
          <p:cNvSpPr/>
          <p:nvPr/>
        </p:nvSpPr>
        <p:spPr>
          <a:xfrm>
            <a:off x="411480" y="2514600"/>
            <a:ext cx="1058858"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ESTÓMAGO</a:t>
            </a:r>
            <a:endParaRPr lang="es-AR" sz="1250" dirty="0">
              <a:latin typeface="Fira Sans Condensed"/>
            </a:endParaRPr>
          </a:p>
        </p:txBody>
      </p:sp>
      <p:pic>
        <p:nvPicPr>
          <p:cNvPr id="8" name="!!Órgano INTESTINO" descr="Ilustración biomédica (Servier Medical Art, CC BY)"/>
          <p:cNvPicPr>
            <a:picLocks noChangeAspect="1"/>
          </p:cNvPicPr>
          <p:nvPr/>
        </p:nvPicPr>
        <p:blipFill>
          <a:blip r:embed="rId3"/>
          <a:stretch>
            <a:fillRect/>
          </a:stretch>
        </p:blipFill>
        <p:spPr>
          <a:xfrm>
            <a:off x="411480" y="3108960"/>
            <a:ext cx="1463040" cy="1452590"/>
          </a:xfrm>
          <a:prstGeom prst="rect">
            <a:avLst/>
          </a:prstGeom>
        </p:spPr>
      </p:pic>
      <p:sp>
        <p:nvSpPr>
          <p:cNvPr id="9" name="!!Rótulo órgano INTESTINO"/>
          <p:cNvSpPr/>
          <p:nvPr/>
        </p:nvSpPr>
        <p:spPr>
          <a:xfrm>
            <a:off x="411480" y="461772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10" name="!!Órgano TEJIDO ADIPOSO" descr="Ilustración biomédica (Servier Medical Art, CC BY)"/>
          <p:cNvPicPr>
            <a:picLocks noChangeAspect="1"/>
          </p:cNvPicPr>
          <p:nvPr/>
        </p:nvPicPr>
        <p:blipFill>
          <a:blip r:embed="rId4"/>
          <a:stretch>
            <a:fillRect/>
          </a:stretch>
        </p:blipFill>
        <p:spPr>
          <a:xfrm>
            <a:off x="10058400" y="1005840"/>
            <a:ext cx="1645920" cy="1678287"/>
          </a:xfrm>
          <a:prstGeom prst="rect">
            <a:avLst/>
          </a:prstGeom>
        </p:spPr>
      </p:pic>
      <p:sp>
        <p:nvSpPr>
          <p:cNvPr id="11" name="!!Rótulo órgano TEJIDO ADIPOSO"/>
          <p:cNvSpPr/>
          <p:nvPr/>
        </p:nvSpPr>
        <p:spPr>
          <a:xfrm>
            <a:off x="9921240" y="26974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2" name="!!Órgano PÁNCREAS" descr="Ilustración biomédica (Servier Medical Art, CC BY)"/>
          <p:cNvPicPr>
            <a:picLocks noChangeAspect="1"/>
          </p:cNvPicPr>
          <p:nvPr/>
        </p:nvPicPr>
        <p:blipFill>
          <a:blip r:embed="rId5"/>
          <a:stretch>
            <a:fillRect/>
          </a:stretch>
        </p:blipFill>
        <p:spPr>
          <a:xfrm>
            <a:off x="9829800" y="3657600"/>
            <a:ext cx="2011680" cy="834847"/>
          </a:xfrm>
          <a:prstGeom prst="rect">
            <a:avLst/>
          </a:prstGeom>
        </p:spPr>
      </p:pic>
      <p:sp>
        <p:nvSpPr>
          <p:cNvPr id="13" name="!!Rótulo órgano PÁNCREAS"/>
          <p:cNvSpPr/>
          <p:nvPr/>
        </p:nvSpPr>
        <p:spPr>
          <a:xfrm>
            <a:off x="10149840" y="452628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4" name="!!Órgano CEREBRO" descr="Ilustración biomédica (Servier Medical Art, CC BY)"/>
          <p:cNvPicPr>
            <a:picLocks noChangeAspect="1"/>
          </p:cNvPicPr>
          <p:nvPr/>
        </p:nvPicPr>
        <p:blipFill>
          <a:blip r:embed="rId6"/>
          <a:stretch>
            <a:fillRect/>
          </a:stretch>
        </p:blipFill>
        <p:spPr>
          <a:xfrm>
            <a:off x="4937760" y="960120"/>
            <a:ext cx="2194560" cy="2240980"/>
          </a:xfrm>
          <a:prstGeom prst="rect">
            <a:avLst/>
          </a:prstGeom>
        </p:spPr>
      </p:pic>
      <p:sp>
        <p:nvSpPr>
          <p:cNvPr id="15" name="!!Rótulo órgano CEREBRO"/>
          <p:cNvSpPr/>
          <p:nvPr/>
        </p:nvSpPr>
        <p:spPr>
          <a:xfrm>
            <a:off x="5440680" y="320040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6" name="!!Mapa elemento 0"/>
          <p:cNvGrpSpPr/>
          <p:nvPr/>
        </p:nvGrpSpPr>
        <p:grpSpPr>
          <a:xfrm>
            <a:off x="1874520" y="1600200"/>
            <a:ext cx="3017520" cy="228600"/>
            <a:chOff x="1874520" y="1600200"/>
            <a:chExt cx="3017520" cy="228600"/>
          </a:xfrm>
        </p:grpSpPr>
        <p:sp>
          <p:nvSpPr>
            <p:cNvPr id="17" name="Flecha 16_2"/>
            <p:cNvSpPr/>
            <p:nvPr/>
          </p:nvSpPr>
          <p:spPr>
            <a:xfrm>
              <a:off x="1874520" y="1645920"/>
              <a:ext cx="3017520" cy="182880"/>
            </a:xfrm>
            <a:custGeom>
              <a:avLst/>
              <a:gdLst/>
              <a:ahLst/>
              <a:cxnLst/>
              <a:rect l="0" t="0" r="r" b="b"/>
              <a:pathLst>
                <a:path w="3300" h="199" fill="none">
                  <a:moveTo>
                    <a:pt x="0" y="0"/>
                  </a:moveTo>
                  <a:lnTo>
                    <a:pt x="3300" y="199"/>
                  </a:lnTo>
                </a:path>
              </a:pathLst>
            </a:custGeom>
            <a:noFill/>
            <a:ln w="38100" cap="rnd">
              <a:solidFill>
                <a:srgbClr val="7030A0"/>
              </a:solidFill>
              <a:round/>
              <a:tailEnd type="triangle" w="med" len="med"/>
            </a:ln>
          </p:spPr>
        </p:sp>
        <p:sp>
          <p:nvSpPr>
            <p:cNvPr id="18" name="Rótulo grelina ↑ (antes)"/>
            <p:cNvSpPr/>
            <p:nvPr/>
          </p:nvSpPr>
          <p:spPr>
            <a:xfrm>
              <a:off x="2717889" y="1600200"/>
              <a:ext cx="1330781"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grelina ↑ (antes)</a:t>
              </a:r>
              <a:endParaRPr lang="es-AR" sz="1150" dirty="0">
                <a:latin typeface="Fira Sans Condensed"/>
              </a:endParaRPr>
            </a:p>
          </p:txBody>
        </p:sp>
      </p:grpSp>
      <p:grpSp>
        <p:nvGrpSpPr>
          <p:cNvPr id="19" name="!!Mapa elemento 1"/>
          <p:cNvGrpSpPr/>
          <p:nvPr/>
        </p:nvGrpSpPr>
        <p:grpSpPr>
          <a:xfrm>
            <a:off x="1920240" y="2743200"/>
            <a:ext cx="3200400" cy="1095058"/>
            <a:chOff x="1920240" y="2743200"/>
            <a:chExt cx="3200400" cy="1095058"/>
          </a:xfrm>
        </p:grpSpPr>
        <p:sp>
          <p:nvSpPr>
            <p:cNvPr id="20" name="Flecha 20_2"/>
            <p:cNvSpPr/>
            <p:nvPr/>
          </p:nvSpPr>
          <p:spPr>
            <a:xfrm>
              <a:off x="1920240" y="2743200"/>
              <a:ext cx="3200400" cy="1005840"/>
            </a:xfrm>
            <a:custGeom>
              <a:avLst/>
              <a:gdLst/>
              <a:ahLst/>
              <a:cxnLst/>
              <a:rect l="0" t="0" r="r" b="b"/>
              <a:pathLst>
                <a:path w="3499" h="1099" fill="none">
                  <a:moveTo>
                    <a:pt x="0" y="1099"/>
                  </a:moveTo>
                  <a:lnTo>
                    <a:pt x="3499" y="0"/>
                  </a:lnTo>
                </a:path>
              </a:pathLst>
            </a:custGeom>
            <a:noFill/>
            <a:ln w="38100" cap="rnd">
              <a:solidFill>
                <a:srgbClr val="1E8C3A"/>
              </a:solidFill>
              <a:round/>
              <a:tailEnd type="triangle" w="med" len="med"/>
            </a:ln>
          </p:spPr>
        </p:sp>
        <p:sp>
          <p:nvSpPr>
            <p:cNvPr id="21" name="Rótulo CCK · GLP-1 · PYY "/>
            <p:cNvSpPr/>
            <p:nvPr/>
          </p:nvSpPr>
          <p:spPr>
            <a:xfrm>
              <a:off x="2377440" y="3611880"/>
              <a:ext cx="168762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CCK · GLP-1 · PYY · vago</a:t>
              </a:r>
              <a:endParaRPr lang="es-AR" sz="1150" dirty="0">
                <a:latin typeface="Fira Sans Condensed"/>
              </a:endParaRPr>
            </a:p>
          </p:txBody>
        </p:sp>
      </p:grpSp>
      <p:grpSp>
        <p:nvGrpSpPr>
          <p:cNvPr id="22" name="!!Mapa elemento 2"/>
          <p:cNvGrpSpPr/>
          <p:nvPr/>
        </p:nvGrpSpPr>
        <p:grpSpPr>
          <a:xfrm>
            <a:off x="7178040" y="1645920"/>
            <a:ext cx="2834640" cy="226378"/>
            <a:chOff x="7178040" y="1645920"/>
            <a:chExt cx="2834640" cy="226378"/>
          </a:xfrm>
        </p:grpSpPr>
        <p:sp>
          <p:nvSpPr>
            <p:cNvPr id="23" name="Flecha 24_2"/>
            <p:cNvSpPr/>
            <p:nvPr/>
          </p:nvSpPr>
          <p:spPr>
            <a:xfrm>
              <a:off x="7178040" y="1737360"/>
              <a:ext cx="2834640" cy="91440"/>
            </a:xfrm>
            <a:custGeom>
              <a:avLst/>
              <a:gdLst/>
              <a:ahLst/>
              <a:cxnLst/>
              <a:rect l="0" t="0" r="r" b="b"/>
              <a:pathLst>
                <a:path w="3099" h="100" fill="none">
                  <a:moveTo>
                    <a:pt x="3099" y="0"/>
                  </a:moveTo>
                  <a:lnTo>
                    <a:pt x="0" y="100"/>
                  </a:lnTo>
                </a:path>
              </a:pathLst>
            </a:custGeom>
            <a:noFill/>
            <a:ln w="38100" cap="rnd">
              <a:solidFill>
                <a:srgbClr val="1E8C3A"/>
              </a:solidFill>
              <a:round/>
              <a:tailEnd type="triangle" w="med" len="med"/>
            </a:ln>
          </p:spPr>
        </p:sp>
        <p:sp>
          <p:nvSpPr>
            <p:cNvPr id="24" name="Rótulo leptina"/>
            <p:cNvSpPr/>
            <p:nvPr/>
          </p:nvSpPr>
          <p:spPr>
            <a:xfrm>
              <a:off x="8255129" y="1645920"/>
              <a:ext cx="68046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leptina</a:t>
              </a:r>
              <a:endParaRPr lang="es-AR" sz="1150" dirty="0">
                <a:latin typeface="Fira Sans Condensed"/>
              </a:endParaRPr>
            </a:p>
          </p:txBody>
        </p:sp>
      </p:grpSp>
      <p:grpSp>
        <p:nvGrpSpPr>
          <p:cNvPr id="25" name="!!Mapa elemento 3"/>
          <p:cNvGrpSpPr/>
          <p:nvPr/>
        </p:nvGrpSpPr>
        <p:grpSpPr>
          <a:xfrm>
            <a:off x="7040880" y="2651760"/>
            <a:ext cx="2743200" cy="1371600"/>
            <a:chOff x="7040880" y="2651760"/>
            <a:chExt cx="2743200" cy="1371600"/>
          </a:xfrm>
        </p:grpSpPr>
        <p:sp>
          <p:nvSpPr>
            <p:cNvPr id="26" name="Flecha 28_2"/>
            <p:cNvSpPr/>
            <p:nvPr/>
          </p:nvSpPr>
          <p:spPr>
            <a:xfrm>
              <a:off x="7040880" y="2651760"/>
              <a:ext cx="2743200" cy="1371600"/>
            </a:xfrm>
            <a:custGeom>
              <a:avLst/>
              <a:gdLst/>
              <a:ahLst/>
              <a:cxnLst/>
              <a:rect l="0" t="0" r="r" b="b"/>
              <a:pathLst>
                <a:path w="2999" h="1500" fill="none">
                  <a:moveTo>
                    <a:pt x="2999" y="1500"/>
                  </a:moveTo>
                  <a:lnTo>
                    <a:pt x="0" y="0"/>
                  </a:lnTo>
                </a:path>
              </a:pathLst>
            </a:custGeom>
            <a:noFill/>
            <a:ln w="38100" cap="rnd">
              <a:solidFill>
                <a:srgbClr val="1E8C3A"/>
              </a:solidFill>
              <a:round/>
              <a:tailEnd type="triangle" w="med" len="med"/>
            </a:ln>
          </p:spPr>
        </p:sp>
        <p:sp>
          <p:nvSpPr>
            <p:cNvPr id="27" name="Rótulo insulina · amilina"/>
            <p:cNvSpPr/>
            <p:nvPr/>
          </p:nvSpPr>
          <p:spPr>
            <a:xfrm>
              <a:off x="7406640" y="3520440"/>
              <a:ext cx="1314942"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insulina · amilina</a:t>
              </a:r>
              <a:endParaRPr lang="es-AR" sz="1150" dirty="0">
                <a:latin typeface="Fira Sans Condensed"/>
              </a:endParaRPr>
            </a:p>
          </p:txBody>
        </p:sp>
      </p:grpSp>
      <p:sp>
        <p:nvSpPr>
          <p:cNvPr id="28" name="!!Mapa elemento 4"/>
          <p:cNvSpPr/>
          <p:nvPr/>
        </p:nvSpPr>
        <p:spPr>
          <a:xfrm>
            <a:off x="2926080" y="425196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ARC: POMC </a:t>
            </a:r>
            <a:r>
              <a:rPr lang="es-AR" sz="1250" b="1" dirty="0">
                <a:solidFill>
                  <a:srgbClr val="C00000"/>
                </a:solidFill>
                <a:latin typeface="Cambria Math"/>
                <a:ea typeface="Cambria Math"/>
                <a:cs typeface="Cambria Math"/>
                <a:sym typeface="Cambria Math"/>
              </a:rPr>
              <a:t>⇄</a:t>
            </a:r>
            <a:r>
              <a:rPr lang="es-AR" sz="1250" b="1" dirty="0">
                <a:solidFill>
                  <a:srgbClr val="C00000"/>
                </a:solidFill>
                <a:latin typeface="Fira Sans Condensed"/>
                <a:ea typeface="Fira Sans Condensed"/>
                <a:cs typeface="Fira Sans Condensed"/>
                <a:sym typeface="Fira Sans Condensed"/>
              </a:rPr>
              <a:t> AgRP → PVN</a:t>
            </a:r>
            <a:endParaRPr lang="es-AR" sz="1250" dirty="0">
              <a:latin typeface="Fira Sans Condensed"/>
            </a:endParaRPr>
          </a:p>
        </p:txBody>
      </p:sp>
      <p:sp>
        <p:nvSpPr>
          <p:cNvPr id="29" name="!!Mapa elemento 5"/>
          <p:cNvSpPr/>
          <p:nvPr/>
        </p:nvSpPr>
        <p:spPr>
          <a:xfrm>
            <a:off x="5897880" y="4251960"/>
            <a:ext cx="283464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NTS · ATV → accumbens</a:t>
            </a:r>
            <a:endParaRPr lang="es-AR" sz="1250" dirty="0">
              <a:latin typeface="Fira Sans Condensed"/>
            </a:endParaRPr>
          </a:p>
        </p:txBody>
      </p:sp>
      <p:sp>
        <p:nvSpPr>
          <p:cNvPr id="30" name="!!Mapa elemento 6"/>
          <p:cNvSpPr/>
          <p:nvPr/>
        </p:nvSpPr>
        <p:spPr>
          <a:xfrm>
            <a:off x="2926080" y="4892040"/>
            <a:ext cx="58064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Salidas: </a:t>
            </a:r>
            <a:r>
              <a:rPr lang="es-AR" sz="1250" b="1" dirty="0">
                <a:solidFill>
                  <a:srgbClr val="1E1E1E"/>
                </a:solidFill>
                <a:latin typeface="Fira Sans Condensed"/>
                <a:ea typeface="Fira Sans Condensed"/>
                <a:cs typeface="Fira Sans Condensed"/>
                <a:sym typeface="Fira Sans Condensed"/>
              </a:rPr>
              <a:t>apetito/saciedad</a:t>
            </a:r>
            <a:r>
              <a:rPr lang="es-AR" sz="1250" dirty="0">
                <a:solidFill>
                  <a:srgbClr val="1E1E1E"/>
                </a:solidFill>
                <a:latin typeface="Fira Sans Condensed"/>
                <a:ea typeface="Fira Sans Condensed"/>
                <a:cs typeface="Fira Sans Condensed"/>
                <a:sym typeface="Fira Sans Condensed"/>
              </a:rPr>
              <a:t>, </a:t>
            </a:r>
            <a:r>
              <a:rPr lang="es-AR" sz="1250" b="1" dirty="0">
                <a:solidFill>
                  <a:srgbClr val="1E1E1E"/>
                </a:solidFill>
                <a:latin typeface="Fira Sans Condensed"/>
                <a:ea typeface="Fira Sans Condensed"/>
                <a:cs typeface="Fira Sans Condensed"/>
                <a:sym typeface="Fira Sans Condensed"/>
              </a:rPr>
              <a:t>gasto energético</a:t>
            </a:r>
            <a:r>
              <a:rPr lang="es-AR" sz="1250" dirty="0">
                <a:solidFill>
                  <a:srgbClr val="1E1E1E"/>
                </a:solidFill>
                <a:latin typeface="Fira Sans Condensed"/>
                <a:ea typeface="Fira Sans Condensed"/>
                <a:cs typeface="Fira Sans Condensed"/>
                <a:sym typeface="Fira Sans Condensed"/>
              </a:rPr>
              <a:t> (simpático, NEAT), </a:t>
            </a:r>
            <a:r>
              <a:rPr lang="es-AR" sz="1250" b="1" dirty="0">
                <a:solidFill>
                  <a:srgbClr val="1E1E1E"/>
                </a:solidFill>
                <a:latin typeface="Fira Sans Condensed"/>
                <a:ea typeface="Fira Sans Condensed"/>
                <a:cs typeface="Fira Sans Condensed"/>
                <a:sym typeface="Fira Sans Condensed"/>
              </a:rPr>
              <a:t>conducta alimentaria</a:t>
            </a:r>
            <a:endParaRPr lang="es-AR" sz="1250" dirty="0">
              <a:latin typeface="Fira Sans Condensed"/>
            </a:endParaRPr>
          </a:p>
        </p:txBody>
      </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MAPA 6 · CONTROL DEL PESO · INTEGRACIÓN Y SALIDA</a:t>
            </a:r>
            <a:endParaRPr lang="es-AR" sz="30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 calcmode="lin" valueType="num">
                                      <p:cBhvr>
                                        <p:cTn id="5" dur="500" fill="hold"/>
                                        <p:tgtEl>
                                          <p:spTgt spid="28"/>
                                        </p:tgtEl>
                                        <p:attrNameLst>
                                          <p:attrName>ppt_w</p:attrName>
                                        </p:attrNameLst>
                                      </p:cBhvr>
                                      <p:tavLst>
                                        <p:tav tm="0">
                                          <p:val>
                                            <p:fltVal val="0"/>
                                          </p:val>
                                        </p:tav>
                                        <p:tav tm="100000">
                                          <p:val>
                                            <p:strVal val="#ppt_w"/>
                                          </p:val>
                                        </p:tav>
                                      </p:tavLst>
                                    </p:anim>
                                    <p:anim calcmode="lin" valueType="num">
                                      <p:cBhvr>
                                        <p:cTn id="6" dur="500" fill="hold"/>
                                        <p:tgtEl>
                                          <p:spTgt spid="28"/>
                                        </p:tgtEl>
                                        <p:attrNameLst>
                                          <p:attrName>ppt_h</p:attrName>
                                        </p:attrNameLst>
                                      </p:cBhvr>
                                      <p:tavLst>
                                        <p:tav tm="0">
                                          <p:val>
                                            <p:fltVal val="0"/>
                                          </p:val>
                                        </p:tav>
                                        <p:tav tm="100000">
                                          <p:val>
                                            <p:strVal val="#ppt_h"/>
                                          </p:val>
                                        </p:tav>
                                      </p:tavLst>
                                    </p:anim>
                                    <p:animEffect transition="in" filter="fade">
                                      <p:cBhvr>
                                        <p:cTn id="7" dur="500"/>
                                        <p:tgtEl>
                                          <p:spTgt spid="28"/>
                                        </p:tgtEl>
                                      </p:cBhvr>
                                    </p:animEffect>
                                  </p:childTnLst>
                                </p:cTn>
                              </p:par>
                            </p:childTnLst>
                          </p:cTn>
                        </p:par>
                      </p:childTnLst>
                    </p:cTn>
                  </p:par>
                  <p:par>
                    <p:cTn id="16" fill="hold">
                      <p:stCondLst>
                        <p:cond delay="indefinite"/>
                      </p:stCondLst>
                      <p:childTnLst>
                        <p:par>
                          <p:cTn id="15"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childTnLst>
                    </p:cTn>
                  </p:par>
                  <p:par>
                    <p:cTn id="23" fill="hold">
                      <p:stCondLst>
                        <p:cond delay="indefinite"/>
                      </p:stCondLst>
                      <p:childTnLst>
                        <p:par>
                          <p:cTn id="22"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p:cTn id="19" dur="500" fill="hold"/>
                                        <p:tgtEl>
                                          <p:spTgt spid="30"/>
                                        </p:tgtEl>
                                        <p:attrNameLst>
                                          <p:attrName>ppt_w</p:attrName>
                                        </p:attrNameLst>
                                      </p:cBhvr>
                                      <p:tavLst>
                                        <p:tav tm="0">
                                          <p:val>
                                            <p:fltVal val="0"/>
                                          </p:val>
                                        </p:tav>
                                        <p:tav tm="100000">
                                          <p:val>
                                            <p:strVal val="#ppt_w"/>
                                          </p:val>
                                        </p:tav>
                                      </p:tavLst>
                                    </p:anim>
                                    <p:anim calcmode="lin" valueType="num">
                                      <p:cBhvr>
                                        <p:cTn id="20" dur="500" fill="hold"/>
                                        <p:tgtEl>
                                          <p:spTgt spid="30"/>
                                        </p:tgtEl>
                                        <p:attrNameLst>
                                          <p:attrName>ppt_h</p:attrName>
                                        </p:attrNameLst>
                                      </p:cBhvr>
                                      <p:tavLst>
                                        <p:tav tm="0">
                                          <p:val>
                                            <p:fltVal val="0"/>
                                          </p:val>
                                        </p:tav>
                                        <p:tav tm="100000">
                                          <p:val>
                                            <p:strVal val="#ppt_h"/>
                                          </p:val>
                                        </p:tav>
                                      </p:tavLst>
                                    </p:anim>
                                    <p:animEffect transition="in" filter="fade">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pic>
        <p:nvPicPr>
          <p:cNvPr id="6" name="!!Órgano ESTÓMAGO" descr="Ilustración biomédica (Servier Medical Art, CC BY)"/>
          <p:cNvPicPr>
            <a:picLocks noChangeAspect="1"/>
          </p:cNvPicPr>
          <p:nvPr/>
        </p:nvPicPr>
        <p:blipFill>
          <a:blip r:embed="rId2"/>
          <a:stretch>
            <a:fillRect/>
          </a:stretch>
        </p:blipFill>
        <p:spPr>
          <a:xfrm>
            <a:off x="365760" y="1005840"/>
            <a:ext cx="1463040" cy="1521736"/>
          </a:xfrm>
          <a:prstGeom prst="rect">
            <a:avLst/>
          </a:prstGeom>
        </p:spPr>
      </p:pic>
      <p:sp>
        <p:nvSpPr>
          <p:cNvPr id="7" name="!!Rótulo órgano ESTÓMAGO"/>
          <p:cNvSpPr/>
          <p:nvPr/>
        </p:nvSpPr>
        <p:spPr>
          <a:xfrm>
            <a:off x="411480" y="2514600"/>
            <a:ext cx="1058858"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ESTÓMAGO</a:t>
            </a:r>
            <a:endParaRPr lang="es-AR" sz="1250" dirty="0">
              <a:latin typeface="Fira Sans Condensed"/>
            </a:endParaRPr>
          </a:p>
        </p:txBody>
      </p:sp>
      <p:pic>
        <p:nvPicPr>
          <p:cNvPr id="8" name="!!Órgano INTESTINO" descr="Ilustración biomédica (Servier Medical Art, CC BY)"/>
          <p:cNvPicPr>
            <a:picLocks noChangeAspect="1"/>
          </p:cNvPicPr>
          <p:nvPr/>
        </p:nvPicPr>
        <p:blipFill>
          <a:blip r:embed="rId3"/>
          <a:stretch>
            <a:fillRect/>
          </a:stretch>
        </p:blipFill>
        <p:spPr>
          <a:xfrm>
            <a:off x="411480" y="3108960"/>
            <a:ext cx="1463040" cy="1452590"/>
          </a:xfrm>
          <a:prstGeom prst="rect">
            <a:avLst/>
          </a:prstGeom>
        </p:spPr>
      </p:pic>
      <p:sp>
        <p:nvSpPr>
          <p:cNvPr id="9" name="!!Rótulo órgano INTESTINO"/>
          <p:cNvSpPr/>
          <p:nvPr/>
        </p:nvSpPr>
        <p:spPr>
          <a:xfrm>
            <a:off x="411480" y="4617720"/>
            <a:ext cx="102437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INTESTINO</a:t>
            </a:r>
            <a:endParaRPr lang="es-AR" sz="1250" dirty="0">
              <a:latin typeface="Fira Sans Condensed"/>
            </a:endParaRPr>
          </a:p>
        </p:txBody>
      </p:sp>
      <p:pic>
        <p:nvPicPr>
          <p:cNvPr id="10" name="!!Órgano TEJIDO ADIPOSO" descr="Ilustración biomédica (Servier Medical Art, CC BY)"/>
          <p:cNvPicPr>
            <a:picLocks noChangeAspect="1"/>
          </p:cNvPicPr>
          <p:nvPr/>
        </p:nvPicPr>
        <p:blipFill>
          <a:blip r:embed="rId4"/>
          <a:stretch>
            <a:fillRect/>
          </a:stretch>
        </p:blipFill>
        <p:spPr>
          <a:xfrm>
            <a:off x="10058400" y="1005840"/>
            <a:ext cx="1645920" cy="1678287"/>
          </a:xfrm>
          <a:prstGeom prst="rect">
            <a:avLst/>
          </a:prstGeom>
        </p:spPr>
      </p:pic>
      <p:sp>
        <p:nvSpPr>
          <p:cNvPr id="11" name="!!Rótulo órgano TEJIDO ADIPOSO"/>
          <p:cNvSpPr/>
          <p:nvPr/>
        </p:nvSpPr>
        <p:spPr>
          <a:xfrm>
            <a:off x="9921240" y="2697480"/>
            <a:ext cx="1426270"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TEJIDO ADIPOSO</a:t>
            </a:r>
            <a:endParaRPr lang="es-AR" sz="1250" dirty="0">
              <a:latin typeface="Fira Sans Condensed"/>
            </a:endParaRPr>
          </a:p>
        </p:txBody>
      </p:sp>
      <p:pic>
        <p:nvPicPr>
          <p:cNvPr id="12" name="!!Órgano PÁNCREAS" descr="Ilustración biomédica (Servier Medical Art, CC BY)"/>
          <p:cNvPicPr>
            <a:picLocks noChangeAspect="1"/>
          </p:cNvPicPr>
          <p:nvPr/>
        </p:nvPicPr>
        <p:blipFill>
          <a:blip r:embed="rId5"/>
          <a:stretch>
            <a:fillRect/>
          </a:stretch>
        </p:blipFill>
        <p:spPr>
          <a:xfrm>
            <a:off x="9829800" y="3657600"/>
            <a:ext cx="2011680" cy="834847"/>
          </a:xfrm>
          <a:prstGeom prst="rect">
            <a:avLst/>
          </a:prstGeom>
        </p:spPr>
      </p:pic>
      <p:sp>
        <p:nvSpPr>
          <p:cNvPr id="13" name="!!Rótulo órgano PÁNCREAS"/>
          <p:cNvSpPr/>
          <p:nvPr/>
        </p:nvSpPr>
        <p:spPr>
          <a:xfrm>
            <a:off x="10149840" y="4526280"/>
            <a:ext cx="101418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PÁNCREAS</a:t>
            </a:r>
            <a:endParaRPr lang="es-AR" sz="1250" dirty="0">
              <a:latin typeface="Fira Sans Condensed"/>
            </a:endParaRPr>
          </a:p>
        </p:txBody>
      </p:sp>
      <p:pic>
        <p:nvPicPr>
          <p:cNvPr id="14" name="!!Órgano CEREBRO" descr="Ilustración biomédica (Servier Medical Art, CC BY)"/>
          <p:cNvPicPr>
            <a:picLocks noChangeAspect="1"/>
          </p:cNvPicPr>
          <p:nvPr/>
        </p:nvPicPr>
        <p:blipFill>
          <a:blip r:embed="rId6"/>
          <a:stretch>
            <a:fillRect/>
          </a:stretch>
        </p:blipFill>
        <p:spPr>
          <a:xfrm>
            <a:off x="4937760" y="960120"/>
            <a:ext cx="2194560" cy="2240980"/>
          </a:xfrm>
          <a:prstGeom prst="rect">
            <a:avLst/>
          </a:prstGeom>
        </p:spPr>
      </p:pic>
      <p:sp>
        <p:nvSpPr>
          <p:cNvPr id="15" name="!!Rótulo órgano CEREBRO"/>
          <p:cNvSpPr/>
          <p:nvPr/>
        </p:nvSpPr>
        <p:spPr>
          <a:xfrm>
            <a:off x="5440680" y="3200400"/>
            <a:ext cx="933329"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CEREBRO</a:t>
            </a:r>
            <a:endParaRPr lang="es-AR" sz="1250" dirty="0">
              <a:latin typeface="Fira Sans Condensed"/>
            </a:endParaRPr>
          </a:p>
        </p:txBody>
      </p:sp>
      <p:grpSp>
        <p:nvGrpSpPr>
          <p:cNvPr id="16" name="!!Mapa elemento 0"/>
          <p:cNvGrpSpPr/>
          <p:nvPr/>
        </p:nvGrpSpPr>
        <p:grpSpPr>
          <a:xfrm>
            <a:off x="1874520" y="1600200"/>
            <a:ext cx="3017520" cy="228600"/>
            <a:chOff x="1874520" y="1600200"/>
            <a:chExt cx="3017520" cy="228600"/>
          </a:xfrm>
        </p:grpSpPr>
        <p:sp>
          <p:nvSpPr>
            <p:cNvPr id="17" name="Flecha 16_2"/>
            <p:cNvSpPr/>
            <p:nvPr/>
          </p:nvSpPr>
          <p:spPr>
            <a:xfrm>
              <a:off x="1874520" y="1645920"/>
              <a:ext cx="3017520" cy="182880"/>
            </a:xfrm>
            <a:custGeom>
              <a:avLst/>
              <a:gdLst/>
              <a:ahLst/>
              <a:cxnLst/>
              <a:rect l="0" t="0" r="r" b="b"/>
              <a:pathLst>
                <a:path w="3300" h="199" fill="none">
                  <a:moveTo>
                    <a:pt x="0" y="0"/>
                  </a:moveTo>
                  <a:lnTo>
                    <a:pt x="3300" y="199"/>
                  </a:lnTo>
                </a:path>
              </a:pathLst>
            </a:custGeom>
            <a:noFill/>
            <a:ln w="38100" cap="rnd">
              <a:solidFill>
                <a:srgbClr val="7030A0"/>
              </a:solidFill>
              <a:round/>
              <a:tailEnd type="triangle" w="med" len="med"/>
            </a:ln>
          </p:spPr>
        </p:sp>
        <p:sp>
          <p:nvSpPr>
            <p:cNvPr id="18" name="Rótulo grelina ↑ (antes)"/>
            <p:cNvSpPr/>
            <p:nvPr/>
          </p:nvSpPr>
          <p:spPr>
            <a:xfrm>
              <a:off x="2717889" y="1600200"/>
              <a:ext cx="1330781"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grelina ↑ (antes)</a:t>
              </a:r>
              <a:endParaRPr lang="es-AR" sz="1150" dirty="0">
                <a:latin typeface="Fira Sans Condensed"/>
              </a:endParaRPr>
            </a:p>
          </p:txBody>
        </p:sp>
      </p:grpSp>
      <p:grpSp>
        <p:nvGrpSpPr>
          <p:cNvPr id="19" name="!!Mapa elemento 1"/>
          <p:cNvGrpSpPr/>
          <p:nvPr/>
        </p:nvGrpSpPr>
        <p:grpSpPr>
          <a:xfrm>
            <a:off x="1920240" y="2743200"/>
            <a:ext cx="3200400" cy="1095058"/>
            <a:chOff x="1920240" y="2743200"/>
            <a:chExt cx="3200400" cy="1095058"/>
          </a:xfrm>
        </p:grpSpPr>
        <p:sp>
          <p:nvSpPr>
            <p:cNvPr id="20" name="Flecha 20_2"/>
            <p:cNvSpPr/>
            <p:nvPr/>
          </p:nvSpPr>
          <p:spPr>
            <a:xfrm>
              <a:off x="1920240" y="2743200"/>
              <a:ext cx="3200400" cy="1005840"/>
            </a:xfrm>
            <a:custGeom>
              <a:avLst/>
              <a:gdLst/>
              <a:ahLst/>
              <a:cxnLst/>
              <a:rect l="0" t="0" r="r" b="b"/>
              <a:pathLst>
                <a:path w="3499" h="1099" fill="none">
                  <a:moveTo>
                    <a:pt x="0" y="1099"/>
                  </a:moveTo>
                  <a:lnTo>
                    <a:pt x="3499" y="0"/>
                  </a:lnTo>
                </a:path>
              </a:pathLst>
            </a:custGeom>
            <a:noFill/>
            <a:ln w="38100" cap="rnd">
              <a:solidFill>
                <a:srgbClr val="1E8C3A"/>
              </a:solidFill>
              <a:round/>
              <a:tailEnd type="triangle" w="med" len="med"/>
            </a:ln>
          </p:spPr>
        </p:sp>
        <p:sp>
          <p:nvSpPr>
            <p:cNvPr id="21" name="Rótulo CCK · GLP-1 · PYY "/>
            <p:cNvSpPr/>
            <p:nvPr/>
          </p:nvSpPr>
          <p:spPr>
            <a:xfrm>
              <a:off x="2377440" y="3611880"/>
              <a:ext cx="1687620"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CCK · GLP-1 · PYY · vago</a:t>
              </a:r>
              <a:endParaRPr lang="es-AR" sz="1150" dirty="0">
                <a:latin typeface="Fira Sans Condensed"/>
              </a:endParaRPr>
            </a:p>
          </p:txBody>
        </p:sp>
      </p:grpSp>
      <p:grpSp>
        <p:nvGrpSpPr>
          <p:cNvPr id="22" name="!!Mapa elemento 2"/>
          <p:cNvGrpSpPr/>
          <p:nvPr/>
        </p:nvGrpSpPr>
        <p:grpSpPr>
          <a:xfrm>
            <a:off x="7178040" y="1645920"/>
            <a:ext cx="2834640" cy="226378"/>
            <a:chOff x="7178040" y="1645920"/>
            <a:chExt cx="2834640" cy="226378"/>
          </a:xfrm>
        </p:grpSpPr>
        <p:sp>
          <p:nvSpPr>
            <p:cNvPr id="23" name="Flecha 24_2"/>
            <p:cNvSpPr/>
            <p:nvPr/>
          </p:nvSpPr>
          <p:spPr>
            <a:xfrm>
              <a:off x="7178040" y="1737360"/>
              <a:ext cx="2834640" cy="91440"/>
            </a:xfrm>
            <a:custGeom>
              <a:avLst/>
              <a:gdLst/>
              <a:ahLst/>
              <a:cxnLst/>
              <a:rect l="0" t="0" r="r" b="b"/>
              <a:pathLst>
                <a:path w="3099" h="100" fill="none">
                  <a:moveTo>
                    <a:pt x="3099" y="0"/>
                  </a:moveTo>
                  <a:lnTo>
                    <a:pt x="0" y="100"/>
                  </a:lnTo>
                </a:path>
              </a:pathLst>
            </a:custGeom>
            <a:noFill/>
            <a:ln w="38100" cap="rnd">
              <a:solidFill>
                <a:srgbClr val="1E8C3A"/>
              </a:solidFill>
              <a:round/>
              <a:tailEnd type="triangle" w="med" len="med"/>
            </a:ln>
          </p:spPr>
        </p:sp>
        <p:sp>
          <p:nvSpPr>
            <p:cNvPr id="24" name="Rótulo leptina"/>
            <p:cNvSpPr/>
            <p:nvPr/>
          </p:nvSpPr>
          <p:spPr>
            <a:xfrm>
              <a:off x="8255129" y="1645920"/>
              <a:ext cx="68046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leptina</a:t>
              </a:r>
              <a:endParaRPr lang="es-AR" sz="1150" dirty="0">
                <a:latin typeface="Fira Sans Condensed"/>
              </a:endParaRPr>
            </a:p>
          </p:txBody>
        </p:sp>
      </p:grpSp>
      <p:grpSp>
        <p:nvGrpSpPr>
          <p:cNvPr id="25" name="!!Mapa elemento 3"/>
          <p:cNvGrpSpPr/>
          <p:nvPr/>
        </p:nvGrpSpPr>
        <p:grpSpPr>
          <a:xfrm>
            <a:off x="7040880" y="2651760"/>
            <a:ext cx="2743200" cy="1371600"/>
            <a:chOff x="7040880" y="2651760"/>
            <a:chExt cx="2743200" cy="1371600"/>
          </a:xfrm>
        </p:grpSpPr>
        <p:sp>
          <p:nvSpPr>
            <p:cNvPr id="26" name="Flecha 28_2"/>
            <p:cNvSpPr/>
            <p:nvPr/>
          </p:nvSpPr>
          <p:spPr>
            <a:xfrm>
              <a:off x="7040880" y="2651760"/>
              <a:ext cx="2743200" cy="1371600"/>
            </a:xfrm>
            <a:custGeom>
              <a:avLst/>
              <a:gdLst/>
              <a:ahLst/>
              <a:cxnLst/>
              <a:rect l="0" t="0" r="r" b="b"/>
              <a:pathLst>
                <a:path w="2999" h="1500" fill="none">
                  <a:moveTo>
                    <a:pt x="2999" y="1500"/>
                  </a:moveTo>
                  <a:lnTo>
                    <a:pt x="0" y="0"/>
                  </a:lnTo>
                </a:path>
              </a:pathLst>
            </a:custGeom>
            <a:noFill/>
            <a:ln w="38100" cap="rnd">
              <a:solidFill>
                <a:srgbClr val="1E8C3A"/>
              </a:solidFill>
              <a:round/>
              <a:tailEnd type="triangle" w="med" len="med"/>
            </a:ln>
          </p:spPr>
        </p:sp>
        <p:sp>
          <p:nvSpPr>
            <p:cNvPr id="27" name="Rótulo insulina · amilina"/>
            <p:cNvSpPr/>
            <p:nvPr/>
          </p:nvSpPr>
          <p:spPr>
            <a:xfrm>
              <a:off x="7406640" y="3520440"/>
              <a:ext cx="1314942"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insulina · amilina</a:t>
              </a:r>
              <a:endParaRPr lang="es-AR" sz="1150" dirty="0">
                <a:latin typeface="Fira Sans Condensed"/>
              </a:endParaRPr>
            </a:p>
          </p:txBody>
        </p:sp>
      </p:grpSp>
      <p:sp>
        <p:nvSpPr>
          <p:cNvPr id="28" name="!!Mapa elemento 4"/>
          <p:cNvSpPr/>
          <p:nvPr/>
        </p:nvSpPr>
        <p:spPr>
          <a:xfrm>
            <a:off x="2926080" y="425196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ARC: POMC </a:t>
            </a:r>
            <a:r>
              <a:rPr lang="es-AR" sz="1250" b="1" dirty="0">
                <a:solidFill>
                  <a:srgbClr val="C00000"/>
                </a:solidFill>
                <a:latin typeface="Cambria Math"/>
                <a:ea typeface="Cambria Math"/>
                <a:cs typeface="Cambria Math"/>
                <a:sym typeface="Cambria Math"/>
              </a:rPr>
              <a:t>⇄</a:t>
            </a:r>
            <a:r>
              <a:rPr lang="es-AR" sz="1250" b="1" dirty="0">
                <a:solidFill>
                  <a:srgbClr val="C00000"/>
                </a:solidFill>
                <a:latin typeface="Fira Sans Condensed"/>
                <a:ea typeface="Fira Sans Condensed"/>
                <a:cs typeface="Fira Sans Condensed"/>
                <a:sym typeface="Fira Sans Condensed"/>
              </a:rPr>
              <a:t> AgRP → PVN</a:t>
            </a:r>
            <a:endParaRPr lang="es-AR" sz="1250" dirty="0">
              <a:latin typeface="Fira Sans Condensed"/>
            </a:endParaRPr>
          </a:p>
        </p:txBody>
      </p:sp>
      <p:sp>
        <p:nvSpPr>
          <p:cNvPr id="29" name="!!Mapa elemento 5"/>
          <p:cNvSpPr/>
          <p:nvPr/>
        </p:nvSpPr>
        <p:spPr>
          <a:xfrm>
            <a:off x="5897880" y="4251960"/>
            <a:ext cx="2834640" cy="5029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NTS · ATV → accumbens</a:t>
            </a:r>
            <a:endParaRPr lang="es-AR" sz="1250" dirty="0">
              <a:latin typeface="Fira Sans Condensed"/>
            </a:endParaRPr>
          </a:p>
        </p:txBody>
      </p:sp>
      <p:sp>
        <p:nvSpPr>
          <p:cNvPr id="30" name="!!Mapa elemento 6"/>
          <p:cNvSpPr/>
          <p:nvPr/>
        </p:nvSpPr>
        <p:spPr>
          <a:xfrm>
            <a:off x="2926080" y="4892040"/>
            <a:ext cx="580644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Salidas: </a:t>
            </a:r>
            <a:r>
              <a:rPr lang="es-AR" sz="1250" b="1" dirty="0">
                <a:solidFill>
                  <a:srgbClr val="1E1E1E"/>
                </a:solidFill>
                <a:latin typeface="Fira Sans Condensed"/>
                <a:ea typeface="Fira Sans Condensed"/>
                <a:cs typeface="Fira Sans Condensed"/>
                <a:sym typeface="Fira Sans Condensed"/>
              </a:rPr>
              <a:t>apetito/saciedad</a:t>
            </a:r>
            <a:r>
              <a:rPr lang="es-AR" sz="1250" dirty="0">
                <a:solidFill>
                  <a:srgbClr val="1E1E1E"/>
                </a:solidFill>
                <a:latin typeface="Fira Sans Condensed"/>
                <a:ea typeface="Fira Sans Condensed"/>
                <a:cs typeface="Fira Sans Condensed"/>
                <a:sym typeface="Fira Sans Condensed"/>
              </a:rPr>
              <a:t>, </a:t>
            </a:r>
            <a:r>
              <a:rPr lang="es-AR" sz="1250" b="1" dirty="0">
                <a:solidFill>
                  <a:srgbClr val="1E1E1E"/>
                </a:solidFill>
                <a:latin typeface="Fira Sans Condensed"/>
                <a:ea typeface="Fira Sans Condensed"/>
                <a:cs typeface="Fira Sans Condensed"/>
                <a:sym typeface="Fira Sans Condensed"/>
              </a:rPr>
              <a:t>gasto energético</a:t>
            </a:r>
            <a:r>
              <a:rPr lang="es-AR" sz="1250" dirty="0">
                <a:solidFill>
                  <a:srgbClr val="1E1E1E"/>
                </a:solidFill>
                <a:latin typeface="Fira Sans Condensed"/>
                <a:ea typeface="Fira Sans Condensed"/>
                <a:cs typeface="Fira Sans Condensed"/>
                <a:sym typeface="Fira Sans Condensed"/>
              </a:rPr>
              <a:t> (simpático, NEAT), </a:t>
            </a:r>
            <a:r>
              <a:rPr lang="es-AR" sz="1250" b="1" dirty="0">
                <a:solidFill>
                  <a:srgbClr val="1E1E1E"/>
                </a:solidFill>
                <a:latin typeface="Fira Sans Condensed"/>
                <a:ea typeface="Fira Sans Condensed"/>
                <a:cs typeface="Fira Sans Condensed"/>
                <a:sym typeface="Fira Sans Condensed"/>
              </a:rPr>
              <a:t>conducta alimentaria</a:t>
            </a:r>
            <a:endParaRPr lang="es-AR" sz="1250" dirty="0">
              <a:latin typeface="Fira Sans Condensed"/>
            </a:endParaRPr>
          </a:p>
        </p:txBody>
      </p:sp>
      <p:sp>
        <p:nvSpPr>
          <p:cNvPr id="31" name="!!Conclusión mapa"/>
          <p:cNvSpPr/>
          <p:nvPr/>
        </p:nvSpPr>
        <p:spPr>
          <a:xfrm>
            <a:off x="365760" y="5897880"/>
            <a:ext cx="11475720" cy="4114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Tubo digestivo + adiposo + páncreas → </a:t>
            </a:r>
            <a:r>
              <a:rPr lang="es-AR" sz="1400" b="1" dirty="0">
                <a:solidFill>
                  <a:srgbClr val="FFFFFF"/>
                </a:solidFill>
                <a:latin typeface="Fira Sans Condensed"/>
                <a:ea typeface="Fira Sans Condensed"/>
                <a:cs typeface="Fira Sans Condensed"/>
                <a:sym typeface="Fira Sans Condensed"/>
              </a:rPr>
              <a:t>cerebro</a:t>
            </a:r>
            <a:r>
              <a:rPr lang="es-AR" sz="1400" dirty="0">
                <a:solidFill>
                  <a:srgbClr val="FFFFFF"/>
                </a:solidFill>
                <a:latin typeface="Fira Sans Condensed"/>
                <a:ea typeface="Fira Sans Condensed"/>
                <a:cs typeface="Fira Sans Condensed"/>
                <a:sym typeface="Fira Sans Condensed"/>
              </a:rPr>
              <a:t> → apetito, saciedad, gasto y conducta.</a:t>
            </a:r>
            <a:endParaRPr lang="es-AR" sz="1400" dirty="0">
              <a:latin typeface="Fira Sans Condensed"/>
            </a:endParaRPr>
          </a:p>
        </p:txBody>
      </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MAPA 6 · CONTROL DEL PESO · SISTEMA COMPLETO</a:t>
            </a:r>
            <a:endParaRPr lang="es-AR" sz="3200" dirty="0">
              <a:latin typeface="Permanent Marker"/>
            </a:endParaRPr>
          </a:p>
        </p:txBody>
      </p:sp>
      <p:sp>
        <p:nvSpPr>
          <p:cNvPr id="5"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 calcmode="lin" valueType="num">
                                      <p:cBhvr>
                                        <p:cTn id="5" dur="500" fill="hold"/>
                                        <p:tgtEl>
                                          <p:spTgt spid="31"/>
                                        </p:tgtEl>
                                        <p:attrNameLst>
                                          <p:attrName>ppt_w</p:attrName>
                                        </p:attrNameLst>
                                      </p:cBhvr>
                                      <p:tavLst>
                                        <p:tav tm="0">
                                          <p:val>
                                            <p:fltVal val="0"/>
                                          </p:val>
                                        </p:tav>
                                        <p:tav tm="100000">
                                          <p:val>
                                            <p:strVal val="#ppt_w"/>
                                          </p:val>
                                        </p:tav>
                                      </p:tavLst>
                                    </p:anim>
                                    <p:anim calcmode="lin" valueType="num">
                                      <p:cBhvr>
                                        <p:cTn id="6" dur="500" fill="hold"/>
                                        <p:tgtEl>
                                          <p:spTgt spid="31"/>
                                        </p:tgtEl>
                                        <p:attrNameLst>
                                          <p:attrName>ppt_h</p:attrName>
                                        </p:attrNameLst>
                                      </p:cBhvr>
                                      <p:tavLst>
                                        <p:tav tm="0">
                                          <p:val>
                                            <p:fltVal val="0"/>
                                          </p:val>
                                        </p:tav>
                                        <p:tav tm="100000">
                                          <p:val>
                                            <p:strVal val="#ppt_h"/>
                                          </p:val>
                                        </p:tav>
                                      </p:tavLst>
                                    </p:anim>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Plazo ANTES DE COMER"/>
          <p:cNvGrpSpPr/>
          <p:nvPr/>
        </p:nvGrpSpPr>
        <p:grpSpPr>
          <a:xfrm>
            <a:off x="365760" y="1143000"/>
            <a:ext cx="2880360" cy="3154680"/>
            <a:chOff x="365760" y="1143000"/>
            <a:chExt cx="2880360" cy="3154680"/>
          </a:xfrm>
        </p:grpSpPr>
        <p:sp>
          <p:nvSpPr>
            <p:cNvPr id="8" name="Recuadro ANTES DE COMER"/>
            <p:cNvSpPr/>
            <p:nvPr/>
          </p:nvSpPr>
          <p:spPr>
            <a:xfrm>
              <a:off x="365760" y="1143000"/>
              <a:ext cx="2743200" cy="6858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ANTES DE COMER</a:t>
              </a:r>
              <a:endParaRPr lang="es-AR" sz="1400" dirty="0">
                <a:latin typeface="Fira Sans Condensed"/>
              </a:endParaRPr>
            </a:p>
          </p:txBody>
        </p:sp>
        <p:sp>
          <p:nvSpPr>
            <p:cNvPr id="9" name="Forma 8"/>
            <p:cNvSpPr/>
            <p:nvPr/>
          </p:nvSpPr>
          <p:spPr>
            <a:xfrm>
              <a:off x="365760" y="1920240"/>
              <a:ext cx="274320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Grelina y circuitos </a:t>
              </a:r>
              <a:r>
                <a:rPr lang="es-AR" sz="1400" b="1" dirty="0">
                  <a:solidFill>
                    <a:srgbClr val="1E1E1E"/>
                  </a:solidFill>
                  <a:latin typeface="Fira Sans Condensed"/>
                  <a:ea typeface="Fira Sans Condensed"/>
                  <a:cs typeface="Fira Sans Condensed"/>
                  <a:sym typeface="Fira Sans Condensed"/>
                </a:rPr>
                <a:t>anticipatorios</a:t>
              </a:r>
              <a:r>
                <a:rPr lang="es-AR" sz="1400" dirty="0">
                  <a:solidFill>
                    <a:srgbClr val="1E1E1E"/>
                  </a:solidFill>
                  <a:latin typeface="Fira Sans Condensed"/>
                  <a:ea typeface="Fira Sans Condensed"/>
                  <a:cs typeface="Fira Sans Condensed"/>
                  <a:sym typeface="Fira Sans Condensed"/>
                </a:rPr>
                <a:t> amplifican la búsqueda; señales de baja disponibilidad facilitan AgRP.</a:t>
              </a:r>
              <a:endParaRPr lang="es-AR" sz="1400" dirty="0">
                <a:latin typeface="Fira Sans Condensed"/>
              </a:endParaRPr>
            </a:p>
          </p:txBody>
        </p:sp>
        <p:sp>
          <p:nvSpPr>
            <p:cNvPr id="10" name="Flecha 9_2"/>
            <p:cNvSpPr/>
            <p:nvPr/>
          </p:nvSpPr>
          <p:spPr>
            <a:xfrm>
              <a:off x="3127248" y="1481328"/>
              <a:ext cx="118872" cy="9144"/>
            </a:xfrm>
            <a:custGeom>
              <a:avLst/>
              <a:gdLst/>
              <a:ahLst/>
              <a:cxnLst/>
              <a:rect l="0" t="0" r="r" b="b"/>
              <a:pathLst>
                <a:path w="129" h="10" fill="none">
                  <a:moveTo>
                    <a:pt x="0" y="0"/>
                  </a:moveTo>
                  <a:lnTo>
                    <a:pt x="129" y="0"/>
                  </a:lnTo>
                </a:path>
              </a:pathLst>
            </a:custGeom>
            <a:noFill/>
            <a:ln w="38100" cap="rnd">
              <a:solidFill>
                <a:srgbClr val="1E1E1E"/>
              </a:solidFill>
              <a:round/>
              <a:tailEnd type="triangle" w="med" len="med"/>
            </a:ln>
          </p:spPr>
        </p:sp>
      </p:grpSp>
      <p:grpSp>
        <p:nvGrpSpPr>
          <p:cNvPr id="11" name="Plazo DURANTE LA COMIDA"/>
          <p:cNvGrpSpPr/>
          <p:nvPr/>
        </p:nvGrpSpPr>
        <p:grpSpPr>
          <a:xfrm>
            <a:off x="3264408" y="1143000"/>
            <a:ext cx="2880360" cy="3154680"/>
            <a:chOff x="3264408" y="1143000"/>
            <a:chExt cx="2880360" cy="3154680"/>
          </a:xfrm>
        </p:grpSpPr>
        <p:sp>
          <p:nvSpPr>
            <p:cNvPr id="12" name="Recuadro DURANTE LA COMIDA"/>
            <p:cNvSpPr/>
            <p:nvPr/>
          </p:nvSpPr>
          <p:spPr>
            <a:xfrm>
              <a:off x="3264408" y="1143000"/>
              <a:ext cx="274320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DURANTE LA COMIDA</a:t>
              </a:r>
              <a:endParaRPr lang="es-AR" sz="1400" dirty="0">
                <a:latin typeface="Fira Sans Condensed"/>
              </a:endParaRPr>
            </a:p>
          </p:txBody>
        </p:sp>
        <p:sp>
          <p:nvSpPr>
            <p:cNvPr id="13" name="Forma 13"/>
            <p:cNvSpPr/>
            <p:nvPr/>
          </p:nvSpPr>
          <p:spPr>
            <a:xfrm>
              <a:off x="3264408" y="1920240"/>
              <a:ext cx="274320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Distensión gástrica</a:t>
              </a:r>
              <a:r>
                <a:rPr lang="es-AR" sz="1400" dirty="0">
                  <a:solidFill>
                    <a:srgbClr val="1E1E1E"/>
                  </a:solidFill>
                  <a:latin typeface="Fira Sans Condensed"/>
                  <a:ea typeface="Fira Sans Condensed"/>
                  <a:cs typeface="Fira Sans Condensed"/>
                  <a:sym typeface="Fira Sans Condensed"/>
                </a:rPr>
                <a:t>, vago, </a:t>
              </a:r>
              <a:r>
                <a:rPr lang="es-AR" sz="1400" b="1" dirty="0">
                  <a:solidFill>
                    <a:srgbClr val="1E1E1E"/>
                  </a:solidFill>
                  <a:latin typeface="Fira Sans Condensed"/>
                  <a:ea typeface="Fira Sans Condensed"/>
                  <a:cs typeface="Fira Sans Condensed"/>
                  <a:sym typeface="Fira Sans Condensed"/>
                </a:rPr>
                <a:t>CCK, GLP-1, PYY</a:t>
              </a:r>
              <a:r>
                <a:rPr lang="es-AR" sz="1400" dirty="0">
                  <a:solidFill>
                    <a:srgbClr val="1E1E1E"/>
                  </a:solidFill>
                  <a:latin typeface="Fira Sans Condensed"/>
                  <a:ea typeface="Fira Sans Condensed"/>
                  <a:cs typeface="Fira Sans Condensed"/>
                  <a:sym typeface="Fira Sans Condensed"/>
                </a:rPr>
                <a:t> modulan NTS e hipotálamo para </a:t>
              </a:r>
              <a:r>
                <a:rPr lang="es-AR" sz="1400" b="1" dirty="0">
                  <a:solidFill>
                    <a:srgbClr val="1E1E1E"/>
                  </a:solidFill>
                  <a:latin typeface="Fira Sans Condensed"/>
                  <a:ea typeface="Fira Sans Condensed"/>
                  <a:cs typeface="Fira Sans Condensed"/>
                  <a:sym typeface="Fira Sans Condensed"/>
                </a:rPr>
                <a:t>terminar</a:t>
              </a:r>
              <a:r>
                <a:rPr lang="es-AR" sz="1400" dirty="0">
                  <a:solidFill>
                    <a:srgbClr val="1E1E1E"/>
                  </a:solidFill>
                  <a:latin typeface="Fira Sans Condensed"/>
                  <a:ea typeface="Fira Sans Condensed"/>
                  <a:cs typeface="Fira Sans Condensed"/>
                  <a:sym typeface="Fira Sans Condensed"/>
                </a:rPr>
                <a:t> el episodio.</a:t>
              </a:r>
              <a:endParaRPr lang="es-AR" sz="1400" dirty="0">
                <a:latin typeface="Fira Sans Condensed"/>
              </a:endParaRPr>
            </a:p>
          </p:txBody>
        </p:sp>
        <p:sp>
          <p:nvSpPr>
            <p:cNvPr id="14" name="Flecha 14_2"/>
            <p:cNvSpPr/>
            <p:nvPr/>
          </p:nvSpPr>
          <p:spPr>
            <a:xfrm>
              <a:off x="6025896" y="1481328"/>
              <a:ext cx="118872" cy="9144"/>
            </a:xfrm>
            <a:custGeom>
              <a:avLst/>
              <a:gdLst/>
              <a:ahLst/>
              <a:cxnLst/>
              <a:rect l="0" t="0" r="r" b="b"/>
              <a:pathLst>
                <a:path w="129" h="10" fill="none">
                  <a:moveTo>
                    <a:pt x="0" y="0"/>
                  </a:moveTo>
                  <a:lnTo>
                    <a:pt x="129" y="0"/>
                  </a:lnTo>
                </a:path>
              </a:pathLst>
            </a:custGeom>
            <a:noFill/>
            <a:ln w="38100" cap="rnd">
              <a:solidFill>
                <a:srgbClr val="1E1E1E"/>
              </a:solidFill>
              <a:round/>
              <a:tailEnd type="triangle" w="med" len="med"/>
            </a:ln>
          </p:spPr>
        </p:sp>
      </p:grpSp>
      <p:grpSp>
        <p:nvGrpSpPr>
          <p:cNvPr id="15" name="Plazo SEMANAS / MESES"/>
          <p:cNvGrpSpPr/>
          <p:nvPr/>
        </p:nvGrpSpPr>
        <p:grpSpPr>
          <a:xfrm>
            <a:off x="6163056" y="1143000"/>
            <a:ext cx="2880360" cy="3154680"/>
            <a:chOff x="6163056" y="1143000"/>
            <a:chExt cx="2880360" cy="3154680"/>
          </a:xfrm>
        </p:grpSpPr>
        <p:sp>
          <p:nvSpPr>
            <p:cNvPr id="16" name="Recuadro SEMANAS / MESES"/>
            <p:cNvSpPr/>
            <p:nvPr/>
          </p:nvSpPr>
          <p:spPr>
            <a:xfrm>
              <a:off x="6163056" y="1143000"/>
              <a:ext cx="274320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SEMANAS / MESES</a:t>
              </a:r>
              <a:endParaRPr lang="es-AR" sz="1400" dirty="0">
                <a:latin typeface="Fira Sans Condensed"/>
              </a:endParaRPr>
            </a:p>
          </p:txBody>
        </p:sp>
        <p:sp>
          <p:nvSpPr>
            <p:cNvPr id="17" name="Forma 18"/>
            <p:cNvSpPr/>
            <p:nvPr/>
          </p:nvSpPr>
          <p:spPr>
            <a:xfrm>
              <a:off x="6163056" y="1920240"/>
              <a:ext cx="274320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Leptina, insulina</a:t>
              </a:r>
              <a:r>
                <a:rPr lang="es-AR" sz="1400" dirty="0">
                  <a:solidFill>
                    <a:srgbClr val="1E1E1E"/>
                  </a:solidFill>
                  <a:latin typeface="Fira Sans Condensed"/>
                  <a:ea typeface="Fira Sans Condensed"/>
                  <a:cs typeface="Fira Sans Condensed"/>
                  <a:sym typeface="Fira Sans Condensed"/>
                </a:rPr>
                <a:t>, cambio de masa grasa y gasto modifican la </a:t>
              </a:r>
              <a:r>
                <a:rPr lang="es-AR" sz="1400" b="1" dirty="0">
                  <a:solidFill>
                    <a:srgbClr val="1E1E1E"/>
                  </a:solidFill>
                  <a:latin typeface="Fira Sans Condensed"/>
                  <a:ea typeface="Fira Sans Condensed"/>
                  <a:cs typeface="Fira Sans Condensed"/>
                  <a:sym typeface="Fira Sans Condensed"/>
                </a:rPr>
                <a:t>«ganancia»</a:t>
              </a:r>
              <a:r>
                <a:rPr lang="es-AR" sz="1400" dirty="0">
                  <a:solidFill>
                    <a:srgbClr val="1E1E1E"/>
                  </a:solidFill>
                  <a:latin typeface="Fira Sans Condensed"/>
                  <a:ea typeface="Fira Sans Condensed"/>
                  <a:cs typeface="Fira Sans Condensed"/>
                  <a:sym typeface="Fira Sans Condensed"/>
                </a:rPr>
                <a:t> del sistema.</a:t>
              </a:r>
              <a:endParaRPr lang="es-AR" sz="1400" dirty="0">
                <a:latin typeface="Fira Sans Condensed"/>
              </a:endParaRPr>
            </a:p>
          </p:txBody>
        </p:sp>
        <p:sp>
          <p:nvSpPr>
            <p:cNvPr id="18" name="Flecha 19_2"/>
            <p:cNvSpPr/>
            <p:nvPr/>
          </p:nvSpPr>
          <p:spPr>
            <a:xfrm>
              <a:off x="8924544" y="1481328"/>
              <a:ext cx="118872" cy="9144"/>
            </a:xfrm>
            <a:custGeom>
              <a:avLst/>
              <a:gdLst/>
              <a:ahLst/>
              <a:cxnLst/>
              <a:rect l="0" t="0" r="r" b="b"/>
              <a:pathLst>
                <a:path w="130" h="10" fill="none">
                  <a:moveTo>
                    <a:pt x="0" y="0"/>
                  </a:moveTo>
                  <a:lnTo>
                    <a:pt x="130" y="0"/>
                  </a:lnTo>
                </a:path>
              </a:pathLst>
            </a:custGeom>
            <a:noFill/>
            <a:ln w="38100" cap="rnd">
              <a:solidFill>
                <a:srgbClr val="1E1E1E"/>
              </a:solidFill>
              <a:round/>
              <a:tailEnd type="triangle" w="med" len="med"/>
            </a:ln>
          </p:spPr>
        </p:sp>
      </p:grpSp>
      <p:grpSp>
        <p:nvGrpSpPr>
          <p:cNvPr id="19" name="Plazo SOBRE TODO EL SISTEMA"/>
          <p:cNvGrpSpPr/>
          <p:nvPr/>
        </p:nvGrpSpPr>
        <p:grpSpPr>
          <a:xfrm>
            <a:off x="9061704" y="1143000"/>
            <a:ext cx="2743200" cy="3154680"/>
            <a:chOff x="9061704" y="1143000"/>
            <a:chExt cx="2743200" cy="3154680"/>
          </a:xfrm>
        </p:grpSpPr>
        <p:sp>
          <p:nvSpPr>
            <p:cNvPr id="20" name="Recuadro SOBRE TODO EL SISTEMA"/>
            <p:cNvSpPr/>
            <p:nvPr/>
          </p:nvSpPr>
          <p:spPr>
            <a:xfrm>
              <a:off x="9061704" y="1143000"/>
              <a:ext cx="2743200" cy="68580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SOBRE TODO EL SISTEMA</a:t>
              </a:r>
              <a:endParaRPr lang="es-AR" sz="1400" dirty="0">
                <a:latin typeface="Fira Sans Condensed"/>
              </a:endParaRPr>
            </a:p>
          </p:txBody>
        </p:sp>
        <p:sp>
          <p:nvSpPr>
            <p:cNvPr id="21" name="Forma 23"/>
            <p:cNvSpPr/>
            <p:nvPr/>
          </p:nvSpPr>
          <p:spPr>
            <a:xfrm>
              <a:off x="9061704" y="1920240"/>
              <a:ext cx="274320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Condicionamiento, </a:t>
              </a:r>
              <a:r>
                <a:rPr lang="es-AR" sz="1400" b="1" dirty="0">
                  <a:solidFill>
                    <a:srgbClr val="1E1E1E"/>
                  </a:solidFill>
                  <a:latin typeface="Fira Sans Condensed"/>
                  <a:ea typeface="Fira Sans Condensed"/>
                  <a:cs typeface="Fira Sans Condensed"/>
                  <a:sym typeface="Fira Sans Condensed"/>
                </a:rPr>
                <a:t>recompensa</a:t>
              </a:r>
              <a:r>
                <a:rPr lang="es-AR" sz="1400" dirty="0">
                  <a:solidFill>
                    <a:srgbClr val="1E1E1E"/>
                  </a:solidFill>
                  <a:latin typeface="Fira Sans Condensed"/>
                  <a:ea typeface="Fira Sans Condensed"/>
                  <a:cs typeface="Fira Sans Condensed"/>
                  <a:sym typeface="Fira Sans Condensed"/>
                </a:rPr>
                <a:t>, </a:t>
              </a:r>
              <a:r>
                <a:rPr lang="es-AR" sz="1400" b="1" dirty="0">
                  <a:solidFill>
                    <a:srgbClr val="1E1E1E"/>
                  </a:solidFill>
                  <a:latin typeface="Fira Sans Condensed"/>
                  <a:ea typeface="Fira Sans Condensed"/>
                  <a:cs typeface="Fira Sans Condensed"/>
                  <a:sym typeface="Fira Sans Condensed"/>
                </a:rPr>
                <a:t>estrés</a:t>
              </a:r>
              <a:r>
                <a:rPr lang="es-AR" sz="1400" dirty="0">
                  <a:solidFill>
                    <a:srgbClr val="1E1E1E"/>
                  </a:solidFill>
                  <a:latin typeface="Fira Sans Condensed"/>
                  <a:ea typeface="Fira Sans Condensed"/>
                  <a:cs typeface="Fira Sans Condensed"/>
                  <a:sym typeface="Fira Sans Condensed"/>
                </a:rPr>
                <a:t>, descanso, ambiente social, fármacos y acceso a alimentos.</a:t>
              </a:r>
              <a:endParaRPr lang="es-AR" sz="1400" dirty="0">
                <a:latin typeface="Fira Sans Condensed"/>
              </a:endParaRPr>
            </a:p>
          </p:txBody>
        </p:sp>
      </p:grpSp>
      <p:sp>
        <p:nvSpPr>
          <p:cNvPr id="22" name="Perla clínica"/>
          <p:cNvSpPr/>
          <p:nvPr/>
        </p:nvSpPr>
        <p:spPr>
          <a:xfrm>
            <a:off x="365760" y="4526280"/>
            <a:ext cx="11475720" cy="1737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La obesidad aparece cuando la </a:t>
            </a:r>
            <a:r>
              <a:rPr lang="es-AR" sz="1600" b="1" dirty="0">
                <a:solidFill>
                  <a:srgbClr val="FFFFFF"/>
                </a:solidFill>
                <a:latin typeface="Fira Sans Condensed"/>
                <a:ea typeface="Fira Sans Condensed"/>
                <a:cs typeface="Fira Sans Condensed"/>
                <a:sym typeface="Fira Sans Condensed"/>
              </a:rPr>
              <a:t>ingesta acumulada excede el gasto de manera sostenida</a:t>
            </a:r>
            <a:r>
              <a:rPr lang="es-AR" sz="1600" dirty="0">
                <a:solidFill>
                  <a:srgbClr val="FFFFFF"/>
                </a:solidFill>
                <a:latin typeface="Fira Sans Condensed"/>
                <a:ea typeface="Fira Sans Condensed"/>
                <a:cs typeface="Fira Sans Condensed"/>
                <a:sym typeface="Fira Sans Condensed"/>
              </a:rPr>
              <a:t> dentro de un sistema que </a:t>
            </a:r>
            <a:r>
              <a:rPr lang="es-AR" sz="1600" b="1" dirty="0">
                <a:solidFill>
                  <a:srgbClr val="FFFFFF"/>
                </a:solidFill>
                <a:latin typeface="Fira Sans Condensed"/>
                <a:ea typeface="Fira Sans Condensed"/>
                <a:cs typeface="Fira Sans Condensed"/>
                <a:sym typeface="Fira Sans Condensed"/>
              </a:rPr>
              <a:t>responde y se adapta</a:t>
            </a:r>
            <a:r>
              <a:rPr lang="es-AR" sz="1600" dirty="0">
                <a:solidFill>
                  <a:srgbClr val="FFFFFF"/>
                </a:solidFill>
                <a:latin typeface="Fira Sans Condensed"/>
                <a:ea typeface="Fira Sans Condensed"/>
                <a:cs typeface="Fira Sans Condensed"/>
                <a:sym typeface="Fira Sans Condensed"/>
              </a:rPr>
              <a:t>. No reducir la obesidad a la voluntad: omite regulación hormonal, recompensa y entorno.</a:t>
            </a:r>
            <a:endParaRPr lang="es-AR" sz="1600" dirty="0">
              <a:latin typeface="Fira Sans Condensed"/>
            </a:endParaRPr>
          </a:p>
        </p:txBody>
      </p:sp>
      <p:sp>
        <p:nvSpPr>
          <p:cNvPr id="5"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CORTO Y LARGO PLAZO: INTEGRACIÓN DEL CONTROL</a:t>
            </a:r>
            <a:endParaRPr lang="es-AR" sz="3100" dirty="0">
              <a:latin typeface="Permanent Marker"/>
            </a:endParaRPr>
          </a:p>
        </p:txBody>
      </p:sp>
      <p:sp>
        <p:nvSpPr>
          <p:cNvPr id="6" name="Etiqueta sección"/>
          <p:cNvSpPr/>
          <p:nvPr/>
        </p:nvSpPr>
        <p:spPr>
          <a:xfrm>
            <a:off x="164592" y="6510528"/>
            <a:ext cx="181108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 · APETITO Y GASTO</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169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VII</a:t>
            </a:r>
            <a:endParaRPr lang="es-AR" sz="2000" dirty="0">
              <a:latin typeface="Fira Sans Condensed"/>
            </a:endParaRPr>
          </a:p>
        </p:txBody>
      </p:sp>
      <p:sp>
        <p:nvSpPr>
          <p:cNvPr id="6" name="Título unidad"/>
          <p:cNvSpPr txBox="1"/>
          <p:nvPr/>
        </p:nvSpPr>
        <p:spPr>
          <a:xfrm>
            <a:off x="2468880" y="960120"/>
            <a:ext cx="7223760" cy="17607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CASO 20: OBESIDAD</a:t>
            </a:r>
            <a:endParaRPr lang="es-AR" sz="5000" dirty="0">
              <a:latin typeface="Permanent Marker"/>
            </a:endParaRPr>
          </a:p>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CLASE III</a:t>
            </a:r>
            <a:endParaRPr lang="es-AR" sz="50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Cálculos, mecanismos y complicaciones</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Presentación y laboratorio</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Definición y clasificación</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IMC y cintura</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Gasto energético (Mifflin–St Jeor)</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Descenso 170 → 140 kg</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Adipocito, apetito y DM2</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HTA, dislipidemia, MASLD</a:t>
            </a:r>
            <a:endParaRPr lang="es-AR" sz="1400" dirty="0">
              <a:latin typeface="Fira Sans Condensed"/>
            </a:endParaRPr>
          </a:p>
        </p:txBody>
      </p:sp>
      <p:sp>
        <p:nvSpPr>
          <p:cNvPr id="15" name="Tema 8"/>
          <p:cNvSpPr/>
          <p:nvPr/>
        </p:nvSpPr>
        <p:spPr>
          <a:xfrm>
            <a:off x="617220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Litiasis, pancreatitis, AOS</a:t>
            </a:r>
            <a:endParaRPr lang="es-AR" sz="1400" dirty="0">
              <a:latin typeface="Fira Sans Condensed"/>
            </a:endParaRPr>
          </a:p>
        </p:txBody>
      </p:sp>
      <p:pic>
        <p:nvPicPr>
          <p:cNvPr id="16" name="Paciente" descr="Ilustración biomédica (Servier Medical Art, CC BY)"/>
          <p:cNvPicPr>
            <a:picLocks noChangeAspect="1"/>
          </p:cNvPicPr>
          <p:nvPr/>
        </p:nvPicPr>
        <p:blipFill>
          <a:blip r:embed="rId2"/>
          <a:stretch>
            <a:fillRect/>
          </a:stretch>
        </p:blipFill>
        <p:spPr>
          <a:xfrm>
            <a:off x="9829800" y="411480"/>
            <a:ext cx="1611434" cy="2926080"/>
          </a:xfrm>
          <a:prstGeom prst="rect">
            <a:avLst/>
          </a:prstGeom>
        </p:spPr>
      </p:pic>
      <p:pic>
        <p:nvPicPr>
          <p:cNvPr id="17" name="Corazón" descr="Ilustración biomédica (Servier Medical Art, CC BY)"/>
          <p:cNvPicPr>
            <a:picLocks noChangeAspect="1"/>
          </p:cNvPicPr>
          <p:nvPr/>
        </p:nvPicPr>
        <p:blipFill>
          <a:blip r:embed="rId3"/>
          <a:stretch>
            <a:fillRect/>
          </a:stretch>
        </p:blipFill>
        <p:spPr>
          <a:xfrm>
            <a:off x="10058400" y="3566160"/>
            <a:ext cx="1463040" cy="2071037"/>
          </a:xfrm>
          <a:prstGeom prst="rect">
            <a:avLst/>
          </a:prstGeom>
        </p:spPr>
      </p:pic>
      <p:pic>
        <p:nvPicPr>
          <p:cNvPr id="18" name="Hígado" descr="Ilustración biomédica (Servier Medical Art, CC BY)"/>
          <p:cNvPicPr>
            <a:picLocks noChangeAspect="1"/>
          </p:cNvPicPr>
          <p:nvPr/>
        </p:nvPicPr>
        <p:blipFill>
          <a:blip r:embed="rId4"/>
          <a:stretch>
            <a:fillRect/>
          </a:stretch>
        </p:blipFill>
        <p:spPr>
          <a:xfrm>
            <a:off x="228600" y="1371600"/>
            <a:ext cx="2011680" cy="1459695"/>
          </a:xfrm>
          <a:prstGeom prst="rect">
            <a:avLst/>
          </a:prstGeom>
        </p:spPr>
      </p:pic>
      <p:pic>
        <p:nvPicPr>
          <p:cNvPr id="19" name="Vesícula" descr="Ilustración biomédica (Servier Medical Art, CC BY)"/>
          <p:cNvPicPr>
            <a:picLocks noChangeAspect="1"/>
          </p:cNvPicPr>
          <p:nvPr/>
        </p:nvPicPr>
        <p:blipFill>
          <a:blip r:embed="rId5"/>
          <a:stretch>
            <a:fillRect/>
          </a:stretch>
        </p:blipFill>
        <p:spPr>
          <a:xfrm>
            <a:off x="548640" y="3840480"/>
            <a:ext cx="1280160" cy="2038935"/>
          </a:xfrm>
          <a:prstGeom prst="rect">
            <a:avLst/>
          </a:prstGeom>
        </p:spPr>
      </p:pic>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par>
                          <p:cTn id="34" fill="hold">
                            <p:stCondLst>
                              <p:cond delay="175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Paciente caso 20" descr="Ilustración biomédica (Servier Medical Art, CC BY)"/>
          <p:cNvPicPr>
            <a:picLocks noChangeAspect="1"/>
          </p:cNvPicPr>
          <p:nvPr/>
        </p:nvPicPr>
        <p:blipFill>
          <a:blip r:embed="rId2"/>
          <a:stretch>
            <a:fillRect/>
          </a:stretch>
        </p:blipFill>
        <p:spPr>
          <a:xfrm>
            <a:off x="365760" y="1005840"/>
            <a:ext cx="2920724" cy="5303520"/>
          </a:xfrm>
          <a:prstGeom prst="rect">
            <a:avLst/>
          </a:prstGeom>
        </p:spPr>
      </p:pic>
      <p:grpSp>
        <p:nvGrpSpPr>
          <p:cNvPr id="7" name="Dato ANTROPOMETRÍA"/>
          <p:cNvGrpSpPr/>
          <p:nvPr/>
        </p:nvGrpSpPr>
        <p:grpSpPr>
          <a:xfrm>
            <a:off x="3566160" y="1051560"/>
            <a:ext cx="8275320" cy="731520"/>
            <a:chOff x="3566160" y="1051560"/>
            <a:chExt cx="8275320" cy="731520"/>
          </a:xfrm>
        </p:grpSpPr>
        <p:sp>
          <p:nvSpPr>
            <p:cNvPr id="8" name="Recuadro ANTROPOMETRÍA"/>
            <p:cNvSpPr/>
            <p:nvPr/>
          </p:nvSpPr>
          <p:spPr>
            <a:xfrm>
              <a:off x="3566160" y="1051560"/>
              <a:ext cx="2377440" cy="7315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ANTROPOMETRÍA</a:t>
              </a:r>
              <a:endParaRPr lang="es-AR" sz="1350" dirty="0">
                <a:latin typeface="Fira Sans Condensed"/>
              </a:endParaRPr>
            </a:p>
          </p:txBody>
        </p:sp>
        <p:sp>
          <p:nvSpPr>
            <p:cNvPr id="9" name="Forma 8"/>
            <p:cNvSpPr/>
            <p:nvPr/>
          </p:nvSpPr>
          <p:spPr>
            <a:xfrm>
              <a:off x="6035040" y="105156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170 kg</a:t>
              </a:r>
              <a:r>
                <a:rPr lang="es-AR" sz="1400" dirty="0">
                  <a:solidFill>
                    <a:srgbClr val="1E1E1E"/>
                  </a:solidFill>
                  <a:latin typeface="Fira Sans Condensed"/>
                  <a:ea typeface="Fira Sans Condensed"/>
                  <a:cs typeface="Fira Sans Condensed"/>
                  <a:sym typeface="Fira Sans Condensed"/>
                </a:rPr>
                <a:t> · talla </a:t>
              </a:r>
              <a:r>
                <a:rPr lang="es-AR" sz="1400" b="1" dirty="0">
                  <a:solidFill>
                    <a:srgbClr val="1E1E1E"/>
                  </a:solidFill>
                  <a:latin typeface="Fira Sans Condensed"/>
                  <a:ea typeface="Fira Sans Condensed"/>
                  <a:cs typeface="Fira Sans Condensed"/>
                  <a:sym typeface="Fira Sans Condensed"/>
                </a:rPr>
                <a:t>1,70 m</a:t>
              </a:r>
              <a:r>
                <a:rPr lang="es-AR" sz="1400" dirty="0">
                  <a:solidFill>
                    <a:srgbClr val="1E1E1E"/>
                  </a:solidFill>
                  <a:latin typeface="Fira Sans Condensed"/>
                  <a:ea typeface="Fira Sans Condensed"/>
                  <a:cs typeface="Fira Sans Condensed"/>
                  <a:sym typeface="Fira Sans Condensed"/>
                </a:rPr>
                <a:t> · cintura </a:t>
              </a:r>
              <a:r>
                <a:rPr lang="es-AR" sz="1400" b="1" dirty="0">
                  <a:solidFill>
                    <a:srgbClr val="1E1E1E"/>
                  </a:solidFill>
                  <a:latin typeface="Fira Sans Condensed"/>
                  <a:ea typeface="Fira Sans Condensed"/>
                  <a:cs typeface="Fira Sans Condensed"/>
                  <a:sym typeface="Fira Sans Condensed"/>
                </a:rPr>
                <a:t>124 cm</a:t>
              </a:r>
              <a:endParaRPr lang="es-AR" sz="1400" dirty="0">
                <a:latin typeface="Fira Sans Condensed"/>
              </a:endParaRPr>
            </a:p>
          </p:txBody>
        </p:sp>
      </p:grpSp>
      <p:grpSp>
        <p:nvGrpSpPr>
          <p:cNvPr id="10" name="Dato PRESIÓN ARTERIAL"/>
          <p:cNvGrpSpPr/>
          <p:nvPr/>
        </p:nvGrpSpPr>
        <p:grpSpPr>
          <a:xfrm>
            <a:off x="3566160" y="1920240"/>
            <a:ext cx="8275320" cy="731520"/>
            <a:chOff x="3566160" y="1920240"/>
            <a:chExt cx="8275320" cy="731520"/>
          </a:xfrm>
        </p:grpSpPr>
        <p:sp>
          <p:nvSpPr>
            <p:cNvPr id="11" name="Recuadro PRESIÓN ARTERIAL"/>
            <p:cNvSpPr/>
            <p:nvPr/>
          </p:nvSpPr>
          <p:spPr>
            <a:xfrm>
              <a:off x="3566160" y="1920240"/>
              <a:ext cx="2377440" cy="7315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FFFFFF"/>
                  </a:solidFill>
                  <a:latin typeface="Fira Sans Condensed"/>
                  <a:ea typeface="Fira Sans Condensed"/>
                  <a:cs typeface="Fira Sans Condensed"/>
                  <a:sym typeface="Fira Sans Condensed"/>
                </a:rPr>
                <a:t>PRESIÓN ARTERIAL</a:t>
              </a:r>
              <a:endParaRPr lang="es-AR" sz="1350" dirty="0">
                <a:latin typeface="Fira Sans Condensed"/>
              </a:endParaRPr>
            </a:p>
          </p:txBody>
        </p:sp>
        <p:sp>
          <p:nvSpPr>
            <p:cNvPr id="12" name="Forma 11"/>
            <p:cNvSpPr/>
            <p:nvPr/>
          </p:nvSpPr>
          <p:spPr>
            <a:xfrm>
              <a:off x="6035040" y="192024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160/100 mmHg</a:t>
              </a:r>
              <a:r>
                <a:rPr lang="es-AR" sz="1400" dirty="0">
                  <a:solidFill>
                    <a:srgbClr val="1E1E1E"/>
                  </a:solidFill>
                  <a:latin typeface="Fira Sans Condensed"/>
                  <a:ea typeface="Fira Sans Condensed"/>
                  <a:cs typeface="Fira Sans Condensed"/>
                  <a:sym typeface="Fira Sans Condensed"/>
                </a:rPr>
                <a:t> · ECG con </a:t>
              </a:r>
              <a:r>
                <a:rPr lang="es-AR" sz="1400" b="1" dirty="0">
                  <a:solidFill>
                    <a:srgbClr val="1E1E1E"/>
                  </a:solidFill>
                  <a:latin typeface="Fira Sans Condensed"/>
                  <a:ea typeface="Fira Sans Condensed"/>
                  <a:cs typeface="Fira Sans Condensed"/>
                  <a:sym typeface="Fira Sans Condensed"/>
                </a:rPr>
                <a:t>Sokolow–Lyon positivo</a:t>
              </a:r>
              <a:endParaRPr lang="es-AR" sz="1400" dirty="0">
                <a:latin typeface="Fira Sans Condensed"/>
              </a:endParaRPr>
            </a:p>
          </p:txBody>
        </p:sp>
      </p:grpSp>
      <p:grpSp>
        <p:nvGrpSpPr>
          <p:cNvPr id="13" name="Dato HÁBITOS"/>
          <p:cNvGrpSpPr/>
          <p:nvPr/>
        </p:nvGrpSpPr>
        <p:grpSpPr>
          <a:xfrm>
            <a:off x="3566160" y="2788920"/>
            <a:ext cx="8275320" cy="731520"/>
            <a:chOff x="3566160" y="2788920"/>
            <a:chExt cx="8275320" cy="731520"/>
          </a:xfrm>
        </p:grpSpPr>
        <p:sp>
          <p:nvSpPr>
            <p:cNvPr id="14" name="Recuadro HÁBITOS"/>
            <p:cNvSpPr/>
            <p:nvPr/>
          </p:nvSpPr>
          <p:spPr>
            <a:xfrm>
              <a:off x="3566160" y="2788920"/>
              <a:ext cx="2377440" cy="7315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HÁBITOS</a:t>
              </a:r>
              <a:endParaRPr lang="es-AR" sz="1350" dirty="0">
                <a:latin typeface="Fira Sans Condensed"/>
              </a:endParaRPr>
            </a:p>
          </p:txBody>
        </p:sp>
        <p:sp>
          <p:nvSpPr>
            <p:cNvPr id="15" name="Forma 14"/>
            <p:cNvSpPr/>
            <p:nvPr/>
          </p:nvSpPr>
          <p:spPr>
            <a:xfrm>
              <a:off x="6035040" y="278892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Sedentarismo extremo · alimentos hiperpalatables frecuentes · </a:t>
              </a:r>
              <a:r>
                <a:rPr lang="es-AR" sz="1400" b="1" dirty="0">
                  <a:solidFill>
                    <a:srgbClr val="1E1E1E"/>
                  </a:solidFill>
                  <a:latin typeface="Fira Sans Condensed"/>
                  <a:ea typeface="Fira Sans Condensed"/>
                  <a:cs typeface="Fira Sans Condensed"/>
                  <a:sym typeface="Fira Sans Condensed"/>
                </a:rPr>
                <a:t>tabaquismo 40 cigarrillos/día</a:t>
              </a:r>
              <a:endParaRPr lang="es-AR" sz="1400" dirty="0">
                <a:latin typeface="Fira Sans Condensed"/>
              </a:endParaRPr>
            </a:p>
          </p:txBody>
        </p:sp>
      </p:grpSp>
      <p:grpSp>
        <p:nvGrpSpPr>
          <p:cNvPr id="16" name="Dato SUEÑO"/>
          <p:cNvGrpSpPr/>
          <p:nvPr/>
        </p:nvGrpSpPr>
        <p:grpSpPr>
          <a:xfrm>
            <a:off x="3566160" y="3657600"/>
            <a:ext cx="8275320" cy="731520"/>
            <a:chOff x="3566160" y="3657600"/>
            <a:chExt cx="8275320" cy="731520"/>
          </a:xfrm>
        </p:grpSpPr>
        <p:sp>
          <p:nvSpPr>
            <p:cNvPr id="17" name="Recuadro SUEÑO"/>
            <p:cNvSpPr/>
            <p:nvPr/>
          </p:nvSpPr>
          <p:spPr>
            <a:xfrm>
              <a:off x="3566160" y="3657600"/>
              <a:ext cx="2377440" cy="73152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SUEÑO</a:t>
              </a:r>
              <a:endParaRPr lang="es-AR" sz="1350" dirty="0">
                <a:latin typeface="Fira Sans Condensed"/>
              </a:endParaRPr>
            </a:p>
          </p:txBody>
        </p:sp>
        <p:sp>
          <p:nvSpPr>
            <p:cNvPr id="18" name="Forma 17"/>
            <p:cNvSpPr/>
            <p:nvPr/>
          </p:nvSpPr>
          <p:spPr>
            <a:xfrm>
              <a:off x="6035040" y="365760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Ronquidos intensos</a:t>
              </a:r>
              <a:r>
                <a:rPr lang="es-AR" sz="1400" dirty="0">
                  <a:solidFill>
                    <a:srgbClr val="1E1E1E"/>
                  </a:solidFill>
                  <a:latin typeface="Fira Sans Condensed"/>
                  <a:ea typeface="Fira Sans Condensed"/>
                  <a:cs typeface="Fira Sans Condensed"/>
                  <a:sym typeface="Fira Sans Condensed"/>
                </a:rPr>
                <a:t> y </a:t>
              </a:r>
              <a:r>
                <a:rPr lang="es-AR" sz="1400" b="1" dirty="0">
                  <a:solidFill>
                    <a:srgbClr val="1E1E1E"/>
                  </a:solidFill>
                  <a:latin typeface="Fira Sans Condensed"/>
                  <a:ea typeface="Fira Sans Condensed"/>
                  <a:cs typeface="Fira Sans Condensed"/>
                  <a:sym typeface="Fira Sans Condensed"/>
                </a:rPr>
                <a:t>somnolencia diurna</a:t>
              </a:r>
              <a:endParaRPr lang="es-AR" sz="1400" dirty="0">
                <a:latin typeface="Fira Sans Condensed"/>
              </a:endParaRPr>
            </a:p>
          </p:txBody>
        </p:sp>
      </p:grpSp>
      <p:grpSp>
        <p:nvGrpSpPr>
          <p:cNvPr id="19" name="Dato PSICOSOCIAL"/>
          <p:cNvGrpSpPr/>
          <p:nvPr/>
        </p:nvGrpSpPr>
        <p:grpSpPr>
          <a:xfrm>
            <a:off x="3566160" y="4526280"/>
            <a:ext cx="8275320" cy="731520"/>
            <a:chOff x="3566160" y="4526280"/>
            <a:chExt cx="8275320" cy="731520"/>
          </a:xfrm>
        </p:grpSpPr>
        <p:sp>
          <p:nvSpPr>
            <p:cNvPr id="20" name="Recuadro PSICOSOCIAL"/>
            <p:cNvSpPr/>
            <p:nvPr/>
          </p:nvSpPr>
          <p:spPr>
            <a:xfrm>
              <a:off x="3566160" y="4526280"/>
              <a:ext cx="2377440" cy="73152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PSICOSOCIAL</a:t>
              </a:r>
              <a:endParaRPr lang="es-AR" sz="1350" dirty="0">
                <a:latin typeface="Fira Sans Condensed"/>
              </a:endParaRPr>
            </a:p>
          </p:txBody>
        </p:sp>
        <p:sp>
          <p:nvSpPr>
            <p:cNvPr id="21" name="Forma 20"/>
            <p:cNvSpPr/>
            <p:nvPr/>
          </p:nvSpPr>
          <p:spPr>
            <a:xfrm>
              <a:off x="6035040" y="452628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Dificultades físicas y psicosociales · desempleo · aislamiento · </a:t>
              </a:r>
              <a:r>
                <a:rPr lang="es-AR" sz="1400" b="1" dirty="0">
                  <a:solidFill>
                    <a:srgbClr val="1E1E1E"/>
                  </a:solidFill>
                  <a:latin typeface="Fira Sans Condensed"/>
                  <a:ea typeface="Fira Sans Condensed"/>
                  <a:cs typeface="Fira Sans Condensed"/>
                  <a:sym typeface="Fira Sans Condensed"/>
                </a:rPr>
                <a:t>juego patológico</a:t>
              </a:r>
              <a:endParaRPr lang="es-AR" sz="1400" dirty="0">
                <a:latin typeface="Fira Sans Condensed"/>
              </a:endParaRPr>
            </a:p>
          </p:txBody>
        </p:sp>
      </p:grpSp>
      <p:grpSp>
        <p:nvGrpSpPr>
          <p:cNvPr id="22" name="Dato ANTECEDENTES"/>
          <p:cNvGrpSpPr/>
          <p:nvPr/>
        </p:nvGrpSpPr>
        <p:grpSpPr>
          <a:xfrm>
            <a:off x="3566160" y="5394960"/>
            <a:ext cx="8275320" cy="731520"/>
            <a:chOff x="3566160" y="5394960"/>
            <a:chExt cx="8275320" cy="731520"/>
          </a:xfrm>
        </p:grpSpPr>
        <p:sp>
          <p:nvSpPr>
            <p:cNvPr id="23" name="Recuadro ANTECEDENTES"/>
            <p:cNvSpPr/>
            <p:nvPr/>
          </p:nvSpPr>
          <p:spPr>
            <a:xfrm>
              <a:off x="3566160" y="5394960"/>
              <a:ext cx="2377440" cy="73152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ANTECEDENTES</a:t>
              </a:r>
              <a:endParaRPr lang="es-AR" sz="1350" dirty="0">
                <a:latin typeface="Fira Sans Condensed"/>
              </a:endParaRPr>
            </a:p>
          </p:txBody>
        </p:sp>
        <p:sp>
          <p:nvSpPr>
            <p:cNvPr id="24" name="Forma 23"/>
            <p:cNvSpPr/>
            <p:nvPr/>
          </p:nvSpPr>
          <p:spPr>
            <a:xfrm>
              <a:off x="6035040" y="5394960"/>
              <a:ext cx="5806440" cy="731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Pancreatitis biliar</a:t>
              </a:r>
              <a:r>
                <a:rPr lang="es-AR" sz="1400" dirty="0">
                  <a:solidFill>
                    <a:srgbClr val="1E1E1E"/>
                  </a:solidFill>
                  <a:latin typeface="Fira Sans Condensed"/>
                  <a:ea typeface="Fira Sans Condensed"/>
                  <a:cs typeface="Fira Sans Condensed"/>
                  <a:sym typeface="Fira Sans Condensed"/>
                </a:rPr>
                <a:t> · </a:t>
              </a:r>
              <a:r>
                <a:rPr lang="es-AR" sz="1400" b="1" dirty="0">
                  <a:solidFill>
                    <a:srgbClr val="1E1E1E"/>
                  </a:solidFill>
                  <a:latin typeface="Fira Sans Condensed"/>
                  <a:ea typeface="Fira Sans Condensed"/>
                  <a:cs typeface="Fira Sans Condensed"/>
                  <a:sym typeface="Fira Sans Condensed"/>
                </a:rPr>
                <a:t>hernia inguinal bilateral</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CASO 20 · PRESENTACIÓN CLÍNICA</a:t>
            </a:r>
            <a:endParaRPr lang="es-AR" sz="34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aphicFrame>
        <p:nvGraphicFramePr>
          <p:cNvPr id="7" name="Lab caso 20"/>
          <p:cNvGraphicFramePr>
            <a:graphicFrameLocks noGrp="1"/>
          </p:cNvGraphicFramePr>
          <p:nvPr/>
        </p:nvGraphicFramePr>
        <p:xfrm>
          <a:off x="365760" y="1051560"/>
          <a:ext cx="6035040" cy="2926080"/>
        </p:xfrm>
        <a:graphic>
          <a:graphicData uri="http://schemas.openxmlformats.org/drawingml/2006/table">
            <a:tbl>
              <a:tblPr firstRow="1" bandRow="1"/>
              <a:tblGrid>
                <a:gridCol w="2103120"/>
                <a:gridCol w="1463040"/>
                <a:gridCol w="2468880"/>
              </a:tblGrid>
              <a:tr h="365760">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Analito</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Valor</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400" b="1" dirty="0">
                          <a:solidFill>
                            <a:srgbClr val="1E1E1E"/>
                          </a:solidFill>
                          <a:latin typeface="Fira Sans Condensed"/>
                          <a:ea typeface="Fira Sans Condensed"/>
                          <a:cs typeface="Fira Sans Condensed"/>
                          <a:sym typeface="Fira Sans Condensed"/>
                        </a:rPr>
                        <a:t>Lectura</a:t>
                      </a:r>
                      <a:endParaRPr lang="es-AR" sz="14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Glucosa</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145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Ayuno no especificado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Colesterol total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250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Elevado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LDL-C</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183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Elevado (método no indicado)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HDL-C</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30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Bajo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Triglicéridos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185 mg/dL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Elevados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AST</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29 U/L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«Normal»</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Función renal / iones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Normales</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50" dirty="0">
                          <a:solidFill>
                            <a:srgbClr val="1E1E1E"/>
                          </a:solidFill>
                          <a:latin typeface="Fira Sans Condensed"/>
                          <a:ea typeface="Fira Sans Condensed"/>
                          <a:cs typeface="Fira Sans Condensed"/>
                          <a:sym typeface="Fira Sans Condensed"/>
                        </a:rPr>
                        <a:t>No excluye daño temprano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8" name="Problema 0"/>
          <p:cNvSpPr/>
          <p:nvPr/>
        </p:nvSpPr>
        <p:spPr>
          <a:xfrm>
            <a:off x="6675120" y="1051560"/>
            <a:ext cx="2514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Obesidad clase III</a:t>
            </a:r>
            <a:endParaRPr lang="es-AR" sz="1250" dirty="0">
              <a:latin typeface="Fira Sans Condensed"/>
            </a:endParaRPr>
          </a:p>
        </p:txBody>
      </p:sp>
      <p:sp>
        <p:nvSpPr>
          <p:cNvPr id="9" name="Problema 1"/>
          <p:cNvSpPr/>
          <p:nvPr/>
        </p:nvSpPr>
        <p:spPr>
          <a:xfrm>
            <a:off x="9281160" y="1051560"/>
            <a:ext cx="2514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Adiposidad central</a:t>
            </a:r>
            <a:endParaRPr lang="es-AR" sz="1250" dirty="0">
              <a:latin typeface="Fira Sans Condensed"/>
            </a:endParaRPr>
          </a:p>
        </p:txBody>
      </p:sp>
      <p:sp>
        <p:nvSpPr>
          <p:cNvPr id="10" name="Problema 2"/>
          <p:cNvSpPr/>
          <p:nvPr/>
        </p:nvSpPr>
        <p:spPr>
          <a:xfrm>
            <a:off x="6675120" y="1709928"/>
            <a:ext cx="2514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HTA en cifras elevadas</a:t>
            </a:r>
            <a:endParaRPr lang="es-AR" sz="1250" dirty="0">
              <a:latin typeface="Fira Sans Condensed"/>
            </a:endParaRPr>
          </a:p>
        </p:txBody>
      </p:sp>
      <p:sp>
        <p:nvSpPr>
          <p:cNvPr id="11" name="Problema 3"/>
          <p:cNvSpPr/>
          <p:nvPr/>
        </p:nvSpPr>
        <p:spPr>
          <a:xfrm>
            <a:off x="9281160" y="1709928"/>
            <a:ext cx="2514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Dislipidemia aterogénica</a:t>
            </a:r>
            <a:endParaRPr lang="es-AR" sz="1250" dirty="0">
              <a:latin typeface="Fira Sans Condensed"/>
            </a:endParaRPr>
          </a:p>
        </p:txBody>
      </p:sp>
      <p:sp>
        <p:nvSpPr>
          <p:cNvPr id="12" name="Problema 4"/>
          <p:cNvSpPr/>
          <p:nvPr/>
        </p:nvSpPr>
        <p:spPr>
          <a:xfrm>
            <a:off x="6675120" y="2368296"/>
            <a:ext cx="2514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Hiperglucemia a confirmar</a:t>
            </a:r>
            <a:endParaRPr lang="es-AR" sz="1250" dirty="0">
              <a:latin typeface="Fira Sans Condensed"/>
            </a:endParaRPr>
          </a:p>
        </p:txBody>
      </p:sp>
      <p:sp>
        <p:nvSpPr>
          <p:cNvPr id="13" name="Problema 5"/>
          <p:cNvSpPr/>
          <p:nvPr/>
        </p:nvSpPr>
        <p:spPr>
          <a:xfrm>
            <a:off x="9281160" y="2368296"/>
            <a:ext cx="25146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Alta sospecha de AOS</a:t>
            </a:r>
            <a:endParaRPr lang="es-AR" sz="1250" dirty="0">
              <a:latin typeface="Fira Sans Condensed"/>
            </a:endParaRPr>
          </a:p>
        </p:txBody>
      </p:sp>
      <p:sp>
        <p:nvSpPr>
          <p:cNvPr id="14" name="Problema 6"/>
          <p:cNvSpPr/>
          <p:nvPr/>
        </p:nvSpPr>
        <p:spPr>
          <a:xfrm>
            <a:off x="6675120" y="3026664"/>
            <a:ext cx="25146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Riesgo cardiometabólico</a:t>
            </a:r>
            <a:endParaRPr lang="es-AR" sz="1250" dirty="0">
              <a:latin typeface="Fira Sans Condensed"/>
            </a:endParaRPr>
          </a:p>
        </p:txBody>
      </p:sp>
      <p:sp>
        <p:nvSpPr>
          <p:cNvPr id="15" name="Problema 7"/>
          <p:cNvSpPr/>
          <p:nvPr/>
        </p:nvSpPr>
        <p:spPr>
          <a:xfrm>
            <a:off x="9281160" y="3026664"/>
            <a:ext cx="25146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Tabaquismo</a:t>
            </a:r>
            <a:endParaRPr lang="es-AR" sz="1250" dirty="0">
              <a:latin typeface="Fira Sans Condensed"/>
            </a:endParaRPr>
          </a:p>
        </p:txBody>
      </p:sp>
      <p:sp>
        <p:nvSpPr>
          <p:cNvPr id="16" name="Problema 8"/>
          <p:cNvSpPr/>
          <p:nvPr/>
        </p:nvSpPr>
        <p:spPr>
          <a:xfrm>
            <a:off x="6675120" y="3685032"/>
            <a:ext cx="25146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Movilidad e impacto psicosocial</a:t>
            </a:r>
            <a:endParaRPr lang="es-AR" sz="1250" dirty="0">
              <a:latin typeface="Fira Sans Condensed"/>
            </a:endParaRPr>
          </a:p>
        </p:txBody>
      </p:sp>
      <p:sp>
        <p:nvSpPr>
          <p:cNvPr id="17" name="Perla clínica"/>
          <p:cNvSpPr/>
          <p:nvPr/>
        </p:nvSpPr>
        <p:spPr>
          <a:xfrm>
            <a:off x="365760" y="4800600"/>
            <a:ext cx="11475720" cy="14630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Somnolencia y disnea exigen buscar </a:t>
            </a:r>
            <a:r>
              <a:rPr lang="es-AR" sz="1450" b="1" dirty="0">
                <a:solidFill>
                  <a:srgbClr val="FFFFFF"/>
                </a:solidFill>
                <a:latin typeface="Fira Sans Condensed"/>
                <a:ea typeface="Fira Sans Condensed"/>
                <a:cs typeface="Fira Sans Condensed"/>
                <a:sym typeface="Fira Sans Condensed"/>
              </a:rPr>
              <a:t>AOS</a:t>
            </a:r>
            <a:r>
              <a:rPr lang="es-AR" sz="1450" dirty="0">
                <a:solidFill>
                  <a:srgbClr val="FFFFFF"/>
                </a:solidFill>
                <a:latin typeface="Fira Sans Condensed"/>
                <a:ea typeface="Fira Sans Condensed"/>
                <a:cs typeface="Fira Sans Condensed"/>
                <a:sym typeface="Fira Sans Condensed"/>
              </a:rPr>
              <a:t>, </a:t>
            </a:r>
            <a:r>
              <a:rPr lang="es-AR" sz="1450" b="1" dirty="0">
                <a:solidFill>
                  <a:srgbClr val="FFFFFF"/>
                </a:solidFill>
                <a:latin typeface="Fira Sans Condensed"/>
                <a:ea typeface="Fira Sans Condensed"/>
                <a:cs typeface="Fira Sans Condensed"/>
                <a:sym typeface="Fira Sans Condensed"/>
              </a:rPr>
              <a:t>síndrome de hipoventilación por obesidad</a:t>
            </a:r>
            <a:r>
              <a:rPr lang="es-AR" sz="1450" dirty="0">
                <a:solidFill>
                  <a:srgbClr val="FFFFFF"/>
                </a:solidFill>
                <a:latin typeface="Fira Sans Condensed"/>
                <a:ea typeface="Fira Sans Condensed"/>
                <a:cs typeface="Fira Sans Condensed"/>
                <a:sym typeface="Fira Sans Condensed"/>
              </a:rPr>
              <a:t>, </a:t>
            </a:r>
            <a:r>
              <a:rPr lang="es-AR" sz="1450" b="1" dirty="0">
                <a:solidFill>
                  <a:srgbClr val="FFFFFF"/>
                </a:solidFill>
                <a:latin typeface="Fira Sans Condensed"/>
                <a:ea typeface="Fira Sans Condensed"/>
                <a:cs typeface="Fira Sans Condensed"/>
                <a:sym typeface="Fira Sans Condensed"/>
              </a:rPr>
              <a:t>EPOC</a:t>
            </a:r>
            <a:r>
              <a:rPr lang="es-AR" sz="1450" dirty="0">
                <a:solidFill>
                  <a:srgbClr val="FFFFFF"/>
                </a:solidFill>
                <a:latin typeface="Fira Sans Condensed"/>
                <a:ea typeface="Fira Sans Condensed"/>
                <a:cs typeface="Fira Sans Condensed"/>
                <a:sym typeface="Fira Sans Condensed"/>
              </a:rPr>
              <a:t> por tabaquismo y otros diagnósticos, </a:t>
            </a:r>
            <a:r>
              <a:rPr lang="es-AR" sz="1450" b="1" dirty="0">
                <a:solidFill>
                  <a:srgbClr val="FFFFFF"/>
                </a:solidFill>
                <a:latin typeface="Fira Sans Condensed"/>
                <a:ea typeface="Fira Sans Condensed"/>
                <a:cs typeface="Fira Sans Condensed"/>
                <a:sym typeface="Fira Sans Condensed"/>
              </a:rPr>
              <a:t>sin atribuir todo automáticamente a la obesidad</a:t>
            </a:r>
            <a:r>
              <a:rPr lang="es-AR" sz="1450" dirty="0">
                <a:solidFill>
                  <a:srgbClr val="FFFFFF"/>
                </a:solidFill>
                <a:latin typeface="Fira Sans Condensed"/>
                <a:ea typeface="Fira Sans Condensed"/>
                <a:cs typeface="Fira Sans Condensed"/>
                <a:sym typeface="Fira Sans Condensed"/>
              </a:rPr>
              <a:t>. Sokolow–Lyon orienta a HVI, </a:t>
            </a:r>
            <a:r>
              <a:rPr lang="es-AR" sz="1450" b="1" dirty="0">
                <a:solidFill>
                  <a:srgbClr val="FFFFFF"/>
                </a:solidFill>
                <a:latin typeface="Fira Sans Condensed"/>
                <a:ea typeface="Fira Sans Condensed"/>
                <a:cs typeface="Fira Sans Condensed"/>
                <a:sym typeface="Fira Sans Condensed"/>
              </a:rPr>
              <a:t>no la confirma</a:t>
            </a:r>
            <a:r>
              <a:rPr lang="es-AR" sz="1450" dirty="0">
                <a:solidFill>
                  <a:srgbClr val="FFFFFF"/>
                </a:solidFill>
                <a:latin typeface="Fira Sans Condensed"/>
                <a:ea typeface="Fira Sans Condensed"/>
                <a:cs typeface="Fira Sans Condensed"/>
                <a:sym typeface="Fira Sans Condensed"/>
              </a:rPr>
              <a:t>.</a:t>
            </a:r>
            <a:endParaRPr lang="es-AR" sz="1450" dirty="0">
              <a:latin typeface="Fira Sans Condensed"/>
            </a:endParaRPr>
          </a:p>
        </p:txBody>
      </p:sp>
      <p:sp>
        <p:nvSpPr>
          <p:cNvPr id="5"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CASO 20 · LABORATORIO Y PROBLEMAS IDENTIFICABLES</a:t>
            </a:r>
            <a:endParaRPr lang="es-AR" sz="29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00"/>
                                        <p:tgtEl>
                                          <p:spTgt spid="8"/>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00"/>
                                        <p:tgtEl>
                                          <p:spTgt spid="9"/>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childTnLst>
                          </p:cTn>
                        </p:par>
                        <p:par>
                          <p:cTn id="18"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00"/>
                                        <p:tgtEl>
                                          <p:spTgt spid="11"/>
                                        </p:tgtEl>
                                      </p:cBhvr>
                                    </p:animEffect>
                                  </p:childTnLst>
                                </p:cTn>
                              </p:par>
                            </p:childTnLst>
                          </p:cTn>
                        </p:par>
                        <p:par>
                          <p:cTn id="22"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00"/>
                                        <p:tgtEl>
                                          <p:spTgt spid="12"/>
                                        </p:tgtEl>
                                      </p:cBhvr>
                                    </p:animEffect>
                                  </p:childTnLst>
                                </p:cTn>
                              </p:par>
                            </p:childTnLst>
                          </p:cTn>
                        </p:par>
                        <p:par>
                          <p:cTn id="26"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00"/>
                                        <p:tgtEl>
                                          <p:spTgt spid="13"/>
                                        </p:tgtEl>
                                      </p:cBhvr>
                                    </p:animEffect>
                                  </p:childTnLst>
                                </p:cTn>
                              </p:par>
                            </p:childTnLst>
                          </p:cTn>
                        </p:par>
                        <p:par>
                          <p:cTn id="30" fill="hold">
                            <p:stCondLst>
                              <p:cond delay="12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
                                        <p:tgtEl>
                                          <p:spTgt spid="14"/>
                                        </p:tgtEl>
                                      </p:cBhvr>
                                    </p:animEffect>
                                  </p:childTnLst>
                                </p:cTn>
                              </p:par>
                            </p:childTnLst>
                          </p:cTn>
                        </p:par>
                        <p:par>
                          <p:cTn id="34" fill="hold">
                            <p:stCondLst>
                              <p:cond delay="14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00"/>
                                        <p:tgtEl>
                                          <p:spTgt spid="15"/>
                                        </p:tgtEl>
                                      </p:cBhvr>
                                    </p:animEffect>
                                  </p:childTnLst>
                                </p:cTn>
                              </p:par>
                            </p:childTnLst>
                          </p:cTn>
                        </p:par>
                        <p:par>
                          <p:cTn id="38" fill="hold">
                            <p:stCondLst>
                              <p:cond delay="16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p:tgtEl>
                                          <p:spTgt spid="16"/>
                                        </p:tgtEl>
                                      </p:cBhvr>
                                    </p:animEffect>
                                  </p:childTnLst>
                                </p:cTn>
                              </p:par>
                            </p:childTnLst>
                          </p:cTn>
                        </p:par>
                      </p:childTnLst>
                    </p:cTn>
                  </p:par>
                  <p:par>
                    <p:cTn id="46" fill="hold">
                      <p:stCondLst>
                        <p:cond delay="indefinite"/>
                      </p:stCondLst>
                      <p:childTnLst>
                        <p:par>
                          <p:cTn id="4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500" fill="hold"/>
                                        <p:tgtEl>
                                          <p:spTgt spid="17"/>
                                        </p:tgtEl>
                                        <p:attrNameLst>
                                          <p:attrName>ppt_w</p:attrName>
                                        </p:attrNameLst>
                                      </p:cBhvr>
                                      <p:tavLst>
                                        <p:tav tm="0">
                                          <p:val>
                                            <p:fltVal val="0"/>
                                          </p:val>
                                        </p:tav>
                                        <p:tav tm="100000">
                                          <p:val>
                                            <p:strVal val="#ppt_w"/>
                                          </p:val>
                                        </p:tav>
                                      </p:tavLst>
                                    </p:anim>
                                    <p:anim calcmode="lin" valueType="num">
                                      <p:cBhvr>
                                        <p:cTn id="43" dur="500" fill="hold"/>
                                        <p:tgtEl>
                                          <p:spTgt spid="17"/>
                                        </p:tgtEl>
                                        <p:attrNameLst>
                                          <p:attrName>ppt_h</p:attrName>
                                        </p:attrNameLst>
                                      </p:cBhvr>
                                      <p:tavLst>
                                        <p:tav tm="0">
                                          <p:val>
                                            <p:fltVal val="0"/>
                                          </p:val>
                                        </p:tav>
                                        <p:tav tm="100000">
                                          <p:val>
                                            <p:strVal val="#ppt_h"/>
                                          </p:val>
                                        </p:tav>
                                      </p:tavLst>
                                    </p:anim>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Cuadro Definición"/>
          <p:cNvGrpSpPr/>
          <p:nvPr/>
        </p:nvGrpSpPr>
        <p:grpSpPr>
          <a:xfrm>
            <a:off x="365760" y="1051560"/>
            <a:ext cx="5852160" cy="2468880"/>
            <a:chOff x="365760" y="1051560"/>
            <a:chExt cx="5852160" cy="2468880"/>
          </a:xfrm>
        </p:grpSpPr>
        <p:sp>
          <p:nvSpPr>
            <p:cNvPr id="8" name="Forma 7"/>
            <p:cNvSpPr/>
            <p:nvPr/>
          </p:nvSpPr>
          <p:spPr>
            <a:xfrm>
              <a:off x="365760" y="1252728"/>
              <a:ext cx="5852160" cy="22677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600" dirty="0">
                  <a:solidFill>
                    <a:srgbClr val="1E1E1E"/>
                  </a:solidFill>
                  <a:latin typeface="Fira Sans Condensed"/>
                  <a:ea typeface="Fira Sans Condensed"/>
                  <a:cs typeface="Fira Sans Condensed"/>
                  <a:sym typeface="Fira Sans Condensed"/>
                </a:rPr>
                <a:t>Enfermedad </a:t>
              </a:r>
              <a:r>
                <a:rPr lang="es-AR" sz="1600" b="1" dirty="0">
                  <a:solidFill>
                    <a:srgbClr val="1E1E1E"/>
                  </a:solidFill>
                  <a:latin typeface="Fira Sans Condensed"/>
                  <a:ea typeface="Fira Sans Condensed"/>
                  <a:cs typeface="Fira Sans Condensed"/>
                  <a:sym typeface="Fira Sans Condensed"/>
                </a:rPr>
                <a:t>crónica, recidivante y multifactorial</a:t>
              </a:r>
              <a:r>
                <a:rPr lang="es-AR" sz="1600" dirty="0">
                  <a:solidFill>
                    <a:srgbClr val="1E1E1E"/>
                  </a:solidFill>
                  <a:latin typeface="Fira Sans Condensed"/>
                  <a:ea typeface="Fira Sans Condensed"/>
                  <a:cs typeface="Fira Sans Condensed"/>
                  <a:sym typeface="Fira Sans Condensed"/>
                </a:rPr>
                <a:t> caracterizada por </a:t>
              </a:r>
              <a:r>
                <a:rPr lang="es-AR" sz="1600" b="1" dirty="0">
                  <a:solidFill>
                    <a:srgbClr val="1E1E1E"/>
                  </a:solidFill>
                  <a:latin typeface="Fira Sans Condensed"/>
                  <a:ea typeface="Fira Sans Condensed"/>
                  <a:cs typeface="Fira Sans Condensed"/>
                  <a:sym typeface="Fira Sans Condensed"/>
                </a:rPr>
                <a:t>exceso de adiposidad que compromete la salud</a:t>
              </a:r>
              <a:r>
                <a:rPr lang="es-AR" sz="1600" dirty="0">
                  <a:solidFill>
                    <a:srgbClr val="1E1E1E"/>
                  </a:solidFill>
                  <a:latin typeface="Fira Sans Condensed"/>
                  <a:ea typeface="Fira Sans Condensed"/>
                  <a:cs typeface="Fira Sans Condensed"/>
                  <a:sym typeface="Fira Sans Condensed"/>
                </a:rPr>
                <a:t>, con factores </a:t>
              </a:r>
              <a:r>
                <a:rPr lang="es-AR" sz="1600" b="1" dirty="0">
                  <a:solidFill>
                    <a:srgbClr val="1E1E1E"/>
                  </a:solidFill>
                  <a:latin typeface="Fira Sans Condensed"/>
                  <a:ea typeface="Fira Sans Condensed"/>
                  <a:cs typeface="Fira Sans Condensed"/>
                  <a:sym typeface="Fira Sans Condensed"/>
                </a:rPr>
                <a:t>biológicos, ambientales, conductuales, psicológicos, sociales y económicos</a:t>
              </a:r>
              <a:r>
                <a:rPr lang="es-AR" sz="1600" dirty="0">
                  <a:solidFill>
                    <a:srgbClr val="1E1E1E"/>
                  </a:solidFill>
                  <a:latin typeface="Fira Sans Condensed"/>
                  <a:ea typeface="Fira Sans Condensed"/>
                  <a:cs typeface="Fira Sans Condensed"/>
                  <a:sym typeface="Fira Sans Condensed"/>
                </a:rPr>
                <a:t>.</a:t>
              </a:r>
              <a:endParaRPr lang="es-AR" sz="1600" dirty="0">
                <a:latin typeface="Fira Sans Condensed"/>
              </a:endParaRPr>
            </a:p>
          </p:txBody>
        </p:sp>
        <p:sp>
          <p:nvSpPr>
            <p:cNvPr id="9" name="Forma 8"/>
            <p:cNvSpPr/>
            <p:nvPr/>
          </p:nvSpPr>
          <p:spPr>
            <a:xfrm>
              <a:off x="502920" y="1051560"/>
              <a:ext cx="1253992"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DEFINICIÓN</a:t>
              </a:r>
              <a:endParaRPr lang="es-AR" sz="1400" dirty="0">
                <a:latin typeface="Fira Sans Condensed"/>
              </a:endParaRPr>
            </a:p>
          </p:txBody>
        </p:sp>
      </p:grpSp>
      <p:graphicFrame>
        <p:nvGraphicFramePr>
          <p:cNvPr id="10" name="Tabla IMC"/>
          <p:cNvGraphicFramePr>
            <a:graphicFrameLocks noGrp="1"/>
          </p:cNvGraphicFramePr>
          <p:nvPr/>
        </p:nvGraphicFramePr>
        <p:xfrm>
          <a:off x="6492240" y="1051560"/>
          <a:ext cx="5349240" cy="2194560"/>
        </p:xfrm>
        <a:graphic>
          <a:graphicData uri="http://schemas.openxmlformats.org/drawingml/2006/table">
            <a:tbl>
              <a:tblPr firstRow="1" bandRow="1"/>
              <a:tblGrid>
                <a:gridCol w="3291840"/>
                <a:gridCol w="2057400"/>
              </a:tblGrid>
              <a:tr h="365760">
                <a:tc>
                  <a:txBody>
                    <a:bodyPr/>
                    <a:lstStyle/>
                    <a:p>
                      <a:pPr algn="l">
                        <a:spcAft>
                          <a:spcPts val="100"/>
                        </a:spcAft>
                        <a:buNone/>
                      </a:pPr>
                      <a:r>
                        <a:rPr lang="es-AR" sz="1550" b="1" dirty="0">
                          <a:solidFill>
                            <a:srgbClr val="1E1E1E"/>
                          </a:solidFill>
                          <a:latin typeface="Fira Sans Condensed"/>
                          <a:ea typeface="Fira Sans Condensed"/>
                          <a:cs typeface="Fira Sans Condensed"/>
                          <a:sym typeface="Fira Sans Condensed"/>
                        </a:rPr>
                        <a:t>Clasificación adulta por IMC</a:t>
                      </a:r>
                      <a:endParaRPr lang="es-AR" sz="15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550" b="1" dirty="0">
                          <a:solidFill>
                            <a:srgbClr val="1E1E1E"/>
                          </a:solidFill>
                          <a:latin typeface="Fira Sans Condensed"/>
                          <a:ea typeface="Fira Sans Condensed"/>
                          <a:cs typeface="Fira Sans Condensed"/>
                          <a:sym typeface="Fira Sans Condensed"/>
                        </a:rPr>
                        <a:t>kg/m²</a:t>
                      </a:r>
                      <a:endParaRPr lang="es-AR" sz="15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Normopeso convencional</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18,5–24,9</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Sobrepeso</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25,0–29,9</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Obesidad clase I</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30,0–34,9</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Obesidad clase II</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35,0–39,9</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Obesidad clase III</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 40,0</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11" name="Marca clase III"/>
          <p:cNvSpPr/>
          <p:nvPr/>
        </p:nvSpPr>
        <p:spPr>
          <a:xfrm>
            <a:off x="6455664" y="2862072"/>
            <a:ext cx="5422392" cy="402336"/>
          </a:xfrm>
          <a:prstGeom prst="rect">
            <a:avLst/>
          </a:prstGeom>
          <a:noFill/>
          <a:ln w="50800" cap="rnd">
            <a:solidFill>
              <a:srgbClr val="C00000"/>
            </a:solidFill>
            <a:round/>
          </a:ln>
        </p:spPr>
      </p:sp>
      <p:sp>
        <p:nvSpPr>
          <p:cNvPr id="12" name="Forma 11"/>
          <p:cNvSpPr/>
          <p:nvPr/>
        </p:nvSpPr>
        <p:spPr>
          <a:xfrm>
            <a:off x="365760" y="3749040"/>
            <a:ext cx="5852160" cy="14630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El IMC </a:t>
            </a:r>
            <a:r>
              <a:rPr lang="es-AR" sz="1450" b="1" dirty="0">
                <a:solidFill>
                  <a:srgbClr val="1E1E1E"/>
                </a:solidFill>
                <a:latin typeface="Fira Sans Condensed"/>
                <a:ea typeface="Fira Sans Condensed"/>
                <a:cs typeface="Fira Sans Condensed"/>
                <a:sym typeface="Fira Sans Condensed"/>
              </a:rPr>
              <a:t>no mide</a:t>
            </a:r>
            <a:r>
              <a:rPr lang="es-AR" sz="1450" dirty="0">
                <a:solidFill>
                  <a:srgbClr val="1E1E1E"/>
                </a:solidFill>
                <a:latin typeface="Fira Sans Condensed"/>
                <a:ea typeface="Fira Sans Condensed"/>
                <a:cs typeface="Fira Sans Condensed"/>
                <a:sym typeface="Fira Sans Condensed"/>
              </a:rPr>
              <a:t> composición corporal, distribución de grasa ni el compromiso clínico: se complementa con </a:t>
            </a:r>
            <a:r>
              <a:rPr lang="es-AR" sz="1450" b="1" dirty="0">
                <a:solidFill>
                  <a:srgbClr val="1E1E1E"/>
                </a:solidFill>
                <a:latin typeface="Fira Sans Condensed"/>
                <a:ea typeface="Fira Sans Condensed"/>
                <a:cs typeface="Fira Sans Condensed"/>
                <a:sym typeface="Fira Sans Condensed"/>
              </a:rPr>
              <a:t>cintura, complicaciones, antecedentes y evaluación funcional</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13" name="Perla clínica"/>
          <p:cNvSpPr/>
          <p:nvPr/>
        </p:nvSpPr>
        <p:spPr>
          <a:xfrm>
            <a:off x="365760" y="5440680"/>
            <a:ext cx="11475720" cy="8229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Preferir «obesidad clase III con complicaciones» a términos históricos como «obesidad mórbida»: evitar expresiones </a:t>
            </a:r>
            <a:r>
              <a:rPr lang="es-AR" sz="1500" b="1" dirty="0">
                <a:solidFill>
                  <a:srgbClr val="FFFFFF"/>
                </a:solidFill>
                <a:latin typeface="Fira Sans Condensed"/>
                <a:ea typeface="Fira Sans Condensed"/>
                <a:cs typeface="Fira Sans Condensed"/>
                <a:sym typeface="Fira Sans Condensed"/>
              </a:rPr>
              <a:t>estigmatizantes</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PREGUNTA 1 · DEFINICIÓN Y CLASIFICACIÓN DE LA OBESIDAD</a:t>
            </a:r>
            <a:endParaRPr lang="es-AR" sz="27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500"/>
                                        <p:tgtEl>
                                          <p:spTgt spid="10"/>
                                        </p:tgtEl>
                                      </p:cBhvr>
                                    </p:animEffect>
                                  </p:childTnLst>
                                </p:cTn>
                              </p:par>
                            </p:childTnLst>
                          </p:cTn>
                        </p:par>
                        <p:par>
                          <p:cTn id="12" fill="hold">
                            <p:stCondLst>
                              <p:cond delay="500"/>
                            </p:stCondLst>
                            <p:childTnLst>
                              <p:par>
                                <p:cTn id="7" presetID="53" presetClass="entr" presetSubtype="16"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p:cTn id="9" dur="500" fill="hold"/>
                                        <p:tgtEl>
                                          <p:spTgt spid="11"/>
                                        </p:tgtEl>
                                        <p:attrNameLst>
                                          <p:attrName>ppt_w</p:attrName>
                                        </p:attrNameLst>
                                      </p:cBhvr>
                                      <p:tavLst>
                                        <p:tav tm="0">
                                          <p:val>
                                            <p:fltVal val="0"/>
                                          </p:val>
                                        </p:tav>
                                        <p:tav tm="100000">
                                          <p:val>
                                            <p:strVal val="#ppt_w"/>
                                          </p:val>
                                        </p:tav>
                                      </p:tavLst>
                                    </p:anim>
                                    <p:anim calcmode="lin" valueType="num">
                                      <p:cBhvr>
                                        <p:cTn id="10" dur="500" fill="hold"/>
                                        <p:tgtEl>
                                          <p:spTgt spid="11"/>
                                        </p:tgtEl>
                                        <p:attrNameLst>
                                          <p:attrName>ppt_h</p:attrName>
                                        </p:attrNameLst>
                                      </p:cBhvr>
                                      <p:tavLst>
                                        <p:tav tm="0">
                                          <p:val>
                                            <p:fltVal val="0"/>
                                          </p:val>
                                        </p:tav>
                                        <p:tav tm="100000">
                                          <p:val>
                                            <p:strVal val="#ppt_h"/>
                                          </p:val>
                                        </p:tav>
                                      </p:tavLst>
                                    </p:anim>
                                    <p:animEffect transition="in" filter="fade">
                                      <p:cBhvr>
                                        <p:cTn id="11" dur="500"/>
                                        <p:tgtEl>
                                          <p:spTgt spid="11"/>
                                        </p:tgtEl>
                                      </p:cBhvr>
                                    </p:animEffect>
                                  </p:childTnLst>
                                </p:cTn>
                              </p:par>
                            </p:childTnLst>
                          </p:cTn>
                        </p:par>
                      </p:childTnLst>
                    </p:cTn>
                  </p:par>
                  <p:par>
                    <p:cTn id="18" fill="hold">
                      <p:stCondLst>
                        <p:cond delay="indefinite"/>
                      </p:stCondLst>
                      <p:childTnLst>
                        <p:par>
                          <p:cTn id="17"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25" fill="hold">
                      <p:stCondLst>
                        <p:cond delay="indefinite"/>
                      </p:stCondLst>
                      <p:childTnLst>
                        <p:par>
                          <p:cTn id="24"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sp>
        <p:nvSpPr>
          <p:cNvPr id="7" name="Fórmula"/>
          <p:cNvSpPr/>
          <p:nvPr/>
        </p:nvSpPr>
        <p:spPr>
          <a:xfrm>
            <a:off x="365760" y="1097280"/>
            <a:ext cx="5852160" cy="82296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400" b="1" dirty="0">
                <a:solidFill>
                  <a:srgbClr val="1E1E1E"/>
                </a:solidFill>
                <a:latin typeface="Fira Sans Condensed"/>
                <a:ea typeface="Fira Sans Condensed"/>
                <a:cs typeface="Fira Sans Condensed"/>
                <a:sym typeface="Fira Sans Condensed"/>
              </a:rPr>
              <a:t>IMC = masa (kg) / talla (m)²</a:t>
            </a:r>
            <a:endParaRPr lang="es-AR" sz="2400" dirty="0">
              <a:latin typeface="Fira Sans Condensed"/>
            </a:endParaRPr>
          </a:p>
        </p:txBody>
      </p:sp>
      <p:sp>
        <p:nvSpPr>
          <p:cNvPr id="8" name="Fórmula_2"/>
          <p:cNvSpPr/>
          <p:nvPr/>
        </p:nvSpPr>
        <p:spPr>
          <a:xfrm>
            <a:off x="365760" y="2103120"/>
            <a:ext cx="5852160" cy="68580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1E1E1E"/>
                </a:solidFill>
                <a:latin typeface="Fira Sans Condensed"/>
                <a:ea typeface="Fira Sans Condensed"/>
                <a:cs typeface="Fira Sans Condensed"/>
                <a:sym typeface="Fira Sans Condensed"/>
              </a:rPr>
              <a:t>1,70² = 2,89 m²</a:t>
            </a:r>
            <a:endParaRPr lang="es-AR" sz="2000" dirty="0">
              <a:latin typeface="Fira Sans Condensed"/>
            </a:endParaRPr>
          </a:p>
        </p:txBody>
      </p:sp>
      <p:sp>
        <p:nvSpPr>
          <p:cNvPr id="9" name="Fórmula_3"/>
          <p:cNvSpPr/>
          <p:nvPr/>
        </p:nvSpPr>
        <p:spPr>
          <a:xfrm>
            <a:off x="365760" y="2971800"/>
            <a:ext cx="5852160" cy="68580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1E1E1E"/>
                </a:solidFill>
                <a:latin typeface="Fira Sans Condensed"/>
                <a:ea typeface="Fira Sans Condensed"/>
                <a:cs typeface="Fira Sans Condensed"/>
                <a:sym typeface="Fira Sans Condensed"/>
              </a:rPr>
              <a:t>170 / 2,89</a:t>
            </a:r>
            <a:endParaRPr lang="es-AR" sz="2000" dirty="0">
              <a:latin typeface="Fira Sans Condensed"/>
            </a:endParaRPr>
          </a:p>
        </p:txBody>
      </p:sp>
      <p:sp>
        <p:nvSpPr>
          <p:cNvPr id="10" name="Fórmula_4"/>
          <p:cNvSpPr/>
          <p:nvPr/>
        </p:nvSpPr>
        <p:spPr>
          <a:xfrm>
            <a:off x="365760" y="3840480"/>
            <a:ext cx="5852160" cy="86868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3000" b="1" dirty="0">
                <a:solidFill>
                  <a:srgbClr val="C00000"/>
                </a:solidFill>
                <a:latin typeface="Fira Sans Condensed"/>
                <a:ea typeface="Fira Sans Condensed"/>
                <a:cs typeface="Fira Sans Condensed"/>
                <a:sym typeface="Fira Sans Condensed"/>
              </a:rPr>
              <a:t>= 58,82 kg/m²</a:t>
            </a:r>
            <a:endParaRPr lang="es-AR" sz="3000" dirty="0">
              <a:latin typeface="Fira Sans Condensed"/>
            </a:endParaRPr>
          </a:p>
        </p:txBody>
      </p:sp>
      <p:grpSp>
        <p:nvGrpSpPr>
          <p:cNvPr id="11" name="Escala IMC"/>
          <p:cNvGrpSpPr/>
          <p:nvPr/>
        </p:nvGrpSpPr>
        <p:grpSpPr>
          <a:xfrm>
            <a:off x="6583680" y="1554480"/>
            <a:ext cx="6126480" cy="1097280"/>
            <a:chOff x="6583680" y="1554480"/>
            <a:chExt cx="6126480" cy="1097280"/>
          </a:xfrm>
        </p:grpSpPr>
        <p:sp>
          <p:nvSpPr>
            <p:cNvPr id="12" name="Forma 11"/>
            <p:cNvSpPr/>
            <p:nvPr/>
          </p:nvSpPr>
          <p:spPr>
            <a:xfrm>
              <a:off x="6583680" y="2011680"/>
              <a:ext cx="1188720" cy="640080"/>
            </a:xfrm>
            <a:prstGeom prst="rect">
              <a:avLst/>
            </a:prstGeom>
            <a:solidFill>
              <a:srgbClr val="C5E0B4"/>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18,5</a:t>
              </a:r>
              <a:endParaRPr lang="es-AR" sz="1300" dirty="0">
                <a:latin typeface="Fira Sans Condensed"/>
              </a:endParaRPr>
            </a:p>
          </p:txBody>
        </p:sp>
        <p:sp>
          <p:nvSpPr>
            <p:cNvPr id="13" name="Forma 12"/>
            <p:cNvSpPr/>
            <p:nvPr/>
          </p:nvSpPr>
          <p:spPr>
            <a:xfrm>
              <a:off x="7772400" y="2011680"/>
              <a:ext cx="914400" cy="640080"/>
            </a:xfrm>
            <a:prstGeom prst="rect">
              <a:avLst/>
            </a:prstGeom>
            <a:solidFill>
              <a:srgbClr val="FFE699"/>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25</a:t>
              </a:r>
              <a:endParaRPr lang="es-AR" sz="1300" dirty="0">
                <a:latin typeface="Fira Sans Condensed"/>
              </a:endParaRPr>
            </a:p>
          </p:txBody>
        </p:sp>
        <p:sp>
          <p:nvSpPr>
            <p:cNvPr id="14" name="Forma 13"/>
            <p:cNvSpPr/>
            <p:nvPr/>
          </p:nvSpPr>
          <p:spPr>
            <a:xfrm>
              <a:off x="8686800" y="2011680"/>
              <a:ext cx="914400" cy="640080"/>
            </a:xfrm>
            <a:prstGeom prst="rect">
              <a:avLst/>
            </a:prstGeom>
            <a:solidFill>
              <a:srgbClr val="F8CBAD"/>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30</a:t>
              </a:r>
              <a:endParaRPr lang="es-AR" sz="1300" dirty="0">
                <a:latin typeface="Fira Sans Condensed"/>
              </a:endParaRPr>
            </a:p>
          </p:txBody>
        </p:sp>
        <p:sp>
          <p:nvSpPr>
            <p:cNvPr id="15" name="Forma 14"/>
            <p:cNvSpPr/>
            <p:nvPr/>
          </p:nvSpPr>
          <p:spPr>
            <a:xfrm>
              <a:off x="9601200" y="2011680"/>
              <a:ext cx="914400" cy="640080"/>
            </a:xfrm>
            <a:prstGeom prst="rect">
              <a:avLst/>
            </a:prstGeom>
            <a:solidFill>
              <a:srgbClr val="F4B183"/>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35</a:t>
              </a:r>
              <a:endParaRPr lang="es-AR" sz="1300" dirty="0">
                <a:latin typeface="Fira Sans Condensed"/>
              </a:endParaRPr>
            </a:p>
          </p:txBody>
        </p:sp>
        <p:sp>
          <p:nvSpPr>
            <p:cNvPr id="16" name="Forma 15"/>
            <p:cNvSpPr/>
            <p:nvPr/>
          </p:nvSpPr>
          <p:spPr>
            <a:xfrm>
              <a:off x="10515600" y="2011680"/>
              <a:ext cx="2194560" cy="640080"/>
            </a:xfrm>
            <a:prstGeom prst="rect">
              <a:avLst/>
            </a:prstGeom>
            <a:solidFill>
              <a:srgbClr val="E06666"/>
            </a:solidFill>
            <a:ln w="12700" cap="rnd">
              <a:solidFill>
                <a:srgbClr val="1E1E1E"/>
              </a:solidFill>
              <a:round/>
            </a:ln>
          </p:spPr>
          <p:txBody>
            <a:bodyPr wrap="square" lIns="73152" tIns="45720" rIns="73152" bIns="4572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40+</a:t>
              </a:r>
              <a:endParaRPr lang="es-AR" sz="1300" dirty="0">
                <a:latin typeface="Fira Sans Condensed"/>
              </a:endParaRPr>
            </a:p>
          </p:txBody>
        </p:sp>
        <p:sp>
          <p:nvSpPr>
            <p:cNvPr id="17" name="Forma 16"/>
            <p:cNvSpPr txBox="1"/>
            <p:nvPr/>
          </p:nvSpPr>
          <p:spPr>
            <a:xfrm>
              <a:off x="6583680" y="1554480"/>
              <a:ext cx="6126480" cy="365760"/>
            </a:xfrm>
            <a:prstGeom prst="rect">
              <a:avLst/>
            </a:prstGeom>
            <a:noFill/>
            <a:ln>
              <a:noFill/>
            </a:ln>
          </p:spPr>
          <p:txBody>
            <a:bodyPr wrap="square" lIns="0" tIns="0" rIns="0" bIns="0" anchor="ctr" rtlCol="0">
              <a:noAutofit/>
            </a:bodyPr>
            <a:lstStyle/>
            <a:p>
              <a:pPr algn="ctr">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IMC (kg/m²) · normopeso → clase III</a:t>
              </a:r>
              <a:endParaRPr lang="es-AR" sz="1300" dirty="0">
                <a:latin typeface="Fira Sans Condensed"/>
              </a:endParaRPr>
            </a:p>
          </p:txBody>
        </p:sp>
      </p:grpSp>
      <p:grpSp>
        <p:nvGrpSpPr>
          <p:cNvPr id="18" name="Marca 58,8"/>
          <p:cNvGrpSpPr/>
          <p:nvPr/>
        </p:nvGrpSpPr>
        <p:grpSpPr>
          <a:xfrm>
            <a:off x="10332720" y="2697480"/>
            <a:ext cx="1828800" cy="960120"/>
            <a:chOff x="10332720" y="2697480"/>
            <a:chExt cx="1828800" cy="960120"/>
          </a:xfrm>
        </p:grpSpPr>
        <p:sp>
          <p:nvSpPr>
            <p:cNvPr id="19" name="Flecha 18_2"/>
            <p:cNvSpPr/>
            <p:nvPr/>
          </p:nvSpPr>
          <p:spPr>
            <a:xfrm>
              <a:off x="11338560" y="2697480"/>
              <a:ext cx="9144" cy="594360"/>
            </a:xfrm>
            <a:custGeom>
              <a:avLst/>
              <a:gdLst/>
              <a:ahLst/>
              <a:cxnLst/>
              <a:rect l="0" t="0" r="r" b="b"/>
              <a:pathLst>
                <a:path w="10" h="649" fill="none">
                  <a:moveTo>
                    <a:pt x="0" y="649"/>
                  </a:moveTo>
                  <a:lnTo>
                    <a:pt x="0" y="0"/>
                  </a:lnTo>
                </a:path>
              </a:pathLst>
            </a:custGeom>
            <a:noFill/>
            <a:ln w="63500" cap="rnd">
              <a:solidFill>
                <a:srgbClr val="C00000"/>
              </a:solidFill>
              <a:round/>
              <a:tailEnd type="triangle" w="med" len="med"/>
            </a:ln>
          </p:spPr>
        </p:sp>
        <p:sp>
          <p:nvSpPr>
            <p:cNvPr id="20" name="Forma 20"/>
            <p:cNvSpPr txBox="1"/>
            <p:nvPr/>
          </p:nvSpPr>
          <p:spPr>
            <a:xfrm>
              <a:off x="10332720" y="3291840"/>
              <a:ext cx="1828800" cy="365760"/>
            </a:xfrm>
            <a:prstGeom prst="rect">
              <a:avLst/>
            </a:prstGeom>
            <a:noFill/>
            <a:ln>
              <a:noFill/>
            </a:ln>
          </p:spPr>
          <p:txBody>
            <a:bodyPr wrap="square" lIns="0" tIns="0" rIns="0" bIns="0" anchor="ctr" rtlCol="0">
              <a:noAutofit/>
            </a:bodyPr>
            <a:lstStyle/>
            <a:p>
              <a:pPr algn="ctr">
                <a:spcAft>
                  <a:spcPts val="300"/>
                </a:spcAft>
                <a:buNone/>
              </a:pPr>
              <a:r>
                <a:rPr lang="es-AR" sz="1800" b="1" dirty="0">
                  <a:solidFill>
                    <a:srgbClr val="C00000"/>
                  </a:solidFill>
                  <a:effectLst>
                    <a:glow rad="101600">
                      <a:srgbClr val="FFFFFF">
                        <a:alpha val="70000"/>
                      </a:srgbClr>
                    </a:glow>
                  </a:effectLst>
                  <a:latin typeface="Fira Sans Condensed"/>
                  <a:ea typeface="Fira Sans Condensed"/>
                  <a:cs typeface="Fira Sans Condensed"/>
                  <a:sym typeface="Fira Sans Condensed"/>
                </a:rPr>
                <a:t>58,82</a:t>
              </a:r>
              <a:endParaRPr lang="es-AR" sz="1800" dirty="0">
                <a:latin typeface="Fira Sans Condensed"/>
              </a:endParaRPr>
            </a:p>
          </p:txBody>
        </p:sp>
      </p:grpSp>
      <p:sp>
        <p:nvSpPr>
          <p:cNvPr id="21" name="Forma 21"/>
          <p:cNvSpPr/>
          <p:nvPr/>
        </p:nvSpPr>
        <p:spPr>
          <a:xfrm>
            <a:off x="6583680" y="3977640"/>
            <a:ext cx="5257800" cy="14630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Clasificación: </a:t>
            </a:r>
            <a:r>
              <a:rPr lang="es-AR" sz="1500" b="1" dirty="0">
                <a:solidFill>
                  <a:srgbClr val="1E1E1E"/>
                </a:solidFill>
                <a:latin typeface="Fira Sans Condensed"/>
                <a:ea typeface="Fira Sans Condensed"/>
                <a:cs typeface="Fira Sans Condensed"/>
                <a:sym typeface="Fira Sans Condensed"/>
              </a:rPr>
              <a:t>obesidad clase III</a:t>
            </a:r>
            <a:r>
              <a:rPr lang="es-AR" sz="1500" dirty="0">
                <a:solidFill>
                  <a:srgbClr val="1E1E1E"/>
                </a:solidFill>
                <a:latin typeface="Fira Sans Condensed"/>
                <a:ea typeface="Fira Sans Condensed"/>
                <a:cs typeface="Fira Sans Condensed"/>
                <a:sym typeface="Fira Sans Condensed"/>
              </a:rPr>
              <a:t>. El valor por sí solo no describe composición ni distribución de la grasa.</a:t>
            </a:r>
            <a:endParaRPr lang="es-AR" sz="15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PREGUNTA 2 · CÁLCULO DEL IMC</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9" fill="hold">
                      <p:stCondLst>
                        <p:cond delay="indefinite"/>
                      </p:stCondLst>
                      <p:childTnLst>
                        <p:par>
                          <p:cTn id="18"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childTnLst>
                          </p:cTn>
                        </p:par>
                      </p:childTnLst>
                    </p:cTn>
                  </p:par>
                  <p:par>
                    <p:cTn id="28"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par>
                          <p:cTn id="27"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33" fill="hold">
                      <p:stCondLst>
                        <p:cond delay="indefinite"/>
                      </p:stCondLst>
                      <p:childTnLst>
                        <p:par>
                          <p:cTn id="3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21" grpId="0" animBg="1"/>
    </p:bld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Cintura figura" descr="Ilustración biomédica (Servier Medical Art, CC BY)"/>
          <p:cNvPicPr>
            <a:picLocks noChangeAspect="1"/>
          </p:cNvPicPr>
          <p:nvPr/>
        </p:nvPicPr>
        <p:blipFill>
          <a:blip r:embed="rId2"/>
          <a:stretch>
            <a:fillRect/>
          </a:stretch>
        </p:blipFill>
        <p:spPr>
          <a:xfrm>
            <a:off x="548640" y="1005840"/>
            <a:ext cx="1731220" cy="5303520"/>
          </a:xfrm>
          <a:prstGeom prst="rect">
            <a:avLst/>
          </a:prstGeom>
        </p:spPr>
      </p:pic>
      <p:sp>
        <p:nvSpPr>
          <p:cNvPr id="7" name="Marca cintura"/>
          <p:cNvSpPr/>
          <p:nvPr/>
        </p:nvSpPr>
        <p:spPr>
          <a:xfrm>
            <a:off x="411480" y="3063240"/>
            <a:ext cx="2148840" cy="411480"/>
          </a:xfrm>
          <a:prstGeom prst="ellipse">
            <a:avLst/>
          </a:prstGeom>
          <a:noFill/>
          <a:ln w="50800" cap="rnd">
            <a:solidFill>
              <a:srgbClr val="C00000"/>
            </a:solidFill>
            <a:round/>
          </a:ln>
        </p:spPr>
      </p:sp>
      <p:graphicFrame>
        <p:nvGraphicFramePr>
          <p:cNvPr id="8" name="Umbrales cintura"/>
          <p:cNvGraphicFramePr>
            <a:graphicFrameLocks noGrp="1"/>
          </p:cNvGraphicFramePr>
          <p:nvPr/>
        </p:nvGraphicFramePr>
        <p:xfrm>
          <a:off x="3017520" y="1097280"/>
          <a:ext cx="8823960" cy="1097280"/>
        </p:xfrm>
        <a:graphic>
          <a:graphicData uri="http://schemas.openxmlformats.org/drawingml/2006/table">
            <a:tbl>
              <a:tblPr firstRow="1" bandRow="1"/>
              <a:tblGrid>
                <a:gridCol w="4206240"/>
                <a:gridCol w="1828800"/>
                <a:gridCol w="2788920"/>
              </a:tblGrid>
              <a:tr h="365760">
                <a:tc>
                  <a:txBody>
                    <a:bodyPr/>
                    <a:lstStyle/>
                    <a:p>
                      <a:pPr algn="l">
                        <a:spcAft>
                          <a:spcPts val="100"/>
                        </a:spcAft>
                        <a:buNone/>
                      </a:pPr>
                      <a:r>
                        <a:rPr lang="es-AR" sz="1550" b="1" dirty="0">
                          <a:solidFill>
                            <a:srgbClr val="1E1E1E"/>
                          </a:solidFill>
                          <a:latin typeface="Fira Sans Condensed"/>
                          <a:ea typeface="Fira Sans Condensed"/>
                          <a:cs typeface="Fira Sans Condensed"/>
                          <a:sym typeface="Fira Sans Condensed"/>
                        </a:rPr>
                        <a:t>Umbral (hombres)</a:t>
                      </a:r>
                      <a:endParaRPr lang="es-AR" sz="15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550" b="1" dirty="0">
                          <a:solidFill>
                            <a:srgbClr val="1E1E1E"/>
                          </a:solidFill>
                          <a:latin typeface="Fira Sans Condensed"/>
                          <a:ea typeface="Fira Sans Condensed"/>
                          <a:cs typeface="Fira Sans Condensed"/>
                          <a:sym typeface="Fira Sans Condensed"/>
                        </a:rPr>
                        <a:t>Valor</a:t>
                      </a:r>
                      <a:endParaRPr lang="es-AR" sz="15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550" b="1" dirty="0">
                          <a:solidFill>
                            <a:srgbClr val="1E1E1E"/>
                          </a:solidFill>
                          <a:latin typeface="Fira Sans Condensed"/>
                          <a:ea typeface="Fira Sans Condensed"/>
                          <a:cs typeface="Fira Sans Condensed"/>
                          <a:sym typeface="Fira Sans Condensed"/>
                        </a:rPr>
                        <a:t>Caso 20</a:t>
                      </a:r>
                      <a:endParaRPr lang="es-AR" sz="15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NCEP/ATP III clásico</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más de 102 cm</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124 → excede</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IDF (poblaciones latinoamericanas)</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 90 cm</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500" dirty="0">
                          <a:solidFill>
                            <a:srgbClr val="1E1E1E"/>
                          </a:solidFill>
                          <a:latin typeface="Fira Sans Condensed"/>
                          <a:ea typeface="Fira Sans Condensed"/>
                          <a:cs typeface="Fira Sans Condensed"/>
                          <a:sym typeface="Fira Sans Condensed"/>
                        </a:rPr>
                        <a:t>124 → excede</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9" name="Forma 8"/>
          <p:cNvSpPr/>
          <p:nvPr/>
        </p:nvSpPr>
        <p:spPr>
          <a:xfrm>
            <a:off x="3017520" y="2377440"/>
            <a:ext cx="8823960" cy="17373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cintura </a:t>
            </a:r>
            <a:r>
              <a:rPr lang="es-AR" sz="1500" b="1" dirty="0">
                <a:solidFill>
                  <a:srgbClr val="1E1E1E"/>
                </a:solidFill>
                <a:latin typeface="Fira Sans Condensed"/>
                <a:ea typeface="Fira Sans Condensed"/>
                <a:cs typeface="Fira Sans Condensed"/>
                <a:sym typeface="Fira Sans Condensed"/>
              </a:rPr>
              <a:t>estima</a:t>
            </a:r>
            <a:r>
              <a:rPr lang="es-AR" sz="1500" dirty="0">
                <a:solidFill>
                  <a:srgbClr val="1E1E1E"/>
                </a:solidFill>
                <a:latin typeface="Fira Sans Condensed"/>
                <a:ea typeface="Fira Sans Condensed"/>
                <a:cs typeface="Fira Sans Condensed"/>
                <a:sym typeface="Fira Sans Condensed"/>
              </a:rPr>
              <a:t> adiposidad central; </a:t>
            </a:r>
            <a:r>
              <a:rPr lang="es-AR" sz="1500" b="1" dirty="0">
                <a:solidFill>
                  <a:srgbClr val="1E1E1E"/>
                </a:solidFill>
                <a:latin typeface="Fira Sans Condensed"/>
                <a:ea typeface="Fira Sans Condensed"/>
                <a:cs typeface="Fira Sans Condensed"/>
                <a:sym typeface="Fira Sans Condensed"/>
              </a:rPr>
              <a:t>no mide</a:t>
            </a:r>
            <a:r>
              <a:rPr lang="es-AR" sz="1500" dirty="0">
                <a:solidFill>
                  <a:srgbClr val="1E1E1E"/>
                </a:solidFill>
                <a:latin typeface="Fira Sans Condensed"/>
                <a:ea typeface="Fira Sans Condensed"/>
                <a:cs typeface="Fira Sans Condensed"/>
                <a:sym typeface="Fira Sans Condensed"/>
              </a:rPr>
              <a:t> directamente grasa visceral. La clasificación de riesgo depende de </a:t>
            </a:r>
            <a:r>
              <a:rPr lang="es-AR" sz="1500" b="1" dirty="0">
                <a:solidFill>
                  <a:srgbClr val="1E1E1E"/>
                </a:solidFill>
                <a:latin typeface="Fira Sans Condensed"/>
                <a:ea typeface="Fira Sans Condensed"/>
                <a:cs typeface="Fira Sans Condensed"/>
                <a:sym typeface="Fira Sans Condensed"/>
              </a:rPr>
              <a:t>población, sexo, etnicidad</a:t>
            </a:r>
            <a:r>
              <a:rPr lang="es-AR" sz="1500" dirty="0">
                <a:solidFill>
                  <a:srgbClr val="1E1E1E"/>
                </a:solidFill>
                <a:latin typeface="Fira Sans Condensed"/>
                <a:ea typeface="Fira Sans Condensed"/>
                <a:cs typeface="Fira Sans Condensed"/>
                <a:sym typeface="Fira Sans Condensed"/>
              </a:rPr>
              <a:t> y perfil cardiometabólico.</a:t>
            </a:r>
            <a:endParaRPr lang="es-AR" sz="1500" dirty="0">
              <a:latin typeface="Fira Sans Condensed"/>
            </a:endParaRPr>
          </a:p>
        </p:txBody>
      </p:sp>
      <p:sp>
        <p:nvSpPr>
          <p:cNvPr id="10" name="Perla clínica"/>
          <p:cNvSpPr/>
          <p:nvPr/>
        </p:nvSpPr>
        <p:spPr>
          <a:xfrm>
            <a:off x="3017520" y="4343400"/>
            <a:ext cx="8823960" cy="10972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Siempre </a:t>
            </a:r>
            <a:r>
              <a:rPr lang="es-AR" sz="1600" b="1" dirty="0">
                <a:solidFill>
                  <a:srgbClr val="FFFFFF"/>
                </a:solidFill>
                <a:latin typeface="Fira Sans Condensed"/>
                <a:ea typeface="Fira Sans Condensed"/>
                <a:cs typeface="Fira Sans Condensed"/>
                <a:sym typeface="Fira Sans Condensed"/>
              </a:rPr>
              <a:t>nombrar la definición</a:t>
            </a:r>
            <a:r>
              <a:rPr lang="es-AR" sz="1600" dirty="0">
                <a:solidFill>
                  <a:srgbClr val="FFFFFF"/>
                </a:solidFill>
                <a:latin typeface="Fira Sans Condensed"/>
                <a:ea typeface="Fira Sans Condensed"/>
                <a:cs typeface="Fira Sans Condensed"/>
                <a:sym typeface="Fira Sans Condensed"/>
              </a:rPr>
              <a:t> usada: no mezclar umbrales entre consensos.</a:t>
            </a:r>
            <a:endParaRPr lang="es-AR" sz="16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CINTURA 124 CM: ADIPOSIDAD CENTRAL</a:t>
            </a:r>
            <a:endParaRPr lang="es-AR" sz="34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par>
                    <p:cTn id="14"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26" fill="hold">
                      <p:stCondLst>
                        <p:cond delay="indefinite"/>
                      </p:stCondLst>
                      <p:childTnLst>
                        <p:par>
                          <p:cTn id="25"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sp>
        <p:nvSpPr>
          <p:cNvPr id="6" name="Fórmula"/>
          <p:cNvSpPr/>
          <p:nvPr/>
        </p:nvSpPr>
        <p:spPr>
          <a:xfrm>
            <a:off x="365760" y="1097280"/>
            <a:ext cx="11475720" cy="777240"/>
          </a:xfrm>
          <a:prstGeom prst="rect">
            <a:avLst/>
          </a:prstGeom>
          <a:solidFill>
            <a:srgbClr val="FFFFFF"/>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2000" b="1" dirty="0">
                <a:solidFill>
                  <a:srgbClr val="1E1E1E"/>
                </a:solidFill>
                <a:latin typeface="Fira Sans Condensed"/>
                <a:ea typeface="Fira Sans Condensed"/>
                <a:cs typeface="Fira Sans Condensed"/>
                <a:sym typeface="Fira Sans Condensed"/>
              </a:rPr>
              <a:t>Hombres: GER = 10 × peso (kg) + 6,25 × talla (cm) − 5 × edad (años) + 5</a:t>
            </a:r>
            <a:endParaRPr lang="es-AR" sz="2000" dirty="0">
              <a:latin typeface="Fira Sans Condensed"/>
            </a:endParaRPr>
          </a:p>
        </p:txBody>
      </p:sp>
      <p:sp>
        <p:nvSpPr>
          <p:cNvPr id="7" name="Fórmula_2"/>
          <p:cNvSpPr/>
          <p:nvPr/>
        </p:nvSpPr>
        <p:spPr>
          <a:xfrm>
            <a:off x="365760" y="2103120"/>
            <a:ext cx="5577840" cy="59436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10 × 170 = 1700</a:t>
            </a:r>
            <a:endParaRPr lang="es-AR" sz="1800" dirty="0">
              <a:latin typeface="Fira Sans Condensed"/>
            </a:endParaRPr>
          </a:p>
        </p:txBody>
      </p:sp>
      <p:sp>
        <p:nvSpPr>
          <p:cNvPr id="8" name="Fórmula_3"/>
          <p:cNvSpPr/>
          <p:nvPr/>
        </p:nvSpPr>
        <p:spPr>
          <a:xfrm>
            <a:off x="365760" y="2788920"/>
            <a:ext cx="5577840" cy="59436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6,25 × 170 = 1062,5</a:t>
            </a:r>
            <a:endParaRPr lang="es-AR" sz="1800" dirty="0">
              <a:latin typeface="Fira Sans Condensed"/>
            </a:endParaRPr>
          </a:p>
        </p:txBody>
      </p:sp>
      <p:sp>
        <p:nvSpPr>
          <p:cNvPr id="9" name="Fórmula_4"/>
          <p:cNvSpPr/>
          <p:nvPr/>
        </p:nvSpPr>
        <p:spPr>
          <a:xfrm>
            <a:off x="365760" y="3474720"/>
            <a:ext cx="5577840" cy="59436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800" b="1" dirty="0">
                <a:solidFill>
                  <a:srgbClr val="1E1E1E"/>
                </a:solidFill>
                <a:latin typeface="Fira Sans Condensed"/>
                <a:ea typeface="Fira Sans Condensed"/>
                <a:cs typeface="Fira Sans Condensed"/>
                <a:sym typeface="Fira Sans Condensed"/>
              </a:rPr>
              <a:t>5 × 40 = 200</a:t>
            </a:r>
            <a:endParaRPr lang="es-AR" sz="1800" dirty="0">
              <a:latin typeface="Fira Sans Condensed"/>
            </a:endParaRPr>
          </a:p>
        </p:txBody>
      </p:sp>
      <p:sp>
        <p:nvSpPr>
          <p:cNvPr id="10" name="Fórmula_5"/>
          <p:cNvSpPr/>
          <p:nvPr/>
        </p:nvSpPr>
        <p:spPr>
          <a:xfrm>
            <a:off x="365760" y="4160520"/>
            <a:ext cx="5577840" cy="68580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700" b="1" dirty="0">
                <a:solidFill>
                  <a:srgbClr val="C00000"/>
                </a:solidFill>
                <a:latin typeface="Fira Sans Condensed"/>
                <a:ea typeface="Fira Sans Condensed"/>
                <a:cs typeface="Fira Sans Condensed"/>
                <a:sym typeface="Fira Sans Condensed"/>
              </a:rPr>
              <a:t>1700 + 1062,5 − 200 + 5 = 2567,5 kcal/día</a:t>
            </a:r>
            <a:endParaRPr lang="es-AR" sz="1700" dirty="0">
              <a:latin typeface="Fira Sans Condensed"/>
            </a:endParaRPr>
          </a:p>
        </p:txBody>
      </p:sp>
      <p:sp>
        <p:nvSpPr>
          <p:cNvPr id="11" name="Fórmula_6"/>
          <p:cNvSpPr/>
          <p:nvPr/>
        </p:nvSpPr>
        <p:spPr>
          <a:xfrm>
            <a:off x="365760" y="4983480"/>
            <a:ext cx="5577840" cy="73152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C00000"/>
                </a:solidFill>
                <a:latin typeface="Fira Sans Condensed"/>
                <a:ea typeface="Fira Sans Condensed"/>
                <a:cs typeface="Fira Sans Condensed"/>
                <a:sym typeface="Fira Sans Condensed"/>
              </a:rPr>
              <a:t>GET ≈ 2567,5 × 1,2 ≈ 3081 kcal/día</a:t>
            </a:r>
            <a:endParaRPr lang="es-AR" sz="1900" dirty="0">
              <a:latin typeface="Fira Sans Condensed"/>
            </a:endParaRPr>
          </a:p>
        </p:txBody>
      </p:sp>
      <p:grpSp>
        <p:nvGrpSpPr>
          <p:cNvPr id="12" name="Cuadro Supuestos y límites"/>
          <p:cNvGrpSpPr/>
          <p:nvPr/>
        </p:nvGrpSpPr>
        <p:grpSpPr>
          <a:xfrm>
            <a:off x="6263640" y="2103120"/>
            <a:ext cx="5577840" cy="3611880"/>
            <a:chOff x="6263640" y="2103120"/>
            <a:chExt cx="5577840" cy="3611880"/>
          </a:xfrm>
        </p:grpSpPr>
        <p:sp>
          <p:nvSpPr>
            <p:cNvPr id="13" name="Forma 12"/>
            <p:cNvSpPr/>
            <p:nvPr/>
          </p:nvSpPr>
          <p:spPr>
            <a:xfrm>
              <a:off x="6263640" y="2304288"/>
              <a:ext cx="5577840" cy="34107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Sexo masculino, 40 años, </a:t>
              </a:r>
              <a:r>
                <a:rPr lang="es-AR" sz="1450" b="1" dirty="0">
                  <a:solidFill>
                    <a:srgbClr val="1E1E1E"/>
                  </a:solidFill>
                  <a:latin typeface="Fira Sans Condensed"/>
                  <a:ea typeface="Fira Sans Condensed"/>
                  <a:cs typeface="Fira Sans Condensed"/>
                  <a:sym typeface="Fira Sans Condensed"/>
                </a:rPr>
                <a:t>peso real</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Factor de actividad </a:t>
              </a:r>
              <a:r>
                <a:rPr lang="es-AR" sz="1450" b="1" dirty="0">
                  <a:solidFill>
                    <a:srgbClr val="1E1E1E"/>
                  </a:solidFill>
                  <a:latin typeface="Fira Sans Condensed"/>
                  <a:ea typeface="Fira Sans Condensed"/>
                  <a:cs typeface="Fira Sans Condensed"/>
                  <a:sym typeface="Fira Sans Condensed"/>
                </a:rPr>
                <a:t>1,2</a:t>
              </a:r>
              <a:r>
                <a:rPr lang="es-AR" sz="1450" dirty="0">
                  <a:solidFill>
                    <a:srgbClr val="1E1E1E"/>
                  </a:solidFill>
                  <a:latin typeface="Fira Sans Condensed"/>
                  <a:ea typeface="Fira Sans Condensed"/>
                  <a:cs typeface="Fira Sans Condensed"/>
                  <a:sym typeface="Fira Sans Condensed"/>
                </a:rPr>
                <a:t> por sedentarismo extremo.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Es un </a:t>
              </a:r>
              <a:r>
                <a:rPr lang="es-AR" sz="1450" b="1" dirty="0">
                  <a:solidFill>
                    <a:srgbClr val="1E1E1E"/>
                  </a:solidFill>
                  <a:latin typeface="Fira Sans Condensed"/>
                  <a:ea typeface="Fira Sans Condensed"/>
                  <a:cs typeface="Fira Sans Condensed"/>
                  <a:sym typeface="Fira Sans Condensed"/>
                </a:rPr>
                <a:t>estimador indirecto</a:t>
              </a:r>
              <a:r>
                <a:rPr lang="es-AR" sz="1450" dirty="0">
                  <a:solidFill>
                    <a:srgbClr val="1E1E1E"/>
                  </a:solidFill>
                  <a:latin typeface="Fira Sans Condensed"/>
                  <a:ea typeface="Fira Sans Condensed"/>
                  <a:cs typeface="Fira Sans Condensed"/>
                  <a:sym typeface="Fira Sans Condensed"/>
                </a:rPr>
                <a:t>, no calorimetría.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En obesidad clase III el </a:t>
              </a:r>
              <a:r>
                <a:rPr lang="es-AR" sz="1450" b="1" dirty="0">
                  <a:solidFill>
                    <a:srgbClr val="1E1E1E"/>
                  </a:solidFill>
                  <a:latin typeface="Fira Sans Condensed"/>
                  <a:ea typeface="Fira Sans Condensed"/>
                  <a:cs typeface="Fira Sans Condensed"/>
                  <a:sym typeface="Fira Sans Condensed"/>
                </a:rPr>
                <a:t>error puede ser sustancial</a:t>
              </a:r>
              <a:r>
                <a:rPr lang="es-AR" sz="1450" dirty="0">
                  <a:solidFill>
                    <a:srgbClr val="1E1E1E"/>
                  </a:solidFill>
                  <a:latin typeface="Fira Sans Condensed"/>
                  <a:ea typeface="Fira Sans Condensed"/>
                  <a:cs typeface="Fira Sans Condensed"/>
                  <a:sym typeface="Fira Sans Condensed"/>
                </a:rPr>
                <a:t>: ajustar con evolución de peso, ingesta y actividad, o </a:t>
              </a:r>
              <a:r>
                <a:rPr lang="es-AR" sz="1450" b="1" dirty="0">
                  <a:solidFill>
                    <a:srgbClr val="1E1E1E"/>
                  </a:solidFill>
                  <a:latin typeface="Fira Sans Condensed"/>
                  <a:ea typeface="Fira Sans Condensed"/>
                  <a:cs typeface="Fira Sans Condensed"/>
                  <a:sym typeface="Fira Sans Condensed"/>
                </a:rPr>
                <a:t>calorimetría indirecta</a:t>
              </a:r>
              <a:r>
                <a:rPr lang="es-AR" sz="1450" dirty="0">
                  <a:solidFill>
                    <a:srgbClr val="1E1E1E"/>
                  </a:solidFill>
                  <a:latin typeface="Fira Sans Condensed"/>
                  <a:ea typeface="Fira Sans Condensed"/>
                  <a:cs typeface="Fira Sans Condensed"/>
                  <a:sym typeface="Fira Sans Condensed"/>
                </a:rPr>
                <a:t> si está indicada.</a:t>
              </a:r>
              <a:endParaRPr lang="es-AR" sz="1450" dirty="0">
                <a:latin typeface="Fira Sans Condensed"/>
              </a:endParaRPr>
            </a:p>
          </p:txBody>
        </p:sp>
        <p:sp>
          <p:nvSpPr>
            <p:cNvPr id="14" name="Forma 13"/>
            <p:cNvSpPr/>
            <p:nvPr/>
          </p:nvSpPr>
          <p:spPr>
            <a:xfrm>
              <a:off x="6400800" y="2103120"/>
              <a:ext cx="206973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SUPUESTOS Y LÍMITES</a:t>
              </a:r>
              <a:endParaRPr lang="es-AR" sz="1400" dirty="0">
                <a:latin typeface="Fira Sans Condensed"/>
              </a:endParaRPr>
            </a:p>
          </p:txBody>
        </p:sp>
      </p:gr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GASTO ENERGÉTICO: ECUACIÓN DE MIFFLIN–ST JEOR</a:t>
            </a:r>
            <a:endParaRPr lang="es-AR" sz="30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Paso 1"/>
          <p:cNvGrpSpPr/>
          <p:nvPr/>
        </p:nvGrpSpPr>
        <p:grpSpPr>
          <a:xfrm>
            <a:off x="365760" y="1097280"/>
            <a:ext cx="11475720" cy="457200"/>
            <a:chOff x="365760" y="1097280"/>
            <a:chExt cx="11475720" cy="457200"/>
          </a:xfrm>
        </p:grpSpPr>
        <p:sp>
          <p:nvSpPr>
            <p:cNvPr id="8" name="Forma 7"/>
            <p:cNvSpPr/>
            <p:nvPr/>
          </p:nvSpPr>
          <p:spPr>
            <a:xfrm>
              <a:off x="365760" y="109728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600" b="1" dirty="0">
                  <a:solidFill>
                    <a:srgbClr val="1E1E1E"/>
                  </a:solidFill>
                  <a:latin typeface="Fira Sans Condensed"/>
                  <a:ea typeface="Fira Sans Condensed"/>
                  <a:cs typeface="Fira Sans Condensed"/>
                  <a:sym typeface="Fira Sans Condensed"/>
                </a:rPr>
                <a:t>Harris–Benedict revisada</a:t>
              </a:r>
              <a:r>
                <a:rPr lang="es-AR" sz="1600" dirty="0">
                  <a:solidFill>
                    <a:srgbClr val="1E1E1E"/>
                  </a:solidFill>
                  <a:latin typeface="Fira Sans Condensed"/>
                  <a:ea typeface="Fira Sans Condensed"/>
                  <a:cs typeface="Fira Sans Condensed"/>
                  <a:sym typeface="Fira Sans Condensed"/>
                </a:rPr>
                <a:t> y otras ecuaciones difieren por sus </a:t>
              </a:r>
              <a:r>
                <a:rPr lang="es-AR" sz="1600" b="1" dirty="0">
                  <a:solidFill>
                    <a:srgbClr val="1E1E1E"/>
                  </a:solidFill>
                  <a:latin typeface="Fira Sans Condensed"/>
                  <a:ea typeface="Fira Sans Condensed"/>
                  <a:cs typeface="Fira Sans Condensed"/>
                  <a:sym typeface="Fira Sans Condensed"/>
                </a:rPr>
                <a:t>poblaciones de derivación</a:t>
              </a:r>
              <a:r>
                <a:rPr lang="es-AR" sz="1600" dirty="0">
                  <a:solidFill>
                    <a:srgbClr val="1E1E1E"/>
                  </a:solidFill>
                  <a:latin typeface="Fira Sans Condensed"/>
                  <a:ea typeface="Fira Sans Condensed"/>
                  <a:cs typeface="Fira Sans Condensed"/>
                  <a:sym typeface="Fira Sans Condensed"/>
                </a:rPr>
                <a:t>.</a:t>
              </a:r>
              <a:endParaRPr lang="es-AR" sz="1600" dirty="0">
                <a:latin typeface="Fira Sans Condensed"/>
              </a:endParaRPr>
            </a:p>
          </p:txBody>
        </p:sp>
        <p:sp>
          <p:nvSpPr>
            <p:cNvPr id="9" name="Forma 8"/>
            <p:cNvSpPr/>
            <p:nvPr/>
          </p:nvSpPr>
          <p:spPr>
            <a:xfrm>
              <a:off x="457200" y="115214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0" name="Paso 2"/>
          <p:cNvGrpSpPr/>
          <p:nvPr/>
        </p:nvGrpSpPr>
        <p:grpSpPr>
          <a:xfrm>
            <a:off x="365760" y="1691640"/>
            <a:ext cx="11475720" cy="457200"/>
            <a:chOff x="365760" y="1691640"/>
            <a:chExt cx="11475720" cy="457200"/>
          </a:xfrm>
        </p:grpSpPr>
        <p:sp>
          <p:nvSpPr>
            <p:cNvPr id="11" name="Forma 10"/>
            <p:cNvSpPr/>
            <p:nvPr/>
          </p:nvSpPr>
          <p:spPr>
            <a:xfrm>
              <a:off x="365760" y="169164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600" dirty="0">
                  <a:solidFill>
                    <a:srgbClr val="1E1E1E"/>
                  </a:solidFill>
                  <a:latin typeface="Fira Sans Condensed"/>
                  <a:ea typeface="Fira Sans Condensed"/>
                  <a:cs typeface="Fira Sans Condensed"/>
                  <a:sym typeface="Fira Sans Condensed"/>
                </a:rPr>
                <a:t>El gasto en reposo se vincula fuertemente a la </a:t>
              </a:r>
              <a:r>
                <a:rPr lang="es-AR" sz="1600" b="1" dirty="0">
                  <a:solidFill>
                    <a:srgbClr val="1E1E1E"/>
                  </a:solidFill>
                  <a:latin typeface="Fira Sans Condensed"/>
                  <a:ea typeface="Fira Sans Condensed"/>
                  <a:cs typeface="Fira Sans Condensed"/>
                  <a:sym typeface="Fira Sans Condensed"/>
                </a:rPr>
                <a:t>masa libre de grasa</a:t>
              </a:r>
              <a:r>
                <a:rPr lang="es-AR" sz="1600" dirty="0">
                  <a:solidFill>
                    <a:srgbClr val="1E1E1E"/>
                  </a:solidFill>
                  <a:latin typeface="Fira Sans Condensed"/>
                  <a:ea typeface="Fira Sans Condensed"/>
                  <a:cs typeface="Fira Sans Condensed"/>
                  <a:sym typeface="Fira Sans Condensed"/>
                </a:rPr>
                <a:t>, que aquí se </a:t>
              </a:r>
              <a:r>
                <a:rPr lang="es-AR" sz="1600" b="1" dirty="0">
                  <a:solidFill>
                    <a:srgbClr val="1E1E1E"/>
                  </a:solidFill>
                  <a:latin typeface="Fira Sans Condensed"/>
                  <a:ea typeface="Fira Sans Condensed"/>
                  <a:cs typeface="Fira Sans Condensed"/>
                  <a:sym typeface="Fira Sans Condensed"/>
                </a:rPr>
                <a:t>desconoce</a:t>
              </a:r>
              <a:r>
                <a:rPr lang="es-AR" sz="1600" dirty="0">
                  <a:solidFill>
                    <a:srgbClr val="1E1E1E"/>
                  </a:solidFill>
                  <a:latin typeface="Fira Sans Condensed"/>
                  <a:ea typeface="Fira Sans Condensed"/>
                  <a:cs typeface="Fira Sans Condensed"/>
                  <a:sym typeface="Fira Sans Condensed"/>
                </a:rPr>
                <a:t>.</a:t>
              </a:r>
              <a:endParaRPr lang="es-AR" sz="1600" dirty="0">
                <a:latin typeface="Fira Sans Condensed"/>
              </a:endParaRPr>
            </a:p>
          </p:txBody>
        </p:sp>
        <p:sp>
          <p:nvSpPr>
            <p:cNvPr id="12" name="Forma 11"/>
            <p:cNvSpPr/>
            <p:nvPr/>
          </p:nvSpPr>
          <p:spPr>
            <a:xfrm>
              <a:off x="457200" y="174650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3" name="Paso 3"/>
          <p:cNvGrpSpPr/>
          <p:nvPr/>
        </p:nvGrpSpPr>
        <p:grpSpPr>
          <a:xfrm>
            <a:off x="365760" y="2286000"/>
            <a:ext cx="11475720" cy="457200"/>
            <a:chOff x="365760" y="2286000"/>
            <a:chExt cx="11475720" cy="457200"/>
          </a:xfrm>
        </p:grpSpPr>
        <p:sp>
          <p:nvSpPr>
            <p:cNvPr id="14" name="Forma 13"/>
            <p:cNvSpPr/>
            <p:nvPr/>
          </p:nvSpPr>
          <p:spPr>
            <a:xfrm>
              <a:off x="365760" y="228600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600" dirty="0">
                  <a:solidFill>
                    <a:srgbClr val="1E1E1E"/>
                  </a:solidFill>
                  <a:latin typeface="Fira Sans Condensed"/>
                  <a:ea typeface="Fira Sans Condensed"/>
                  <a:cs typeface="Fira Sans Condensed"/>
                  <a:sym typeface="Fira Sans Condensed"/>
                </a:rPr>
                <a:t>Usar </a:t>
              </a:r>
              <a:r>
                <a:rPr lang="es-AR" sz="1600" b="1" dirty="0">
                  <a:solidFill>
                    <a:srgbClr val="1E1E1E"/>
                  </a:solidFill>
                  <a:latin typeface="Fira Sans Condensed"/>
                  <a:ea typeface="Fira Sans Condensed"/>
                  <a:cs typeface="Fira Sans Condensed"/>
                  <a:sym typeface="Fira Sans Condensed"/>
                </a:rPr>
                <a:t>peso ideal</a:t>
              </a:r>
              <a:r>
                <a:rPr lang="es-AR" sz="1600" dirty="0">
                  <a:solidFill>
                    <a:srgbClr val="1E1E1E"/>
                  </a:solidFill>
                  <a:latin typeface="Fira Sans Condensed"/>
                  <a:ea typeface="Fira Sans Condensed"/>
                  <a:cs typeface="Fira Sans Condensed"/>
                  <a:sym typeface="Fira Sans Condensed"/>
                </a:rPr>
                <a:t> sin justificarlo puede subestimar o sobreestimar, sobre todo en obesidad grave.</a:t>
              </a:r>
              <a:endParaRPr lang="es-AR" sz="1600" dirty="0">
                <a:latin typeface="Fira Sans Condensed"/>
              </a:endParaRPr>
            </a:p>
          </p:txBody>
        </p:sp>
        <p:sp>
          <p:nvSpPr>
            <p:cNvPr id="15" name="Forma 14"/>
            <p:cNvSpPr/>
            <p:nvPr/>
          </p:nvSpPr>
          <p:spPr>
            <a:xfrm>
              <a:off x="457200" y="234086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6" name="Paso 4"/>
          <p:cNvGrpSpPr/>
          <p:nvPr/>
        </p:nvGrpSpPr>
        <p:grpSpPr>
          <a:xfrm>
            <a:off x="365760" y="2880360"/>
            <a:ext cx="11475720" cy="457200"/>
            <a:chOff x="365760" y="2880360"/>
            <a:chExt cx="11475720" cy="457200"/>
          </a:xfrm>
        </p:grpSpPr>
        <p:sp>
          <p:nvSpPr>
            <p:cNvPr id="17" name="Forma 16"/>
            <p:cNvSpPr/>
            <p:nvPr/>
          </p:nvSpPr>
          <p:spPr>
            <a:xfrm>
              <a:off x="365760" y="288036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600" dirty="0">
                  <a:solidFill>
                    <a:srgbClr val="1E1E1E"/>
                  </a:solidFill>
                  <a:latin typeface="Fira Sans Condensed"/>
                  <a:ea typeface="Fira Sans Condensed"/>
                  <a:cs typeface="Fira Sans Condensed"/>
                  <a:sym typeface="Fira Sans Condensed"/>
                </a:rPr>
                <a:t>Al pedir «GET» siempre aclarar </a:t>
              </a:r>
              <a:r>
                <a:rPr lang="es-AR" sz="1600" b="1" dirty="0">
                  <a:solidFill>
                    <a:srgbClr val="1E1E1E"/>
                  </a:solidFill>
                  <a:latin typeface="Fira Sans Condensed"/>
                  <a:ea typeface="Fira Sans Condensed"/>
                  <a:cs typeface="Fira Sans Condensed"/>
                  <a:sym typeface="Fira Sans Condensed"/>
                </a:rPr>
                <a:t>ecuación, factor de actividad, supuestos de sexo/edad y limitaciones</a:t>
              </a:r>
              <a:r>
                <a:rPr lang="es-AR" sz="1600" dirty="0">
                  <a:solidFill>
                    <a:srgbClr val="1E1E1E"/>
                  </a:solidFill>
                  <a:latin typeface="Fira Sans Condensed"/>
                  <a:ea typeface="Fira Sans Condensed"/>
                  <a:cs typeface="Fira Sans Condensed"/>
                  <a:sym typeface="Fira Sans Condensed"/>
                </a:rPr>
                <a:t>.</a:t>
              </a:r>
              <a:endParaRPr lang="es-AR" sz="1600" dirty="0">
                <a:latin typeface="Fira Sans Condensed"/>
              </a:endParaRPr>
            </a:p>
          </p:txBody>
        </p:sp>
        <p:sp>
          <p:nvSpPr>
            <p:cNvPr id="18" name="Forma 17"/>
            <p:cNvSpPr/>
            <p:nvPr/>
          </p:nvSpPr>
          <p:spPr>
            <a:xfrm>
              <a:off x="457200" y="29352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grpSp>
        <p:nvGrpSpPr>
          <p:cNvPr id="19" name="Paso 5"/>
          <p:cNvGrpSpPr/>
          <p:nvPr/>
        </p:nvGrpSpPr>
        <p:grpSpPr>
          <a:xfrm>
            <a:off x="365760" y="3474720"/>
            <a:ext cx="11475720" cy="457200"/>
            <a:chOff x="365760" y="3474720"/>
            <a:chExt cx="11475720" cy="457200"/>
          </a:xfrm>
        </p:grpSpPr>
        <p:sp>
          <p:nvSpPr>
            <p:cNvPr id="20" name="Forma 19"/>
            <p:cNvSpPr/>
            <p:nvPr/>
          </p:nvSpPr>
          <p:spPr>
            <a:xfrm>
              <a:off x="365760" y="3474720"/>
              <a:ext cx="114757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600" b="1" dirty="0">
                  <a:solidFill>
                    <a:srgbClr val="1E1E1E"/>
                  </a:solidFill>
                  <a:latin typeface="Fira Sans Condensed"/>
                  <a:ea typeface="Fira Sans Condensed"/>
                  <a:cs typeface="Fira Sans Condensed"/>
                  <a:sym typeface="Fira Sans Condensed"/>
                </a:rPr>
                <a:t>No</a:t>
              </a:r>
              <a:r>
                <a:rPr lang="es-AR" sz="1600" dirty="0">
                  <a:solidFill>
                    <a:srgbClr val="1E1E1E"/>
                  </a:solidFill>
                  <a:latin typeface="Fira Sans Condensed"/>
                  <a:ea typeface="Fira Sans Condensed"/>
                  <a:cs typeface="Fira Sans Condensed"/>
                  <a:sym typeface="Fira Sans Condensed"/>
                </a:rPr>
                <a:t> se infiere un déficit energético seguro e individual sólo con esta estimación.</a:t>
              </a:r>
              <a:endParaRPr lang="es-AR" sz="1600" dirty="0">
                <a:latin typeface="Fira Sans Condensed"/>
              </a:endParaRPr>
            </a:p>
          </p:txBody>
        </p:sp>
        <p:sp>
          <p:nvSpPr>
            <p:cNvPr id="21" name="Forma 20"/>
            <p:cNvSpPr/>
            <p:nvPr/>
          </p:nvSpPr>
          <p:spPr>
            <a:xfrm>
              <a:off x="457200" y="352958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5</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POR QUÉ LAS ECUACIONES NO COINCIDEN</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aphicFrame>
        <p:nvGraphicFramePr>
          <p:cNvPr id="7" name="Descenso"/>
          <p:cNvGraphicFramePr>
            <a:graphicFrameLocks noGrp="1"/>
          </p:cNvGraphicFramePr>
          <p:nvPr/>
        </p:nvGraphicFramePr>
        <p:xfrm>
          <a:off x="365760" y="1051560"/>
          <a:ext cx="5394960" cy="3017520"/>
        </p:xfrm>
        <a:graphic>
          <a:graphicData uri="http://schemas.openxmlformats.org/drawingml/2006/chart">
            <c:chart xmlns:c="http://schemas.openxmlformats.org/drawingml/2006/chart" r:id="rId2"/>
          </a:graphicData>
        </a:graphic>
      </p:graphicFrame>
      <p:sp>
        <p:nvSpPr>
          <p:cNvPr id="8" name="Fórmula"/>
          <p:cNvSpPr/>
          <p:nvPr/>
        </p:nvSpPr>
        <p:spPr>
          <a:xfrm>
            <a:off x="6035040" y="1097280"/>
            <a:ext cx="580644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Diferencia: 170 − 140 = 30 kg</a:t>
            </a:r>
            <a:endParaRPr lang="es-AR" sz="1900" dirty="0">
              <a:latin typeface="Fira Sans Condensed"/>
            </a:endParaRPr>
          </a:p>
        </p:txBody>
      </p:sp>
      <p:sp>
        <p:nvSpPr>
          <p:cNvPr id="9" name="Fórmula_2"/>
          <p:cNvSpPr/>
          <p:nvPr/>
        </p:nvSpPr>
        <p:spPr>
          <a:xfrm>
            <a:off x="6035040" y="1874520"/>
            <a:ext cx="5806440" cy="640080"/>
          </a:xfrm>
          <a:prstGeom prst="rect">
            <a:avLst/>
          </a:prstGeom>
          <a:solidFill>
            <a:srgbClr val="FFF2CC"/>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Relativo: 30 / 170 × 100 ≈ 17,65 %</a:t>
            </a:r>
            <a:endParaRPr lang="es-AR" sz="1900" dirty="0">
              <a:latin typeface="Fira Sans Condensed"/>
            </a:endParaRPr>
          </a:p>
        </p:txBody>
      </p:sp>
      <p:sp>
        <p:nvSpPr>
          <p:cNvPr id="10" name="Fórmula_3"/>
          <p:cNvSpPr/>
          <p:nvPr/>
        </p:nvSpPr>
        <p:spPr>
          <a:xfrm>
            <a:off x="6035040" y="2651760"/>
            <a:ext cx="5806440" cy="685800"/>
          </a:xfrm>
          <a:prstGeom prst="rect">
            <a:avLst/>
          </a:prstGeom>
          <a:solidFill>
            <a:srgbClr val="FFC000"/>
          </a:solidFill>
          <a:ln w="31750" cap="rnd">
            <a:solidFill>
              <a:srgbClr val="1E1E1E"/>
            </a:solidFill>
            <a:round/>
          </a:ln>
          <a:effectLst>
            <a:outerShdw blurRad="63500" dist="38100" dir="2700000" algn="tl" rotWithShape="0">
              <a:srgbClr val="000000">
                <a:alpha val="32000"/>
              </a:srgbClr>
            </a:outerShdw>
          </a:effectLst>
        </p:spPr>
        <p:txBody>
          <a:bodyPr wrap="square" lIns="91440" tIns="27432" rIns="91440" bIns="27432" anchor="ctr" rtlCol="0">
            <a:noAutofit/>
          </a:bodyPr>
          <a:lstStyle/>
          <a:p>
            <a:pPr algn="ctr">
              <a:spcAft>
                <a:spcPts val="300"/>
              </a:spcAft>
              <a:buNone/>
            </a:pPr>
            <a:r>
              <a:rPr lang="es-AR" sz="1900" b="1" dirty="0">
                <a:solidFill>
                  <a:srgbClr val="C00000"/>
                </a:solidFill>
                <a:latin typeface="Fira Sans Condensed"/>
                <a:ea typeface="Fira Sans Condensed"/>
                <a:cs typeface="Fira Sans Condensed"/>
                <a:sym typeface="Fira Sans Condensed"/>
              </a:rPr>
              <a:t>Nuevo IMC: 140 / 2,89 ≈ 48,44 kg/m²</a:t>
            </a:r>
            <a:endParaRPr lang="es-AR" sz="1900" dirty="0">
              <a:latin typeface="Fira Sans Condensed"/>
            </a:endParaRPr>
          </a:p>
        </p:txBody>
      </p:sp>
      <p:sp>
        <p:nvSpPr>
          <p:cNvPr id="11" name="Forma 9"/>
          <p:cNvSpPr/>
          <p:nvPr/>
        </p:nvSpPr>
        <p:spPr>
          <a:xfrm>
            <a:off x="6035040" y="3520440"/>
            <a:ext cx="5806440" cy="1188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Continúa en </a:t>
            </a:r>
            <a:r>
              <a:rPr lang="es-AR" sz="1450" b="1" dirty="0">
                <a:solidFill>
                  <a:srgbClr val="1E1E1E"/>
                </a:solidFill>
                <a:latin typeface="Fira Sans Condensed"/>
                <a:ea typeface="Fira Sans Condensed"/>
                <a:cs typeface="Fira Sans Condensed"/>
                <a:sym typeface="Fira Sans Condensed"/>
              </a:rPr>
              <a:t>obesidad clase III</a:t>
            </a:r>
            <a:r>
              <a:rPr lang="es-AR" sz="1450" dirty="0">
                <a:solidFill>
                  <a:srgbClr val="1E1E1E"/>
                </a:solidFill>
                <a:latin typeface="Fira Sans Condensed"/>
                <a:ea typeface="Fira Sans Condensed"/>
                <a:cs typeface="Fira Sans Condensed"/>
                <a:sym typeface="Fira Sans Condensed"/>
              </a:rPr>
              <a:t>, pero el beneficio clínico de ~18 % de descenso puede ser relevante.</a:t>
            </a:r>
            <a:endParaRPr lang="es-AR" sz="1450" dirty="0">
              <a:latin typeface="Fira Sans Condensed"/>
            </a:endParaRPr>
          </a:p>
        </p:txBody>
      </p:sp>
      <p:sp>
        <p:nvSpPr>
          <p:cNvPr id="12" name="Perla clínica"/>
          <p:cNvSpPr/>
          <p:nvPr/>
        </p:nvSpPr>
        <p:spPr>
          <a:xfrm>
            <a:off x="365760" y="4846320"/>
            <a:ext cx="11475720" cy="14173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Descenso </a:t>
            </a:r>
            <a:r>
              <a:rPr lang="es-AR" sz="1500" b="1" dirty="0">
                <a:solidFill>
                  <a:srgbClr val="FFFFFF"/>
                </a:solidFill>
                <a:latin typeface="Fira Sans Condensed"/>
                <a:ea typeface="Fira Sans Condensed"/>
                <a:cs typeface="Fira Sans Condensed"/>
                <a:sym typeface="Fira Sans Condensed"/>
              </a:rPr>
              <a:t>rápido</a:t>
            </a:r>
            <a:r>
              <a:rPr lang="es-AR" sz="1500" dirty="0">
                <a:solidFill>
                  <a:srgbClr val="FFFFFF"/>
                </a:solidFill>
                <a:latin typeface="Fira Sans Condensed"/>
                <a:ea typeface="Fira Sans Condensed"/>
                <a:cs typeface="Fira Sans Condensed"/>
                <a:sym typeface="Fira Sans Condensed"/>
              </a:rPr>
              <a:t> (~10 kg/mes): interpretar según composición, hidratación y supervisión; revisar riesgo de </a:t>
            </a:r>
            <a:r>
              <a:rPr lang="es-AR" sz="1500" b="1" dirty="0">
                <a:solidFill>
                  <a:srgbClr val="FFFFFF"/>
                </a:solidFill>
                <a:latin typeface="Fira Sans Condensed"/>
                <a:ea typeface="Fira Sans Condensed"/>
                <a:cs typeface="Fira Sans Condensed"/>
                <a:sym typeface="Fira Sans Condensed"/>
              </a:rPr>
              <a:t>pérdida de masa magra</a:t>
            </a:r>
            <a:r>
              <a:rPr lang="es-AR" sz="1500" dirty="0">
                <a:solidFill>
                  <a:srgbClr val="FFFFFF"/>
                </a:solidFill>
                <a:latin typeface="Fira Sans Condensed"/>
                <a:ea typeface="Fira Sans Condensed"/>
                <a:cs typeface="Fira Sans Condensed"/>
                <a:sym typeface="Fira Sans Condensed"/>
              </a:rPr>
              <a:t>, </a:t>
            </a:r>
            <a:r>
              <a:rPr lang="es-AR" sz="1500" b="1" dirty="0">
                <a:solidFill>
                  <a:srgbClr val="FFFFFF"/>
                </a:solidFill>
                <a:latin typeface="Fira Sans Condensed"/>
                <a:ea typeface="Fira Sans Condensed"/>
                <a:cs typeface="Fira Sans Condensed"/>
                <a:sym typeface="Fira Sans Condensed"/>
              </a:rPr>
              <a:t>colelitiasis</a:t>
            </a:r>
            <a:r>
              <a:rPr lang="es-AR" sz="1500" dirty="0">
                <a:solidFill>
                  <a:srgbClr val="FFFFFF"/>
                </a:solidFill>
                <a:latin typeface="Fira Sans Condensed"/>
                <a:ea typeface="Fira Sans Condensed"/>
                <a:cs typeface="Fira Sans Condensed"/>
                <a:sym typeface="Fira Sans Condensed"/>
              </a:rPr>
              <a:t> (¡antecedente biliar!), </a:t>
            </a:r>
            <a:r>
              <a:rPr lang="es-AR" sz="1500" b="1" dirty="0">
                <a:solidFill>
                  <a:srgbClr val="FFFFFF"/>
                </a:solidFill>
                <a:latin typeface="Fira Sans Condensed"/>
                <a:ea typeface="Fira Sans Condensed"/>
                <a:cs typeface="Fira Sans Condensed"/>
                <a:sym typeface="Fira Sans Condensed"/>
              </a:rPr>
              <a:t>déficits</a:t>
            </a:r>
            <a:r>
              <a:rPr lang="es-AR" sz="1500" dirty="0">
                <a:solidFill>
                  <a:srgbClr val="FFFFFF"/>
                </a:solidFill>
                <a:latin typeface="Fira Sans Condensed"/>
                <a:ea typeface="Fira Sans Condensed"/>
                <a:cs typeface="Fira Sans Condensed"/>
                <a:sym typeface="Fira Sans Condensed"/>
              </a:rPr>
              <a:t> nutricionales y </a:t>
            </a:r>
            <a:r>
              <a:rPr lang="es-AR" sz="1500" b="1" dirty="0">
                <a:solidFill>
                  <a:srgbClr val="FFFFFF"/>
                </a:solidFill>
                <a:latin typeface="Fira Sans Condensed"/>
                <a:ea typeface="Fira Sans Condensed"/>
                <a:cs typeface="Fira Sans Condensed"/>
                <a:sym typeface="Fira Sans Condensed"/>
              </a:rPr>
              <a:t>recuperación ponderal</a:t>
            </a:r>
            <a:r>
              <a:rPr lang="es-AR" sz="1500" dirty="0">
                <a:solidFill>
                  <a:srgbClr val="FFFFFF"/>
                </a:solidFill>
                <a:latin typeface="Fira Sans Condensed"/>
                <a:ea typeface="Fira Sans Condensed"/>
                <a:cs typeface="Fira Sans Condensed"/>
                <a:sym typeface="Fira Sans Condensed"/>
              </a:rPr>
              <a:t>. El </a:t>
            </a:r>
            <a:r>
              <a:rPr lang="es-AR" sz="1500" b="1" dirty="0">
                <a:solidFill>
                  <a:srgbClr val="FFFFFF"/>
                </a:solidFill>
                <a:latin typeface="Fira Sans Condensed"/>
                <a:ea typeface="Fira Sans Condensed"/>
                <a:cs typeface="Fira Sans Condensed"/>
                <a:sym typeface="Fira Sans Condensed"/>
              </a:rPr>
              <a:t>GET debe reevaluarse</a:t>
            </a:r>
            <a:r>
              <a:rPr lang="es-AR" sz="1500" dirty="0">
                <a:solidFill>
                  <a:srgbClr val="FFFFFF"/>
                </a:solidFill>
                <a:latin typeface="Fira Sans Condensed"/>
                <a:ea typeface="Fira Sans Condensed"/>
                <a:cs typeface="Fira Sans Condensed"/>
                <a:sym typeface="Fira Sans Condensed"/>
              </a:rPr>
              <a:t>: cambió la masa y quizás la actividad.</a:t>
            </a:r>
            <a:endParaRPr lang="es-AR" sz="1500"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DESCENSO DE 170 A 140 KG: MAGNITUD Y RIESGOS</a:t>
            </a:r>
            <a:endParaRPr lang="es-AR" sz="33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Interp Glucosa 145 mg/dL"/>
          <p:cNvGrpSpPr/>
          <p:nvPr/>
        </p:nvGrpSpPr>
        <p:grpSpPr>
          <a:xfrm>
            <a:off x="365760" y="1051560"/>
            <a:ext cx="11475720" cy="914400"/>
            <a:chOff x="365760" y="1051560"/>
            <a:chExt cx="11475720" cy="914400"/>
          </a:xfrm>
        </p:grpSpPr>
        <p:sp>
          <p:nvSpPr>
            <p:cNvPr id="8" name="Recuadro Glucosa 145 mg/dL"/>
            <p:cNvSpPr/>
            <p:nvPr/>
          </p:nvSpPr>
          <p:spPr>
            <a:xfrm>
              <a:off x="365760" y="1051560"/>
              <a:ext cx="2743200" cy="9144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Glucosa 145 mg/dL</a:t>
              </a:r>
              <a:endParaRPr lang="es-AR" sz="1400" dirty="0">
                <a:latin typeface="Fira Sans Condensed"/>
              </a:endParaRPr>
            </a:p>
          </p:txBody>
        </p:sp>
        <p:sp>
          <p:nvSpPr>
            <p:cNvPr id="9" name="Forma 8"/>
            <p:cNvSpPr/>
            <p:nvPr/>
          </p:nvSpPr>
          <p:spPr>
            <a:xfrm>
              <a:off x="3200400" y="1051560"/>
              <a:ext cx="86410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Si fue </a:t>
              </a:r>
              <a:r>
                <a:rPr lang="es-AR" sz="1300" b="1" dirty="0">
                  <a:solidFill>
                    <a:srgbClr val="1E1E1E"/>
                  </a:solidFill>
                  <a:latin typeface="Fira Sans Condensed"/>
                  <a:ea typeface="Fira Sans Condensed"/>
                  <a:cs typeface="Fira Sans Condensed"/>
                  <a:sym typeface="Fira Sans Condensed"/>
                </a:rPr>
                <a:t>en ayunas</a:t>
              </a:r>
              <a:r>
                <a:rPr lang="es-AR" sz="1300" dirty="0">
                  <a:solidFill>
                    <a:srgbClr val="1E1E1E"/>
                  </a:solidFill>
                  <a:latin typeface="Fira Sans Condensed"/>
                  <a:ea typeface="Fira Sans Condensed"/>
                  <a:cs typeface="Fira Sans Condensed"/>
                  <a:sym typeface="Fira Sans Condensed"/>
                </a:rPr>
                <a:t> supera 126, pero sin hiperglucemia inequívoca requiere </a:t>
              </a:r>
              <a:r>
                <a:rPr lang="es-AR" sz="1300" b="1" dirty="0">
                  <a:solidFill>
                    <a:srgbClr val="1E1E1E"/>
                  </a:solidFill>
                  <a:latin typeface="Fira Sans Condensed"/>
                  <a:ea typeface="Fira Sans Condensed"/>
                  <a:cs typeface="Fira Sans Condensed"/>
                  <a:sym typeface="Fira Sans Condensed"/>
                </a:rPr>
                <a:t>segunda prueba</a:t>
              </a:r>
              <a:r>
                <a:rPr lang="es-AR" sz="1300" dirty="0">
                  <a:solidFill>
                    <a:srgbClr val="1E1E1E"/>
                  </a:solidFill>
                  <a:latin typeface="Fira Sans Condensed"/>
                  <a:ea typeface="Fira Sans Condensed"/>
                  <a:cs typeface="Fira Sans Condensed"/>
                  <a:sym typeface="Fira Sans Condensed"/>
                </a:rPr>
                <a:t>. Si no fue en ayunas, no basta. El previo </a:t>
              </a:r>
              <a:r>
                <a:rPr lang="es-AR" sz="1300" b="1" dirty="0">
                  <a:solidFill>
                    <a:srgbClr val="1E1E1E"/>
                  </a:solidFill>
                  <a:latin typeface="Fira Sans Condensed"/>
                  <a:ea typeface="Fira Sans Condensed"/>
                  <a:cs typeface="Fira Sans Condensed"/>
                  <a:sym typeface="Fira Sans Condensed"/>
                </a:rPr>
                <a:t>118</a:t>
              </a:r>
              <a:r>
                <a:rPr lang="es-AR" sz="1300" dirty="0">
                  <a:solidFill>
                    <a:srgbClr val="1E1E1E"/>
                  </a:solidFill>
                  <a:latin typeface="Fira Sans Condensed"/>
                  <a:ea typeface="Fira Sans Condensed"/>
                  <a:cs typeface="Fira Sans Condensed"/>
                  <a:sym typeface="Fira Sans Condensed"/>
                </a:rPr>
                <a:t> (si fue en ayunas) encaja con </a:t>
              </a:r>
              <a:r>
                <a:rPr lang="es-AR" sz="1300" b="1" dirty="0">
                  <a:solidFill>
                    <a:srgbClr val="1E1E1E"/>
                  </a:solidFill>
                  <a:latin typeface="Fira Sans Condensed"/>
                  <a:ea typeface="Fira Sans Condensed"/>
                  <a:cs typeface="Fira Sans Condensed"/>
                  <a:sym typeface="Fira Sans Condensed"/>
                </a:rPr>
                <a:t>glucosa alterada en ayunas</a:t>
              </a:r>
              <a:r>
                <a:rPr lang="es-AR" sz="1300" dirty="0">
                  <a:solidFill>
                    <a:srgbClr val="1E1E1E"/>
                  </a:solidFill>
                  <a:latin typeface="Fira Sans Condensed"/>
                  <a:ea typeface="Fira Sans Condensed"/>
                  <a:cs typeface="Fira Sans Condensed"/>
                  <a:sym typeface="Fira Sans Condensed"/>
                </a:rPr>
                <a:t>. Pedir </a:t>
              </a:r>
              <a:r>
                <a:rPr lang="es-AR" sz="1300" b="1" dirty="0">
                  <a:solidFill>
                    <a:srgbClr val="1E1E1E"/>
                  </a:solidFill>
                  <a:latin typeface="Fira Sans Condensed"/>
                  <a:ea typeface="Fira Sans Condensed"/>
                  <a:cs typeface="Fira Sans Condensed"/>
                  <a:sym typeface="Fira Sans Condensed"/>
                </a:rPr>
                <a:t>HbA1c</a:t>
              </a:r>
              <a:r>
                <a:rPr lang="es-AR" sz="1300" dirty="0">
                  <a:solidFill>
                    <a:srgbClr val="1E1E1E"/>
                  </a:solidFill>
                  <a:latin typeface="Fira Sans Condensed"/>
                  <a:ea typeface="Fira Sans Condensed"/>
                  <a:cs typeface="Fira Sans Condensed"/>
                  <a:sym typeface="Fira Sans Condensed"/>
                </a:rPr>
                <a:t> y confirmar.</a:t>
              </a:r>
              <a:endParaRPr lang="es-AR" sz="1300" dirty="0">
                <a:latin typeface="Fira Sans Condensed"/>
              </a:endParaRPr>
            </a:p>
          </p:txBody>
        </p:sp>
      </p:grpSp>
      <p:grpSp>
        <p:nvGrpSpPr>
          <p:cNvPr id="10" name="Interp Lípidos"/>
          <p:cNvGrpSpPr/>
          <p:nvPr/>
        </p:nvGrpSpPr>
        <p:grpSpPr>
          <a:xfrm>
            <a:off x="365760" y="2103120"/>
            <a:ext cx="11475720" cy="914400"/>
            <a:chOff x="365760" y="2103120"/>
            <a:chExt cx="11475720" cy="914400"/>
          </a:xfrm>
        </p:grpSpPr>
        <p:sp>
          <p:nvSpPr>
            <p:cNvPr id="11" name="Recuadro Lípidos"/>
            <p:cNvSpPr/>
            <p:nvPr/>
          </p:nvSpPr>
          <p:spPr>
            <a:xfrm>
              <a:off x="365760" y="2103120"/>
              <a:ext cx="2743200" cy="9144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Lípidos</a:t>
              </a:r>
              <a:endParaRPr lang="es-AR" sz="1400" dirty="0">
                <a:latin typeface="Fira Sans Condensed"/>
              </a:endParaRPr>
            </a:p>
          </p:txBody>
        </p:sp>
        <p:sp>
          <p:nvSpPr>
            <p:cNvPr id="12" name="Forma 11"/>
            <p:cNvSpPr/>
            <p:nvPr/>
          </p:nvSpPr>
          <p:spPr>
            <a:xfrm>
              <a:off x="3200400" y="2103120"/>
              <a:ext cx="86410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CT 250 ↑ · LDL 183 ↑ · HDL 30 ↓ · TG 185 ↑ → dislipidemia </a:t>
              </a:r>
              <a:r>
                <a:rPr lang="es-AR" sz="1300" b="1" dirty="0">
                  <a:solidFill>
                    <a:srgbClr val="1E1E1E"/>
                  </a:solidFill>
                  <a:latin typeface="Fira Sans Condensed"/>
                  <a:ea typeface="Fira Sans Condensed"/>
                  <a:cs typeface="Fira Sans Condensed"/>
                  <a:sym typeface="Fira Sans Condensed"/>
                </a:rPr>
                <a:t>mixta aterogénica</a:t>
              </a:r>
              <a:r>
                <a:rPr lang="es-AR" sz="1300" dirty="0">
                  <a:solidFill>
                    <a:srgbClr val="1E1E1E"/>
                  </a:solidFill>
                  <a:latin typeface="Fira Sans Condensed"/>
                  <a:ea typeface="Fira Sans Condensed"/>
                  <a:cs typeface="Fira Sans Condensed"/>
                  <a:sym typeface="Fira Sans Condensed"/>
                </a:rPr>
                <a:t>. </a:t>
              </a:r>
              <a:r>
                <a:rPr lang="es-AR" sz="1300" b="1" dirty="0">
                  <a:solidFill>
                    <a:srgbClr val="1E1E1E"/>
                  </a:solidFill>
                  <a:latin typeface="Fira Sans Condensed"/>
                  <a:ea typeface="Fira Sans Condensed"/>
                  <a:cs typeface="Fira Sans Condensed"/>
                  <a:sym typeface="Fira Sans Condensed"/>
                </a:rPr>
                <a:t>No-HDL = 250 − 30 = 220 mg/dL</a:t>
              </a:r>
              <a:r>
                <a:rPr lang="es-AR" sz="1300" dirty="0">
                  <a:solidFill>
                    <a:srgbClr val="1E1E1E"/>
                  </a:solidFill>
                  <a:latin typeface="Fira Sans Condensed"/>
                  <a:ea typeface="Fira Sans Condensed"/>
                  <a:cs typeface="Fira Sans Condensed"/>
                  <a:sym typeface="Fira Sans Condensed"/>
                </a:rPr>
                <a:t> (elevado). Con TG altos, LDL por Friedewald puede ser inexacto.</a:t>
              </a:r>
              <a:endParaRPr lang="es-AR" sz="1300" dirty="0">
                <a:latin typeface="Fira Sans Condensed"/>
              </a:endParaRPr>
            </a:p>
          </p:txBody>
        </p:sp>
      </p:grpSp>
      <p:grpSp>
        <p:nvGrpSpPr>
          <p:cNvPr id="13" name="Interp AST 29 U/L"/>
          <p:cNvGrpSpPr/>
          <p:nvPr/>
        </p:nvGrpSpPr>
        <p:grpSpPr>
          <a:xfrm>
            <a:off x="365760" y="3154680"/>
            <a:ext cx="11475720" cy="914400"/>
            <a:chOff x="365760" y="3154680"/>
            <a:chExt cx="11475720" cy="914400"/>
          </a:xfrm>
        </p:grpSpPr>
        <p:sp>
          <p:nvSpPr>
            <p:cNvPr id="14" name="Recuadro AST 29 U/L"/>
            <p:cNvSpPr/>
            <p:nvPr/>
          </p:nvSpPr>
          <p:spPr>
            <a:xfrm>
              <a:off x="365760" y="3154680"/>
              <a:ext cx="2743200" cy="9144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AST 29 U/L</a:t>
              </a:r>
              <a:endParaRPr lang="es-AR" sz="1400" dirty="0">
                <a:latin typeface="Fira Sans Condensed"/>
              </a:endParaRPr>
            </a:p>
          </p:txBody>
        </p:sp>
        <p:sp>
          <p:nvSpPr>
            <p:cNvPr id="15" name="Forma 14"/>
            <p:cNvSpPr/>
            <p:nvPr/>
          </p:nvSpPr>
          <p:spPr>
            <a:xfrm>
              <a:off x="3200400" y="3154680"/>
              <a:ext cx="86410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Transaminasas normales </a:t>
              </a:r>
              <a:r>
                <a:rPr lang="es-AR" sz="1300" b="1" dirty="0">
                  <a:solidFill>
                    <a:srgbClr val="1E1E1E"/>
                  </a:solidFill>
                  <a:latin typeface="Fira Sans Condensed"/>
                  <a:ea typeface="Fira Sans Condensed"/>
                  <a:cs typeface="Fira Sans Condensed"/>
                  <a:sym typeface="Fira Sans Condensed"/>
                </a:rPr>
                <a:t>no excluyen MASLD/MASH</a:t>
              </a:r>
              <a:r>
                <a:rPr lang="es-AR" sz="1300" dirty="0">
                  <a:solidFill>
                    <a:srgbClr val="1E1E1E"/>
                  </a:solidFill>
                  <a:latin typeface="Fira Sans Condensed"/>
                  <a:ea typeface="Fira Sans Condensed"/>
                  <a:cs typeface="Fira Sans Condensed"/>
                  <a:sym typeface="Fira Sans Condensed"/>
                </a:rPr>
                <a:t> ni fibrosis. Estratificar (ALT/AST/plaquetas, métodos no invasivos; FIB-4 con límites &lt; 35 años).</a:t>
              </a:r>
              <a:endParaRPr lang="es-AR" sz="1300" dirty="0">
                <a:latin typeface="Fira Sans Condensed"/>
              </a:endParaRPr>
            </a:p>
          </p:txBody>
        </p:sp>
      </p:grpSp>
      <p:grpSp>
        <p:nvGrpSpPr>
          <p:cNvPr id="16" name="Interp Renal / iones normales"/>
          <p:cNvGrpSpPr/>
          <p:nvPr/>
        </p:nvGrpSpPr>
        <p:grpSpPr>
          <a:xfrm>
            <a:off x="365760" y="4206240"/>
            <a:ext cx="11475720" cy="914400"/>
            <a:chOff x="365760" y="4206240"/>
            <a:chExt cx="11475720" cy="914400"/>
          </a:xfrm>
        </p:grpSpPr>
        <p:sp>
          <p:nvSpPr>
            <p:cNvPr id="17" name="Recuadro Renal / iones normales"/>
            <p:cNvSpPr/>
            <p:nvPr/>
          </p:nvSpPr>
          <p:spPr>
            <a:xfrm>
              <a:off x="365760" y="4206240"/>
              <a:ext cx="2743200" cy="91440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Renal / iones normales</a:t>
              </a:r>
              <a:endParaRPr lang="es-AR" sz="1400" dirty="0">
                <a:latin typeface="Fira Sans Condensed"/>
              </a:endParaRPr>
            </a:p>
          </p:txBody>
        </p:sp>
        <p:sp>
          <p:nvSpPr>
            <p:cNvPr id="18" name="Forma 17"/>
            <p:cNvSpPr/>
            <p:nvPr/>
          </p:nvSpPr>
          <p:spPr>
            <a:xfrm>
              <a:off x="3200400" y="4206240"/>
              <a:ext cx="86410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No excluyen daño vascular temprano: medir </a:t>
              </a:r>
              <a:r>
                <a:rPr lang="es-AR" sz="1300" b="1" dirty="0">
                  <a:solidFill>
                    <a:srgbClr val="1E1E1E"/>
                  </a:solidFill>
                  <a:latin typeface="Fira Sans Condensed"/>
                  <a:ea typeface="Fira Sans Condensed"/>
                  <a:cs typeface="Fira Sans Condensed"/>
                  <a:sym typeface="Fira Sans Condensed"/>
                </a:rPr>
                <a:t>TFG estimada</a:t>
              </a:r>
              <a:r>
                <a:rPr lang="es-AR" sz="1300" dirty="0">
                  <a:solidFill>
                    <a:srgbClr val="1E1E1E"/>
                  </a:solidFill>
                  <a:latin typeface="Fira Sans Condensed"/>
                  <a:ea typeface="Fira Sans Condensed"/>
                  <a:cs typeface="Fira Sans Condensed"/>
                  <a:sym typeface="Fira Sans Condensed"/>
                </a:rPr>
                <a:t> y </a:t>
              </a:r>
              <a:r>
                <a:rPr lang="es-AR" sz="1300" b="1" dirty="0">
                  <a:solidFill>
                    <a:srgbClr val="1E1E1E"/>
                  </a:solidFill>
                  <a:latin typeface="Fira Sans Condensed"/>
                  <a:ea typeface="Fira Sans Condensed"/>
                  <a:cs typeface="Fira Sans Condensed"/>
                  <a:sym typeface="Fira Sans Condensed"/>
                </a:rPr>
                <a:t>albúmina/creatinina urinaria</a:t>
              </a: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p:txBody>
        </p:sp>
      </p:grpSp>
      <p:grpSp>
        <p:nvGrpSpPr>
          <p:cNvPr id="19" name="Interp Sokolow–Lyon +"/>
          <p:cNvGrpSpPr/>
          <p:nvPr/>
        </p:nvGrpSpPr>
        <p:grpSpPr>
          <a:xfrm>
            <a:off x="365760" y="5257800"/>
            <a:ext cx="11475720" cy="914400"/>
            <a:chOff x="365760" y="5257800"/>
            <a:chExt cx="11475720" cy="914400"/>
          </a:xfrm>
        </p:grpSpPr>
        <p:sp>
          <p:nvSpPr>
            <p:cNvPr id="20" name="Recuadro Sokolow–Lyon +"/>
            <p:cNvSpPr/>
            <p:nvPr/>
          </p:nvSpPr>
          <p:spPr>
            <a:xfrm>
              <a:off x="365760" y="5257800"/>
              <a:ext cx="2743200" cy="91440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Sokolow–Lyon +</a:t>
              </a:r>
              <a:endParaRPr lang="es-AR" sz="1400" dirty="0">
                <a:latin typeface="Fira Sans Condensed"/>
              </a:endParaRPr>
            </a:p>
          </p:txBody>
        </p:sp>
        <p:sp>
          <p:nvSpPr>
            <p:cNvPr id="21" name="Forma 20"/>
            <p:cNvSpPr/>
            <p:nvPr/>
          </p:nvSpPr>
          <p:spPr>
            <a:xfrm>
              <a:off x="3200400" y="5257800"/>
              <a:ext cx="8641080" cy="9144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00" dirty="0">
                  <a:solidFill>
                    <a:srgbClr val="1E1E1E"/>
                  </a:solidFill>
                  <a:latin typeface="Fira Sans Condensed"/>
                  <a:ea typeface="Fira Sans Condensed"/>
                  <a:cs typeface="Fira Sans Condensed"/>
                  <a:sym typeface="Fira Sans Condensed"/>
                </a:rPr>
                <a:t>Criterio de </a:t>
              </a:r>
              <a:r>
                <a:rPr lang="es-AR" sz="1300" b="1" dirty="0">
                  <a:solidFill>
                    <a:srgbClr val="1E1E1E"/>
                  </a:solidFill>
                  <a:latin typeface="Fira Sans Condensed"/>
                  <a:ea typeface="Fira Sans Condensed"/>
                  <a:cs typeface="Fira Sans Condensed"/>
                  <a:sym typeface="Fira Sans Condensed"/>
                </a:rPr>
                <a:t>voltaje</a:t>
              </a:r>
              <a:r>
                <a:rPr lang="es-AR" sz="1300" dirty="0">
                  <a:solidFill>
                    <a:srgbClr val="1E1E1E"/>
                  </a:solidFill>
                  <a:latin typeface="Fira Sans Condensed"/>
                  <a:ea typeface="Fira Sans Condensed"/>
                  <a:cs typeface="Fira Sans Condensed"/>
                  <a:sym typeface="Fira Sans Condensed"/>
                </a:rPr>
                <a:t> de posible HVI, coherente con HTA crónica; sensibilidad y especificidad </a:t>
              </a:r>
              <a:r>
                <a:rPr lang="es-AR" sz="1300" b="1" dirty="0">
                  <a:solidFill>
                    <a:srgbClr val="1E1E1E"/>
                  </a:solidFill>
                  <a:latin typeface="Fira Sans Condensed"/>
                  <a:ea typeface="Fira Sans Condensed"/>
                  <a:cs typeface="Fira Sans Condensed"/>
                  <a:sym typeface="Fira Sans Condensed"/>
                </a:rPr>
                <a:t>limitadas</a:t>
              </a:r>
              <a:r>
                <a:rPr lang="es-AR" sz="1300" dirty="0">
                  <a:solidFill>
                    <a:srgbClr val="1E1E1E"/>
                  </a:solidFill>
                  <a:latin typeface="Fira Sans Condensed"/>
                  <a:ea typeface="Fira Sans Condensed"/>
                  <a:cs typeface="Fira Sans Condensed"/>
                  <a:sym typeface="Fira Sans Condensed"/>
                </a:rPr>
                <a:t> (habitus). Complementar con ecocardiografía.</a:t>
              </a:r>
              <a:endParaRPr lang="es-AR" sz="1300" dirty="0">
                <a:latin typeface="Fira Sans Condensed"/>
              </a:endParaRPr>
            </a:p>
          </p:txBody>
        </p:sp>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PREGUNTA 3 · INTERPRETACIÓN COMPLETA DEL LABORATORIO</a:t>
            </a:r>
            <a:endParaRPr lang="es-AR" sz="26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179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pic>
        <p:nvPicPr>
          <p:cNvPr id="7" name="Adipocito endocrino" descr="Ilustración biomédica (Servier Medical Art, CC BY)"/>
          <p:cNvPicPr>
            <a:picLocks noChangeAspect="1"/>
          </p:cNvPicPr>
          <p:nvPr/>
        </p:nvPicPr>
        <p:blipFill>
          <a:blip r:embed="rId2"/>
          <a:stretch>
            <a:fillRect/>
          </a:stretch>
        </p:blipFill>
        <p:spPr>
          <a:xfrm>
            <a:off x="365760" y="1097280"/>
            <a:ext cx="2194560" cy="2237716"/>
          </a:xfrm>
          <a:prstGeom prst="rect">
            <a:avLst/>
          </a:prstGeom>
        </p:spPr>
      </p:pic>
      <p:sp>
        <p:nvSpPr>
          <p:cNvPr id="8" name="Flecha a→l"/>
          <p:cNvSpPr/>
          <p:nvPr/>
        </p:nvSpPr>
        <p:spPr>
          <a:xfrm>
            <a:off x="5623560" y="1325880"/>
            <a:ext cx="365760" cy="91440"/>
          </a:xfrm>
          <a:custGeom>
            <a:avLst/>
            <a:gdLst/>
            <a:ahLst/>
            <a:cxnLst/>
            <a:rect l="0" t="0" r="r" b="b"/>
            <a:pathLst>
              <a:path w="399" h="100" fill="none">
                <a:moveTo>
                  <a:pt x="0" y="100"/>
                </a:moveTo>
                <a:lnTo>
                  <a:pt x="399" y="0"/>
                </a:lnTo>
              </a:path>
            </a:pathLst>
          </a:custGeom>
          <a:noFill/>
          <a:ln w="28575" cap="rnd">
            <a:solidFill>
              <a:srgbClr val="1E1E1E"/>
            </a:solidFill>
            <a:round/>
            <a:tailEnd type="triangle" w="med" len="med"/>
          </a:ln>
        </p:spPr>
      </p:sp>
      <p:sp>
        <p:nvSpPr>
          <p:cNvPr id="9" name="Flecha a→ad"/>
          <p:cNvSpPr/>
          <p:nvPr/>
        </p:nvSpPr>
        <p:spPr>
          <a:xfrm>
            <a:off x="5623560" y="1508760"/>
            <a:ext cx="365760" cy="411480"/>
          </a:xfrm>
          <a:custGeom>
            <a:avLst/>
            <a:gdLst/>
            <a:ahLst/>
            <a:cxnLst/>
            <a:rect l="0" t="0" r="r" b="b"/>
            <a:pathLst>
              <a:path w="399" h="450" fill="none">
                <a:moveTo>
                  <a:pt x="0" y="0"/>
                </a:moveTo>
                <a:lnTo>
                  <a:pt x="399" y="450"/>
                </a:lnTo>
              </a:path>
            </a:pathLst>
          </a:custGeom>
          <a:noFill/>
          <a:ln w="28575" cap="rnd">
            <a:solidFill>
              <a:srgbClr val="1E1E1E"/>
            </a:solidFill>
            <a:round/>
            <a:tailEnd type="triangle" w="med" len="med"/>
          </a:ln>
        </p:spPr>
      </p:sp>
      <p:sp>
        <p:nvSpPr>
          <p:cNvPr id="10" name="Flecha a→c"/>
          <p:cNvSpPr/>
          <p:nvPr/>
        </p:nvSpPr>
        <p:spPr>
          <a:xfrm>
            <a:off x="5623560" y="1600200"/>
            <a:ext cx="365760" cy="914400"/>
          </a:xfrm>
          <a:custGeom>
            <a:avLst/>
            <a:gdLst/>
            <a:ahLst/>
            <a:cxnLst/>
            <a:rect l="0" t="0" r="r" b="b"/>
            <a:pathLst>
              <a:path w="399" h="1000" fill="none">
                <a:moveTo>
                  <a:pt x="0" y="0"/>
                </a:moveTo>
                <a:lnTo>
                  <a:pt x="399" y="1000"/>
                </a:lnTo>
              </a:path>
            </a:pathLst>
          </a:custGeom>
          <a:noFill/>
          <a:ln w="28575" cap="rnd">
            <a:solidFill>
              <a:srgbClr val="1E1E1E"/>
            </a:solidFill>
            <a:round/>
            <a:tailEnd type="triangle" w="med" len="med"/>
          </a:ln>
        </p:spPr>
      </p:sp>
      <p:sp>
        <p:nvSpPr>
          <p:cNvPr id="11" name="Flecha a→f"/>
          <p:cNvSpPr/>
          <p:nvPr/>
        </p:nvSpPr>
        <p:spPr>
          <a:xfrm>
            <a:off x="5623560" y="1691640"/>
            <a:ext cx="365760" cy="1417320"/>
          </a:xfrm>
          <a:custGeom>
            <a:avLst/>
            <a:gdLst/>
            <a:ahLst/>
            <a:cxnLst/>
            <a:rect l="0" t="0" r="r" b="b"/>
            <a:pathLst>
              <a:path w="399" h="1549" fill="none">
                <a:moveTo>
                  <a:pt x="0" y="0"/>
                </a:moveTo>
                <a:lnTo>
                  <a:pt x="399" y="1549"/>
                </a:lnTo>
              </a:path>
            </a:pathLst>
          </a:custGeom>
          <a:noFill/>
          <a:ln w="28575" cap="rnd">
            <a:solidFill>
              <a:srgbClr val="1E1E1E"/>
            </a:solidFill>
            <a:round/>
            <a:tailEnd type="triangle" w="med" len="med"/>
          </a:ln>
        </p:spPr>
      </p:sp>
      <p:sp>
        <p:nvSpPr>
          <p:cNvPr id="12" name="Flecha c→ri"/>
          <p:cNvSpPr/>
          <p:nvPr/>
        </p:nvSpPr>
        <p:spPr>
          <a:xfrm>
            <a:off x="8823960" y="2011680"/>
            <a:ext cx="274320" cy="457200"/>
          </a:xfrm>
          <a:custGeom>
            <a:avLst/>
            <a:gdLst/>
            <a:ahLst/>
            <a:cxnLst/>
            <a:rect l="0" t="0" r="r" b="b"/>
            <a:pathLst>
              <a:path w="299" h="500" fill="none">
                <a:moveTo>
                  <a:pt x="0" y="500"/>
                </a:moveTo>
                <a:lnTo>
                  <a:pt x="299" y="0"/>
                </a:lnTo>
              </a:path>
            </a:pathLst>
          </a:custGeom>
          <a:noFill/>
          <a:ln w="28575" cap="rnd">
            <a:solidFill>
              <a:srgbClr val="1E1E1E"/>
            </a:solidFill>
            <a:round/>
            <a:tailEnd type="triangle" w="med" len="med"/>
          </a:ln>
        </p:spPr>
      </p:sp>
      <p:sp>
        <p:nvSpPr>
          <p:cNvPr id="13" name="Flecha f→ri"/>
          <p:cNvSpPr/>
          <p:nvPr/>
        </p:nvSpPr>
        <p:spPr>
          <a:xfrm>
            <a:off x="8823960" y="2194560"/>
            <a:ext cx="274320" cy="914400"/>
          </a:xfrm>
          <a:custGeom>
            <a:avLst/>
            <a:gdLst/>
            <a:ahLst/>
            <a:cxnLst/>
            <a:rect l="0" t="0" r="r" b="b"/>
            <a:pathLst>
              <a:path w="299" h="1000" fill="none">
                <a:moveTo>
                  <a:pt x="0" y="1000"/>
                </a:moveTo>
                <a:lnTo>
                  <a:pt x="299" y="0"/>
                </a:lnTo>
              </a:path>
            </a:pathLst>
          </a:custGeom>
          <a:noFill/>
          <a:ln w="28575" cap="rnd">
            <a:solidFill>
              <a:srgbClr val="1E1E1E"/>
            </a:solidFill>
            <a:round/>
            <a:tailEnd type="triangle" w="med" len="med"/>
          </a:ln>
        </p:spPr>
      </p:sp>
      <p:sp>
        <p:nvSpPr>
          <p:cNvPr id="14" name="Flecha ri→o"/>
          <p:cNvSpPr/>
          <p:nvPr/>
        </p:nvSpPr>
        <p:spPr>
          <a:xfrm>
            <a:off x="10492740" y="2322576"/>
            <a:ext cx="9144" cy="246888"/>
          </a:xfrm>
          <a:custGeom>
            <a:avLst/>
            <a:gdLst/>
            <a:ahLst/>
            <a:cxnLst/>
            <a:rect l="0" t="0" r="r" b="b"/>
            <a:pathLst>
              <a:path w="10" h="270" fill="none">
                <a:moveTo>
                  <a:pt x="0" y="0"/>
                </a:moveTo>
                <a:lnTo>
                  <a:pt x="0" y="270"/>
                </a:lnTo>
              </a:path>
            </a:pathLst>
          </a:custGeom>
          <a:noFill/>
          <a:ln w="28575" cap="rnd">
            <a:solidFill>
              <a:srgbClr val="1E1E1E"/>
            </a:solidFill>
            <a:round/>
            <a:tailEnd type="triangle" w="med" len="med"/>
          </a:ln>
        </p:spPr>
      </p:sp>
      <p:sp>
        <p:nvSpPr>
          <p:cNvPr id="15" name="Nodo a"/>
          <p:cNvSpPr/>
          <p:nvPr/>
        </p:nvSpPr>
        <p:spPr>
          <a:xfrm>
            <a:off x="2834640" y="118872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ADIPOCITO HIPERTROFIADO</a:t>
            </a:r>
            <a:endParaRPr lang="es-AR" sz="1500" dirty="0">
              <a:latin typeface="Fira Sans Condensed"/>
            </a:endParaRPr>
          </a:p>
        </p:txBody>
      </p:sp>
      <p:sp>
        <p:nvSpPr>
          <p:cNvPr id="16" name="Nodo l"/>
          <p:cNvSpPr/>
          <p:nvPr/>
        </p:nvSpPr>
        <p:spPr>
          <a:xfrm>
            <a:off x="6035040" y="109728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Leptina ↑ con señal central ineficiente</a:t>
            </a:r>
            <a:endParaRPr lang="es-AR" sz="1200" dirty="0">
              <a:latin typeface="Fira Sans Condensed"/>
            </a:endParaRPr>
          </a:p>
        </p:txBody>
      </p:sp>
      <p:sp>
        <p:nvSpPr>
          <p:cNvPr id="17" name="Nodo ad"/>
          <p:cNvSpPr/>
          <p:nvPr/>
        </p:nvSpPr>
        <p:spPr>
          <a:xfrm>
            <a:off x="6035040" y="169164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Adiponectina ↓</a:t>
            </a:r>
            <a:endParaRPr lang="es-AR" sz="1350" dirty="0">
              <a:latin typeface="Fira Sans Condensed"/>
            </a:endParaRPr>
          </a:p>
        </p:txBody>
      </p:sp>
      <p:sp>
        <p:nvSpPr>
          <p:cNvPr id="18" name="Nodo c"/>
          <p:cNvSpPr/>
          <p:nvPr/>
        </p:nvSpPr>
        <p:spPr>
          <a:xfrm>
            <a:off x="6035040" y="228600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TNF-α · IL-6 · PAI-1 ↑</a:t>
            </a:r>
            <a:endParaRPr lang="es-AR" sz="1350" dirty="0">
              <a:latin typeface="Fira Sans Condensed"/>
            </a:endParaRPr>
          </a:p>
        </p:txBody>
      </p:sp>
      <p:sp>
        <p:nvSpPr>
          <p:cNvPr id="19" name="Nodo f"/>
          <p:cNvSpPr/>
          <p:nvPr/>
        </p:nvSpPr>
        <p:spPr>
          <a:xfrm>
            <a:off x="6035040" y="2880360"/>
            <a:ext cx="27432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Salida de AGNE ↑</a:t>
            </a:r>
            <a:endParaRPr lang="es-AR" sz="1350" dirty="0">
              <a:latin typeface="Fira Sans Condensed"/>
            </a:endParaRPr>
          </a:p>
        </p:txBody>
      </p:sp>
      <p:sp>
        <p:nvSpPr>
          <p:cNvPr id="20" name="Nodo ri"/>
          <p:cNvSpPr/>
          <p:nvPr/>
        </p:nvSpPr>
        <p:spPr>
          <a:xfrm>
            <a:off x="9144000" y="1463040"/>
            <a:ext cx="2697480" cy="8229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FFFFFF"/>
                </a:solidFill>
                <a:latin typeface="Fira Sans Condensed"/>
                <a:ea typeface="Fira Sans Condensed"/>
                <a:cs typeface="Fira Sans Condensed"/>
                <a:sym typeface="Fira Sans Condensed"/>
              </a:rPr>
              <a:t>Resistencia insulínica + estado protrombótico</a:t>
            </a:r>
            <a:endParaRPr lang="es-AR" sz="1250" dirty="0">
              <a:latin typeface="Fira Sans Condensed"/>
            </a:endParaRPr>
          </a:p>
        </p:txBody>
      </p:sp>
      <p:sp>
        <p:nvSpPr>
          <p:cNvPr id="21" name="Nodo o"/>
          <p:cNvSpPr/>
          <p:nvPr/>
        </p:nvSpPr>
        <p:spPr>
          <a:xfrm>
            <a:off x="9144000" y="2606040"/>
            <a:ext cx="2697480" cy="7772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DM2 · HTA · aterosclerosis</a:t>
            </a:r>
            <a:endParaRPr lang="es-AR" sz="1400" dirty="0">
              <a:latin typeface="Fira Sans Condensed"/>
            </a:endParaRPr>
          </a:p>
        </p:txBody>
      </p:sp>
      <p:grpSp>
        <p:nvGrpSpPr>
          <p:cNvPr id="22" name="Cuadro Interacciones"/>
          <p:cNvGrpSpPr/>
          <p:nvPr/>
        </p:nvGrpSpPr>
        <p:grpSpPr>
          <a:xfrm>
            <a:off x="365760" y="3749040"/>
            <a:ext cx="11475720" cy="2514600"/>
            <a:chOff x="365760" y="3749040"/>
            <a:chExt cx="11475720" cy="2514600"/>
          </a:xfrm>
        </p:grpSpPr>
        <p:sp>
          <p:nvSpPr>
            <p:cNvPr id="23" name="Forma 22"/>
            <p:cNvSpPr/>
            <p:nvPr/>
          </p:nvSpPr>
          <p:spPr>
            <a:xfrm>
              <a:off x="365760" y="3950208"/>
              <a:ext cx="11475720" cy="23134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Hipotálamo</a:t>
              </a:r>
              <a:r>
                <a:rPr lang="es-AR" sz="1450" dirty="0">
                  <a:solidFill>
                    <a:srgbClr val="1E1E1E"/>
                  </a:solidFill>
                  <a:latin typeface="Fira Sans Condensed"/>
                  <a:ea typeface="Fira Sans Condensed"/>
                  <a:cs typeface="Fira Sans Condensed"/>
                  <a:sym typeface="Fira Sans Condensed"/>
                </a:rPr>
                <a:t>: hambre y gasto (leptina).</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Hígado</a:t>
              </a:r>
              <a:r>
                <a:rPr lang="es-AR" sz="1450" dirty="0">
                  <a:solidFill>
                    <a:srgbClr val="1E1E1E"/>
                  </a:solidFill>
                  <a:latin typeface="Fira Sans Condensed"/>
                  <a:ea typeface="Fira Sans Condensed"/>
                  <a:cs typeface="Fira Sans Condensed"/>
                  <a:sym typeface="Fira Sans Condensed"/>
                </a:rPr>
                <a:t>: síntesis de glucosa y TAG.</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Endotelio</a:t>
              </a:r>
              <a:r>
                <a:rPr lang="es-AR" sz="1450" dirty="0">
                  <a:solidFill>
                    <a:srgbClr val="1E1E1E"/>
                  </a:solidFill>
                  <a:latin typeface="Fira Sans Condensed"/>
                  <a:ea typeface="Fira Sans Condensed"/>
                  <a:cs typeface="Fira Sans Condensed"/>
                  <a:sym typeface="Fira Sans Condensed"/>
                </a:rPr>
                <a:t>: vasodilatación/inflamación.</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Sistema inmune</a:t>
              </a:r>
              <a:r>
                <a:rPr lang="es-AR" sz="1450" dirty="0">
                  <a:solidFill>
                    <a:srgbClr val="1E1E1E"/>
                  </a:solidFill>
                  <a:latin typeface="Fira Sans Condensed"/>
                  <a:ea typeface="Fira Sans Condensed"/>
                  <a:cs typeface="Fira Sans Condensed"/>
                  <a:sym typeface="Fira Sans Condensed"/>
                </a:rPr>
                <a:t>: inflamación crónica.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Angiotensinógeno: sistema renina–angiotensina local.</a:t>
              </a:r>
              <a:endParaRPr lang="es-AR" sz="1450" dirty="0">
                <a:latin typeface="Fira Sans Condensed"/>
              </a:endParaRPr>
            </a:p>
          </p:txBody>
        </p:sp>
        <p:sp>
          <p:nvSpPr>
            <p:cNvPr id="24" name="Forma 23"/>
            <p:cNvSpPr/>
            <p:nvPr/>
          </p:nvSpPr>
          <p:spPr>
            <a:xfrm>
              <a:off x="502920" y="3749040"/>
              <a:ext cx="159015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INTERACCIONES</a:t>
              </a:r>
              <a:endParaRPr lang="es-AR" sz="1400" dirty="0">
                <a:latin typeface="Fira Sans Condensed"/>
              </a:endParaRPr>
            </a:p>
          </p:txBody>
        </p:sp>
      </p:grpSp>
      <p:sp>
        <p:nvSpPr>
          <p:cNvPr id="5"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PREGUNTA 4 · PAPEL ENDOCRINO DEL TEJIDO ADIPOSO EN EL CASO</a:t>
            </a:r>
            <a:endParaRPr lang="es-AR" sz="2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childTnLst>
                    </p:cTn>
                  </p:par>
                  <p:par>
                    <p:cTn id="40"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par>
                          <p:cTn id="27" fill="hold">
                            <p:stCondLst>
                              <p:cond delay="1800"/>
                            </p:stCondLst>
                            <p:childTnLst>
                              <p:par>
                                <p:cTn id="24" presetID="2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31" fill="hold">
                            <p:stCondLst>
                              <p:cond delay="2300"/>
                            </p:stCondLst>
                            <p:childTnLst>
                              <p:par>
                                <p:cTn id="28" presetID="10" presetClass="entr" presetSubtype="0"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par>
                          <p:cTn id="35" fill="hold">
                            <p:stCondLst>
                              <p:cond delay="27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par>
                          <p:cTn id="39" fill="hold">
                            <p:stCondLst>
                              <p:cond delay="3200"/>
                            </p:stCondLst>
                            <p:childTnLst>
                              <p:par>
                                <p:cTn id="36" presetID="10" presetClass="entr" presetSubtype="0"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00"/>
                                        <p:tgtEl>
                                          <p:spTgt spid="19"/>
                                        </p:tgtEl>
                                      </p:cBhvr>
                                    </p:animEffect>
                                  </p:childTnLst>
                                </p:cTn>
                              </p:par>
                            </p:childTnLst>
                          </p:cTn>
                        </p:par>
                      </p:childTnLst>
                    </p:cTn>
                  </p:par>
                  <p:par>
                    <p:cTn id="53" fill="hold">
                      <p:stCondLst>
                        <p:cond delay="indefinite"/>
                      </p:stCondLst>
                      <p:childTnLst>
                        <p:par>
                          <p:cTn id="44"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par>
                          <p:cTn id="48"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par>
                          <p:cTn id="52"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2" fill="hold">
                      <p:stCondLst>
                        <p:cond delay="indefinite"/>
                      </p:stCondLst>
                      <p:childTnLst>
                        <p:par>
                          <p:cTn id="57"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up)">
                                      <p:cBhvr>
                                        <p:cTn id="56" dur="500"/>
                                        <p:tgtEl>
                                          <p:spTgt spid="14"/>
                                        </p:tgtEl>
                                      </p:cBhvr>
                                    </p:animEffect>
                                  </p:childTnLst>
                                </p:cTn>
                              </p:par>
                            </p:childTnLst>
                          </p:cTn>
                        </p:par>
                        <p:par>
                          <p:cTn id="61"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childTnLst>
                          </p:cTn>
                        </p:par>
                      </p:childTnLst>
                    </p:cTn>
                  </p:par>
                  <p:par>
                    <p:cTn id="67" fill="hold">
                      <p:stCondLst>
                        <p:cond delay="indefinite"/>
                      </p:stCondLst>
                      <p:childTnLst>
                        <p:par>
                          <p:cTn id="66"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6" grpId="0" animBg="1"/>
      <p:bldP spid="9" grpId="0" animBg="1"/>
      <p:bldP spid="17" grpId="0" animBg="1"/>
      <p:bldP spid="10" grpId="0" animBg="1"/>
      <p:bldP spid="18" grpId="0" animBg="1"/>
      <p:bldP spid="11" grpId="0" animBg="1"/>
      <p:bldP spid="19" grpId="0" animBg="1"/>
      <p:bldP spid="12" grpId="0" animBg="1"/>
      <p:bldP spid="13" grpId="0" animBg="1"/>
      <p:bldP spid="20" grpId="0" animBg="1"/>
      <p:bldP spid="14" grpId="0" animBg="1"/>
      <p:bldP spid="21" grpId="0" animBg="1"/>
    </p:bld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Ciclo 0"/>
          <p:cNvGrpSpPr/>
          <p:nvPr/>
        </p:nvGrpSpPr>
        <p:grpSpPr>
          <a:xfrm>
            <a:off x="2514600" y="1051560"/>
            <a:ext cx="2286000" cy="914400"/>
            <a:chOff x="2514600" y="1051560"/>
            <a:chExt cx="2286000" cy="914400"/>
          </a:xfrm>
        </p:grpSpPr>
        <p:sp>
          <p:nvSpPr>
            <p:cNvPr id="8" name="Forma 7"/>
            <p:cNvSpPr/>
            <p:nvPr/>
          </p:nvSpPr>
          <p:spPr>
            <a:xfrm>
              <a:off x="2514600" y="1051560"/>
              <a:ext cx="2286000" cy="914400"/>
            </a:xfrm>
            <a:prstGeom prst="rect">
              <a:avLst/>
            </a:prstGeom>
            <a:solidFill>
              <a:srgbClr val="FFC000"/>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Más almacenamiento</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Ingesta &gt; gasto sostenida; AG de QM/VLDL; esterificación</a:t>
              </a:r>
              <a:endParaRPr lang="es-AR" sz="1100" dirty="0">
                <a:latin typeface="Fira Sans Condensed"/>
              </a:endParaRPr>
            </a:p>
          </p:txBody>
        </p:sp>
      </p:grpSp>
      <p:grpSp>
        <p:nvGrpSpPr>
          <p:cNvPr id="9" name="Ciclo 1"/>
          <p:cNvGrpSpPr/>
          <p:nvPr/>
        </p:nvGrpSpPr>
        <p:grpSpPr>
          <a:xfrm>
            <a:off x="4375550" y="2125980"/>
            <a:ext cx="2286000" cy="914400"/>
            <a:chOff x="4375550" y="2125980"/>
            <a:chExt cx="2286000" cy="914400"/>
          </a:xfrm>
        </p:grpSpPr>
        <p:sp>
          <p:nvSpPr>
            <p:cNvPr id="10" name="Forma 9"/>
            <p:cNvSpPr/>
            <p:nvPr/>
          </p:nvSpPr>
          <p:spPr>
            <a:xfrm>
              <a:off x="4375550" y="2125980"/>
              <a:ext cx="2286000" cy="914400"/>
            </a:xfrm>
            <a:prstGeom prst="rect">
              <a:avLst/>
            </a:prstGeom>
            <a:solidFill>
              <a:srgbClr val="F4877F"/>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Expansión celular</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Hipertrofia, hiperplasia; hipoxia/fibrosis en exceso</a:t>
              </a:r>
              <a:endParaRPr lang="es-AR" sz="1100" dirty="0">
                <a:latin typeface="Fira Sans Condensed"/>
              </a:endParaRPr>
            </a:p>
          </p:txBody>
        </p:sp>
      </p:grpSp>
      <p:grpSp>
        <p:nvGrpSpPr>
          <p:cNvPr id="11" name="Ciclo 2"/>
          <p:cNvGrpSpPr/>
          <p:nvPr/>
        </p:nvGrpSpPr>
        <p:grpSpPr>
          <a:xfrm>
            <a:off x="4375550" y="4274820"/>
            <a:ext cx="2286000" cy="914400"/>
            <a:chOff x="4375550" y="4274820"/>
            <a:chExt cx="2286000" cy="914400"/>
          </a:xfrm>
        </p:grpSpPr>
        <p:sp>
          <p:nvSpPr>
            <p:cNvPr id="12" name="Forma 11"/>
            <p:cNvSpPr/>
            <p:nvPr/>
          </p:nvSpPr>
          <p:spPr>
            <a:xfrm>
              <a:off x="4375550" y="4274820"/>
              <a:ext cx="2286000" cy="914400"/>
            </a:xfrm>
            <a:prstGeom prst="rect">
              <a:avLst/>
            </a:prstGeom>
            <a:solidFill>
              <a:srgbClr val="FFC000"/>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Resistencia adiposa a insulina</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Antilipólisis insuficiente → AGNE ↑</a:t>
              </a:r>
              <a:endParaRPr lang="es-AR" sz="1100" dirty="0">
                <a:latin typeface="Fira Sans Condensed"/>
              </a:endParaRPr>
            </a:p>
          </p:txBody>
        </p:sp>
      </p:grpSp>
      <p:grpSp>
        <p:nvGrpSpPr>
          <p:cNvPr id="13" name="Ciclo 3"/>
          <p:cNvGrpSpPr/>
          <p:nvPr/>
        </p:nvGrpSpPr>
        <p:grpSpPr>
          <a:xfrm>
            <a:off x="2514600" y="5349240"/>
            <a:ext cx="2286000" cy="914400"/>
            <a:chOff x="2514600" y="5349240"/>
            <a:chExt cx="2286000" cy="914400"/>
          </a:xfrm>
        </p:grpSpPr>
        <p:sp>
          <p:nvSpPr>
            <p:cNvPr id="14" name="Forma 13"/>
            <p:cNvSpPr/>
            <p:nvPr/>
          </p:nvSpPr>
          <p:spPr>
            <a:xfrm>
              <a:off x="2514600" y="5349240"/>
              <a:ext cx="2286000" cy="914400"/>
            </a:xfrm>
            <a:prstGeom prst="rect">
              <a:avLst/>
            </a:prstGeom>
            <a:solidFill>
              <a:srgbClr val="F4877F"/>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Resistencia central a leptina</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El SNC no compensa la gran reserva</a:t>
              </a:r>
              <a:endParaRPr lang="es-AR" sz="1100" dirty="0">
                <a:latin typeface="Fira Sans Condensed"/>
              </a:endParaRPr>
            </a:p>
          </p:txBody>
        </p:sp>
      </p:grpSp>
      <p:grpSp>
        <p:nvGrpSpPr>
          <p:cNvPr id="15" name="Ciclo 4"/>
          <p:cNvGrpSpPr/>
          <p:nvPr/>
        </p:nvGrpSpPr>
        <p:grpSpPr>
          <a:xfrm>
            <a:off x="653650" y="4274820"/>
            <a:ext cx="2286000" cy="914400"/>
            <a:chOff x="653650" y="4274820"/>
            <a:chExt cx="2286000" cy="914400"/>
          </a:xfrm>
        </p:grpSpPr>
        <p:sp>
          <p:nvSpPr>
            <p:cNvPr id="16" name="Forma 15"/>
            <p:cNvSpPr/>
            <p:nvPr/>
          </p:nvSpPr>
          <p:spPr>
            <a:xfrm>
              <a:off x="653650" y="4274820"/>
              <a:ext cx="2286000" cy="914400"/>
            </a:xfrm>
            <a:prstGeom prst="rect">
              <a:avLst/>
            </a:prstGeom>
            <a:solidFill>
              <a:srgbClr val="FFC000"/>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Inflamación y lipotoxicidad</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Adiponectina ↓, depósitos ectópicos</a:t>
              </a:r>
              <a:endParaRPr lang="es-AR" sz="1100" dirty="0">
                <a:latin typeface="Fira Sans Condensed"/>
              </a:endParaRPr>
            </a:p>
          </p:txBody>
        </p:sp>
      </p:grpSp>
      <p:grpSp>
        <p:nvGrpSpPr>
          <p:cNvPr id="17" name="Ciclo 5"/>
          <p:cNvGrpSpPr/>
          <p:nvPr/>
        </p:nvGrpSpPr>
        <p:grpSpPr>
          <a:xfrm>
            <a:off x="653650" y="2125980"/>
            <a:ext cx="2286000" cy="914400"/>
            <a:chOff x="653650" y="2125980"/>
            <a:chExt cx="2286000" cy="914400"/>
          </a:xfrm>
        </p:grpSpPr>
        <p:sp>
          <p:nvSpPr>
            <p:cNvPr id="18" name="Forma 17"/>
            <p:cNvSpPr/>
            <p:nvPr/>
          </p:nvSpPr>
          <p:spPr>
            <a:xfrm>
              <a:off x="653650" y="2125980"/>
              <a:ext cx="2286000" cy="914400"/>
            </a:xfrm>
            <a:prstGeom prst="rect">
              <a:avLst/>
            </a:prstGeom>
            <a:solidFill>
              <a:srgbClr val="F4877F"/>
            </a:solidFill>
            <a:ln w="19050" cap="rnd">
              <a:solidFill>
                <a:srgbClr val="1E1E1E"/>
              </a:solidFill>
              <a:round/>
            </a:ln>
            <a:effectLst>
              <a:outerShdw blurRad="63500" dist="38100" dir="2700000" algn="tl" rotWithShape="0">
                <a:srgbClr val="000000">
                  <a:alpha val="32000"/>
                </a:srgbClr>
              </a:outerShdw>
            </a:effectLst>
          </p:spPr>
          <p:txBody>
            <a:bodyPr wrap="square" lIns="45720" tIns="27432" rIns="45720" bIns="27432"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Gasto modificado</a:t>
              </a:r>
              <a:endParaRPr lang="es-AR" sz="1100" dirty="0">
                <a:latin typeface="Fira Sans Condensed"/>
              </a:endParaRPr>
            </a:p>
            <a:p>
              <a:pPr algn="ctr">
                <a:spcAft>
                  <a:spcPts val="300"/>
                </a:spcAft>
                <a:buNone/>
              </a:pPr>
              <a:r>
                <a:rPr lang="es-AR" sz="1100" dirty="0">
                  <a:solidFill>
                    <a:srgbClr val="1E1E1E"/>
                  </a:solidFill>
                  <a:latin typeface="Fira Sans Condensed"/>
                  <a:ea typeface="Fira Sans Condensed"/>
                  <a:cs typeface="Fira Sans Condensed"/>
                  <a:sym typeface="Fira Sans Condensed"/>
                </a:rPr>
                <a:t>Sedentarismo, NEAT bajo, capacidad funcional ↓</a:t>
              </a:r>
              <a:endParaRPr lang="es-AR" sz="1100" dirty="0">
                <a:latin typeface="Fira Sans Condensed"/>
              </a:endParaRPr>
            </a:p>
          </p:txBody>
        </p:sp>
      </p:grpSp>
      <p:sp>
        <p:nvSpPr>
          <p:cNvPr id="19" name="Centro ciclo"/>
          <p:cNvSpPr/>
          <p:nvPr/>
        </p:nvSpPr>
        <p:spPr>
          <a:xfrm>
            <a:off x="2743200" y="2743200"/>
            <a:ext cx="1828800" cy="1828800"/>
          </a:xfrm>
          <a:prstGeom prst="ellipse">
            <a:avLst/>
          </a:prstGeom>
          <a:solidFill>
            <a:srgbClr val="FFFFFF">
              <a:alpha val="60000"/>
            </a:srgbClr>
          </a:solidFill>
          <a:ln w="38100" cap="rnd">
            <a:solidFill>
              <a:srgbClr val="C00000"/>
            </a:solidFill>
            <a:prstDash val="dash"/>
            <a:round/>
          </a:ln>
        </p:spPr>
        <p:txBody>
          <a:bodyPr wrap="square" lIns="73152" tIns="45720" rIns="73152" bIns="4572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Causa y</a:t>
            </a:r>
            <a:endParaRPr lang="es-AR" sz="1300" dirty="0">
              <a:latin typeface="Fira Sans Condensed"/>
            </a:endParaRPr>
          </a:p>
          <a:p>
            <a:pPr algn="ctr">
              <a:spcAft>
                <a:spcPts val="300"/>
              </a:spcAft>
              <a:buNone/>
            </a:pPr>
            <a:r>
              <a:rPr lang="es-AR" sz="1300" b="1" dirty="0">
                <a:solidFill>
                  <a:srgbClr val="C00000"/>
                </a:solidFill>
                <a:latin typeface="Fira Sans Condensed"/>
                <a:ea typeface="Fira Sans Condensed"/>
                <a:cs typeface="Fira Sans Condensed"/>
                <a:sym typeface="Fira Sans Condensed"/>
              </a:rPr>
              <a:t>consecuencia</a:t>
            </a:r>
            <a:endParaRPr lang="es-AR" sz="1300" dirty="0">
              <a:latin typeface="Fira Sans Condensed"/>
            </a:endParaRPr>
          </a:p>
        </p:txBody>
      </p:sp>
      <p:grpSp>
        <p:nvGrpSpPr>
          <p:cNvPr id="20" name="Cuadro Precisión causal"/>
          <p:cNvGrpSpPr/>
          <p:nvPr/>
        </p:nvGrpSpPr>
        <p:grpSpPr>
          <a:xfrm>
            <a:off x="6949440" y="1097280"/>
            <a:ext cx="4892040" cy="3246120"/>
            <a:chOff x="6949440" y="1097280"/>
            <a:chExt cx="4892040" cy="3246120"/>
          </a:xfrm>
        </p:grpSpPr>
        <p:sp>
          <p:nvSpPr>
            <p:cNvPr id="21" name="Forma 20"/>
            <p:cNvSpPr/>
            <p:nvPr/>
          </p:nvSpPr>
          <p:spPr>
            <a:xfrm>
              <a:off x="6949440" y="1298448"/>
              <a:ext cx="4892040" cy="30449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«Las alteraciones del adipocito </a:t>
              </a:r>
              <a:r>
                <a:rPr lang="es-AR" sz="1500" b="1" dirty="0">
                  <a:solidFill>
                    <a:srgbClr val="1E1E1E"/>
                  </a:solidFill>
                  <a:latin typeface="Fira Sans Condensed"/>
                  <a:ea typeface="Fira Sans Condensed"/>
                  <a:cs typeface="Fira Sans Condensed"/>
                  <a:sym typeface="Fira Sans Condensed"/>
                </a:rPr>
                <a:t>producen</a:t>
              </a:r>
              <a:r>
                <a:rPr lang="es-AR" sz="1500" dirty="0">
                  <a:solidFill>
                    <a:srgbClr val="1E1E1E"/>
                  </a:solidFill>
                  <a:latin typeface="Fira Sans Condensed"/>
                  <a:ea typeface="Fira Sans Condensed"/>
                  <a:cs typeface="Fira Sans Condensed"/>
                  <a:sym typeface="Fira Sans Condensed"/>
                </a:rPr>
                <a:t> obesidad» es incompleto: pueden ser </a:t>
              </a:r>
              <a:r>
                <a:rPr lang="es-AR" sz="1500" b="1" dirty="0">
                  <a:solidFill>
                    <a:srgbClr val="1E1E1E"/>
                  </a:solidFill>
                  <a:latin typeface="Fira Sans Condensed"/>
                  <a:ea typeface="Fira Sans Condensed"/>
                  <a:cs typeface="Fira Sans Condensed"/>
                  <a:sym typeface="Fira Sans Condensed"/>
                </a:rPr>
                <a:t>consecuencia</a:t>
              </a:r>
              <a:r>
                <a:rPr lang="es-AR" sz="1500" dirty="0">
                  <a:solidFill>
                    <a:srgbClr val="1E1E1E"/>
                  </a:solidFill>
                  <a:latin typeface="Fira Sans Condensed"/>
                  <a:ea typeface="Fira Sans Condensed"/>
                  <a:cs typeface="Fira Sans Condensed"/>
                  <a:sym typeface="Fira Sans Condensed"/>
                </a:rPr>
                <a:t> de la expansión y </a:t>
              </a:r>
              <a:r>
                <a:rPr lang="es-AR" sz="1500" b="1" dirty="0">
                  <a:solidFill>
                    <a:srgbClr val="1E1E1E"/>
                  </a:solidFill>
                  <a:latin typeface="Fira Sans Condensed"/>
                  <a:ea typeface="Fira Sans Condensed"/>
                  <a:cs typeface="Fira Sans Condensed"/>
                  <a:sym typeface="Fira Sans Condensed"/>
                </a:rPr>
                <a:t>factores de retroalimentación</a:t>
              </a:r>
              <a:r>
                <a:rPr lang="es-AR" sz="1500" dirty="0">
                  <a:solidFill>
                    <a:srgbClr val="1E1E1E"/>
                  </a:solidFill>
                  <a:latin typeface="Fira Sans Condensed"/>
                  <a:ea typeface="Fira Sans Condensed"/>
                  <a:cs typeface="Fira Sans Condensed"/>
                  <a:sym typeface="Fira Sans Condensed"/>
                </a:rPr>
                <a:t> que dificultan la regulación y generan complicaciones.</a:t>
              </a:r>
              <a:endParaRPr lang="es-AR" sz="1500" dirty="0">
                <a:latin typeface="Fira Sans Condensed"/>
              </a:endParaRPr>
            </a:p>
          </p:txBody>
        </p:sp>
        <p:sp>
          <p:nvSpPr>
            <p:cNvPr id="22" name="Forma 21"/>
            <p:cNvSpPr/>
            <p:nvPr/>
          </p:nvSpPr>
          <p:spPr>
            <a:xfrm>
              <a:off x="7086600" y="1097280"/>
              <a:ext cx="183899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PRECISIÓN CAUSAL</a:t>
              </a:r>
              <a:endParaRPr lang="es-AR" sz="1400" dirty="0">
                <a:latin typeface="Fira Sans Condensed"/>
              </a:endParaRPr>
            </a:p>
          </p:txBody>
        </p:sp>
      </p:grpSp>
      <p:sp>
        <p:nvSpPr>
          <p:cNvPr id="23" name="Perla clínica"/>
          <p:cNvSpPr/>
          <p:nvPr/>
        </p:nvSpPr>
        <p:spPr>
          <a:xfrm>
            <a:off x="6949440" y="4572000"/>
            <a:ext cx="4892040" cy="1691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Circuitos </a:t>
            </a:r>
            <a:r>
              <a:rPr lang="es-AR" sz="1500" b="1" dirty="0">
                <a:solidFill>
                  <a:srgbClr val="FFFFFF"/>
                </a:solidFill>
                <a:latin typeface="Fira Sans Condensed"/>
                <a:ea typeface="Fira Sans Condensed"/>
                <a:cs typeface="Fira Sans Condensed"/>
                <a:sym typeface="Fira Sans Condensed"/>
              </a:rPr>
              <a:t>hedónicos</a:t>
            </a:r>
            <a:r>
              <a:rPr lang="es-AR" sz="1500" dirty="0">
                <a:solidFill>
                  <a:srgbClr val="FFFFFF"/>
                </a:solidFill>
                <a:latin typeface="Fira Sans Condensed"/>
                <a:ea typeface="Fira Sans Condensed"/>
                <a:cs typeface="Fira Sans Condensed"/>
                <a:sym typeface="Fira Sans Condensed"/>
              </a:rPr>
              <a:t>, </a:t>
            </a:r>
            <a:r>
              <a:rPr lang="es-AR" sz="1500" b="1" dirty="0">
                <a:solidFill>
                  <a:srgbClr val="FFFFFF"/>
                </a:solidFill>
                <a:latin typeface="Fira Sans Condensed"/>
                <a:ea typeface="Fira Sans Condensed"/>
                <a:cs typeface="Fira Sans Condensed"/>
                <a:sym typeface="Fira Sans Condensed"/>
              </a:rPr>
              <a:t>entorno</a:t>
            </a:r>
            <a:r>
              <a:rPr lang="es-AR" sz="1500" dirty="0">
                <a:solidFill>
                  <a:srgbClr val="FFFFFF"/>
                </a:solidFill>
                <a:latin typeface="Fira Sans Condensed"/>
                <a:ea typeface="Fira Sans Condensed"/>
                <a:cs typeface="Fira Sans Condensed"/>
                <a:sym typeface="Fira Sans Condensed"/>
              </a:rPr>
              <a:t> alimentario y factores </a:t>
            </a:r>
            <a:r>
              <a:rPr lang="es-AR" sz="1500" b="1" dirty="0">
                <a:solidFill>
                  <a:srgbClr val="FFFFFF"/>
                </a:solidFill>
                <a:latin typeface="Fira Sans Condensed"/>
                <a:ea typeface="Fira Sans Condensed"/>
                <a:cs typeface="Fira Sans Condensed"/>
                <a:sym typeface="Fira Sans Condensed"/>
              </a:rPr>
              <a:t>psicosociales</a:t>
            </a:r>
            <a:r>
              <a:rPr lang="es-AR" sz="1500" dirty="0">
                <a:solidFill>
                  <a:srgbClr val="FFFFFF"/>
                </a:solidFill>
                <a:latin typeface="Fira Sans Condensed"/>
                <a:ea typeface="Fira Sans Condensed"/>
                <a:cs typeface="Fira Sans Condensed"/>
                <a:sym typeface="Fira Sans Condensed"/>
              </a:rPr>
              <a:t> son componentes adicionales indispensables.</a:t>
            </a:r>
            <a:endParaRPr lang="es-AR" sz="1500" dirty="0">
              <a:latin typeface="Fira Sans Condensed"/>
            </a:endParaRPr>
          </a:p>
        </p:txBody>
      </p:sp>
      <p:sp>
        <p:nvSpPr>
          <p:cNvPr id="5" name="Título"/>
          <p:cNvSpPr txBox="1"/>
          <p:nvPr/>
        </p:nvSpPr>
        <p:spPr>
          <a:xfrm>
            <a:off x="320040" y="91440"/>
            <a:ext cx="11551615" cy="4894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300" dirty="0">
                <a:solidFill>
                  <a:srgbClr val="1E1E1E"/>
                </a:solidFill>
                <a:effectLst>
                  <a:glow rad="101600">
                    <a:srgbClr val="FFFFFF">
                      <a:alpha val="70000"/>
                    </a:srgbClr>
                  </a:glow>
                </a:effectLst>
                <a:latin typeface="Permanent Marker"/>
                <a:ea typeface="Permanent Marker"/>
                <a:cs typeface="Permanent Marker"/>
                <a:sym typeface="Permanent Marker"/>
              </a:rPr>
              <a:t>PREGUNTA 5 · ALTERACIONES QUE CAUSAN Y PERPETÚAN LA OBESIDAD</a:t>
            </a:r>
            <a:endParaRPr lang="es-AR" sz="23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250"/>
                                        <p:tgtEl>
                                          <p:spTgt spid="7"/>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50"/>
                                        <p:tgtEl>
                                          <p:spTgt spid="11"/>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250"/>
                                        <p:tgtEl>
                                          <p:spTgt spid="13"/>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250"/>
                                        <p:tgtEl>
                                          <p:spTgt spid="15"/>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250"/>
                                        <p:tgtEl>
                                          <p:spTgt spid="17"/>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500" fill="hold"/>
                                        <p:tgtEl>
                                          <p:spTgt spid="19"/>
                                        </p:tgtEl>
                                        <p:attrNameLst>
                                          <p:attrName>ppt_w</p:attrName>
                                        </p:attrNameLst>
                                      </p:cBhvr>
                                      <p:tavLst>
                                        <p:tav tm="0">
                                          <p:val>
                                            <p:fltVal val="0"/>
                                          </p:val>
                                        </p:tav>
                                        <p:tav tm="100000">
                                          <p:val>
                                            <p:strVal val="#ppt_w"/>
                                          </p:val>
                                        </p:tav>
                                      </p:tavLst>
                                    </p:anim>
                                    <p:anim calcmode="lin" valueType="num">
                                      <p:cBhvr>
                                        <p:cTn id="31" dur="500" fill="hold"/>
                                        <p:tgtEl>
                                          <p:spTgt spid="19"/>
                                        </p:tgtEl>
                                        <p:attrNameLst>
                                          <p:attrName>ppt_h</p:attrName>
                                        </p:attrNameLst>
                                      </p:cBhvr>
                                      <p:tavLst>
                                        <p:tav tm="0">
                                          <p:val>
                                            <p:fltVal val="0"/>
                                          </p:val>
                                        </p:tav>
                                        <p:tav tm="100000">
                                          <p:val>
                                            <p:strVal val="#ppt_h"/>
                                          </p:val>
                                        </p:tav>
                                      </p:tavLst>
                                    </p:anim>
                                    <p:animEffect transition="in" filter="fade">
                                      <p:cBhvr>
                                        <p:cTn id="32" dur="500"/>
                                        <p:tgtEl>
                                          <p:spTgt spid="19"/>
                                        </p:tgtEl>
                                      </p:cBhvr>
                                    </p:animEffect>
                                  </p:childTnLst>
                                </p:cTn>
                              </p:par>
                            </p:childTnLst>
                          </p:cTn>
                        </p:par>
                      </p:childTnLst>
                    </p:cTn>
                  </p:par>
                  <p:par>
                    <p:cTn id="39" fill="hold">
                      <p:stCondLst>
                        <p:cond delay="indefinite"/>
                      </p:stCondLst>
                      <p:childTnLst>
                        <p:par>
                          <p:cTn id="38"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46" fill="hold">
                      <p:stCondLst>
                        <p:cond delay="indefinite"/>
                      </p:stCondLst>
                      <p:childTnLst>
                        <p:par>
                          <p:cTn id="4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animBg="1"/>
    </p:bld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Paso 1"/>
          <p:cNvGrpSpPr/>
          <p:nvPr/>
        </p:nvGrpSpPr>
        <p:grpSpPr>
          <a:xfrm>
            <a:off x="365760" y="1097280"/>
            <a:ext cx="6766560" cy="457200"/>
            <a:chOff x="365760" y="1097280"/>
            <a:chExt cx="6766560" cy="457200"/>
          </a:xfrm>
        </p:grpSpPr>
        <p:sp>
          <p:nvSpPr>
            <p:cNvPr id="7" name="Forma 6"/>
            <p:cNvSpPr/>
            <p:nvPr/>
          </p:nvSpPr>
          <p:spPr>
            <a:xfrm>
              <a:off x="365760" y="1097280"/>
              <a:ext cx="676656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Señales de adiposidad </a:t>
              </a:r>
              <a:r>
                <a:rPr lang="es-AR" sz="1350" b="1" dirty="0">
                  <a:solidFill>
                    <a:srgbClr val="1E1E1E"/>
                  </a:solidFill>
                  <a:latin typeface="Fira Sans Condensed"/>
                  <a:ea typeface="Fira Sans Condensed"/>
                  <a:cs typeface="Fira Sans Condensed"/>
                  <a:sym typeface="Fira Sans Condensed"/>
                </a:rPr>
                <a:t>altas</a:t>
              </a:r>
              <a:r>
                <a:rPr lang="es-AR" sz="1350" dirty="0">
                  <a:solidFill>
                    <a:srgbClr val="1E1E1E"/>
                  </a:solidFill>
                  <a:latin typeface="Fira Sans Condensed"/>
                  <a:ea typeface="Fira Sans Condensed"/>
                  <a:cs typeface="Fira Sans Condensed"/>
                  <a:sym typeface="Fira Sans Condensed"/>
                </a:rPr>
                <a:t> con menor </a:t>
              </a:r>
              <a:r>
                <a:rPr lang="es-AR" sz="1350" b="1" dirty="0">
                  <a:solidFill>
                    <a:srgbClr val="1E1E1E"/>
                  </a:solidFill>
                  <a:latin typeface="Fira Sans Condensed"/>
                  <a:ea typeface="Fira Sans Condensed"/>
                  <a:cs typeface="Fira Sans Condensed"/>
                  <a:sym typeface="Fira Sans Condensed"/>
                </a:rPr>
                <a:t>eficacia central</a:t>
              </a:r>
              <a:r>
                <a:rPr lang="es-AR" sz="1350" dirty="0">
                  <a:solidFill>
                    <a:srgbClr val="1E1E1E"/>
                  </a:solidFill>
                  <a:latin typeface="Fira Sans Condensed"/>
                  <a:ea typeface="Fira Sans Condensed"/>
                  <a:cs typeface="Fira Sans Condensed"/>
                  <a:sym typeface="Fira Sans Condensed"/>
                </a:rPr>
                <a:t> (leptina/insulina).</a:t>
              </a:r>
              <a:endParaRPr lang="es-AR" sz="1350" dirty="0">
                <a:latin typeface="Fira Sans Condensed"/>
              </a:endParaRPr>
            </a:p>
          </p:txBody>
        </p:sp>
        <p:sp>
          <p:nvSpPr>
            <p:cNvPr id="8" name="Forma 7"/>
            <p:cNvSpPr/>
            <p:nvPr/>
          </p:nvSpPr>
          <p:spPr>
            <a:xfrm>
              <a:off x="457200" y="115214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9" name="Paso 2"/>
          <p:cNvGrpSpPr/>
          <p:nvPr/>
        </p:nvGrpSpPr>
        <p:grpSpPr>
          <a:xfrm>
            <a:off x="365760" y="1645920"/>
            <a:ext cx="6766560" cy="457200"/>
            <a:chOff x="365760" y="1645920"/>
            <a:chExt cx="6766560" cy="457200"/>
          </a:xfrm>
        </p:grpSpPr>
        <p:sp>
          <p:nvSpPr>
            <p:cNvPr id="10" name="Forma 9"/>
            <p:cNvSpPr/>
            <p:nvPr/>
          </p:nvSpPr>
          <p:spPr>
            <a:xfrm>
              <a:off x="365760" y="1645920"/>
              <a:ext cx="676656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Desequilibrio </a:t>
              </a:r>
              <a:r>
                <a:rPr lang="es-AR" sz="1350" b="1" dirty="0">
                  <a:solidFill>
                    <a:srgbClr val="1E1E1E"/>
                  </a:solidFill>
                  <a:latin typeface="Fira Sans Condensed"/>
                  <a:ea typeface="Fira Sans Condensed"/>
                  <a:cs typeface="Fira Sans Condensed"/>
                  <a:sym typeface="Fira Sans Condensed"/>
                </a:rPr>
                <a:t>POMC/CART</a:t>
              </a:r>
              <a:r>
                <a:rPr lang="es-AR" sz="1350" dirty="0">
                  <a:solidFill>
                    <a:srgbClr val="1E1E1E"/>
                  </a:solidFill>
                  <a:latin typeface="Fira Sans Condensed"/>
                  <a:ea typeface="Fira Sans Condensed"/>
                  <a:cs typeface="Fira Sans Condensed"/>
                  <a:sym typeface="Fira Sans Condensed"/>
                </a:rPr>
                <a:t> frente a </a:t>
              </a:r>
              <a:r>
                <a:rPr lang="es-AR" sz="1350" b="1" dirty="0">
                  <a:solidFill>
                    <a:srgbClr val="1E1E1E"/>
                  </a:solidFill>
                  <a:latin typeface="Fira Sans Condensed"/>
                  <a:ea typeface="Fira Sans Condensed"/>
                  <a:cs typeface="Fira Sans Condensed"/>
                  <a:sym typeface="Fira Sans Condensed"/>
                </a:rPr>
                <a:t>NPY/AgRP/GABA</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1" name="Forma 10"/>
            <p:cNvSpPr/>
            <p:nvPr/>
          </p:nvSpPr>
          <p:spPr>
            <a:xfrm>
              <a:off x="457200" y="170078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12" name="Paso 3"/>
          <p:cNvGrpSpPr/>
          <p:nvPr/>
        </p:nvGrpSpPr>
        <p:grpSpPr>
          <a:xfrm>
            <a:off x="365760" y="2194560"/>
            <a:ext cx="6766560" cy="457200"/>
            <a:chOff x="365760" y="2194560"/>
            <a:chExt cx="6766560" cy="457200"/>
          </a:xfrm>
        </p:grpSpPr>
        <p:sp>
          <p:nvSpPr>
            <p:cNvPr id="13" name="Forma 12"/>
            <p:cNvSpPr/>
            <p:nvPr/>
          </p:nvSpPr>
          <p:spPr>
            <a:xfrm>
              <a:off x="365760" y="2194560"/>
              <a:ext cx="676656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Hiperrespuesta aprendida a </a:t>
              </a:r>
              <a:r>
                <a:rPr lang="es-AR" sz="1350" b="1" dirty="0">
                  <a:solidFill>
                    <a:srgbClr val="1E1E1E"/>
                  </a:solidFill>
                  <a:latin typeface="Fira Sans Condensed"/>
                  <a:ea typeface="Fira Sans Condensed"/>
                  <a:cs typeface="Fira Sans Condensed"/>
                  <a:sym typeface="Fira Sans Condensed"/>
                </a:rPr>
                <a:t>pistas palatables</a:t>
              </a:r>
              <a:r>
                <a:rPr lang="es-AR" sz="1350" dirty="0">
                  <a:solidFill>
                    <a:srgbClr val="1E1E1E"/>
                  </a:solidFill>
                  <a:latin typeface="Fira Sans Condensed"/>
                  <a:ea typeface="Fira Sans Condensed"/>
                  <a:cs typeface="Fira Sans Condensed"/>
                  <a:sym typeface="Fira Sans Condensed"/>
                </a:rPr>
                <a:t>; recompensa </a:t>
              </a:r>
              <a:r>
                <a:rPr lang="es-AR" sz="1350" b="1" dirty="0">
                  <a:solidFill>
                    <a:srgbClr val="1E1E1E"/>
                  </a:solidFill>
                  <a:latin typeface="Fira Sans Condensed"/>
                  <a:ea typeface="Fira Sans Condensed"/>
                  <a:cs typeface="Fira Sans Condensed"/>
                  <a:sym typeface="Fira Sans Condensed"/>
                </a:rPr>
                <a:t>VTA–accumbens</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4" name="Forma 13"/>
            <p:cNvSpPr/>
            <p:nvPr/>
          </p:nvSpPr>
          <p:spPr>
            <a:xfrm>
              <a:off x="457200" y="22494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15" name="Paso 4"/>
          <p:cNvGrpSpPr/>
          <p:nvPr/>
        </p:nvGrpSpPr>
        <p:grpSpPr>
          <a:xfrm>
            <a:off x="365760" y="2743200"/>
            <a:ext cx="6766560" cy="457200"/>
            <a:chOff x="365760" y="2743200"/>
            <a:chExt cx="6766560" cy="457200"/>
          </a:xfrm>
        </p:grpSpPr>
        <p:sp>
          <p:nvSpPr>
            <p:cNvPr id="16" name="Forma 15"/>
            <p:cNvSpPr/>
            <p:nvPr/>
          </p:nvSpPr>
          <p:spPr>
            <a:xfrm>
              <a:off x="365760" y="2743200"/>
              <a:ext cx="676656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Ejes de </a:t>
              </a:r>
              <a:r>
                <a:rPr lang="es-AR" sz="1350" b="1" dirty="0">
                  <a:solidFill>
                    <a:srgbClr val="1E1E1E"/>
                  </a:solidFill>
                  <a:latin typeface="Fira Sans Condensed"/>
                  <a:ea typeface="Fira Sans Condensed"/>
                  <a:cs typeface="Fira Sans Condensed"/>
                  <a:sym typeface="Fira Sans Condensed"/>
                </a:rPr>
                <a:t>estrés</a:t>
              </a:r>
              <a:r>
                <a:rPr lang="es-AR" sz="1350" dirty="0">
                  <a:solidFill>
                    <a:srgbClr val="1E1E1E"/>
                  </a:solidFill>
                  <a:latin typeface="Fira Sans Condensed"/>
                  <a:ea typeface="Fira Sans Condensed"/>
                  <a:cs typeface="Fira Sans Condensed"/>
                  <a:sym typeface="Fira Sans Condensed"/>
                </a:rPr>
                <a:t> (CRH–ACTH–cortisol), </a:t>
              </a:r>
              <a:r>
                <a:rPr lang="es-AR" sz="1350" b="1" dirty="0">
                  <a:solidFill>
                    <a:srgbClr val="1E1E1E"/>
                  </a:solidFill>
                  <a:latin typeface="Fira Sans Condensed"/>
                  <a:ea typeface="Fira Sans Condensed"/>
                  <a:cs typeface="Fira Sans Condensed"/>
                  <a:sym typeface="Fira Sans Condensed"/>
                </a:rPr>
                <a:t>sueño</a:t>
              </a:r>
              <a:r>
                <a:rPr lang="es-AR" sz="1350" dirty="0">
                  <a:solidFill>
                    <a:srgbClr val="1E1E1E"/>
                  </a:solidFill>
                  <a:latin typeface="Fira Sans Condensed"/>
                  <a:ea typeface="Fira Sans Condensed"/>
                  <a:cs typeface="Fira Sans Condensed"/>
                  <a:sym typeface="Fira Sans Condensed"/>
                </a:rPr>
                <a:t> y ánimo.</a:t>
              </a:r>
              <a:endParaRPr lang="es-AR" sz="1350" dirty="0">
                <a:latin typeface="Fira Sans Condensed"/>
              </a:endParaRPr>
            </a:p>
          </p:txBody>
        </p:sp>
        <p:sp>
          <p:nvSpPr>
            <p:cNvPr id="17" name="Forma 16"/>
            <p:cNvSpPr/>
            <p:nvPr/>
          </p:nvSpPr>
          <p:spPr>
            <a:xfrm>
              <a:off x="457200" y="279806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grpSp>
        <p:nvGrpSpPr>
          <p:cNvPr id="18" name="Paso 5"/>
          <p:cNvGrpSpPr/>
          <p:nvPr/>
        </p:nvGrpSpPr>
        <p:grpSpPr>
          <a:xfrm>
            <a:off x="365760" y="3291840"/>
            <a:ext cx="6766560" cy="576072"/>
            <a:chOff x="365760" y="3291840"/>
            <a:chExt cx="6766560" cy="576072"/>
          </a:xfrm>
        </p:grpSpPr>
        <p:sp>
          <p:nvSpPr>
            <p:cNvPr id="19" name="Forma 18"/>
            <p:cNvSpPr/>
            <p:nvPr/>
          </p:nvSpPr>
          <p:spPr>
            <a:xfrm>
              <a:off x="365760" y="3291840"/>
              <a:ext cx="676656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Saciedad de corto plazo (</a:t>
              </a:r>
              <a:r>
                <a:rPr lang="es-AR" sz="1350" b="1" dirty="0">
                  <a:solidFill>
                    <a:srgbClr val="1E1E1E"/>
                  </a:solidFill>
                  <a:latin typeface="Fira Sans Condensed"/>
                  <a:ea typeface="Fira Sans Condensed"/>
                  <a:cs typeface="Fira Sans Condensed"/>
                  <a:sym typeface="Fira Sans Condensed"/>
                </a:rPr>
                <a:t>CCK/GLP-1/PYY</a:t>
              </a:r>
              <a:r>
                <a:rPr lang="es-AR" sz="1350" dirty="0">
                  <a:solidFill>
                    <a:srgbClr val="1E1E1E"/>
                  </a:solidFill>
                  <a:latin typeface="Fira Sans Condensed"/>
                  <a:ea typeface="Fira Sans Condensed"/>
                  <a:cs typeface="Fira Sans Condensed"/>
                  <a:sym typeface="Fira Sans Condensed"/>
                </a:rPr>
                <a:t>) insuficiente para frenar la búsqueda sostenida.</a:t>
              </a:r>
              <a:endParaRPr lang="es-AR" sz="1350" dirty="0">
                <a:latin typeface="Fira Sans Condensed"/>
              </a:endParaRPr>
            </a:p>
          </p:txBody>
        </p:sp>
        <p:sp>
          <p:nvSpPr>
            <p:cNvPr id="20" name="Forma 19"/>
            <p:cNvSpPr/>
            <p:nvPr/>
          </p:nvSpPr>
          <p:spPr>
            <a:xfrm>
              <a:off x="457200" y="340614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5</a:t>
              </a:r>
              <a:endParaRPr lang="es-AR" sz="1300" dirty="0">
                <a:latin typeface="Fira Sans Condensed"/>
              </a:endParaRPr>
            </a:p>
          </p:txBody>
        </p:sp>
      </p:grpSp>
      <p:grpSp>
        <p:nvGrpSpPr>
          <p:cNvPr id="21" name="Paso 6"/>
          <p:cNvGrpSpPr/>
          <p:nvPr/>
        </p:nvGrpSpPr>
        <p:grpSpPr>
          <a:xfrm>
            <a:off x="365760" y="3959352"/>
            <a:ext cx="6766560" cy="457200"/>
            <a:chOff x="365760" y="3959352"/>
            <a:chExt cx="6766560" cy="457200"/>
          </a:xfrm>
        </p:grpSpPr>
        <p:sp>
          <p:nvSpPr>
            <p:cNvPr id="22" name="Forma 21"/>
            <p:cNvSpPr/>
            <p:nvPr/>
          </p:nvSpPr>
          <p:spPr>
            <a:xfrm>
              <a:off x="365760" y="3959352"/>
              <a:ext cx="676656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Endocannabinoides (</a:t>
              </a:r>
              <a:r>
                <a:rPr lang="es-AR" sz="1350" b="1" dirty="0">
                  <a:solidFill>
                    <a:srgbClr val="1E1E1E"/>
                  </a:solidFill>
                  <a:latin typeface="Fira Sans Condensed"/>
                  <a:ea typeface="Fira Sans Condensed"/>
                  <a:cs typeface="Fira Sans Condensed"/>
                  <a:sym typeface="Fira Sans Condensed"/>
                </a:rPr>
                <a:t>AEA/2-AG–CB1</a:t>
              </a:r>
              <a:r>
                <a:rPr lang="es-AR" sz="1350" dirty="0">
                  <a:solidFill>
                    <a:srgbClr val="1E1E1E"/>
                  </a:solidFill>
                  <a:latin typeface="Fira Sans Condensed"/>
                  <a:ea typeface="Fira Sans Condensed"/>
                  <a:cs typeface="Fira Sans Condensed"/>
                  <a:sym typeface="Fira Sans Condensed"/>
                </a:rPr>
                <a:t>), </a:t>
              </a:r>
              <a:r>
                <a:rPr lang="es-AR" sz="1350" b="1" dirty="0">
                  <a:solidFill>
                    <a:srgbClr val="1E1E1E"/>
                  </a:solidFill>
                  <a:latin typeface="Fira Sans Condensed"/>
                  <a:ea typeface="Fira Sans Condensed"/>
                  <a:cs typeface="Fira Sans Condensed"/>
                  <a:sym typeface="Fira Sans Condensed"/>
                </a:rPr>
                <a:t>5-HT2C</a:t>
              </a:r>
              <a:r>
                <a:rPr lang="es-AR" sz="1350" dirty="0">
                  <a:solidFill>
                    <a:srgbClr val="1E1E1E"/>
                  </a:solidFill>
                  <a:latin typeface="Fira Sans Condensed"/>
                  <a:ea typeface="Fira Sans Condensed"/>
                  <a:cs typeface="Fira Sans Condensed"/>
                  <a:sym typeface="Fira Sans Condensed"/>
                </a:rPr>
                <a:t>, oxitocina, orexinas.</a:t>
              </a:r>
              <a:endParaRPr lang="es-AR" sz="1350" dirty="0">
                <a:latin typeface="Fira Sans Condensed"/>
              </a:endParaRPr>
            </a:p>
          </p:txBody>
        </p:sp>
        <p:sp>
          <p:nvSpPr>
            <p:cNvPr id="23" name="Forma 22"/>
            <p:cNvSpPr/>
            <p:nvPr/>
          </p:nvSpPr>
          <p:spPr>
            <a:xfrm>
              <a:off x="457200" y="4014216"/>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6</a:t>
              </a:r>
              <a:endParaRPr lang="es-AR" sz="1300" dirty="0">
                <a:latin typeface="Fira Sans Condensed"/>
              </a:endParaRPr>
            </a:p>
          </p:txBody>
        </p:sp>
      </p:grpSp>
      <p:sp>
        <p:nvSpPr>
          <p:cNvPr id="24" name="Perla clínica"/>
          <p:cNvSpPr/>
          <p:nvPr/>
        </p:nvSpPr>
        <p:spPr>
          <a:xfrm>
            <a:off x="7406640" y="1097280"/>
            <a:ext cx="4434840" cy="26517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b="1" dirty="0">
                <a:solidFill>
                  <a:srgbClr val="FFFFFF"/>
                </a:solidFill>
                <a:latin typeface="Fira Sans Condensed"/>
                <a:ea typeface="Fira Sans Condensed"/>
                <a:cs typeface="Fira Sans Condensed"/>
                <a:sym typeface="Fira Sans Condensed"/>
              </a:rPr>
              <a:t>No hacer inferencias excesivas</a:t>
            </a:r>
            <a:r>
              <a:rPr lang="es-AR" sz="1450" dirty="0">
                <a:solidFill>
                  <a:srgbClr val="FFFFFF"/>
                </a:solidFill>
                <a:latin typeface="Fira Sans Condensed"/>
                <a:ea typeface="Fira Sans Condensed"/>
                <a:cs typeface="Fira Sans Condensed"/>
                <a:sym typeface="Fira Sans Condensed"/>
              </a:rPr>
              <a:t>: el caso </a:t>
            </a:r>
            <a:r>
              <a:rPr lang="es-AR" sz="1450" b="1" dirty="0">
                <a:solidFill>
                  <a:srgbClr val="FFFFFF"/>
                </a:solidFill>
                <a:latin typeface="Fira Sans Condensed"/>
                <a:ea typeface="Fira Sans Condensed"/>
                <a:cs typeface="Fira Sans Condensed"/>
                <a:sym typeface="Fira Sans Condensed"/>
              </a:rPr>
              <a:t>no informa</a:t>
            </a:r>
            <a:r>
              <a:rPr lang="es-AR" sz="1450" dirty="0">
                <a:solidFill>
                  <a:srgbClr val="FFFFFF"/>
                </a:solidFill>
                <a:latin typeface="Fira Sans Condensed"/>
                <a:ea typeface="Fira Sans Condensed"/>
                <a:cs typeface="Fira Sans Condensed"/>
                <a:sym typeface="Fira Sans Condensed"/>
              </a:rPr>
              <a:t> leptina, grelina, ACTH, cortisol ni dopamina. No se puede afirmar un déficit bioquímico específico.</a:t>
            </a:r>
            <a:endParaRPr lang="es-AR" sz="1450" dirty="0">
              <a:latin typeface="Fira Sans Condensed"/>
            </a:endParaRPr>
          </a:p>
        </p:txBody>
      </p:sp>
      <p:sp>
        <p:nvSpPr>
          <p:cNvPr id="25" name="Forma 24"/>
          <p:cNvSpPr/>
          <p:nvPr/>
        </p:nvSpPr>
        <p:spPr>
          <a:xfrm>
            <a:off x="7406640" y="3977640"/>
            <a:ext cx="4434840" cy="22860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No diagnosticar atracón, depresión o hipercortisolismo </a:t>
            </a:r>
            <a:r>
              <a:rPr lang="es-AR" sz="1350" b="1" dirty="0">
                <a:solidFill>
                  <a:srgbClr val="1E1E1E"/>
                </a:solidFill>
                <a:latin typeface="Fira Sans Condensed"/>
                <a:ea typeface="Fira Sans Condensed"/>
                <a:cs typeface="Fira Sans Condensed"/>
                <a:sym typeface="Fira Sans Condensed"/>
              </a:rPr>
              <a:t>sólo por el relato</a:t>
            </a:r>
            <a:r>
              <a:rPr lang="es-AR" sz="1350" dirty="0">
                <a:solidFill>
                  <a:srgbClr val="1E1E1E"/>
                </a:solidFill>
                <a:latin typeface="Fira Sans Condensed"/>
                <a:ea typeface="Fira Sans Condensed"/>
                <a:cs typeface="Fira Sans Condensed"/>
                <a:sym typeface="Fira Sans Condensed"/>
              </a:rPr>
              <a:t>. Explorar conducta alimentaria, ánimo, seguridad alimentaria, sustancias, sueño y salud mental con entrevista </a:t>
            </a:r>
            <a:r>
              <a:rPr lang="es-AR" sz="1350" b="1" dirty="0">
                <a:solidFill>
                  <a:srgbClr val="1E1E1E"/>
                </a:solidFill>
                <a:latin typeface="Fira Sans Condensed"/>
                <a:ea typeface="Fira Sans Condensed"/>
                <a:cs typeface="Fira Sans Condensed"/>
                <a:sym typeface="Fira Sans Condensed"/>
              </a:rPr>
              <a:t>no estigmatizante</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4"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PREGUNTA 6 · REGULACIÓN DEL APETITO APLICADA AL PACIENTE</a:t>
            </a:r>
            <a:endParaRPr lang="es-AR" sz="25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500" fill="hold"/>
                                        <p:tgtEl>
                                          <p:spTgt spid="24"/>
                                        </p:tgtEl>
                                        <p:attrNameLst>
                                          <p:attrName>ppt_w</p:attrName>
                                        </p:attrNameLst>
                                      </p:cBhvr>
                                      <p:tavLst>
                                        <p:tav tm="0">
                                          <p:val>
                                            <p:fltVal val="0"/>
                                          </p:val>
                                        </p:tav>
                                        <p:tav tm="100000">
                                          <p:val>
                                            <p:strVal val="#ppt_w"/>
                                          </p:val>
                                        </p:tav>
                                      </p:tavLst>
                                    </p:anim>
                                    <p:anim calcmode="lin" valueType="num">
                                      <p:cBhvr>
                                        <p:cTn id="36" dur="500" fill="hold"/>
                                        <p:tgtEl>
                                          <p:spTgt spid="24"/>
                                        </p:tgtEl>
                                        <p:attrNameLst>
                                          <p:attrName>ppt_h</p:attrName>
                                        </p:attrNameLst>
                                      </p:cBhvr>
                                      <p:tavLst>
                                        <p:tav tm="0">
                                          <p:val>
                                            <p:fltVal val="0"/>
                                          </p:val>
                                        </p:tav>
                                        <p:tav tm="100000">
                                          <p:val>
                                            <p:strVal val="#ppt_h"/>
                                          </p:val>
                                        </p:tav>
                                      </p:tavLst>
                                    </p:anim>
                                    <p:animEffect transition="in" filter="fade">
                                      <p:cBhvr>
                                        <p:cTn id="37" dur="500"/>
                                        <p:tgtEl>
                                          <p:spTgt spid="24"/>
                                        </p:tgtEl>
                                      </p:cBhvr>
                                    </p:animEffect>
                                  </p:childTnLst>
                                </p:cTn>
                              </p:par>
                            </p:childTnLst>
                          </p:cTn>
                        </p:par>
                      </p:childTnLst>
                    </p:cTn>
                  </p:par>
                  <p:par>
                    <p:cTn id="44" fill="hold">
                      <p:stCondLst>
                        <p:cond delay="indefinite"/>
                      </p:stCondLst>
                      <p:childTnLst>
                        <p:par>
                          <p:cTn id="43"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sp>
        <p:nvSpPr>
          <p:cNvPr id="7" name="Flecha v→m"/>
          <p:cNvSpPr/>
          <p:nvPr/>
        </p:nvSpPr>
        <p:spPr>
          <a:xfrm>
            <a:off x="3337560" y="1371600"/>
            <a:ext cx="365760" cy="91440"/>
          </a:xfrm>
          <a:custGeom>
            <a:avLst/>
            <a:gdLst/>
            <a:ahLst/>
            <a:cxnLst/>
            <a:rect l="0" t="0" r="r" b="b"/>
            <a:pathLst>
              <a:path w="399" h="100" fill="none">
                <a:moveTo>
                  <a:pt x="0" y="100"/>
                </a:moveTo>
                <a:lnTo>
                  <a:pt x="399" y="0"/>
                </a:lnTo>
              </a:path>
            </a:pathLst>
          </a:custGeom>
          <a:noFill/>
          <a:ln w="28575" cap="rnd">
            <a:solidFill>
              <a:srgbClr val="1E1E1E"/>
            </a:solidFill>
            <a:round/>
            <a:tailEnd type="triangle" w="med" len="med"/>
          </a:ln>
        </p:spPr>
      </p:sp>
      <p:sp>
        <p:nvSpPr>
          <p:cNvPr id="8" name="Flecha v→a"/>
          <p:cNvSpPr/>
          <p:nvPr/>
        </p:nvSpPr>
        <p:spPr>
          <a:xfrm>
            <a:off x="3337560" y="1554480"/>
            <a:ext cx="365760" cy="502920"/>
          </a:xfrm>
          <a:custGeom>
            <a:avLst/>
            <a:gdLst/>
            <a:ahLst/>
            <a:cxnLst/>
            <a:rect l="0" t="0" r="r" b="b"/>
            <a:pathLst>
              <a:path w="399" h="550" fill="none">
                <a:moveTo>
                  <a:pt x="0" y="0"/>
                </a:moveTo>
                <a:lnTo>
                  <a:pt x="399" y="550"/>
                </a:lnTo>
              </a:path>
            </a:pathLst>
          </a:custGeom>
          <a:noFill/>
          <a:ln w="28575" cap="rnd">
            <a:solidFill>
              <a:srgbClr val="1E1E1E"/>
            </a:solidFill>
            <a:round/>
            <a:tailEnd type="triangle" w="med" len="med"/>
          </a:ln>
        </p:spPr>
      </p:sp>
      <p:sp>
        <p:nvSpPr>
          <p:cNvPr id="9" name="Flecha m→ri"/>
          <p:cNvSpPr/>
          <p:nvPr/>
        </p:nvSpPr>
        <p:spPr>
          <a:xfrm>
            <a:off x="7726680" y="1371600"/>
            <a:ext cx="365760" cy="228600"/>
          </a:xfrm>
          <a:custGeom>
            <a:avLst/>
            <a:gdLst/>
            <a:ahLst/>
            <a:cxnLst/>
            <a:rect l="0" t="0" r="r" b="b"/>
            <a:pathLst>
              <a:path w="400" h="250" fill="none">
                <a:moveTo>
                  <a:pt x="0" y="0"/>
                </a:moveTo>
                <a:lnTo>
                  <a:pt x="400" y="250"/>
                </a:lnTo>
              </a:path>
            </a:pathLst>
          </a:custGeom>
          <a:noFill/>
          <a:ln w="28575" cap="rnd">
            <a:solidFill>
              <a:srgbClr val="1E1E1E"/>
            </a:solidFill>
            <a:round/>
            <a:tailEnd type="triangle" w="med" len="med"/>
          </a:ln>
        </p:spPr>
      </p:sp>
      <p:sp>
        <p:nvSpPr>
          <p:cNvPr id="10" name="Flecha a→ri"/>
          <p:cNvSpPr/>
          <p:nvPr/>
        </p:nvSpPr>
        <p:spPr>
          <a:xfrm>
            <a:off x="7726680" y="1828800"/>
            <a:ext cx="365760" cy="228600"/>
          </a:xfrm>
          <a:custGeom>
            <a:avLst/>
            <a:gdLst/>
            <a:ahLst/>
            <a:cxnLst/>
            <a:rect l="0" t="0" r="r" b="b"/>
            <a:pathLst>
              <a:path w="400" h="250" fill="none">
                <a:moveTo>
                  <a:pt x="0" y="250"/>
                </a:moveTo>
                <a:lnTo>
                  <a:pt x="400" y="0"/>
                </a:lnTo>
              </a:path>
            </a:pathLst>
          </a:custGeom>
          <a:noFill/>
          <a:ln w="28575" cap="rnd">
            <a:solidFill>
              <a:srgbClr val="1E1E1E"/>
            </a:solidFill>
            <a:round/>
            <a:tailEnd type="triangle" w="med" len="med"/>
          </a:ln>
        </p:spPr>
      </p:sp>
      <p:sp>
        <p:nvSpPr>
          <p:cNvPr id="11" name="Flecha ri→b"/>
          <p:cNvSpPr/>
          <p:nvPr/>
        </p:nvSpPr>
        <p:spPr>
          <a:xfrm>
            <a:off x="9989820" y="2048256"/>
            <a:ext cx="9144" cy="246888"/>
          </a:xfrm>
          <a:custGeom>
            <a:avLst/>
            <a:gdLst/>
            <a:ahLst/>
            <a:cxnLst/>
            <a:rect l="0" t="0" r="r" b="b"/>
            <a:pathLst>
              <a:path w="10" h="269" fill="none">
                <a:moveTo>
                  <a:pt x="0" y="0"/>
                </a:moveTo>
                <a:lnTo>
                  <a:pt x="0" y="269"/>
                </a:lnTo>
              </a:path>
            </a:pathLst>
          </a:custGeom>
          <a:noFill/>
          <a:ln w="28575" cap="rnd">
            <a:solidFill>
              <a:srgbClr val="1E1E1E"/>
            </a:solidFill>
            <a:round/>
            <a:tailEnd type="triangle" w="med" len="med"/>
          </a:ln>
        </p:spPr>
      </p:sp>
      <p:sp>
        <p:nvSpPr>
          <p:cNvPr id="12" name="Flecha b→f"/>
          <p:cNvSpPr/>
          <p:nvPr/>
        </p:nvSpPr>
        <p:spPr>
          <a:xfrm>
            <a:off x="9989820" y="2916936"/>
            <a:ext cx="9144" cy="64008"/>
          </a:xfrm>
          <a:custGeom>
            <a:avLst/>
            <a:gdLst/>
            <a:ahLst/>
            <a:cxnLst/>
            <a:rect l="0" t="0" r="r" b="b"/>
            <a:pathLst>
              <a:path w="10" h="69" fill="none">
                <a:moveTo>
                  <a:pt x="0" y="0"/>
                </a:moveTo>
                <a:lnTo>
                  <a:pt x="0" y="69"/>
                </a:lnTo>
              </a:path>
            </a:pathLst>
          </a:custGeom>
          <a:noFill/>
          <a:ln w="28575" cap="rnd">
            <a:solidFill>
              <a:srgbClr val="1E1E1E"/>
            </a:solidFill>
            <a:round/>
            <a:tailEnd type="triangle" w="med" len="med"/>
          </a:ln>
        </p:spPr>
      </p:sp>
      <p:sp>
        <p:nvSpPr>
          <p:cNvPr id="13" name="Flecha f→h"/>
          <p:cNvSpPr/>
          <p:nvPr/>
        </p:nvSpPr>
        <p:spPr>
          <a:xfrm>
            <a:off x="7717536" y="3291840"/>
            <a:ext cx="384048" cy="9144"/>
          </a:xfrm>
          <a:custGeom>
            <a:avLst/>
            <a:gdLst/>
            <a:ahLst/>
            <a:cxnLst/>
            <a:rect l="0" t="0" r="r" b="b"/>
            <a:pathLst>
              <a:path w="420" h="10" fill="none">
                <a:moveTo>
                  <a:pt x="420" y="0"/>
                </a:moveTo>
                <a:lnTo>
                  <a:pt x="0" y="0"/>
                </a:lnTo>
              </a:path>
            </a:pathLst>
          </a:custGeom>
          <a:noFill/>
          <a:ln w="28575" cap="rnd">
            <a:solidFill>
              <a:srgbClr val="1E1E1E"/>
            </a:solidFill>
            <a:round/>
            <a:tailEnd type="triangle" w="med" len="med"/>
          </a:ln>
        </p:spPr>
      </p:sp>
      <p:sp>
        <p:nvSpPr>
          <p:cNvPr id="14" name="Flecha h→d"/>
          <p:cNvSpPr/>
          <p:nvPr/>
        </p:nvSpPr>
        <p:spPr>
          <a:xfrm>
            <a:off x="6235065" y="3602736"/>
            <a:ext cx="1040130" cy="155448"/>
          </a:xfrm>
          <a:custGeom>
            <a:avLst/>
            <a:gdLst/>
            <a:ahLst/>
            <a:cxnLst/>
            <a:rect l="0" t="0" r="r" b="b"/>
            <a:pathLst>
              <a:path w="1137" h="170" fill="none">
                <a:moveTo>
                  <a:pt x="0" y="0"/>
                </a:moveTo>
                <a:lnTo>
                  <a:pt x="1137" y="170"/>
                </a:lnTo>
              </a:path>
            </a:pathLst>
          </a:custGeom>
          <a:noFill/>
          <a:ln w="28575" cap="rnd">
            <a:solidFill>
              <a:srgbClr val="1E1E1E"/>
            </a:solidFill>
            <a:round/>
            <a:tailEnd type="triangle" w="med" len="med"/>
          </a:ln>
        </p:spPr>
      </p:sp>
      <p:sp>
        <p:nvSpPr>
          <p:cNvPr id="15" name="Nodo v"/>
          <p:cNvSpPr/>
          <p:nvPr/>
        </p:nvSpPr>
        <p:spPr>
          <a:xfrm>
            <a:off x="365760" y="1188720"/>
            <a:ext cx="292608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ADIPOSIDAD VISCERAL Y ECTÓPICA</a:t>
            </a:r>
            <a:endParaRPr lang="es-AR" sz="1400" dirty="0">
              <a:latin typeface="Fira Sans Condensed"/>
            </a:endParaRPr>
          </a:p>
        </p:txBody>
      </p:sp>
      <p:sp>
        <p:nvSpPr>
          <p:cNvPr id="16" name="Nodo m"/>
          <p:cNvSpPr/>
          <p:nvPr/>
        </p:nvSpPr>
        <p:spPr>
          <a:xfrm>
            <a:off x="3749040" y="1097280"/>
            <a:ext cx="39319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AGNE · DAG · ceramidas · JNK/IKKβ</a:t>
            </a:r>
            <a:endParaRPr lang="es-AR" sz="1300" dirty="0">
              <a:latin typeface="Fira Sans Condensed"/>
            </a:endParaRPr>
          </a:p>
        </p:txBody>
      </p:sp>
      <p:sp>
        <p:nvSpPr>
          <p:cNvPr id="17" name="Nodo a"/>
          <p:cNvSpPr/>
          <p:nvPr/>
        </p:nvSpPr>
        <p:spPr>
          <a:xfrm>
            <a:off x="3749040" y="1783080"/>
            <a:ext cx="39319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Adiponectina ↓ · inflamación</a:t>
            </a:r>
            <a:endParaRPr lang="es-AR" sz="1350" dirty="0">
              <a:latin typeface="Fira Sans Condensed"/>
            </a:endParaRPr>
          </a:p>
        </p:txBody>
      </p:sp>
      <p:sp>
        <p:nvSpPr>
          <p:cNvPr id="18" name="Nodo ri"/>
          <p:cNvSpPr/>
          <p:nvPr/>
        </p:nvSpPr>
        <p:spPr>
          <a:xfrm>
            <a:off x="8138160" y="1371600"/>
            <a:ext cx="370332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RESISTENCIA A INSULINA</a:t>
            </a:r>
            <a:endParaRPr lang="es-AR" sz="1400" dirty="0">
              <a:latin typeface="Fira Sans Condensed"/>
            </a:endParaRPr>
          </a:p>
        </p:txBody>
      </p:sp>
      <p:sp>
        <p:nvSpPr>
          <p:cNvPr id="19" name="Nodo b"/>
          <p:cNvSpPr/>
          <p:nvPr/>
        </p:nvSpPr>
        <p:spPr>
          <a:xfrm>
            <a:off x="8138160" y="2331720"/>
            <a:ext cx="37033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Hiperinsulinemia compensadora</a:t>
            </a:r>
            <a:endParaRPr lang="es-AR" sz="1350" dirty="0">
              <a:latin typeface="Fira Sans Condensed"/>
            </a:endParaRPr>
          </a:p>
        </p:txBody>
      </p:sp>
      <p:sp>
        <p:nvSpPr>
          <p:cNvPr id="20" name="Nodo f"/>
          <p:cNvSpPr/>
          <p:nvPr/>
        </p:nvSpPr>
        <p:spPr>
          <a:xfrm>
            <a:off x="8138160" y="3017520"/>
            <a:ext cx="37033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Genética + gluco/lipotoxicidad → capacidad β ↓</a:t>
            </a:r>
            <a:endParaRPr lang="es-AR" sz="1200" dirty="0">
              <a:latin typeface="Fira Sans Condensed"/>
            </a:endParaRPr>
          </a:p>
        </p:txBody>
      </p:sp>
      <p:sp>
        <p:nvSpPr>
          <p:cNvPr id="21" name="Nodo h"/>
          <p:cNvSpPr/>
          <p:nvPr/>
        </p:nvSpPr>
        <p:spPr>
          <a:xfrm>
            <a:off x="3749040" y="3017520"/>
            <a:ext cx="393192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Hígado produce glucosa · músculo capta menos</a:t>
            </a:r>
            <a:endParaRPr lang="es-AR" sz="1250" dirty="0">
              <a:latin typeface="Fira Sans Condensed"/>
            </a:endParaRPr>
          </a:p>
        </p:txBody>
      </p:sp>
      <p:sp>
        <p:nvSpPr>
          <p:cNvPr id="22" name="Nodo d"/>
          <p:cNvSpPr/>
          <p:nvPr/>
        </p:nvSpPr>
        <p:spPr>
          <a:xfrm>
            <a:off x="3749040" y="3794760"/>
            <a:ext cx="809244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DM2 (confirmar la glucemia 145 con criterios adecuados)</a:t>
            </a:r>
            <a:endParaRPr lang="es-AR" sz="1400" dirty="0">
              <a:latin typeface="Fira Sans Condensed"/>
            </a:endParaRPr>
          </a:p>
        </p:txBody>
      </p:sp>
      <p:sp>
        <p:nvSpPr>
          <p:cNvPr id="23" name="Perla clínica"/>
          <p:cNvSpPr/>
          <p:nvPr/>
        </p:nvSpPr>
        <p:spPr>
          <a:xfrm>
            <a:off x="365760" y="4663440"/>
            <a:ext cx="11475720" cy="16002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Descenso de peso, actividad física y terapias apropiadas pueden mejorar la sensibilidad y, en algunos pacientes, inducir </a:t>
            </a:r>
            <a:r>
              <a:rPr lang="es-AR" sz="1550" b="1" dirty="0">
                <a:solidFill>
                  <a:srgbClr val="FFFFFF"/>
                </a:solidFill>
                <a:latin typeface="Fira Sans Condensed"/>
                <a:ea typeface="Fira Sans Condensed"/>
                <a:cs typeface="Fira Sans Condensed"/>
                <a:sym typeface="Fira Sans Condensed"/>
              </a:rPr>
              <a:t>remisión</a:t>
            </a:r>
            <a:r>
              <a:rPr lang="es-AR" sz="1550" dirty="0">
                <a:solidFill>
                  <a:srgbClr val="FFFFFF"/>
                </a:solidFill>
                <a:latin typeface="Fira Sans Condensed"/>
                <a:ea typeface="Fira Sans Condensed"/>
                <a:cs typeface="Fira Sans Condensed"/>
                <a:sym typeface="Fira Sans Condensed"/>
              </a:rPr>
              <a:t> de la DM2, </a:t>
            </a:r>
            <a:r>
              <a:rPr lang="es-AR" sz="1550" b="1" dirty="0">
                <a:solidFill>
                  <a:srgbClr val="FFFFFF"/>
                </a:solidFill>
                <a:latin typeface="Fira Sans Condensed"/>
                <a:ea typeface="Fira Sans Condensed"/>
                <a:cs typeface="Fira Sans Condensed"/>
                <a:sym typeface="Fira Sans Condensed"/>
              </a:rPr>
              <a:t>sin equivaler a curación permanente</a:t>
            </a:r>
            <a:r>
              <a:rPr lang="es-AR" sz="1550" dirty="0">
                <a:solidFill>
                  <a:srgbClr val="FFFFFF"/>
                </a:solidFill>
                <a:latin typeface="Fira Sans Condensed"/>
                <a:ea typeface="Fira Sans Condensed"/>
                <a:cs typeface="Fira Sans Condensed"/>
                <a:sym typeface="Fira Sans Condensed"/>
              </a:rPr>
              <a:t>.</a:t>
            </a:r>
            <a:endParaRPr lang="es-AR" sz="15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7A · OBESIDAD Y DIABETES TIPO 2</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00"/>
                                        <p:tgtEl>
                                          <p:spTgt spid="15"/>
                                        </p:tgtEl>
                                      </p:cBhvr>
                                    </p:animEffect>
                                  </p:childTnLst>
                                </p:cTn>
                              </p:par>
                            </p:childTnLst>
                          </p:cTn>
                        </p:par>
                      </p:childTnLst>
                    </p:cTn>
                  </p:par>
                  <p:par>
                    <p:cTn id="24"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childTnLst>
                          </p:cTn>
                        </p:par>
                        <p:par>
                          <p:cTn id="19" fill="hold">
                            <p:stCondLst>
                              <p:cond delay="9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23" fill="hold">
                            <p:stCondLst>
                              <p:cond delay="140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37" fill="hold">
                      <p:stCondLst>
                        <p:cond delay="indefinite"/>
                      </p:stCondLst>
                      <p:childTnLst>
                        <p:par>
                          <p:cTn id="28"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32"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6"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par>
                    <p:cTn id="54" fill="hold">
                      <p:stCondLst>
                        <p:cond delay="indefinite"/>
                      </p:stCondLst>
                      <p:childTnLst>
                        <p:par>
                          <p:cTn id="41"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500"/>
                                        <p:tgtEl>
                                          <p:spTgt spid="11"/>
                                        </p:tgtEl>
                                      </p:cBhvr>
                                    </p:animEffect>
                                  </p:childTnLst>
                                </p:cTn>
                              </p:par>
                            </p:childTnLst>
                          </p:cTn>
                        </p:par>
                        <p:par>
                          <p:cTn id="45"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par>
                          <p:cTn id="49" fill="hold">
                            <p:stCondLst>
                              <p:cond delay="900"/>
                            </p:stCondLst>
                            <p:childTnLst>
                              <p:par>
                                <p:cTn id="46" presetID="22" presetClass="entr" presetSubtype="1" fill="hold" grpId="0" nodeType="after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up)">
                                      <p:cBhvr>
                                        <p:cTn id="48" dur="500"/>
                                        <p:tgtEl>
                                          <p:spTgt spid="12"/>
                                        </p:tgtEl>
                                      </p:cBhvr>
                                    </p:animEffect>
                                  </p:childTnLst>
                                </p:cTn>
                              </p:par>
                            </p:childTnLst>
                          </p:cTn>
                        </p:par>
                        <p:par>
                          <p:cTn id="53" fill="hold">
                            <p:stCondLst>
                              <p:cond delay="1400"/>
                            </p:stCondLst>
                            <p:childTnLst>
                              <p:par>
                                <p:cTn id="50" presetID="10" presetClass="entr" presetSubtype="0"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childTnLst>
                          </p:cTn>
                        </p:par>
                      </p:childTnLst>
                    </p:cTn>
                  </p:par>
                  <p:par>
                    <p:cTn id="71" fill="hold">
                      <p:stCondLst>
                        <p:cond delay="indefinite"/>
                      </p:stCondLst>
                      <p:childTnLst>
                        <p:par>
                          <p:cTn id="58"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right)">
                                      <p:cBhvr>
                                        <p:cTn id="57" dur="500"/>
                                        <p:tgtEl>
                                          <p:spTgt spid="13"/>
                                        </p:tgtEl>
                                      </p:cBhvr>
                                    </p:animEffect>
                                  </p:childTnLst>
                                </p:cTn>
                              </p:par>
                            </p:childTnLst>
                          </p:cTn>
                        </p:par>
                        <p:par>
                          <p:cTn id="62" fill="hold">
                            <p:stCondLst>
                              <p:cond delay="500"/>
                            </p:stCondLst>
                            <p:childTnLst>
                              <p:par>
                                <p:cTn id="59" presetID="10" presetClass="entr" presetSubtype="0"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childTnLst>
                          </p:cTn>
                        </p:par>
                        <p:par>
                          <p:cTn id="66" fill="hold">
                            <p:stCondLst>
                              <p:cond delay="900"/>
                            </p:stCondLst>
                            <p:childTnLst>
                              <p:par>
                                <p:cTn id="63" presetID="22" presetClass="entr" presetSubtype="1"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childTnLst>
                          </p:cTn>
                        </p:par>
                        <p:par>
                          <p:cTn id="70" fill="hold">
                            <p:stCondLst>
                              <p:cond delay="1400"/>
                            </p:stCondLst>
                            <p:childTnLst>
                              <p:par>
                                <p:cTn id="67" presetID="10"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400"/>
                                        <p:tgtEl>
                                          <p:spTgt spid="22"/>
                                        </p:tgtEl>
                                      </p:cBhvr>
                                    </p:animEffect>
                                  </p:childTnLst>
                                </p:cTn>
                              </p:par>
                            </p:childTnLst>
                          </p:cTn>
                        </p:par>
                      </p:childTnLst>
                    </p:cTn>
                  </p:par>
                  <p:par>
                    <p:cTn id="78" fill="hold">
                      <p:stCondLst>
                        <p:cond delay="indefinite"/>
                      </p:stCondLst>
                      <p:childTnLst>
                        <p:par>
                          <p:cTn id="77"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p:cTn id="74" dur="500" fill="hold"/>
                                        <p:tgtEl>
                                          <p:spTgt spid="23"/>
                                        </p:tgtEl>
                                        <p:attrNameLst>
                                          <p:attrName>ppt_w</p:attrName>
                                        </p:attrNameLst>
                                      </p:cBhvr>
                                      <p:tavLst>
                                        <p:tav tm="0">
                                          <p:val>
                                            <p:fltVal val="0"/>
                                          </p:val>
                                        </p:tav>
                                        <p:tav tm="100000">
                                          <p:val>
                                            <p:strVal val="#ppt_w"/>
                                          </p:val>
                                        </p:tav>
                                      </p:tavLst>
                                    </p:anim>
                                    <p:anim calcmode="lin" valueType="num">
                                      <p:cBhvr>
                                        <p:cTn id="75" dur="500" fill="hold"/>
                                        <p:tgtEl>
                                          <p:spTgt spid="23"/>
                                        </p:tgtEl>
                                        <p:attrNameLst>
                                          <p:attrName>ppt_h</p:attrName>
                                        </p:attrNameLst>
                                      </p:cBhvr>
                                      <p:tavLst>
                                        <p:tav tm="0">
                                          <p:val>
                                            <p:fltVal val="0"/>
                                          </p:val>
                                        </p:tav>
                                        <p:tav tm="100000">
                                          <p:val>
                                            <p:strVal val="#ppt_h"/>
                                          </p:val>
                                        </p:tav>
                                      </p:tavLst>
                                    </p:anim>
                                    <p:animEffect transition="in" filter="fade">
                                      <p:cBhvr>
                                        <p:cTn id="7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6" grpId="0" animBg="1"/>
      <p:bldP spid="8" grpId="0" animBg="1"/>
      <p:bldP spid="17" grpId="0" animBg="1"/>
      <p:bldP spid="9" grpId="0" animBg="1"/>
      <p:bldP spid="10" grpId="0" animBg="1"/>
      <p:bldP spid="18" grpId="0" animBg="1"/>
      <p:bldP spid="11" grpId="0" animBg="1"/>
      <p:bldP spid="19" grpId="0" animBg="1"/>
      <p:bldP spid="12" grpId="0" animBg="1"/>
      <p:bldP spid="20" grpId="0" animBg="1"/>
      <p:bldP spid="13" grpId="0" animBg="1"/>
      <p:bldP spid="21" grpId="0" animBg="1"/>
      <p:bldP spid="14" grpId="0" animBg="1"/>
      <p:bldP spid="22" grpId="0" animBg="1"/>
      <p:bldP spid="23" grpId="0" animBg="1"/>
    </p:bld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pic>
        <p:nvPicPr>
          <p:cNvPr id="7" name="Riñón HTA" descr="Ilustración biomédica (Servier Medical Art, CC BY)"/>
          <p:cNvPicPr>
            <a:picLocks noChangeAspect="1"/>
          </p:cNvPicPr>
          <p:nvPr/>
        </p:nvPicPr>
        <p:blipFill>
          <a:blip r:embed="rId2"/>
          <a:stretch>
            <a:fillRect/>
          </a:stretch>
        </p:blipFill>
        <p:spPr>
          <a:xfrm>
            <a:off x="4846320" y="2057400"/>
            <a:ext cx="2194560" cy="3193746"/>
          </a:xfrm>
          <a:prstGeom prst="rect">
            <a:avLst/>
          </a:prstGeom>
        </p:spPr>
      </p:pic>
      <p:grpSp>
        <p:nvGrpSpPr>
          <p:cNvPr id="8" name="Mec Actividad simpática ↑"/>
          <p:cNvGrpSpPr/>
          <p:nvPr/>
        </p:nvGrpSpPr>
        <p:grpSpPr>
          <a:xfrm>
            <a:off x="365760" y="1097280"/>
            <a:ext cx="4754880" cy="1828800"/>
            <a:chOff x="365760" y="1097280"/>
            <a:chExt cx="4754880" cy="1828800"/>
          </a:xfrm>
        </p:grpSpPr>
        <p:sp>
          <p:nvSpPr>
            <p:cNvPr id="9" name="Recuadro Actividad simpática ↑"/>
            <p:cNvSpPr/>
            <p:nvPr/>
          </p:nvSpPr>
          <p:spPr>
            <a:xfrm>
              <a:off x="365760" y="1097280"/>
              <a:ext cx="4114800" cy="6858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Actividad simpática ↑</a:t>
              </a:r>
              <a:endParaRPr lang="es-AR" sz="1350" dirty="0">
                <a:latin typeface="Fira Sans Condensed"/>
              </a:endParaRPr>
            </a:p>
          </p:txBody>
        </p:sp>
        <p:sp>
          <p:nvSpPr>
            <p:cNvPr id="10" name="Flecha 9_2"/>
            <p:cNvSpPr/>
            <p:nvPr/>
          </p:nvSpPr>
          <p:spPr>
            <a:xfrm>
              <a:off x="4526280" y="1435608"/>
              <a:ext cx="594360" cy="1490472"/>
            </a:xfrm>
            <a:custGeom>
              <a:avLst/>
              <a:gdLst/>
              <a:ahLst/>
              <a:cxnLst/>
              <a:rect l="0" t="0" r="r" b="b"/>
              <a:pathLst>
                <a:path w="649" h="1630" fill="none">
                  <a:moveTo>
                    <a:pt x="0" y="0"/>
                  </a:moveTo>
                  <a:lnTo>
                    <a:pt x="649" y="1630"/>
                  </a:lnTo>
                </a:path>
              </a:pathLst>
            </a:custGeom>
            <a:noFill/>
            <a:ln w="25400" cap="rnd">
              <a:solidFill>
                <a:srgbClr val="1E1E1E"/>
              </a:solidFill>
              <a:round/>
              <a:tailEnd type="triangle" w="med" len="med"/>
            </a:ln>
          </p:spPr>
        </p:sp>
      </p:grpSp>
      <p:grpSp>
        <p:nvGrpSpPr>
          <p:cNvPr id="11" name="Mec SRAA (renal y adiposo) ↑"/>
          <p:cNvGrpSpPr/>
          <p:nvPr/>
        </p:nvGrpSpPr>
        <p:grpSpPr>
          <a:xfrm>
            <a:off x="365760" y="1965960"/>
            <a:ext cx="4754880" cy="960120"/>
            <a:chOff x="365760" y="1965960"/>
            <a:chExt cx="4754880" cy="960120"/>
          </a:xfrm>
        </p:grpSpPr>
        <p:sp>
          <p:nvSpPr>
            <p:cNvPr id="12" name="Recuadro SRAA (renal y adiposo)"/>
            <p:cNvSpPr/>
            <p:nvPr/>
          </p:nvSpPr>
          <p:spPr>
            <a:xfrm>
              <a:off x="365760" y="1965960"/>
              <a:ext cx="4114800" cy="6858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SRAA (renal y adiposo) ↑</a:t>
              </a:r>
              <a:endParaRPr lang="es-AR" sz="1350" dirty="0">
                <a:latin typeface="Fira Sans Condensed"/>
              </a:endParaRPr>
            </a:p>
          </p:txBody>
        </p:sp>
        <p:sp>
          <p:nvSpPr>
            <p:cNvPr id="13" name="Flecha 13_2"/>
            <p:cNvSpPr/>
            <p:nvPr/>
          </p:nvSpPr>
          <p:spPr>
            <a:xfrm>
              <a:off x="4526280" y="2304288"/>
              <a:ext cx="594360" cy="621792"/>
            </a:xfrm>
            <a:custGeom>
              <a:avLst/>
              <a:gdLst/>
              <a:ahLst/>
              <a:cxnLst/>
              <a:rect l="0" t="0" r="r" b="b"/>
              <a:pathLst>
                <a:path w="649" h="680" fill="none">
                  <a:moveTo>
                    <a:pt x="0" y="0"/>
                  </a:moveTo>
                  <a:lnTo>
                    <a:pt x="649" y="680"/>
                  </a:lnTo>
                </a:path>
              </a:pathLst>
            </a:custGeom>
            <a:noFill/>
            <a:ln w="25400" cap="rnd">
              <a:solidFill>
                <a:srgbClr val="1E1E1E"/>
              </a:solidFill>
              <a:round/>
              <a:tailEnd type="triangle" w="med" len="med"/>
            </a:ln>
          </p:spPr>
        </p:sp>
      </p:grpSp>
      <p:grpSp>
        <p:nvGrpSpPr>
          <p:cNvPr id="14" name="Mec Compresión renal por grasa perirrenal/sinusal"/>
          <p:cNvGrpSpPr/>
          <p:nvPr/>
        </p:nvGrpSpPr>
        <p:grpSpPr>
          <a:xfrm>
            <a:off x="365760" y="2834640"/>
            <a:ext cx="4754880" cy="685800"/>
            <a:chOff x="365760" y="2834640"/>
            <a:chExt cx="4754880" cy="685800"/>
          </a:xfrm>
        </p:grpSpPr>
        <p:sp>
          <p:nvSpPr>
            <p:cNvPr id="15" name="Recuadro Compresión renal por g"/>
            <p:cNvSpPr/>
            <p:nvPr/>
          </p:nvSpPr>
          <p:spPr>
            <a:xfrm>
              <a:off x="365760" y="2834640"/>
              <a:ext cx="4114800" cy="6858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Compresión renal por grasa perirrenal/sinusal</a:t>
              </a:r>
              <a:endParaRPr lang="es-AR" sz="1350" dirty="0">
                <a:latin typeface="Fira Sans Condensed"/>
              </a:endParaRPr>
            </a:p>
          </p:txBody>
        </p:sp>
        <p:sp>
          <p:nvSpPr>
            <p:cNvPr id="16" name="Flecha 17_2"/>
            <p:cNvSpPr/>
            <p:nvPr/>
          </p:nvSpPr>
          <p:spPr>
            <a:xfrm>
              <a:off x="4526280" y="2926080"/>
              <a:ext cx="594360" cy="246888"/>
            </a:xfrm>
            <a:custGeom>
              <a:avLst/>
              <a:gdLst/>
              <a:ahLst/>
              <a:cxnLst/>
              <a:rect l="0" t="0" r="r" b="b"/>
              <a:pathLst>
                <a:path w="649" h="270" fill="none">
                  <a:moveTo>
                    <a:pt x="0" y="270"/>
                  </a:moveTo>
                  <a:lnTo>
                    <a:pt x="649" y="0"/>
                  </a:lnTo>
                </a:path>
              </a:pathLst>
            </a:custGeom>
            <a:noFill/>
            <a:ln w="25400" cap="rnd">
              <a:solidFill>
                <a:srgbClr val="1E1E1E"/>
              </a:solidFill>
              <a:round/>
              <a:tailEnd type="triangle" w="med" len="med"/>
            </a:ln>
          </p:spPr>
        </p:sp>
      </p:grpSp>
      <p:grpSp>
        <p:nvGrpSpPr>
          <p:cNvPr id="17" name="Mec Reabsorción tubular de Na⁺ ↑"/>
          <p:cNvGrpSpPr/>
          <p:nvPr/>
        </p:nvGrpSpPr>
        <p:grpSpPr>
          <a:xfrm>
            <a:off x="365760" y="2926080"/>
            <a:ext cx="4754880" cy="1463040"/>
            <a:chOff x="365760" y="2926080"/>
            <a:chExt cx="4754880" cy="1463040"/>
          </a:xfrm>
        </p:grpSpPr>
        <p:sp>
          <p:nvSpPr>
            <p:cNvPr id="18" name="Recuadro Reabsorción tubular de"/>
            <p:cNvSpPr/>
            <p:nvPr/>
          </p:nvSpPr>
          <p:spPr>
            <a:xfrm>
              <a:off x="365760" y="3703320"/>
              <a:ext cx="4114800" cy="68580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Reabsorción tubular de Na⁺ ↑</a:t>
              </a:r>
              <a:endParaRPr lang="es-AR" sz="1350" dirty="0">
                <a:latin typeface="Fira Sans Condensed"/>
              </a:endParaRPr>
            </a:p>
          </p:txBody>
        </p:sp>
        <p:sp>
          <p:nvSpPr>
            <p:cNvPr id="19" name="Flecha 21_2"/>
            <p:cNvSpPr/>
            <p:nvPr/>
          </p:nvSpPr>
          <p:spPr>
            <a:xfrm>
              <a:off x="4526280" y="2926080"/>
              <a:ext cx="594360" cy="1115568"/>
            </a:xfrm>
            <a:custGeom>
              <a:avLst/>
              <a:gdLst/>
              <a:ahLst/>
              <a:cxnLst/>
              <a:rect l="0" t="0" r="r" b="b"/>
              <a:pathLst>
                <a:path w="649" h="1219" fill="none">
                  <a:moveTo>
                    <a:pt x="0" y="1219"/>
                  </a:moveTo>
                  <a:lnTo>
                    <a:pt x="649" y="0"/>
                  </a:lnTo>
                </a:path>
              </a:pathLst>
            </a:custGeom>
            <a:noFill/>
            <a:ln w="25400" cap="rnd">
              <a:solidFill>
                <a:srgbClr val="1E1E1E"/>
              </a:solidFill>
              <a:round/>
              <a:tailEnd type="triangle" w="med" len="med"/>
            </a:ln>
          </p:spPr>
        </p:sp>
      </p:grpSp>
      <p:grpSp>
        <p:nvGrpSpPr>
          <p:cNvPr id="20" name="Mec Hiperinsulinemia"/>
          <p:cNvGrpSpPr/>
          <p:nvPr/>
        </p:nvGrpSpPr>
        <p:grpSpPr>
          <a:xfrm>
            <a:off x="6858000" y="1097280"/>
            <a:ext cx="4937760" cy="1828800"/>
            <a:chOff x="6858000" y="1097280"/>
            <a:chExt cx="4937760" cy="1828800"/>
          </a:xfrm>
        </p:grpSpPr>
        <p:sp>
          <p:nvSpPr>
            <p:cNvPr id="21" name="Recuadro Hiperinsulinemia"/>
            <p:cNvSpPr/>
            <p:nvPr/>
          </p:nvSpPr>
          <p:spPr>
            <a:xfrm>
              <a:off x="7680960" y="1097280"/>
              <a:ext cx="411480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Hiperinsulinemia</a:t>
              </a:r>
              <a:endParaRPr lang="es-AR" sz="1350" dirty="0">
                <a:latin typeface="Fira Sans Condensed"/>
              </a:endParaRPr>
            </a:p>
          </p:txBody>
        </p:sp>
        <p:sp>
          <p:nvSpPr>
            <p:cNvPr id="22" name="Flecha 25_2"/>
            <p:cNvSpPr/>
            <p:nvPr/>
          </p:nvSpPr>
          <p:spPr>
            <a:xfrm>
              <a:off x="6858000" y="1435608"/>
              <a:ext cx="777240" cy="1490472"/>
            </a:xfrm>
            <a:custGeom>
              <a:avLst/>
              <a:gdLst/>
              <a:ahLst/>
              <a:cxnLst/>
              <a:rect l="0" t="0" r="r" b="b"/>
              <a:pathLst>
                <a:path w="849" h="1630" fill="none">
                  <a:moveTo>
                    <a:pt x="849" y="0"/>
                  </a:moveTo>
                  <a:lnTo>
                    <a:pt x="0" y="1630"/>
                  </a:lnTo>
                </a:path>
              </a:pathLst>
            </a:custGeom>
            <a:noFill/>
            <a:ln w="25400" cap="rnd">
              <a:solidFill>
                <a:srgbClr val="1E1E1E"/>
              </a:solidFill>
              <a:round/>
              <a:tailEnd type="triangle" w="med" len="med"/>
            </a:ln>
          </p:spPr>
        </p:sp>
      </p:grpSp>
      <p:grpSp>
        <p:nvGrpSpPr>
          <p:cNvPr id="23" name="Mec Endotelio: NO ↓ · estrés oxidativo"/>
          <p:cNvGrpSpPr/>
          <p:nvPr/>
        </p:nvGrpSpPr>
        <p:grpSpPr>
          <a:xfrm>
            <a:off x="6858000" y="1965960"/>
            <a:ext cx="4937760" cy="960120"/>
            <a:chOff x="6858000" y="1965960"/>
            <a:chExt cx="4937760" cy="960120"/>
          </a:xfrm>
        </p:grpSpPr>
        <p:sp>
          <p:nvSpPr>
            <p:cNvPr id="24" name="Recuadro Endotelio: NO ↓ · estr"/>
            <p:cNvSpPr/>
            <p:nvPr/>
          </p:nvSpPr>
          <p:spPr>
            <a:xfrm>
              <a:off x="7680960" y="1965960"/>
              <a:ext cx="411480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Endotelio: NO ↓ · estrés oxidativo</a:t>
              </a:r>
              <a:endParaRPr lang="es-AR" sz="1350" dirty="0">
                <a:latin typeface="Fira Sans Condensed"/>
              </a:endParaRPr>
            </a:p>
          </p:txBody>
        </p:sp>
        <p:sp>
          <p:nvSpPr>
            <p:cNvPr id="25" name="Flecha 29_2"/>
            <p:cNvSpPr/>
            <p:nvPr/>
          </p:nvSpPr>
          <p:spPr>
            <a:xfrm>
              <a:off x="6858000" y="2304288"/>
              <a:ext cx="777240" cy="621792"/>
            </a:xfrm>
            <a:custGeom>
              <a:avLst/>
              <a:gdLst/>
              <a:ahLst/>
              <a:cxnLst/>
              <a:rect l="0" t="0" r="r" b="b"/>
              <a:pathLst>
                <a:path w="849" h="680" fill="none">
                  <a:moveTo>
                    <a:pt x="849" y="0"/>
                  </a:moveTo>
                  <a:lnTo>
                    <a:pt x="0" y="680"/>
                  </a:lnTo>
                </a:path>
              </a:pathLst>
            </a:custGeom>
            <a:noFill/>
            <a:ln w="25400" cap="rnd">
              <a:solidFill>
                <a:srgbClr val="1E1E1E"/>
              </a:solidFill>
              <a:round/>
              <a:tailEnd type="triangle" w="med" len="med"/>
            </a:ln>
          </p:spPr>
        </p:sp>
      </p:grpSp>
      <p:grpSp>
        <p:nvGrpSpPr>
          <p:cNvPr id="26" name="Mec Inflamación"/>
          <p:cNvGrpSpPr/>
          <p:nvPr/>
        </p:nvGrpSpPr>
        <p:grpSpPr>
          <a:xfrm>
            <a:off x="6858000" y="2834640"/>
            <a:ext cx="4937760" cy="685800"/>
            <a:chOff x="6858000" y="2834640"/>
            <a:chExt cx="4937760" cy="685800"/>
          </a:xfrm>
        </p:grpSpPr>
        <p:sp>
          <p:nvSpPr>
            <p:cNvPr id="27" name="Recuadro Inflamación"/>
            <p:cNvSpPr/>
            <p:nvPr/>
          </p:nvSpPr>
          <p:spPr>
            <a:xfrm>
              <a:off x="7680960" y="2834640"/>
              <a:ext cx="411480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Inflamación</a:t>
              </a:r>
              <a:endParaRPr lang="es-AR" sz="1350" dirty="0">
                <a:latin typeface="Fira Sans Condensed"/>
              </a:endParaRPr>
            </a:p>
          </p:txBody>
        </p:sp>
        <p:sp>
          <p:nvSpPr>
            <p:cNvPr id="28" name="Flecha 33_2"/>
            <p:cNvSpPr/>
            <p:nvPr/>
          </p:nvSpPr>
          <p:spPr>
            <a:xfrm>
              <a:off x="6858000" y="2926080"/>
              <a:ext cx="777240" cy="246888"/>
            </a:xfrm>
            <a:custGeom>
              <a:avLst/>
              <a:gdLst/>
              <a:ahLst/>
              <a:cxnLst/>
              <a:rect l="0" t="0" r="r" b="b"/>
              <a:pathLst>
                <a:path w="849" h="270" fill="none">
                  <a:moveTo>
                    <a:pt x="849" y="270"/>
                  </a:moveTo>
                  <a:lnTo>
                    <a:pt x="0" y="0"/>
                  </a:lnTo>
                </a:path>
              </a:pathLst>
            </a:custGeom>
            <a:noFill/>
            <a:ln w="25400" cap="rnd">
              <a:solidFill>
                <a:srgbClr val="1E1E1E"/>
              </a:solidFill>
              <a:round/>
              <a:tailEnd type="triangle" w="med" len="med"/>
            </a:ln>
          </p:spPr>
        </p:sp>
      </p:grpSp>
      <p:grpSp>
        <p:nvGrpSpPr>
          <p:cNvPr id="29" name="Mec Apnea obstructiva del sueño"/>
          <p:cNvGrpSpPr/>
          <p:nvPr/>
        </p:nvGrpSpPr>
        <p:grpSpPr>
          <a:xfrm>
            <a:off x="6858000" y="2926080"/>
            <a:ext cx="4937760" cy="1463040"/>
            <a:chOff x="6858000" y="2926080"/>
            <a:chExt cx="4937760" cy="1463040"/>
          </a:xfrm>
        </p:grpSpPr>
        <p:sp>
          <p:nvSpPr>
            <p:cNvPr id="30" name="Recuadro Apnea obstructiva del "/>
            <p:cNvSpPr/>
            <p:nvPr/>
          </p:nvSpPr>
          <p:spPr>
            <a:xfrm>
              <a:off x="7680960" y="3703320"/>
              <a:ext cx="4114800" cy="6858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Apnea obstructiva del sueño</a:t>
              </a:r>
              <a:endParaRPr lang="es-AR" sz="1350" dirty="0">
                <a:latin typeface="Fira Sans Condensed"/>
              </a:endParaRPr>
            </a:p>
          </p:txBody>
        </p:sp>
        <p:sp>
          <p:nvSpPr>
            <p:cNvPr id="31" name="Flecha 37_2"/>
            <p:cNvSpPr/>
            <p:nvPr/>
          </p:nvSpPr>
          <p:spPr>
            <a:xfrm>
              <a:off x="6858000" y="2926080"/>
              <a:ext cx="777240" cy="1115568"/>
            </a:xfrm>
            <a:custGeom>
              <a:avLst/>
              <a:gdLst/>
              <a:ahLst/>
              <a:cxnLst/>
              <a:rect l="0" t="0" r="r" b="b"/>
              <a:pathLst>
                <a:path w="849" h="1219" fill="none">
                  <a:moveTo>
                    <a:pt x="849" y="1219"/>
                  </a:moveTo>
                  <a:lnTo>
                    <a:pt x="0" y="0"/>
                  </a:lnTo>
                </a:path>
              </a:pathLst>
            </a:custGeom>
            <a:noFill/>
            <a:ln w="25400" cap="rnd">
              <a:solidFill>
                <a:srgbClr val="1E1E1E"/>
              </a:solidFill>
              <a:round/>
              <a:tailEnd type="triangle" w="med" len="med"/>
            </a:ln>
          </p:spPr>
        </p:sp>
      </p:grpSp>
      <p:sp>
        <p:nvSpPr>
          <p:cNvPr id="32" name="Recuadro Volumen ↑ + resistenci"/>
          <p:cNvSpPr/>
          <p:nvPr/>
        </p:nvSpPr>
        <p:spPr>
          <a:xfrm>
            <a:off x="4480560" y="4617720"/>
            <a:ext cx="3200400" cy="6858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Volumen ↑ + resistencia vascular ↑</a:t>
            </a:r>
            <a:endParaRPr lang="es-AR" sz="1400" dirty="0">
              <a:latin typeface="Fira Sans Condensed"/>
            </a:endParaRPr>
          </a:p>
        </p:txBody>
      </p:sp>
      <p:sp>
        <p:nvSpPr>
          <p:cNvPr id="33" name="Forma 40"/>
          <p:cNvSpPr/>
          <p:nvPr/>
        </p:nvSpPr>
        <p:spPr>
          <a:xfrm>
            <a:off x="365760" y="5486400"/>
            <a:ext cx="11475720" cy="7772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TA 160/100 requiere </a:t>
            </a:r>
            <a:r>
              <a:rPr lang="es-AR" sz="1350" b="1" dirty="0">
                <a:solidFill>
                  <a:srgbClr val="1E1E1E"/>
                </a:solidFill>
                <a:latin typeface="Fira Sans Condensed"/>
                <a:ea typeface="Fira Sans Condensed"/>
                <a:cs typeface="Fira Sans Condensed"/>
                <a:sym typeface="Fira Sans Condensed"/>
              </a:rPr>
              <a:t>confirmación y evaluación</a:t>
            </a:r>
            <a:r>
              <a:rPr lang="es-AR" sz="1350" dirty="0">
                <a:solidFill>
                  <a:srgbClr val="1E1E1E"/>
                </a:solidFill>
                <a:latin typeface="Fira Sans Condensed"/>
                <a:ea typeface="Fira Sans Condensed"/>
                <a:cs typeface="Fira Sans Condensed"/>
                <a:sym typeface="Fira Sans Condensed"/>
              </a:rPr>
              <a:t> según síntomas/riesgo; no atribuirla sólo al estrés. Tratar AOS, peso y sodio </a:t>
            </a:r>
            <a:r>
              <a:rPr lang="es-AR" sz="1350" b="1" dirty="0">
                <a:solidFill>
                  <a:srgbClr val="1E1E1E"/>
                </a:solidFill>
                <a:latin typeface="Fira Sans Condensed"/>
                <a:ea typeface="Fira Sans Condensed"/>
                <a:cs typeface="Fira Sans Condensed"/>
                <a:sym typeface="Fira Sans Condensed"/>
              </a:rPr>
              <a:t>complementa</a:t>
            </a:r>
            <a:r>
              <a:rPr lang="es-AR" sz="1350" dirty="0">
                <a:solidFill>
                  <a:srgbClr val="1E1E1E"/>
                </a:solidFill>
                <a:latin typeface="Fira Sans Condensed"/>
                <a:ea typeface="Fira Sans Condensed"/>
                <a:cs typeface="Fira Sans Condensed"/>
                <a:sym typeface="Fira Sans Condensed"/>
              </a:rPr>
              <a:t> los antihipertensivos.</a:t>
            </a:r>
            <a:endParaRPr lang="es-AR" sz="13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7B · OBESIDAD E HIPERTENSIÓN ARTERIAL</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00"/>
                                        <p:tgtEl>
                                          <p:spTgt spid="8"/>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200"/>
                                        <p:tgtEl>
                                          <p:spTgt spid="11"/>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
                                        <p:tgtEl>
                                          <p:spTgt spid="14"/>
                                        </p:tgtEl>
                                      </p:cBhvr>
                                    </p:animEffect>
                                  </p:childTnLst>
                                </p:cTn>
                              </p:par>
                            </p:childTnLst>
                          </p:cTn>
                        </p:par>
                        <p:par>
                          <p:cTn id="18"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00"/>
                                        <p:tgtEl>
                                          <p:spTgt spid="17"/>
                                        </p:tgtEl>
                                      </p:cBhvr>
                                    </p:animEffect>
                                  </p:childTnLst>
                                </p:cTn>
                              </p:par>
                            </p:childTnLst>
                          </p:cTn>
                        </p:par>
                      </p:childTnLst>
                    </p:cTn>
                  </p:par>
                  <p:par>
                    <p:cTn id="36"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childTnLst>
                          </p:cTn>
                        </p:par>
                        <p:par>
                          <p:cTn id="27" fill="hold">
                            <p:stCondLst>
                              <p:cond delay="200"/>
                            </p:stCondLst>
                            <p:childTnLst>
                              <p:par>
                                <p:cTn id="24" presetID="10" presetClass="entr" presetSubtype="0"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200"/>
                                        <p:tgtEl>
                                          <p:spTgt spid="23"/>
                                        </p:tgtEl>
                                      </p:cBhvr>
                                    </p:animEffect>
                                  </p:childTnLst>
                                </p:cTn>
                              </p:par>
                            </p:childTnLst>
                          </p:cTn>
                        </p:par>
                        <p:par>
                          <p:cTn id="31" fill="hold">
                            <p:stCondLst>
                              <p:cond delay="400"/>
                            </p:stCondLst>
                            <p:childTnLst>
                              <p:par>
                                <p:cTn id="28" presetID="10" presetClass="entr" presetSubtype="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200"/>
                                        <p:tgtEl>
                                          <p:spTgt spid="26"/>
                                        </p:tgtEl>
                                      </p:cBhvr>
                                    </p:animEffect>
                                  </p:childTnLst>
                                </p:cTn>
                              </p:par>
                            </p:childTnLst>
                          </p:cTn>
                        </p:par>
                        <p:par>
                          <p:cTn id="35" fill="hold">
                            <p:stCondLst>
                              <p:cond delay="600"/>
                            </p:stCondLst>
                            <p:childTnLst>
                              <p:par>
                                <p:cTn id="32" presetID="10" presetClass="entr" presetSubtype="0" fill="hold" grpId="0"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00"/>
                                        <p:tgtEl>
                                          <p:spTgt spid="29"/>
                                        </p:tgtEl>
                                      </p:cBhvr>
                                    </p:animEffect>
                                  </p:childTnLst>
                                </p:cTn>
                              </p:par>
                            </p:childTnLst>
                          </p:cTn>
                        </p:par>
                      </p:childTnLst>
                    </p:cTn>
                  </p:par>
                  <p:par>
                    <p:cTn id="43" fill="hold">
                      <p:stCondLst>
                        <p:cond delay="indefinite"/>
                      </p:stCondLst>
                      <p:childTnLst>
                        <p:par>
                          <p:cTn id="42"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childTnLst>
                          </p:cTn>
                        </p:par>
                      </p:childTnLst>
                    </p:cTn>
                  </p:par>
                  <p:par>
                    <p:cTn id="48" fill="hold">
                      <p:stCondLst>
                        <p:cond delay="indefinite"/>
                      </p:stCondLst>
                      <p:childTnLst>
                        <p:par>
                          <p:cTn id="47"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pic>
        <p:nvPicPr>
          <p:cNvPr id="7" name="Hígado lip" descr="Ilustración biomédica (Servier Medical Art, CC BY)"/>
          <p:cNvPicPr>
            <a:picLocks noChangeAspect="1"/>
          </p:cNvPicPr>
          <p:nvPr/>
        </p:nvPicPr>
        <p:blipFill>
          <a:blip r:embed="rId2"/>
          <a:stretch>
            <a:fillRect/>
          </a:stretch>
        </p:blipFill>
        <p:spPr>
          <a:xfrm>
            <a:off x="365760" y="1097280"/>
            <a:ext cx="2377440" cy="1725094"/>
          </a:xfrm>
          <a:prstGeom prst="rect">
            <a:avLst/>
          </a:prstGeom>
        </p:spPr>
      </p:pic>
      <p:pic>
        <p:nvPicPr>
          <p:cNvPr id="8" name="VLDL img" descr="Ilustración biomédica (Servier Medical Art, CC BY)"/>
          <p:cNvPicPr>
            <a:picLocks noChangeAspect="1"/>
          </p:cNvPicPr>
          <p:nvPr/>
        </p:nvPicPr>
        <p:blipFill>
          <a:blip r:embed="rId3"/>
          <a:stretch>
            <a:fillRect/>
          </a:stretch>
        </p:blipFill>
        <p:spPr>
          <a:xfrm>
            <a:off x="3017520" y="1143000"/>
            <a:ext cx="1097280" cy="898986"/>
          </a:xfrm>
          <a:prstGeom prst="rect">
            <a:avLst/>
          </a:prstGeom>
        </p:spPr>
      </p:pic>
      <p:pic>
        <p:nvPicPr>
          <p:cNvPr id="9" name="LDL img" descr="Ilustración biomédica (Servier Medical Art, CC BY)"/>
          <p:cNvPicPr>
            <a:picLocks noChangeAspect="1"/>
          </p:cNvPicPr>
          <p:nvPr/>
        </p:nvPicPr>
        <p:blipFill>
          <a:blip r:embed="rId4"/>
          <a:stretch>
            <a:fillRect/>
          </a:stretch>
        </p:blipFill>
        <p:spPr>
          <a:xfrm>
            <a:off x="7498080" y="2926080"/>
            <a:ext cx="914400" cy="807938"/>
          </a:xfrm>
          <a:prstGeom prst="rect">
            <a:avLst/>
          </a:prstGeom>
        </p:spPr>
      </p:pic>
      <p:pic>
        <p:nvPicPr>
          <p:cNvPr id="10" name="HDL img" descr="Ilustración biomédica (Servier Medical Art, CC BY)"/>
          <p:cNvPicPr>
            <a:picLocks noChangeAspect="1"/>
          </p:cNvPicPr>
          <p:nvPr/>
        </p:nvPicPr>
        <p:blipFill>
          <a:blip r:embed="rId5"/>
          <a:stretch>
            <a:fillRect/>
          </a:stretch>
        </p:blipFill>
        <p:spPr>
          <a:xfrm>
            <a:off x="7543800" y="4160520"/>
            <a:ext cx="868680" cy="918544"/>
          </a:xfrm>
          <a:prstGeom prst="rect">
            <a:avLst/>
          </a:prstGeom>
        </p:spPr>
      </p:pic>
      <p:sp>
        <p:nvSpPr>
          <p:cNvPr id="11" name="Flecha a→v"/>
          <p:cNvSpPr/>
          <p:nvPr/>
        </p:nvSpPr>
        <p:spPr>
          <a:xfrm>
            <a:off x="3154680" y="1645920"/>
            <a:ext cx="1097280" cy="1554480"/>
          </a:xfrm>
          <a:custGeom>
            <a:avLst/>
            <a:gdLst/>
            <a:ahLst/>
            <a:cxnLst/>
            <a:rect l="0" t="0" r="r" b="b"/>
            <a:pathLst>
              <a:path w="1200" h="1700" fill="none">
                <a:moveTo>
                  <a:pt x="0" y="1700"/>
                </a:moveTo>
                <a:lnTo>
                  <a:pt x="1200" y="0"/>
                </a:lnTo>
              </a:path>
            </a:pathLst>
          </a:custGeom>
          <a:noFill/>
          <a:ln w="28575" cap="rnd">
            <a:solidFill>
              <a:srgbClr val="1E1E1E"/>
            </a:solidFill>
            <a:round/>
            <a:tailEnd type="triangle" w="med" len="med"/>
          </a:ln>
        </p:spPr>
      </p:sp>
      <p:sp>
        <p:nvSpPr>
          <p:cNvPr id="12" name="Flecha v→c"/>
          <p:cNvSpPr/>
          <p:nvPr/>
        </p:nvSpPr>
        <p:spPr>
          <a:xfrm>
            <a:off x="5760720" y="1911096"/>
            <a:ext cx="9144" cy="429768"/>
          </a:xfrm>
          <a:custGeom>
            <a:avLst/>
            <a:gdLst/>
            <a:ahLst/>
            <a:cxnLst/>
            <a:rect l="0" t="0" r="r" b="b"/>
            <a:pathLst>
              <a:path w="10" h="470" fill="none">
                <a:moveTo>
                  <a:pt x="0" y="0"/>
                </a:moveTo>
                <a:lnTo>
                  <a:pt x="0" y="470"/>
                </a:lnTo>
              </a:path>
            </a:pathLst>
          </a:custGeom>
          <a:noFill/>
          <a:ln w="28575" cap="rnd">
            <a:solidFill>
              <a:srgbClr val="1E1E1E"/>
            </a:solidFill>
            <a:round/>
            <a:tailEnd type="triangle" w="med" len="med"/>
          </a:ln>
        </p:spPr>
      </p:sp>
      <p:sp>
        <p:nvSpPr>
          <p:cNvPr id="13" name="Flecha c→l"/>
          <p:cNvSpPr/>
          <p:nvPr/>
        </p:nvSpPr>
        <p:spPr>
          <a:xfrm>
            <a:off x="5760720" y="296265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14" name="Flecha l→ld"/>
          <p:cNvSpPr/>
          <p:nvPr/>
        </p:nvSpPr>
        <p:spPr>
          <a:xfrm>
            <a:off x="7269480" y="3310128"/>
            <a:ext cx="1325880" cy="118872"/>
          </a:xfrm>
          <a:custGeom>
            <a:avLst/>
            <a:gdLst/>
            <a:ahLst/>
            <a:cxnLst/>
            <a:rect l="0" t="0" r="r" b="b"/>
            <a:pathLst>
              <a:path w="1450" h="129" fill="none">
                <a:moveTo>
                  <a:pt x="0" y="129"/>
                </a:moveTo>
                <a:lnTo>
                  <a:pt x="1450" y="0"/>
                </a:lnTo>
              </a:path>
            </a:pathLst>
          </a:custGeom>
          <a:noFill/>
          <a:ln w="28575" cap="rnd">
            <a:solidFill>
              <a:srgbClr val="1E1E1E"/>
            </a:solidFill>
            <a:round/>
            <a:tailEnd type="triangle" w="med" len="med"/>
          </a:ln>
        </p:spPr>
      </p:sp>
      <p:sp>
        <p:nvSpPr>
          <p:cNvPr id="15" name="Flecha l→hd"/>
          <p:cNvSpPr/>
          <p:nvPr/>
        </p:nvSpPr>
        <p:spPr>
          <a:xfrm>
            <a:off x="7269480" y="3566160"/>
            <a:ext cx="1325880" cy="914400"/>
          </a:xfrm>
          <a:custGeom>
            <a:avLst/>
            <a:gdLst/>
            <a:ahLst/>
            <a:cxnLst/>
            <a:rect l="0" t="0" r="r" b="b"/>
            <a:pathLst>
              <a:path w="1450" h="1000" fill="none">
                <a:moveTo>
                  <a:pt x="0" y="0"/>
                </a:moveTo>
                <a:lnTo>
                  <a:pt x="1450" y="1000"/>
                </a:lnTo>
              </a:path>
            </a:pathLst>
          </a:custGeom>
          <a:noFill/>
          <a:ln w="28575" cap="rnd">
            <a:solidFill>
              <a:srgbClr val="1E1E1E"/>
            </a:solidFill>
            <a:round/>
            <a:tailEnd type="triangle" w="med" len="med"/>
          </a:ln>
        </p:spPr>
      </p:sp>
      <p:sp>
        <p:nvSpPr>
          <p:cNvPr id="16" name="Nodo a"/>
          <p:cNvSpPr/>
          <p:nvPr/>
        </p:nvSpPr>
        <p:spPr>
          <a:xfrm>
            <a:off x="365760" y="301752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AGNE ↑ al hígado</a:t>
            </a:r>
            <a:endParaRPr lang="es-AR" sz="1400" dirty="0">
              <a:latin typeface="Fira Sans Condensed"/>
            </a:endParaRPr>
          </a:p>
        </p:txBody>
      </p:sp>
      <p:sp>
        <p:nvSpPr>
          <p:cNvPr id="17" name="Nodo v"/>
          <p:cNvSpPr/>
          <p:nvPr/>
        </p:nvSpPr>
        <p:spPr>
          <a:xfrm>
            <a:off x="4297680" y="1280160"/>
            <a:ext cx="292608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VLDL RICA EN TAG ↑</a:t>
            </a:r>
            <a:endParaRPr lang="es-AR" sz="1400" dirty="0">
              <a:latin typeface="Fira Sans Condensed"/>
            </a:endParaRPr>
          </a:p>
        </p:txBody>
      </p:sp>
      <p:sp>
        <p:nvSpPr>
          <p:cNvPr id="18" name="Nodo c"/>
          <p:cNvSpPr/>
          <p:nvPr/>
        </p:nvSpPr>
        <p:spPr>
          <a:xfrm>
            <a:off x="4297680" y="2377440"/>
            <a:ext cx="29260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CETP: intercambia TAG </a:t>
            </a:r>
            <a:r>
              <a:rPr lang="es-AR" sz="1250" b="1" dirty="0">
                <a:solidFill>
                  <a:srgbClr val="1E1E1E"/>
                </a:solidFill>
                <a:latin typeface="Cambria Math"/>
                <a:ea typeface="Cambria Math"/>
                <a:cs typeface="Cambria Math"/>
                <a:sym typeface="Cambria Math"/>
              </a:rPr>
              <a:t>⇄</a:t>
            </a:r>
            <a:r>
              <a:rPr lang="es-AR" sz="1250" b="1" dirty="0">
                <a:solidFill>
                  <a:srgbClr val="1E1E1E"/>
                </a:solidFill>
                <a:latin typeface="Fira Sans Condensed"/>
                <a:ea typeface="Fira Sans Condensed"/>
                <a:cs typeface="Fira Sans Condensed"/>
                <a:sym typeface="Fira Sans Condensed"/>
              </a:rPr>
              <a:t> CE</a:t>
            </a:r>
            <a:endParaRPr lang="es-AR" sz="1250" dirty="0">
              <a:latin typeface="Fira Sans Condensed"/>
            </a:endParaRPr>
          </a:p>
        </p:txBody>
      </p:sp>
      <p:sp>
        <p:nvSpPr>
          <p:cNvPr id="19" name="Nodo l"/>
          <p:cNvSpPr/>
          <p:nvPr/>
        </p:nvSpPr>
        <p:spPr>
          <a:xfrm>
            <a:off x="4297680" y="3154680"/>
            <a:ext cx="292608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Lipasa hepática remodela</a:t>
            </a:r>
            <a:endParaRPr lang="es-AR" sz="1300" dirty="0">
              <a:latin typeface="Fira Sans Condensed"/>
            </a:endParaRPr>
          </a:p>
        </p:txBody>
      </p:sp>
      <p:sp>
        <p:nvSpPr>
          <p:cNvPr id="20" name="Nodo ld"/>
          <p:cNvSpPr/>
          <p:nvPr/>
        </p:nvSpPr>
        <p:spPr>
          <a:xfrm>
            <a:off x="8641080" y="3017520"/>
            <a:ext cx="320040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FFFFFF"/>
                </a:solidFill>
                <a:latin typeface="Fira Sans Condensed"/>
                <a:ea typeface="Fira Sans Condensed"/>
                <a:cs typeface="Fira Sans Condensed"/>
                <a:sym typeface="Fira Sans Condensed"/>
              </a:rPr>
              <a:t>LDL pequeñas y densas</a:t>
            </a:r>
            <a:endParaRPr lang="es-AR" sz="1350" dirty="0">
              <a:latin typeface="Fira Sans Condensed"/>
            </a:endParaRPr>
          </a:p>
        </p:txBody>
      </p:sp>
      <p:sp>
        <p:nvSpPr>
          <p:cNvPr id="21" name="Nodo hd"/>
          <p:cNvSpPr/>
          <p:nvPr/>
        </p:nvSpPr>
        <p:spPr>
          <a:xfrm>
            <a:off x="8641080" y="4206240"/>
            <a:ext cx="320040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FFFFFF"/>
                </a:solidFill>
                <a:latin typeface="Fira Sans Condensed"/>
                <a:ea typeface="Fira Sans Condensed"/>
                <a:cs typeface="Fira Sans Condensed"/>
                <a:sym typeface="Fira Sans Condensed"/>
              </a:rPr>
              <a:t>HDL pequeñas: catabolismo ↑ → HDL ↓</a:t>
            </a:r>
            <a:endParaRPr lang="es-AR" sz="1200" dirty="0">
              <a:latin typeface="Fira Sans Condensed"/>
            </a:endParaRPr>
          </a:p>
        </p:txBody>
      </p:sp>
      <p:sp>
        <p:nvSpPr>
          <p:cNvPr id="22" name="Perla clínica"/>
          <p:cNvSpPr/>
          <p:nvPr/>
        </p:nvSpPr>
        <p:spPr>
          <a:xfrm>
            <a:off x="365760" y="4983480"/>
            <a:ext cx="11475720" cy="12801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Patrón: </a:t>
            </a:r>
            <a:r>
              <a:rPr lang="es-AR" sz="1450" b="1" dirty="0">
                <a:solidFill>
                  <a:srgbClr val="FFFFFF"/>
                </a:solidFill>
                <a:latin typeface="Fira Sans Condensed"/>
                <a:ea typeface="Fira Sans Condensed"/>
                <a:cs typeface="Fira Sans Condensed"/>
                <a:sym typeface="Fira Sans Condensed"/>
              </a:rPr>
              <a:t>TG ↑ + HDL ↓ + LDL aterogénicas</a:t>
            </a:r>
            <a:r>
              <a:rPr lang="es-AR" sz="1450" dirty="0">
                <a:solidFill>
                  <a:srgbClr val="FFFFFF"/>
                </a:solidFill>
                <a:latin typeface="Fira Sans Condensed"/>
                <a:ea typeface="Fira Sans Condensed"/>
                <a:cs typeface="Fira Sans Condensed"/>
                <a:sym typeface="Fira Sans Condensed"/>
              </a:rPr>
              <a:t>. El LDL-C no siempre está muy alto (aquí </a:t>
            </a:r>
            <a:r>
              <a:rPr lang="es-AR" sz="1450" b="1" dirty="0">
                <a:solidFill>
                  <a:srgbClr val="FFFFFF"/>
                </a:solidFill>
                <a:latin typeface="Fira Sans Condensed"/>
                <a:ea typeface="Fira Sans Condensed"/>
                <a:cs typeface="Fira Sans Condensed"/>
                <a:sym typeface="Fira Sans Condensed"/>
              </a:rPr>
              <a:t>183</a:t>
            </a:r>
            <a:r>
              <a:rPr lang="es-AR" sz="1450" dirty="0">
                <a:solidFill>
                  <a:srgbClr val="FFFFFF"/>
                </a:solidFill>
                <a:latin typeface="Fira Sans Condensed"/>
                <a:ea typeface="Fira Sans Condensed"/>
                <a:cs typeface="Fira Sans Condensed"/>
                <a:sym typeface="Fira Sans Condensed"/>
              </a:rPr>
              <a:t>). La aterosclerosis depende de la </a:t>
            </a:r>
            <a:r>
              <a:rPr lang="es-AR" sz="1450" b="1" dirty="0">
                <a:solidFill>
                  <a:srgbClr val="FFFFFF"/>
                </a:solidFill>
                <a:latin typeface="Fira Sans Condensed"/>
                <a:ea typeface="Fira Sans Condensed"/>
                <a:cs typeface="Fira Sans Condensed"/>
                <a:sym typeface="Fira Sans Condensed"/>
              </a:rPr>
              <a:t>retención de partículas ApoB</a:t>
            </a:r>
            <a:r>
              <a:rPr lang="es-AR" sz="1450" dirty="0">
                <a:solidFill>
                  <a:srgbClr val="FFFFFF"/>
                </a:solidFill>
                <a:latin typeface="Fira Sans Condensed"/>
                <a:ea typeface="Fira Sans Condensed"/>
                <a:cs typeface="Fira Sans Condensed"/>
                <a:sym typeface="Fira Sans Condensed"/>
              </a:rPr>
              <a:t> en la íntima y de la </a:t>
            </a:r>
            <a:r>
              <a:rPr lang="es-AR" sz="1450" b="1" dirty="0">
                <a:solidFill>
                  <a:srgbClr val="FFFFFF"/>
                </a:solidFill>
                <a:latin typeface="Fira Sans Condensed"/>
                <a:ea typeface="Fira Sans Condensed"/>
                <a:cs typeface="Fira Sans Condensed"/>
                <a:sym typeface="Fira Sans Condensed"/>
              </a:rPr>
              <a:t>inflamación</a:t>
            </a:r>
            <a:r>
              <a:rPr lang="es-AR" sz="1450" dirty="0">
                <a:solidFill>
                  <a:srgbClr val="FFFFFF"/>
                </a:solidFill>
                <a:latin typeface="Fira Sans Condensed"/>
                <a:ea typeface="Fira Sans Condensed"/>
                <a:cs typeface="Fira Sans Condensed"/>
                <a:sym typeface="Fira Sans Condensed"/>
              </a:rPr>
              <a:t>, no sólo de «grasas en sangre».</a:t>
            </a:r>
            <a:endParaRPr lang="es-AR" sz="14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7C · OBESIDAD Y DISLIPEMIAS</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wipe(left)">
                                      <p:cBhvr>
                                        <p:cTn id="9" dur="500"/>
                                        <p:tgtEl>
                                          <p:spTgt spid="11"/>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childTnLst>
                          </p:cTn>
                        </p:par>
                      </p:childTnLst>
                    </p:cTn>
                  </p:par>
                  <p:par>
                    <p:cTn id="32" fill="hold">
                      <p:stCondLst>
                        <p:cond delay="indefinite"/>
                      </p:stCondLst>
                      <p:childTnLst>
                        <p:par>
                          <p:cTn id="19"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up)">
                                      <p:cBhvr>
                                        <p:cTn id="18" dur="500"/>
                                        <p:tgtEl>
                                          <p:spTgt spid="12"/>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par>
                          <p:cTn id="27" fill="hold">
                            <p:stCondLst>
                              <p:cond delay="900"/>
                            </p:stCondLst>
                            <p:childTnLst>
                              <p:par>
                                <p:cTn id="24" presetID="22" presetClass="entr" presetSubtype="1"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500"/>
                                        <p:tgtEl>
                                          <p:spTgt spid="13"/>
                                        </p:tgtEl>
                                      </p:cBhvr>
                                    </p:animEffect>
                                  </p:childTnLst>
                                </p:cTn>
                              </p:par>
                            </p:childTnLst>
                          </p:cTn>
                        </p:par>
                        <p:par>
                          <p:cTn id="31" fill="hold">
                            <p:stCondLst>
                              <p:cond delay="1400"/>
                            </p:stCondLst>
                            <p:childTnLst>
                              <p:par>
                                <p:cTn id="28" presetID="10"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00"/>
                                        <p:tgtEl>
                                          <p:spTgt spid="19"/>
                                        </p:tgtEl>
                                      </p:cBhvr>
                                    </p:animEffect>
                                  </p:childTnLst>
                                </p:cTn>
                              </p:par>
                            </p:childTnLst>
                          </p:cTn>
                        </p:par>
                      </p:childTnLst>
                    </p:cTn>
                  </p:par>
                  <p:par>
                    <p:cTn id="49" fill="hold">
                      <p:stCondLst>
                        <p:cond delay="indefinite"/>
                      </p:stCondLst>
                      <p:childTnLst>
                        <p:par>
                          <p:cTn id="36"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par>
                          <p:cTn id="40"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childTnLst>
                          </p:cTn>
                        </p:par>
                        <p:par>
                          <p:cTn id="44" fill="hold">
                            <p:stCondLst>
                              <p:cond delay="900"/>
                            </p:stCondLst>
                            <p:childTnLst>
                              <p:par>
                                <p:cTn id="41" presetID="22" presetClass="entr" presetSubtype="8"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par>
                          <p:cTn id="48" fill="hold">
                            <p:stCondLst>
                              <p:cond delay="14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56" fill="hold">
                      <p:stCondLst>
                        <p:cond delay="indefinite"/>
                      </p:stCondLst>
                      <p:childTnLst>
                        <p:par>
                          <p:cTn id="55"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1" grpId="0" animBg="1"/>
      <p:bldP spid="17" grpId="0" animBg="1"/>
      <p:bldP spid="12" grpId="0" animBg="1"/>
      <p:bldP spid="18" grpId="0" animBg="1"/>
      <p:bldP spid="13" grpId="0" animBg="1"/>
      <p:bldP spid="19" grpId="0" animBg="1"/>
      <p:bldP spid="14" grpId="0" animBg="1"/>
      <p:bldP spid="20" grpId="0" animBg="1"/>
      <p:bldP spid="15" grpId="0" animBg="1"/>
      <p:bldP spid="21" grpId="0" animBg="1"/>
      <p:bldP spid="22" grpId="0" animBg="1"/>
    </p:bld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pic>
        <p:nvPicPr>
          <p:cNvPr id="6" name="Hígado MASLD" descr="Ilustración biomédica (Servier Medical Art, CC BY)"/>
          <p:cNvPicPr>
            <a:picLocks noChangeAspect="1"/>
          </p:cNvPicPr>
          <p:nvPr/>
        </p:nvPicPr>
        <p:blipFill>
          <a:blip r:embed="rId2"/>
          <a:stretch>
            <a:fillRect/>
          </a:stretch>
        </p:blipFill>
        <p:spPr>
          <a:xfrm>
            <a:off x="365760" y="1097280"/>
            <a:ext cx="2926080" cy="2123192"/>
          </a:xfrm>
          <a:prstGeom prst="rect">
            <a:avLst/>
          </a:prstGeom>
        </p:spPr>
      </p:pic>
      <p:grpSp>
        <p:nvGrpSpPr>
          <p:cNvPr id="7" name="Cuadro Nomenclatura actual"/>
          <p:cNvGrpSpPr/>
          <p:nvPr/>
        </p:nvGrpSpPr>
        <p:grpSpPr>
          <a:xfrm>
            <a:off x="3566160" y="1097280"/>
            <a:ext cx="8275320" cy="1234440"/>
            <a:chOff x="3566160" y="1097280"/>
            <a:chExt cx="8275320" cy="1234440"/>
          </a:xfrm>
        </p:grpSpPr>
        <p:sp>
          <p:nvSpPr>
            <p:cNvPr id="8" name="Forma 7"/>
            <p:cNvSpPr/>
            <p:nvPr/>
          </p:nvSpPr>
          <p:spPr>
            <a:xfrm>
              <a:off x="3566160" y="1298448"/>
              <a:ext cx="8275320" cy="1033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MASLD</a:t>
              </a:r>
              <a:r>
                <a:rPr lang="es-AR" sz="1350" dirty="0">
                  <a:solidFill>
                    <a:srgbClr val="1E1E1E"/>
                  </a:solidFill>
                  <a:latin typeface="Fira Sans Condensed"/>
                  <a:ea typeface="Fira Sans Condensed"/>
                  <a:cs typeface="Fira Sans Condensed"/>
                  <a:sym typeface="Fira Sans Condensed"/>
                </a:rPr>
                <a:t>: enfermedad hepática esteatósica asociada a disfunción metabólica · </a:t>
              </a:r>
              <a:r>
                <a:rPr lang="es-AR" sz="1350" b="1" dirty="0">
                  <a:solidFill>
                    <a:srgbClr val="1E1E1E"/>
                  </a:solidFill>
                  <a:latin typeface="Fira Sans Condensed"/>
                  <a:ea typeface="Fira Sans Condensed"/>
                  <a:cs typeface="Fira Sans Condensed"/>
                  <a:sym typeface="Fira Sans Condensed"/>
                </a:rPr>
                <a:t>MASH</a:t>
              </a:r>
              <a:r>
                <a:rPr lang="es-AR" sz="1350" dirty="0">
                  <a:solidFill>
                    <a:srgbClr val="1E1E1E"/>
                  </a:solidFill>
                  <a:latin typeface="Fira Sans Condensed"/>
                  <a:ea typeface="Fira Sans Condensed"/>
                  <a:cs typeface="Fira Sans Condensed"/>
                  <a:sym typeface="Fira Sans Condensed"/>
                </a:rPr>
                <a:t>: forma con inflamación/lesión hepatocitaria. Literatura previa: NAFLD/NASH; el caso dice «esteatohepatitis no alcohólica».</a:t>
              </a:r>
              <a:endParaRPr lang="es-AR" sz="1350" dirty="0">
                <a:latin typeface="Fira Sans Condensed"/>
              </a:endParaRPr>
            </a:p>
          </p:txBody>
        </p:sp>
        <p:sp>
          <p:nvSpPr>
            <p:cNvPr id="9" name="Forma 8"/>
            <p:cNvSpPr/>
            <p:nvPr/>
          </p:nvSpPr>
          <p:spPr>
            <a:xfrm>
              <a:off x="3703320" y="1097280"/>
              <a:ext cx="2269494"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NOMENCLATURA ACTUAL</a:t>
              </a:r>
              <a:endParaRPr lang="es-AR" sz="1400" dirty="0">
                <a:latin typeface="Fira Sans Condensed"/>
              </a:endParaRPr>
            </a:p>
          </p:txBody>
        </p:sp>
      </p:grpSp>
      <p:sp>
        <p:nvSpPr>
          <p:cNvPr id="10" name="MASLD mec 0"/>
          <p:cNvSpPr/>
          <p:nvPr/>
        </p:nvSpPr>
        <p:spPr>
          <a:xfrm>
            <a:off x="3566160" y="2606040"/>
            <a:ext cx="269748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Entrada hepática de </a:t>
            </a:r>
            <a:r>
              <a:rPr lang="es-AR" sz="1250" b="1" dirty="0">
                <a:solidFill>
                  <a:srgbClr val="1E1E1E"/>
                </a:solidFill>
                <a:latin typeface="Fira Sans Condensed"/>
                <a:ea typeface="Fira Sans Condensed"/>
                <a:cs typeface="Fira Sans Condensed"/>
                <a:sym typeface="Fira Sans Condensed"/>
              </a:rPr>
              <a:t>AGNE</a:t>
            </a:r>
            <a:endParaRPr lang="es-AR" sz="1250" dirty="0">
              <a:latin typeface="Fira Sans Condensed"/>
            </a:endParaRPr>
          </a:p>
        </p:txBody>
      </p:sp>
      <p:sp>
        <p:nvSpPr>
          <p:cNvPr id="11" name="MASLD mec 1"/>
          <p:cNvSpPr/>
          <p:nvPr/>
        </p:nvSpPr>
        <p:spPr>
          <a:xfrm>
            <a:off x="6355080" y="2606040"/>
            <a:ext cx="269748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Lipogénesis de novo</a:t>
            </a:r>
            <a:r>
              <a:rPr lang="es-AR" sz="1250" b="1" dirty="0">
                <a:solidFill>
                  <a:srgbClr val="1E1E1E"/>
                </a:solidFill>
                <a:latin typeface="Fira Sans Condensed"/>
                <a:ea typeface="Fira Sans Condensed"/>
                <a:cs typeface="Fira Sans Condensed"/>
                <a:sym typeface="Fira Sans Condensed"/>
              </a:rPr>
              <a:t> (carbohidratos/insulina)</a:t>
            </a:r>
            <a:endParaRPr lang="es-AR" sz="1250" dirty="0">
              <a:latin typeface="Fira Sans Condensed"/>
            </a:endParaRPr>
          </a:p>
        </p:txBody>
      </p:sp>
      <p:sp>
        <p:nvSpPr>
          <p:cNvPr id="12" name="MASLD mec 2"/>
          <p:cNvSpPr/>
          <p:nvPr/>
        </p:nvSpPr>
        <p:spPr>
          <a:xfrm>
            <a:off x="9144000" y="2606040"/>
            <a:ext cx="269748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Oxidación</a:t>
            </a:r>
            <a:r>
              <a:rPr lang="es-AR" sz="1250" b="1" dirty="0">
                <a:solidFill>
                  <a:srgbClr val="1E1E1E"/>
                </a:solidFill>
                <a:latin typeface="Fira Sans Condensed"/>
                <a:ea typeface="Fira Sans Condensed"/>
                <a:cs typeface="Fira Sans Condensed"/>
                <a:sym typeface="Fira Sans Condensed"/>
              </a:rPr>
              <a:t> insuficiente para la carga</a:t>
            </a:r>
            <a:endParaRPr lang="es-AR" sz="1250" dirty="0">
              <a:latin typeface="Fira Sans Condensed"/>
            </a:endParaRPr>
          </a:p>
        </p:txBody>
      </p:sp>
      <p:sp>
        <p:nvSpPr>
          <p:cNvPr id="13" name="MASLD mec 3"/>
          <p:cNvSpPr/>
          <p:nvPr/>
        </p:nvSpPr>
        <p:spPr>
          <a:xfrm>
            <a:off x="3566160" y="3291840"/>
            <a:ext cx="269748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Estrés oxidativo</a:t>
            </a:r>
            <a:r>
              <a:rPr lang="es-AR" sz="1250" b="1" dirty="0">
                <a:solidFill>
                  <a:srgbClr val="1E1E1E"/>
                </a:solidFill>
                <a:latin typeface="Fira Sans Condensed"/>
                <a:ea typeface="Fira Sans Condensed"/>
                <a:cs typeface="Fira Sans Condensed"/>
                <a:sym typeface="Fira Sans Condensed"/>
              </a:rPr>
              <a:t> e inflamación</a:t>
            </a:r>
            <a:endParaRPr lang="es-AR" sz="1250" dirty="0">
              <a:latin typeface="Fira Sans Condensed"/>
            </a:endParaRPr>
          </a:p>
        </p:txBody>
      </p:sp>
      <p:sp>
        <p:nvSpPr>
          <p:cNvPr id="14" name="MASLD mec 4"/>
          <p:cNvSpPr/>
          <p:nvPr/>
        </p:nvSpPr>
        <p:spPr>
          <a:xfrm>
            <a:off x="6355080" y="3291840"/>
            <a:ext cx="2697480" cy="566928"/>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Microbiota e inmunidad</a:t>
            </a:r>
            <a:endParaRPr lang="es-AR" sz="1250" dirty="0">
              <a:latin typeface="Fira Sans Condensed"/>
            </a:endParaRPr>
          </a:p>
        </p:txBody>
      </p:sp>
      <p:grpSp>
        <p:nvGrpSpPr>
          <p:cNvPr id="15" name="Progresión"/>
          <p:cNvGrpSpPr/>
          <p:nvPr/>
        </p:nvGrpSpPr>
        <p:grpSpPr>
          <a:xfrm>
            <a:off x="365760" y="4206240"/>
            <a:ext cx="11430000" cy="548640"/>
            <a:chOff x="365760" y="4206240"/>
            <a:chExt cx="11430000" cy="548640"/>
          </a:xfrm>
        </p:grpSpPr>
        <p:sp>
          <p:nvSpPr>
            <p:cNvPr id="16" name="Recuadro Esteatosis"/>
            <p:cNvSpPr/>
            <p:nvPr/>
          </p:nvSpPr>
          <p:spPr>
            <a:xfrm>
              <a:off x="365760" y="4206240"/>
              <a:ext cx="210312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Esteatosis</a:t>
              </a:r>
              <a:endParaRPr lang="es-AR" sz="1300" dirty="0">
                <a:latin typeface="Fira Sans Condensed"/>
              </a:endParaRPr>
            </a:p>
          </p:txBody>
        </p:sp>
        <p:sp>
          <p:nvSpPr>
            <p:cNvPr id="17" name="Recuadro MASH"/>
            <p:cNvSpPr/>
            <p:nvPr/>
          </p:nvSpPr>
          <p:spPr>
            <a:xfrm>
              <a:off x="2697480" y="4206240"/>
              <a:ext cx="210312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MASH</a:t>
              </a:r>
              <a:endParaRPr lang="es-AR" sz="1300" dirty="0">
                <a:latin typeface="Fira Sans Condensed"/>
              </a:endParaRPr>
            </a:p>
          </p:txBody>
        </p:sp>
        <p:sp>
          <p:nvSpPr>
            <p:cNvPr id="18" name="Flecha 17_2"/>
            <p:cNvSpPr/>
            <p:nvPr/>
          </p:nvSpPr>
          <p:spPr>
            <a:xfrm>
              <a:off x="2496312" y="4480560"/>
              <a:ext cx="173736" cy="9144"/>
            </a:xfrm>
            <a:custGeom>
              <a:avLst/>
              <a:gdLst/>
              <a:ahLst/>
              <a:cxnLst/>
              <a:rect l="0" t="0" r="r" b="b"/>
              <a:pathLst>
                <a:path w="190" h="10" fill="none">
                  <a:moveTo>
                    <a:pt x="0" y="0"/>
                  </a:moveTo>
                  <a:lnTo>
                    <a:pt x="190" y="0"/>
                  </a:lnTo>
                </a:path>
              </a:pathLst>
            </a:custGeom>
            <a:noFill/>
            <a:ln w="31750" cap="rnd">
              <a:solidFill>
                <a:srgbClr val="1E1E1E"/>
              </a:solidFill>
              <a:round/>
              <a:tailEnd type="triangle" w="med" len="med"/>
            </a:ln>
          </p:spPr>
        </p:sp>
        <p:sp>
          <p:nvSpPr>
            <p:cNvPr id="19" name="Recuadro Fibrosis"/>
            <p:cNvSpPr/>
            <p:nvPr/>
          </p:nvSpPr>
          <p:spPr>
            <a:xfrm>
              <a:off x="5029200" y="4206240"/>
              <a:ext cx="21031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Fibrosis</a:t>
              </a:r>
              <a:endParaRPr lang="es-AR" sz="1300" dirty="0">
                <a:latin typeface="Fira Sans Condensed"/>
              </a:endParaRPr>
            </a:p>
          </p:txBody>
        </p:sp>
        <p:sp>
          <p:nvSpPr>
            <p:cNvPr id="20" name="Flecha 20_2"/>
            <p:cNvSpPr/>
            <p:nvPr/>
          </p:nvSpPr>
          <p:spPr>
            <a:xfrm>
              <a:off x="4828032" y="4480560"/>
              <a:ext cx="173736" cy="9144"/>
            </a:xfrm>
            <a:custGeom>
              <a:avLst/>
              <a:gdLst/>
              <a:ahLst/>
              <a:cxnLst/>
              <a:rect l="0" t="0" r="r" b="b"/>
              <a:pathLst>
                <a:path w="189" h="10" fill="none">
                  <a:moveTo>
                    <a:pt x="0" y="0"/>
                  </a:moveTo>
                  <a:lnTo>
                    <a:pt x="189" y="0"/>
                  </a:lnTo>
                </a:path>
              </a:pathLst>
            </a:custGeom>
            <a:noFill/>
            <a:ln w="31750" cap="rnd">
              <a:solidFill>
                <a:srgbClr val="1E1E1E"/>
              </a:solidFill>
              <a:round/>
              <a:tailEnd type="triangle" w="med" len="med"/>
            </a:ln>
          </p:spPr>
        </p:sp>
        <p:sp>
          <p:nvSpPr>
            <p:cNvPr id="21" name="Recuadro Cirrosis"/>
            <p:cNvSpPr/>
            <p:nvPr/>
          </p:nvSpPr>
          <p:spPr>
            <a:xfrm>
              <a:off x="7360920" y="4206240"/>
              <a:ext cx="210312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Cirrosis</a:t>
              </a:r>
              <a:endParaRPr lang="es-AR" sz="1300" dirty="0">
                <a:latin typeface="Fira Sans Condensed"/>
              </a:endParaRPr>
            </a:p>
          </p:txBody>
        </p:sp>
        <p:sp>
          <p:nvSpPr>
            <p:cNvPr id="22" name="Flecha 23_2"/>
            <p:cNvSpPr/>
            <p:nvPr/>
          </p:nvSpPr>
          <p:spPr>
            <a:xfrm>
              <a:off x="7159752" y="4480560"/>
              <a:ext cx="173736" cy="9144"/>
            </a:xfrm>
            <a:custGeom>
              <a:avLst/>
              <a:gdLst/>
              <a:ahLst/>
              <a:cxnLst/>
              <a:rect l="0" t="0" r="r" b="b"/>
              <a:pathLst>
                <a:path w="190" h="10" fill="none">
                  <a:moveTo>
                    <a:pt x="0" y="0"/>
                  </a:moveTo>
                  <a:lnTo>
                    <a:pt x="190" y="0"/>
                  </a:lnTo>
                </a:path>
              </a:pathLst>
            </a:custGeom>
            <a:noFill/>
            <a:ln w="31750" cap="rnd">
              <a:solidFill>
                <a:srgbClr val="1E1E1E"/>
              </a:solidFill>
              <a:round/>
              <a:tailEnd type="triangle" w="med" len="med"/>
            </a:ln>
          </p:spPr>
        </p:sp>
        <p:sp>
          <p:nvSpPr>
            <p:cNvPr id="23" name="Recuadro Carcinoma hepatocelula"/>
            <p:cNvSpPr/>
            <p:nvPr/>
          </p:nvSpPr>
          <p:spPr>
            <a:xfrm>
              <a:off x="9692640" y="4206240"/>
              <a:ext cx="2103120" cy="548640"/>
            </a:xfrm>
            <a:prstGeom prst="rect">
              <a:avLst/>
            </a:prstGeom>
            <a:solidFill>
              <a:srgbClr val="26262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Carcinoma hepatocelular</a:t>
              </a:r>
              <a:endParaRPr lang="es-AR" sz="1300" dirty="0">
                <a:latin typeface="Fira Sans Condensed"/>
              </a:endParaRPr>
            </a:p>
          </p:txBody>
        </p:sp>
        <p:sp>
          <p:nvSpPr>
            <p:cNvPr id="24" name="Flecha 26_2"/>
            <p:cNvSpPr/>
            <p:nvPr/>
          </p:nvSpPr>
          <p:spPr>
            <a:xfrm>
              <a:off x="9491472" y="4480560"/>
              <a:ext cx="173736" cy="9144"/>
            </a:xfrm>
            <a:custGeom>
              <a:avLst/>
              <a:gdLst/>
              <a:ahLst/>
              <a:cxnLst/>
              <a:rect l="0" t="0" r="r" b="b"/>
              <a:pathLst>
                <a:path w="190" h="10" fill="none">
                  <a:moveTo>
                    <a:pt x="0" y="0"/>
                  </a:moveTo>
                  <a:lnTo>
                    <a:pt x="190" y="0"/>
                  </a:lnTo>
                </a:path>
              </a:pathLst>
            </a:custGeom>
            <a:noFill/>
            <a:ln w="31750" cap="rnd">
              <a:solidFill>
                <a:srgbClr val="1E1E1E"/>
              </a:solidFill>
              <a:round/>
              <a:tailEnd type="triangle" w="med" len="med"/>
            </a:ln>
          </p:spPr>
        </p:sp>
      </p:grpSp>
      <p:sp>
        <p:nvSpPr>
          <p:cNvPr id="25" name="Perla clínica"/>
          <p:cNvSpPr/>
          <p:nvPr/>
        </p:nvSpPr>
        <p:spPr>
          <a:xfrm>
            <a:off x="365760" y="5029200"/>
            <a:ext cx="11475720" cy="12344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b="1" dirty="0">
                <a:solidFill>
                  <a:srgbClr val="FFFFFF"/>
                </a:solidFill>
                <a:latin typeface="Fira Sans Condensed"/>
                <a:ea typeface="Fira Sans Condensed"/>
                <a:cs typeface="Fira Sans Condensed"/>
                <a:sym typeface="Fira Sans Condensed"/>
              </a:rPr>
              <a:t>Transaminasas normales no excluyen MASLD/MASH.</a:t>
            </a:r>
            <a:r>
              <a:rPr lang="es-AR" sz="1500" dirty="0">
                <a:solidFill>
                  <a:srgbClr val="FFFFFF"/>
                </a:solidFill>
                <a:latin typeface="Fira Sans Condensed"/>
                <a:ea typeface="Fira Sans Condensed"/>
                <a:cs typeface="Fira Sans Condensed"/>
                <a:sym typeface="Fira Sans Condensed"/>
              </a:rPr>
              <a:t> Con obesidad grave, DM2 probable y dislipidemia corresponde </a:t>
            </a:r>
            <a:r>
              <a:rPr lang="es-AR" sz="1500" b="1" dirty="0">
                <a:solidFill>
                  <a:srgbClr val="FFFFFF"/>
                </a:solidFill>
                <a:latin typeface="Fira Sans Condensed"/>
                <a:ea typeface="Fira Sans Condensed"/>
                <a:cs typeface="Fira Sans Condensed"/>
                <a:sym typeface="Fira Sans Condensed"/>
              </a:rPr>
              <a:t>valorar riesgo hepático</a:t>
            </a:r>
            <a:r>
              <a:rPr lang="es-AR" sz="1500" dirty="0">
                <a:solidFill>
                  <a:srgbClr val="FFFFFF"/>
                </a:solidFill>
                <a:latin typeface="Fira Sans Condensed"/>
                <a:ea typeface="Fira Sans Condensed"/>
                <a:cs typeface="Fira Sans Condensed"/>
                <a:sym typeface="Fira Sans Condensed"/>
              </a:rPr>
              <a:t> (fibrosis).</a:t>
            </a:r>
            <a:endParaRPr lang="es-AR" sz="1500" dirty="0">
              <a:latin typeface="Fira Sans Condensed"/>
            </a:endParaRPr>
          </a:p>
        </p:txBody>
      </p:sp>
      <p:sp>
        <p:nvSpPr>
          <p:cNvPr id="4"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7D · ESTEATOSIS Y ESTEATOHEPATITIS METABÓLICA</a:t>
            </a:r>
            <a:endParaRPr lang="es-AR" sz="31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28"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
                                        <p:tgtEl>
                                          <p:spTgt spid="10"/>
                                        </p:tgtEl>
                                      </p:cBhvr>
                                    </p:animEffect>
                                  </p:childTnLst>
                                </p:cTn>
                              </p:par>
                            </p:childTnLst>
                          </p:cTn>
                        </p:par>
                        <p:par>
                          <p:cTn id="15" fill="hold">
                            <p:stCondLst>
                              <p:cond delay="200"/>
                            </p:stCondLst>
                            <p:childTnLst>
                              <p:par>
                                <p:cTn id="12" presetID="10" presetClass="entr" presetSubtype="0"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200"/>
                                        <p:tgtEl>
                                          <p:spTgt spid="11"/>
                                        </p:tgtEl>
                                      </p:cBhvr>
                                    </p:animEffect>
                                  </p:childTnLst>
                                </p:cTn>
                              </p:par>
                            </p:childTnLst>
                          </p:cTn>
                        </p:par>
                        <p:par>
                          <p:cTn id="19" fill="hold">
                            <p:stCondLst>
                              <p:cond delay="400"/>
                            </p:stCondLst>
                            <p:childTnLst>
                              <p:par>
                                <p:cTn id="16" presetID="10"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
                                        <p:tgtEl>
                                          <p:spTgt spid="12"/>
                                        </p:tgtEl>
                                      </p:cBhvr>
                                    </p:animEffect>
                                  </p:childTnLst>
                                </p:cTn>
                              </p:par>
                            </p:childTnLst>
                          </p:cTn>
                        </p:par>
                        <p:par>
                          <p:cTn id="23" fill="hold">
                            <p:stCondLst>
                              <p:cond delay="600"/>
                            </p:stCondLst>
                            <p:childTnLst>
                              <p:par>
                                <p:cTn id="20" presetID="10"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childTnLst>
                          </p:cTn>
                        </p:par>
                        <p:par>
                          <p:cTn id="27"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200"/>
                                        <p:tgtEl>
                                          <p:spTgt spid="14"/>
                                        </p:tgtEl>
                                      </p:cBhvr>
                                    </p:animEffect>
                                  </p:childTnLst>
                                </p:cTn>
                              </p:par>
                            </p:childTnLst>
                          </p:cTn>
                        </p:par>
                      </p:childTnLst>
                    </p:cTn>
                  </p:par>
                  <p:par>
                    <p:cTn id="33" fill="hold">
                      <p:stCondLst>
                        <p:cond delay="indefinite"/>
                      </p:stCondLst>
                      <p:childTnLst>
                        <p:par>
                          <p:cTn id="32"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1200"/>
                                        <p:tgtEl>
                                          <p:spTgt spid="15"/>
                                        </p:tgtEl>
                                      </p:cBhvr>
                                    </p:animEffect>
                                  </p:childTnLst>
                                </p:cTn>
                              </p:par>
                            </p:childTnLst>
                          </p:cTn>
                        </p:par>
                      </p:childTnLst>
                    </p:cTn>
                  </p:par>
                  <p:par>
                    <p:cTn id="40" fill="hold">
                      <p:stCondLst>
                        <p:cond delay="indefinite"/>
                      </p:stCondLst>
                      <p:childTnLst>
                        <p:par>
                          <p:cTn id="39"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25" grpId="0" animBg="1"/>
    </p:bld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pic>
        <p:nvPicPr>
          <p:cNvPr id="6" name="Litiasis" descr="Ilustración biomédica (Servier Medical Art, CC BY)"/>
          <p:cNvPicPr>
            <a:picLocks noChangeAspect="1"/>
          </p:cNvPicPr>
          <p:nvPr/>
        </p:nvPicPr>
        <p:blipFill>
          <a:blip r:embed="rId2"/>
          <a:stretch>
            <a:fillRect/>
          </a:stretch>
        </p:blipFill>
        <p:spPr>
          <a:xfrm>
            <a:off x="365760" y="1097280"/>
            <a:ext cx="1951983" cy="3108960"/>
          </a:xfrm>
          <a:prstGeom prst="rect">
            <a:avLst/>
          </a:prstGeom>
        </p:spPr>
      </p:pic>
      <p:pic>
        <p:nvPicPr>
          <p:cNvPr id="7" name="Páncreas pancreatitis" descr="Ilustración biomédica (Servier Medical Art, CC BY)"/>
          <p:cNvPicPr>
            <a:picLocks noChangeAspect="1"/>
          </p:cNvPicPr>
          <p:nvPr/>
        </p:nvPicPr>
        <p:blipFill>
          <a:blip r:embed="rId3"/>
          <a:stretch>
            <a:fillRect/>
          </a:stretch>
        </p:blipFill>
        <p:spPr>
          <a:xfrm>
            <a:off x="2468880" y="2926080"/>
            <a:ext cx="2377440" cy="986638"/>
          </a:xfrm>
          <a:prstGeom prst="rect">
            <a:avLst/>
          </a:prstGeom>
        </p:spPr>
      </p:pic>
      <p:grpSp>
        <p:nvGrpSpPr>
          <p:cNvPr id="8" name="Comp HERNIAS"/>
          <p:cNvGrpSpPr/>
          <p:nvPr/>
        </p:nvGrpSpPr>
        <p:grpSpPr>
          <a:xfrm>
            <a:off x="5120640" y="1097280"/>
            <a:ext cx="6720840" cy="1600200"/>
            <a:chOff x="5120640" y="1097280"/>
            <a:chExt cx="6720840" cy="1600200"/>
          </a:xfrm>
        </p:grpSpPr>
        <p:sp>
          <p:nvSpPr>
            <p:cNvPr id="9" name="Recuadro HERNIAS"/>
            <p:cNvSpPr/>
            <p:nvPr/>
          </p:nvSpPr>
          <p:spPr>
            <a:xfrm>
              <a:off x="5120640" y="1097280"/>
              <a:ext cx="672084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HERNIAS</a:t>
              </a:r>
              <a:endParaRPr lang="es-AR" sz="1500" dirty="0">
                <a:latin typeface="Fira Sans Condensed"/>
              </a:endParaRPr>
            </a:p>
          </p:txBody>
        </p:sp>
        <p:sp>
          <p:nvSpPr>
            <p:cNvPr id="10" name="Forma 9"/>
            <p:cNvSpPr/>
            <p:nvPr/>
          </p:nvSpPr>
          <p:spPr>
            <a:xfrm>
              <a:off x="5120640" y="1645920"/>
              <a:ext cx="67208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Adiposidad central → </a:t>
              </a:r>
              <a:r>
                <a:rPr lang="es-AR" sz="1350" b="1" dirty="0">
                  <a:solidFill>
                    <a:srgbClr val="1E1E1E"/>
                  </a:solidFill>
                  <a:latin typeface="Fira Sans Condensed"/>
                  <a:ea typeface="Fira Sans Condensed"/>
                  <a:cs typeface="Fira Sans Condensed"/>
                  <a:sym typeface="Fira Sans Condensed"/>
                </a:rPr>
                <a:t>presión intraabdominal</a:t>
              </a:r>
              <a:r>
                <a:rPr lang="es-AR" sz="1350" dirty="0">
                  <a:solidFill>
                    <a:srgbClr val="1E1E1E"/>
                  </a:solidFill>
                  <a:latin typeface="Fira Sans Condensed"/>
                  <a:ea typeface="Fira Sans Condensed"/>
                  <a:cs typeface="Fira Sans Condensed"/>
                  <a:sym typeface="Fira Sans Condensed"/>
                </a:rPr>
                <a:t> ↑ y carga sobre la pared; debilidad fascial, esfuerzos, mala cicatrización. Causalidad individual.</a:t>
              </a:r>
              <a:endParaRPr lang="es-AR" sz="1350" dirty="0">
                <a:latin typeface="Fira Sans Condensed"/>
              </a:endParaRPr>
            </a:p>
          </p:txBody>
        </p:sp>
      </p:grpSp>
      <p:grpSp>
        <p:nvGrpSpPr>
          <p:cNvPr id="11" name="Comp LITIASIS BILIAR"/>
          <p:cNvGrpSpPr/>
          <p:nvPr/>
        </p:nvGrpSpPr>
        <p:grpSpPr>
          <a:xfrm>
            <a:off x="5120640" y="2834640"/>
            <a:ext cx="6720840" cy="1600200"/>
            <a:chOff x="5120640" y="2834640"/>
            <a:chExt cx="6720840" cy="1600200"/>
          </a:xfrm>
        </p:grpSpPr>
        <p:sp>
          <p:nvSpPr>
            <p:cNvPr id="12" name="Recuadro LITIASIS BILIAR"/>
            <p:cNvSpPr/>
            <p:nvPr/>
          </p:nvSpPr>
          <p:spPr>
            <a:xfrm>
              <a:off x="5120640" y="2834640"/>
              <a:ext cx="67208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LITIASIS BILIAR</a:t>
              </a:r>
              <a:endParaRPr lang="es-AR" sz="1500" dirty="0">
                <a:latin typeface="Fira Sans Condensed"/>
              </a:endParaRPr>
            </a:p>
          </p:txBody>
        </p:sp>
        <p:sp>
          <p:nvSpPr>
            <p:cNvPr id="13" name="Forma 12"/>
            <p:cNvSpPr/>
            <p:nvPr/>
          </p:nvSpPr>
          <p:spPr>
            <a:xfrm>
              <a:off x="5120640" y="3383280"/>
              <a:ext cx="67208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Más </a:t>
              </a:r>
              <a:r>
                <a:rPr lang="es-AR" sz="1350" b="1" dirty="0">
                  <a:solidFill>
                    <a:srgbClr val="1E1E1E"/>
                  </a:solidFill>
                  <a:latin typeface="Fira Sans Condensed"/>
                  <a:ea typeface="Fira Sans Condensed"/>
                  <a:cs typeface="Fira Sans Condensed"/>
                  <a:sym typeface="Fira Sans Condensed"/>
                </a:rPr>
                <a:t>colesterol biliar</a:t>
              </a:r>
              <a:r>
                <a:rPr lang="es-AR" sz="1350" dirty="0">
                  <a:solidFill>
                    <a:srgbClr val="1E1E1E"/>
                  </a:solidFill>
                  <a:latin typeface="Fira Sans Condensed"/>
                  <a:ea typeface="Fira Sans Condensed"/>
                  <a:cs typeface="Fira Sans Condensed"/>
                  <a:sym typeface="Fira Sans Condensed"/>
                </a:rPr>
                <a:t> → sobresaturación, </a:t>
              </a:r>
              <a:r>
                <a:rPr lang="es-AR" sz="1350" b="1" dirty="0">
                  <a:solidFill>
                    <a:srgbClr val="1E1E1E"/>
                  </a:solidFill>
                  <a:latin typeface="Fira Sans Condensed"/>
                  <a:ea typeface="Fira Sans Condensed"/>
                  <a:cs typeface="Fira Sans Condensed"/>
                  <a:sym typeface="Fira Sans Condensed"/>
                </a:rPr>
                <a:t>nucleación</a:t>
              </a:r>
              <a:r>
                <a:rPr lang="es-AR" sz="1350" dirty="0">
                  <a:solidFill>
                    <a:srgbClr val="1E1E1E"/>
                  </a:solidFill>
                  <a:latin typeface="Fira Sans Condensed"/>
                  <a:ea typeface="Fira Sans Condensed"/>
                  <a:cs typeface="Fira Sans Condensed"/>
                  <a:sym typeface="Fira Sans Condensed"/>
                </a:rPr>
                <a:t> de cristales y cálculos; importa la </a:t>
              </a:r>
              <a:r>
                <a:rPr lang="es-AR" sz="1350" b="1" dirty="0">
                  <a:solidFill>
                    <a:srgbClr val="1E1E1E"/>
                  </a:solidFill>
                  <a:latin typeface="Fira Sans Condensed"/>
                  <a:ea typeface="Fira Sans Condensed"/>
                  <a:cs typeface="Fira Sans Condensed"/>
                  <a:sym typeface="Fira Sans Condensed"/>
                </a:rPr>
                <a:t>motilidad vesicular</a:t>
              </a:r>
              <a:r>
                <a:rPr lang="es-AR" sz="1350" dirty="0">
                  <a:solidFill>
                    <a:srgbClr val="1E1E1E"/>
                  </a:solidFill>
                  <a:latin typeface="Fira Sans Condensed"/>
                  <a:ea typeface="Fira Sans Condensed"/>
                  <a:cs typeface="Fira Sans Condensed"/>
                  <a:sym typeface="Fira Sans Condensed"/>
                </a:rPr>
                <a:t>. Pérdida </a:t>
              </a:r>
              <a:r>
                <a:rPr lang="es-AR" sz="1350" b="1" dirty="0">
                  <a:solidFill>
                    <a:srgbClr val="1E1E1E"/>
                  </a:solidFill>
                  <a:latin typeface="Fira Sans Condensed"/>
                  <a:ea typeface="Fira Sans Condensed"/>
                  <a:cs typeface="Fira Sans Condensed"/>
                  <a:sym typeface="Fira Sans Condensed"/>
                </a:rPr>
                <a:t>muy rápida</a:t>
              </a:r>
              <a:r>
                <a:rPr lang="es-AR" sz="1350" dirty="0">
                  <a:solidFill>
                    <a:srgbClr val="1E1E1E"/>
                  </a:solidFill>
                  <a:latin typeface="Fira Sans Condensed"/>
                  <a:ea typeface="Fira Sans Condensed"/>
                  <a:cs typeface="Fira Sans Condensed"/>
                  <a:sym typeface="Fira Sans Condensed"/>
                </a:rPr>
                <a:t> de peso ↑ riesgo.</a:t>
              </a:r>
              <a:endParaRPr lang="es-AR" sz="1350" dirty="0">
                <a:latin typeface="Fira Sans Condensed"/>
              </a:endParaRPr>
            </a:p>
          </p:txBody>
        </p:sp>
      </p:grpSp>
      <p:grpSp>
        <p:nvGrpSpPr>
          <p:cNvPr id="14" name="Comp PANCREATITIS BILIAR"/>
          <p:cNvGrpSpPr/>
          <p:nvPr/>
        </p:nvGrpSpPr>
        <p:grpSpPr>
          <a:xfrm>
            <a:off x="5120640" y="4572000"/>
            <a:ext cx="6720840" cy="1600200"/>
            <a:chOff x="5120640" y="4572000"/>
            <a:chExt cx="6720840" cy="1600200"/>
          </a:xfrm>
        </p:grpSpPr>
        <p:sp>
          <p:nvSpPr>
            <p:cNvPr id="15" name="Recuadro PANCREATITIS BILIAR"/>
            <p:cNvSpPr/>
            <p:nvPr/>
          </p:nvSpPr>
          <p:spPr>
            <a:xfrm>
              <a:off x="5120640" y="4572000"/>
              <a:ext cx="672084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PANCREATITIS BILIAR</a:t>
              </a:r>
              <a:endParaRPr lang="es-AR" sz="1500" dirty="0">
                <a:latin typeface="Fira Sans Condensed"/>
              </a:endParaRPr>
            </a:p>
          </p:txBody>
        </p:sp>
        <p:sp>
          <p:nvSpPr>
            <p:cNvPr id="16" name="Forma 15"/>
            <p:cNvSpPr/>
            <p:nvPr/>
          </p:nvSpPr>
          <p:spPr>
            <a:xfrm>
              <a:off x="5120640" y="5120640"/>
              <a:ext cx="672084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Migración/obstrucción</a:t>
              </a:r>
              <a:r>
                <a:rPr lang="es-AR" sz="1350" dirty="0">
                  <a:solidFill>
                    <a:srgbClr val="1E1E1E"/>
                  </a:solidFill>
                  <a:latin typeface="Fira Sans Condensed"/>
                  <a:ea typeface="Fira Sans Condensed"/>
                  <a:cs typeface="Fira Sans Condensed"/>
                  <a:sym typeface="Fira Sans Condensed"/>
                </a:rPr>
                <a:t> por cálculos desencadena inflamación pancreática. El antecedente </a:t>
              </a:r>
              <a:r>
                <a:rPr lang="es-AR" sz="1350" b="1" dirty="0">
                  <a:solidFill>
                    <a:srgbClr val="1E1E1E"/>
                  </a:solidFill>
                  <a:latin typeface="Fira Sans Condensed"/>
                  <a:ea typeface="Fira Sans Condensed"/>
                  <a:cs typeface="Fira Sans Condensed"/>
                  <a:sym typeface="Fira Sans Condensed"/>
                </a:rPr>
                <a:t>no contraindica automáticamente</a:t>
              </a:r>
              <a:r>
                <a:rPr lang="es-AR" sz="1350" dirty="0">
                  <a:solidFill>
                    <a:srgbClr val="1E1E1E"/>
                  </a:solidFill>
                  <a:latin typeface="Fira Sans Condensed"/>
                  <a:ea typeface="Fira Sans Condensed"/>
                  <a:cs typeface="Fira Sans Condensed"/>
                  <a:sym typeface="Fira Sans Condensed"/>
                </a:rPr>
                <a:t> todo antidiabético, pero exige revisar riesgos.</a:t>
              </a:r>
              <a:endParaRPr lang="es-AR" sz="135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7E · HERNIAS, LITIASIS BILIAR Y PANCREATITIS</a:t>
            </a:r>
            <a:endParaRPr lang="es-AR" sz="34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Pulmón AOS" descr="Ilustración biomédica (Servier Medical Art, CC BY)"/>
          <p:cNvPicPr>
            <a:picLocks noChangeAspect="1"/>
          </p:cNvPicPr>
          <p:nvPr/>
        </p:nvPicPr>
        <p:blipFill>
          <a:blip r:embed="rId2"/>
          <a:stretch>
            <a:fillRect/>
          </a:stretch>
        </p:blipFill>
        <p:spPr>
          <a:xfrm>
            <a:off x="365760" y="1097280"/>
            <a:ext cx="2377440" cy="2719294"/>
          </a:xfrm>
          <a:prstGeom prst="rect">
            <a:avLst/>
          </a:prstGeom>
        </p:spPr>
      </p:pic>
      <p:sp>
        <p:nvSpPr>
          <p:cNvPr id="7" name="Flecha g→c"/>
          <p:cNvSpPr/>
          <p:nvPr/>
        </p:nvSpPr>
        <p:spPr>
          <a:xfrm>
            <a:off x="4663440" y="177393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8" name="Flecha c→a"/>
          <p:cNvSpPr/>
          <p:nvPr/>
        </p:nvSpPr>
        <p:spPr>
          <a:xfrm>
            <a:off x="4663440" y="2551176"/>
            <a:ext cx="9144" cy="155448"/>
          </a:xfrm>
          <a:custGeom>
            <a:avLst/>
            <a:gdLst/>
            <a:ahLst/>
            <a:cxnLst/>
            <a:rect l="0" t="0" r="r" b="b"/>
            <a:pathLst>
              <a:path w="10" h="169" fill="none">
                <a:moveTo>
                  <a:pt x="0" y="0"/>
                </a:moveTo>
                <a:lnTo>
                  <a:pt x="0" y="169"/>
                </a:lnTo>
              </a:path>
            </a:pathLst>
          </a:custGeom>
          <a:noFill/>
          <a:ln w="28575" cap="rnd">
            <a:solidFill>
              <a:srgbClr val="1E1E1E"/>
            </a:solidFill>
            <a:round/>
            <a:tailEnd type="triangle" w="med" len="med"/>
          </a:ln>
        </p:spPr>
      </p:sp>
      <p:sp>
        <p:nvSpPr>
          <p:cNvPr id="9" name="Flecha a→h"/>
          <p:cNvSpPr/>
          <p:nvPr/>
        </p:nvSpPr>
        <p:spPr>
          <a:xfrm>
            <a:off x="6355080" y="1417320"/>
            <a:ext cx="365760" cy="1508760"/>
          </a:xfrm>
          <a:custGeom>
            <a:avLst/>
            <a:gdLst/>
            <a:ahLst/>
            <a:cxnLst/>
            <a:rect l="0" t="0" r="r" b="b"/>
            <a:pathLst>
              <a:path w="399" h="1650" fill="none">
                <a:moveTo>
                  <a:pt x="0" y="1650"/>
                </a:moveTo>
                <a:lnTo>
                  <a:pt x="399" y="0"/>
                </a:lnTo>
              </a:path>
            </a:pathLst>
          </a:custGeom>
          <a:noFill/>
          <a:ln w="28575" cap="rnd">
            <a:solidFill>
              <a:srgbClr val="1E1E1E"/>
            </a:solidFill>
            <a:round/>
            <a:tailEnd type="triangle" w="med" len="med"/>
          </a:ln>
        </p:spPr>
      </p:sp>
      <p:sp>
        <p:nvSpPr>
          <p:cNvPr id="10" name="Flecha a→d"/>
          <p:cNvSpPr/>
          <p:nvPr/>
        </p:nvSpPr>
        <p:spPr>
          <a:xfrm>
            <a:off x="6355080" y="2103120"/>
            <a:ext cx="365760" cy="868680"/>
          </a:xfrm>
          <a:custGeom>
            <a:avLst/>
            <a:gdLst/>
            <a:ahLst/>
            <a:cxnLst/>
            <a:rect l="0" t="0" r="r" b="b"/>
            <a:pathLst>
              <a:path w="399" h="950" fill="none">
                <a:moveTo>
                  <a:pt x="0" y="950"/>
                </a:moveTo>
                <a:lnTo>
                  <a:pt x="399" y="0"/>
                </a:lnTo>
              </a:path>
            </a:pathLst>
          </a:custGeom>
          <a:noFill/>
          <a:ln w="28575" cap="rnd">
            <a:solidFill>
              <a:srgbClr val="1E1E1E"/>
            </a:solidFill>
            <a:round/>
            <a:tailEnd type="triangle" w="med" len="med"/>
          </a:ln>
        </p:spPr>
      </p:sp>
      <p:sp>
        <p:nvSpPr>
          <p:cNvPr id="11" name="Flecha a→sy"/>
          <p:cNvSpPr/>
          <p:nvPr/>
        </p:nvSpPr>
        <p:spPr>
          <a:xfrm>
            <a:off x="6355080" y="2788920"/>
            <a:ext cx="365760" cy="228600"/>
          </a:xfrm>
          <a:custGeom>
            <a:avLst/>
            <a:gdLst/>
            <a:ahLst/>
            <a:cxnLst/>
            <a:rect l="0" t="0" r="r" b="b"/>
            <a:pathLst>
              <a:path w="399" h="250" fill="none">
                <a:moveTo>
                  <a:pt x="0" y="250"/>
                </a:moveTo>
                <a:lnTo>
                  <a:pt x="399" y="0"/>
                </a:lnTo>
              </a:path>
            </a:pathLst>
          </a:custGeom>
          <a:noFill/>
          <a:ln w="28575" cap="rnd">
            <a:solidFill>
              <a:srgbClr val="1E1E1E"/>
            </a:solidFill>
            <a:round/>
            <a:tailEnd type="triangle" w="med" len="med"/>
          </a:ln>
        </p:spPr>
      </p:sp>
      <p:sp>
        <p:nvSpPr>
          <p:cNvPr id="12" name="Flecha h→o"/>
          <p:cNvSpPr/>
          <p:nvPr/>
        </p:nvSpPr>
        <p:spPr>
          <a:xfrm>
            <a:off x="9189720" y="1417320"/>
            <a:ext cx="228600" cy="9144"/>
          </a:xfrm>
          <a:custGeom>
            <a:avLst/>
            <a:gdLst/>
            <a:ahLst/>
            <a:cxnLst/>
            <a:rect l="0" t="0" r="r" b="b"/>
            <a:pathLst>
              <a:path w="250" h="10" fill="none">
                <a:moveTo>
                  <a:pt x="0" y="0"/>
                </a:moveTo>
                <a:lnTo>
                  <a:pt x="250" y="0"/>
                </a:lnTo>
              </a:path>
            </a:pathLst>
          </a:custGeom>
          <a:noFill/>
          <a:ln w="28575" cap="rnd">
            <a:solidFill>
              <a:srgbClr val="1E1E1E"/>
            </a:solidFill>
            <a:round/>
            <a:tailEnd type="triangle" w="med" len="med"/>
          </a:ln>
        </p:spPr>
      </p:sp>
      <p:sp>
        <p:nvSpPr>
          <p:cNvPr id="13" name="Flecha sy→o"/>
          <p:cNvSpPr/>
          <p:nvPr/>
        </p:nvSpPr>
        <p:spPr>
          <a:xfrm>
            <a:off x="9189720" y="2788920"/>
            <a:ext cx="228600" cy="9144"/>
          </a:xfrm>
          <a:custGeom>
            <a:avLst/>
            <a:gdLst/>
            <a:ahLst/>
            <a:cxnLst/>
            <a:rect l="0" t="0" r="r" b="b"/>
            <a:pathLst>
              <a:path w="250" h="10" fill="none">
                <a:moveTo>
                  <a:pt x="0" y="0"/>
                </a:moveTo>
                <a:lnTo>
                  <a:pt x="250" y="0"/>
                </a:lnTo>
              </a:path>
            </a:pathLst>
          </a:custGeom>
          <a:noFill/>
          <a:ln w="28575" cap="rnd">
            <a:solidFill>
              <a:srgbClr val="1E1E1E"/>
            </a:solidFill>
            <a:round/>
            <a:tailEnd type="triangle" w="med" len="med"/>
          </a:ln>
        </p:spPr>
      </p:sp>
      <p:sp>
        <p:nvSpPr>
          <p:cNvPr id="14" name="Nodo g"/>
          <p:cNvSpPr/>
          <p:nvPr/>
        </p:nvSpPr>
        <p:spPr>
          <a:xfrm>
            <a:off x="3017520" y="1143000"/>
            <a:ext cx="329184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GRASA CERVICAL Y FARÍNGEA</a:t>
            </a:r>
            <a:endParaRPr lang="es-AR" sz="1400" dirty="0">
              <a:latin typeface="Fira Sans Condensed"/>
            </a:endParaRPr>
          </a:p>
        </p:txBody>
      </p:sp>
      <p:sp>
        <p:nvSpPr>
          <p:cNvPr id="15" name="Nodo c"/>
          <p:cNvSpPr/>
          <p:nvPr/>
        </p:nvSpPr>
        <p:spPr>
          <a:xfrm>
            <a:off x="3017520" y="196596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Calibre de vía aérea ↓ · colapsabilidad ↑</a:t>
            </a:r>
            <a:endParaRPr lang="es-AR" sz="1200" dirty="0">
              <a:latin typeface="Fira Sans Condensed"/>
            </a:endParaRPr>
          </a:p>
        </p:txBody>
      </p:sp>
      <p:sp>
        <p:nvSpPr>
          <p:cNvPr id="16" name="Nodo a"/>
          <p:cNvSpPr/>
          <p:nvPr/>
        </p:nvSpPr>
        <p:spPr>
          <a:xfrm>
            <a:off x="3017520" y="2743200"/>
            <a:ext cx="32918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Apneas/hipopneas en el sueño</a:t>
            </a:r>
            <a:endParaRPr lang="es-AR" sz="1300" dirty="0">
              <a:latin typeface="Fira Sans Condensed"/>
            </a:endParaRPr>
          </a:p>
        </p:txBody>
      </p:sp>
      <p:sp>
        <p:nvSpPr>
          <p:cNvPr id="17" name="Nodo h"/>
          <p:cNvSpPr/>
          <p:nvPr/>
        </p:nvSpPr>
        <p:spPr>
          <a:xfrm>
            <a:off x="6766560" y="1143000"/>
            <a:ext cx="23774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1E1E1E"/>
                </a:solidFill>
                <a:latin typeface="Fira Sans Condensed"/>
                <a:ea typeface="Fira Sans Condensed"/>
                <a:cs typeface="Fira Sans Condensed"/>
                <a:sym typeface="Fira Sans Condensed"/>
              </a:rPr>
              <a:t>Hipoxemia intermitente</a:t>
            </a:r>
            <a:endParaRPr lang="es-AR" sz="1250" dirty="0">
              <a:latin typeface="Fira Sans Condensed"/>
            </a:endParaRPr>
          </a:p>
        </p:txBody>
      </p:sp>
      <p:sp>
        <p:nvSpPr>
          <p:cNvPr id="18" name="Nodo d"/>
          <p:cNvSpPr/>
          <p:nvPr/>
        </p:nvSpPr>
        <p:spPr>
          <a:xfrm>
            <a:off x="6766560" y="1828800"/>
            <a:ext cx="23774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Despertares</a:t>
            </a:r>
            <a:endParaRPr lang="es-AR" sz="1350" dirty="0">
              <a:latin typeface="Fira Sans Condensed"/>
            </a:endParaRPr>
          </a:p>
        </p:txBody>
      </p:sp>
      <p:sp>
        <p:nvSpPr>
          <p:cNvPr id="19" name="Nodo sy"/>
          <p:cNvSpPr/>
          <p:nvPr/>
        </p:nvSpPr>
        <p:spPr>
          <a:xfrm>
            <a:off x="6766560" y="2514600"/>
            <a:ext cx="237744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Activación simpática</a:t>
            </a:r>
            <a:endParaRPr lang="es-AR" sz="1300" dirty="0">
              <a:latin typeface="Fira Sans Condensed"/>
            </a:endParaRPr>
          </a:p>
        </p:txBody>
      </p:sp>
      <p:sp>
        <p:nvSpPr>
          <p:cNvPr id="20" name="Nodo o"/>
          <p:cNvSpPr/>
          <p:nvPr/>
        </p:nvSpPr>
        <p:spPr>
          <a:xfrm>
            <a:off x="9464040" y="1143000"/>
            <a:ext cx="2377440" cy="19202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HTA · arritmias · resistencia insulínica · somnolencia · accidentes</a:t>
            </a:r>
            <a:endParaRPr lang="es-AR" sz="1300" dirty="0">
              <a:latin typeface="Fira Sans Condensed"/>
            </a:endParaRPr>
          </a:p>
        </p:txBody>
      </p:sp>
      <p:grpSp>
        <p:nvGrpSpPr>
          <p:cNvPr id="21" name="Cuadro Diagnóstico"/>
          <p:cNvGrpSpPr/>
          <p:nvPr/>
        </p:nvGrpSpPr>
        <p:grpSpPr>
          <a:xfrm>
            <a:off x="365760" y="3566160"/>
            <a:ext cx="5669280" cy="2697480"/>
            <a:chOff x="365760" y="3566160"/>
            <a:chExt cx="5669280" cy="2697480"/>
          </a:xfrm>
        </p:grpSpPr>
        <p:sp>
          <p:nvSpPr>
            <p:cNvPr id="22" name="Forma 21"/>
            <p:cNvSpPr/>
            <p:nvPr/>
          </p:nvSpPr>
          <p:spPr>
            <a:xfrm>
              <a:off x="365760" y="3767328"/>
              <a:ext cx="5669280" cy="24963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Cuadro </a:t>
              </a:r>
              <a:r>
                <a:rPr lang="es-AR" sz="1400" b="1" dirty="0">
                  <a:solidFill>
                    <a:srgbClr val="1E1E1E"/>
                  </a:solidFill>
                  <a:latin typeface="Fira Sans Condensed"/>
                  <a:ea typeface="Fira Sans Condensed"/>
                  <a:cs typeface="Fira Sans Condensed"/>
                  <a:sym typeface="Fira Sans Condensed"/>
                </a:rPr>
                <a:t>muy sugestivo</a:t>
              </a:r>
              <a:r>
                <a:rPr lang="es-AR" sz="1400" dirty="0">
                  <a:solidFill>
                    <a:srgbClr val="1E1E1E"/>
                  </a:solidFill>
                  <a:latin typeface="Fira Sans Condensed"/>
                  <a:ea typeface="Fira Sans Condensed"/>
                  <a:cs typeface="Fira Sans Condensed"/>
                  <a:sym typeface="Fira Sans Condensed"/>
                </a:rPr>
                <a:t> de AOS, pero el diagnóstico requiere evaluación y típicamente </a:t>
              </a:r>
              <a:r>
                <a:rPr lang="es-AR" sz="1400" b="1" dirty="0">
                  <a:solidFill>
                    <a:srgbClr val="1E1E1E"/>
                  </a:solidFill>
                  <a:latin typeface="Fira Sans Condensed"/>
                  <a:ea typeface="Fira Sans Condensed"/>
                  <a:cs typeface="Fira Sans Condensed"/>
                  <a:sym typeface="Fira Sans Condensed"/>
                </a:rPr>
                <a:t>polisomnografía</a:t>
              </a:r>
              <a:r>
                <a:rPr lang="es-AR" sz="1400" dirty="0">
                  <a:solidFill>
                    <a:srgbClr val="1E1E1E"/>
                  </a:solidFill>
                  <a:latin typeface="Fira Sans Condensed"/>
                  <a:ea typeface="Fira Sans Condensed"/>
                  <a:cs typeface="Fira Sans Condensed"/>
                  <a:sym typeface="Fira Sans Condensed"/>
                </a:rPr>
                <a:t>. Con IMC ~59 y disnea, investigar también </a:t>
              </a:r>
              <a:r>
                <a:rPr lang="es-AR" sz="1400" b="1" dirty="0">
                  <a:solidFill>
                    <a:srgbClr val="1E1E1E"/>
                  </a:solidFill>
                  <a:latin typeface="Fira Sans Condensed"/>
                  <a:ea typeface="Fira Sans Condensed"/>
                  <a:cs typeface="Fira Sans Condensed"/>
                  <a:sym typeface="Fira Sans Condensed"/>
                </a:rPr>
                <a:t>síndrome de hipoventilación por obesidad</a:t>
              </a:r>
              <a:r>
                <a:rPr lang="es-AR" sz="1400" dirty="0">
                  <a:solidFill>
                    <a:srgbClr val="1E1E1E"/>
                  </a:solidFill>
                  <a:latin typeface="Fira Sans Condensed"/>
                  <a:ea typeface="Fira Sans Condensed"/>
                  <a:cs typeface="Fira Sans Condensed"/>
                  <a:sym typeface="Fira Sans Condensed"/>
                </a:rPr>
                <a:t> (hipercapnia diurna), que </a:t>
              </a:r>
              <a:r>
                <a:rPr lang="es-AR" sz="1400" b="1" dirty="0">
                  <a:solidFill>
                    <a:srgbClr val="1E1E1E"/>
                  </a:solidFill>
                  <a:latin typeface="Fira Sans Condensed"/>
                  <a:ea typeface="Fira Sans Condensed"/>
                  <a:cs typeface="Fira Sans Condensed"/>
                  <a:sym typeface="Fira Sans Condensed"/>
                </a:rPr>
                <a:t>no es sinónimo</a:t>
              </a:r>
              <a:r>
                <a:rPr lang="es-AR" sz="1400" dirty="0">
                  <a:solidFill>
                    <a:srgbClr val="1E1E1E"/>
                  </a:solidFill>
                  <a:latin typeface="Fira Sans Condensed"/>
                  <a:ea typeface="Fira Sans Condensed"/>
                  <a:cs typeface="Fira Sans Condensed"/>
                  <a:sym typeface="Fira Sans Condensed"/>
                </a:rPr>
                <a:t> de AOS.</a:t>
              </a:r>
              <a:endParaRPr lang="es-AR" sz="1400" dirty="0">
                <a:latin typeface="Fira Sans Condensed"/>
              </a:endParaRPr>
            </a:p>
          </p:txBody>
        </p:sp>
        <p:sp>
          <p:nvSpPr>
            <p:cNvPr id="23" name="Forma 22"/>
            <p:cNvSpPr/>
            <p:nvPr/>
          </p:nvSpPr>
          <p:spPr>
            <a:xfrm>
              <a:off x="502920" y="3566160"/>
              <a:ext cx="143243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DIAGNÓSTICO</a:t>
              </a:r>
              <a:endParaRPr lang="es-AR" sz="1400" dirty="0">
                <a:latin typeface="Fira Sans Condensed"/>
              </a:endParaRPr>
            </a:p>
          </p:txBody>
        </p:sp>
      </p:grpSp>
      <p:grpSp>
        <p:nvGrpSpPr>
          <p:cNvPr id="24" name="Cuadro Otras consecuencias"/>
          <p:cNvGrpSpPr/>
          <p:nvPr/>
        </p:nvGrpSpPr>
        <p:grpSpPr>
          <a:xfrm>
            <a:off x="6263640" y="3566160"/>
            <a:ext cx="5577840" cy="2697480"/>
            <a:chOff x="6263640" y="3566160"/>
            <a:chExt cx="5577840" cy="2697480"/>
          </a:xfrm>
        </p:grpSpPr>
        <p:sp>
          <p:nvSpPr>
            <p:cNvPr id="25" name="Forma 24"/>
            <p:cNvSpPr/>
            <p:nvPr/>
          </p:nvSpPr>
          <p:spPr>
            <a:xfrm>
              <a:off x="6263640" y="3767328"/>
              <a:ext cx="5577840" cy="24963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Osteoartrosis y dolor de rodillas · enfermedad venosa · limitación funcional · hipogonadismo funcional · infertilidad · ECV · cánceres asociados a adiposidad · </a:t>
              </a:r>
              <a:r>
                <a:rPr lang="es-AR" sz="1350" b="1" dirty="0">
                  <a:solidFill>
                    <a:srgbClr val="1E1E1E"/>
                  </a:solidFill>
                  <a:latin typeface="Fira Sans Condensed"/>
                  <a:ea typeface="Fira Sans Condensed"/>
                  <a:cs typeface="Fira Sans Condensed"/>
                  <a:sym typeface="Fira Sans Condensed"/>
                </a:rPr>
                <a:t>salud mental</a:t>
              </a:r>
              <a:r>
                <a:rPr lang="es-AR" sz="1350" dirty="0">
                  <a:solidFill>
                    <a:srgbClr val="1E1E1E"/>
                  </a:solidFill>
                  <a:latin typeface="Fira Sans Condensed"/>
                  <a:ea typeface="Fira Sans Condensed"/>
                  <a:cs typeface="Fira Sans Condensed"/>
                  <a:sym typeface="Fira Sans Condensed"/>
                </a:rPr>
                <a:t>. No usar la lista para atribuir diagnósticos sin evaluación.</a:t>
              </a:r>
              <a:endParaRPr lang="es-AR" sz="1350" dirty="0">
                <a:latin typeface="Fira Sans Condensed"/>
              </a:endParaRPr>
            </a:p>
          </p:txBody>
        </p:sp>
        <p:sp>
          <p:nvSpPr>
            <p:cNvPr id="26" name="Forma 25"/>
            <p:cNvSpPr/>
            <p:nvPr/>
          </p:nvSpPr>
          <p:spPr>
            <a:xfrm>
              <a:off x="6400800" y="3566160"/>
              <a:ext cx="220314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OTRAS CONSECUENCIAS</a:t>
              </a:r>
              <a:endParaRPr lang="es-AR" sz="1400" dirty="0">
                <a:latin typeface="Fira Sans Condensed"/>
              </a:endParaRPr>
            </a:p>
          </p:txBody>
        </p:sp>
      </p:grpSp>
      <p:sp>
        <p:nvSpPr>
          <p:cNvPr id="4" name="Título"/>
          <p:cNvSpPr txBox="1"/>
          <p:nvPr/>
        </p:nvSpPr>
        <p:spPr>
          <a:xfrm>
            <a:off x="320040" y="91440"/>
            <a:ext cx="11551615" cy="6215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100" dirty="0">
                <a:solidFill>
                  <a:srgbClr val="1E1E1E"/>
                </a:solidFill>
                <a:effectLst>
                  <a:glow rad="101600">
                    <a:srgbClr val="FFFFFF">
                      <a:alpha val="70000"/>
                    </a:srgbClr>
                  </a:glow>
                </a:effectLst>
                <a:latin typeface="Permanent Marker"/>
                <a:ea typeface="Permanent Marker"/>
                <a:cs typeface="Permanent Marker"/>
                <a:sym typeface="Permanent Marker"/>
              </a:rPr>
              <a:t>7F · APNEA OBSTRUCTIVA DEL SUEÑO Y RESPIRACIÓN</a:t>
            </a:r>
            <a:endParaRPr lang="es-AR" sz="3100" dirty="0">
              <a:latin typeface="Permanent Marker"/>
            </a:endParaRPr>
          </a:p>
        </p:txBody>
      </p:sp>
      <p:sp>
        <p:nvSpPr>
          <p:cNvPr id="5"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2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childTnLst>
                          </p:cTn>
                        </p:par>
                        <p:par>
                          <p:cTn id="10" fill="hold">
                            <p:stCondLst>
                              <p:cond delay="400"/>
                            </p:stCondLst>
                            <p:childTnLst>
                              <p:par>
                                <p:cTn id="7" presetID="22" presetClass="entr" presetSubtype="1"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wipe(up)">
                                      <p:cBhvr>
                                        <p:cTn id="9" dur="500"/>
                                        <p:tgtEl>
                                          <p:spTgt spid="7"/>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childTnLst>
                          </p:cTn>
                        </p:par>
                        <p:par>
                          <p:cTn id="18" fill="hold">
                            <p:stCondLst>
                              <p:cond delay="1300"/>
                            </p:stCondLst>
                            <p:childTnLst>
                              <p:par>
                                <p:cTn id="15" presetID="22" presetClass="entr" presetSubtype="1"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childTnLst>
                          </p:cTn>
                        </p:par>
                      </p:childTnLst>
                    </p:cTn>
                  </p:par>
                  <p:par>
                    <p:cTn id="48" fill="hold">
                      <p:stCondLst>
                        <p:cond delay="indefinite"/>
                      </p:stCondLst>
                      <p:childTnLst>
                        <p:par>
                          <p:cTn id="27"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par>
                          <p:cTn id="31"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childTnLst>
                          </p:cTn>
                        </p:par>
                        <p:par>
                          <p:cTn id="35" fill="hold">
                            <p:stCondLst>
                              <p:cond delay="900"/>
                            </p:stCondLst>
                            <p:childTnLst>
                              <p:par>
                                <p:cTn id="32" presetID="22" presetClass="entr" presetSubtype="8"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par>
                          <p:cTn id="39" fill="hold">
                            <p:stCondLst>
                              <p:cond delay="1400"/>
                            </p:stCondLst>
                            <p:childTnLst>
                              <p:par>
                                <p:cTn id="36" presetID="10" presetClass="entr" presetSubtype="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par>
                          <p:cTn id="43" fill="hold">
                            <p:stCondLst>
                              <p:cond delay="1800"/>
                            </p:stCondLst>
                            <p:childTnLst>
                              <p:par>
                                <p:cTn id="40" presetID="22" presetClass="entr" presetSubtype="8"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7" fill="hold">
                            <p:stCondLst>
                              <p:cond delay="2300"/>
                            </p:stCondLst>
                            <p:childTnLst>
                              <p:par>
                                <p:cTn id="44" presetID="10" presetClass="entr" presetSubtype="0"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61" fill="hold">
                      <p:stCondLst>
                        <p:cond delay="indefinite"/>
                      </p:stCondLst>
                      <p:childTnLst>
                        <p:par>
                          <p:cTn id="52"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par>
                          <p:cTn id="56"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par>
                          <p:cTn id="60"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childTnLst>
                          </p:cTn>
                        </p:par>
                      </p:childTnLst>
                    </p:cTn>
                  </p:par>
                  <p:par>
                    <p:cTn id="66" fill="hold">
                      <p:stCondLst>
                        <p:cond delay="indefinite"/>
                      </p:stCondLst>
                      <p:childTnLst>
                        <p:par>
                          <p:cTn id="65"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par>
                    <p:cTn id="71" fill="hold">
                      <p:stCondLst>
                        <p:cond delay="indefinite"/>
                      </p:stCondLst>
                      <p:childTnLst>
                        <p:par>
                          <p:cTn id="70"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P spid="15" grpId="0" animBg="1"/>
      <p:bldP spid="8" grpId="0" animBg="1"/>
      <p:bldP spid="16" grpId="0" animBg="1"/>
      <p:bldP spid="9" grpId="0" animBg="1"/>
      <p:bldP spid="17" grpId="0" animBg="1"/>
      <p:bldP spid="10" grpId="0" animBg="1"/>
      <p:bldP spid="18" grpId="0" animBg="1"/>
      <p:bldP spid="11" grpId="0" animBg="1"/>
      <p:bldP spid="19" grpId="0" animBg="1"/>
      <p:bldP spid="12" grpId="0" animBg="1"/>
      <p:bldP spid="13" grpId="0" animBg="1"/>
      <p:bldP spid="20" grpId="0" animBg="1"/>
    </p:bld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Centro paciente" descr="Ilustración biomédica (Servier Medical Art, CC BY)"/>
          <p:cNvPicPr>
            <a:picLocks noChangeAspect="1"/>
          </p:cNvPicPr>
          <p:nvPr/>
        </p:nvPicPr>
        <p:blipFill>
          <a:blip r:embed="rId2"/>
          <a:stretch>
            <a:fillRect/>
          </a:stretch>
        </p:blipFill>
        <p:spPr>
          <a:xfrm>
            <a:off x="5166360" y="1463040"/>
            <a:ext cx="2115007" cy="3840480"/>
          </a:xfrm>
          <a:prstGeom prst="rect">
            <a:avLst/>
          </a:prstGeom>
        </p:spPr>
      </p:pic>
      <p:grpSp>
        <p:nvGrpSpPr>
          <p:cNvPr id="8" name="Hub 0"/>
          <p:cNvGrpSpPr/>
          <p:nvPr/>
        </p:nvGrpSpPr>
        <p:grpSpPr>
          <a:xfrm>
            <a:off x="4937760" y="980824"/>
            <a:ext cx="2423160" cy="1030856"/>
            <a:chOff x="4937760" y="980824"/>
            <a:chExt cx="2423160" cy="1030856"/>
          </a:xfrm>
        </p:grpSpPr>
        <p:sp>
          <p:nvSpPr>
            <p:cNvPr id="9" name="Flecha 8_2"/>
            <p:cNvSpPr/>
            <p:nvPr/>
          </p:nvSpPr>
          <p:spPr>
            <a:xfrm>
              <a:off x="6099048" y="1783080"/>
              <a:ext cx="9144" cy="228600"/>
            </a:xfrm>
            <a:custGeom>
              <a:avLst/>
              <a:gdLst/>
              <a:ahLst/>
              <a:cxnLst/>
              <a:rect l="0" t="0" r="r" b="b"/>
              <a:pathLst>
                <a:path w="10" h="250" fill="none">
                  <a:moveTo>
                    <a:pt x="0" y="250"/>
                  </a:moveTo>
                  <a:lnTo>
                    <a:pt x="0" y="0"/>
                  </a:lnTo>
                </a:path>
              </a:pathLst>
            </a:custGeom>
            <a:noFill/>
            <a:ln w="25400" cap="rnd">
              <a:solidFill>
                <a:srgbClr val="1E1E1E"/>
              </a:solidFill>
              <a:round/>
              <a:tailEnd type="triangle" w="med" len="med"/>
            </a:ln>
          </p:spPr>
        </p:sp>
        <p:pic>
          <p:nvPicPr>
            <p:cNvPr id="10" name="Imagen langerhans-islet-pancreas" descr="Ilustración biomédica (Servier Medical Art, CC BY)"/>
            <p:cNvPicPr>
              <a:picLocks noChangeAspect="1"/>
            </p:cNvPicPr>
            <p:nvPr/>
          </p:nvPicPr>
          <p:blipFill>
            <a:blip r:embed="rId3"/>
            <a:stretch>
              <a:fillRect/>
            </a:stretch>
          </p:blipFill>
          <p:spPr>
            <a:xfrm>
              <a:off x="4937760" y="980824"/>
              <a:ext cx="548640" cy="598672"/>
            </a:xfrm>
            <a:prstGeom prst="rect">
              <a:avLst/>
            </a:prstGeom>
          </p:spPr>
        </p:pic>
        <p:sp>
          <p:nvSpPr>
            <p:cNvPr id="11" name="Recuadro Resistencia insulínica"/>
            <p:cNvSpPr/>
            <p:nvPr/>
          </p:nvSpPr>
          <p:spPr>
            <a:xfrm>
              <a:off x="5532120" y="1005840"/>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Resistencia insulínica · DM2</a:t>
              </a:r>
              <a:endParaRPr lang="es-AR" sz="1150" dirty="0">
                <a:latin typeface="Fira Sans Condensed"/>
              </a:endParaRPr>
            </a:p>
          </p:txBody>
        </p:sp>
      </p:grpSp>
      <p:grpSp>
        <p:nvGrpSpPr>
          <p:cNvPr id="12" name="Hub 1"/>
          <p:cNvGrpSpPr/>
          <p:nvPr/>
        </p:nvGrpSpPr>
        <p:grpSpPr>
          <a:xfrm>
            <a:off x="6863142" y="1484246"/>
            <a:ext cx="3377826" cy="848327"/>
            <a:chOff x="6863142" y="1484246"/>
            <a:chExt cx="3377826" cy="848327"/>
          </a:xfrm>
        </p:grpSpPr>
        <p:sp>
          <p:nvSpPr>
            <p:cNvPr id="13" name="Flecha 13_2"/>
            <p:cNvSpPr/>
            <p:nvPr/>
          </p:nvSpPr>
          <p:spPr>
            <a:xfrm>
              <a:off x="6863142" y="2189545"/>
              <a:ext cx="1234306" cy="143028"/>
            </a:xfrm>
            <a:custGeom>
              <a:avLst/>
              <a:gdLst/>
              <a:ahLst/>
              <a:cxnLst/>
              <a:rect l="0" t="0" r="r" b="b"/>
              <a:pathLst>
                <a:path w="1349" h="156" fill="none">
                  <a:moveTo>
                    <a:pt x="0" y="156"/>
                  </a:moveTo>
                  <a:lnTo>
                    <a:pt x="1349" y="0"/>
                  </a:lnTo>
                </a:path>
              </a:pathLst>
            </a:custGeom>
            <a:noFill/>
            <a:ln w="25400" cap="rnd">
              <a:solidFill>
                <a:srgbClr val="1E1E1E"/>
              </a:solidFill>
              <a:round/>
              <a:tailEnd type="triangle" w="med" len="med"/>
            </a:ln>
          </p:spPr>
        </p:sp>
        <p:pic>
          <p:nvPicPr>
            <p:cNvPr id="14" name="Imagen kidney-2" descr="Ilustración biomédica (Servier Medical Art, CC BY)"/>
            <p:cNvPicPr>
              <a:picLocks noChangeAspect="1"/>
            </p:cNvPicPr>
            <p:nvPr/>
          </p:nvPicPr>
          <p:blipFill>
            <a:blip r:embed="rId4"/>
            <a:stretch>
              <a:fillRect/>
            </a:stretch>
          </p:blipFill>
          <p:spPr>
            <a:xfrm>
              <a:off x="7872215" y="1484246"/>
              <a:ext cx="439826" cy="640080"/>
            </a:xfrm>
            <a:prstGeom prst="rect">
              <a:avLst/>
            </a:prstGeom>
          </p:spPr>
        </p:pic>
        <p:sp>
          <p:nvSpPr>
            <p:cNvPr id="15" name="Recuadro HTA"/>
            <p:cNvSpPr/>
            <p:nvPr/>
          </p:nvSpPr>
          <p:spPr>
            <a:xfrm>
              <a:off x="8412168" y="1529966"/>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HTA</a:t>
              </a:r>
              <a:endParaRPr lang="es-AR" sz="1150" dirty="0">
                <a:latin typeface="Fira Sans Condensed"/>
              </a:endParaRPr>
            </a:p>
          </p:txBody>
        </p:sp>
      </p:grpSp>
      <p:grpSp>
        <p:nvGrpSpPr>
          <p:cNvPr id="16" name="Hub 2"/>
          <p:cNvGrpSpPr/>
          <p:nvPr/>
        </p:nvGrpSpPr>
        <p:grpSpPr>
          <a:xfrm>
            <a:off x="7269709" y="2857099"/>
            <a:ext cx="4503702" cy="548640"/>
            <a:chOff x="7269709" y="2857099"/>
            <a:chExt cx="4503702" cy="548640"/>
          </a:xfrm>
        </p:grpSpPr>
        <p:sp>
          <p:nvSpPr>
            <p:cNvPr id="17" name="Flecha 18_2"/>
            <p:cNvSpPr/>
            <p:nvPr/>
          </p:nvSpPr>
          <p:spPr>
            <a:xfrm>
              <a:off x="7269709" y="3145104"/>
              <a:ext cx="1891067" cy="73646"/>
            </a:xfrm>
            <a:custGeom>
              <a:avLst/>
              <a:gdLst/>
              <a:ahLst/>
              <a:cxnLst/>
              <a:rect l="0" t="0" r="r" b="b"/>
              <a:pathLst>
                <a:path w="2068" h="80" fill="none">
                  <a:moveTo>
                    <a:pt x="0" y="0"/>
                  </a:moveTo>
                  <a:lnTo>
                    <a:pt x="2068" y="80"/>
                  </a:lnTo>
                </a:path>
              </a:pathLst>
            </a:custGeom>
            <a:noFill/>
            <a:ln w="25400" cap="rnd">
              <a:solidFill>
                <a:srgbClr val="1E1E1E"/>
              </a:solidFill>
              <a:round/>
              <a:tailEnd type="triangle" w="med" len="med"/>
            </a:ln>
          </p:spPr>
        </p:sp>
        <p:pic>
          <p:nvPicPr>
            <p:cNvPr id="18" name="Imagen ldl-1" descr="Ilustración biomédica (Servier Medical Art, CC BY)"/>
            <p:cNvPicPr>
              <a:picLocks noChangeAspect="1"/>
            </p:cNvPicPr>
            <p:nvPr/>
          </p:nvPicPr>
          <p:blipFill>
            <a:blip r:embed="rId5"/>
            <a:stretch>
              <a:fillRect/>
            </a:stretch>
          </p:blipFill>
          <p:spPr>
            <a:xfrm>
              <a:off x="9350250" y="2889038"/>
              <a:ext cx="548640" cy="484763"/>
            </a:xfrm>
            <a:prstGeom prst="rect">
              <a:avLst/>
            </a:prstGeom>
          </p:spPr>
        </p:pic>
        <p:sp>
          <p:nvSpPr>
            <p:cNvPr id="19" name="Recuadro Dislipidemia"/>
            <p:cNvSpPr/>
            <p:nvPr/>
          </p:nvSpPr>
          <p:spPr>
            <a:xfrm>
              <a:off x="9944610" y="2857099"/>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Dislipidemia</a:t>
              </a:r>
              <a:endParaRPr lang="es-AR" sz="1150" dirty="0">
                <a:latin typeface="Fira Sans Condensed"/>
              </a:endParaRPr>
            </a:p>
          </p:txBody>
        </p:sp>
      </p:grpSp>
      <p:grpSp>
        <p:nvGrpSpPr>
          <p:cNvPr id="20" name="Hub 3"/>
          <p:cNvGrpSpPr/>
          <p:nvPr/>
        </p:nvGrpSpPr>
        <p:grpSpPr>
          <a:xfrm>
            <a:off x="7128510" y="4069080"/>
            <a:ext cx="4112689" cy="845820"/>
            <a:chOff x="7128510" y="4069080"/>
            <a:chExt cx="4112689" cy="845820"/>
          </a:xfrm>
        </p:grpSpPr>
        <p:sp>
          <p:nvSpPr>
            <p:cNvPr id="21" name="Flecha 23_2"/>
            <p:cNvSpPr/>
            <p:nvPr/>
          </p:nvSpPr>
          <p:spPr>
            <a:xfrm>
              <a:off x="7128510" y="4069080"/>
              <a:ext cx="1662977" cy="320040"/>
            </a:xfrm>
            <a:custGeom>
              <a:avLst/>
              <a:gdLst/>
              <a:ahLst/>
              <a:cxnLst/>
              <a:rect l="0" t="0" r="r" b="b"/>
              <a:pathLst>
                <a:path w="1818" h="349" fill="none">
                  <a:moveTo>
                    <a:pt x="0" y="0"/>
                  </a:moveTo>
                  <a:lnTo>
                    <a:pt x="1818" y="349"/>
                  </a:lnTo>
                </a:path>
              </a:pathLst>
            </a:custGeom>
            <a:noFill/>
            <a:ln w="25400" cap="rnd">
              <a:solidFill>
                <a:srgbClr val="1E1E1E"/>
              </a:solidFill>
              <a:round/>
              <a:tailEnd type="triangle" w="med" len="med"/>
            </a:ln>
          </p:spPr>
        </p:sp>
        <p:pic>
          <p:nvPicPr>
            <p:cNvPr id="22" name="Imagen healthy_liver" descr="Ilustración biomédica (Servier Medical Art, CC BY)"/>
            <p:cNvPicPr>
              <a:picLocks noChangeAspect="1"/>
            </p:cNvPicPr>
            <p:nvPr/>
          </p:nvPicPr>
          <p:blipFill>
            <a:blip r:embed="rId6"/>
            <a:stretch>
              <a:fillRect/>
            </a:stretch>
          </p:blipFill>
          <p:spPr>
            <a:xfrm>
              <a:off x="8818039" y="4441531"/>
              <a:ext cx="548640" cy="398099"/>
            </a:xfrm>
            <a:prstGeom prst="rect">
              <a:avLst/>
            </a:prstGeom>
          </p:spPr>
        </p:pic>
        <p:sp>
          <p:nvSpPr>
            <p:cNvPr id="23" name="Recuadro MASLD/MASH"/>
            <p:cNvSpPr/>
            <p:nvPr/>
          </p:nvSpPr>
          <p:spPr>
            <a:xfrm>
              <a:off x="9412399" y="4366260"/>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MASLD/MASH</a:t>
              </a:r>
              <a:endParaRPr lang="es-AR" sz="1150" dirty="0">
                <a:latin typeface="Fira Sans Condensed"/>
              </a:endParaRPr>
            </a:p>
          </p:txBody>
        </p:sp>
      </p:grpSp>
      <p:grpSp>
        <p:nvGrpSpPr>
          <p:cNvPr id="24" name="Hub 4"/>
          <p:cNvGrpSpPr/>
          <p:nvPr/>
        </p:nvGrpSpPr>
        <p:grpSpPr>
          <a:xfrm>
            <a:off x="6505614" y="4672162"/>
            <a:ext cx="2387748" cy="1273492"/>
            <a:chOff x="6505614" y="4672162"/>
            <a:chExt cx="2387748" cy="1273492"/>
          </a:xfrm>
        </p:grpSpPr>
        <p:sp>
          <p:nvSpPr>
            <p:cNvPr id="25" name="Flecha 28_2"/>
            <p:cNvSpPr/>
            <p:nvPr/>
          </p:nvSpPr>
          <p:spPr>
            <a:xfrm>
              <a:off x="6505614" y="4672162"/>
              <a:ext cx="656761" cy="480862"/>
            </a:xfrm>
            <a:custGeom>
              <a:avLst/>
              <a:gdLst/>
              <a:ahLst/>
              <a:cxnLst/>
              <a:rect l="0" t="0" r="r" b="b"/>
              <a:pathLst>
                <a:path w="718" h="525" fill="none">
                  <a:moveTo>
                    <a:pt x="0" y="0"/>
                  </a:moveTo>
                  <a:lnTo>
                    <a:pt x="718" y="525"/>
                  </a:lnTo>
                </a:path>
              </a:pathLst>
            </a:custGeom>
            <a:noFill/>
            <a:ln w="25400" cap="rnd">
              <a:solidFill>
                <a:srgbClr val="1E1E1E"/>
              </a:solidFill>
              <a:round/>
              <a:tailEnd type="triangle" w="med" len="med"/>
            </a:ln>
          </p:spPr>
        </p:sp>
        <p:pic>
          <p:nvPicPr>
            <p:cNvPr id="26" name="Imagen heart-front" descr="Ilustración biomédica (Servier Medical Art, CC BY)"/>
            <p:cNvPicPr>
              <a:picLocks noChangeAspect="1"/>
            </p:cNvPicPr>
            <p:nvPr/>
          </p:nvPicPr>
          <p:blipFill>
            <a:blip r:embed="rId7"/>
            <a:stretch>
              <a:fillRect/>
            </a:stretch>
          </p:blipFill>
          <p:spPr>
            <a:xfrm>
              <a:off x="6518436" y="5305575"/>
              <a:ext cx="452171" cy="640080"/>
            </a:xfrm>
            <a:prstGeom prst="rect">
              <a:avLst/>
            </a:prstGeom>
          </p:spPr>
        </p:pic>
        <p:sp>
          <p:nvSpPr>
            <p:cNvPr id="27" name="Recuadro Riesgo cardiovascular"/>
            <p:cNvSpPr/>
            <p:nvPr/>
          </p:nvSpPr>
          <p:spPr>
            <a:xfrm>
              <a:off x="7064562" y="5351295"/>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Riesgo cardiovascular</a:t>
              </a:r>
              <a:endParaRPr lang="es-AR" sz="1150" dirty="0">
                <a:latin typeface="Fira Sans Condensed"/>
              </a:endParaRPr>
            </a:p>
          </p:txBody>
        </p:sp>
      </p:grpSp>
      <p:grpSp>
        <p:nvGrpSpPr>
          <p:cNvPr id="28" name="Hub 5"/>
          <p:cNvGrpSpPr/>
          <p:nvPr/>
        </p:nvGrpSpPr>
        <p:grpSpPr>
          <a:xfrm>
            <a:off x="3405318" y="4672162"/>
            <a:ext cx="2423160" cy="1267217"/>
            <a:chOff x="3405318" y="4672162"/>
            <a:chExt cx="2423160" cy="1267217"/>
          </a:xfrm>
        </p:grpSpPr>
        <p:sp>
          <p:nvSpPr>
            <p:cNvPr id="29" name="Flecha 33_2"/>
            <p:cNvSpPr/>
            <p:nvPr/>
          </p:nvSpPr>
          <p:spPr>
            <a:xfrm>
              <a:off x="5035721" y="4672162"/>
              <a:ext cx="656761" cy="480862"/>
            </a:xfrm>
            <a:custGeom>
              <a:avLst/>
              <a:gdLst/>
              <a:ahLst/>
              <a:cxnLst/>
              <a:rect l="0" t="0" r="r" b="b"/>
              <a:pathLst>
                <a:path w="718" h="525" fill="none">
                  <a:moveTo>
                    <a:pt x="718" y="0"/>
                  </a:moveTo>
                  <a:lnTo>
                    <a:pt x="0" y="525"/>
                  </a:lnTo>
                </a:path>
              </a:pathLst>
            </a:custGeom>
            <a:noFill/>
            <a:ln w="25400" cap="rnd">
              <a:solidFill>
                <a:srgbClr val="1E1E1E"/>
              </a:solidFill>
              <a:round/>
              <a:tailEnd type="triangle" w="med" len="med"/>
            </a:ln>
          </p:spPr>
        </p:sp>
        <p:pic>
          <p:nvPicPr>
            <p:cNvPr id="30" name="Imagen healthy-lung" descr="Ilustración biomédica (Servier Medical Art, CC BY)"/>
            <p:cNvPicPr>
              <a:picLocks noChangeAspect="1"/>
            </p:cNvPicPr>
            <p:nvPr/>
          </p:nvPicPr>
          <p:blipFill>
            <a:blip r:embed="rId8"/>
            <a:stretch>
              <a:fillRect/>
            </a:stretch>
          </p:blipFill>
          <p:spPr>
            <a:xfrm>
              <a:off x="3405318" y="5311850"/>
              <a:ext cx="548640" cy="627529"/>
            </a:xfrm>
            <a:prstGeom prst="rect">
              <a:avLst/>
            </a:prstGeom>
          </p:spPr>
        </p:pic>
        <p:sp>
          <p:nvSpPr>
            <p:cNvPr id="31" name="Recuadro AOS"/>
            <p:cNvSpPr/>
            <p:nvPr/>
          </p:nvSpPr>
          <p:spPr>
            <a:xfrm>
              <a:off x="3999678" y="5351295"/>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AOS</a:t>
              </a:r>
              <a:endParaRPr lang="es-AR" sz="1150" dirty="0">
                <a:latin typeface="Fira Sans Condensed"/>
              </a:endParaRPr>
            </a:p>
          </p:txBody>
        </p:sp>
      </p:grpSp>
      <p:grpSp>
        <p:nvGrpSpPr>
          <p:cNvPr id="32" name="Hub 6"/>
          <p:cNvGrpSpPr/>
          <p:nvPr/>
        </p:nvGrpSpPr>
        <p:grpSpPr>
          <a:xfrm>
            <a:off x="1278995" y="4069080"/>
            <a:ext cx="3790592" cy="891540"/>
            <a:chOff x="1278995" y="4069080"/>
            <a:chExt cx="3790592" cy="891540"/>
          </a:xfrm>
        </p:grpSpPr>
        <p:sp>
          <p:nvSpPr>
            <p:cNvPr id="33" name="Flecha 38_2"/>
            <p:cNvSpPr/>
            <p:nvPr/>
          </p:nvSpPr>
          <p:spPr>
            <a:xfrm>
              <a:off x="3406610" y="4069080"/>
              <a:ext cx="1662977" cy="320040"/>
            </a:xfrm>
            <a:custGeom>
              <a:avLst/>
              <a:gdLst/>
              <a:ahLst/>
              <a:cxnLst/>
              <a:rect l="0" t="0" r="r" b="b"/>
              <a:pathLst>
                <a:path w="1818" h="349" fill="none">
                  <a:moveTo>
                    <a:pt x="1818" y="0"/>
                  </a:moveTo>
                  <a:lnTo>
                    <a:pt x="0" y="349"/>
                  </a:lnTo>
                </a:path>
              </a:pathLst>
            </a:custGeom>
            <a:noFill/>
            <a:ln w="25400" cap="rnd">
              <a:solidFill>
                <a:srgbClr val="1E1E1E"/>
              </a:solidFill>
              <a:round/>
              <a:tailEnd type="triangle" w="med" len="med"/>
            </a:ln>
          </p:spPr>
        </p:sp>
        <p:pic>
          <p:nvPicPr>
            <p:cNvPr id="34" name="Imagen muscle-2" descr="Ilustración biomédica (Servier Medical Art, CC BY)"/>
            <p:cNvPicPr>
              <a:picLocks noChangeAspect="1"/>
            </p:cNvPicPr>
            <p:nvPr/>
          </p:nvPicPr>
          <p:blipFill>
            <a:blip r:embed="rId9"/>
            <a:stretch>
              <a:fillRect/>
            </a:stretch>
          </p:blipFill>
          <p:spPr>
            <a:xfrm>
              <a:off x="1278995" y="4320540"/>
              <a:ext cx="105613" cy="640080"/>
            </a:xfrm>
            <a:prstGeom prst="rect">
              <a:avLst/>
            </a:prstGeom>
          </p:spPr>
        </p:pic>
        <p:sp>
          <p:nvSpPr>
            <p:cNvPr id="35" name="Recuadro Osteoarticular · mecán"/>
            <p:cNvSpPr/>
            <p:nvPr/>
          </p:nvSpPr>
          <p:spPr>
            <a:xfrm>
              <a:off x="1651841" y="4366260"/>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Osteoarticular · mecánica</a:t>
              </a:r>
              <a:endParaRPr lang="es-AR" sz="1150" dirty="0">
                <a:latin typeface="Fira Sans Condensed"/>
              </a:endParaRPr>
            </a:p>
          </p:txBody>
        </p:sp>
      </p:grpSp>
      <p:grpSp>
        <p:nvGrpSpPr>
          <p:cNvPr id="36" name="Hub 7"/>
          <p:cNvGrpSpPr/>
          <p:nvPr/>
        </p:nvGrpSpPr>
        <p:grpSpPr>
          <a:xfrm>
            <a:off x="598650" y="2811379"/>
            <a:ext cx="4329737" cy="640080"/>
            <a:chOff x="598650" y="2811379"/>
            <a:chExt cx="4329737" cy="640080"/>
          </a:xfrm>
        </p:grpSpPr>
        <p:sp>
          <p:nvSpPr>
            <p:cNvPr id="37" name="Flecha 43_2"/>
            <p:cNvSpPr/>
            <p:nvPr/>
          </p:nvSpPr>
          <p:spPr>
            <a:xfrm>
              <a:off x="3037320" y="3145104"/>
              <a:ext cx="1891067" cy="73646"/>
            </a:xfrm>
            <a:custGeom>
              <a:avLst/>
              <a:gdLst/>
              <a:ahLst/>
              <a:cxnLst/>
              <a:rect l="0" t="0" r="r" b="b"/>
              <a:pathLst>
                <a:path w="2068" h="80" fill="none">
                  <a:moveTo>
                    <a:pt x="2068" y="0"/>
                  </a:moveTo>
                  <a:lnTo>
                    <a:pt x="0" y="80"/>
                  </a:lnTo>
                </a:path>
              </a:pathLst>
            </a:custGeom>
            <a:noFill/>
            <a:ln w="25400" cap="rnd">
              <a:solidFill>
                <a:srgbClr val="1E1E1E"/>
              </a:solidFill>
              <a:round/>
              <a:tailEnd type="triangle" w="med" len="med"/>
            </a:ln>
          </p:spPr>
        </p:sp>
        <p:pic>
          <p:nvPicPr>
            <p:cNvPr id="38" name="Imagen bile-lithiasis-big-calculi" descr="Ilustración biomédica (Servier Medical Art, CC BY)"/>
            <p:cNvPicPr>
              <a:picLocks noChangeAspect="1"/>
            </p:cNvPicPr>
            <p:nvPr/>
          </p:nvPicPr>
          <p:blipFill>
            <a:blip r:embed="rId10"/>
            <a:stretch>
              <a:fillRect/>
            </a:stretch>
          </p:blipFill>
          <p:spPr>
            <a:xfrm>
              <a:off x="598650" y="2811379"/>
              <a:ext cx="401879" cy="640080"/>
            </a:xfrm>
            <a:prstGeom prst="rect">
              <a:avLst/>
            </a:prstGeom>
          </p:spPr>
        </p:pic>
        <p:sp>
          <p:nvSpPr>
            <p:cNvPr id="39" name="Recuadro Litiasis · pancreatiti"/>
            <p:cNvSpPr/>
            <p:nvPr/>
          </p:nvSpPr>
          <p:spPr>
            <a:xfrm>
              <a:off x="1119630" y="2857099"/>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Litiasis · pancreatitis</a:t>
              </a:r>
              <a:endParaRPr lang="es-AR" sz="1150" dirty="0">
                <a:latin typeface="Fira Sans Condensed"/>
              </a:endParaRPr>
            </a:p>
          </p:txBody>
        </p:sp>
      </p:grpSp>
      <p:grpSp>
        <p:nvGrpSpPr>
          <p:cNvPr id="40" name="Hub 8"/>
          <p:cNvGrpSpPr/>
          <p:nvPr/>
        </p:nvGrpSpPr>
        <p:grpSpPr>
          <a:xfrm>
            <a:off x="2057712" y="1524163"/>
            <a:ext cx="3277242" cy="808410"/>
            <a:chOff x="2057712" y="1524163"/>
            <a:chExt cx="3277242" cy="808410"/>
          </a:xfrm>
        </p:grpSpPr>
        <p:sp>
          <p:nvSpPr>
            <p:cNvPr id="41" name="Flecha 48_2"/>
            <p:cNvSpPr/>
            <p:nvPr/>
          </p:nvSpPr>
          <p:spPr>
            <a:xfrm>
              <a:off x="4100647" y="2189545"/>
              <a:ext cx="1234306" cy="143028"/>
            </a:xfrm>
            <a:custGeom>
              <a:avLst/>
              <a:gdLst/>
              <a:ahLst/>
              <a:cxnLst/>
              <a:rect l="0" t="0" r="r" b="b"/>
              <a:pathLst>
                <a:path w="1349" h="156" fill="none">
                  <a:moveTo>
                    <a:pt x="1349" y="156"/>
                  </a:moveTo>
                  <a:lnTo>
                    <a:pt x="0" y="0"/>
                  </a:lnTo>
                </a:path>
              </a:pathLst>
            </a:custGeom>
            <a:noFill/>
            <a:ln w="25400" cap="rnd">
              <a:solidFill>
                <a:srgbClr val="1E1E1E"/>
              </a:solidFill>
              <a:round/>
              <a:tailEnd type="triangle" w="med" len="med"/>
            </a:ln>
          </p:spPr>
        </p:sp>
        <p:pic>
          <p:nvPicPr>
            <p:cNvPr id="42" name="Imagen brain-2" descr="Ilustración biomédica (Servier Medical Art, CC BY)"/>
            <p:cNvPicPr>
              <a:picLocks noChangeAspect="1"/>
            </p:cNvPicPr>
            <p:nvPr/>
          </p:nvPicPr>
          <p:blipFill>
            <a:blip r:embed="rId11"/>
            <a:stretch>
              <a:fillRect/>
            </a:stretch>
          </p:blipFill>
          <p:spPr>
            <a:xfrm>
              <a:off x="2057712" y="1524163"/>
              <a:ext cx="548640" cy="560245"/>
            </a:xfrm>
            <a:prstGeom prst="rect">
              <a:avLst/>
            </a:prstGeom>
          </p:spPr>
        </p:pic>
        <p:sp>
          <p:nvSpPr>
            <p:cNvPr id="43" name="Recuadro Psicológica y social"/>
            <p:cNvSpPr/>
            <p:nvPr/>
          </p:nvSpPr>
          <p:spPr>
            <a:xfrm>
              <a:off x="2652072" y="1529966"/>
              <a:ext cx="18288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Psicológica y social</a:t>
              </a:r>
              <a:endParaRPr lang="es-AR" sz="115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COMPLICACIONES INTEGRADAS DEL CASO 20</a:t>
            </a:r>
            <a:endParaRPr lang="es-AR" sz="3400" dirty="0">
              <a:latin typeface="Permanent Marker"/>
            </a:endParaRPr>
          </a:p>
        </p:txBody>
      </p:sp>
      <p:sp>
        <p:nvSpPr>
          <p:cNvPr id="6" name="Etiqueta sección"/>
          <p:cNvSpPr/>
          <p:nvPr/>
        </p:nvSpPr>
        <p:spPr>
          <a:xfrm>
            <a:off x="164592" y="6510528"/>
            <a:ext cx="2017067"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 · OBESIDAD (CASO 20)</a:t>
            </a:r>
            <a:endParaRPr lang="es-AR" sz="950" dirty="0">
              <a:latin typeface="Fira Sans Condensed"/>
            </a:endParaRPr>
          </a:p>
        </p:txBody>
      </p:sp>
      <p:sp>
        <p:nvSpPr>
          <p:cNvPr id="4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189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3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00"/>
                                        <p:tgtEl>
                                          <p:spTgt spid="16"/>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300"/>
                                        <p:tgtEl>
                                          <p:spTgt spid="20"/>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300"/>
                                        <p:tgtEl>
                                          <p:spTgt spid="24"/>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00"/>
                                        <p:tgtEl>
                                          <p:spTgt spid="28"/>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00"/>
                                        <p:tgtEl>
                                          <p:spTgt spid="32"/>
                                        </p:tgtEl>
                                      </p:cBhvr>
                                    </p:animEffect>
                                  </p:childTnLst>
                                </p:cTn>
                              </p:par>
                            </p:childTnLst>
                          </p:cTn>
                        </p:par>
                      </p:childTnLst>
                    </p:cTn>
                  </p:par>
                  <p:par>
                    <p:cTn id="42" fill="hold">
                      <p:stCondLst>
                        <p:cond delay="indefinite"/>
                      </p:stCondLst>
                      <p:childTnLst>
                        <p:par>
                          <p:cTn id="41"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300"/>
                                        <p:tgtEl>
                                          <p:spTgt spid="36"/>
                                        </p:tgtEl>
                                      </p:cBhvr>
                                    </p:animEffect>
                                  </p:childTnLst>
                                </p:cTn>
                              </p:par>
                            </p:childTnLst>
                          </p:cTn>
                        </p:par>
                      </p:childTnLst>
                    </p:cTn>
                  </p:par>
                  <p:par>
                    <p:cTn id="47" fill="hold">
                      <p:stCondLst>
                        <p:cond delay="indefinite"/>
                      </p:stCondLst>
                      <p:childTnLst>
                        <p:par>
                          <p:cTn id="46"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VIII</a:t>
            </a:r>
            <a:endParaRPr lang="es-AR" sz="2000" dirty="0">
              <a:latin typeface="Fira Sans Condensed"/>
            </a:endParaRPr>
          </a:p>
        </p:txBody>
      </p:sp>
      <p:sp>
        <p:nvSpPr>
          <p:cNvPr id="6" name="Título unidad"/>
          <p:cNvSpPr txBox="1"/>
          <p:nvPr/>
        </p:nvSpPr>
        <p:spPr>
          <a:xfrm>
            <a:off x="2468880" y="960120"/>
            <a:ext cx="7223760" cy="11993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TRATAMIENTO,</a:t>
            </a:r>
            <a:endParaRPr lang="es-AR" sz="3300" dirty="0">
              <a:latin typeface="Permanent Marker"/>
            </a:endParaRPr>
          </a:p>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FARMACOLOGÍA Y NORMATIVA</a:t>
            </a:r>
            <a:endParaRPr lang="es-AR" sz="33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Abordaje crónico, interdisciplinario y sin estigma</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Nutrición y balance energético</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Actividad, conducta y salud mental</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Fármacos: mecanismos y riesgos</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Orlistat (animación)</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Agonistas GLP-1 (animación)</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Seguridad contextualizada</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Cirugía metabólica</a:t>
            </a:r>
            <a:endParaRPr lang="es-AR" sz="1400" dirty="0">
              <a:latin typeface="Fira Sans Condensed"/>
            </a:endParaRPr>
          </a:p>
        </p:txBody>
      </p:sp>
      <p:sp>
        <p:nvSpPr>
          <p:cNvPr id="15" name="Tema 8"/>
          <p:cNvSpPr/>
          <p:nvPr/>
        </p:nvSpPr>
        <p:spPr>
          <a:xfrm>
            <a:off x="617220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ANMAT y Ley 26.396</a:t>
            </a:r>
            <a:endParaRPr lang="es-AR" sz="1400" dirty="0">
              <a:latin typeface="Fira Sans Condensed"/>
            </a:endParaRPr>
          </a:p>
        </p:txBody>
      </p:sp>
      <p:pic>
        <p:nvPicPr>
          <p:cNvPr id="16" name="Corredor" descr="Ilustración biomédica (Servier Medical Art, CC BY)"/>
          <p:cNvPicPr>
            <a:picLocks noChangeAspect="1"/>
          </p:cNvPicPr>
          <p:nvPr/>
        </p:nvPicPr>
        <p:blipFill>
          <a:blip r:embed="rId2"/>
          <a:stretch>
            <a:fillRect/>
          </a:stretch>
        </p:blipFill>
        <p:spPr>
          <a:xfrm>
            <a:off x="10241280" y="457200"/>
            <a:ext cx="1238359" cy="2743200"/>
          </a:xfrm>
          <a:prstGeom prst="rect">
            <a:avLst/>
          </a:prstGeom>
        </p:spPr>
      </p:pic>
      <p:pic>
        <p:nvPicPr>
          <p:cNvPr id="17" name="Estómago" descr="Ilustración biomédica (Servier Medical Art, CC BY)"/>
          <p:cNvPicPr>
            <a:picLocks noChangeAspect="1"/>
          </p:cNvPicPr>
          <p:nvPr/>
        </p:nvPicPr>
        <p:blipFill>
          <a:blip r:embed="rId3"/>
          <a:stretch>
            <a:fillRect/>
          </a:stretch>
        </p:blipFill>
        <p:spPr>
          <a:xfrm>
            <a:off x="9966960" y="3566160"/>
            <a:ext cx="1737360" cy="1807061"/>
          </a:xfrm>
          <a:prstGeom prst="rect">
            <a:avLst/>
          </a:prstGeom>
        </p:spPr>
      </p:pic>
      <p:pic>
        <p:nvPicPr>
          <p:cNvPr id="18" name="Intestino" descr="Ilustración biomédica (Servier Medical Art, CC BY)"/>
          <p:cNvPicPr>
            <a:picLocks noChangeAspect="1"/>
          </p:cNvPicPr>
          <p:nvPr/>
        </p:nvPicPr>
        <p:blipFill>
          <a:blip r:embed="rId4"/>
          <a:stretch>
            <a:fillRect/>
          </a:stretch>
        </p:blipFill>
        <p:spPr>
          <a:xfrm>
            <a:off x="228600" y="1097280"/>
            <a:ext cx="1828800" cy="1815737"/>
          </a:xfrm>
          <a:prstGeom prst="rect">
            <a:avLst/>
          </a:prstGeom>
        </p:spPr>
      </p:pic>
      <p:grpSp>
        <p:nvGrpSpPr>
          <p:cNvPr id="19" name="TAG"/>
          <p:cNvGrpSpPr/>
          <p:nvPr/>
        </p:nvGrpSpPr>
        <p:grpSpPr>
          <a:xfrm>
            <a:off x="170297" y="4056597"/>
            <a:ext cx="2033848" cy="1021753"/>
            <a:chOff x="170297" y="4056597"/>
            <a:chExt cx="2033848" cy="1021753"/>
          </a:xfrm>
        </p:grpSpPr>
        <p:sp>
          <p:nvSpPr>
            <p:cNvPr id="20" name="Átomo C"/>
            <p:cNvSpPr/>
            <p:nvPr/>
          </p:nvSpPr>
          <p:spPr>
            <a:xfrm>
              <a:off x="2081951" y="4452254"/>
              <a:ext cx="75541" cy="7554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 name="Flecha 20_2"/>
            <p:cNvSpPr/>
            <p:nvPr/>
          </p:nvSpPr>
          <p:spPr>
            <a:xfrm>
              <a:off x="2119721" y="4360416"/>
              <a:ext cx="46492" cy="129609"/>
            </a:xfrm>
            <a:custGeom>
              <a:avLst/>
              <a:gdLst/>
              <a:ahLst/>
              <a:cxnLst/>
              <a:rect l="0" t="0" r="r" b="b"/>
              <a:pathLst>
                <a:path w="50" h="141" fill="none">
                  <a:moveTo>
                    <a:pt x="0" y="141"/>
                  </a:moveTo>
                  <a:lnTo>
                    <a:pt x="50" y="0"/>
                  </a:lnTo>
                </a:path>
              </a:pathLst>
            </a:custGeom>
            <a:noFill/>
            <a:ln w="19050" cap="rnd">
              <a:solidFill>
                <a:srgbClr val="9A9A9A"/>
              </a:solidFill>
              <a:round/>
            </a:ln>
          </p:spPr>
        </p:sp>
        <p:sp>
          <p:nvSpPr>
            <p:cNvPr id="22" name="Átomo C_2"/>
            <p:cNvSpPr/>
            <p:nvPr/>
          </p:nvSpPr>
          <p:spPr>
            <a:xfrm>
              <a:off x="2128281" y="4322484"/>
              <a:ext cx="75863" cy="7586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3" name="Flecha 23_2"/>
            <p:cNvSpPr/>
            <p:nvPr/>
          </p:nvSpPr>
          <p:spPr>
            <a:xfrm>
              <a:off x="2017709" y="4490025"/>
              <a:ext cx="102012" cy="40124"/>
            </a:xfrm>
            <a:custGeom>
              <a:avLst/>
              <a:gdLst/>
              <a:ahLst/>
              <a:cxnLst/>
              <a:rect l="0" t="0" r="r" b="b"/>
              <a:pathLst>
                <a:path w="111" h="43" fill="none">
                  <a:moveTo>
                    <a:pt x="0" y="43"/>
                  </a:moveTo>
                  <a:lnTo>
                    <a:pt x="111" y="0"/>
                  </a:lnTo>
                </a:path>
              </a:pathLst>
            </a:custGeom>
            <a:noFill/>
            <a:ln w="19050" cap="rnd">
              <a:solidFill>
                <a:srgbClr val="9A9A9A"/>
              </a:solidFill>
              <a:round/>
            </a:ln>
          </p:spPr>
        </p:sp>
        <p:sp>
          <p:nvSpPr>
            <p:cNvPr id="24" name="Átomo C_3"/>
            <p:cNvSpPr/>
            <p:nvPr/>
          </p:nvSpPr>
          <p:spPr>
            <a:xfrm>
              <a:off x="1931794" y="4621755"/>
              <a:ext cx="76179" cy="761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5" name="Flecha 26_2"/>
            <p:cNvSpPr/>
            <p:nvPr/>
          </p:nvSpPr>
          <p:spPr>
            <a:xfrm>
              <a:off x="1969883" y="4530149"/>
              <a:ext cx="47826" cy="129696"/>
            </a:xfrm>
            <a:custGeom>
              <a:avLst/>
              <a:gdLst/>
              <a:ahLst/>
              <a:cxnLst/>
              <a:rect l="0" t="0" r="r" b="b"/>
              <a:pathLst>
                <a:path w="52" h="141" fill="none">
                  <a:moveTo>
                    <a:pt x="0" y="141"/>
                  </a:moveTo>
                  <a:lnTo>
                    <a:pt x="52" y="0"/>
                  </a:lnTo>
                </a:path>
              </a:pathLst>
            </a:custGeom>
            <a:noFill/>
            <a:ln w="19050" cap="rnd">
              <a:solidFill>
                <a:srgbClr val="9A9A9A"/>
              </a:solidFill>
              <a:round/>
            </a:ln>
          </p:spPr>
        </p:sp>
        <p:sp>
          <p:nvSpPr>
            <p:cNvPr id="26" name="Átomo C_4"/>
            <p:cNvSpPr/>
            <p:nvPr/>
          </p:nvSpPr>
          <p:spPr>
            <a:xfrm>
              <a:off x="1979452" y="4491891"/>
              <a:ext cx="76515" cy="7651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 name="Flecha 29_2"/>
            <p:cNvSpPr/>
            <p:nvPr/>
          </p:nvSpPr>
          <p:spPr>
            <a:xfrm>
              <a:off x="1866937" y="4659844"/>
              <a:ext cx="102947" cy="39184"/>
            </a:xfrm>
            <a:custGeom>
              <a:avLst/>
              <a:gdLst/>
              <a:ahLst/>
              <a:cxnLst/>
              <a:rect l="0" t="0" r="r" b="b"/>
              <a:pathLst>
                <a:path w="112" h="42" fill="none">
                  <a:moveTo>
                    <a:pt x="0" y="42"/>
                  </a:moveTo>
                  <a:lnTo>
                    <a:pt x="112" y="0"/>
                  </a:lnTo>
                </a:path>
              </a:pathLst>
            </a:custGeom>
            <a:noFill/>
            <a:ln w="19050" cap="rnd">
              <a:solidFill>
                <a:srgbClr val="9A9A9A"/>
              </a:solidFill>
              <a:round/>
            </a:ln>
          </p:spPr>
        </p:sp>
        <p:sp>
          <p:nvSpPr>
            <p:cNvPr id="28" name="Átomo C_5"/>
            <p:cNvSpPr/>
            <p:nvPr/>
          </p:nvSpPr>
          <p:spPr>
            <a:xfrm>
              <a:off x="1779022" y="4789570"/>
              <a:ext cx="76804" cy="7680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9" name="Flecha 32_2"/>
            <p:cNvSpPr/>
            <p:nvPr/>
          </p:nvSpPr>
          <p:spPr>
            <a:xfrm>
              <a:off x="1817424" y="4699029"/>
              <a:ext cx="49512" cy="128943"/>
            </a:xfrm>
            <a:custGeom>
              <a:avLst/>
              <a:gdLst/>
              <a:ahLst/>
              <a:cxnLst/>
              <a:rect l="0" t="0" r="r" b="b"/>
              <a:pathLst>
                <a:path w="54" h="141" fill="none">
                  <a:moveTo>
                    <a:pt x="0" y="141"/>
                  </a:moveTo>
                  <a:lnTo>
                    <a:pt x="54" y="0"/>
                  </a:lnTo>
                </a:path>
              </a:pathLst>
            </a:custGeom>
            <a:noFill/>
            <a:ln w="19050" cap="rnd">
              <a:solidFill>
                <a:srgbClr val="9A9A9A"/>
              </a:solidFill>
              <a:round/>
            </a:ln>
          </p:spPr>
        </p:sp>
        <p:sp>
          <p:nvSpPr>
            <p:cNvPr id="30" name="Átomo C_6"/>
            <p:cNvSpPr/>
            <p:nvPr/>
          </p:nvSpPr>
          <p:spPr>
            <a:xfrm>
              <a:off x="1828362" y="4660455"/>
              <a:ext cx="77148" cy="7714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1" name="Flecha 35_2"/>
            <p:cNvSpPr/>
            <p:nvPr/>
          </p:nvSpPr>
          <p:spPr>
            <a:xfrm>
              <a:off x="1713036" y="4827972"/>
              <a:ext cx="104388" cy="37544"/>
            </a:xfrm>
            <a:custGeom>
              <a:avLst/>
              <a:gdLst/>
              <a:ahLst/>
              <a:cxnLst/>
              <a:rect l="0" t="0" r="r" b="b"/>
              <a:pathLst>
                <a:path w="114" h="41" fill="none">
                  <a:moveTo>
                    <a:pt x="0" y="41"/>
                  </a:moveTo>
                  <a:lnTo>
                    <a:pt x="114" y="0"/>
                  </a:lnTo>
                </a:path>
              </a:pathLst>
            </a:custGeom>
            <a:noFill/>
            <a:ln w="19050" cap="rnd">
              <a:solidFill>
                <a:srgbClr val="9A9A9A"/>
              </a:solidFill>
              <a:round/>
            </a:ln>
          </p:spPr>
        </p:sp>
        <p:sp>
          <p:nvSpPr>
            <p:cNvPr id="32" name="Átomo C_7"/>
            <p:cNvSpPr/>
            <p:nvPr/>
          </p:nvSpPr>
          <p:spPr>
            <a:xfrm>
              <a:off x="1622150" y="4954340"/>
              <a:ext cx="77409" cy="7740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3" name="Flecha 38_2"/>
            <p:cNvSpPr/>
            <p:nvPr/>
          </p:nvSpPr>
          <p:spPr>
            <a:xfrm>
              <a:off x="1660855" y="4865516"/>
              <a:ext cx="52181" cy="127529"/>
            </a:xfrm>
            <a:custGeom>
              <a:avLst/>
              <a:gdLst/>
              <a:ahLst/>
              <a:cxnLst/>
              <a:rect l="0" t="0" r="r" b="b"/>
              <a:pathLst>
                <a:path w="57" h="139" fill="none">
                  <a:moveTo>
                    <a:pt x="0" y="139"/>
                  </a:moveTo>
                  <a:lnTo>
                    <a:pt x="57" y="0"/>
                  </a:lnTo>
                </a:path>
              </a:pathLst>
            </a:custGeom>
            <a:noFill/>
            <a:ln w="19050" cap="rnd">
              <a:solidFill>
                <a:srgbClr val="9A9A9A"/>
              </a:solidFill>
              <a:round/>
            </a:ln>
          </p:spPr>
        </p:sp>
        <p:sp>
          <p:nvSpPr>
            <p:cNvPr id="34" name="Átomo C_8"/>
            <p:cNvSpPr/>
            <p:nvPr/>
          </p:nvSpPr>
          <p:spPr>
            <a:xfrm>
              <a:off x="1674154" y="4826633"/>
              <a:ext cx="77764" cy="777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5" name="Flecha 41_2"/>
            <p:cNvSpPr/>
            <p:nvPr/>
          </p:nvSpPr>
          <p:spPr>
            <a:xfrm>
              <a:off x="1563014" y="4993045"/>
              <a:ext cx="97841" cy="46101"/>
            </a:xfrm>
            <a:custGeom>
              <a:avLst/>
              <a:gdLst/>
              <a:ahLst/>
              <a:cxnLst/>
              <a:rect l="0" t="0" r="r" b="b"/>
              <a:pathLst>
                <a:path w="106" h="50" fill="none">
                  <a:moveTo>
                    <a:pt x="0" y="50"/>
                  </a:moveTo>
                  <a:lnTo>
                    <a:pt x="106" y="0"/>
                  </a:lnTo>
                </a:path>
              </a:pathLst>
            </a:custGeom>
            <a:noFill/>
            <a:ln w="19050" cap="rnd">
              <a:solidFill>
                <a:srgbClr val="9A9A9A"/>
              </a:solidFill>
              <a:round/>
            </a:ln>
          </p:spPr>
        </p:sp>
        <p:sp>
          <p:nvSpPr>
            <p:cNvPr id="36" name="Átomo C_9"/>
            <p:cNvSpPr/>
            <p:nvPr/>
          </p:nvSpPr>
          <p:spPr>
            <a:xfrm>
              <a:off x="1523810" y="4999942"/>
              <a:ext cx="78408" cy="784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Flecha 44_2"/>
            <p:cNvSpPr/>
            <p:nvPr/>
          </p:nvSpPr>
          <p:spPr>
            <a:xfrm>
              <a:off x="1447437" y="4957446"/>
              <a:ext cx="115577" cy="81699"/>
            </a:xfrm>
            <a:custGeom>
              <a:avLst/>
              <a:gdLst/>
              <a:ahLst/>
              <a:cxnLst/>
              <a:rect l="0" t="0" r="r" b="b"/>
              <a:pathLst>
                <a:path w="126" h="89" fill="none">
                  <a:moveTo>
                    <a:pt x="0" y="0"/>
                  </a:moveTo>
                  <a:lnTo>
                    <a:pt x="126" y="89"/>
                  </a:lnTo>
                </a:path>
              </a:pathLst>
            </a:custGeom>
            <a:noFill/>
            <a:ln w="19050" cap="rnd">
              <a:solidFill>
                <a:srgbClr val="9A9A9A"/>
              </a:solidFill>
              <a:round/>
            </a:ln>
          </p:spPr>
        </p:sp>
        <p:sp>
          <p:nvSpPr>
            <p:cNvPr id="38" name="Átomo C_10"/>
            <p:cNvSpPr/>
            <p:nvPr/>
          </p:nvSpPr>
          <p:spPr>
            <a:xfrm>
              <a:off x="1408211" y="4918220"/>
              <a:ext cx="78453" cy="7845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Átomo C_11"/>
            <p:cNvSpPr/>
            <p:nvPr/>
          </p:nvSpPr>
          <p:spPr>
            <a:xfrm>
              <a:off x="1021188" y="4173836"/>
              <a:ext cx="78776" cy="7877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Flecha 48_2"/>
            <p:cNvSpPr/>
            <p:nvPr/>
          </p:nvSpPr>
          <p:spPr>
            <a:xfrm>
              <a:off x="1348374" y="4957446"/>
              <a:ext cx="99064" cy="54129"/>
            </a:xfrm>
            <a:custGeom>
              <a:avLst/>
              <a:gdLst/>
              <a:ahLst/>
              <a:cxnLst/>
              <a:rect l="0" t="0" r="r" b="b"/>
              <a:pathLst>
                <a:path w="108" h="59" fill="none">
                  <a:moveTo>
                    <a:pt x="0" y="59"/>
                  </a:moveTo>
                  <a:lnTo>
                    <a:pt x="108" y="0"/>
                  </a:lnTo>
                </a:path>
              </a:pathLst>
            </a:custGeom>
            <a:noFill/>
            <a:ln w="19050" cap="rnd">
              <a:solidFill>
                <a:srgbClr val="9A9A9A"/>
              </a:solidFill>
              <a:round/>
            </a:ln>
          </p:spPr>
        </p:sp>
        <p:sp>
          <p:nvSpPr>
            <p:cNvPr id="41" name="Átomo O"/>
            <p:cNvSpPr/>
            <p:nvPr/>
          </p:nvSpPr>
          <p:spPr>
            <a:xfrm>
              <a:off x="1211299" y="4779409"/>
              <a:ext cx="74550" cy="7455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2" name="Flecha 51_2"/>
            <p:cNvSpPr/>
            <p:nvPr/>
          </p:nvSpPr>
          <p:spPr>
            <a:xfrm>
              <a:off x="1142609" y="4736618"/>
              <a:ext cx="105965" cy="80066"/>
            </a:xfrm>
            <a:custGeom>
              <a:avLst/>
              <a:gdLst/>
              <a:ahLst/>
              <a:cxnLst/>
              <a:rect l="0" t="0" r="r" b="b"/>
              <a:pathLst>
                <a:path w="115" h="87" fill="none">
                  <a:moveTo>
                    <a:pt x="0" y="0"/>
                  </a:moveTo>
                  <a:lnTo>
                    <a:pt x="115" y="87"/>
                  </a:lnTo>
                </a:path>
              </a:pathLst>
            </a:custGeom>
            <a:noFill/>
            <a:ln w="19050" cap="rnd">
              <a:solidFill>
                <a:srgbClr val="9A9A9A"/>
              </a:solidFill>
              <a:round/>
            </a:ln>
          </p:spPr>
        </p:sp>
        <p:sp>
          <p:nvSpPr>
            <p:cNvPr id="43" name="Átomo C_12"/>
            <p:cNvSpPr/>
            <p:nvPr/>
          </p:nvSpPr>
          <p:spPr>
            <a:xfrm>
              <a:off x="1103044" y="4697053"/>
              <a:ext cx="79129" cy="791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Flecha 54_2"/>
            <p:cNvSpPr/>
            <p:nvPr/>
          </p:nvSpPr>
          <p:spPr>
            <a:xfrm>
              <a:off x="1060576" y="4213224"/>
              <a:ext cx="90191" cy="80218"/>
            </a:xfrm>
            <a:custGeom>
              <a:avLst/>
              <a:gdLst/>
              <a:ahLst/>
              <a:cxnLst/>
              <a:rect l="0" t="0" r="r" b="b"/>
              <a:pathLst>
                <a:path w="98" h="87" fill="none">
                  <a:moveTo>
                    <a:pt x="0" y="0"/>
                  </a:moveTo>
                  <a:lnTo>
                    <a:pt x="98" y="87"/>
                  </a:lnTo>
                </a:path>
              </a:pathLst>
            </a:custGeom>
            <a:noFill/>
            <a:ln w="19050" cap="rnd">
              <a:solidFill>
                <a:srgbClr val="9A9A9A"/>
              </a:solidFill>
              <a:round/>
            </a:ln>
          </p:spPr>
        </p:sp>
        <p:sp>
          <p:nvSpPr>
            <p:cNvPr id="45" name="Flecha 56_2"/>
            <p:cNvSpPr/>
            <p:nvPr/>
          </p:nvSpPr>
          <p:spPr>
            <a:xfrm>
              <a:off x="1230580" y="4816684"/>
              <a:ext cx="17994" cy="119283"/>
            </a:xfrm>
            <a:custGeom>
              <a:avLst/>
              <a:gdLst/>
              <a:ahLst/>
              <a:cxnLst/>
              <a:rect l="0" t="0" r="r" b="b"/>
              <a:pathLst>
                <a:path w="19" h="130" fill="none">
                  <a:moveTo>
                    <a:pt x="19" y="0"/>
                  </a:moveTo>
                  <a:lnTo>
                    <a:pt x="0" y="130"/>
                  </a:lnTo>
                </a:path>
              </a:pathLst>
            </a:custGeom>
            <a:noFill/>
            <a:ln w="19050" cap="rnd">
              <a:solidFill>
                <a:srgbClr val="9A9A9A"/>
              </a:solidFill>
              <a:round/>
            </a:ln>
          </p:spPr>
        </p:sp>
        <p:sp>
          <p:nvSpPr>
            <p:cNvPr id="46" name="Átomo C_13"/>
            <p:cNvSpPr/>
            <p:nvPr/>
          </p:nvSpPr>
          <p:spPr>
            <a:xfrm>
              <a:off x="1308681" y="4971883"/>
              <a:ext cx="79384" cy="7938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7" name="Flecha 59_2"/>
            <p:cNvSpPr/>
            <p:nvPr/>
          </p:nvSpPr>
          <p:spPr>
            <a:xfrm>
              <a:off x="1230580" y="4935968"/>
              <a:ext cx="117794" cy="75608"/>
            </a:xfrm>
            <a:custGeom>
              <a:avLst/>
              <a:gdLst/>
              <a:ahLst/>
              <a:cxnLst/>
              <a:rect l="0" t="0" r="r" b="b"/>
              <a:pathLst>
                <a:path w="128" h="82" fill="none">
                  <a:moveTo>
                    <a:pt x="0" y="0"/>
                  </a:moveTo>
                  <a:lnTo>
                    <a:pt x="128" y="82"/>
                  </a:lnTo>
                </a:path>
              </a:pathLst>
            </a:custGeom>
            <a:noFill/>
            <a:ln w="19050" cap="rnd">
              <a:solidFill>
                <a:srgbClr val="9A9A9A"/>
              </a:solidFill>
              <a:round/>
            </a:ln>
          </p:spPr>
        </p:sp>
        <p:sp>
          <p:nvSpPr>
            <p:cNvPr id="48" name="Átomo C_14"/>
            <p:cNvSpPr/>
            <p:nvPr/>
          </p:nvSpPr>
          <p:spPr>
            <a:xfrm>
              <a:off x="1190853" y="4896240"/>
              <a:ext cx="79455" cy="794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9" name="Átomo C_15"/>
            <p:cNvSpPr/>
            <p:nvPr/>
          </p:nvSpPr>
          <p:spPr>
            <a:xfrm>
              <a:off x="1110984" y="4253659"/>
              <a:ext cx="79566" cy="7956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0" name="Flecha 63_2"/>
            <p:cNvSpPr/>
            <p:nvPr/>
          </p:nvSpPr>
          <p:spPr>
            <a:xfrm>
              <a:off x="1150767" y="4241437"/>
              <a:ext cx="131849" cy="52005"/>
            </a:xfrm>
            <a:custGeom>
              <a:avLst/>
              <a:gdLst/>
              <a:ahLst/>
              <a:cxnLst/>
              <a:rect l="0" t="0" r="r" b="b"/>
              <a:pathLst>
                <a:path w="144" h="56" fill="none">
                  <a:moveTo>
                    <a:pt x="0" y="56"/>
                  </a:moveTo>
                  <a:lnTo>
                    <a:pt x="144" y="0"/>
                  </a:lnTo>
                </a:path>
              </a:pathLst>
            </a:custGeom>
            <a:noFill/>
            <a:ln w="19050" cap="rnd">
              <a:solidFill>
                <a:srgbClr val="9A9A9A"/>
              </a:solidFill>
              <a:round/>
            </a:ln>
          </p:spPr>
        </p:sp>
        <p:sp>
          <p:nvSpPr>
            <p:cNvPr id="51" name="Átomo C_16"/>
            <p:cNvSpPr/>
            <p:nvPr/>
          </p:nvSpPr>
          <p:spPr>
            <a:xfrm>
              <a:off x="1242816" y="4201637"/>
              <a:ext cx="79600" cy="796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2" name="Flecha 66_2"/>
            <p:cNvSpPr/>
            <p:nvPr/>
          </p:nvSpPr>
          <p:spPr>
            <a:xfrm>
              <a:off x="1129287" y="4928286"/>
              <a:ext cx="98065" cy="41207"/>
            </a:xfrm>
            <a:custGeom>
              <a:avLst/>
              <a:gdLst/>
              <a:ahLst/>
              <a:cxnLst/>
              <a:rect l="0" t="0" r="r" b="b"/>
              <a:pathLst>
                <a:path w="107" h="45" fill="none">
                  <a:moveTo>
                    <a:pt x="107" y="0"/>
                  </a:moveTo>
                  <a:lnTo>
                    <a:pt x="0" y="45"/>
                  </a:lnTo>
                </a:path>
              </a:pathLst>
            </a:custGeom>
            <a:noFill/>
            <a:ln w="15240" cap="rnd">
              <a:solidFill>
                <a:srgbClr val="9A9A9A"/>
              </a:solidFill>
              <a:round/>
            </a:ln>
          </p:spPr>
        </p:sp>
        <p:sp>
          <p:nvSpPr>
            <p:cNvPr id="53" name="Flecha 68_2"/>
            <p:cNvSpPr/>
            <p:nvPr/>
          </p:nvSpPr>
          <p:spPr>
            <a:xfrm>
              <a:off x="1135743" y="4943650"/>
              <a:ext cx="98065" cy="41207"/>
            </a:xfrm>
            <a:custGeom>
              <a:avLst/>
              <a:gdLst/>
              <a:ahLst/>
              <a:cxnLst/>
              <a:rect l="0" t="0" r="r" b="b"/>
              <a:pathLst>
                <a:path w="107" h="45" fill="none">
                  <a:moveTo>
                    <a:pt x="107" y="0"/>
                  </a:moveTo>
                  <a:lnTo>
                    <a:pt x="0" y="45"/>
                  </a:lnTo>
                </a:path>
              </a:pathLst>
            </a:custGeom>
            <a:noFill/>
            <a:ln w="15240" cap="rnd">
              <a:solidFill>
                <a:srgbClr val="9A9A9A"/>
              </a:solidFill>
              <a:round/>
            </a:ln>
          </p:spPr>
        </p:sp>
        <p:sp>
          <p:nvSpPr>
            <p:cNvPr id="54" name="Flecha 70_2"/>
            <p:cNvSpPr/>
            <p:nvPr/>
          </p:nvSpPr>
          <p:spPr>
            <a:xfrm>
              <a:off x="1111732" y="4692745"/>
              <a:ext cx="30877" cy="43873"/>
            </a:xfrm>
            <a:custGeom>
              <a:avLst/>
              <a:gdLst/>
              <a:ahLst/>
              <a:cxnLst/>
              <a:rect l="0" t="0" r="r" b="b"/>
              <a:pathLst>
                <a:path w="33" h="47" fill="none">
                  <a:moveTo>
                    <a:pt x="0" y="0"/>
                  </a:moveTo>
                  <a:lnTo>
                    <a:pt x="33" y="47"/>
                  </a:lnTo>
                </a:path>
              </a:pathLst>
            </a:custGeom>
            <a:noFill/>
            <a:ln w="19050" cap="rnd">
              <a:solidFill>
                <a:srgbClr val="9A9A9A"/>
              </a:solidFill>
              <a:round/>
            </a:ln>
          </p:spPr>
        </p:sp>
        <p:sp>
          <p:nvSpPr>
            <p:cNvPr id="55" name="Átomo O_2"/>
            <p:cNvSpPr/>
            <p:nvPr/>
          </p:nvSpPr>
          <p:spPr>
            <a:xfrm>
              <a:off x="1094858" y="4939518"/>
              <a:ext cx="75313" cy="7531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6" name="Flecha 73_2"/>
            <p:cNvSpPr/>
            <p:nvPr/>
          </p:nvSpPr>
          <p:spPr>
            <a:xfrm>
              <a:off x="1282617" y="4111793"/>
              <a:ext cx="13518" cy="129644"/>
            </a:xfrm>
            <a:custGeom>
              <a:avLst/>
              <a:gdLst/>
              <a:ahLst/>
              <a:cxnLst/>
              <a:rect l="0" t="0" r="r" b="b"/>
              <a:pathLst>
                <a:path w="14" h="141" fill="none">
                  <a:moveTo>
                    <a:pt x="0" y="141"/>
                  </a:moveTo>
                  <a:lnTo>
                    <a:pt x="14" y="0"/>
                  </a:lnTo>
                </a:path>
              </a:pathLst>
            </a:custGeom>
            <a:noFill/>
            <a:ln w="19050" cap="rnd">
              <a:solidFill>
                <a:srgbClr val="9A9A9A"/>
              </a:solidFill>
              <a:round/>
            </a:ln>
          </p:spPr>
        </p:sp>
        <p:sp>
          <p:nvSpPr>
            <p:cNvPr id="57" name="Átomo O_3"/>
            <p:cNvSpPr/>
            <p:nvPr/>
          </p:nvSpPr>
          <p:spPr>
            <a:xfrm>
              <a:off x="828993" y="4677892"/>
              <a:ext cx="75419" cy="7541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8" name="Flecha 76_2"/>
            <p:cNvSpPr/>
            <p:nvPr/>
          </p:nvSpPr>
          <p:spPr>
            <a:xfrm>
              <a:off x="858976" y="4609411"/>
              <a:ext cx="41610" cy="103071"/>
            </a:xfrm>
            <a:custGeom>
              <a:avLst/>
              <a:gdLst/>
              <a:ahLst/>
              <a:cxnLst/>
              <a:rect l="0" t="0" r="r" b="b"/>
              <a:pathLst>
                <a:path w="45" h="112" fill="none">
                  <a:moveTo>
                    <a:pt x="45" y="0"/>
                  </a:moveTo>
                  <a:lnTo>
                    <a:pt x="0" y="112"/>
                  </a:lnTo>
                </a:path>
              </a:pathLst>
            </a:custGeom>
            <a:noFill/>
            <a:ln w="15240" cap="rnd">
              <a:solidFill>
                <a:srgbClr val="9A9A9A"/>
              </a:solidFill>
              <a:round/>
            </a:ln>
          </p:spPr>
        </p:sp>
        <p:sp>
          <p:nvSpPr>
            <p:cNvPr id="59" name="Flecha 78_2"/>
            <p:cNvSpPr/>
            <p:nvPr/>
          </p:nvSpPr>
          <p:spPr>
            <a:xfrm>
              <a:off x="874429" y="4615650"/>
              <a:ext cx="41610" cy="103071"/>
            </a:xfrm>
            <a:custGeom>
              <a:avLst/>
              <a:gdLst/>
              <a:ahLst/>
              <a:cxnLst/>
              <a:rect l="0" t="0" r="r" b="b"/>
              <a:pathLst>
                <a:path w="45" h="112" fill="none">
                  <a:moveTo>
                    <a:pt x="45" y="0"/>
                  </a:moveTo>
                  <a:lnTo>
                    <a:pt x="0" y="112"/>
                  </a:lnTo>
                </a:path>
              </a:pathLst>
            </a:custGeom>
            <a:noFill/>
            <a:ln w="15240" cap="rnd">
              <a:solidFill>
                <a:srgbClr val="9A9A9A"/>
              </a:solidFill>
              <a:round/>
            </a:ln>
          </p:spPr>
        </p:sp>
        <p:sp>
          <p:nvSpPr>
            <p:cNvPr id="60" name="Átomo C_17"/>
            <p:cNvSpPr/>
            <p:nvPr/>
          </p:nvSpPr>
          <p:spPr>
            <a:xfrm>
              <a:off x="795589" y="4453088"/>
              <a:ext cx="80139" cy="801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1" name="Flecha 81_2"/>
            <p:cNvSpPr/>
            <p:nvPr/>
          </p:nvSpPr>
          <p:spPr>
            <a:xfrm>
              <a:off x="835659" y="4493158"/>
              <a:ext cx="72654" cy="119373"/>
            </a:xfrm>
            <a:custGeom>
              <a:avLst/>
              <a:gdLst/>
              <a:ahLst/>
              <a:cxnLst/>
              <a:rect l="0" t="0" r="r" b="b"/>
              <a:pathLst>
                <a:path w="79" h="130" fill="none">
                  <a:moveTo>
                    <a:pt x="79" y="130"/>
                  </a:moveTo>
                  <a:lnTo>
                    <a:pt x="0" y="0"/>
                  </a:lnTo>
                </a:path>
              </a:pathLst>
            </a:custGeom>
            <a:noFill/>
            <a:ln w="19050" cap="rnd">
              <a:solidFill>
                <a:srgbClr val="9A9A9A"/>
              </a:solidFill>
              <a:round/>
            </a:ln>
          </p:spPr>
        </p:sp>
        <p:sp>
          <p:nvSpPr>
            <p:cNvPr id="62" name="Flecha 83_2"/>
            <p:cNvSpPr/>
            <p:nvPr/>
          </p:nvSpPr>
          <p:spPr>
            <a:xfrm>
              <a:off x="695909" y="4493158"/>
              <a:ext cx="139750" cy="17846"/>
            </a:xfrm>
            <a:custGeom>
              <a:avLst/>
              <a:gdLst/>
              <a:ahLst/>
              <a:cxnLst/>
              <a:rect l="0" t="0" r="r" b="b"/>
              <a:pathLst>
                <a:path w="152" h="19" fill="none">
                  <a:moveTo>
                    <a:pt x="152" y="0"/>
                  </a:moveTo>
                  <a:lnTo>
                    <a:pt x="0" y="19"/>
                  </a:lnTo>
                </a:path>
              </a:pathLst>
            </a:custGeom>
            <a:noFill/>
            <a:ln w="19050" cap="rnd">
              <a:solidFill>
                <a:srgbClr val="9A9A9A"/>
              </a:solidFill>
              <a:round/>
            </a:ln>
          </p:spPr>
        </p:sp>
        <p:sp>
          <p:nvSpPr>
            <p:cNvPr id="63" name="Átomo C_18"/>
            <p:cNvSpPr/>
            <p:nvPr/>
          </p:nvSpPr>
          <p:spPr>
            <a:xfrm>
              <a:off x="1256029" y="4071688"/>
              <a:ext cx="80211" cy="802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4" name="Átomo C_19"/>
            <p:cNvSpPr/>
            <p:nvPr/>
          </p:nvSpPr>
          <p:spPr>
            <a:xfrm>
              <a:off x="868207" y="4572425"/>
              <a:ext cx="80211" cy="802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5" name="Átomo C_20"/>
            <p:cNvSpPr/>
            <p:nvPr/>
          </p:nvSpPr>
          <p:spPr>
            <a:xfrm>
              <a:off x="655770" y="4470865"/>
              <a:ext cx="80278" cy="8027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6" name="Flecha 88_2"/>
            <p:cNvSpPr/>
            <p:nvPr/>
          </p:nvSpPr>
          <p:spPr>
            <a:xfrm>
              <a:off x="908313" y="4587279"/>
              <a:ext cx="120594" cy="25251"/>
            </a:xfrm>
            <a:custGeom>
              <a:avLst/>
              <a:gdLst/>
              <a:ahLst/>
              <a:cxnLst/>
              <a:rect l="0" t="0" r="r" b="b"/>
              <a:pathLst>
                <a:path w="131" h="27" fill="none">
                  <a:moveTo>
                    <a:pt x="131" y="0"/>
                  </a:moveTo>
                  <a:lnTo>
                    <a:pt x="0" y="27"/>
                  </a:lnTo>
                </a:path>
              </a:pathLst>
            </a:custGeom>
            <a:noFill/>
            <a:ln w="19050" cap="rnd">
              <a:solidFill>
                <a:srgbClr val="9A9A9A"/>
              </a:solidFill>
              <a:round/>
            </a:ln>
          </p:spPr>
        </p:sp>
        <p:sp>
          <p:nvSpPr>
            <p:cNvPr id="67" name="Átomo O_4"/>
            <p:cNvSpPr/>
            <p:nvPr/>
          </p:nvSpPr>
          <p:spPr>
            <a:xfrm>
              <a:off x="990957" y="4549329"/>
              <a:ext cx="75901" cy="7590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8" name="Flecha 91_2"/>
            <p:cNvSpPr/>
            <p:nvPr/>
          </p:nvSpPr>
          <p:spPr>
            <a:xfrm>
              <a:off x="1028907" y="4587279"/>
              <a:ext cx="82825" cy="105465"/>
            </a:xfrm>
            <a:custGeom>
              <a:avLst/>
              <a:gdLst/>
              <a:ahLst/>
              <a:cxnLst/>
              <a:rect l="0" t="0" r="r" b="b"/>
              <a:pathLst>
                <a:path w="90" h="115" fill="none">
                  <a:moveTo>
                    <a:pt x="90" y="115"/>
                  </a:moveTo>
                  <a:lnTo>
                    <a:pt x="0" y="0"/>
                  </a:lnTo>
                </a:path>
              </a:pathLst>
            </a:custGeom>
            <a:noFill/>
            <a:ln w="19050" cap="rnd">
              <a:solidFill>
                <a:srgbClr val="9A9A9A"/>
              </a:solidFill>
              <a:round/>
            </a:ln>
          </p:spPr>
        </p:sp>
        <p:sp>
          <p:nvSpPr>
            <p:cNvPr id="69" name="Átomo C_21"/>
            <p:cNvSpPr/>
            <p:nvPr/>
          </p:nvSpPr>
          <p:spPr>
            <a:xfrm>
              <a:off x="1071449" y="4652462"/>
              <a:ext cx="80565" cy="8056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0" name="Flecha 94_2"/>
            <p:cNvSpPr/>
            <p:nvPr/>
          </p:nvSpPr>
          <p:spPr>
            <a:xfrm>
              <a:off x="1249527" y="4097427"/>
              <a:ext cx="46607" cy="14366"/>
            </a:xfrm>
            <a:custGeom>
              <a:avLst/>
              <a:gdLst/>
              <a:ahLst/>
              <a:cxnLst/>
              <a:rect l="0" t="0" r="r" b="b"/>
              <a:pathLst>
                <a:path w="50" h="15" fill="none">
                  <a:moveTo>
                    <a:pt x="50" y="15"/>
                  </a:moveTo>
                  <a:lnTo>
                    <a:pt x="0" y="0"/>
                  </a:lnTo>
                </a:path>
              </a:pathLst>
            </a:custGeom>
            <a:noFill/>
            <a:ln w="19050" cap="rnd">
              <a:solidFill>
                <a:srgbClr val="9A9A9A"/>
              </a:solidFill>
              <a:round/>
            </a:ln>
          </p:spPr>
        </p:sp>
        <p:sp>
          <p:nvSpPr>
            <p:cNvPr id="71" name="Flecha 96_2"/>
            <p:cNvSpPr/>
            <p:nvPr/>
          </p:nvSpPr>
          <p:spPr>
            <a:xfrm>
              <a:off x="1111732" y="4651214"/>
              <a:ext cx="117123" cy="41531"/>
            </a:xfrm>
            <a:custGeom>
              <a:avLst/>
              <a:gdLst/>
              <a:ahLst/>
              <a:cxnLst/>
              <a:rect l="0" t="0" r="r" b="b"/>
              <a:pathLst>
                <a:path w="128" h="45" fill="none">
                  <a:moveTo>
                    <a:pt x="128" y="0"/>
                  </a:moveTo>
                  <a:lnTo>
                    <a:pt x="0" y="45"/>
                  </a:lnTo>
                </a:path>
              </a:pathLst>
            </a:custGeom>
            <a:noFill/>
            <a:ln w="19050" cap="rnd">
              <a:solidFill>
                <a:srgbClr val="9A9A9A"/>
              </a:solidFill>
              <a:round/>
            </a:ln>
          </p:spPr>
        </p:sp>
        <p:sp>
          <p:nvSpPr>
            <p:cNvPr id="72" name="Átomo C_22"/>
            <p:cNvSpPr/>
            <p:nvPr/>
          </p:nvSpPr>
          <p:spPr>
            <a:xfrm>
              <a:off x="260079" y="4611008"/>
              <a:ext cx="80990" cy="809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3" name="Flecha 99_2"/>
            <p:cNvSpPr/>
            <p:nvPr/>
          </p:nvSpPr>
          <p:spPr>
            <a:xfrm>
              <a:off x="648540" y="4509030"/>
              <a:ext cx="47368" cy="9144"/>
            </a:xfrm>
            <a:custGeom>
              <a:avLst/>
              <a:gdLst/>
              <a:ahLst/>
              <a:cxnLst/>
              <a:rect l="0" t="0" r="r" b="b"/>
              <a:pathLst>
                <a:path w="51" h="10" fill="none">
                  <a:moveTo>
                    <a:pt x="51" y="2"/>
                  </a:moveTo>
                  <a:lnTo>
                    <a:pt x="0" y="0"/>
                  </a:lnTo>
                </a:path>
              </a:pathLst>
            </a:custGeom>
            <a:noFill/>
            <a:ln w="19050" cap="rnd">
              <a:solidFill>
                <a:srgbClr val="9A9A9A"/>
              </a:solidFill>
              <a:round/>
            </a:ln>
          </p:spPr>
        </p:sp>
        <p:sp>
          <p:nvSpPr>
            <p:cNvPr id="74" name="Átomo C_23"/>
            <p:cNvSpPr/>
            <p:nvPr/>
          </p:nvSpPr>
          <p:spPr>
            <a:xfrm>
              <a:off x="1188196" y="4610555"/>
              <a:ext cx="81316" cy="8131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5" name="Flecha 102_2"/>
            <p:cNvSpPr/>
            <p:nvPr/>
          </p:nvSpPr>
          <p:spPr>
            <a:xfrm>
              <a:off x="211227" y="4651503"/>
              <a:ext cx="89347" cy="73621"/>
            </a:xfrm>
            <a:custGeom>
              <a:avLst/>
              <a:gdLst/>
              <a:ahLst/>
              <a:cxnLst/>
              <a:rect l="0" t="0" r="r" b="b"/>
              <a:pathLst>
                <a:path w="97" h="80" fill="none">
                  <a:moveTo>
                    <a:pt x="0" y="80"/>
                  </a:moveTo>
                  <a:lnTo>
                    <a:pt x="97" y="0"/>
                  </a:lnTo>
                </a:path>
              </a:pathLst>
            </a:custGeom>
            <a:noFill/>
            <a:ln w="19050" cap="rnd">
              <a:solidFill>
                <a:srgbClr val="9A9A9A"/>
              </a:solidFill>
              <a:round/>
            </a:ln>
          </p:spPr>
        </p:sp>
        <p:sp>
          <p:nvSpPr>
            <p:cNvPr id="76" name="Átomo C_24"/>
            <p:cNvSpPr/>
            <p:nvPr/>
          </p:nvSpPr>
          <p:spPr>
            <a:xfrm>
              <a:off x="1208697" y="4056597"/>
              <a:ext cx="81661" cy="8166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7" name="Átomo C_25"/>
            <p:cNvSpPr/>
            <p:nvPr/>
          </p:nvSpPr>
          <p:spPr>
            <a:xfrm>
              <a:off x="607673" y="4468163"/>
              <a:ext cx="81735" cy="8173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8" name="Átomo C_26"/>
            <p:cNvSpPr/>
            <p:nvPr/>
          </p:nvSpPr>
          <p:spPr>
            <a:xfrm>
              <a:off x="170297" y="4684193"/>
              <a:ext cx="81861" cy="8186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Flecha 107_2"/>
            <p:cNvSpPr/>
            <p:nvPr/>
          </p:nvSpPr>
          <p:spPr>
            <a:xfrm>
              <a:off x="1196830" y="4619201"/>
              <a:ext cx="32025" cy="32013"/>
            </a:xfrm>
            <a:custGeom>
              <a:avLst/>
              <a:gdLst/>
              <a:ahLst/>
              <a:cxnLst/>
              <a:rect l="0" t="0" r="r" b="b"/>
              <a:pathLst>
                <a:path w="35" h="35" fill="none">
                  <a:moveTo>
                    <a:pt x="0" y="0"/>
                  </a:moveTo>
                  <a:lnTo>
                    <a:pt x="35" y="35"/>
                  </a:lnTo>
                </a:path>
              </a:pathLst>
            </a:custGeom>
            <a:noFill/>
            <a:ln w="19050" cap="rnd">
              <a:solidFill>
                <a:srgbClr val="9A9A9A"/>
              </a:solidFill>
              <a:round/>
            </a:ln>
          </p:spPr>
        </p:sp>
        <p:sp>
          <p:nvSpPr>
            <p:cNvPr id="80" name="Flecha 109_2"/>
            <p:cNvSpPr/>
            <p:nvPr/>
          </p:nvSpPr>
          <p:spPr>
            <a:xfrm>
              <a:off x="1249527" y="4097427"/>
              <a:ext cx="71769" cy="79427"/>
            </a:xfrm>
            <a:custGeom>
              <a:avLst/>
              <a:gdLst/>
              <a:ahLst/>
              <a:cxnLst/>
              <a:rect l="0" t="0" r="r" b="b"/>
              <a:pathLst>
                <a:path w="78" h="86" fill="none">
                  <a:moveTo>
                    <a:pt x="0" y="0"/>
                  </a:moveTo>
                  <a:lnTo>
                    <a:pt x="78" y="86"/>
                  </a:lnTo>
                </a:path>
              </a:pathLst>
            </a:custGeom>
            <a:noFill/>
            <a:ln w="19050" cap="rnd">
              <a:solidFill>
                <a:srgbClr val="9A9A9A"/>
              </a:solidFill>
              <a:round/>
            </a:ln>
          </p:spPr>
        </p:sp>
        <p:sp>
          <p:nvSpPr>
            <p:cNvPr id="81" name="Flecha 111_2"/>
            <p:cNvSpPr/>
            <p:nvPr/>
          </p:nvSpPr>
          <p:spPr>
            <a:xfrm>
              <a:off x="648540" y="4509030"/>
              <a:ext cx="49181" cy="105620"/>
            </a:xfrm>
            <a:custGeom>
              <a:avLst/>
              <a:gdLst/>
              <a:ahLst/>
              <a:cxnLst/>
              <a:rect l="0" t="0" r="r" b="b"/>
              <a:pathLst>
                <a:path w="53" h="115" fill="none">
                  <a:moveTo>
                    <a:pt x="0" y="0"/>
                  </a:moveTo>
                  <a:lnTo>
                    <a:pt x="53" y="115"/>
                  </a:lnTo>
                </a:path>
              </a:pathLst>
            </a:custGeom>
            <a:noFill/>
            <a:ln w="19050" cap="rnd">
              <a:solidFill>
                <a:srgbClr val="9A9A9A"/>
              </a:solidFill>
              <a:round/>
            </a:ln>
          </p:spPr>
        </p:sp>
        <p:sp>
          <p:nvSpPr>
            <p:cNvPr id="82" name="Flecha 113_2"/>
            <p:cNvSpPr/>
            <p:nvPr/>
          </p:nvSpPr>
          <p:spPr>
            <a:xfrm>
              <a:off x="211227" y="4713109"/>
              <a:ext cx="21799" cy="12015"/>
            </a:xfrm>
            <a:custGeom>
              <a:avLst/>
              <a:gdLst/>
              <a:ahLst/>
              <a:cxnLst/>
              <a:rect l="0" t="0" r="r" b="b"/>
              <a:pathLst>
                <a:path w="23" h="13" fill="none">
                  <a:moveTo>
                    <a:pt x="23" y="0"/>
                  </a:moveTo>
                  <a:lnTo>
                    <a:pt x="0" y="13"/>
                  </a:lnTo>
                </a:path>
              </a:pathLst>
            </a:custGeom>
            <a:noFill/>
            <a:ln w="19050" cap="rnd">
              <a:solidFill>
                <a:srgbClr val="9A9A9A"/>
              </a:solidFill>
              <a:round/>
            </a:ln>
          </p:spPr>
        </p:sp>
        <p:sp>
          <p:nvSpPr>
            <p:cNvPr id="83" name="Átomo C_27"/>
            <p:cNvSpPr/>
            <p:nvPr/>
          </p:nvSpPr>
          <p:spPr>
            <a:xfrm>
              <a:off x="656415" y="4573344"/>
              <a:ext cx="82612" cy="826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4" name="Átomo C_28"/>
            <p:cNvSpPr/>
            <p:nvPr/>
          </p:nvSpPr>
          <p:spPr>
            <a:xfrm>
              <a:off x="1279961" y="4135517"/>
              <a:ext cx="82672" cy="8267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5" name="Átomo O_5"/>
            <p:cNvSpPr/>
            <p:nvPr/>
          </p:nvSpPr>
          <p:spPr>
            <a:xfrm>
              <a:off x="1157851" y="4580222"/>
              <a:ext cx="77957" cy="7795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6" name="Flecha 118_2"/>
            <p:cNvSpPr/>
            <p:nvPr/>
          </p:nvSpPr>
          <p:spPr>
            <a:xfrm>
              <a:off x="1196830" y="4608882"/>
              <a:ext cx="98810" cy="10319"/>
            </a:xfrm>
            <a:custGeom>
              <a:avLst/>
              <a:gdLst/>
              <a:ahLst/>
              <a:cxnLst/>
              <a:rect l="0" t="0" r="r" b="b"/>
              <a:pathLst>
                <a:path w="108" h="11" fill="none">
                  <a:moveTo>
                    <a:pt x="108" y="0"/>
                  </a:moveTo>
                  <a:lnTo>
                    <a:pt x="0" y="11"/>
                  </a:lnTo>
                </a:path>
              </a:pathLst>
            </a:custGeom>
            <a:noFill/>
            <a:ln w="19050" cap="rnd">
              <a:solidFill>
                <a:srgbClr val="9A9A9A"/>
              </a:solidFill>
              <a:round/>
            </a:ln>
          </p:spPr>
        </p:sp>
        <p:sp>
          <p:nvSpPr>
            <p:cNvPr id="87" name="Átomo O_6"/>
            <p:cNvSpPr/>
            <p:nvPr/>
          </p:nvSpPr>
          <p:spPr>
            <a:xfrm>
              <a:off x="1364513" y="4586319"/>
              <a:ext cx="78451" cy="7845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8" name="Flecha 121_2"/>
            <p:cNvSpPr/>
            <p:nvPr/>
          </p:nvSpPr>
          <p:spPr>
            <a:xfrm>
              <a:off x="644570" y="4613525"/>
              <a:ext cx="53151" cy="9144"/>
            </a:xfrm>
            <a:custGeom>
              <a:avLst/>
              <a:gdLst/>
              <a:ahLst/>
              <a:cxnLst/>
              <a:rect l="0" t="0" r="r" b="b"/>
              <a:pathLst>
                <a:path w="58" h="10" fill="none">
                  <a:moveTo>
                    <a:pt x="58" y="1"/>
                  </a:moveTo>
                  <a:lnTo>
                    <a:pt x="0" y="0"/>
                  </a:lnTo>
                </a:path>
              </a:pathLst>
            </a:custGeom>
            <a:noFill/>
            <a:ln w="19050" cap="rnd">
              <a:solidFill>
                <a:srgbClr val="9A9A9A"/>
              </a:solidFill>
              <a:round/>
            </a:ln>
          </p:spPr>
        </p:sp>
        <p:sp>
          <p:nvSpPr>
            <p:cNvPr id="89" name="Flecha 123_2"/>
            <p:cNvSpPr/>
            <p:nvPr/>
          </p:nvSpPr>
          <p:spPr>
            <a:xfrm>
              <a:off x="1294371" y="4617117"/>
              <a:ext cx="108099" cy="16663"/>
            </a:xfrm>
            <a:custGeom>
              <a:avLst/>
              <a:gdLst/>
              <a:ahLst/>
              <a:cxnLst/>
              <a:rect l="0" t="0" r="r" b="b"/>
              <a:pathLst>
                <a:path w="118" h="18" fill="none">
                  <a:moveTo>
                    <a:pt x="0" y="0"/>
                  </a:moveTo>
                  <a:lnTo>
                    <a:pt x="118" y="18"/>
                  </a:lnTo>
                </a:path>
              </a:pathLst>
            </a:custGeom>
            <a:noFill/>
            <a:ln w="15240" cap="rnd">
              <a:solidFill>
                <a:srgbClr val="9A9A9A"/>
              </a:solidFill>
              <a:round/>
            </a:ln>
          </p:spPr>
        </p:sp>
        <p:sp>
          <p:nvSpPr>
            <p:cNvPr id="90" name="Flecha 125_2"/>
            <p:cNvSpPr/>
            <p:nvPr/>
          </p:nvSpPr>
          <p:spPr>
            <a:xfrm>
              <a:off x="1296910" y="4600647"/>
              <a:ext cx="108099" cy="16663"/>
            </a:xfrm>
            <a:custGeom>
              <a:avLst/>
              <a:gdLst/>
              <a:ahLst/>
              <a:cxnLst/>
              <a:rect l="0" t="0" r="r" b="b"/>
              <a:pathLst>
                <a:path w="118" h="18" fill="none">
                  <a:moveTo>
                    <a:pt x="0" y="0"/>
                  </a:moveTo>
                  <a:lnTo>
                    <a:pt x="118" y="18"/>
                  </a:lnTo>
                </a:path>
              </a:pathLst>
            </a:custGeom>
            <a:noFill/>
            <a:ln w="15240" cap="rnd">
              <a:solidFill>
                <a:srgbClr val="9A9A9A"/>
              </a:solidFill>
              <a:round/>
            </a:ln>
          </p:spPr>
        </p:sp>
        <p:sp>
          <p:nvSpPr>
            <p:cNvPr id="91" name="Átomo C_29"/>
            <p:cNvSpPr/>
            <p:nvPr/>
          </p:nvSpPr>
          <p:spPr>
            <a:xfrm>
              <a:off x="191336" y="4671418"/>
              <a:ext cx="83381" cy="8338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2" name="Flecha 128_2"/>
            <p:cNvSpPr/>
            <p:nvPr/>
          </p:nvSpPr>
          <p:spPr>
            <a:xfrm>
              <a:off x="1275117" y="4155302"/>
              <a:ext cx="46180" cy="21552"/>
            </a:xfrm>
            <a:custGeom>
              <a:avLst/>
              <a:gdLst/>
              <a:ahLst/>
              <a:cxnLst/>
              <a:rect l="0" t="0" r="r" b="b"/>
              <a:pathLst>
                <a:path w="50" h="23" fill="none">
                  <a:moveTo>
                    <a:pt x="50" y="23"/>
                  </a:moveTo>
                  <a:lnTo>
                    <a:pt x="0" y="0"/>
                  </a:lnTo>
                </a:path>
              </a:pathLst>
            </a:custGeom>
            <a:noFill/>
            <a:ln w="19050" cap="rnd">
              <a:solidFill>
                <a:srgbClr val="9A9A9A"/>
              </a:solidFill>
              <a:round/>
            </a:ln>
          </p:spPr>
        </p:sp>
        <p:sp>
          <p:nvSpPr>
            <p:cNvPr id="93" name="Átomo C_30"/>
            <p:cNvSpPr/>
            <p:nvPr/>
          </p:nvSpPr>
          <p:spPr>
            <a:xfrm>
              <a:off x="1253877" y="4567119"/>
              <a:ext cx="83526" cy="8352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4" name="Flecha 131_2"/>
            <p:cNvSpPr/>
            <p:nvPr/>
          </p:nvSpPr>
          <p:spPr>
            <a:xfrm>
              <a:off x="233026" y="4713109"/>
              <a:ext cx="99163" cy="85865"/>
            </a:xfrm>
            <a:custGeom>
              <a:avLst/>
              <a:gdLst/>
              <a:ahLst/>
              <a:cxnLst/>
              <a:rect l="0" t="0" r="r" b="b"/>
              <a:pathLst>
                <a:path w="108" h="93" fill="none">
                  <a:moveTo>
                    <a:pt x="108" y="93"/>
                  </a:moveTo>
                  <a:lnTo>
                    <a:pt x="0" y="0"/>
                  </a:lnTo>
                </a:path>
              </a:pathLst>
            </a:custGeom>
            <a:noFill/>
            <a:ln w="19050" cap="rnd">
              <a:solidFill>
                <a:srgbClr val="9A9A9A"/>
              </a:solidFill>
              <a:round/>
            </a:ln>
          </p:spPr>
        </p:sp>
        <p:sp>
          <p:nvSpPr>
            <p:cNvPr id="95" name="Átomo C_31"/>
            <p:cNvSpPr/>
            <p:nvPr/>
          </p:nvSpPr>
          <p:spPr>
            <a:xfrm>
              <a:off x="425578" y="4725040"/>
              <a:ext cx="83669" cy="836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6" name="Flecha 134_2"/>
            <p:cNvSpPr/>
            <p:nvPr/>
          </p:nvSpPr>
          <p:spPr>
            <a:xfrm>
              <a:off x="332189" y="4766875"/>
              <a:ext cx="135224" cy="32099"/>
            </a:xfrm>
            <a:custGeom>
              <a:avLst/>
              <a:gdLst/>
              <a:ahLst/>
              <a:cxnLst/>
              <a:rect l="0" t="0" r="r" b="b"/>
              <a:pathLst>
                <a:path w="147" h="35" fill="none">
                  <a:moveTo>
                    <a:pt x="147" y="0"/>
                  </a:moveTo>
                  <a:lnTo>
                    <a:pt x="0" y="35"/>
                  </a:lnTo>
                </a:path>
              </a:pathLst>
            </a:custGeom>
            <a:noFill/>
            <a:ln w="19050" cap="rnd">
              <a:solidFill>
                <a:srgbClr val="9A9A9A"/>
              </a:solidFill>
              <a:round/>
            </a:ln>
          </p:spPr>
        </p:sp>
        <p:sp>
          <p:nvSpPr>
            <p:cNvPr id="97" name="Flecha 136_2"/>
            <p:cNvSpPr/>
            <p:nvPr/>
          </p:nvSpPr>
          <p:spPr>
            <a:xfrm>
              <a:off x="467413" y="4637736"/>
              <a:ext cx="37658" cy="129138"/>
            </a:xfrm>
            <a:custGeom>
              <a:avLst/>
              <a:gdLst/>
              <a:ahLst/>
              <a:cxnLst/>
              <a:rect l="0" t="0" r="r" b="b"/>
              <a:pathLst>
                <a:path w="41" h="141" fill="none">
                  <a:moveTo>
                    <a:pt x="41" y="0"/>
                  </a:moveTo>
                  <a:lnTo>
                    <a:pt x="0" y="141"/>
                  </a:lnTo>
                </a:path>
              </a:pathLst>
            </a:custGeom>
            <a:noFill/>
            <a:ln w="19050" cap="rnd">
              <a:solidFill>
                <a:srgbClr val="9A9A9A"/>
              </a:solidFill>
              <a:round/>
            </a:ln>
          </p:spPr>
        </p:sp>
        <p:sp>
          <p:nvSpPr>
            <p:cNvPr id="98" name="Átomo C_32"/>
            <p:cNvSpPr/>
            <p:nvPr/>
          </p:nvSpPr>
          <p:spPr>
            <a:xfrm>
              <a:off x="290203" y="4756988"/>
              <a:ext cx="83971" cy="839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9" name="Átomo C_33"/>
            <p:cNvSpPr/>
            <p:nvPr/>
          </p:nvSpPr>
          <p:spPr>
            <a:xfrm>
              <a:off x="602547" y="4571502"/>
              <a:ext cx="84045" cy="840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0" name="Flecha 140_2"/>
            <p:cNvSpPr/>
            <p:nvPr/>
          </p:nvSpPr>
          <p:spPr>
            <a:xfrm>
              <a:off x="505071" y="4613525"/>
              <a:ext cx="139498" cy="24211"/>
            </a:xfrm>
            <a:custGeom>
              <a:avLst/>
              <a:gdLst/>
              <a:ahLst/>
              <a:cxnLst/>
              <a:rect l="0" t="0" r="r" b="b"/>
              <a:pathLst>
                <a:path w="152" h="26" fill="none">
                  <a:moveTo>
                    <a:pt x="152" y="0"/>
                  </a:moveTo>
                  <a:lnTo>
                    <a:pt x="0" y="26"/>
                  </a:lnTo>
                </a:path>
              </a:pathLst>
            </a:custGeom>
            <a:noFill/>
            <a:ln w="19050" cap="rnd">
              <a:solidFill>
                <a:srgbClr val="9A9A9A"/>
              </a:solidFill>
              <a:round/>
            </a:ln>
          </p:spPr>
        </p:sp>
        <p:sp>
          <p:nvSpPr>
            <p:cNvPr id="101" name="Átomo C_34"/>
            <p:cNvSpPr/>
            <p:nvPr/>
          </p:nvSpPr>
          <p:spPr>
            <a:xfrm>
              <a:off x="1233061" y="4113246"/>
              <a:ext cx="84112" cy="841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2" name="Átomo C_35"/>
            <p:cNvSpPr/>
            <p:nvPr/>
          </p:nvSpPr>
          <p:spPr>
            <a:xfrm>
              <a:off x="462993" y="4595658"/>
              <a:ext cx="84157" cy="841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3" name="Flecha 144_2"/>
            <p:cNvSpPr/>
            <p:nvPr/>
          </p:nvSpPr>
          <p:spPr>
            <a:xfrm>
              <a:off x="1254116" y="4570723"/>
              <a:ext cx="41524" cy="38159"/>
            </a:xfrm>
            <a:custGeom>
              <a:avLst/>
              <a:gdLst/>
              <a:ahLst/>
              <a:cxnLst/>
              <a:rect l="0" t="0" r="r" b="b"/>
              <a:pathLst>
                <a:path w="45" h="41" fill="none">
                  <a:moveTo>
                    <a:pt x="0" y="0"/>
                  </a:moveTo>
                  <a:lnTo>
                    <a:pt x="45" y="41"/>
                  </a:lnTo>
                </a:path>
              </a:pathLst>
            </a:custGeom>
            <a:noFill/>
            <a:ln w="19050" cap="rnd">
              <a:solidFill>
                <a:srgbClr val="9A9A9A"/>
              </a:solidFill>
              <a:round/>
            </a:ln>
          </p:spPr>
        </p:sp>
        <p:sp>
          <p:nvSpPr>
            <p:cNvPr id="104" name="Flecha 146_2"/>
            <p:cNvSpPr/>
            <p:nvPr/>
          </p:nvSpPr>
          <p:spPr>
            <a:xfrm>
              <a:off x="1275117" y="4155302"/>
              <a:ext cx="76842" cy="67149"/>
            </a:xfrm>
            <a:custGeom>
              <a:avLst/>
              <a:gdLst/>
              <a:ahLst/>
              <a:cxnLst/>
              <a:rect l="0" t="0" r="r" b="b"/>
              <a:pathLst>
                <a:path w="84" h="73" fill="none">
                  <a:moveTo>
                    <a:pt x="0" y="0"/>
                  </a:moveTo>
                  <a:lnTo>
                    <a:pt x="84" y="73"/>
                  </a:lnTo>
                </a:path>
              </a:pathLst>
            </a:custGeom>
            <a:noFill/>
            <a:ln w="19050" cap="rnd">
              <a:solidFill>
                <a:srgbClr val="9A9A9A"/>
              </a:solidFill>
              <a:round/>
            </a:ln>
          </p:spPr>
        </p:sp>
        <p:sp>
          <p:nvSpPr>
            <p:cNvPr id="105" name="Átomo C_36"/>
            <p:cNvSpPr/>
            <p:nvPr/>
          </p:nvSpPr>
          <p:spPr>
            <a:xfrm>
              <a:off x="1211658" y="4528265"/>
              <a:ext cx="84916" cy="8491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6" name="Flecha 149_2"/>
            <p:cNvSpPr/>
            <p:nvPr/>
          </p:nvSpPr>
          <p:spPr>
            <a:xfrm>
              <a:off x="1239103" y="4430618"/>
              <a:ext cx="15014" cy="140106"/>
            </a:xfrm>
            <a:custGeom>
              <a:avLst/>
              <a:gdLst/>
              <a:ahLst/>
              <a:cxnLst/>
              <a:rect l="0" t="0" r="r" b="b"/>
              <a:pathLst>
                <a:path w="16" h="153" fill="none">
                  <a:moveTo>
                    <a:pt x="0" y="0"/>
                  </a:moveTo>
                  <a:lnTo>
                    <a:pt x="16" y="153"/>
                  </a:lnTo>
                </a:path>
              </a:pathLst>
            </a:custGeom>
            <a:noFill/>
            <a:ln w="19050" cap="rnd">
              <a:solidFill>
                <a:srgbClr val="9A9A9A"/>
              </a:solidFill>
              <a:round/>
            </a:ln>
          </p:spPr>
        </p:sp>
        <p:sp>
          <p:nvSpPr>
            <p:cNvPr id="107" name="Flecha 151_2"/>
            <p:cNvSpPr/>
            <p:nvPr/>
          </p:nvSpPr>
          <p:spPr>
            <a:xfrm>
              <a:off x="1239103" y="4362907"/>
              <a:ext cx="124622" cy="67711"/>
            </a:xfrm>
            <a:custGeom>
              <a:avLst/>
              <a:gdLst/>
              <a:ahLst/>
              <a:cxnLst/>
              <a:rect l="0" t="0" r="r" b="b"/>
              <a:pathLst>
                <a:path w="136" h="74" fill="none">
                  <a:moveTo>
                    <a:pt x="136" y="0"/>
                  </a:moveTo>
                  <a:lnTo>
                    <a:pt x="0" y="74"/>
                  </a:lnTo>
                </a:path>
              </a:pathLst>
            </a:custGeom>
            <a:noFill/>
            <a:ln w="19050" cap="rnd">
              <a:solidFill>
                <a:srgbClr val="9A9A9A"/>
              </a:solidFill>
              <a:round/>
            </a:ln>
          </p:spPr>
        </p:sp>
        <p:sp>
          <p:nvSpPr>
            <p:cNvPr id="108" name="Átomo C_37"/>
            <p:cNvSpPr/>
            <p:nvPr/>
          </p:nvSpPr>
          <p:spPr>
            <a:xfrm>
              <a:off x="1321219" y="4320401"/>
              <a:ext cx="85011" cy="850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9" name="Átomo C_38"/>
            <p:cNvSpPr/>
            <p:nvPr/>
          </p:nvSpPr>
          <p:spPr>
            <a:xfrm>
              <a:off x="1196589" y="4388104"/>
              <a:ext cx="85027" cy="8502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0" name="Flecha 155_2"/>
            <p:cNvSpPr/>
            <p:nvPr/>
          </p:nvSpPr>
          <p:spPr>
            <a:xfrm>
              <a:off x="1351958" y="4222451"/>
              <a:ext cx="11766" cy="140456"/>
            </a:xfrm>
            <a:custGeom>
              <a:avLst/>
              <a:gdLst/>
              <a:ahLst/>
              <a:cxnLst/>
              <a:rect l="0" t="0" r="r" b="b"/>
              <a:pathLst>
                <a:path w="12" h="153" fill="none">
                  <a:moveTo>
                    <a:pt x="0" y="0"/>
                  </a:moveTo>
                  <a:lnTo>
                    <a:pt x="12" y="153"/>
                  </a:lnTo>
                </a:path>
              </a:pathLst>
            </a:custGeom>
            <a:noFill/>
            <a:ln w="19050" cap="rnd">
              <a:solidFill>
                <a:srgbClr val="9A9A9A"/>
              </a:solidFill>
              <a:round/>
            </a:ln>
          </p:spPr>
        </p:sp>
        <p:sp>
          <p:nvSpPr>
            <p:cNvPr id="111" name="Átomo C_39"/>
            <p:cNvSpPr/>
            <p:nvPr/>
          </p:nvSpPr>
          <p:spPr>
            <a:xfrm>
              <a:off x="1309366" y="4179859"/>
              <a:ext cx="85185" cy="851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sp>
        <p:nvSpPr>
          <p:cNvPr id="11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par>
                          <p:cTn id="34" fill="hold">
                            <p:stCondLst>
                              <p:cond delay="175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pic>
        <p:nvPicPr>
          <p:cNvPr id="7" name="Digestivo dieta" descr="Ilustración biomédica (Servier Medical Art, CC BY)"/>
          <p:cNvPicPr>
            <a:picLocks noChangeAspect="1"/>
          </p:cNvPicPr>
          <p:nvPr/>
        </p:nvPicPr>
        <p:blipFill>
          <a:blip r:embed="rId2"/>
          <a:stretch>
            <a:fillRect/>
          </a:stretch>
        </p:blipFill>
        <p:spPr>
          <a:xfrm>
            <a:off x="365760" y="1051560"/>
            <a:ext cx="1407262" cy="5212080"/>
          </a:xfrm>
          <a:prstGeom prst="rect">
            <a:avLst/>
          </a:prstGeom>
        </p:spPr>
      </p:pic>
      <p:grpSp>
        <p:nvGrpSpPr>
          <p:cNvPr id="8" name="Cuadro Objetivo"/>
          <p:cNvGrpSpPr/>
          <p:nvPr/>
        </p:nvGrpSpPr>
        <p:grpSpPr>
          <a:xfrm>
            <a:off x="2194560" y="1051560"/>
            <a:ext cx="4754880" cy="2377440"/>
            <a:chOff x="2194560" y="1051560"/>
            <a:chExt cx="4754880" cy="2377440"/>
          </a:xfrm>
        </p:grpSpPr>
        <p:sp>
          <p:nvSpPr>
            <p:cNvPr id="9" name="Forma 8"/>
            <p:cNvSpPr/>
            <p:nvPr/>
          </p:nvSpPr>
          <p:spPr>
            <a:xfrm>
              <a:off x="2194560" y="1252728"/>
              <a:ext cx="475488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Reducir aporte respecto del gasto → </a:t>
              </a:r>
              <a:r>
                <a:rPr lang="es-AR" sz="1450" b="1" dirty="0">
                  <a:solidFill>
                    <a:srgbClr val="1E1E1E"/>
                  </a:solidFill>
                  <a:latin typeface="Fira Sans Condensed"/>
                  <a:ea typeface="Fira Sans Condensed"/>
                  <a:cs typeface="Fira Sans Condensed"/>
                  <a:sym typeface="Fira Sans Condensed"/>
                </a:rPr>
                <a:t>movilizar TAG</a:t>
              </a:r>
              <a:r>
                <a:rPr lang="es-AR" sz="1450" dirty="0">
                  <a:solidFill>
                    <a:srgbClr val="1E1E1E"/>
                  </a:solidFill>
                  <a:latin typeface="Fira Sans Condensed"/>
                  <a:ea typeface="Fira Sans Condensed"/>
                  <a:cs typeface="Fira Sans Condensed"/>
                  <a:sym typeface="Fira Sans Condensed"/>
                </a:rPr>
                <a:t>, reducir tamaño adipocitario y grasa </a:t>
              </a:r>
              <a:r>
                <a:rPr lang="es-AR" sz="1450" b="1" dirty="0">
                  <a:solidFill>
                    <a:srgbClr val="1E1E1E"/>
                  </a:solidFill>
                  <a:latin typeface="Fira Sans Condensed"/>
                  <a:ea typeface="Fira Sans Condensed"/>
                  <a:cs typeface="Fira Sans Condensed"/>
                  <a:sym typeface="Fira Sans Condensed"/>
                </a:rPr>
                <a:t>visceral/ectópica</a:t>
              </a:r>
              <a:r>
                <a:rPr lang="es-AR" sz="1450" dirty="0">
                  <a:solidFill>
                    <a:srgbClr val="1E1E1E"/>
                  </a:solidFill>
                  <a:latin typeface="Fira Sans Condensed"/>
                  <a:ea typeface="Fira Sans Condensed"/>
                  <a:cs typeface="Fira Sans Condensed"/>
                  <a:sym typeface="Fira Sans Condensed"/>
                </a:rPr>
                <a:t>; mejorar glucemia, TG, presión y síntomas.</a:t>
              </a:r>
              <a:endParaRPr lang="es-AR" sz="1450" dirty="0">
                <a:latin typeface="Fira Sans Condensed"/>
              </a:endParaRPr>
            </a:p>
          </p:txBody>
        </p:sp>
        <p:sp>
          <p:nvSpPr>
            <p:cNvPr id="10" name="Forma 9"/>
            <p:cNvSpPr/>
            <p:nvPr/>
          </p:nvSpPr>
          <p:spPr>
            <a:xfrm>
              <a:off x="2331720" y="1051560"/>
              <a:ext cx="109629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OBJETIVO</a:t>
              </a:r>
              <a:endParaRPr lang="es-AR" sz="1400" dirty="0">
                <a:latin typeface="Fira Sans Condensed"/>
              </a:endParaRPr>
            </a:p>
          </p:txBody>
        </p:sp>
      </p:grpSp>
      <p:grpSp>
        <p:nvGrpSpPr>
          <p:cNvPr id="11" name="Cuadro Patrones"/>
          <p:cNvGrpSpPr/>
          <p:nvPr/>
        </p:nvGrpSpPr>
        <p:grpSpPr>
          <a:xfrm>
            <a:off x="7178040" y="1051560"/>
            <a:ext cx="4663440" cy="2377440"/>
            <a:chOff x="7178040" y="1051560"/>
            <a:chExt cx="4663440" cy="2377440"/>
          </a:xfrm>
        </p:grpSpPr>
        <p:sp>
          <p:nvSpPr>
            <p:cNvPr id="12" name="Forma 11"/>
            <p:cNvSpPr/>
            <p:nvPr/>
          </p:nvSpPr>
          <p:spPr>
            <a:xfrm>
              <a:off x="7178040" y="1252728"/>
              <a:ext cx="4663440" cy="21762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a:t>
              </a:r>
              <a:r>
                <a:rPr lang="es-AR" sz="1400" b="1" dirty="0">
                  <a:solidFill>
                    <a:srgbClr val="1E1E1E"/>
                  </a:solidFill>
                  <a:latin typeface="Fira Sans Condensed"/>
                  <a:ea typeface="Fira Sans Condensed"/>
                  <a:cs typeface="Fira Sans Condensed"/>
                  <a:sym typeface="Fira Sans Condensed"/>
                </a:rPr>
                <a:t>Hipograsa</a:t>
              </a:r>
              <a:r>
                <a:rPr lang="es-AR" sz="1400" dirty="0">
                  <a:solidFill>
                    <a:srgbClr val="1E1E1E"/>
                  </a:solidFill>
                  <a:latin typeface="Fira Sans Condensed"/>
                  <a:ea typeface="Fira Sans Condensed"/>
                  <a:cs typeface="Fira Sans Condensed"/>
                  <a:sym typeface="Fira Sans Condensed"/>
                </a:rPr>
                <a:t>» responde a la propuesta del caso, </a:t>
              </a:r>
              <a:r>
                <a:rPr lang="es-AR" sz="1400" b="1" dirty="0">
                  <a:solidFill>
                    <a:srgbClr val="1E1E1E"/>
                  </a:solidFill>
                  <a:latin typeface="Fira Sans Condensed"/>
                  <a:ea typeface="Fira Sans Condensed"/>
                  <a:cs typeface="Fira Sans Condensed"/>
                  <a:sym typeface="Fira Sans Condensed"/>
                </a:rPr>
                <a:t>no es requisito universal</a:t>
              </a:r>
              <a:r>
                <a:rPr lang="es-AR" sz="1400" dirty="0">
                  <a:solidFill>
                    <a:srgbClr val="1E1E1E"/>
                  </a:solidFill>
                  <a:latin typeface="Fira Sans Condensed"/>
                  <a:ea typeface="Fira Sans Condensed"/>
                  <a:cs typeface="Fira Sans Condensed"/>
                  <a:sym typeface="Fira Sans Condensed"/>
                </a:rPr>
                <a:t>: funcionan patrones mediterráneos, moderados en grasas o en carbohidratos, si son adecuados y </a:t>
              </a:r>
              <a:r>
                <a:rPr lang="es-AR" sz="1400" b="1" dirty="0">
                  <a:solidFill>
                    <a:srgbClr val="1E1E1E"/>
                  </a:solidFill>
                  <a:latin typeface="Fira Sans Condensed"/>
                  <a:ea typeface="Fira Sans Condensed"/>
                  <a:cs typeface="Fira Sans Condensed"/>
                  <a:sym typeface="Fira Sans Condensed"/>
                </a:rPr>
                <a:t>sostenibles</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sp>
          <p:nvSpPr>
            <p:cNvPr id="13" name="Forma 12"/>
            <p:cNvSpPr/>
            <p:nvPr/>
          </p:nvSpPr>
          <p:spPr>
            <a:xfrm>
              <a:off x="7315200" y="1051560"/>
              <a:ext cx="117010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PATRONES</a:t>
              </a:r>
              <a:endParaRPr lang="es-AR" sz="1400" dirty="0">
                <a:latin typeface="Fira Sans Condensed"/>
              </a:endParaRPr>
            </a:p>
          </p:txBody>
        </p:sp>
      </p:grpSp>
      <p:grpSp>
        <p:nvGrpSpPr>
          <p:cNvPr id="14" name="Paso 1"/>
          <p:cNvGrpSpPr/>
          <p:nvPr/>
        </p:nvGrpSpPr>
        <p:grpSpPr>
          <a:xfrm>
            <a:off x="2194560" y="3657600"/>
            <a:ext cx="9646920" cy="457200"/>
            <a:chOff x="2194560" y="3657600"/>
            <a:chExt cx="9646920" cy="457200"/>
          </a:xfrm>
        </p:grpSpPr>
        <p:sp>
          <p:nvSpPr>
            <p:cNvPr id="15" name="Forma 14"/>
            <p:cNvSpPr/>
            <p:nvPr/>
          </p:nvSpPr>
          <p:spPr>
            <a:xfrm>
              <a:off x="2194560" y="3657600"/>
              <a:ext cx="96469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Limitar grasas </a:t>
              </a:r>
              <a:r>
                <a:rPr lang="es-AR" sz="1350" b="1" dirty="0">
                  <a:solidFill>
                    <a:srgbClr val="1E1E1E"/>
                  </a:solidFill>
                  <a:latin typeface="Fira Sans Condensed"/>
                  <a:ea typeface="Fira Sans Condensed"/>
                  <a:cs typeface="Fira Sans Condensed"/>
                  <a:sym typeface="Fira Sans Condensed"/>
                </a:rPr>
                <a:t>trans</a:t>
              </a:r>
              <a:r>
                <a:rPr lang="es-AR" sz="1350" dirty="0">
                  <a:solidFill>
                    <a:srgbClr val="1E1E1E"/>
                  </a:solidFill>
                  <a:latin typeface="Fira Sans Condensed"/>
                  <a:ea typeface="Fira Sans Condensed"/>
                  <a:cs typeface="Fira Sans Condensed"/>
                  <a:sym typeface="Fira Sans Condensed"/>
                </a:rPr>
                <a:t>; sustituir parte de saturadas por </a:t>
              </a:r>
              <a:r>
                <a:rPr lang="es-AR" sz="1350" b="1" dirty="0">
                  <a:solidFill>
                    <a:srgbClr val="1E1E1E"/>
                  </a:solidFill>
                  <a:latin typeface="Fira Sans Condensed"/>
                  <a:ea typeface="Fira Sans Condensed"/>
                  <a:cs typeface="Fira Sans Condensed"/>
                  <a:sym typeface="Fira Sans Condensed"/>
                </a:rPr>
                <a:t>insaturadas</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6" name="Forma 15"/>
            <p:cNvSpPr/>
            <p:nvPr/>
          </p:nvSpPr>
          <p:spPr>
            <a:xfrm>
              <a:off x="2286000" y="371246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17" name="Paso 2"/>
          <p:cNvGrpSpPr/>
          <p:nvPr/>
        </p:nvGrpSpPr>
        <p:grpSpPr>
          <a:xfrm>
            <a:off x="2194560" y="4206240"/>
            <a:ext cx="9646920" cy="457200"/>
            <a:chOff x="2194560" y="4206240"/>
            <a:chExt cx="9646920" cy="457200"/>
          </a:xfrm>
        </p:grpSpPr>
        <p:sp>
          <p:nvSpPr>
            <p:cNvPr id="18" name="Forma 17"/>
            <p:cNvSpPr/>
            <p:nvPr/>
          </p:nvSpPr>
          <p:spPr>
            <a:xfrm>
              <a:off x="2194560" y="4206240"/>
              <a:ext cx="96469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Proteína adecuada, </a:t>
              </a:r>
              <a:r>
                <a:rPr lang="es-AR" sz="1350" b="1" dirty="0">
                  <a:solidFill>
                    <a:srgbClr val="1E1E1E"/>
                  </a:solidFill>
                  <a:latin typeface="Fira Sans Condensed"/>
                  <a:ea typeface="Fira Sans Condensed"/>
                  <a:cs typeface="Fira Sans Condensed"/>
                  <a:sym typeface="Fira Sans Condensed"/>
                </a:rPr>
                <a:t>fibra</a:t>
              </a:r>
              <a:r>
                <a:rPr lang="es-AR" sz="1350" dirty="0">
                  <a:solidFill>
                    <a:srgbClr val="1E1E1E"/>
                  </a:solidFill>
                  <a:latin typeface="Fira Sans Condensed"/>
                  <a:ea typeface="Fira Sans Condensed"/>
                  <a:cs typeface="Fira Sans Condensed"/>
                  <a:sym typeface="Fira Sans Condensed"/>
                </a:rPr>
                <a:t> (frutas, verduras, legumbres, integrales) y entrenamiento que </a:t>
              </a:r>
              <a:r>
                <a:rPr lang="es-AR" sz="1350" b="1" dirty="0">
                  <a:solidFill>
                    <a:srgbClr val="1E1E1E"/>
                  </a:solidFill>
                  <a:latin typeface="Fira Sans Condensed"/>
                  <a:ea typeface="Fira Sans Condensed"/>
                  <a:cs typeface="Fira Sans Condensed"/>
                  <a:sym typeface="Fira Sans Condensed"/>
                </a:rPr>
                <a:t>preserve masa magra</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9" name="Forma 18"/>
            <p:cNvSpPr/>
            <p:nvPr/>
          </p:nvSpPr>
          <p:spPr>
            <a:xfrm>
              <a:off x="2286000" y="426110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20" name="Paso 3"/>
          <p:cNvGrpSpPr/>
          <p:nvPr/>
        </p:nvGrpSpPr>
        <p:grpSpPr>
          <a:xfrm>
            <a:off x="2194560" y="4754880"/>
            <a:ext cx="9646920" cy="576072"/>
            <a:chOff x="2194560" y="4754880"/>
            <a:chExt cx="9646920" cy="576072"/>
          </a:xfrm>
        </p:grpSpPr>
        <p:sp>
          <p:nvSpPr>
            <p:cNvPr id="21" name="Forma 20"/>
            <p:cNvSpPr/>
            <p:nvPr/>
          </p:nvSpPr>
          <p:spPr>
            <a:xfrm>
              <a:off x="2194560" y="4754880"/>
              <a:ext cx="9646920" cy="57607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La </a:t>
              </a:r>
              <a:r>
                <a:rPr lang="es-AR" sz="1350" b="1" dirty="0">
                  <a:solidFill>
                    <a:srgbClr val="1E1E1E"/>
                  </a:solidFill>
                  <a:latin typeface="Fira Sans Condensed"/>
                  <a:ea typeface="Fira Sans Condensed"/>
                  <a:cs typeface="Fira Sans Condensed"/>
                  <a:sym typeface="Fira Sans Condensed"/>
                </a:rPr>
                <a:t>restricción coercitiva</a:t>
              </a:r>
              <a:r>
                <a:rPr lang="es-AR" sz="1350" dirty="0">
                  <a:solidFill>
                    <a:srgbClr val="1E1E1E"/>
                  </a:solidFill>
                  <a:latin typeface="Fira Sans Condensed"/>
                  <a:ea typeface="Fira Sans Condensed"/>
                  <a:cs typeface="Fira Sans Condensed"/>
                  <a:sym typeface="Fira Sans Condensed"/>
                </a:rPr>
                <a:t> («se prohibió a la familia traerle comida») no reemplaza consentimiento ni abordaje terapéutico.</a:t>
              </a:r>
              <a:endParaRPr lang="es-AR" sz="1350" dirty="0">
                <a:latin typeface="Fira Sans Condensed"/>
              </a:endParaRPr>
            </a:p>
          </p:txBody>
        </p:sp>
        <p:sp>
          <p:nvSpPr>
            <p:cNvPr id="22" name="Forma 21"/>
            <p:cNvSpPr/>
            <p:nvPr/>
          </p:nvSpPr>
          <p:spPr>
            <a:xfrm>
              <a:off x="2286000" y="486918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DIETA HIPOCALÓRICA: OBJETIVO Y CALIDAD</a:t>
            </a:r>
            <a:endParaRPr lang="es-AR" sz="34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grpSp>
        <p:nvGrpSpPr>
          <p:cNvPr id="6" name="Pilar ACTIVIDAD PROGRESIVA"/>
          <p:cNvGrpSpPr/>
          <p:nvPr/>
        </p:nvGrpSpPr>
        <p:grpSpPr>
          <a:xfrm>
            <a:off x="365760" y="1051560"/>
            <a:ext cx="2743200" cy="4434840"/>
            <a:chOff x="365760" y="1051560"/>
            <a:chExt cx="2743200" cy="4434840"/>
          </a:xfrm>
        </p:grpSpPr>
        <p:pic>
          <p:nvPicPr>
            <p:cNvPr id="7" name="Imagen runner" descr="Ilustración biomédica (Servier Medical Art, CC BY)"/>
            <p:cNvPicPr>
              <a:picLocks noChangeAspect="1"/>
            </p:cNvPicPr>
            <p:nvPr/>
          </p:nvPicPr>
          <p:blipFill>
            <a:blip r:embed="rId2"/>
            <a:stretch>
              <a:fillRect/>
            </a:stretch>
          </p:blipFill>
          <p:spPr>
            <a:xfrm>
              <a:off x="1407131" y="1051560"/>
              <a:ext cx="660458" cy="1463040"/>
            </a:xfrm>
            <a:prstGeom prst="rect">
              <a:avLst/>
            </a:prstGeom>
          </p:spPr>
        </p:pic>
        <p:sp>
          <p:nvSpPr>
            <p:cNvPr id="8" name="Recuadro ACTIVIDAD PROGRESIVA"/>
            <p:cNvSpPr/>
            <p:nvPr/>
          </p:nvSpPr>
          <p:spPr>
            <a:xfrm>
              <a:off x="365760" y="265176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ACTIVIDAD PROGRESIVA</a:t>
              </a:r>
              <a:endParaRPr lang="es-AR" sz="1350" dirty="0">
                <a:latin typeface="Fira Sans Condensed"/>
              </a:endParaRPr>
            </a:p>
          </p:txBody>
        </p:sp>
        <p:sp>
          <p:nvSpPr>
            <p:cNvPr id="9" name="Forma 8"/>
            <p:cNvSpPr/>
            <p:nvPr/>
          </p:nvSpPr>
          <p:spPr>
            <a:xfrm>
              <a:off x="365760" y="3291840"/>
              <a:ext cx="2743200" cy="2194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Movilidad articular, marcha según tolerancia, </a:t>
              </a:r>
              <a:r>
                <a:rPr lang="es-AR" sz="1350" b="1" dirty="0">
                  <a:solidFill>
                    <a:srgbClr val="1E1E1E"/>
                  </a:solidFill>
                  <a:latin typeface="Fira Sans Condensed"/>
                  <a:ea typeface="Fira Sans Condensed"/>
                  <a:cs typeface="Fira Sans Condensed"/>
                  <a:sym typeface="Fira Sans Condensed"/>
                </a:rPr>
                <a:t>fuerza adaptada</a:t>
              </a:r>
              <a:r>
                <a:rPr lang="es-AR" sz="1350" dirty="0">
                  <a:solidFill>
                    <a:srgbClr val="1E1E1E"/>
                  </a:solidFill>
                  <a:latin typeface="Fira Sans Condensed"/>
                  <a:ea typeface="Fira Sans Condensed"/>
                  <a:cs typeface="Fira Sans Condensed"/>
                  <a:sym typeface="Fira Sans Condensed"/>
                </a:rPr>
                <a:t>, fisioterapia; prevenir caídas y problemas osteoarticulares; </a:t>
              </a:r>
              <a:r>
                <a:rPr lang="es-AR" sz="1350" b="1" dirty="0">
                  <a:solidFill>
                    <a:srgbClr val="1E1E1E"/>
                  </a:solidFill>
                  <a:latin typeface="Fira Sans Condensed"/>
                  <a:ea typeface="Fira Sans Condensed"/>
                  <a:cs typeface="Fira Sans Condensed"/>
                  <a:sym typeface="Fira Sans Condensed"/>
                </a:rPr>
                <a:t>preservar masa muscular</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grpSp>
      <p:grpSp>
        <p:nvGrpSpPr>
          <p:cNvPr id="10" name="Pilar APOYO PSICOLÓGICO"/>
          <p:cNvGrpSpPr/>
          <p:nvPr/>
        </p:nvGrpSpPr>
        <p:grpSpPr>
          <a:xfrm>
            <a:off x="3264408" y="1051560"/>
            <a:ext cx="2743200" cy="4434840"/>
            <a:chOff x="3264408" y="1051560"/>
            <a:chExt cx="2743200" cy="4434840"/>
          </a:xfrm>
        </p:grpSpPr>
        <p:pic>
          <p:nvPicPr>
            <p:cNvPr id="11" name="Imagen brain-2" descr="Ilustración biomédica (Servier Medical Art, CC BY)"/>
            <p:cNvPicPr>
              <a:picLocks noChangeAspect="1"/>
            </p:cNvPicPr>
            <p:nvPr/>
          </p:nvPicPr>
          <p:blipFill>
            <a:blip r:embed="rId3"/>
            <a:stretch>
              <a:fillRect/>
            </a:stretch>
          </p:blipFill>
          <p:spPr>
            <a:xfrm>
              <a:off x="3919641" y="1051560"/>
              <a:ext cx="1432734" cy="1463040"/>
            </a:xfrm>
            <a:prstGeom prst="rect">
              <a:avLst/>
            </a:prstGeom>
          </p:spPr>
        </p:pic>
        <p:sp>
          <p:nvSpPr>
            <p:cNvPr id="12" name="Recuadro APOYO PSICOLÓGICO"/>
            <p:cNvSpPr/>
            <p:nvPr/>
          </p:nvSpPr>
          <p:spPr>
            <a:xfrm>
              <a:off x="3264408" y="265176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APOYO PSICOLÓGICO</a:t>
              </a:r>
              <a:endParaRPr lang="es-AR" sz="1350" dirty="0">
                <a:latin typeface="Fira Sans Condensed"/>
              </a:endParaRPr>
            </a:p>
          </p:txBody>
        </p:sp>
        <p:sp>
          <p:nvSpPr>
            <p:cNvPr id="13" name="Forma 12"/>
            <p:cNvSpPr/>
            <p:nvPr/>
          </p:nvSpPr>
          <p:spPr>
            <a:xfrm>
              <a:off x="3264408" y="3291840"/>
              <a:ext cx="2743200" cy="2194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Conducta alimentaria, pérdida laboral, autoestima, compulsiones y </a:t>
              </a:r>
              <a:r>
                <a:rPr lang="es-AR" sz="1350" b="1" dirty="0">
                  <a:solidFill>
                    <a:srgbClr val="1E1E1E"/>
                  </a:solidFill>
                  <a:latin typeface="Fira Sans Condensed"/>
                  <a:ea typeface="Fira Sans Condensed"/>
                  <a:cs typeface="Fira Sans Condensed"/>
                  <a:sym typeface="Fira Sans Condensed"/>
                </a:rPr>
                <a:t>juego patológico</a:t>
              </a:r>
              <a:r>
                <a:rPr lang="es-AR" sz="1350" dirty="0">
                  <a:solidFill>
                    <a:srgbClr val="1E1E1E"/>
                  </a:solidFill>
                  <a:latin typeface="Fira Sans Condensed"/>
                  <a:ea typeface="Fira Sans Condensed"/>
                  <a:cs typeface="Fira Sans Condensed"/>
                  <a:sym typeface="Fira Sans Condensed"/>
                </a:rPr>
                <a:t>; objetivos </a:t>
              </a:r>
              <a:r>
                <a:rPr lang="es-AR" sz="1350" b="1" dirty="0">
                  <a:solidFill>
                    <a:srgbClr val="1E1E1E"/>
                  </a:solidFill>
                  <a:latin typeface="Fira Sans Condensed"/>
                  <a:ea typeface="Fira Sans Condensed"/>
                  <a:cs typeface="Fira Sans Condensed"/>
                  <a:sym typeface="Fira Sans Condensed"/>
                </a:rPr>
                <a:t>sin culpabilizar</a:t>
              </a:r>
              <a:r>
                <a:rPr lang="es-AR" sz="1350" dirty="0">
                  <a:solidFill>
                    <a:srgbClr val="1E1E1E"/>
                  </a:solidFill>
                  <a:latin typeface="Fira Sans Condensed"/>
                  <a:ea typeface="Fira Sans Condensed"/>
                  <a:cs typeface="Fira Sans Condensed"/>
                  <a:sym typeface="Fira Sans Condensed"/>
                </a:rPr>
                <a:t>; autonomía y adherencia.</a:t>
              </a:r>
              <a:endParaRPr lang="es-AR" sz="1350" dirty="0">
                <a:latin typeface="Fira Sans Condensed"/>
              </a:endParaRPr>
            </a:p>
          </p:txBody>
        </p:sp>
      </p:grpSp>
      <p:grpSp>
        <p:nvGrpSpPr>
          <p:cNvPr id="14" name="Pilar SUEÑO"/>
          <p:cNvGrpSpPr/>
          <p:nvPr/>
        </p:nvGrpSpPr>
        <p:grpSpPr>
          <a:xfrm>
            <a:off x="6163056" y="1051560"/>
            <a:ext cx="2743200" cy="4434840"/>
            <a:chOff x="6163056" y="1051560"/>
            <a:chExt cx="2743200" cy="4434840"/>
          </a:xfrm>
        </p:grpSpPr>
        <p:pic>
          <p:nvPicPr>
            <p:cNvPr id="15" name="Imagen healthy-lung" descr="Ilustración biomédica (Servier Medical Art, CC BY)"/>
            <p:cNvPicPr>
              <a:picLocks noChangeAspect="1"/>
            </p:cNvPicPr>
            <p:nvPr/>
          </p:nvPicPr>
          <p:blipFill>
            <a:blip r:embed="rId4"/>
            <a:stretch>
              <a:fillRect/>
            </a:stretch>
          </p:blipFill>
          <p:spPr>
            <a:xfrm>
              <a:off x="6895099" y="1051560"/>
              <a:ext cx="1279115" cy="1463040"/>
            </a:xfrm>
            <a:prstGeom prst="rect">
              <a:avLst/>
            </a:prstGeom>
          </p:spPr>
        </p:pic>
        <p:sp>
          <p:nvSpPr>
            <p:cNvPr id="16" name="Recuadro SUEÑO"/>
            <p:cNvSpPr/>
            <p:nvPr/>
          </p:nvSpPr>
          <p:spPr>
            <a:xfrm>
              <a:off x="6163056" y="265176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SUEÑO</a:t>
              </a:r>
              <a:endParaRPr lang="es-AR" sz="1350" dirty="0">
                <a:latin typeface="Fira Sans Condensed"/>
              </a:endParaRPr>
            </a:p>
          </p:txBody>
        </p:sp>
        <p:sp>
          <p:nvSpPr>
            <p:cNvPr id="17" name="Forma 16"/>
            <p:cNvSpPr/>
            <p:nvPr/>
          </p:nvSpPr>
          <p:spPr>
            <a:xfrm>
              <a:off x="6163056" y="3291840"/>
              <a:ext cx="2743200" cy="2194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Pesquisar </a:t>
              </a:r>
              <a:r>
                <a:rPr lang="es-AR" sz="1350" b="1" dirty="0">
                  <a:solidFill>
                    <a:srgbClr val="1E1E1E"/>
                  </a:solidFill>
                  <a:latin typeface="Fira Sans Condensed"/>
                  <a:ea typeface="Fira Sans Condensed"/>
                  <a:cs typeface="Fira Sans Condensed"/>
                  <a:sym typeface="Fira Sans Condensed"/>
                </a:rPr>
                <a:t>AOS</a:t>
              </a:r>
              <a:r>
                <a:rPr lang="es-AR" sz="1350" dirty="0">
                  <a:solidFill>
                    <a:srgbClr val="1E1E1E"/>
                  </a:solidFill>
                  <a:latin typeface="Fira Sans Condensed"/>
                  <a:ea typeface="Fira Sans Condensed"/>
                  <a:cs typeface="Fira Sans Condensed"/>
                  <a:sym typeface="Fira Sans Condensed"/>
                </a:rPr>
                <a:t>, promover regularidad y tratarla si se confirma (presión positiva si está indicada).</a:t>
              </a:r>
              <a:endParaRPr lang="es-AR" sz="1350" dirty="0">
                <a:latin typeface="Fira Sans Condensed"/>
              </a:endParaRPr>
            </a:p>
          </p:txBody>
        </p:sp>
      </p:grpSp>
      <p:grpSp>
        <p:nvGrpSpPr>
          <p:cNvPr id="18" name="Pilar COMORBILIDADES"/>
          <p:cNvGrpSpPr/>
          <p:nvPr/>
        </p:nvGrpSpPr>
        <p:grpSpPr>
          <a:xfrm>
            <a:off x="9061704" y="1051560"/>
            <a:ext cx="2743200" cy="4434840"/>
            <a:chOff x="9061704" y="1051560"/>
            <a:chExt cx="2743200" cy="4434840"/>
          </a:xfrm>
        </p:grpSpPr>
        <p:pic>
          <p:nvPicPr>
            <p:cNvPr id="19" name="Imagen heart-front" descr="Ilustración biomédica (Servier Medical Art, CC BY)"/>
            <p:cNvPicPr>
              <a:picLocks noChangeAspect="1"/>
            </p:cNvPicPr>
            <p:nvPr/>
          </p:nvPicPr>
          <p:blipFill>
            <a:blip r:embed="rId5"/>
            <a:stretch>
              <a:fillRect/>
            </a:stretch>
          </p:blipFill>
          <p:spPr>
            <a:xfrm>
              <a:off x="9916537" y="1051560"/>
              <a:ext cx="1033533" cy="1463040"/>
            </a:xfrm>
            <a:prstGeom prst="rect">
              <a:avLst/>
            </a:prstGeom>
          </p:spPr>
        </p:pic>
        <p:sp>
          <p:nvSpPr>
            <p:cNvPr id="20" name="Recuadro COMORBILIDADES"/>
            <p:cNvSpPr/>
            <p:nvPr/>
          </p:nvSpPr>
          <p:spPr>
            <a:xfrm>
              <a:off x="9061704" y="265176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COMORBILIDADES</a:t>
              </a:r>
              <a:endParaRPr lang="es-AR" sz="1350" dirty="0">
                <a:latin typeface="Fira Sans Condensed"/>
              </a:endParaRPr>
            </a:p>
          </p:txBody>
        </p:sp>
        <p:sp>
          <p:nvSpPr>
            <p:cNvPr id="21" name="Forma 20"/>
            <p:cNvSpPr/>
            <p:nvPr/>
          </p:nvSpPr>
          <p:spPr>
            <a:xfrm>
              <a:off x="9061704" y="3291840"/>
              <a:ext cx="2743200" cy="2194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Tratar de manera específica </a:t>
              </a:r>
              <a:r>
                <a:rPr lang="es-AR" sz="1350" b="1" dirty="0">
                  <a:solidFill>
                    <a:srgbClr val="1E1E1E"/>
                  </a:solidFill>
                  <a:latin typeface="Fira Sans Condensed"/>
                  <a:ea typeface="Fira Sans Condensed"/>
                  <a:cs typeface="Fira Sans Condensed"/>
                  <a:sym typeface="Fira Sans Condensed"/>
                </a:rPr>
                <a:t>HTA, dislipidemia, glucemia y tabaquismo</a:t>
              </a:r>
              <a:r>
                <a:rPr lang="es-AR" sz="1350" dirty="0">
                  <a:solidFill>
                    <a:srgbClr val="1E1E1E"/>
                  </a:solidFill>
                  <a:latin typeface="Fira Sans Condensed"/>
                  <a:ea typeface="Fira Sans Condensed"/>
                  <a:cs typeface="Fira Sans Condensed"/>
                  <a:sym typeface="Fira Sans Condensed"/>
                </a:rPr>
                <a:t> (dejar de fumar: gran beneficio CV independiente del peso).</a:t>
              </a:r>
              <a:endParaRPr lang="es-AR" sz="1350" dirty="0">
                <a:latin typeface="Fira Sans Condensed"/>
              </a:endParaRPr>
            </a:p>
          </p:txBody>
        </p:sp>
      </p:grpSp>
      <p:sp>
        <p:nvSpPr>
          <p:cNvPr id="22" name="Perla clínica"/>
          <p:cNvSpPr/>
          <p:nvPr/>
        </p:nvSpPr>
        <p:spPr>
          <a:xfrm>
            <a:off x="365760" y="5669280"/>
            <a:ext cx="11475720" cy="621792"/>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dirty="0">
                <a:solidFill>
                  <a:srgbClr val="FFFFFF"/>
                </a:solidFill>
                <a:latin typeface="Fira Sans Condensed"/>
                <a:ea typeface="Fira Sans Condensed"/>
                <a:cs typeface="Fira Sans Condensed"/>
                <a:sym typeface="Fira Sans Condensed"/>
              </a:rPr>
              <a:t>Los objetivos iniciales se </a:t>
            </a:r>
            <a:r>
              <a:rPr lang="es-AR" sz="1400" b="1" dirty="0">
                <a:solidFill>
                  <a:srgbClr val="FFFFFF"/>
                </a:solidFill>
                <a:latin typeface="Fira Sans Condensed"/>
                <a:ea typeface="Fira Sans Condensed"/>
                <a:cs typeface="Fira Sans Condensed"/>
                <a:sym typeface="Fira Sans Condensed"/>
              </a:rPr>
              <a:t>individualizan</a:t>
            </a:r>
            <a:r>
              <a:rPr lang="es-AR" sz="1400" dirty="0">
                <a:solidFill>
                  <a:srgbClr val="FFFFFF"/>
                </a:solidFill>
                <a:latin typeface="Fira Sans Condensed"/>
                <a:ea typeface="Fira Sans Condensed"/>
                <a:cs typeface="Fira Sans Condensed"/>
                <a:sym typeface="Fira Sans Condensed"/>
              </a:rPr>
              <a:t> y pueden incluir mejoras clínicas antes de grandes cambios de peso.</a:t>
            </a:r>
            <a:endParaRPr lang="es-AR" sz="1400" dirty="0">
              <a:latin typeface="Fira Sans Condensed"/>
            </a:endParaRPr>
          </a:p>
        </p:txBody>
      </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ACTIVIDAD, CONDUCTA, SUEÑO Y COMORBILIDADES</a:t>
            </a:r>
            <a:endParaRPr lang="es-AR" sz="3200" dirty="0">
              <a:latin typeface="Permanent Marker"/>
            </a:endParaRPr>
          </a:p>
        </p:txBody>
      </p:sp>
      <p:sp>
        <p:nvSpPr>
          <p:cNvPr id="5"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23"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9" fill="hold">
                      <p:stCondLst>
                        <p:cond delay="indefinite"/>
                      </p:stCondLst>
                      <p:childTnLst>
                        <p:par>
                          <p:cTn id="28"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aphicFrame>
        <p:nvGraphicFramePr>
          <p:cNvPr id="7" name="Fármacos 1"/>
          <p:cNvGraphicFramePr>
            <a:graphicFrameLocks noGrp="1"/>
          </p:cNvGraphicFramePr>
          <p:nvPr/>
        </p:nvGraphicFramePr>
        <p:xfrm>
          <a:off x="365760" y="1051560"/>
          <a:ext cx="11475720" cy="2621280"/>
        </p:xfrm>
        <a:graphic>
          <a:graphicData uri="http://schemas.openxmlformats.org/drawingml/2006/table">
            <a:tbl>
              <a:tblPr firstRow="1" bandRow="1"/>
              <a:tblGrid>
                <a:gridCol w="2011680"/>
                <a:gridCol w="3657600"/>
                <a:gridCol w="2194560"/>
                <a:gridCol w="3611880"/>
              </a:tblGrid>
              <a:tr h="36576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Fármaco / clase</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Mecanismo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Efecto buscado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Riesgos y comentarios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Orlistat</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Inhibe lipasas gástrica y pancreática en la luz: ↓ hidrólisis/absorción de TAG</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Menor energía absorbida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Esteatorrea, urgencia fecal; vitaminas A, D, E, K; malabsorción/colestasis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Liraglutida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Agonista GLP-1R (Gs/AMPc): saciedad, ↓ ingesta, vaciamiento ↓</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Peso ↓; control glucémico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Náuseas/vómitos, deshidratación, colelitiasis; antecedentes pancreatobiliares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Semaglutida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Agonista prolongado GLP-1R</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Gran ↓ de ingesta y peso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Efectos GI; Wegovy autorizado por ANMAT (2023), sujeto a acceso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Tirzepatida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Agonista dual GIPR + GLP-1R</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Apetito ↓; glucemia y peso</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Efectos GI; verificar indicación y registro vigentes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472440">
                <a:tc>
                  <a:txBody>
                    <a:bodyPr/>
                    <a:lstStyle/>
                    <a:p>
                      <a:pPr algn="l">
                        <a:spcAft>
                          <a:spcPts val="100"/>
                        </a:spcAft>
                        <a:buNone/>
                      </a:pPr>
                      <a:r>
                        <a:rPr lang="es-AR" sz="1250" b="1" dirty="0">
                          <a:solidFill>
                            <a:srgbClr val="1E1E1E"/>
                          </a:solidFill>
                          <a:latin typeface="Fira Sans Condensed"/>
                          <a:ea typeface="Fira Sans Condensed"/>
                          <a:cs typeface="Fira Sans Condensed"/>
                          <a:sym typeface="Fira Sans Condensed"/>
                        </a:rPr>
                        <a:t>Naltrexona + bupropión</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Circuitos POMC/recompensa y receptores opioides</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 impulso de ingesta</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250" dirty="0">
                          <a:solidFill>
                            <a:srgbClr val="1E1E1E"/>
                          </a:solidFill>
                          <a:latin typeface="Fira Sans Condensed"/>
                          <a:ea typeface="Fira Sans Condensed"/>
                          <a:cs typeface="Fira Sans Condensed"/>
                          <a:sym typeface="Fira Sans Condensed"/>
                        </a:rPr>
                        <a:t>HTA no controlada, convulsiones, opioides, psiquiatría; disponibilidad variable</a:t>
                      </a:r>
                      <a:endParaRPr lang="es-AR" sz="12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8" name="Forma 7"/>
          <p:cNvSpPr/>
          <p:nvPr/>
        </p:nvSpPr>
        <p:spPr>
          <a:xfrm>
            <a:off x="365760" y="5257800"/>
            <a:ext cx="11475720" cy="10058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Herramienta </a:t>
            </a:r>
            <a:r>
              <a:rPr lang="es-AR" sz="1350" b="1" dirty="0">
                <a:solidFill>
                  <a:srgbClr val="1E1E1E"/>
                </a:solidFill>
                <a:latin typeface="Fira Sans Condensed"/>
                <a:ea typeface="Fira Sans Condensed"/>
                <a:cs typeface="Fira Sans Condensed"/>
                <a:sym typeface="Fira Sans Condensed"/>
              </a:rPr>
              <a:t>adyuvante</a:t>
            </a:r>
            <a:r>
              <a:rPr lang="es-AR" sz="1350" dirty="0">
                <a:solidFill>
                  <a:srgbClr val="1E1E1E"/>
                </a:solidFill>
                <a:latin typeface="Fira Sans Condensed"/>
                <a:ea typeface="Fira Sans Condensed"/>
                <a:cs typeface="Fira Sans Condensed"/>
                <a:sym typeface="Fira Sans Condensed"/>
              </a:rPr>
              <a:t> de tratamiento </a:t>
            </a:r>
            <a:r>
              <a:rPr lang="es-AR" sz="1350" b="1" dirty="0">
                <a:solidFill>
                  <a:srgbClr val="1E1E1E"/>
                </a:solidFill>
                <a:latin typeface="Fira Sans Condensed"/>
                <a:ea typeface="Fira Sans Condensed"/>
                <a:cs typeface="Fira Sans Condensed"/>
                <a:sym typeface="Fira Sans Condensed"/>
              </a:rPr>
              <a:t>crónico</a:t>
            </a:r>
            <a:r>
              <a:rPr lang="es-AR" sz="1350" dirty="0">
                <a:solidFill>
                  <a:srgbClr val="1E1E1E"/>
                </a:solidFill>
                <a:latin typeface="Fira Sans Condensed"/>
                <a:ea typeface="Fira Sans Condensed"/>
                <a:cs typeface="Fira Sans Condensed"/>
                <a:sym typeface="Fira Sans Condensed"/>
              </a:rPr>
              <a:t>. ADA 2026 y ACP 2026 destacan agentes basados en </a:t>
            </a:r>
            <a:r>
              <a:rPr lang="es-AR" sz="1350" b="1" dirty="0">
                <a:solidFill>
                  <a:srgbClr val="1E1E1E"/>
                </a:solidFill>
                <a:latin typeface="Fira Sans Condensed"/>
                <a:ea typeface="Fira Sans Condensed"/>
                <a:cs typeface="Fira Sans Condensed"/>
                <a:sym typeface="Fira Sans Condensed"/>
              </a:rPr>
              <a:t>GLP-1 y GIP/GLP-1</a:t>
            </a:r>
            <a:r>
              <a:rPr lang="es-AR" sz="1350" dirty="0">
                <a:solidFill>
                  <a:srgbClr val="1E1E1E"/>
                </a:solidFill>
                <a:latin typeface="Fira Sans Condensed"/>
                <a:ea typeface="Fira Sans Condensed"/>
                <a:cs typeface="Fira Sans Condensed"/>
                <a:sym typeface="Fira Sans Condensed"/>
              </a:rPr>
              <a:t> donde estén indicados. </a:t>
            </a:r>
            <a:r>
              <a:rPr lang="es-AR" sz="1350" b="1" dirty="0">
                <a:solidFill>
                  <a:srgbClr val="1E1E1E"/>
                </a:solidFill>
                <a:latin typeface="Fira Sans Condensed"/>
                <a:ea typeface="Fira Sans Condensed"/>
                <a:cs typeface="Fira Sans Condensed"/>
                <a:sym typeface="Fira Sans Condensed"/>
              </a:rPr>
              <a:t>No todo agente de guías internacionales está aprobado o disponible en Argentina.</a:t>
            </a:r>
            <a:endParaRPr lang="es-AR" sz="1350" dirty="0">
              <a:latin typeface="Fira Sans Condensed"/>
            </a:endParaRPr>
          </a:p>
        </p:txBody>
      </p:sp>
      <p:sp>
        <p:nvSpPr>
          <p:cNvPr id="5" name="Título"/>
          <p:cNvSpPr txBox="1"/>
          <p:nvPr/>
        </p:nvSpPr>
        <p:spPr>
          <a:xfrm>
            <a:off x="320040" y="91440"/>
            <a:ext cx="11551615" cy="5059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400" dirty="0">
                <a:solidFill>
                  <a:srgbClr val="1E1E1E"/>
                </a:solidFill>
                <a:effectLst>
                  <a:glow rad="101600">
                    <a:srgbClr val="FFFFFF">
                      <a:alpha val="70000"/>
                    </a:srgbClr>
                  </a:glow>
                </a:effectLst>
                <a:latin typeface="Permanent Marker"/>
                <a:ea typeface="Permanent Marker"/>
                <a:cs typeface="Permanent Marker"/>
                <a:sym typeface="Permanent Marker"/>
              </a:rPr>
              <a:t>FARMACOTERAPIA I: OPCIONES CON MECANISMO Y PRECAUCIONES</a:t>
            </a:r>
            <a:endParaRPr lang="es-AR" sz="24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aphicFrame>
        <p:nvGraphicFramePr>
          <p:cNvPr id="7" name="Fármacos 2"/>
          <p:cNvGraphicFramePr>
            <a:graphicFrameLocks noGrp="1"/>
          </p:cNvGraphicFramePr>
          <p:nvPr/>
        </p:nvGraphicFramePr>
        <p:xfrm>
          <a:off x="365760" y="1051560"/>
          <a:ext cx="11475720" cy="2971800"/>
        </p:xfrm>
        <a:graphic>
          <a:graphicData uri="http://schemas.openxmlformats.org/drawingml/2006/table">
            <a:tbl>
              <a:tblPr firstRow="1" bandRow="1"/>
              <a:tblGrid>
                <a:gridCol w="2286000"/>
                <a:gridCol w="3200400"/>
                <a:gridCol w="2560320"/>
                <a:gridCol w="3429000"/>
              </a:tblGrid>
              <a:tr h="411480">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Fármaco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Mecanismo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Situación</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350" b="1" dirty="0">
                          <a:solidFill>
                            <a:srgbClr val="1E1E1E"/>
                          </a:solidFill>
                          <a:latin typeface="Fira Sans Condensed"/>
                          <a:ea typeface="Fira Sans Condensed"/>
                          <a:cs typeface="Fira Sans Condensed"/>
                          <a:sym typeface="Fira Sans Condensed"/>
                        </a:rPr>
                        <a:t>Comentario</a:t>
                      </a:r>
                      <a:endParaRPr lang="es-AR" sz="13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73152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Fentermina + topiramato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Simpaticomimético + acciones centrales del topiramato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Aprobación depende del país</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Riesgo CV, teratogenicidad, efectos neurocognitivos; no apropiado con TA 160/100</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73152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Setmelanotida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Agonista MC4R</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Indicación altamente especializada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Obesidad monogénica seleccionada; no para obesidad poligénica común</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54864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Sibutramina (histórica)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Inhibe recaptación de NA/5-HT (± DA)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SUSPENDIDA en Argentina</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Riesgo cardiovascular; no recomendar</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548640">
                <a:tc>
                  <a:txBody>
                    <a:bodyPr/>
                    <a:lstStyle/>
                    <a:p>
                      <a:pPr algn="l">
                        <a:spcAft>
                          <a:spcPts val="100"/>
                        </a:spcAft>
                        <a:buNone/>
                      </a:pPr>
                      <a:r>
                        <a:rPr lang="es-AR" sz="1300" b="1" dirty="0">
                          <a:solidFill>
                            <a:srgbClr val="1E1E1E"/>
                          </a:solidFill>
                          <a:latin typeface="Fira Sans Condensed"/>
                          <a:ea typeface="Fira Sans Condensed"/>
                          <a:cs typeface="Fira Sans Condensed"/>
                          <a:sym typeface="Fira Sans Condensed"/>
                        </a:rPr>
                        <a:t>Rimonabant (histórico)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Antagonista/inverso CB1 central</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SUSPENDIDO y retirado</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300" dirty="0">
                          <a:solidFill>
                            <a:srgbClr val="1E1E1E"/>
                          </a:solidFill>
                          <a:latin typeface="Fira Sans Condensed"/>
                          <a:ea typeface="Fira Sans Condensed"/>
                          <a:cs typeface="Fira Sans Condensed"/>
                          <a:sym typeface="Fira Sans Condensed"/>
                        </a:rPr>
                        <a:t>Efectos psiquiátricos graves; no recomendar</a:t>
                      </a:r>
                      <a:endParaRPr lang="es-AR" sz="13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bl>
          </a:graphicData>
        </a:graphic>
      </p:graphicFrame>
      <p:sp>
        <p:nvSpPr>
          <p:cNvPr id="8" name="Marca históricos"/>
          <p:cNvSpPr/>
          <p:nvPr/>
        </p:nvSpPr>
        <p:spPr>
          <a:xfrm>
            <a:off x="329184" y="2898648"/>
            <a:ext cx="11548872" cy="1152144"/>
          </a:xfrm>
          <a:prstGeom prst="rect">
            <a:avLst/>
          </a:prstGeom>
          <a:noFill/>
          <a:ln w="50800" cap="rnd">
            <a:solidFill>
              <a:srgbClr val="C00000"/>
            </a:solidFill>
            <a:round/>
          </a:ln>
        </p:spPr>
      </p:sp>
      <p:sp>
        <p:nvSpPr>
          <p:cNvPr id="9" name="Perla clínica"/>
          <p:cNvSpPr/>
          <p:nvPr/>
        </p:nvSpPr>
        <p:spPr>
          <a:xfrm>
            <a:off x="365760" y="4297680"/>
            <a:ext cx="11475720" cy="10972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Que la </a:t>
            </a:r>
            <a:r>
              <a:rPr lang="es-AR" sz="1500" b="1" dirty="0">
                <a:solidFill>
                  <a:srgbClr val="FFFFFF"/>
                </a:solidFill>
                <a:latin typeface="Fira Sans Condensed"/>
                <a:ea typeface="Fira Sans Condensed"/>
                <a:cs typeface="Fira Sans Condensed"/>
                <a:sym typeface="Fira Sans Condensed"/>
              </a:rPr>
              <a:t>sibutramina</a:t>
            </a:r>
            <a:r>
              <a:rPr lang="es-AR" sz="1500" dirty="0">
                <a:solidFill>
                  <a:srgbClr val="FFFFFF"/>
                </a:solidFill>
                <a:latin typeface="Fira Sans Condensed"/>
                <a:ea typeface="Fira Sans Condensed"/>
                <a:cs typeface="Fira Sans Condensed"/>
                <a:sym typeface="Fira Sans Condensed"/>
              </a:rPr>
              <a:t> aparezca en el artículo de síndrome metabólico de </a:t>
            </a:r>
            <a:r>
              <a:rPr lang="es-AR" sz="1500" b="1" dirty="0">
                <a:solidFill>
                  <a:srgbClr val="FFFFFF"/>
                </a:solidFill>
                <a:latin typeface="Fira Sans Condensed"/>
                <a:ea typeface="Fira Sans Condensed"/>
                <a:cs typeface="Fira Sans Condensed"/>
                <a:sym typeface="Fira Sans Condensed"/>
              </a:rPr>
              <a:t>2009</a:t>
            </a:r>
            <a:r>
              <a:rPr lang="es-AR" sz="1500" dirty="0">
                <a:solidFill>
                  <a:srgbClr val="FFFFFF"/>
                </a:solidFill>
                <a:latin typeface="Fira Sans Condensed"/>
                <a:ea typeface="Fira Sans Condensed"/>
                <a:cs typeface="Fira Sans Condensed"/>
                <a:sym typeface="Fira Sans Condensed"/>
              </a:rPr>
              <a:t> no la vuelve utilizable hoy: distinguir </a:t>
            </a:r>
            <a:r>
              <a:rPr lang="es-AR" sz="1500" b="1" dirty="0">
                <a:solidFill>
                  <a:srgbClr val="FFFFFF"/>
                </a:solidFill>
                <a:latin typeface="Fira Sans Condensed"/>
                <a:ea typeface="Fira Sans Condensed"/>
                <a:cs typeface="Fira Sans Condensed"/>
                <a:sym typeface="Fira Sans Condensed"/>
              </a:rPr>
              <a:t>autorización, suspensión y disponibilidad</a:t>
            </a:r>
            <a:r>
              <a:rPr lang="es-AR" sz="1500" dirty="0">
                <a:solidFill>
                  <a:srgbClr val="FFFFFF"/>
                </a:solidFill>
                <a:latin typeface="Fira Sans Condensed"/>
                <a:ea typeface="Fira Sans Condensed"/>
                <a:cs typeface="Fira Sans Condensed"/>
                <a:sym typeface="Fira Sans Condensed"/>
              </a:rPr>
              <a:t> con fecha.</a:t>
            </a:r>
            <a:endParaRPr lang="es-AR" sz="1500" dirty="0">
              <a:latin typeface="Fira Sans Condensed"/>
            </a:endParaRPr>
          </a:p>
        </p:txBody>
      </p:sp>
      <p:sp>
        <p:nvSpPr>
          <p:cNvPr id="10" name="Forma 9"/>
          <p:cNvSpPr/>
          <p:nvPr/>
        </p:nvSpPr>
        <p:spPr>
          <a:xfrm>
            <a:off x="365760" y="5577840"/>
            <a:ext cx="11475720" cy="8229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150" dirty="0">
                <a:solidFill>
                  <a:srgbClr val="1E1E1E"/>
                </a:solidFill>
                <a:latin typeface="Fira Sans Condensed"/>
                <a:ea typeface="Fira Sans Condensed"/>
                <a:cs typeface="Fira Sans Condensed"/>
                <a:sym typeface="Fira Sans Condensed"/>
              </a:rPr>
              <a:t>Verificación: Situación regulatoria según el material de cátedra (actualizado a octubre de 2026, fuentes [ANMAT] y [LEY]). El 27/10/2026 no fue posible consultar argentina.gob.ar desde el entorno de producción; antes de exponer, confirmar en ANMAT y el Boletín Oficial.</a:t>
            </a:r>
            <a:endParaRPr lang="es-AR" sz="1150" dirty="0">
              <a:latin typeface="Fira Sans Condensed"/>
            </a:endParaRPr>
          </a:p>
        </p:txBody>
      </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FARMACOTERAPIA II: ESPECIALIZADOS E HISTÓRICOS</a:t>
            </a:r>
            <a:endParaRPr lang="es-AR" sz="30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1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animEffect transition="in" filter="fade">
                                      <p:cBhvr>
                                        <p:cTn id="7" dur="500"/>
                                        <p:tgtEl>
                                          <p:spTgt spid="8"/>
                                        </p:tgtEl>
                                      </p:cBhvr>
                                    </p:animEffect>
                                  </p:childTnLst>
                                </p:cTn>
                              </p:par>
                            </p:childTnLst>
                          </p:cTn>
                        </p:par>
                      </p:childTnLst>
                    </p:cTn>
                  </p:par>
                  <p:par>
                    <p:cTn id="16" fill="hold">
                      <p:stCondLst>
                        <p:cond delay="indefinite"/>
                      </p:stCondLst>
                      <p:childTnLst>
                        <p:par>
                          <p:cTn id="15"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21" fill="hold">
                      <p:stCondLst>
                        <p:cond delay="indefinite"/>
                      </p:stCondLst>
                      <p:childTnLst>
                        <p:par>
                          <p:cTn id="2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827349" cy="6858000"/>
          </a:xfrm>
          <a:prstGeom prst="rect">
            <a:avLst/>
          </a:prstGeom>
          <a:solidFill>
            <a:srgbClr val="FFFFFF"/>
          </a:solidFill>
          <a:ln>
            <a:noFill/>
          </a:ln>
        </p:spPr>
      </p:sp>
      <p:sp>
        <p:nvSpPr>
          <p:cNvPr id="3" name="!!Fondo 2"/>
          <p:cNvSpPr/>
          <p:nvPr/>
        </p:nvSpPr>
        <p:spPr>
          <a:xfrm>
            <a:off x="6827349" y="0"/>
            <a:ext cx="5364346" cy="6858000"/>
          </a:xfrm>
          <a:prstGeom prst="rect">
            <a:avLst/>
          </a:prstGeom>
          <a:solidFill>
            <a:srgbClr val="92D050"/>
          </a:solidFill>
          <a:ln>
            <a:noFill/>
          </a:ln>
        </p:spPr>
      </p:sp>
      <p:sp>
        <p:nvSpPr>
          <p:cNvPr id="4" name="!!Fondo 3"/>
          <p:cNvSpPr/>
          <p:nvPr/>
        </p:nvSpPr>
        <p:spPr>
          <a:xfrm>
            <a:off x="0" y="0"/>
            <a:ext cx="6827349" cy="960120"/>
          </a:xfrm>
          <a:prstGeom prst="rect">
            <a:avLst/>
          </a:prstGeom>
          <a:solidFill>
            <a:srgbClr val="FF8B8B"/>
          </a:solidFill>
          <a:ln>
            <a:noFill/>
          </a:ln>
        </p:spPr>
      </p:sp>
      <p:pic>
        <p:nvPicPr>
          <p:cNvPr id="7" name="Intestino orlistat" descr="Ilustración biomédica (Servier Medical Art, CC BY)"/>
          <p:cNvPicPr>
            <a:picLocks noChangeAspect="1"/>
          </p:cNvPicPr>
          <p:nvPr/>
        </p:nvPicPr>
        <p:blipFill>
          <a:blip r:embed="rId2"/>
          <a:stretch>
            <a:fillRect/>
          </a:stretch>
        </p:blipFill>
        <p:spPr>
          <a:xfrm>
            <a:off x="822960" y="4251960"/>
            <a:ext cx="2026153" cy="2011680"/>
          </a:xfrm>
          <a:prstGeom prst="rect">
            <a:avLst/>
          </a:prstGeom>
        </p:spPr>
      </p:pic>
      <p:sp>
        <p:nvSpPr>
          <p:cNvPr id="8" name="Luz intestinal"/>
          <p:cNvSpPr/>
          <p:nvPr/>
        </p:nvSpPr>
        <p:spPr>
          <a:xfrm>
            <a:off x="365760" y="1051560"/>
            <a:ext cx="7498080" cy="3108960"/>
          </a:xfrm>
          <a:prstGeom prst="rect">
            <a:avLst/>
          </a:prstGeom>
          <a:solidFill>
            <a:srgbClr val="FFF2CC">
              <a:alpha val="40000"/>
            </a:srgbClr>
          </a:solidFill>
          <a:ln w="15875" cap="rnd">
            <a:solidFill>
              <a:srgbClr val="1E1E1E"/>
            </a:solidFill>
            <a:round/>
          </a:ln>
        </p:spPr>
      </p:sp>
      <p:sp>
        <p:nvSpPr>
          <p:cNvPr id="9" name="Forma 8"/>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3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INTESTINAL</a:t>
            </a:r>
            <a:endParaRPr lang="es-AR" sz="1300" dirty="0">
              <a:latin typeface="Fira Sans Condensed"/>
            </a:endParaRPr>
          </a:p>
        </p:txBody>
      </p:sp>
      <p:grpSp>
        <p:nvGrpSpPr>
          <p:cNvPr id="10" name="TAG dieta 0"/>
          <p:cNvGrpSpPr/>
          <p:nvPr/>
        </p:nvGrpSpPr>
        <p:grpSpPr>
          <a:xfrm>
            <a:off x="661864" y="1577650"/>
            <a:ext cx="1143357" cy="645060"/>
            <a:chOff x="661864" y="1577650"/>
            <a:chExt cx="1143357" cy="645060"/>
          </a:xfrm>
        </p:grpSpPr>
        <p:sp>
          <p:nvSpPr>
            <p:cNvPr id="11" name="Átomo C"/>
            <p:cNvSpPr/>
            <p:nvPr/>
          </p:nvSpPr>
          <p:spPr>
            <a:xfrm>
              <a:off x="1143388" y="2166150"/>
              <a:ext cx="49483" cy="494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 name="Átomo C_2"/>
            <p:cNvSpPr/>
            <p:nvPr/>
          </p:nvSpPr>
          <p:spPr>
            <a:xfrm>
              <a:off x="1735907" y="1779261"/>
              <a:ext cx="49503" cy="495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 name="Flecha 12_2"/>
            <p:cNvSpPr/>
            <p:nvPr/>
          </p:nvSpPr>
          <p:spPr>
            <a:xfrm>
              <a:off x="1086034" y="2156010"/>
              <a:ext cx="82095" cy="34881"/>
            </a:xfrm>
            <a:custGeom>
              <a:avLst/>
              <a:gdLst/>
              <a:ahLst/>
              <a:cxnLst/>
              <a:rect l="0" t="0" r="r" b="b"/>
              <a:pathLst>
                <a:path w="89" h="38" fill="none">
                  <a:moveTo>
                    <a:pt x="0" y="0"/>
                  </a:moveTo>
                  <a:lnTo>
                    <a:pt x="89" y="38"/>
                  </a:lnTo>
                </a:path>
              </a:pathLst>
            </a:custGeom>
            <a:noFill/>
            <a:ln w="19050" cap="rnd">
              <a:solidFill>
                <a:srgbClr val="9A9A9A"/>
              </a:solidFill>
              <a:round/>
            </a:ln>
          </p:spPr>
        </p:sp>
        <p:sp>
          <p:nvSpPr>
            <p:cNvPr id="14" name="Átomo C_3"/>
            <p:cNvSpPr/>
            <p:nvPr/>
          </p:nvSpPr>
          <p:spPr>
            <a:xfrm>
              <a:off x="1067603" y="1839587"/>
              <a:ext cx="49664" cy="496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5" name="Flecha 15_2"/>
            <p:cNvSpPr/>
            <p:nvPr/>
          </p:nvSpPr>
          <p:spPr>
            <a:xfrm>
              <a:off x="1760658" y="1804012"/>
              <a:ext cx="19624" cy="85228"/>
            </a:xfrm>
            <a:custGeom>
              <a:avLst/>
              <a:gdLst/>
              <a:ahLst/>
              <a:cxnLst/>
              <a:rect l="0" t="0" r="r" b="b"/>
              <a:pathLst>
                <a:path w="21" h="93" fill="none">
                  <a:moveTo>
                    <a:pt x="0" y="0"/>
                  </a:moveTo>
                  <a:lnTo>
                    <a:pt x="21" y="93"/>
                  </a:lnTo>
                </a:path>
              </a:pathLst>
            </a:custGeom>
            <a:noFill/>
            <a:ln w="19050" cap="rnd">
              <a:solidFill>
                <a:srgbClr val="9A9A9A"/>
              </a:solidFill>
              <a:round/>
            </a:ln>
          </p:spPr>
        </p:sp>
        <p:sp>
          <p:nvSpPr>
            <p:cNvPr id="16" name="Átomo C_4"/>
            <p:cNvSpPr/>
            <p:nvPr/>
          </p:nvSpPr>
          <p:spPr>
            <a:xfrm>
              <a:off x="1061136" y="2131112"/>
              <a:ext cx="49796" cy="4979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7" name="Átomo C_5"/>
            <p:cNvSpPr/>
            <p:nvPr/>
          </p:nvSpPr>
          <p:spPr>
            <a:xfrm>
              <a:off x="1755345" y="1864302"/>
              <a:ext cx="49876" cy="4987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 name="Flecha 19_2"/>
            <p:cNvSpPr/>
            <p:nvPr/>
          </p:nvSpPr>
          <p:spPr>
            <a:xfrm>
              <a:off x="1168129" y="2190891"/>
              <a:ext cx="60896" cy="9144"/>
            </a:xfrm>
            <a:custGeom>
              <a:avLst/>
              <a:gdLst/>
              <a:ahLst/>
              <a:cxnLst/>
              <a:rect l="0" t="0" r="r" b="b"/>
              <a:pathLst>
                <a:path w="66" h="10" fill="none">
                  <a:moveTo>
                    <a:pt x="0" y="0"/>
                  </a:moveTo>
                  <a:lnTo>
                    <a:pt x="66" y="7"/>
                  </a:lnTo>
                </a:path>
              </a:pathLst>
            </a:custGeom>
            <a:noFill/>
            <a:ln w="19050" cap="rnd">
              <a:solidFill>
                <a:srgbClr val="9A9A9A"/>
              </a:solidFill>
              <a:round/>
            </a:ln>
          </p:spPr>
        </p:sp>
        <p:sp>
          <p:nvSpPr>
            <p:cNvPr id="19" name="Flecha 21_2"/>
            <p:cNvSpPr/>
            <p:nvPr/>
          </p:nvSpPr>
          <p:spPr>
            <a:xfrm>
              <a:off x="1730613" y="1746433"/>
              <a:ext cx="30045" cy="57579"/>
            </a:xfrm>
            <a:custGeom>
              <a:avLst/>
              <a:gdLst/>
              <a:ahLst/>
              <a:cxnLst/>
              <a:rect l="0" t="0" r="r" b="b"/>
              <a:pathLst>
                <a:path w="32" h="62" fill="none">
                  <a:moveTo>
                    <a:pt x="0" y="0"/>
                  </a:moveTo>
                  <a:lnTo>
                    <a:pt x="32" y="62"/>
                  </a:lnTo>
                </a:path>
              </a:pathLst>
            </a:custGeom>
            <a:noFill/>
            <a:ln w="19050" cap="rnd">
              <a:solidFill>
                <a:srgbClr val="9A9A9A"/>
              </a:solidFill>
              <a:round/>
            </a:ln>
          </p:spPr>
        </p:sp>
        <p:sp>
          <p:nvSpPr>
            <p:cNvPr id="20" name="Átomo C_6"/>
            <p:cNvSpPr/>
            <p:nvPr/>
          </p:nvSpPr>
          <p:spPr>
            <a:xfrm>
              <a:off x="1693840" y="1635571"/>
              <a:ext cx="49907" cy="4990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 name="Flecha 24_2"/>
            <p:cNvSpPr/>
            <p:nvPr/>
          </p:nvSpPr>
          <p:spPr>
            <a:xfrm>
              <a:off x="1013009" y="1864420"/>
              <a:ext cx="79426" cy="12604"/>
            </a:xfrm>
            <a:custGeom>
              <a:avLst/>
              <a:gdLst/>
              <a:ahLst/>
              <a:cxnLst/>
              <a:rect l="0" t="0" r="r" b="b"/>
              <a:pathLst>
                <a:path w="86" h="13" fill="none">
                  <a:moveTo>
                    <a:pt x="86" y="0"/>
                  </a:moveTo>
                  <a:lnTo>
                    <a:pt x="0" y="13"/>
                  </a:lnTo>
                </a:path>
              </a:pathLst>
            </a:custGeom>
            <a:noFill/>
            <a:ln w="19050" cap="rnd">
              <a:solidFill>
                <a:srgbClr val="9A9A9A"/>
              </a:solidFill>
              <a:round/>
            </a:ln>
          </p:spPr>
        </p:sp>
        <p:sp>
          <p:nvSpPr>
            <p:cNvPr id="22" name="Flecha 26_2"/>
            <p:cNvSpPr/>
            <p:nvPr/>
          </p:nvSpPr>
          <p:spPr>
            <a:xfrm>
              <a:off x="1092435" y="1860190"/>
              <a:ext cx="76578" cy="9144"/>
            </a:xfrm>
            <a:custGeom>
              <a:avLst/>
              <a:gdLst/>
              <a:ahLst/>
              <a:cxnLst/>
              <a:rect l="0" t="0" r="r" b="b"/>
              <a:pathLst>
                <a:path w="83" h="10" fill="none">
                  <a:moveTo>
                    <a:pt x="83" y="0"/>
                  </a:moveTo>
                  <a:lnTo>
                    <a:pt x="0" y="4"/>
                  </a:lnTo>
                </a:path>
              </a:pathLst>
            </a:custGeom>
            <a:noFill/>
            <a:ln w="19050" cap="rnd">
              <a:solidFill>
                <a:srgbClr val="9A9A9A"/>
              </a:solidFill>
              <a:round/>
            </a:ln>
          </p:spPr>
        </p:sp>
        <p:sp>
          <p:nvSpPr>
            <p:cNvPr id="23" name="Flecha 28_2"/>
            <p:cNvSpPr/>
            <p:nvPr/>
          </p:nvSpPr>
          <p:spPr>
            <a:xfrm>
              <a:off x="1086034" y="2069708"/>
              <a:ext cx="9144" cy="86302"/>
            </a:xfrm>
            <a:custGeom>
              <a:avLst/>
              <a:gdLst/>
              <a:ahLst/>
              <a:cxnLst/>
              <a:rect l="0" t="0" r="r" b="b"/>
              <a:pathLst>
                <a:path w="10" h="94" fill="none">
                  <a:moveTo>
                    <a:pt x="6" y="0"/>
                  </a:moveTo>
                  <a:lnTo>
                    <a:pt x="0" y="94"/>
                  </a:lnTo>
                </a:path>
              </a:pathLst>
            </a:custGeom>
            <a:noFill/>
            <a:ln w="19050" cap="rnd">
              <a:solidFill>
                <a:srgbClr val="9A9A9A"/>
              </a:solidFill>
              <a:round/>
            </a:ln>
          </p:spPr>
        </p:sp>
        <p:sp>
          <p:nvSpPr>
            <p:cNvPr id="24" name="Flecha 30_2"/>
            <p:cNvSpPr/>
            <p:nvPr/>
          </p:nvSpPr>
          <p:spPr>
            <a:xfrm>
              <a:off x="1706186" y="1889240"/>
              <a:ext cx="74096" cy="45234"/>
            </a:xfrm>
            <a:custGeom>
              <a:avLst/>
              <a:gdLst/>
              <a:ahLst/>
              <a:cxnLst/>
              <a:rect l="0" t="0" r="r" b="b"/>
              <a:pathLst>
                <a:path w="81" h="49" fill="none">
                  <a:moveTo>
                    <a:pt x="81" y="0"/>
                  </a:moveTo>
                  <a:lnTo>
                    <a:pt x="0" y="49"/>
                  </a:lnTo>
                </a:path>
              </a:pathLst>
            </a:custGeom>
            <a:noFill/>
            <a:ln w="19050" cap="rnd">
              <a:solidFill>
                <a:srgbClr val="9A9A9A"/>
              </a:solidFill>
              <a:round/>
            </a:ln>
          </p:spPr>
        </p:sp>
        <p:sp>
          <p:nvSpPr>
            <p:cNvPr id="25" name="Flecha 32_2"/>
            <p:cNvSpPr/>
            <p:nvPr/>
          </p:nvSpPr>
          <p:spPr>
            <a:xfrm>
              <a:off x="1718793" y="1660525"/>
              <a:ext cx="11820" cy="85909"/>
            </a:xfrm>
            <a:custGeom>
              <a:avLst/>
              <a:gdLst/>
              <a:ahLst/>
              <a:cxnLst/>
              <a:rect l="0" t="0" r="r" b="b"/>
              <a:pathLst>
                <a:path w="12" h="93" fill="none">
                  <a:moveTo>
                    <a:pt x="0" y="0"/>
                  </a:moveTo>
                  <a:lnTo>
                    <a:pt x="12" y="93"/>
                  </a:lnTo>
                </a:path>
              </a:pathLst>
            </a:custGeom>
            <a:noFill/>
            <a:ln w="19050" cap="rnd">
              <a:solidFill>
                <a:srgbClr val="9A9A9A"/>
              </a:solidFill>
              <a:round/>
            </a:ln>
          </p:spPr>
        </p:sp>
        <p:sp>
          <p:nvSpPr>
            <p:cNvPr id="26" name="Átomo C_7"/>
            <p:cNvSpPr/>
            <p:nvPr/>
          </p:nvSpPr>
          <p:spPr>
            <a:xfrm>
              <a:off x="1066637" y="2044606"/>
              <a:ext cx="50203" cy="502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 name="Átomo C_8"/>
            <p:cNvSpPr/>
            <p:nvPr/>
          </p:nvSpPr>
          <p:spPr>
            <a:xfrm>
              <a:off x="987899" y="1851913"/>
              <a:ext cx="50220" cy="5022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Átomo C_9"/>
            <p:cNvSpPr/>
            <p:nvPr/>
          </p:nvSpPr>
          <p:spPr>
            <a:xfrm>
              <a:off x="1681052" y="1909340"/>
              <a:ext cx="50269" cy="502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9" name="Flecha 37_2"/>
            <p:cNvSpPr/>
            <p:nvPr/>
          </p:nvSpPr>
          <p:spPr>
            <a:xfrm>
              <a:off x="1007491" y="2033657"/>
              <a:ext cx="84248" cy="36051"/>
            </a:xfrm>
            <a:custGeom>
              <a:avLst/>
              <a:gdLst/>
              <a:ahLst/>
              <a:cxnLst/>
              <a:rect l="0" t="0" r="r" b="b"/>
              <a:pathLst>
                <a:path w="92" h="39" fill="none">
                  <a:moveTo>
                    <a:pt x="0" y="0"/>
                  </a:moveTo>
                  <a:lnTo>
                    <a:pt x="92" y="39"/>
                  </a:lnTo>
                </a:path>
              </a:pathLst>
            </a:custGeom>
            <a:noFill/>
            <a:ln w="19050" cap="rnd">
              <a:solidFill>
                <a:srgbClr val="9A9A9A"/>
              </a:solidFill>
              <a:round/>
            </a:ln>
          </p:spPr>
        </p:sp>
        <p:sp>
          <p:nvSpPr>
            <p:cNvPr id="30" name="Átomo C_10"/>
            <p:cNvSpPr/>
            <p:nvPr/>
          </p:nvSpPr>
          <p:spPr>
            <a:xfrm>
              <a:off x="1143867" y="1835044"/>
              <a:ext cx="50292" cy="5029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1" name="Flecha 40_2"/>
            <p:cNvSpPr/>
            <p:nvPr/>
          </p:nvSpPr>
          <p:spPr>
            <a:xfrm>
              <a:off x="1688914" y="1602997"/>
              <a:ext cx="29879" cy="57527"/>
            </a:xfrm>
            <a:custGeom>
              <a:avLst/>
              <a:gdLst/>
              <a:ahLst/>
              <a:cxnLst/>
              <a:rect l="0" t="0" r="r" b="b"/>
              <a:pathLst>
                <a:path w="32" h="62" fill="none">
                  <a:moveTo>
                    <a:pt x="0" y="0"/>
                  </a:moveTo>
                  <a:lnTo>
                    <a:pt x="32" y="62"/>
                  </a:lnTo>
                </a:path>
              </a:pathLst>
            </a:custGeom>
            <a:noFill/>
            <a:ln w="19050" cap="rnd">
              <a:solidFill>
                <a:srgbClr val="9A9A9A"/>
              </a:solidFill>
              <a:round/>
            </a:ln>
          </p:spPr>
        </p:sp>
        <p:sp>
          <p:nvSpPr>
            <p:cNvPr id="32" name="Átomo C_11"/>
            <p:cNvSpPr/>
            <p:nvPr/>
          </p:nvSpPr>
          <p:spPr>
            <a:xfrm>
              <a:off x="1705463" y="1721283"/>
              <a:ext cx="50300" cy="503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3" name="Átomo C_12"/>
            <p:cNvSpPr/>
            <p:nvPr/>
          </p:nvSpPr>
          <p:spPr>
            <a:xfrm>
              <a:off x="1203869" y="2172397"/>
              <a:ext cx="50312" cy="503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4" name="Átomo C_13"/>
            <p:cNvSpPr/>
            <p:nvPr/>
          </p:nvSpPr>
          <p:spPr>
            <a:xfrm>
              <a:off x="982300" y="2008465"/>
              <a:ext cx="50383" cy="503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5" name="Flecha 45_2"/>
            <p:cNvSpPr/>
            <p:nvPr/>
          </p:nvSpPr>
          <p:spPr>
            <a:xfrm>
              <a:off x="1706186" y="1934474"/>
              <a:ext cx="20483" cy="87882"/>
            </a:xfrm>
            <a:custGeom>
              <a:avLst/>
              <a:gdLst/>
              <a:ahLst/>
              <a:cxnLst/>
              <a:rect l="0" t="0" r="r" b="b"/>
              <a:pathLst>
                <a:path w="22" h="96" fill="none">
                  <a:moveTo>
                    <a:pt x="0" y="0"/>
                  </a:moveTo>
                  <a:lnTo>
                    <a:pt x="22" y="96"/>
                  </a:lnTo>
                </a:path>
              </a:pathLst>
            </a:custGeom>
            <a:noFill/>
            <a:ln w="19050" cap="rnd">
              <a:solidFill>
                <a:srgbClr val="9A9A9A"/>
              </a:solidFill>
              <a:round/>
            </a:ln>
          </p:spPr>
        </p:sp>
        <p:sp>
          <p:nvSpPr>
            <p:cNvPr id="36" name="Átomo C_14"/>
            <p:cNvSpPr/>
            <p:nvPr/>
          </p:nvSpPr>
          <p:spPr>
            <a:xfrm>
              <a:off x="1557170" y="2053907"/>
              <a:ext cx="50436" cy="5043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7" name="Átomo C_15"/>
            <p:cNvSpPr/>
            <p:nvPr/>
          </p:nvSpPr>
          <p:spPr>
            <a:xfrm>
              <a:off x="1701402" y="1997089"/>
              <a:ext cx="50534" cy="5053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49_2"/>
            <p:cNvSpPr/>
            <p:nvPr/>
          </p:nvSpPr>
          <p:spPr>
            <a:xfrm>
              <a:off x="1008647" y="1877024"/>
              <a:ext cx="9144" cy="74165"/>
            </a:xfrm>
            <a:custGeom>
              <a:avLst/>
              <a:gdLst/>
              <a:ahLst/>
              <a:cxnLst/>
              <a:rect l="0" t="0" r="r" b="b"/>
              <a:pathLst>
                <a:path w="10" h="81" fill="none">
                  <a:moveTo>
                    <a:pt x="4" y="0"/>
                  </a:moveTo>
                  <a:lnTo>
                    <a:pt x="0" y="81"/>
                  </a:lnTo>
                </a:path>
              </a:pathLst>
            </a:custGeom>
            <a:noFill/>
            <a:ln w="19050" cap="rnd">
              <a:solidFill>
                <a:srgbClr val="9A9A9A"/>
              </a:solidFill>
              <a:round/>
            </a:ln>
          </p:spPr>
        </p:sp>
        <p:sp>
          <p:nvSpPr>
            <p:cNvPr id="39" name="Flecha 51_2"/>
            <p:cNvSpPr/>
            <p:nvPr/>
          </p:nvSpPr>
          <p:spPr>
            <a:xfrm>
              <a:off x="1169013" y="1787321"/>
              <a:ext cx="9144" cy="72869"/>
            </a:xfrm>
            <a:custGeom>
              <a:avLst/>
              <a:gdLst/>
              <a:ahLst/>
              <a:cxnLst/>
              <a:rect l="0" t="0" r="r" b="b"/>
              <a:pathLst>
                <a:path w="10" h="79" fill="none">
                  <a:moveTo>
                    <a:pt x="1" y="0"/>
                  </a:moveTo>
                  <a:lnTo>
                    <a:pt x="0" y="79"/>
                  </a:lnTo>
                </a:path>
              </a:pathLst>
            </a:custGeom>
            <a:noFill/>
            <a:ln w="19050" cap="rnd">
              <a:solidFill>
                <a:srgbClr val="9A9A9A"/>
              </a:solidFill>
              <a:round/>
            </a:ln>
          </p:spPr>
        </p:sp>
        <p:sp>
          <p:nvSpPr>
            <p:cNvPr id="40" name="Flecha 53_2"/>
            <p:cNvSpPr/>
            <p:nvPr/>
          </p:nvSpPr>
          <p:spPr>
            <a:xfrm>
              <a:off x="1007491" y="1951189"/>
              <a:ext cx="9144" cy="82468"/>
            </a:xfrm>
            <a:custGeom>
              <a:avLst/>
              <a:gdLst/>
              <a:ahLst/>
              <a:cxnLst/>
              <a:rect l="0" t="0" r="r" b="b"/>
              <a:pathLst>
                <a:path w="10" h="90" fill="none">
                  <a:moveTo>
                    <a:pt x="1" y="0"/>
                  </a:moveTo>
                  <a:lnTo>
                    <a:pt x="0" y="90"/>
                  </a:lnTo>
                </a:path>
              </a:pathLst>
            </a:custGeom>
            <a:noFill/>
            <a:ln w="19050" cap="rnd">
              <a:solidFill>
                <a:srgbClr val="9A9A9A"/>
              </a:solidFill>
              <a:round/>
            </a:ln>
          </p:spPr>
        </p:sp>
        <p:sp>
          <p:nvSpPr>
            <p:cNvPr id="41" name="Átomo C_16"/>
            <p:cNvSpPr/>
            <p:nvPr/>
          </p:nvSpPr>
          <p:spPr>
            <a:xfrm>
              <a:off x="1663566" y="1577650"/>
              <a:ext cx="50695" cy="506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2" name="Flecha 56_2"/>
            <p:cNvSpPr/>
            <p:nvPr/>
          </p:nvSpPr>
          <p:spPr>
            <a:xfrm>
              <a:off x="1511436" y="2079125"/>
              <a:ext cx="70952" cy="38095"/>
            </a:xfrm>
            <a:custGeom>
              <a:avLst/>
              <a:gdLst/>
              <a:ahLst/>
              <a:cxnLst/>
              <a:rect l="0" t="0" r="r" b="b"/>
              <a:pathLst>
                <a:path w="77" h="41" fill="none">
                  <a:moveTo>
                    <a:pt x="77" y="0"/>
                  </a:moveTo>
                  <a:lnTo>
                    <a:pt x="0" y="41"/>
                  </a:lnTo>
                </a:path>
              </a:pathLst>
            </a:custGeom>
            <a:noFill/>
            <a:ln w="19050" cap="rnd">
              <a:solidFill>
                <a:srgbClr val="9A9A9A"/>
              </a:solidFill>
              <a:round/>
            </a:ln>
          </p:spPr>
        </p:sp>
        <p:sp>
          <p:nvSpPr>
            <p:cNvPr id="43" name="Flecha 58_2"/>
            <p:cNvSpPr/>
            <p:nvPr/>
          </p:nvSpPr>
          <p:spPr>
            <a:xfrm>
              <a:off x="1582388" y="2065066"/>
              <a:ext cx="74897" cy="14059"/>
            </a:xfrm>
            <a:custGeom>
              <a:avLst/>
              <a:gdLst/>
              <a:ahLst/>
              <a:cxnLst/>
              <a:rect l="0" t="0" r="r" b="b"/>
              <a:pathLst>
                <a:path w="81" h="15" fill="none">
                  <a:moveTo>
                    <a:pt x="81" y="0"/>
                  </a:moveTo>
                  <a:lnTo>
                    <a:pt x="0" y="15"/>
                  </a:lnTo>
                </a:path>
              </a:pathLst>
            </a:custGeom>
            <a:noFill/>
            <a:ln w="19050" cap="rnd">
              <a:solidFill>
                <a:srgbClr val="9A9A9A"/>
              </a:solidFill>
              <a:round/>
            </a:ln>
          </p:spPr>
        </p:sp>
        <p:sp>
          <p:nvSpPr>
            <p:cNvPr id="44" name="Flecha 60_2"/>
            <p:cNvSpPr/>
            <p:nvPr/>
          </p:nvSpPr>
          <p:spPr>
            <a:xfrm>
              <a:off x="1657285" y="2022356"/>
              <a:ext cx="69384" cy="42710"/>
            </a:xfrm>
            <a:custGeom>
              <a:avLst/>
              <a:gdLst/>
              <a:ahLst/>
              <a:cxnLst/>
              <a:rect l="0" t="0" r="r" b="b"/>
              <a:pathLst>
                <a:path w="75" h="46" fill="none">
                  <a:moveTo>
                    <a:pt x="75" y="0"/>
                  </a:moveTo>
                  <a:lnTo>
                    <a:pt x="0" y="46"/>
                  </a:lnTo>
                </a:path>
              </a:pathLst>
            </a:custGeom>
            <a:noFill/>
            <a:ln w="19050" cap="rnd">
              <a:solidFill>
                <a:srgbClr val="9A9A9A"/>
              </a:solidFill>
              <a:round/>
            </a:ln>
          </p:spPr>
        </p:sp>
        <p:sp>
          <p:nvSpPr>
            <p:cNvPr id="45" name="Átomo C_17"/>
            <p:cNvSpPr/>
            <p:nvPr/>
          </p:nvSpPr>
          <p:spPr>
            <a:xfrm>
              <a:off x="983199" y="1925741"/>
              <a:ext cx="50895" cy="508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6" name="Átomo C_18"/>
            <p:cNvSpPr/>
            <p:nvPr/>
          </p:nvSpPr>
          <p:spPr>
            <a:xfrm>
              <a:off x="1144736" y="1761829"/>
              <a:ext cx="50984" cy="5098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7" name="Átomo C_19"/>
            <p:cNvSpPr/>
            <p:nvPr/>
          </p:nvSpPr>
          <p:spPr>
            <a:xfrm>
              <a:off x="1485939" y="2091723"/>
              <a:ext cx="50995" cy="509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Átomo C_20"/>
            <p:cNvSpPr/>
            <p:nvPr/>
          </p:nvSpPr>
          <p:spPr>
            <a:xfrm>
              <a:off x="1631748" y="2039529"/>
              <a:ext cx="51074" cy="5107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9" name="Flecha 66_2"/>
            <p:cNvSpPr/>
            <p:nvPr/>
          </p:nvSpPr>
          <p:spPr>
            <a:xfrm>
              <a:off x="1170228" y="1781562"/>
              <a:ext cx="78276" cy="9144"/>
            </a:xfrm>
            <a:custGeom>
              <a:avLst/>
              <a:gdLst/>
              <a:ahLst/>
              <a:cxnLst/>
              <a:rect l="0" t="0" r="r" b="b"/>
              <a:pathLst>
                <a:path w="85" h="10" fill="none">
                  <a:moveTo>
                    <a:pt x="85" y="0"/>
                  </a:moveTo>
                  <a:lnTo>
                    <a:pt x="0" y="6"/>
                  </a:lnTo>
                </a:path>
              </a:pathLst>
            </a:custGeom>
            <a:noFill/>
            <a:ln w="19050" cap="rnd">
              <a:solidFill>
                <a:srgbClr val="9A9A9A"/>
              </a:solidFill>
              <a:round/>
            </a:ln>
          </p:spPr>
        </p:sp>
        <p:sp>
          <p:nvSpPr>
            <p:cNvPr id="50" name="Flecha 68_2"/>
            <p:cNvSpPr/>
            <p:nvPr/>
          </p:nvSpPr>
          <p:spPr>
            <a:xfrm>
              <a:off x="1478603" y="2061572"/>
              <a:ext cx="32833" cy="55648"/>
            </a:xfrm>
            <a:custGeom>
              <a:avLst/>
              <a:gdLst/>
              <a:ahLst/>
              <a:cxnLst/>
              <a:rect l="0" t="0" r="r" b="b"/>
              <a:pathLst>
                <a:path w="35" h="60" fill="none">
                  <a:moveTo>
                    <a:pt x="35" y="60"/>
                  </a:moveTo>
                  <a:lnTo>
                    <a:pt x="0" y="0"/>
                  </a:lnTo>
                </a:path>
              </a:pathLst>
            </a:custGeom>
            <a:noFill/>
            <a:ln w="19050" cap="rnd">
              <a:solidFill>
                <a:srgbClr val="9A9A9A"/>
              </a:solidFill>
              <a:round/>
            </a:ln>
          </p:spPr>
        </p:sp>
        <p:sp>
          <p:nvSpPr>
            <p:cNvPr id="51" name="Átomo C_21"/>
            <p:cNvSpPr/>
            <p:nvPr/>
          </p:nvSpPr>
          <p:spPr>
            <a:xfrm>
              <a:off x="1222718" y="1755775"/>
              <a:ext cx="51573" cy="5157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2" name="Átomo C_22"/>
            <p:cNvSpPr/>
            <p:nvPr/>
          </p:nvSpPr>
          <p:spPr>
            <a:xfrm>
              <a:off x="1452708" y="2035677"/>
              <a:ext cx="51791" cy="517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3" name="Flecha 72_2"/>
            <p:cNvSpPr/>
            <p:nvPr/>
          </p:nvSpPr>
          <p:spPr>
            <a:xfrm>
              <a:off x="1396252" y="2061572"/>
              <a:ext cx="82352" cy="26330"/>
            </a:xfrm>
            <a:custGeom>
              <a:avLst/>
              <a:gdLst/>
              <a:ahLst/>
              <a:cxnLst/>
              <a:rect l="0" t="0" r="r" b="b"/>
              <a:pathLst>
                <a:path w="90" h="28" fill="none">
                  <a:moveTo>
                    <a:pt x="90" y="0"/>
                  </a:moveTo>
                  <a:lnTo>
                    <a:pt x="0" y="28"/>
                  </a:lnTo>
                </a:path>
              </a:pathLst>
            </a:custGeom>
            <a:noFill/>
            <a:ln w="19050" cap="rnd">
              <a:solidFill>
                <a:srgbClr val="9A9A9A"/>
              </a:solidFill>
              <a:round/>
            </a:ln>
          </p:spPr>
        </p:sp>
        <p:sp>
          <p:nvSpPr>
            <p:cNvPr id="54" name="Flecha 74_2"/>
            <p:cNvSpPr/>
            <p:nvPr/>
          </p:nvSpPr>
          <p:spPr>
            <a:xfrm>
              <a:off x="1245732" y="1781562"/>
              <a:ext cx="9144" cy="44658"/>
            </a:xfrm>
            <a:custGeom>
              <a:avLst/>
              <a:gdLst/>
              <a:ahLst/>
              <a:cxnLst/>
              <a:rect l="0" t="0" r="r" b="b"/>
              <a:pathLst>
                <a:path w="10" h="48" fill="none">
                  <a:moveTo>
                    <a:pt x="0" y="48"/>
                  </a:moveTo>
                  <a:lnTo>
                    <a:pt x="3" y="0"/>
                  </a:lnTo>
                </a:path>
              </a:pathLst>
            </a:custGeom>
            <a:noFill/>
            <a:ln w="19050" cap="rnd">
              <a:solidFill>
                <a:srgbClr val="9A9A9A"/>
              </a:solidFill>
              <a:round/>
            </a:ln>
          </p:spPr>
        </p:sp>
        <p:sp>
          <p:nvSpPr>
            <p:cNvPr id="55" name="Átomo O"/>
            <p:cNvSpPr/>
            <p:nvPr/>
          </p:nvSpPr>
          <p:spPr>
            <a:xfrm>
              <a:off x="1344244" y="2132028"/>
              <a:ext cx="49130" cy="4913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6" name="Flecha 77_2"/>
            <p:cNvSpPr/>
            <p:nvPr/>
          </p:nvSpPr>
          <p:spPr>
            <a:xfrm>
              <a:off x="1363740" y="2085878"/>
              <a:ext cx="27443" cy="68690"/>
            </a:xfrm>
            <a:custGeom>
              <a:avLst/>
              <a:gdLst/>
              <a:ahLst/>
              <a:cxnLst/>
              <a:rect l="0" t="0" r="r" b="b"/>
              <a:pathLst>
                <a:path w="30" h="75" fill="none">
                  <a:moveTo>
                    <a:pt x="30" y="0"/>
                  </a:moveTo>
                  <a:lnTo>
                    <a:pt x="0" y="75"/>
                  </a:lnTo>
                </a:path>
              </a:pathLst>
            </a:custGeom>
            <a:noFill/>
            <a:ln w="15240" cap="rnd">
              <a:solidFill>
                <a:srgbClr val="9A9A9A"/>
              </a:solidFill>
              <a:round/>
            </a:ln>
          </p:spPr>
        </p:sp>
        <p:sp>
          <p:nvSpPr>
            <p:cNvPr id="57" name="Flecha 79_2"/>
            <p:cNvSpPr/>
            <p:nvPr/>
          </p:nvSpPr>
          <p:spPr>
            <a:xfrm>
              <a:off x="1373878" y="2089928"/>
              <a:ext cx="27443" cy="68690"/>
            </a:xfrm>
            <a:custGeom>
              <a:avLst/>
              <a:gdLst/>
              <a:ahLst/>
              <a:cxnLst/>
              <a:rect l="0" t="0" r="r" b="b"/>
              <a:pathLst>
                <a:path w="30" h="75" fill="none">
                  <a:moveTo>
                    <a:pt x="30" y="0"/>
                  </a:moveTo>
                  <a:lnTo>
                    <a:pt x="0" y="75"/>
                  </a:lnTo>
                </a:path>
              </a:pathLst>
            </a:custGeom>
            <a:noFill/>
            <a:ln w="15240" cap="rnd">
              <a:solidFill>
                <a:srgbClr val="9A9A9A"/>
              </a:solidFill>
              <a:round/>
            </a:ln>
          </p:spPr>
        </p:sp>
        <p:sp>
          <p:nvSpPr>
            <p:cNvPr id="58" name="Átomo C_23"/>
            <p:cNvSpPr/>
            <p:nvPr/>
          </p:nvSpPr>
          <p:spPr>
            <a:xfrm>
              <a:off x="1370176" y="2061827"/>
              <a:ext cx="52151" cy="521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9" name="Flecha 82_2"/>
            <p:cNvSpPr/>
            <p:nvPr/>
          </p:nvSpPr>
          <p:spPr>
            <a:xfrm>
              <a:off x="1357620" y="2023065"/>
              <a:ext cx="38631" cy="64838"/>
            </a:xfrm>
            <a:custGeom>
              <a:avLst/>
              <a:gdLst/>
              <a:ahLst/>
              <a:cxnLst/>
              <a:rect l="0" t="0" r="r" b="b"/>
              <a:pathLst>
                <a:path w="42" h="70" fill="none">
                  <a:moveTo>
                    <a:pt x="42" y="70"/>
                  </a:moveTo>
                  <a:lnTo>
                    <a:pt x="0" y="0"/>
                  </a:lnTo>
                </a:path>
              </a:pathLst>
            </a:custGeom>
            <a:noFill/>
            <a:ln w="19050" cap="rnd">
              <a:solidFill>
                <a:srgbClr val="9A9A9A"/>
              </a:solidFill>
              <a:round/>
            </a:ln>
          </p:spPr>
        </p:sp>
        <p:sp>
          <p:nvSpPr>
            <p:cNvPr id="60" name="Átomo O_2"/>
            <p:cNvSpPr/>
            <p:nvPr/>
          </p:nvSpPr>
          <p:spPr>
            <a:xfrm>
              <a:off x="1210122" y="1882231"/>
              <a:ext cx="49400" cy="4940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1" name="Flecha 85_2"/>
            <p:cNvSpPr/>
            <p:nvPr/>
          </p:nvSpPr>
          <p:spPr>
            <a:xfrm>
              <a:off x="1234823" y="1826219"/>
              <a:ext cx="10909" cy="80712"/>
            </a:xfrm>
            <a:custGeom>
              <a:avLst/>
              <a:gdLst/>
              <a:ahLst/>
              <a:cxnLst/>
              <a:rect l="0" t="0" r="r" b="b"/>
              <a:pathLst>
                <a:path w="11" h="88" fill="none">
                  <a:moveTo>
                    <a:pt x="0" y="88"/>
                  </a:moveTo>
                  <a:lnTo>
                    <a:pt x="11" y="0"/>
                  </a:lnTo>
                </a:path>
              </a:pathLst>
            </a:custGeom>
            <a:noFill/>
            <a:ln w="19050" cap="rnd">
              <a:solidFill>
                <a:srgbClr val="9A9A9A"/>
              </a:solidFill>
              <a:round/>
            </a:ln>
          </p:spPr>
        </p:sp>
        <p:sp>
          <p:nvSpPr>
            <p:cNvPr id="62" name="Átomo C_24"/>
            <p:cNvSpPr/>
            <p:nvPr/>
          </p:nvSpPr>
          <p:spPr>
            <a:xfrm>
              <a:off x="1219466" y="1799953"/>
              <a:ext cx="52532" cy="5253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3" name="Átomo O_3"/>
            <p:cNvSpPr/>
            <p:nvPr/>
          </p:nvSpPr>
          <p:spPr>
            <a:xfrm>
              <a:off x="1332846" y="1998290"/>
              <a:ext cx="49549" cy="4954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4" name="Flecha 89_2"/>
            <p:cNvSpPr/>
            <p:nvPr/>
          </p:nvSpPr>
          <p:spPr>
            <a:xfrm>
              <a:off x="1276582" y="2023065"/>
              <a:ext cx="81038" cy="16037"/>
            </a:xfrm>
            <a:custGeom>
              <a:avLst/>
              <a:gdLst/>
              <a:ahLst/>
              <a:cxnLst/>
              <a:rect l="0" t="0" r="r" b="b"/>
              <a:pathLst>
                <a:path w="88" h="17" fill="none">
                  <a:moveTo>
                    <a:pt x="88" y="0"/>
                  </a:moveTo>
                  <a:lnTo>
                    <a:pt x="0" y="17"/>
                  </a:lnTo>
                </a:path>
              </a:pathLst>
            </a:custGeom>
            <a:noFill/>
            <a:ln w="19050" cap="rnd">
              <a:solidFill>
                <a:srgbClr val="9A9A9A"/>
              </a:solidFill>
              <a:round/>
            </a:ln>
          </p:spPr>
        </p:sp>
        <p:sp>
          <p:nvSpPr>
            <p:cNvPr id="65" name="Flecha 91_2"/>
            <p:cNvSpPr/>
            <p:nvPr/>
          </p:nvSpPr>
          <p:spPr>
            <a:xfrm>
              <a:off x="1234823" y="1906932"/>
              <a:ext cx="9144" cy="51851"/>
            </a:xfrm>
            <a:custGeom>
              <a:avLst/>
              <a:gdLst/>
              <a:ahLst/>
              <a:cxnLst/>
              <a:rect l="0" t="0" r="r" b="b"/>
              <a:pathLst>
                <a:path w="10" h="56" fill="none">
                  <a:moveTo>
                    <a:pt x="6" y="56"/>
                  </a:moveTo>
                  <a:lnTo>
                    <a:pt x="0" y="0"/>
                  </a:lnTo>
                </a:path>
              </a:pathLst>
            </a:custGeom>
            <a:noFill/>
            <a:ln w="19050" cap="rnd">
              <a:solidFill>
                <a:srgbClr val="9A9A9A"/>
              </a:solidFill>
              <a:round/>
            </a:ln>
          </p:spPr>
        </p:sp>
        <p:sp>
          <p:nvSpPr>
            <p:cNvPr id="66" name="Átomo C_25"/>
            <p:cNvSpPr/>
            <p:nvPr/>
          </p:nvSpPr>
          <p:spPr>
            <a:xfrm>
              <a:off x="1250137" y="2012657"/>
              <a:ext cx="52889" cy="5288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7" name="Flecha 94_2"/>
            <p:cNvSpPr/>
            <p:nvPr/>
          </p:nvSpPr>
          <p:spPr>
            <a:xfrm>
              <a:off x="1250977" y="1794685"/>
              <a:ext cx="9514" cy="33044"/>
            </a:xfrm>
            <a:custGeom>
              <a:avLst/>
              <a:gdLst/>
              <a:ahLst/>
              <a:cxnLst/>
              <a:rect l="0" t="0" r="r" b="b"/>
              <a:pathLst>
                <a:path w="10" h="36" fill="none">
                  <a:moveTo>
                    <a:pt x="0" y="36"/>
                  </a:moveTo>
                  <a:lnTo>
                    <a:pt x="10" y="0"/>
                  </a:lnTo>
                </a:path>
              </a:pathLst>
            </a:custGeom>
            <a:noFill/>
            <a:ln w="15240" cap="rnd">
              <a:solidFill>
                <a:srgbClr val="9A9A9A"/>
              </a:solidFill>
              <a:round/>
            </a:ln>
          </p:spPr>
        </p:sp>
        <p:sp>
          <p:nvSpPr>
            <p:cNvPr id="68" name="Flecha 96_2"/>
            <p:cNvSpPr/>
            <p:nvPr/>
          </p:nvSpPr>
          <p:spPr>
            <a:xfrm>
              <a:off x="1240486" y="1791665"/>
              <a:ext cx="9514" cy="33044"/>
            </a:xfrm>
            <a:custGeom>
              <a:avLst/>
              <a:gdLst/>
              <a:ahLst/>
              <a:cxnLst/>
              <a:rect l="0" t="0" r="r" b="b"/>
              <a:pathLst>
                <a:path w="10" h="36" fill="none">
                  <a:moveTo>
                    <a:pt x="0" y="36"/>
                  </a:moveTo>
                  <a:lnTo>
                    <a:pt x="10" y="0"/>
                  </a:lnTo>
                </a:path>
              </a:pathLst>
            </a:custGeom>
            <a:noFill/>
            <a:ln w="15240" cap="rnd">
              <a:solidFill>
                <a:srgbClr val="9A9A9A"/>
              </a:solidFill>
              <a:round/>
            </a:ln>
          </p:spPr>
        </p:sp>
        <p:sp>
          <p:nvSpPr>
            <p:cNvPr id="69" name="Flecha 98_2"/>
            <p:cNvSpPr/>
            <p:nvPr/>
          </p:nvSpPr>
          <p:spPr>
            <a:xfrm>
              <a:off x="1240323" y="1958783"/>
              <a:ext cx="36259" cy="80319"/>
            </a:xfrm>
            <a:custGeom>
              <a:avLst/>
              <a:gdLst/>
              <a:ahLst/>
              <a:cxnLst/>
              <a:rect l="0" t="0" r="r" b="b"/>
              <a:pathLst>
                <a:path w="39" h="87" fill="none">
                  <a:moveTo>
                    <a:pt x="39" y="87"/>
                  </a:moveTo>
                  <a:lnTo>
                    <a:pt x="0" y="0"/>
                  </a:lnTo>
                </a:path>
              </a:pathLst>
            </a:custGeom>
            <a:noFill/>
            <a:ln w="19050" cap="rnd">
              <a:solidFill>
                <a:srgbClr val="9A9A9A"/>
              </a:solidFill>
              <a:round/>
            </a:ln>
          </p:spPr>
        </p:sp>
        <p:sp>
          <p:nvSpPr>
            <p:cNvPr id="70" name="Átomo O_4"/>
            <p:cNvSpPr/>
            <p:nvPr/>
          </p:nvSpPr>
          <p:spPr>
            <a:xfrm>
              <a:off x="1033512" y="1824999"/>
              <a:ext cx="50053" cy="5005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1" name="Átomo C_26"/>
            <p:cNvSpPr/>
            <p:nvPr/>
          </p:nvSpPr>
          <p:spPr>
            <a:xfrm>
              <a:off x="1213702" y="1932161"/>
              <a:ext cx="53243" cy="532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2" name="Átomo O_5"/>
            <p:cNvSpPr/>
            <p:nvPr/>
          </p:nvSpPr>
          <p:spPr>
            <a:xfrm>
              <a:off x="1230108" y="1768038"/>
              <a:ext cx="50274" cy="5027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3" name="Átomo C_27"/>
            <p:cNvSpPr/>
            <p:nvPr/>
          </p:nvSpPr>
          <p:spPr>
            <a:xfrm>
              <a:off x="673189" y="2089927"/>
              <a:ext cx="53422" cy="5342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4" name="Flecha 104_2"/>
            <p:cNvSpPr/>
            <p:nvPr/>
          </p:nvSpPr>
          <p:spPr>
            <a:xfrm>
              <a:off x="688597" y="2025229"/>
              <a:ext cx="11302" cy="91409"/>
            </a:xfrm>
            <a:custGeom>
              <a:avLst/>
              <a:gdLst/>
              <a:ahLst/>
              <a:cxnLst/>
              <a:rect l="0" t="0" r="r" b="b"/>
              <a:pathLst>
                <a:path w="12" h="99" fill="none">
                  <a:moveTo>
                    <a:pt x="0" y="0"/>
                  </a:moveTo>
                  <a:lnTo>
                    <a:pt x="12" y="99"/>
                  </a:lnTo>
                </a:path>
              </a:pathLst>
            </a:custGeom>
            <a:noFill/>
            <a:ln w="19050" cap="rnd">
              <a:solidFill>
                <a:srgbClr val="9A9A9A"/>
              </a:solidFill>
              <a:round/>
            </a:ln>
          </p:spPr>
        </p:sp>
        <p:sp>
          <p:nvSpPr>
            <p:cNvPr id="75" name="Flecha 106_2"/>
            <p:cNvSpPr/>
            <p:nvPr/>
          </p:nvSpPr>
          <p:spPr>
            <a:xfrm>
              <a:off x="1156228" y="1958783"/>
              <a:ext cx="84095" cy="14192"/>
            </a:xfrm>
            <a:custGeom>
              <a:avLst/>
              <a:gdLst/>
              <a:ahLst/>
              <a:cxnLst/>
              <a:rect l="0" t="0" r="r" b="b"/>
              <a:pathLst>
                <a:path w="91" h="15" fill="none">
                  <a:moveTo>
                    <a:pt x="91" y="0"/>
                  </a:moveTo>
                  <a:lnTo>
                    <a:pt x="0" y="15"/>
                  </a:lnTo>
                </a:path>
              </a:pathLst>
            </a:custGeom>
            <a:noFill/>
            <a:ln w="19050" cap="rnd">
              <a:solidFill>
                <a:srgbClr val="9A9A9A"/>
              </a:solidFill>
              <a:round/>
            </a:ln>
          </p:spPr>
        </p:sp>
        <p:sp>
          <p:nvSpPr>
            <p:cNvPr id="76" name="Átomo C_28"/>
            <p:cNvSpPr/>
            <p:nvPr/>
          </p:nvSpPr>
          <p:spPr>
            <a:xfrm>
              <a:off x="661864" y="1998495"/>
              <a:ext cx="53468" cy="5346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7" name="Flecha 109_2"/>
            <p:cNvSpPr/>
            <p:nvPr/>
          </p:nvSpPr>
          <p:spPr>
            <a:xfrm>
              <a:off x="1058124" y="1842473"/>
              <a:ext cx="27685" cy="9144"/>
            </a:xfrm>
            <a:custGeom>
              <a:avLst/>
              <a:gdLst/>
              <a:ahLst/>
              <a:cxnLst/>
              <a:rect l="0" t="0" r="r" b="b"/>
              <a:pathLst>
                <a:path w="30" h="10" fill="none">
                  <a:moveTo>
                    <a:pt x="30" y="0"/>
                  </a:moveTo>
                  <a:lnTo>
                    <a:pt x="0" y="2"/>
                  </a:lnTo>
                </a:path>
              </a:pathLst>
            </a:custGeom>
            <a:noFill/>
            <a:ln w="15240" cap="rnd">
              <a:solidFill>
                <a:srgbClr val="9A9A9A"/>
              </a:solidFill>
              <a:round/>
            </a:ln>
          </p:spPr>
        </p:sp>
        <p:sp>
          <p:nvSpPr>
            <p:cNvPr id="78" name="Flecha 111_2"/>
            <p:cNvSpPr/>
            <p:nvPr/>
          </p:nvSpPr>
          <p:spPr>
            <a:xfrm>
              <a:off x="1058953" y="1853358"/>
              <a:ext cx="27685" cy="9144"/>
            </a:xfrm>
            <a:custGeom>
              <a:avLst/>
              <a:gdLst/>
              <a:ahLst/>
              <a:cxnLst/>
              <a:rect l="0" t="0" r="r" b="b"/>
              <a:pathLst>
                <a:path w="30" h="10" fill="none">
                  <a:moveTo>
                    <a:pt x="30" y="0"/>
                  </a:moveTo>
                  <a:lnTo>
                    <a:pt x="0" y="2"/>
                  </a:lnTo>
                </a:path>
              </a:pathLst>
            </a:custGeom>
            <a:noFill/>
            <a:ln w="15240" cap="rnd">
              <a:solidFill>
                <a:srgbClr val="9A9A9A"/>
              </a:solidFill>
              <a:round/>
            </a:ln>
          </p:spPr>
        </p:sp>
        <p:sp>
          <p:nvSpPr>
            <p:cNvPr id="79" name="Átomo C_29"/>
            <p:cNvSpPr/>
            <p:nvPr/>
          </p:nvSpPr>
          <p:spPr>
            <a:xfrm>
              <a:off x="1129383" y="1946130"/>
              <a:ext cx="53689" cy="5368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0" name="Átomo C_30"/>
            <p:cNvSpPr/>
            <p:nvPr/>
          </p:nvSpPr>
          <p:spPr>
            <a:xfrm>
              <a:off x="1059268" y="1820960"/>
              <a:ext cx="53912" cy="5391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1" name="Flecha 115_2"/>
            <p:cNvSpPr/>
            <p:nvPr/>
          </p:nvSpPr>
          <p:spPr>
            <a:xfrm>
              <a:off x="688597" y="1990921"/>
              <a:ext cx="27146" cy="34308"/>
            </a:xfrm>
            <a:custGeom>
              <a:avLst/>
              <a:gdLst/>
              <a:ahLst/>
              <a:cxnLst/>
              <a:rect l="0" t="0" r="r" b="b"/>
              <a:pathLst>
                <a:path w="29" h="37" fill="none">
                  <a:moveTo>
                    <a:pt x="29" y="0"/>
                  </a:moveTo>
                  <a:lnTo>
                    <a:pt x="0" y="37"/>
                  </a:lnTo>
                </a:path>
              </a:pathLst>
            </a:custGeom>
            <a:noFill/>
            <a:ln w="19050" cap="rnd">
              <a:solidFill>
                <a:srgbClr val="9A9A9A"/>
              </a:solidFill>
              <a:round/>
            </a:ln>
          </p:spPr>
        </p:sp>
        <p:sp>
          <p:nvSpPr>
            <p:cNvPr id="82" name="Flecha 117_2"/>
            <p:cNvSpPr/>
            <p:nvPr/>
          </p:nvSpPr>
          <p:spPr>
            <a:xfrm>
              <a:off x="1133814" y="1906546"/>
              <a:ext cx="22414" cy="66429"/>
            </a:xfrm>
            <a:custGeom>
              <a:avLst/>
              <a:gdLst/>
              <a:ahLst/>
              <a:cxnLst/>
              <a:rect l="0" t="0" r="r" b="b"/>
              <a:pathLst>
                <a:path w="24" h="72" fill="none">
                  <a:moveTo>
                    <a:pt x="24" y="72"/>
                  </a:moveTo>
                  <a:lnTo>
                    <a:pt x="0" y="0"/>
                  </a:lnTo>
                </a:path>
              </a:pathLst>
            </a:custGeom>
            <a:noFill/>
            <a:ln w="19050" cap="rnd">
              <a:solidFill>
                <a:srgbClr val="9A9A9A"/>
              </a:solidFill>
              <a:round/>
            </a:ln>
          </p:spPr>
        </p:sp>
        <p:sp>
          <p:nvSpPr>
            <p:cNvPr id="83" name="Átomo C_31"/>
            <p:cNvSpPr/>
            <p:nvPr/>
          </p:nvSpPr>
          <p:spPr>
            <a:xfrm>
              <a:off x="906444" y="1703172"/>
              <a:ext cx="54024" cy="540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4" name="Flecha 120_2"/>
            <p:cNvSpPr/>
            <p:nvPr/>
          </p:nvSpPr>
          <p:spPr>
            <a:xfrm>
              <a:off x="1086223" y="1847916"/>
              <a:ext cx="47591" cy="58630"/>
            </a:xfrm>
            <a:custGeom>
              <a:avLst/>
              <a:gdLst/>
              <a:ahLst/>
              <a:cxnLst/>
              <a:rect l="0" t="0" r="r" b="b"/>
              <a:pathLst>
                <a:path w="52" h="64" fill="none">
                  <a:moveTo>
                    <a:pt x="52" y="64"/>
                  </a:moveTo>
                  <a:lnTo>
                    <a:pt x="0" y="0"/>
                  </a:lnTo>
                </a:path>
              </a:pathLst>
            </a:custGeom>
            <a:noFill/>
            <a:ln w="19050" cap="rnd">
              <a:solidFill>
                <a:srgbClr val="9A9A9A"/>
              </a:solidFill>
              <a:round/>
            </a:ln>
          </p:spPr>
        </p:sp>
        <p:sp>
          <p:nvSpPr>
            <p:cNvPr id="85" name="Flecha 122_2"/>
            <p:cNvSpPr/>
            <p:nvPr/>
          </p:nvSpPr>
          <p:spPr>
            <a:xfrm>
              <a:off x="933456" y="1710506"/>
              <a:ext cx="88710" cy="19679"/>
            </a:xfrm>
            <a:custGeom>
              <a:avLst/>
              <a:gdLst/>
              <a:ahLst/>
              <a:cxnLst/>
              <a:rect l="0" t="0" r="r" b="b"/>
              <a:pathLst>
                <a:path w="97" h="21" fill="none">
                  <a:moveTo>
                    <a:pt x="97" y="0"/>
                  </a:moveTo>
                  <a:lnTo>
                    <a:pt x="0" y="21"/>
                  </a:lnTo>
                </a:path>
              </a:pathLst>
            </a:custGeom>
            <a:noFill/>
            <a:ln w="19050" cap="rnd">
              <a:solidFill>
                <a:srgbClr val="9A9A9A"/>
              </a:solidFill>
              <a:round/>
            </a:ln>
          </p:spPr>
        </p:sp>
        <p:sp>
          <p:nvSpPr>
            <p:cNvPr id="86" name="Átomo C_32"/>
            <p:cNvSpPr/>
            <p:nvPr/>
          </p:nvSpPr>
          <p:spPr>
            <a:xfrm>
              <a:off x="995037" y="1683376"/>
              <a:ext cx="54258" cy="5425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7" name="Flecha 125_2"/>
            <p:cNvSpPr/>
            <p:nvPr/>
          </p:nvSpPr>
          <p:spPr>
            <a:xfrm>
              <a:off x="1074872" y="1779922"/>
              <a:ext cx="11351" cy="67994"/>
            </a:xfrm>
            <a:custGeom>
              <a:avLst/>
              <a:gdLst/>
              <a:ahLst/>
              <a:cxnLst/>
              <a:rect l="0" t="0" r="r" b="b"/>
              <a:pathLst>
                <a:path w="12" h="74" fill="none">
                  <a:moveTo>
                    <a:pt x="12" y="74"/>
                  </a:moveTo>
                  <a:lnTo>
                    <a:pt x="0" y="0"/>
                  </a:lnTo>
                </a:path>
              </a:pathLst>
            </a:custGeom>
            <a:noFill/>
            <a:ln w="19050" cap="rnd">
              <a:solidFill>
                <a:srgbClr val="9A9A9A"/>
              </a:solidFill>
              <a:round/>
            </a:ln>
          </p:spPr>
        </p:sp>
        <p:sp>
          <p:nvSpPr>
            <p:cNvPr id="88" name="Átomo O_6"/>
            <p:cNvSpPr/>
            <p:nvPr/>
          </p:nvSpPr>
          <p:spPr>
            <a:xfrm>
              <a:off x="1108209" y="1880941"/>
              <a:ext cx="51210" cy="5121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89" name="Flecha 128_2"/>
            <p:cNvSpPr/>
            <p:nvPr/>
          </p:nvSpPr>
          <p:spPr>
            <a:xfrm>
              <a:off x="1022166" y="1710506"/>
              <a:ext cx="52705" cy="69416"/>
            </a:xfrm>
            <a:custGeom>
              <a:avLst/>
              <a:gdLst/>
              <a:ahLst/>
              <a:cxnLst/>
              <a:rect l="0" t="0" r="r" b="b"/>
              <a:pathLst>
                <a:path w="57" h="75" fill="none">
                  <a:moveTo>
                    <a:pt x="57" y="75"/>
                  </a:moveTo>
                  <a:lnTo>
                    <a:pt x="0" y="0"/>
                  </a:lnTo>
                </a:path>
              </a:pathLst>
            </a:custGeom>
            <a:noFill/>
            <a:ln w="19050" cap="rnd">
              <a:solidFill>
                <a:srgbClr val="9A9A9A"/>
              </a:solidFill>
              <a:round/>
            </a:ln>
          </p:spPr>
        </p:sp>
        <p:sp>
          <p:nvSpPr>
            <p:cNvPr id="90" name="Flecha 130_2"/>
            <p:cNvSpPr/>
            <p:nvPr/>
          </p:nvSpPr>
          <p:spPr>
            <a:xfrm>
              <a:off x="880507" y="1730184"/>
              <a:ext cx="52950" cy="25746"/>
            </a:xfrm>
            <a:custGeom>
              <a:avLst/>
              <a:gdLst/>
              <a:ahLst/>
              <a:cxnLst/>
              <a:rect l="0" t="0" r="r" b="b"/>
              <a:pathLst>
                <a:path w="57" h="28" fill="none">
                  <a:moveTo>
                    <a:pt x="57" y="0"/>
                  </a:moveTo>
                  <a:lnTo>
                    <a:pt x="0" y="28"/>
                  </a:lnTo>
                </a:path>
              </a:pathLst>
            </a:custGeom>
            <a:noFill/>
            <a:ln w="19050" cap="rnd">
              <a:solidFill>
                <a:srgbClr val="9A9A9A"/>
              </a:solidFill>
              <a:round/>
            </a:ln>
          </p:spPr>
        </p:sp>
        <p:sp>
          <p:nvSpPr>
            <p:cNvPr id="91" name="Átomo C_33"/>
            <p:cNvSpPr/>
            <p:nvPr/>
          </p:nvSpPr>
          <p:spPr>
            <a:xfrm>
              <a:off x="688518" y="1963695"/>
              <a:ext cx="54451" cy="544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2" name="Flecha 133_2"/>
            <p:cNvSpPr/>
            <p:nvPr/>
          </p:nvSpPr>
          <p:spPr>
            <a:xfrm>
              <a:off x="703842" y="1898966"/>
              <a:ext cx="11902" cy="91955"/>
            </a:xfrm>
            <a:custGeom>
              <a:avLst/>
              <a:gdLst/>
              <a:ahLst/>
              <a:cxnLst/>
              <a:rect l="0" t="0" r="r" b="b"/>
              <a:pathLst>
                <a:path w="13" h="100" fill="none">
                  <a:moveTo>
                    <a:pt x="0" y="0"/>
                  </a:moveTo>
                  <a:lnTo>
                    <a:pt x="13" y="100"/>
                  </a:lnTo>
                </a:path>
              </a:pathLst>
            </a:custGeom>
            <a:noFill/>
            <a:ln w="19050" cap="rnd">
              <a:solidFill>
                <a:srgbClr val="9A9A9A"/>
              </a:solidFill>
              <a:round/>
            </a:ln>
          </p:spPr>
        </p:sp>
        <p:sp>
          <p:nvSpPr>
            <p:cNvPr id="93" name="Átomo C_34"/>
            <p:cNvSpPr/>
            <p:nvPr/>
          </p:nvSpPr>
          <p:spPr>
            <a:xfrm>
              <a:off x="676593" y="1871717"/>
              <a:ext cx="54497" cy="5449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4" name="Átomo C_35"/>
            <p:cNvSpPr/>
            <p:nvPr/>
          </p:nvSpPr>
          <p:spPr>
            <a:xfrm>
              <a:off x="1047554" y="1752604"/>
              <a:ext cx="54636" cy="5463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5" name="Átomo C_36"/>
            <p:cNvSpPr/>
            <p:nvPr/>
          </p:nvSpPr>
          <p:spPr>
            <a:xfrm>
              <a:off x="853063" y="1728487"/>
              <a:ext cx="54887" cy="5488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6" name="Flecha 138_2"/>
            <p:cNvSpPr/>
            <p:nvPr/>
          </p:nvSpPr>
          <p:spPr>
            <a:xfrm>
              <a:off x="879701" y="1755930"/>
              <a:ext cx="9144" cy="91774"/>
            </a:xfrm>
            <a:custGeom>
              <a:avLst/>
              <a:gdLst/>
              <a:ahLst/>
              <a:cxnLst/>
              <a:rect l="0" t="0" r="r" b="b"/>
              <a:pathLst>
                <a:path w="10" h="100" fill="none">
                  <a:moveTo>
                    <a:pt x="0" y="0"/>
                  </a:moveTo>
                  <a:lnTo>
                    <a:pt x="0" y="100"/>
                  </a:lnTo>
                </a:path>
              </a:pathLst>
            </a:custGeom>
            <a:noFill/>
            <a:ln w="19050" cap="rnd">
              <a:solidFill>
                <a:srgbClr val="9A9A9A"/>
              </a:solidFill>
              <a:round/>
            </a:ln>
          </p:spPr>
        </p:sp>
        <p:sp>
          <p:nvSpPr>
            <p:cNvPr id="97" name="Flecha 140_2"/>
            <p:cNvSpPr/>
            <p:nvPr/>
          </p:nvSpPr>
          <p:spPr>
            <a:xfrm>
              <a:off x="703842" y="1861853"/>
              <a:ext cx="23058" cy="37113"/>
            </a:xfrm>
            <a:custGeom>
              <a:avLst/>
              <a:gdLst/>
              <a:ahLst/>
              <a:cxnLst/>
              <a:rect l="0" t="0" r="r" b="b"/>
              <a:pathLst>
                <a:path w="25" h="40" fill="none">
                  <a:moveTo>
                    <a:pt x="25" y="0"/>
                  </a:moveTo>
                  <a:lnTo>
                    <a:pt x="0" y="40"/>
                  </a:lnTo>
                </a:path>
              </a:pathLst>
            </a:custGeom>
            <a:noFill/>
            <a:ln w="19050" cap="rnd">
              <a:solidFill>
                <a:srgbClr val="9A9A9A"/>
              </a:solidFill>
              <a:round/>
            </a:ln>
          </p:spPr>
        </p:sp>
        <p:sp>
          <p:nvSpPr>
            <p:cNvPr id="98" name="Átomo C_37"/>
            <p:cNvSpPr/>
            <p:nvPr/>
          </p:nvSpPr>
          <p:spPr>
            <a:xfrm>
              <a:off x="852170" y="1820173"/>
              <a:ext cx="55062" cy="550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9" name="Flecha 143_2"/>
            <p:cNvSpPr/>
            <p:nvPr/>
          </p:nvSpPr>
          <p:spPr>
            <a:xfrm>
              <a:off x="815242" y="1847704"/>
              <a:ext cx="64460" cy="26679"/>
            </a:xfrm>
            <a:custGeom>
              <a:avLst/>
              <a:gdLst/>
              <a:ahLst/>
              <a:cxnLst/>
              <a:rect l="0" t="0" r="r" b="b"/>
              <a:pathLst>
                <a:path w="70" h="29" fill="none">
                  <a:moveTo>
                    <a:pt x="70" y="0"/>
                  </a:moveTo>
                  <a:lnTo>
                    <a:pt x="0" y="29"/>
                  </a:lnTo>
                </a:path>
              </a:pathLst>
            </a:custGeom>
            <a:noFill/>
            <a:ln w="19050" cap="rnd">
              <a:solidFill>
                <a:srgbClr val="9A9A9A"/>
              </a:solidFill>
              <a:round/>
            </a:ln>
          </p:spPr>
        </p:sp>
        <p:sp>
          <p:nvSpPr>
            <p:cNvPr id="100" name="Átomo C_38"/>
            <p:cNvSpPr/>
            <p:nvPr/>
          </p:nvSpPr>
          <p:spPr>
            <a:xfrm>
              <a:off x="699158" y="1834111"/>
              <a:ext cx="55484" cy="5548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1" name="Flecha 146_2"/>
            <p:cNvSpPr/>
            <p:nvPr/>
          </p:nvSpPr>
          <p:spPr>
            <a:xfrm>
              <a:off x="726900" y="1861853"/>
              <a:ext cx="88341" cy="12530"/>
            </a:xfrm>
            <a:custGeom>
              <a:avLst/>
              <a:gdLst/>
              <a:ahLst/>
              <a:cxnLst/>
              <a:rect l="0" t="0" r="r" b="b"/>
              <a:pathLst>
                <a:path w="96" h="13" fill="none">
                  <a:moveTo>
                    <a:pt x="96" y="13"/>
                  </a:moveTo>
                  <a:lnTo>
                    <a:pt x="0" y="0"/>
                  </a:lnTo>
                </a:path>
              </a:pathLst>
            </a:custGeom>
            <a:noFill/>
            <a:ln w="19050" cap="rnd">
              <a:solidFill>
                <a:srgbClr val="9A9A9A"/>
              </a:solidFill>
              <a:round/>
            </a:ln>
          </p:spPr>
        </p:sp>
        <p:sp>
          <p:nvSpPr>
            <p:cNvPr id="102" name="Átomo C_39"/>
            <p:cNvSpPr/>
            <p:nvPr/>
          </p:nvSpPr>
          <p:spPr>
            <a:xfrm>
              <a:off x="787342" y="1846483"/>
              <a:ext cx="55800" cy="558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grpSp>
        <p:nvGrpSpPr>
          <p:cNvPr id="103" name="TAG dieta 1"/>
          <p:cNvGrpSpPr/>
          <p:nvPr/>
        </p:nvGrpSpPr>
        <p:grpSpPr>
          <a:xfrm>
            <a:off x="2120755" y="1574540"/>
            <a:ext cx="1151856" cy="550980"/>
            <a:chOff x="2120755" y="1574540"/>
            <a:chExt cx="1151856" cy="550980"/>
          </a:xfrm>
        </p:grpSpPr>
        <p:sp>
          <p:nvSpPr>
            <p:cNvPr id="104" name="Átomo C_40"/>
            <p:cNvSpPr/>
            <p:nvPr/>
          </p:nvSpPr>
          <p:spPr>
            <a:xfrm>
              <a:off x="3152210" y="1882441"/>
              <a:ext cx="42324" cy="423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5" name="Flecha 151_2"/>
            <p:cNvSpPr/>
            <p:nvPr/>
          </p:nvSpPr>
          <p:spPr>
            <a:xfrm>
              <a:off x="3168360" y="1903603"/>
              <a:ext cx="9144" cy="78401"/>
            </a:xfrm>
            <a:custGeom>
              <a:avLst/>
              <a:gdLst/>
              <a:ahLst/>
              <a:cxnLst/>
              <a:rect l="0" t="0" r="r" b="b"/>
              <a:pathLst>
                <a:path w="10" h="85" fill="none">
                  <a:moveTo>
                    <a:pt x="5" y="0"/>
                  </a:moveTo>
                  <a:lnTo>
                    <a:pt x="0" y="85"/>
                  </a:lnTo>
                </a:path>
              </a:pathLst>
            </a:custGeom>
            <a:noFill/>
            <a:ln w="19050" cap="rnd">
              <a:solidFill>
                <a:srgbClr val="9A9A9A"/>
              </a:solidFill>
              <a:round/>
            </a:ln>
          </p:spPr>
        </p:sp>
        <p:sp>
          <p:nvSpPr>
            <p:cNvPr id="106" name="Átomo C_41"/>
            <p:cNvSpPr/>
            <p:nvPr/>
          </p:nvSpPr>
          <p:spPr>
            <a:xfrm>
              <a:off x="3147163" y="1960807"/>
              <a:ext cx="42395" cy="4239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7" name="Flecha 154_2"/>
            <p:cNvSpPr/>
            <p:nvPr/>
          </p:nvSpPr>
          <p:spPr>
            <a:xfrm>
              <a:off x="3173373" y="1867665"/>
              <a:ext cx="9144" cy="35938"/>
            </a:xfrm>
            <a:custGeom>
              <a:avLst/>
              <a:gdLst/>
              <a:ahLst/>
              <a:cxnLst/>
              <a:rect l="0" t="0" r="r" b="b"/>
              <a:pathLst>
                <a:path w="10" h="39" fill="none">
                  <a:moveTo>
                    <a:pt x="2" y="0"/>
                  </a:moveTo>
                  <a:lnTo>
                    <a:pt x="0" y="39"/>
                  </a:lnTo>
                </a:path>
              </a:pathLst>
            </a:custGeom>
            <a:noFill/>
            <a:ln w="19050" cap="rnd">
              <a:solidFill>
                <a:srgbClr val="9A9A9A"/>
              </a:solidFill>
              <a:round/>
            </a:ln>
          </p:spPr>
        </p:sp>
        <p:sp>
          <p:nvSpPr>
            <p:cNvPr id="108" name="Átomo C_42"/>
            <p:cNvSpPr/>
            <p:nvPr/>
          </p:nvSpPr>
          <p:spPr>
            <a:xfrm>
              <a:off x="3160691" y="1767518"/>
              <a:ext cx="42900" cy="429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9" name="Flecha 157_2"/>
            <p:cNvSpPr/>
            <p:nvPr/>
          </p:nvSpPr>
          <p:spPr>
            <a:xfrm>
              <a:off x="3176036" y="1788968"/>
              <a:ext cx="9144" cy="78697"/>
            </a:xfrm>
            <a:custGeom>
              <a:avLst/>
              <a:gdLst/>
              <a:ahLst/>
              <a:cxnLst/>
              <a:rect l="0" t="0" r="r" b="b"/>
              <a:pathLst>
                <a:path w="10" h="86" fill="none">
                  <a:moveTo>
                    <a:pt x="6" y="0"/>
                  </a:moveTo>
                  <a:lnTo>
                    <a:pt x="0" y="86"/>
                  </a:lnTo>
                </a:path>
              </a:pathLst>
            </a:custGeom>
            <a:noFill/>
            <a:ln w="19050" cap="rnd">
              <a:solidFill>
                <a:srgbClr val="9A9A9A"/>
              </a:solidFill>
              <a:round/>
            </a:ln>
          </p:spPr>
        </p:sp>
        <p:sp>
          <p:nvSpPr>
            <p:cNvPr id="110" name="Átomo C_43"/>
            <p:cNvSpPr/>
            <p:nvPr/>
          </p:nvSpPr>
          <p:spPr>
            <a:xfrm>
              <a:off x="3154548" y="1846177"/>
              <a:ext cx="42976" cy="4297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1" name="Flecha 160_2"/>
            <p:cNvSpPr/>
            <p:nvPr/>
          </p:nvSpPr>
          <p:spPr>
            <a:xfrm>
              <a:off x="3180798" y="1749570"/>
              <a:ext cx="9144" cy="39398"/>
            </a:xfrm>
            <a:custGeom>
              <a:avLst/>
              <a:gdLst/>
              <a:ahLst/>
              <a:cxnLst/>
              <a:rect l="0" t="0" r="r" b="b"/>
              <a:pathLst>
                <a:path w="10" h="43" fill="none">
                  <a:moveTo>
                    <a:pt x="0" y="0"/>
                  </a:moveTo>
                  <a:lnTo>
                    <a:pt x="1" y="43"/>
                  </a:lnTo>
                </a:path>
              </a:pathLst>
            </a:custGeom>
            <a:noFill/>
            <a:ln w="19050" cap="rnd">
              <a:solidFill>
                <a:srgbClr val="9A9A9A"/>
              </a:solidFill>
              <a:round/>
            </a:ln>
          </p:spPr>
        </p:sp>
        <p:sp>
          <p:nvSpPr>
            <p:cNvPr id="112" name="Átomo C_44"/>
            <p:cNvSpPr/>
            <p:nvPr/>
          </p:nvSpPr>
          <p:spPr>
            <a:xfrm>
              <a:off x="3159030" y="1727802"/>
              <a:ext cx="43536" cy="4353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3" name="Átomo C_45"/>
            <p:cNvSpPr/>
            <p:nvPr/>
          </p:nvSpPr>
          <p:spPr>
            <a:xfrm>
              <a:off x="2666636" y="1779948"/>
              <a:ext cx="43738" cy="4373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4" name="Flecha 164_2"/>
            <p:cNvSpPr/>
            <p:nvPr/>
          </p:nvSpPr>
          <p:spPr>
            <a:xfrm>
              <a:off x="3180798" y="1749570"/>
              <a:ext cx="61882" cy="16223"/>
            </a:xfrm>
            <a:custGeom>
              <a:avLst/>
              <a:gdLst/>
              <a:ahLst/>
              <a:cxnLst/>
              <a:rect l="0" t="0" r="r" b="b"/>
              <a:pathLst>
                <a:path w="67" h="17" fill="none">
                  <a:moveTo>
                    <a:pt x="67" y="17"/>
                  </a:moveTo>
                  <a:lnTo>
                    <a:pt x="0" y="0"/>
                  </a:lnTo>
                </a:path>
              </a:pathLst>
            </a:custGeom>
            <a:noFill/>
            <a:ln w="19050" cap="rnd">
              <a:solidFill>
                <a:srgbClr val="9A9A9A"/>
              </a:solidFill>
              <a:round/>
            </a:ln>
          </p:spPr>
        </p:sp>
        <p:sp>
          <p:nvSpPr>
            <p:cNvPr id="115" name="Flecha 166_2"/>
            <p:cNvSpPr/>
            <p:nvPr/>
          </p:nvSpPr>
          <p:spPr>
            <a:xfrm>
              <a:off x="2613547" y="1801818"/>
              <a:ext cx="74959" cy="24469"/>
            </a:xfrm>
            <a:custGeom>
              <a:avLst/>
              <a:gdLst/>
              <a:ahLst/>
              <a:cxnLst/>
              <a:rect l="0" t="0" r="r" b="b"/>
              <a:pathLst>
                <a:path w="81" h="26" fill="none">
                  <a:moveTo>
                    <a:pt x="81" y="0"/>
                  </a:moveTo>
                  <a:lnTo>
                    <a:pt x="0" y="26"/>
                  </a:lnTo>
                </a:path>
              </a:pathLst>
            </a:custGeom>
            <a:noFill/>
            <a:ln w="19050" cap="rnd">
              <a:solidFill>
                <a:srgbClr val="9A9A9A"/>
              </a:solidFill>
              <a:round/>
            </a:ln>
          </p:spPr>
        </p:sp>
        <p:sp>
          <p:nvSpPr>
            <p:cNvPr id="116" name="Átomo C_46"/>
            <p:cNvSpPr/>
            <p:nvPr/>
          </p:nvSpPr>
          <p:spPr>
            <a:xfrm>
              <a:off x="2591635" y="1804375"/>
              <a:ext cx="43823" cy="4382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7" name="Flecha 169_2"/>
            <p:cNvSpPr/>
            <p:nvPr/>
          </p:nvSpPr>
          <p:spPr>
            <a:xfrm>
              <a:off x="2604755" y="1826287"/>
              <a:ext cx="9144" cy="78110"/>
            </a:xfrm>
            <a:custGeom>
              <a:avLst/>
              <a:gdLst/>
              <a:ahLst/>
              <a:cxnLst/>
              <a:rect l="0" t="0" r="r" b="b"/>
              <a:pathLst>
                <a:path w="10" h="85" fill="none">
                  <a:moveTo>
                    <a:pt x="9" y="0"/>
                  </a:moveTo>
                  <a:lnTo>
                    <a:pt x="0" y="85"/>
                  </a:lnTo>
                </a:path>
              </a:pathLst>
            </a:custGeom>
            <a:noFill/>
            <a:ln w="19050" cap="rnd">
              <a:solidFill>
                <a:srgbClr val="9A9A9A"/>
              </a:solidFill>
              <a:round/>
            </a:ln>
          </p:spPr>
        </p:sp>
        <p:sp>
          <p:nvSpPr>
            <p:cNvPr id="118" name="Átomo C_47"/>
            <p:cNvSpPr/>
            <p:nvPr/>
          </p:nvSpPr>
          <p:spPr>
            <a:xfrm>
              <a:off x="2582785" y="1882428"/>
              <a:ext cx="43938" cy="4393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9" name="Átomo C_48"/>
            <p:cNvSpPr/>
            <p:nvPr/>
          </p:nvSpPr>
          <p:spPr>
            <a:xfrm>
              <a:off x="3220696" y="1743809"/>
              <a:ext cx="43969" cy="439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0" name="Flecha 173_2"/>
            <p:cNvSpPr/>
            <p:nvPr/>
          </p:nvSpPr>
          <p:spPr>
            <a:xfrm>
              <a:off x="2688505" y="1775831"/>
              <a:ext cx="33513" cy="25986"/>
            </a:xfrm>
            <a:custGeom>
              <a:avLst/>
              <a:gdLst/>
              <a:ahLst/>
              <a:cxnLst/>
              <a:rect l="0" t="0" r="r" b="b"/>
              <a:pathLst>
                <a:path w="36" h="28" fill="none">
                  <a:moveTo>
                    <a:pt x="36" y="0"/>
                  </a:moveTo>
                  <a:lnTo>
                    <a:pt x="0" y="28"/>
                  </a:lnTo>
                </a:path>
              </a:pathLst>
            </a:custGeom>
            <a:noFill/>
            <a:ln w="19050" cap="rnd">
              <a:solidFill>
                <a:srgbClr val="9A9A9A"/>
              </a:solidFill>
              <a:round/>
            </a:ln>
          </p:spPr>
        </p:sp>
        <p:sp>
          <p:nvSpPr>
            <p:cNvPr id="121" name="Átomo C_49"/>
            <p:cNvSpPr/>
            <p:nvPr/>
          </p:nvSpPr>
          <p:spPr>
            <a:xfrm>
              <a:off x="2772835" y="1725504"/>
              <a:ext cx="44234" cy="4423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2" name="Flecha 176_2"/>
            <p:cNvSpPr/>
            <p:nvPr/>
          </p:nvSpPr>
          <p:spPr>
            <a:xfrm>
              <a:off x="2604755" y="1904397"/>
              <a:ext cx="30217" cy="29029"/>
            </a:xfrm>
            <a:custGeom>
              <a:avLst/>
              <a:gdLst/>
              <a:ahLst/>
              <a:cxnLst/>
              <a:rect l="0" t="0" r="r" b="b"/>
              <a:pathLst>
                <a:path w="33" h="31" fill="none">
                  <a:moveTo>
                    <a:pt x="0" y="0"/>
                  </a:moveTo>
                  <a:lnTo>
                    <a:pt x="33" y="31"/>
                  </a:lnTo>
                </a:path>
              </a:pathLst>
            </a:custGeom>
            <a:noFill/>
            <a:ln w="19050" cap="rnd">
              <a:solidFill>
                <a:srgbClr val="9A9A9A"/>
              </a:solidFill>
              <a:round/>
            </a:ln>
          </p:spPr>
        </p:sp>
        <p:sp>
          <p:nvSpPr>
            <p:cNvPr id="123" name="Flecha 178_2"/>
            <p:cNvSpPr/>
            <p:nvPr/>
          </p:nvSpPr>
          <p:spPr>
            <a:xfrm>
              <a:off x="3242681" y="1716358"/>
              <a:ext cx="9144" cy="49435"/>
            </a:xfrm>
            <a:custGeom>
              <a:avLst/>
              <a:gdLst/>
              <a:ahLst/>
              <a:cxnLst/>
              <a:rect l="0" t="0" r="r" b="b"/>
              <a:pathLst>
                <a:path w="10" h="54" fill="none">
                  <a:moveTo>
                    <a:pt x="8" y="0"/>
                  </a:moveTo>
                  <a:lnTo>
                    <a:pt x="0" y="54"/>
                  </a:lnTo>
                </a:path>
              </a:pathLst>
            </a:custGeom>
            <a:noFill/>
            <a:ln w="19050" cap="rnd">
              <a:solidFill>
                <a:srgbClr val="9A9A9A"/>
              </a:solidFill>
              <a:round/>
            </a:ln>
          </p:spPr>
        </p:sp>
        <p:sp>
          <p:nvSpPr>
            <p:cNvPr id="124" name="Flecha 180_2"/>
            <p:cNvSpPr/>
            <p:nvPr/>
          </p:nvSpPr>
          <p:spPr>
            <a:xfrm>
              <a:off x="2722019" y="1747621"/>
              <a:ext cx="72934" cy="28210"/>
            </a:xfrm>
            <a:custGeom>
              <a:avLst/>
              <a:gdLst/>
              <a:ahLst/>
              <a:cxnLst/>
              <a:rect l="0" t="0" r="r" b="b"/>
              <a:pathLst>
                <a:path w="79" h="30" fill="none">
                  <a:moveTo>
                    <a:pt x="79" y="0"/>
                  </a:moveTo>
                  <a:lnTo>
                    <a:pt x="0" y="30"/>
                  </a:lnTo>
                </a:path>
              </a:pathLst>
            </a:custGeom>
            <a:noFill/>
            <a:ln w="19050" cap="rnd">
              <a:solidFill>
                <a:srgbClr val="9A9A9A"/>
              </a:solidFill>
              <a:round/>
            </a:ln>
          </p:spPr>
        </p:sp>
        <p:sp>
          <p:nvSpPr>
            <p:cNvPr id="125" name="Átomo C_50"/>
            <p:cNvSpPr/>
            <p:nvPr/>
          </p:nvSpPr>
          <p:spPr>
            <a:xfrm>
              <a:off x="2699840" y="1753653"/>
              <a:ext cx="44357" cy="443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6" name="Flecha 183_2"/>
            <p:cNvSpPr/>
            <p:nvPr/>
          </p:nvSpPr>
          <p:spPr>
            <a:xfrm>
              <a:off x="2794952" y="1730862"/>
              <a:ext cx="39874" cy="16759"/>
            </a:xfrm>
            <a:custGeom>
              <a:avLst/>
              <a:gdLst/>
              <a:ahLst/>
              <a:cxnLst/>
              <a:rect l="0" t="0" r="r" b="b"/>
              <a:pathLst>
                <a:path w="43" h="18" fill="none">
                  <a:moveTo>
                    <a:pt x="43" y="0"/>
                  </a:moveTo>
                  <a:lnTo>
                    <a:pt x="0" y="18"/>
                  </a:lnTo>
                </a:path>
              </a:pathLst>
            </a:custGeom>
            <a:noFill/>
            <a:ln w="19050" cap="rnd">
              <a:solidFill>
                <a:srgbClr val="9A9A9A"/>
              </a:solidFill>
              <a:round/>
            </a:ln>
          </p:spPr>
        </p:sp>
        <p:sp>
          <p:nvSpPr>
            <p:cNvPr id="127" name="Átomo C_51"/>
            <p:cNvSpPr/>
            <p:nvPr/>
          </p:nvSpPr>
          <p:spPr>
            <a:xfrm>
              <a:off x="3228072" y="1694089"/>
              <a:ext cx="44539" cy="445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8" name="Átomo C_52"/>
            <p:cNvSpPr/>
            <p:nvPr/>
          </p:nvSpPr>
          <p:spPr>
            <a:xfrm>
              <a:off x="2612692" y="1911147"/>
              <a:ext cx="44559" cy="4455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29" name="Flecha 187_2"/>
            <p:cNvSpPr/>
            <p:nvPr/>
          </p:nvSpPr>
          <p:spPr>
            <a:xfrm>
              <a:off x="3190056" y="1716358"/>
              <a:ext cx="60285" cy="9144"/>
            </a:xfrm>
            <a:custGeom>
              <a:avLst/>
              <a:gdLst/>
              <a:ahLst/>
              <a:cxnLst/>
              <a:rect l="0" t="0" r="r" b="b"/>
              <a:pathLst>
                <a:path w="65" h="10" fill="none">
                  <a:moveTo>
                    <a:pt x="0" y="2"/>
                  </a:moveTo>
                  <a:lnTo>
                    <a:pt x="65" y="0"/>
                  </a:lnTo>
                </a:path>
              </a:pathLst>
            </a:custGeom>
            <a:noFill/>
            <a:ln w="19050" cap="rnd">
              <a:solidFill>
                <a:srgbClr val="9A9A9A"/>
              </a:solidFill>
              <a:round/>
            </a:ln>
          </p:spPr>
        </p:sp>
        <p:sp>
          <p:nvSpPr>
            <p:cNvPr id="130" name="Átomo C_53"/>
            <p:cNvSpPr/>
            <p:nvPr/>
          </p:nvSpPr>
          <p:spPr>
            <a:xfrm>
              <a:off x="2812408" y="1708443"/>
              <a:ext cx="44838" cy="4483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1" name="Flecha 190_2"/>
            <p:cNvSpPr/>
            <p:nvPr/>
          </p:nvSpPr>
          <p:spPr>
            <a:xfrm>
              <a:off x="2600999" y="1903419"/>
              <a:ext cx="33973" cy="30007"/>
            </a:xfrm>
            <a:custGeom>
              <a:avLst/>
              <a:gdLst/>
              <a:ahLst/>
              <a:cxnLst/>
              <a:rect l="0" t="0" r="r" b="b"/>
              <a:pathLst>
                <a:path w="37" h="32" fill="none">
                  <a:moveTo>
                    <a:pt x="37" y="32"/>
                  </a:moveTo>
                  <a:lnTo>
                    <a:pt x="0" y="0"/>
                  </a:lnTo>
                </a:path>
              </a:pathLst>
            </a:custGeom>
            <a:noFill/>
            <a:ln w="19050" cap="rnd">
              <a:solidFill>
                <a:srgbClr val="9A9A9A"/>
              </a:solidFill>
              <a:round/>
            </a:ln>
          </p:spPr>
        </p:sp>
        <p:sp>
          <p:nvSpPr>
            <p:cNvPr id="132" name="Flecha 192_2"/>
            <p:cNvSpPr/>
            <p:nvPr/>
          </p:nvSpPr>
          <p:spPr>
            <a:xfrm>
              <a:off x="2834330" y="1735504"/>
              <a:ext cx="62960" cy="9144"/>
            </a:xfrm>
            <a:custGeom>
              <a:avLst/>
              <a:gdLst/>
              <a:ahLst/>
              <a:cxnLst/>
              <a:rect l="0" t="0" r="r" b="b"/>
              <a:pathLst>
                <a:path w="68" h="10" fill="none">
                  <a:moveTo>
                    <a:pt x="0" y="0"/>
                  </a:moveTo>
                  <a:lnTo>
                    <a:pt x="68" y="7"/>
                  </a:lnTo>
                </a:path>
              </a:pathLst>
            </a:custGeom>
            <a:noFill/>
            <a:ln w="15240" cap="rnd">
              <a:solidFill>
                <a:srgbClr val="9A9A9A"/>
              </a:solidFill>
              <a:round/>
            </a:ln>
          </p:spPr>
        </p:sp>
        <p:sp>
          <p:nvSpPr>
            <p:cNvPr id="133" name="Flecha 194_2"/>
            <p:cNvSpPr/>
            <p:nvPr/>
          </p:nvSpPr>
          <p:spPr>
            <a:xfrm>
              <a:off x="2835323" y="1726220"/>
              <a:ext cx="62960" cy="9144"/>
            </a:xfrm>
            <a:custGeom>
              <a:avLst/>
              <a:gdLst/>
              <a:ahLst/>
              <a:cxnLst/>
              <a:rect l="0" t="0" r="r" b="b"/>
              <a:pathLst>
                <a:path w="68" h="10" fill="none">
                  <a:moveTo>
                    <a:pt x="0" y="0"/>
                  </a:moveTo>
                  <a:lnTo>
                    <a:pt x="68" y="7"/>
                  </a:lnTo>
                </a:path>
              </a:pathLst>
            </a:custGeom>
            <a:noFill/>
            <a:ln w="15240" cap="rnd">
              <a:solidFill>
                <a:srgbClr val="9A9A9A"/>
              </a:solidFill>
              <a:round/>
            </a:ln>
          </p:spPr>
        </p:sp>
        <p:sp>
          <p:nvSpPr>
            <p:cNvPr id="134" name="Átomo O_7"/>
            <p:cNvSpPr/>
            <p:nvPr/>
          </p:nvSpPr>
          <p:spPr>
            <a:xfrm>
              <a:off x="2876627" y="1716432"/>
              <a:ext cx="42318" cy="4231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35" name="Átomo C_54"/>
            <p:cNvSpPr/>
            <p:nvPr/>
          </p:nvSpPr>
          <p:spPr>
            <a:xfrm>
              <a:off x="3114337" y="1638210"/>
              <a:ext cx="44905" cy="4490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6" name="Flecha 198_2"/>
            <p:cNvSpPr/>
            <p:nvPr/>
          </p:nvSpPr>
          <p:spPr>
            <a:xfrm>
              <a:off x="3136789" y="1660663"/>
              <a:ext cx="53268" cy="57661"/>
            </a:xfrm>
            <a:custGeom>
              <a:avLst/>
              <a:gdLst/>
              <a:ahLst/>
              <a:cxnLst/>
              <a:rect l="0" t="0" r="r" b="b"/>
              <a:pathLst>
                <a:path w="58" h="63" fill="none">
                  <a:moveTo>
                    <a:pt x="0" y="0"/>
                  </a:moveTo>
                  <a:lnTo>
                    <a:pt x="58" y="63"/>
                  </a:lnTo>
                </a:path>
              </a:pathLst>
            </a:custGeom>
            <a:noFill/>
            <a:ln w="19050" cap="rnd">
              <a:solidFill>
                <a:srgbClr val="9A9A9A"/>
              </a:solidFill>
              <a:round/>
            </a:ln>
          </p:spPr>
        </p:sp>
        <p:sp>
          <p:nvSpPr>
            <p:cNvPr id="137" name="Átomo C_55"/>
            <p:cNvSpPr/>
            <p:nvPr/>
          </p:nvSpPr>
          <p:spPr>
            <a:xfrm>
              <a:off x="3167548" y="1695815"/>
              <a:ext cx="45017" cy="4501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38" name="Flecha 201_2"/>
            <p:cNvSpPr/>
            <p:nvPr/>
          </p:nvSpPr>
          <p:spPr>
            <a:xfrm>
              <a:off x="2792930" y="1704404"/>
              <a:ext cx="41897" cy="26458"/>
            </a:xfrm>
            <a:custGeom>
              <a:avLst/>
              <a:gdLst/>
              <a:ahLst/>
              <a:cxnLst/>
              <a:rect l="0" t="0" r="r" b="b"/>
              <a:pathLst>
                <a:path w="45" h="28" fill="none">
                  <a:moveTo>
                    <a:pt x="0" y="0"/>
                  </a:moveTo>
                  <a:lnTo>
                    <a:pt x="45" y="28"/>
                  </a:lnTo>
                </a:path>
              </a:pathLst>
            </a:custGeom>
            <a:noFill/>
            <a:ln w="19050" cap="rnd">
              <a:solidFill>
                <a:srgbClr val="9A9A9A"/>
              </a:solidFill>
              <a:round/>
            </a:ln>
          </p:spPr>
        </p:sp>
        <p:sp>
          <p:nvSpPr>
            <p:cNvPr id="139" name="Flecha 203_2"/>
            <p:cNvSpPr/>
            <p:nvPr/>
          </p:nvSpPr>
          <p:spPr>
            <a:xfrm>
              <a:off x="3077724" y="1660663"/>
              <a:ext cx="59065" cy="9144"/>
            </a:xfrm>
            <a:custGeom>
              <a:avLst/>
              <a:gdLst/>
              <a:ahLst/>
              <a:cxnLst/>
              <a:rect l="0" t="0" r="r" b="b"/>
              <a:pathLst>
                <a:path w="64" h="10" fill="none">
                  <a:moveTo>
                    <a:pt x="0" y="4"/>
                  </a:moveTo>
                  <a:lnTo>
                    <a:pt x="64" y="0"/>
                  </a:lnTo>
                </a:path>
              </a:pathLst>
            </a:custGeom>
            <a:noFill/>
            <a:ln w="19050" cap="rnd">
              <a:solidFill>
                <a:srgbClr val="9A9A9A"/>
              </a:solidFill>
              <a:round/>
            </a:ln>
          </p:spPr>
        </p:sp>
        <p:sp>
          <p:nvSpPr>
            <p:cNvPr id="140" name="Átomo C_56"/>
            <p:cNvSpPr/>
            <p:nvPr/>
          </p:nvSpPr>
          <p:spPr>
            <a:xfrm>
              <a:off x="2578419" y="1880839"/>
              <a:ext cx="45160" cy="4516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41" name="Átomo C_57"/>
            <p:cNvSpPr/>
            <p:nvPr/>
          </p:nvSpPr>
          <p:spPr>
            <a:xfrm>
              <a:off x="3001039" y="1585431"/>
              <a:ext cx="45279" cy="452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42" name="Átomo O_8"/>
            <p:cNvSpPr/>
            <p:nvPr/>
          </p:nvSpPr>
          <p:spPr>
            <a:xfrm>
              <a:off x="2771575" y="1683049"/>
              <a:ext cx="42710" cy="42710"/>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43" name="Flecha 208_2"/>
            <p:cNvSpPr/>
            <p:nvPr/>
          </p:nvSpPr>
          <p:spPr>
            <a:xfrm>
              <a:off x="3023679" y="1608070"/>
              <a:ext cx="54045" cy="56706"/>
            </a:xfrm>
            <a:custGeom>
              <a:avLst/>
              <a:gdLst/>
              <a:ahLst/>
              <a:cxnLst/>
              <a:rect l="0" t="0" r="r" b="b"/>
              <a:pathLst>
                <a:path w="59" h="62" fill="none">
                  <a:moveTo>
                    <a:pt x="0" y="0"/>
                  </a:moveTo>
                  <a:lnTo>
                    <a:pt x="59" y="62"/>
                  </a:lnTo>
                </a:path>
              </a:pathLst>
            </a:custGeom>
            <a:noFill/>
            <a:ln w="19050" cap="rnd">
              <a:solidFill>
                <a:srgbClr val="9A9A9A"/>
              </a:solidFill>
              <a:round/>
            </a:ln>
          </p:spPr>
        </p:sp>
        <p:sp>
          <p:nvSpPr>
            <p:cNvPr id="144" name="Átomo C_58"/>
            <p:cNvSpPr/>
            <p:nvPr/>
          </p:nvSpPr>
          <p:spPr>
            <a:xfrm>
              <a:off x="3055028" y="1642081"/>
              <a:ext cx="45391" cy="453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45" name="Flecha 211_2"/>
            <p:cNvSpPr/>
            <p:nvPr/>
          </p:nvSpPr>
          <p:spPr>
            <a:xfrm>
              <a:off x="2600999" y="1903419"/>
              <a:ext cx="34338" cy="24407"/>
            </a:xfrm>
            <a:custGeom>
              <a:avLst/>
              <a:gdLst/>
              <a:ahLst/>
              <a:cxnLst/>
              <a:rect l="0" t="0" r="r" b="b"/>
              <a:pathLst>
                <a:path w="37" h="26" fill="none">
                  <a:moveTo>
                    <a:pt x="0" y="0"/>
                  </a:moveTo>
                  <a:lnTo>
                    <a:pt x="37" y="26"/>
                  </a:lnTo>
                </a:path>
              </a:pathLst>
            </a:custGeom>
            <a:noFill/>
            <a:ln w="19050" cap="rnd">
              <a:solidFill>
                <a:srgbClr val="9A9A9A"/>
              </a:solidFill>
              <a:round/>
            </a:ln>
          </p:spPr>
        </p:sp>
        <p:sp>
          <p:nvSpPr>
            <p:cNvPr id="146" name="Átomo O_9"/>
            <p:cNvSpPr/>
            <p:nvPr/>
          </p:nvSpPr>
          <p:spPr>
            <a:xfrm>
              <a:off x="2882099" y="1574540"/>
              <a:ext cx="42876" cy="4287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47" name="Flecha 214_2"/>
            <p:cNvSpPr/>
            <p:nvPr/>
          </p:nvSpPr>
          <p:spPr>
            <a:xfrm>
              <a:off x="2964795" y="1608070"/>
              <a:ext cx="58884" cy="9144"/>
            </a:xfrm>
            <a:custGeom>
              <a:avLst/>
              <a:gdLst/>
              <a:ahLst/>
              <a:cxnLst/>
              <a:rect l="0" t="0" r="r" b="b"/>
              <a:pathLst>
                <a:path w="64" h="10" fill="none">
                  <a:moveTo>
                    <a:pt x="0" y="7"/>
                  </a:moveTo>
                  <a:lnTo>
                    <a:pt x="64" y="0"/>
                  </a:lnTo>
                </a:path>
              </a:pathLst>
            </a:custGeom>
            <a:noFill/>
            <a:ln w="19050" cap="rnd">
              <a:solidFill>
                <a:srgbClr val="9A9A9A"/>
              </a:solidFill>
              <a:round/>
            </a:ln>
          </p:spPr>
        </p:sp>
        <p:sp>
          <p:nvSpPr>
            <p:cNvPr id="148" name="Átomo C_59"/>
            <p:cNvSpPr/>
            <p:nvPr/>
          </p:nvSpPr>
          <p:spPr>
            <a:xfrm>
              <a:off x="2527389" y="1624422"/>
              <a:ext cx="45514" cy="4551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49" name="Flecha 217_2"/>
            <p:cNvSpPr/>
            <p:nvPr/>
          </p:nvSpPr>
          <p:spPr>
            <a:xfrm>
              <a:off x="2483973" y="1603238"/>
              <a:ext cx="66172" cy="43940"/>
            </a:xfrm>
            <a:custGeom>
              <a:avLst/>
              <a:gdLst/>
              <a:ahLst/>
              <a:cxnLst/>
              <a:rect l="0" t="0" r="r" b="b"/>
              <a:pathLst>
                <a:path w="72" h="48" fill="none">
                  <a:moveTo>
                    <a:pt x="0" y="0"/>
                  </a:moveTo>
                  <a:lnTo>
                    <a:pt x="72" y="48"/>
                  </a:lnTo>
                </a:path>
              </a:pathLst>
            </a:custGeom>
            <a:noFill/>
            <a:ln w="19050" cap="rnd">
              <a:solidFill>
                <a:srgbClr val="9A9A9A"/>
              </a:solidFill>
              <a:round/>
            </a:ln>
          </p:spPr>
        </p:sp>
        <p:sp>
          <p:nvSpPr>
            <p:cNvPr id="150" name="Átomo C_60"/>
            <p:cNvSpPr/>
            <p:nvPr/>
          </p:nvSpPr>
          <p:spPr>
            <a:xfrm>
              <a:off x="2461208" y="1580473"/>
              <a:ext cx="45530" cy="4553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51" name="Flecha 220_2"/>
            <p:cNvSpPr/>
            <p:nvPr/>
          </p:nvSpPr>
          <p:spPr>
            <a:xfrm>
              <a:off x="2792930" y="1684810"/>
              <a:ext cx="31969" cy="19594"/>
            </a:xfrm>
            <a:custGeom>
              <a:avLst/>
              <a:gdLst/>
              <a:ahLst/>
              <a:cxnLst/>
              <a:rect l="0" t="0" r="r" b="b"/>
              <a:pathLst>
                <a:path w="34" h="21" fill="none">
                  <a:moveTo>
                    <a:pt x="34" y="0"/>
                  </a:moveTo>
                  <a:lnTo>
                    <a:pt x="0" y="21"/>
                  </a:lnTo>
                </a:path>
              </a:pathLst>
            </a:custGeom>
            <a:noFill/>
            <a:ln w="19050" cap="rnd">
              <a:solidFill>
                <a:srgbClr val="9A9A9A"/>
              </a:solidFill>
              <a:round/>
            </a:ln>
          </p:spPr>
        </p:sp>
        <p:sp>
          <p:nvSpPr>
            <p:cNvPr id="152" name="Flecha 222_2"/>
            <p:cNvSpPr/>
            <p:nvPr/>
          </p:nvSpPr>
          <p:spPr>
            <a:xfrm>
              <a:off x="2903538" y="1595979"/>
              <a:ext cx="61258" cy="18965"/>
            </a:xfrm>
            <a:custGeom>
              <a:avLst/>
              <a:gdLst/>
              <a:ahLst/>
              <a:cxnLst/>
              <a:rect l="0" t="0" r="r" b="b"/>
              <a:pathLst>
                <a:path w="66" h="20" fill="none">
                  <a:moveTo>
                    <a:pt x="0" y="0"/>
                  </a:moveTo>
                  <a:lnTo>
                    <a:pt x="66" y="20"/>
                  </a:lnTo>
                </a:path>
              </a:pathLst>
            </a:custGeom>
            <a:noFill/>
            <a:ln w="19050" cap="rnd">
              <a:solidFill>
                <a:srgbClr val="9A9A9A"/>
              </a:solidFill>
              <a:round/>
            </a:ln>
          </p:spPr>
        </p:sp>
        <p:sp>
          <p:nvSpPr>
            <p:cNvPr id="153" name="Flecha 224_2"/>
            <p:cNvSpPr/>
            <p:nvPr/>
          </p:nvSpPr>
          <p:spPr>
            <a:xfrm>
              <a:off x="2843507" y="1595979"/>
              <a:ext cx="60031" cy="11396"/>
            </a:xfrm>
            <a:custGeom>
              <a:avLst/>
              <a:gdLst/>
              <a:ahLst/>
              <a:cxnLst/>
              <a:rect l="0" t="0" r="r" b="b"/>
              <a:pathLst>
                <a:path w="65" h="12" fill="none">
                  <a:moveTo>
                    <a:pt x="0" y="12"/>
                  </a:moveTo>
                  <a:lnTo>
                    <a:pt x="65" y="0"/>
                  </a:lnTo>
                </a:path>
              </a:pathLst>
            </a:custGeom>
            <a:noFill/>
            <a:ln w="19050" cap="rnd">
              <a:solidFill>
                <a:srgbClr val="9A9A9A"/>
              </a:solidFill>
              <a:round/>
            </a:ln>
          </p:spPr>
        </p:sp>
        <p:sp>
          <p:nvSpPr>
            <p:cNvPr id="154" name="Átomo C_61"/>
            <p:cNvSpPr/>
            <p:nvPr/>
          </p:nvSpPr>
          <p:spPr>
            <a:xfrm>
              <a:off x="2941920" y="1592068"/>
              <a:ext cx="45750" cy="4575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55" name="Átomo C_62"/>
            <p:cNvSpPr/>
            <p:nvPr/>
          </p:nvSpPr>
          <p:spPr>
            <a:xfrm>
              <a:off x="2612445" y="1904935"/>
              <a:ext cx="45782" cy="4578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56" name="Flecha 228_2"/>
            <p:cNvSpPr/>
            <p:nvPr/>
          </p:nvSpPr>
          <p:spPr>
            <a:xfrm>
              <a:off x="2433945" y="1603238"/>
              <a:ext cx="50029" cy="15437"/>
            </a:xfrm>
            <a:custGeom>
              <a:avLst/>
              <a:gdLst/>
              <a:ahLst/>
              <a:cxnLst/>
              <a:rect l="0" t="0" r="r" b="b"/>
              <a:pathLst>
                <a:path w="54" h="16" fill="none">
                  <a:moveTo>
                    <a:pt x="0" y="16"/>
                  </a:moveTo>
                  <a:lnTo>
                    <a:pt x="54" y="0"/>
                  </a:lnTo>
                </a:path>
              </a:pathLst>
            </a:custGeom>
            <a:noFill/>
            <a:ln w="19050" cap="rnd">
              <a:solidFill>
                <a:srgbClr val="9A9A9A"/>
              </a:solidFill>
              <a:round/>
            </a:ln>
          </p:spPr>
        </p:sp>
        <p:sp>
          <p:nvSpPr>
            <p:cNvPr id="157" name="Flecha 230_2"/>
            <p:cNvSpPr/>
            <p:nvPr/>
          </p:nvSpPr>
          <p:spPr>
            <a:xfrm>
              <a:off x="2550146" y="1637509"/>
              <a:ext cx="46000" cy="9669"/>
            </a:xfrm>
            <a:custGeom>
              <a:avLst/>
              <a:gdLst/>
              <a:ahLst/>
              <a:cxnLst/>
              <a:rect l="0" t="0" r="r" b="b"/>
              <a:pathLst>
                <a:path w="50" h="10" fill="none">
                  <a:moveTo>
                    <a:pt x="0" y="10"/>
                  </a:moveTo>
                  <a:lnTo>
                    <a:pt x="50" y="0"/>
                  </a:lnTo>
                </a:path>
              </a:pathLst>
            </a:custGeom>
            <a:noFill/>
            <a:ln w="19050" cap="rnd">
              <a:solidFill>
                <a:srgbClr val="9A9A9A"/>
              </a:solidFill>
              <a:round/>
            </a:ln>
          </p:spPr>
        </p:sp>
        <p:sp>
          <p:nvSpPr>
            <p:cNvPr id="158" name="Flecha 232_2"/>
            <p:cNvSpPr/>
            <p:nvPr/>
          </p:nvSpPr>
          <p:spPr>
            <a:xfrm>
              <a:off x="2625406" y="1927826"/>
              <a:ext cx="9930" cy="77384"/>
            </a:xfrm>
            <a:custGeom>
              <a:avLst/>
              <a:gdLst/>
              <a:ahLst/>
              <a:cxnLst/>
              <a:rect l="0" t="0" r="r" b="b"/>
              <a:pathLst>
                <a:path w="10" h="84" fill="none">
                  <a:moveTo>
                    <a:pt x="10" y="0"/>
                  </a:moveTo>
                  <a:lnTo>
                    <a:pt x="0" y="84"/>
                  </a:lnTo>
                </a:path>
              </a:pathLst>
            </a:custGeom>
            <a:noFill/>
            <a:ln w="19050" cap="rnd">
              <a:solidFill>
                <a:srgbClr val="9A9A9A"/>
              </a:solidFill>
              <a:round/>
            </a:ln>
          </p:spPr>
        </p:sp>
        <p:sp>
          <p:nvSpPr>
            <p:cNvPr id="159" name="Átomo O_10"/>
            <p:cNvSpPr/>
            <p:nvPr/>
          </p:nvSpPr>
          <p:spPr>
            <a:xfrm>
              <a:off x="2634486" y="1723309"/>
              <a:ext cx="43241" cy="4324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60" name="Átomo C_63"/>
            <p:cNvSpPr/>
            <p:nvPr/>
          </p:nvSpPr>
          <p:spPr>
            <a:xfrm>
              <a:off x="2820572" y="1584439"/>
              <a:ext cx="45871" cy="4587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61" name="Flecha 236_2"/>
            <p:cNvSpPr/>
            <p:nvPr/>
          </p:nvSpPr>
          <p:spPr>
            <a:xfrm>
              <a:off x="2824899" y="1607374"/>
              <a:ext cx="18608" cy="77436"/>
            </a:xfrm>
            <a:custGeom>
              <a:avLst/>
              <a:gdLst/>
              <a:ahLst/>
              <a:cxnLst/>
              <a:rect l="0" t="0" r="r" b="b"/>
              <a:pathLst>
                <a:path w="20" h="84" fill="none">
                  <a:moveTo>
                    <a:pt x="0" y="84"/>
                  </a:moveTo>
                  <a:lnTo>
                    <a:pt x="20" y="0"/>
                  </a:lnTo>
                </a:path>
              </a:pathLst>
            </a:custGeom>
            <a:noFill/>
            <a:ln w="19050" cap="rnd">
              <a:solidFill>
                <a:srgbClr val="9A9A9A"/>
              </a:solidFill>
              <a:round/>
            </a:ln>
          </p:spPr>
        </p:sp>
        <p:sp>
          <p:nvSpPr>
            <p:cNvPr id="162" name="Átomo C_64"/>
            <p:cNvSpPr/>
            <p:nvPr/>
          </p:nvSpPr>
          <p:spPr>
            <a:xfrm>
              <a:off x="2801950" y="1661861"/>
              <a:ext cx="45899" cy="4589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63" name="Átomo C_65"/>
            <p:cNvSpPr/>
            <p:nvPr/>
          </p:nvSpPr>
          <p:spPr>
            <a:xfrm>
              <a:off x="2602449" y="1982253"/>
              <a:ext cx="45913" cy="4591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64" name="Flecha 240_2"/>
            <p:cNvSpPr/>
            <p:nvPr/>
          </p:nvSpPr>
          <p:spPr>
            <a:xfrm>
              <a:off x="2651439" y="1686479"/>
              <a:ext cx="9144" cy="58363"/>
            </a:xfrm>
            <a:custGeom>
              <a:avLst/>
              <a:gdLst/>
              <a:ahLst/>
              <a:cxnLst/>
              <a:rect l="0" t="0" r="r" b="b"/>
              <a:pathLst>
                <a:path w="10" h="63" fill="none">
                  <a:moveTo>
                    <a:pt x="1" y="0"/>
                  </a:moveTo>
                  <a:lnTo>
                    <a:pt x="0" y="63"/>
                  </a:lnTo>
                </a:path>
              </a:pathLst>
            </a:custGeom>
            <a:noFill/>
            <a:ln w="15240" cap="rnd">
              <a:solidFill>
                <a:srgbClr val="9A9A9A"/>
              </a:solidFill>
              <a:round/>
            </a:ln>
          </p:spPr>
        </p:sp>
        <p:sp>
          <p:nvSpPr>
            <p:cNvPr id="165" name="Flecha 242_2"/>
            <p:cNvSpPr/>
            <p:nvPr/>
          </p:nvSpPr>
          <p:spPr>
            <a:xfrm>
              <a:off x="2660775" y="1686653"/>
              <a:ext cx="9144" cy="58363"/>
            </a:xfrm>
            <a:custGeom>
              <a:avLst/>
              <a:gdLst/>
              <a:ahLst/>
              <a:cxnLst/>
              <a:rect l="0" t="0" r="r" b="b"/>
              <a:pathLst>
                <a:path w="10" h="63" fill="none">
                  <a:moveTo>
                    <a:pt x="1" y="0"/>
                  </a:moveTo>
                  <a:lnTo>
                    <a:pt x="0" y="63"/>
                  </a:lnTo>
                </a:path>
              </a:pathLst>
            </a:custGeom>
            <a:noFill/>
            <a:ln w="15240" cap="rnd">
              <a:solidFill>
                <a:srgbClr val="9A9A9A"/>
              </a:solidFill>
              <a:round/>
            </a:ln>
          </p:spPr>
        </p:sp>
        <p:sp>
          <p:nvSpPr>
            <p:cNvPr id="166" name="Flecha 244_2"/>
            <p:cNvSpPr/>
            <p:nvPr/>
          </p:nvSpPr>
          <p:spPr>
            <a:xfrm>
              <a:off x="2960355" y="1616386"/>
              <a:ext cx="9144" cy="19236"/>
            </a:xfrm>
            <a:custGeom>
              <a:avLst/>
              <a:gdLst/>
              <a:ahLst/>
              <a:cxnLst/>
              <a:rect l="0" t="0" r="r" b="b"/>
              <a:pathLst>
                <a:path w="10" h="21" fill="none">
                  <a:moveTo>
                    <a:pt x="0" y="0"/>
                  </a:moveTo>
                  <a:lnTo>
                    <a:pt x="6" y="21"/>
                  </a:lnTo>
                </a:path>
              </a:pathLst>
            </a:custGeom>
            <a:noFill/>
            <a:ln w="15240" cap="rnd">
              <a:solidFill>
                <a:srgbClr val="9A9A9A"/>
              </a:solidFill>
              <a:round/>
            </a:ln>
          </p:spPr>
        </p:sp>
        <p:sp>
          <p:nvSpPr>
            <p:cNvPr id="167" name="Flecha 246_2"/>
            <p:cNvSpPr/>
            <p:nvPr/>
          </p:nvSpPr>
          <p:spPr>
            <a:xfrm>
              <a:off x="2969235" y="1613501"/>
              <a:ext cx="9144" cy="19236"/>
            </a:xfrm>
            <a:custGeom>
              <a:avLst/>
              <a:gdLst/>
              <a:ahLst/>
              <a:cxnLst/>
              <a:rect l="0" t="0" r="r" b="b"/>
              <a:pathLst>
                <a:path w="10" h="21" fill="none">
                  <a:moveTo>
                    <a:pt x="0" y="0"/>
                  </a:moveTo>
                  <a:lnTo>
                    <a:pt x="6" y="21"/>
                  </a:lnTo>
                </a:path>
              </a:pathLst>
            </a:custGeom>
            <a:noFill/>
            <a:ln w="15240" cap="rnd">
              <a:solidFill>
                <a:srgbClr val="9A9A9A"/>
              </a:solidFill>
              <a:round/>
            </a:ln>
          </p:spPr>
        </p:sp>
        <p:sp>
          <p:nvSpPr>
            <p:cNvPr id="168" name="Átomo C_66"/>
            <p:cNvSpPr/>
            <p:nvPr/>
          </p:nvSpPr>
          <p:spPr>
            <a:xfrm>
              <a:off x="2410903" y="1595634"/>
              <a:ext cx="46083" cy="460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69" name="Flecha 249_2"/>
            <p:cNvSpPr/>
            <p:nvPr/>
          </p:nvSpPr>
          <p:spPr>
            <a:xfrm>
              <a:off x="2409947" y="1618675"/>
              <a:ext cx="23997" cy="75643"/>
            </a:xfrm>
            <a:custGeom>
              <a:avLst/>
              <a:gdLst/>
              <a:ahLst/>
              <a:cxnLst/>
              <a:rect l="0" t="0" r="r" b="b"/>
              <a:pathLst>
                <a:path w="26" h="82" fill="none">
                  <a:moveTo>
                    <a:pt x="0" y="82"/>
                  </a:moveTo>
                  <a:lnTo>
                    <a:pt x="26" y="0"/>
                  </a:lnTo>
                </a:path>
              </a:pathLst>
            </a:custGeom>
            <a:noFill/>
            <a:ln w="19050" cap="rnd">
              <a:solidFill>
                <a:srgbClr val="9A9A9A"/>
              </a:solidFill>
              <a:round/>
            </a:ln>
          </p:spPr>
        </p:sp>
        <p:sp>
          <p:nvSpPr>
            <p:cNvPr id="170" name="Átomo C_67"/>
            <p:cNvSpPr/>
            <p:nvPr/>
          </p:nvSpPr>
          <p:spPr>
            <a:xfrm>
              <a:off x="2634147" y="1663521"/>
              <a:ext cx="46091" cy="4609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71" name="Flecha 252_2"/>
            <p:cNvSpPr/>
            <p:nvPr/>
          </p:nvSpPr>
          <p:spPr>
            <a:xfrm>
              <a:off x="2596145" y="1637509"/>
              <a:ext cx="61047" cy="49057"/>
            </a:xfrm>
            <a:custGeom>
              <a:avLst/>
              <a:gdLst/>
              <a:ahLst/>
              <a:cxnLst/>
              <a:rect l="0" t="0" r="r" b="b"/>
              <a:pathLst>
                <a:path w="66" h="53" fill="none">
                  <a:moveTo>
                    <a:pt x="0" y="0"/>
                  </a:moveTo>
                  <a:lnTo>
                    <a:pt x="66" y="53"/>
                  </a:lnTo>
                </a:path>
              </a:pathLst>
            </a:custGeom>
            <a:noFill/>
            <a:ln w="19050" cap="rnd">
              <a:solidFill>
                <a:srgbClr val="9A9A9A"/>
              </a:solidFill>
              <a:round/>
            </a:ln>
          </p:spPr>
        </p:sp>
        <p:sp>
          <p:nvSpPr>
            <p:cNvPr id="172" name="Átomo C_68"/>
            <p:cNvSpPr/>
            <p:nvPr/>
          </p:nvSpPr>
          <p:spPr>
            <a:xfrm>
              <a:off x="2573094" y="1614458"/>
              <a:ext cx="46102" cy="4610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73" name="Átomo C_69"/>
            <p:cNvSpPr/>
            <p:nvPr/>
          </p:nvSpPr>
          <p:spPr>
            <a:xfrm>
              <a:off x="2386895" y="1671265"/>
              <a:ext cx="46106" cy="4610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74" name="Flecha 256_2"/>
            <p:cNvSpPr/>
            <p:nvPr/>
          </p:nvSpPr>
          <p:spPr>
            <a:xfrm>
              <a:off x="2773583" y="1684810"/>
              <a:ext cx="51316" cy="14972"/>
            </a:xfrm>
            <a:custGeom>
              <a:avLst/>
              <a:gdLst/>
              <a:ahLst/>
              <a:cxnLst/>
              <a:rect l="0" t="0" r="r" b="b"/>
              <a:pathLst>
                <a:path w="56" h="16" fill="none">
                  <a:moveTo>
                    <a:pt x="0" y="16"/>
                  </a:moveTo>
                  <a:lnTo>
                    <a:pt x="56" y="0"/>
                  </a:lnTo>
                </a:path>
              </a:pathLst>
            </a:custGeom>
            <a:noFill/>
            <a:ln w="19050" cap="rnd">
              <a:solidFill>
                <a:srgbClr val="9A9A9A"/>
              </a:solidFill>
              <a:round/>
            </a:ln>
          </p:spPr>
        </p:sp>
        <p:sp>
          <p:nvSpPr>
            <p:cNvPr id="175" name="Flecha 258_2"/>
            <p:cNvSpPr/>
            <p:nvPr/>
          </p:nvSpPr>
          <p:spPr>
            <a:xfrm>
              <a:off x="2625406" y="2005210"/>
              <a:ext cx="29738" cy="20298"/>
            </a:xfrm>
            <a:custGeom>
              <a:avLst/>
              <a:gdLst/>
              <a:ahLst/>
              <a:cxnLst/>
              <a:rect l="0" t="0" r="r" b="b"/>
              <a:pathLst>
                <a:path w="32" h="22" fill="none">
                  <a:moveTo>
                    <a:pt x="0" y="0"/>
                  </a:moveTo>
                  <a:lnTo>
                    <a:pt x="32" y="22"/>
                  </a:lnTo>
                </a:path>
              </a:pathLst>
            </a:custGeom>
            <a:noFill/>
            <a:ln w="19050" cap="rnd">
              <a:solidFill>
                <a:srgbClr val="9A9A9A"/>
              </a:solidFill>
              <a:round/>
            </a:ln>
          </p:spPr>
        </p:sp>
        <p:sp>
          <p:nvSpPr>
            <p:cNvPr id="176" name="Flecha 260_2"/>
            <p:cNvSpPr/>
            <p:nvPr/>
          </p:nvSpPr>
          <p:spPr>
            <a:xfrm>
              <a:off x="2657192" y="1657177"/>
              <a:ext cx="55191" cy="29389"/>
            </a:xfrm>
            <a:custGeom>
              <a:avLst/>
              <a:gdLst/>
              <a:ahLst/>
              <a:cxnLst/>
              <a:rect l="0" t="0" r="r" b="b"/>
              <a:pathLst>
                <a:path w="60" h="32" fill="none">
                  <a:moveTo>
                    <a:pt x="0" y="32"/>
                  </a:moveTo>
                  <a:lnTo>
                    <a:pt x="60" y="0"/>
                  </a:lnTo>
                </a:path>
              </a:pathLst>
            </a:custGeom>
            <a:noFill/>
            <a:ln w="19050" cap="rnd">
              <a:solidFill>
                <a:srgbClr val="9A9A9A"/>
              </a:solidFill>
              <a:round/>
            </a:ln>
          </p:spPr>
        </p:sp>
        <p:sp>
          <p:nvSpPr>
            <p:cNvPr id="177" name="Átomo O_11"/>
            <p:cNvSpPr/>
            <p:nvPr/>
          </p:nvSpPr>
          <p:spPr>
            <a:xfrm>
              <a:off x="2949216" y="1612350"/>
              <a:ext cx="43659" cy="4365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78" name="Flecha 263_2"/>
            <p:cNvSpPr/>
            <p:nvPr/>
          </p:nvSpPr>
          <p:spPr>
            <a:xfrm>
              <a:off x="2360053" y="1694318"/>
              <a:ext cx="49894" cy="15590"/>
            </a:xfrm>
            <a:custGeom>
              <a:avLst/>
              <a:gdLst/>
              <a:ahLst/>
              <a:cxnLst/>
              <a:rect l="0" t="0" r="r" b="b"/>
              <a:pathLst>
                <a:path w="54" h="17" fill="none">
                  <a:moveTo>
                    <a:pt x="0" y="17"/>
                  </a:moveTo>
                  <a:lnTo>
                    <a:pt x="54" y="0"/>
                  </a:lnTo>
                </a:path>
              </a:pathLst>
            </a:custGeom>
            <a:noFill/>
            <a:ln w="19050" cap="rnd">
              <a:solidFill>
                <a:srgbClr val="9A9A9A"/>
              </a:solidFill>
              <a:round/>
            </a:ln>
          </p:spPr>
        </p:sp>
        <p:sp>
          <p:nvSpPr>
            <p:cNvPr id="179" name="Átomo O_12"/>
            <p:cNvSpPr/>
            <p:nvPr/>
          </p:nvSpPr>
          <p:spPr>
            <a:xfrm>
              <a:off x="2690511" y="1635305"/>
              <a:ext cx="43744" cy="4374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80" name="Flecha 266_2"/>
            <p:cNvSpPr/>
            <p:nvPr/>
          </p:nvSpPr>
          <p:spPr>
            <a:xfrm>
              <a:off x="2712383" y="1657177"/>
              <a:ext cx="61200" cy="42606"/>
            </a:xfrm>
            <a:custGeom>
              <a:avLst/>
              <a:gdLst/>
              <a:ahLst/>
              <a:cxnLst/>
              <a:rect l="0" t="0" r="r" b="b"/>
              <a:pathLst>
                <a:path w="66" h="46" fill="none">
                  <a:moveTo>
                    <a:pt x="0" y="0"/>
                  </a:moveTo>
                  <a:lnTo>
                    <a:pt x="66" y="46"/>
                  </a:lnTo>
                </a:path>
              </a:pathLst>
            </a:custGeom>
            <a:noFill/>
            <a:ln w="19050" cap="rnd">
              <a:solidFill>
                <a:srgbClr val="9A9A9A"/>
              </a:solidFill>
              <a:round/>
            </a:ln>
          </p:spPr>
        </p:sp>
        <p:sp>
          <p:nvSpPr>
            <p:cNvPr id="181" name="Átomo C_70"/>
            <p:cNvSpPr/>
            <p:nvPr/>
          </p:nvSpPr>
          <p:spPr>
            <a:xfrm>
              <a:off x="2750362" y="1676562"/>
              <a:ext cx="46442" cy="464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2" name="Átomo C_71"/>
            <p:cNvSpPr/>
            <p:nvPr/>
          </p:nvSpPr>
          <p:spPr>
            <a:xfrm>
              <a:off x="2631862" y="2002226"/>
              <a:ext cx="46564" cy="465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3" name="Átomo C_72"/>
            <p:cNvSpPr/>
            <p:nvPr/>
          </p:nvSpPr>
          <p:spPr>
            <a:xfrm>
              <a:off x="2265165" y="1653587"/>
              <a:ext cx="46575" cy="465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4" name="Flecha 271_2"/>
            <p:cNvSpPr/>
            <p:nvPr/>
          </p:nvSpPr>
          <p:spPr>
            <a:xfrm>
              <a:off x="2288452" y="1676875"/>
              <a:ext cx="71601" cy="33033"/>
            </a:xfrm>
            <a:custGeom>
              <a:avLst/>
              <a:gdLst/>
              <a:ahLst/>
              <a:cxnLst/>
              <a:rect l="0" t="0" r="r" b="b"/>
              <a:pathLst>
                <a:path w="78" h="36" fill="none">
                  <a:moveTo>
                    <a:pt x="0" y="0"/>
                  </a:moveTo>
                  <a:lnTo>
                    <a:pt x="78" y="36"/>
                  </a:lnTo>
                </a:path>
              </a:pathLst>
            </a:custGeom>
            <a:noFill/>
            <a:ln w="19050" cap="rnd">
              <a:solidFill>
                <a:srgbClr val="9A9A9A"/>
              </a:solidFill>
              <a:round/>
            </a:ln>
          </p:spPr>
        </p:sp>
        <p:sp>
          <p:nvSpPr>
            <p:cNvPr id="185" name="Flecha 273_2"/>
            <p:cNvSpPr/>
            <p:nvPr/>
          </p:nvSpPr>
          <p:spPr>
            <a:xfrm>
              <a:off x="2644562" y="2025508"/>
              <a:ext cx="10581" cy="76661"/>
            </a:xfrm>
            <a:custGeom>
              <a:avLst/>
              <a:gdLst/>
              <a:ahLst/>
              <a:cxnLst/>
              <a:rect l="0" t="0" r="r" b="b"/>
              <a:pathLst>
                <a:path w="11" h="83" fill="none">
                  <a:moveTo>
                    <a:pt x="11" y="0"/>
                  </a:moveTo>
                  <a:lnTo>
                    <a:pt x="0" y="83"/>
                  </a:lnTo>
                </a:path>
              </a:pathLst>
            </a:custGeom>
            <a:noFill/>
            <a:ln w="19050" cap="rnd">
              <a:solidFill>
                <a:srgbClr val="9A9A9A"/>
              </a:solidFill>
              <a:round/>
            </a:ln>
          </p:spPr>
        </p:sp>
        <p:sp>
          <p:nvSpPr>
            <p:cNvPr id="186" name="Átomo C_73"/>
            <p:cNvSpPr/>
            <p:nvPr/>
          </p:nvSpPr>
          <p:spPr>
            <a:xfrm>
              <a:off x="2336725" y="1686579"/>
              <a:ext cx="46657" cy="466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7" name="Átomo C_74"/>
            <p:cNvSpPr/>
            <p:nvPr/>
          </p:nvSpPr>
          <p:spPr>
            <a:xfrm>
              <a:off x="2621211" y="2078817"/>
              <a:ext cx="46703" cy="467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8" name="Flecha 277_2"/>
            <p:cNvSpPr/>
            <p:nvPr/>
          </p:nvSpPr>
          <p:spPr>
            <a:xfrm>
              <a:off x="2238517" y="1676875"/>
              <a:ext cx="49935" cy="16524"/>
            </a:xfrm>
            <a:custGeom>
              <a:avLst/>
              <a:gdLst/>
              <a:ahLst/>
              <a:cxnLst/>
              <a:rect l="0" t="0" r="r" b="b"/>
              <a:pathLst>
                <a:path w="54" h="18" fill="none">
                  <a:moveTo>
                    <a:pt x="0" y="18"/>
                  </a:moveTo>
                  <a:lnTo>
                    <a:pt x="54" y="0"/>
                  </a:lnTo>
                </a:path>
              </a:pathLst>
            </a:custGeom>
            <a:noFill/>
            <a:ln w="19050" cap="rnd">
              <a:solidFill>
                <a:srgbClr val="9A9A9A"/>
              </a:solidFill>
              <a:round/>
            </a:ln>
          </p:spPr>
        </p:sp>
        <p:sp>
          <p:nvSpPr>
            <p:cNvPr id="189" name="Átomo C_75"/>
            <p:cNvSpPr/>
            <p:nvPr/>
          </p:nvSpPr>
          <p:spPr>
            <a:xfrm>
              <a:off x="2214955" y="1669837"/>
              <a:ext cx="47125" cy="4712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90" name="Flecha 280_2"/>
            <p:cNvSpPr/>
            <p:nvPr/>
          </p:nvSpPr>
          <p:spPr>
            <a:xfrm>
              <a:off x="2218529" y="1693400"/>
              <a:ext cx="19989" cy="76781"/>
            </a:xfrm>
            <a:custGeom>
              <a:avLst/>
              <a:gdLst/>
              <a:ahLst/>
              <a:cxnLst/>
              <a:rect l="0" t="0" r="r" b="b"/>
              <a:pathLst>
                <a:path w="21" h="83" fill="none">
                  <a:moveTo>
                    <a:pt x="0" y="83"/>
                  </a:moveTo>
                  <a:lnTo>
                    <a:pt x="21" y="0"/>
                  </a:lnTo>
                </a:path>
              </a:pathLst>
            </a:custGeom>
            <a:noFill/>
            <a:ln w="19050" cap="rnd">
              <a:solidFill>
                <a:srgbClr val="9A9A9A"/>
              </a:solidFill>
              <a:round/>
            </a:ln>
          </p:spPr>
        </p:sp>
        <p:sp>
          <p:nvSpPr>
            <p:cNvPr id="191" name="Átomo C_76"/>
            <p:cNvSpPr/>
            <p:nvPr/>
          </p:nvSpPr>
          <p:spPr>
            <a:xfrm>
              <a:off x="2194947" y="1746599"/>
              <a:ext cx="47164" cy="4716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92" name="Flecha 283_2"/>
            <p:cNvSpPr/>
            <p:nvPr/>
          </p:nvSpPr>
          <p:spPr>
            <a:xfrm>
              <a:off x="2163794" y="1770181"/>
              <a:ext cx="54735" cy="12542"/>
            </a:xfrm>
            <a:custGeom>
              <a:avLst/>
              <a:gdLst/>
              <a:ahLst/>
              <a:cxnLst/>
              <a:rect l="0" t="0" r="r" b="b"/>
              <a:pathLst>
                <a:path w="59" h="13" fill="none">
                  <a:moveTo>
                    <a:pt x="0" y="13"/>
                  </a:moveTo>
                  <a:lnTo>
                    <a:pt x="59" y="0"/>
                  </a:lnTo>
                </a:path>
              </a:pathLst>
            </a:custGeom>
            <a:noFill/>
            <a:ln w="19050" cap="rnd">
              <a:solidFill>
                <a:srgbClr val="9A9A9A"/>
              </a:solidFill>
              <a:round/>
            </a:ln>
          </p:spPr>
        </p:sp>
        <p:sp>
          <p:nvSpPr>
            <p:cNvPr id="193" name="Átomo C_77"/>
            <p:cNvSpPr/>
            <p:nvPr/>
          </p:nvSpPr>
          <p:spPr>
            <a:xfrm>
              <a:off x="2139955" y="1758883"/>
              <a:ext cx="47679" cy="476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94" name="Flecha 286_2"/>
            <p:cNvSpPr/>
            <p:nvPr/>
          </p:nvSpPr>
          <p:spPr>
            <a:xfrm>
              <a:off x="2144619" y="1782722"/>
              <a:ext cx="19176" cy="76475"/>
            </a:xfrm>
            <a:custGeom>
              <a:avLst/>
              <a:gdLst/>
              <a:ahLst/>
              <a:cxnLst/>
              <a:rect l="0" t="0" r="r" b="b"/>
              <a:pathLst>
                <a:path w="20" h="83" fill="none">
                  <a:moveTo>
                    <a:pt x="0" y="83"/>
                  </a:moveTo>
                  <a:lnTo>
                    <a:pt x="20" y="0"/>
                  </a:lnTo>
                </a:path>
              </a:pathLst>
            </a:custGeom>
            <a:noFill/>
            <a:ln w="19050" cap="rnd">
              <a:solidFill>
                <a:srgbClr val="9A9A9A"/>
              </a:solidFill>
              <a:round/>
            </a:ln>
          </p:spPr>
        </p:sp>
        <p:sp>
          <p:nvSpPr>
            <p:cNvPr id="195" name="Átomo C_78"/>
            <p:cNvSpPr/>
            <p:nvPr/>
          </p:nvSpPr>
          <p:spPr>
            <a:xfrm>
              <a:off x="2120755" y="1835334"/>
              <a:ext cx="47728" cy="4772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grpSp>
        <p:nvGrpSpPr>
          <p:cNvPr id="196" name="TAG dieta 2"/>
          <p:cNvGrpSpPr/>
          <p:nvPr/>
        </p:nvGrpSpPr>
        <p:grpSpPr>
          <a:xfrm>
            <a:off x="3585370" y="1575163"/>
            <a:ext cx="1147990" cy="572864"/>
            <a:chOff x="3585370" y="1575163"/>
            <a:chExt cx="1147990" cy="572864"/>
          </a:xfrm>
        </p:grpSpPr>
        <p:sp>
          <p:nvSpPr>
            <p:cNvPr id="197" name="Átomo C_79"/>
            <p:cNvSpPr/>
            <p:nvPr/>
          </p:nvSpPr>
          <p:spPr>
            <a:xfrm>
              <a:off x="4469579" y="1797574"/>
              <a:ext cx="46104" cy="4610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98" name="Átomo C_80"/>
            <p:cNvSpPr/>
            <p:nvPr/>
          </p:nvSpPr>
          <p:spPr>
            <a:xfrm>
              <a:off x="4211808" y="1826875"/>
              <a:ext cx="46135" cy="4613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99" name="Flecha 292_2"/>
            <p:cNvSpPr/>
            <p:nvPr/>
          </p:nvSpPr>
          <p:spPr>
            <a:xfrm>
              <a:off x="4492631" y="1787218"/>
              <a:ext cx="76689" cy="33409"/>
            </a:xfrm>
            <a:custGeom>
              <a:avLst/>
              <a:gdLst/>
              <a:ahLst/>
              <a:cxnLst/>
              <a:rect l="0" t="0" r="r" b="b"/>
              <a:pathLst>
                <a:path w="83" h="36" fill="none">
                  <a:moveTo>
                    <a:pt x="0" y="36"/>
                  </a:moveTo>
                  <a:lnTo>
                    <a:pt x="83" y="0"/>
                  </a:lnTo>
                </a:path>
              </a:pathLst>
            </a:custGeom>
            <a:noFill/>
            <a:ln w="19050" cap="rnd">
              <a:solidFill>
                <a:srgbClr val="9A9A9A"/>
              </a:solidFill>
              <a:round/>
            </a:ln>
          </p:spPr>
        </p:sp>
        <p:sp>
          <p:nvSpPr>
            <p:cNvPr id="200" name="Flecha 294_2"/>
            <p:cNvSpPr/>
            <p:nvPr/>
          </p:nvSpPr>
          <p:spPr>
            <a:xfrm>
              <a:off x="4234876" y="1820263"/>
              <a:ext cx="79187" cy="29680"/>
            </a:xfrm>
            <a:custGeom>
              <a:avLst/>
              <a:gdLst/>
              <a:ahLst/>
              <a:cxnLst/>
              <a:rect l="0" t="0" r="r" b="b"/>
              <a:pathLst>
                <a:path w="86" h="32" fill="none">
                  <a:moveTo>
                    <a:pt x="0" y="32"/>
                  </a:moveTo>
                  <a:lnTo>
                    <a:pt x="86" y="0"/>
                  </a:lnTo>
                </a:path>
              </a:pathLst>
            </a:custGeom>
            <a:noFill/>
            <a:ln w="19050" cap="rnd">
              <a:solidFill>
                <a:srgbClr val="9A9A9A"/>
              </a:solidFill>
              <a:round/>
            </a:ln>
          </p:spPr>
        </p:sp>
        <p:sp>
          <p:nvSpPr>
            <p:cNvPr id="201" name="Átomo C_81"/>
            <p:cNvSpPr/>
            <p:nvPr/>
          </p:nvSpPr>
          <p:spPr>
            <a:xfrm>
              <a:off x="4290898" y="1797098"/>
              <a:ext cx="46329" cy="4632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2" name="Átomo C_82"/>
            <p:cNvSpPr/>
            <p:nvPr/>
          </p:nvSpPr>
          <p:spPr>
            <a:xfrm>
              <a:off x="4546153" y="1764050"/>
              <a:ext cx="46336" cy="4633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3" name="Flecha 298_2"/>
            <p:cNvSpPr/>
            <p:nvPr/>
          </p:nvSpPr>
          <p:spPr>
            <a:xfrm>
              <a:off x="4447882" y="1820627"/>
              <a:ext cx="44749" cy="31134"/>
            </a:xfrm>
            <a:custGeom>
              <a:avLst/>
              <a:gdLst/>
              <a:ahLst/>
              <a:cxnLst/>
              <a:rect l="0" t="0" r="r" b="b"/>
              <a:pathLst>
                <a:path w="48" h="34" fill="none">
                  <a:moveTo>
                    <a:pt x="0" y="34"/>
                  </a:moveTo>
                  <a:lnTo>
                    <a:pt x="48" y="0"/>
                  </a:lnTo>
                </a:path>
              </a:pathLst>
            </a:custGeom>
            <a:noFill/>
            <a:ln w="19050" cap="rnd">
              <a:solidFill>
                <a:srgbClr val="9A9A9A"/>
              </a:solidFill>
              <a:round/>
            </a:ln>
          </p:spPr>
        </p:sp>
        <p:sp>
          <p:nvSpPr>
            <p:cNvPr id="204" name="Flecha 300_2"/>
            <p:cNvSpPr/>
            <p:nvPr/>
          </p:nvSpPr>
          <p:spPr>
            <a:xfrm>
              <a:off x="4314063" y="1820263"/>
              <a:ext cx="55716" cy="61977"/>
            </a:xfrm>
            <a:custGeom>
              <a:avLst/>
              <a:gdLst/>
              <a:ahLst/>
              <a:cxnLst/>
              <a:rect l="0" t="0" r="r" b="b"/>
              <a:pathLst>
                <a:path w="60" h="67" fill="none">
                  <a:moveTo>
                    <a:pt x="0" y="0"/>
                  </a:moveTo>
                  <a:lnTo>
                    <a:pt x="60" y="67"/>
                  </a:lnTo>
                </a:path>
              </a:pathLst>
            </a:custGeom>
            <a:noFill/>
            <a:ln w="19050" cap="rnd">
              <a:solidFill>
                <a:srgbClr val="9A9A9A"/>
              </a:solidFill>
              <a:round/>
            </a:ln>
          </p:spPr>
        </p:sp>
        <p:sp>
          <p:nvSpPr>
            <p:cNvPr id="205" name="Flecha 302_2"/>
            <p:cNvSpPr/>
            <p:nvPr/>
          </p:nvSpPr>
          <p:spPr>
            <a:xfrm>
              <a:off x="4194658" y="1849942"/>
              <a:ext cx="40218" cy="43542"/>
            </a:xfrm>
            <a:custGeom>
              <a:avLst/>
              <a:gdLst/>
              <a:ahLst/>
              <a:cxnLst/>
              <a:rect l="0" t="0" r="r" b="b"/>
              <a:pathLst>
                <a:path w="43" h="47" fill="none">
                  <a:moveTo>
                    <a:pt x="0" y="47"/>
                  </a:moveTo>
                  <a:lnTo>
                    <a:pt x="43" y="0"/>
                  </a:lnTo>
                </a:path>
              </a:pathLst>
            </a:custGeom>
            <a:noFill/>
            <a:ln w="19050" cap="rnd">
              <a:solidFill>
                <a:srgbClr val="9A9A9A"/>
              </a:solidFill>
              <a:round/>
            </a:ln>
          </p:spPr>
        </p:sp>
        <p:sp>
          <p:nvSpPr>
            <p:cNvPr id="206" name="Flecha 304_2"/>
            <p:cNvSpPr/>
            <p:nvPr/>
          </p:nvSpPr>
          <p:spPr>
            <a:xfrm>
              <a:off x="4569320" y="1787218"/>
              <a:ext cx="55294" cy="58724"/>
            </a:xfrm>
            <a:custGeom>
              <a:avLst/>
              <a:gdLst/>
              <a:ahLst/>
              <a:cxnLst/>
              <a:rect l="0" t="0" r="r" b="b"/>
              <a:pathLst>
                <a:path w="60" h="64" fill="none">
                  <a:moveTo>
                    <a:pt x="0" y="0"/>
                  </a:moveTo>
                  <a:lnTo>
                    <a:pt x="60" y="64"/>
                  </a:lnTo>
                </a:path>
              </a:pathLst>
            </a:custGeom>
            <a:noFill/>
            <a:ln w="19050" cap="rnd">
              <a:solidFill>
                <a:srgbClr val="9A9A9A"/>
              </a:solidFill>
              <a:round/>
            </a:ln>
          </p:spPr>
        </p:sp>
        <p:sp>
          <p:nvSpPr>
            <p:cNvPr id="207" name="Átomo C_83"/>
            <p:cNvSpPr/>
            <p:nvPr/>
          </p:nvSpPr>
          <p:spPr>
            <a:xfrm>
              <a:off x="4346495" y="1858956"/>
              <a:ext cx="46567" cy="4656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8" name="Átomo C_84"/>
            <p:cNvSpPr/>
            <p:nvPr/>
          </p:nvSpPr>
          <p:spPr>
            <a:xfrm>
              <a:off x="4601287" y="1822614"/>
              <a:ext cx="46655" cy="466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09" name="Flecha 308_2"/>
            <p:cNvSpPr/>
            <p:nvPr/>
          </p:nvSpPr>
          <p:spPr>
            <a:xfrm>
              <a:off x="4369779" y="1851761"/>
              <a:ext cx="78103" cy="30479"/>
            </a:xfrm>
            <a:custGeom>
              <a:avLst/>
              <a:gdLst/>
              <a:ahLst/>
              <a:cxnLst/>
              <a:rect l="0" t="0" r="r" b="b"/>
              <a:pathLst>
                <a:path w="85" h="33" fill="none">
                  <a:moveTo>
                    <a:pt x="0" y="33"/>
                  </a:moveTo>
                  <a:lnTo>
                    <a:pt x="85" y="0"/>
                  </a:lnTo>
                </a:path>
              </a:pathLst>
            </a:custGeom>
            <a:noFill/>
            <a:ln w="19050" cap="rnd">
              <a:solidFill>
                <a:srgbClr val="9A9A9A"/>
              </a:solidFill>
              <a:round/>
            </a:ln>
          </p:spPr>
        </p:sp>
        <p:sp>
          <p:nvSpPr>
            <p:cNvPr id="210" name="Flecha 310_2"/>
            <p:cNvSpPr/>
            <p:nvPr/>
          </p:nvSpPr>
          <p:spPr>
            <a:xfrm>
              <a:off x="4624614" y="1814846"/>
              <a:ext cx="80084" cy="31096"/>
            </a:xfrm>
            <a:custGeom>
              <a:avLst/>
              <a:gdLst/>
              <a:ahLst/>
              <a:cxnLst/>
              <a:rect l="0" t="0" r="r" b="b"/>
              <a:pathLst>
                <a:path w="87" h="34" fill="none">
                  <a:moveTo>
                    <a:pt x="0" y="34"/>
                  </a:moveTo>
                  <a:lnTo>
                    <a:pt x="87" y="0"/>
                  </a:lnTo>
                </a:path>
              </a:pathLst>
            </a:custGeom>
            <a:noFill/>
            <a:ln w="19050" cap="rnd">
              <a:solidFill>
                <a:srgbClr val="9A9A9A"/>
              </a:solidFill>
              <a:round/>
            </a:ln>
          </p:spPr>
        </p:sp>
        <p:sp>
          <p:nvSpPr>
            <p:cNvPr id="211" name="Átomo C_85"/>
            <p:cNvSpPr/>
            <p:nvPr/>
          </p:nvSpPr>
          <p:spPr>
            <a:xfrm>
              <a:off x="4681316" y="1791463"/>
              <a:ext cx="46765" cy="4676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2" name="Átomo C_86"/>
            <p:cNvSpPr/>
            <p:nvPr/>
          </p:nvSpPr>
          <p:spPr>
            <a:xfrm>
              <a:off x="4171269" y="1870096"/>
              <a:ext cx="46777" cy="4677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3" name="Átomo C_87"/>
            <p:cNvSpPr/>
            <p:nvPr/>
          </p:nvSpPr>
          <p:spPr>
            <a:xfrm>
              <a:off x="4424488" y="1828367"/>
              <a:ext cx="46788" cy="4678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4" name="Átomo C_88"/>
            <p:cNvSpPr/>
            <p:nvPr/>
          </p:nvSpPr>
          <p:spPr>
            <a:xfrm>
              <a:off x="3749568" y="1754940"/>
              <a:ext cx="46919" cy="4691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5" name="Flecha 316_2"/>
            <p:cNvSpPr/>
            <p:nvPr/>
          </p:nvSpPr>
          <p:spPr>
            <a:xfrm>
              <a:off x="3773027" y="1753614"/>
              <a:ext cx="79026" cy="24786"/>
            </a:xfrm>
            <a:custGeom>
              <a:avLst/>
              <a:gdLst/>
              <a:ahLst/>
              <a:cxnLst/>
              <a:rect l="0" t="0" r="r" b="b"/>
              <a:pathLst>
                <a:path w="86" h="27" fill="none">
                  <a:moveTo>
                    <a:pt x="86" y="0"/>
                  </a:moveTo>
                  <a:lnTo>
                    <a:pt x="0" y="27"/>
                  </a:lnTo>
                </a:path>
              </a:pathLst>
            </a:custGeom>
            <a:noFill/>
            <a:ln w="19050" cap="rnd">
              <a:solidFill>
                <a:srgbClr val="9A9A9A"/>
              </a:solidFill>
              <a:round/>
            </a:ln>
          </p:spPr>
        </p:sp>
        <p:sp>
          <p:nvSpPr>
            <p:cNvPr id="216" name="Flecha 318_2"/>
            <p:cNvSpPr/>
            <p:nvPr/>
          </p:nvSpPr>
          <p:spPr>
            <a:xfrm>
              <a:off x="4704698" y="1752940"/>
              <a:ext cx="9144" cy="61905"/>
            </a:xfrm>
            <a:custGeom>
              <a:avLst/>
              <a:gdLst/>
              <a:ahLst/>
              <a:cxnLst/>
              <a:rect l="0" t="0" r="r" b="b"/>
              <a:pathLst>
                <a:path w="10" h="67" fill="none">
                  <a:moveTo>
                    <a:pt x="0" y="67"/>
                  </a:moveTo>
                  <a:lnTo>
                    <a:pt x="5" y="0"/>
                  </a:lnTo>
                </a:path>
              </a:pathLst>
            </a:custGeom>
            <a:noFill/>
            <a:ln w="19050" cap="rnd">
              <a:solidFill>
                <a:srgbClr val="9A9A9A"/>
              </a:solidFill>
              <a:round/>
            </a:ln>
          </p:spPr>
        </p:sp>
        <p:sp>
          <p:nvSpPr>
            <p:cNvPr id="217" name="Flecha 320_2"/>
            <p:cNvSpPr/>
            <p:nvPr/>
          </p:nvSpPr>
          <p:spPr>
            <a:xfrm>
              <a:off x="4186055" y="1848276"/>
              <a:ext cx="9144" cy="45208"/>
            </a:xfrm>
            <a:custGeom>
              <a:avLst/>
              <a:gdLst/>
              <a:ahLst/>
              <a:cxnLst/>
              <a:rect l="0" t="0" r="r" b="b"/>
              <a:pathLst>
                <a:path w="10" h="49" fill="none">
                  <a:moveTo>
                    <a:pt x="0" y="0"/>
                  </a:moveTo>
                  <a:lnTo>
                    <a:pt x="9" y="49"/>
                  </a:lnTo>
                </a:path>
              </a:pathLst>
            </a:custGeom>
            <a:noFill/>
            <a:ln w="19050" cap="rnd">
              <a:solidFill>
                <a:srgbClr val="9A9A9A"/>
              </a:solidFill>
              <a:round/>
            </a:ln>
          </p:spPr>
        </p:sp>
        <p:sp>
          <p:nvSpPr>
            <p:cNvPr id="218" name="Átomo C_89"/>
            <p:cNvSpPr/>
            <p:nvPr/>
          </p:nvSpPr>
          <p:spPr>
            <a:xfrm>
              <a:off x="3828477" y="1730038"/>
              <a:ext cx="47151" cy="4715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19" name="Átomo C_90"/>
            <p:cNvSpPr/>
            <p:nvPr/>
          </p:nvSpPr>
          <p:spPr>
            <a:xfrm>
              <a:off x="3925192" y="2027422"/>
              <a:ext cx="47304" cy="4730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0" name="Átomo C_91"/>
            <p:cNvSpPr/>
            <p:nvPr/>
          </p:nvSpPr>
          <p:spPr>
            <a:xfrm>
              <a:off x="4685991" y="1729256"/>
              <a:ext cx="47370" cy="4737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1" name="Flecha 325_2"/>
            <p:cNvSpPr/>
            <p:nvPr/>
          </p:nvSpPr>
          <p:spPr>
            <a:xfrm>
              <a:off x="3850211" y="1701291"/>
              <a:ext cx="9144" cy="52323"/>
            </a:xfrm>
            <a:custGeom>
              <a:avLst/>
              <a:gdLst/>
              <a:ahLst/>
              <a:cxnLst/>
              <a:rect l="0" t="0" r="r" b="b"/>
              <a:pathLst>
                <a:path w="10" h="57" fill="none">
                  <a:moveTo>
                    <a:pt x="0" y="0"/>
                  </a:moveTo>
                  <a:lnTo>
                    <a:pt x="2" y="57"/>
                  </a:lnTo>
                </a:path>
              </a:pathLst>
            </a:custGeom>
            <a:noFill/>
            <a:ln w="19050" cap="rnd">
              <a:solidFill>
                <a:srgbClr val="9A9A9A"/>
              </a:solidFill>
              <a:round/>
            </a:ln>
          </p:spPr>
        </p:sp>
        <p:sp>
          <p:nvSpPr>
            <p:cNvPr id="222" name="Flecha 327_2"/>
            <p:cNvSpPr/>
            <p:nvPr/>
          </p:nvSpPr>
          <p:spPr>
            <a:xfrm>
              <a:off x="3948844" y="2051074"/>
              <a:ext cx="14837" cy="73079"/>
            </a:xfrm>
            <a:custGeom>
              <a:avLst/>
              <a:gdLst/>
              <a:ahLst/>
              <a:cxnLst/>
              <a:rect l="0" t="0" r="r" b="b"/>
              <a:pathLst>
                <a:path w="16" h="79" fill="none">
                  <a:moveTo>
                    <a:pt x="0" y="0"/>
                  </a:moveTo>
                  <a:lnTo>
                    <a:pt x="16" y="79"/>
                  </a:lnTo>
                </a:path>
              </a:pathLst>
            </a:custGeom>
            <a:noFill/>
            <a:ln w="19050" cap="rnd">
              <a:solidFill>
                <a:srgbClr val="9A9A9A"/>
              </a:solidFill>
              <a:round/>
            </a:ln>
          </p:spPr>
        </p:sp>
        <p:sp>
          <p:nvSpPr>
            <p:cNvPr id="223" name="Átomo C_92"/>
            <p:cNvSpPr/>
            <p:nvPr/>
          </p:nvSpPr>
          <p:spPr>
            <a:xfrm>
              <a:off x="4162295" y="1824516"/>
              <a:ext cx="47520" cy="4752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4" name="Flecha 330_2"/>
            <p:cNvSpPr/>
            <p:nvPr/>
          </p:nvSpPr>
          <p:spPr>
            <a:xfrm>
              <a:off x="3929708" y="1982240"/>
              <a:ext cx="19136" cy="68834"/>
            </a:xfrm>
            <a:custGeom>
              <a:avLst/>
              <a:gdLst/>
              <a:ahLst/>
              <a:cxnLst/>
              <a:rect l="0" t="0" r="r" b="b"/>
              <a:pathLst>
                <a:path w="20" h="75" fill="none">
                  <a:moveTo>
                    <a:pt x="0" y="0"/>
                  </a:moveTo>
                  <a:lnTo>
                    <a:pt x="20" y="75"/>
                  </a:lnTo>
                </a:path>
              </a:pathLst>
            </a:custGeom>
            <a:noFill/>
            <a:ln w="19050" cap="rnd">
              <a:solidFill>
                <a:srgbClr val="9A9A9A"/>
              </a:solidFill>
              <a:round/>
            </a:ln>
          </p:spPr>
        </p:sp>
        <p:sp>
          <p:nvSpPr>
            <p:cNvPr id="225" name="Átomo C_93"/>
            <p:cNvSpPr/>
            <p:nvPr/>
          </p:nvSpPr>
          <p:spPr>
            <a:xfrm>
              <a:off x="3939807" y="2100280"/>
              <a:ext cx="47747" cy="4774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6" name="Átomo C_94"/>
            <p:cNvSpPr/>
            <p:nvPr/>
          </p:nvSpPr>
          <p:spPr>
            <a:xfrm>
              <a:off x="3905806" y="1958339"/>
              <a:ext cx="47803" cy="4780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7" name="Flecha 334_2"/>
            <p:cNvSpPr/>
            <p:nvPr/>
          </p:nvSpPr>
          <p:spPr>
            <a:xfrm>
              <a:off x="4143542" y="1848276"/>
              <a:ext cx="42513" cy="43213"/>
            </a:xfrm>
            <a:custGeom>
              <a:avLst/>
              <a:gdLst/>
              <a:ahLst/>
              <a:cxnLst/>
              <a:rect l="0" t="0" r="r" b="b"/>
              <a:pathLst>
                <a:path w="46" h="47" fill="none">
                  <a:moveTo>
                    <a:pt x="0" y="47"/>
                  </a:moveTo>
                  <a:lnTo>
                    <a:pt x="46" y="0"/>
                  </a:lnTo>
                </a:path>
              </a:pathLst>
            </a:custGeom>
            <a:noFill/>
            <a:ln w="19050" cap="rnd">
              <a:solidFill>
                <a:srgbClr val="9A9A9A"/>
              </a:solidFill>
              <a:round/>
            </a:ln>
          </p:spPr>
        </p:sp>
        <p:sp>
          <p:nvSpPr>
            <p:cNvPr id="228" name="Átomo C_95"/>
            <p:cNvSpPr/>
            <p:nvPr/>
          </p:nvSpPr>
          <p:spPr>
            <a:xfrm>
              <a:off x="3826285" y="1677366"/>
              <a:ext cx="47850" cy="4785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29" name="Flecha 337_2"/>
            <p:cNvSpPr/>
            <p:nvPr/>
          </p:nvSpPr>
          <p:spPr>
            <a:xfrm>
              <a:off x="3850211" y="1681457"/>
              <a:ext cx="79922" cy="19834"/>
            </a:xfrm>
            <a:custGeom>
              <a:avLst/>
              <a:gdLst/>
              <a:ahLst/>
              <a:cxnLst/>
              <a:rect l="0" t="0" r="r" b="b"/>
              <a:pathLst>
                <a:path w="87" h="21" fill="none">
                  <a:moveTo>
                    <a:pt x="87" y="0"/>
                  </a:moveTo>
                  <a:lnTo>
                    <a:pt x="0" y="21"/>
                  </a:lnTo>
                </a:path>
              </a:pathLst>
            </a:custGeom>
            <a:noFill/>
            <a:ln w="19050" cap="rnd">
              <a:solidFill>
                <a:srgbClr val="9A9A9A"/>
              </a:solidFill>
              <a:round/>
            </a:ln>
          </p:spPr>
        </p:sp>
        <p:sp>
          <p:nvSpPr>
            <p:cNvPr id="230" name="Flecha 339_2"/>
            <p:cNvSpPr/>
            <p:nvPr/>
          </p:nvSpPr>
          <p:spPr>
            <a:xfrm>
              <a:off x="3963681" y="2115119"/>
              <a:ext cx="58629" cy="9144"/>
            </a:xfrm>
            <a:custGeom>
              <a:avLst/>
              <a:gdLst/>
              <a:ahLst/>
              <a:cxnLst/>
              <a:rect l="0" t="0" r="r" b="b"/>
              <a:pathLst>
                <a:path w="64" h="10" fill="none">
                  <a:moveTo>
                    <a:pt x="0" y="9"/>
                  </a:moveTo>
                  <a:lnTo>
                    <a:pt x="64" y="0"/>
                  </a:lnTo>
                </a:path>
              </a:pathLst>
            </a:custGeom>
            <a:noFill/>
            <a:ln w="19050" cap="rnd">
              <a:solidFill>
                <a:srgbClr val="9A9A9A"/>
              </a:solidFill>
              <a:round/>
            </a:ln>
          </p:spPr>
        </p:sp>
        <p:sp>
          <p:nvSpPr>
            <p:cNvPr id="231" name="Flecha 341_2"/>
            <p:cNvSpPr/>
            <p:nvPr/>
          </p:nvSpPr>
          <p:spPr>
            <a:xfrm>
              <a:off x="3860076" y="1982240"/>
              <a:ext cx="69632" cy="10461"/>
            </a:xfrm>
            <a:custGeom>
              <a:avLst/>
              <a:gdLst/>
              <a:ahLst/>
              <a:cxnLst/>
              <a:rect l="0" t="0" r="r" b="b"/>
              <a:pathLst>
                <a:path w="76" h="11" fill="none">
                  <a:moveTo>
                    <a:pt x="0" y="11"/>
                  </a:moveTo>
                  <a:lnTo>
                    <a:pt x="76" y="0"/>
                  </a:lnTo>
                </a:path>
              </a:pathLst>
            </a:custGeom>
            <a:noFill/>
            <a:ln w="19050" cap="rnd">
              <a:solidFill>
                <a:srgbClr val="9A9A9A"/>
              </a:solidFill>
              <a:round/>
            </a:ln>
          </p:spPr>
        </p:sp>
        <p:sp>
          <p:nvSpPr>
            <p:cNvPr id="232" name="Átomo O_13"/>
            <p:cNvSpPr/>
            <p:nvPr/>
          </p:nvSpPr>
          <p:spPr>
            <a:xfrm>
              <a:off x="4069091" y="2078463"/>
              <a:ext cx="45315" cy="4531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33" name="Átomo C_96"/>
            <p:cNvSpPr/>
            <p:nvPr/>
          </p:nvSpPr>
          <p:spPr>
            <a:xfrm>
              <a:off x="3906073" y="1657397"/>
              <a:ext cx="48121" cy="4812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34" name="Átomo C_97"/>
            <p:cNvSpPr/>
            <p:nvPr/>
          </p:nvSpPr>
          <p:spPr>
            <a:xfrm>
              <a:off x="4119477" y="1867424"/>
              <a:ext cx="48131" cy="4813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35" name="Flecha 346_2"/>
            <p:cNvSpPr/>
            <p:nvPr/>
          </p:nvSpPr>
          <p:spPr>
            <a:xfrm>
              <a:off x="4143542" y="1891489"/>
              <a:ext cx="33718" cy="67764"/>
            </a:xfrm>
            <a:custGeom>
              <a:avLst/>
              <a:gdLst/>
              <a:ahLst/>
              <a:cxnLst/>
              <a:rect l="0" t="0" r="r" b="b"/>
              <a:pathLst>
                <a:path w="36" h="74" fill="none">
                  <a:moveTo>
                    <a:pt x="36" y="74"/>
                  </a:moveTo>
                  <a:lnTo>
                    <a:pt x="0" y="0"/>
                  </a:lnTo>
                </a:path>
              </a:pathLst>
            </a:custGeom>
            <a:noFill/>
            <a:ln w="19050" cap="rnd">
              <a:solidFill>
                <a:srgbClr val="9A9A9A"/>
              </a:solidFill>
              <a:round/>
            </a:ln>
          </p:spPr>
        </p:sp>
        <p:sp>
          <p:nvSpPr>
            <p:cNvPr id="236" name="Flecha 348_2"/>
            <p:cNvSpPr/>
            <p:nvPr/>
          </p:nvSpPr>
          <p:spPr>
            <a:xfrm>
              <a:off x="4022309" y="2101120"/>
              <a:ext cx="69439" cy="13998"/>
            </a:xfrm>
            <a:custGeom>
              <a:avLst/>
              <a:gdLst/>
              <a:ahLst/>
              <a:cxnLst/>
              <a:rect l="0" t="0" r="r" b="b"/>
              <a:pathLst>
                <a:path w="75" h="15" fill="none">
                  <a:moveTo>
                    <a:pt x="0" y="15"/>
                  </a:moveTo>
                  <a:lnTo>
                    <a:pt x="75" y="0"/>
                  </a:lnTo>
                </a:path>
              </a:pathLst>
            </a:custGeom>
            <a:noFill/>
            <a:ln w="19050" cap="rnd">
              <a:solidFill>
                <a:srgbClr val="9A9A9A"/>
              </a:solidFill>
              <a:round/>
            </a:ln>
          </p:spPr>
        </p:sp>
        <p:sp>
          <p:nvSpPr>
            <p:cNvPr id="237" name="Átomo O_14"/>
            <p:cNvSpPr/>
            <p:nvPr/>
          </p:nvSpPr>
          <p:spPr>
            <a:xfrm>
              <a:off x="4154508" y="1936501"/>
              <a:ext cx="45505" cy="4550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38" name="Flecha 351_2"/>
            <p:cNvSpPr/>
            <p:nvPr/>
          </p:nvSpPr>
          <p:spPr>
            <a:xfrm>
              <a:off x="4090733" y="1861908"/>
              <a:ext cx="54913" cy="24952"/>
            </a:xfrm>
            <a:custGeom>
              <a:avLst/>
              <a:gdLst/>
              <a:ahLst/>
              <a:cxnLst/>
              <a:rect l="0" t="0" r="r" b="b"/>
              <a:pathLst>
                <a:path w="60" h="27" fill="none">
                  <a:moveTo>
                    <a:pt x="60" y="27"/>
                  </a:moveTo>
                  <a:lnTo>
                    <a:pt x="0" y="0"/>
                  </a:lnTo>
                </a:path>
              </a:pathLst>
            </a:custGeom>
            <a:noFill/>
            <a:ln w="15240" cap="rnd">
              <a:solidFill>
                <a:srgbClr val="9A9A9A"/>
              </a:solidFill>
              <a:round/>
            </a:ln>
          </p:spPr>
        </p:sp>
        <p:sp>
          <p:nvSpPr>
            <p:cNvPr id="239" name="Flecha 353_2"/>
            <p:cNvSpPr/>
            <p:nvPr/>
          </p:nvSpPr>
          <p:spPr>
            <a:xfrm>
              <a:off x="4086525" y="1871168"/>
              <a:ext cx="54913" cy="24952"/>
            </a:xfrm>
            <a:custGeom>
              <a:avLst/>
              <a:gdLst/>
              <a:ahLst/>
              <a:cxnLst/>
              <a:rect l="0" t="0" r="r" b="b"/>
              <a:pathLst>
                <a:path w="60" h="27" fill="none">
                  <a:moveTo>
                    <a:pt x="60" y="27"/>
                  </a:moveTo>
                  <a:lnTo>
                    <a:pt x="0" y="0"/>
                  </a:lnTo>
                </a:path>
              </a:pathLst>
            </a:custGeom>
            <a:noFill/>
            <a:ln w="15240" cap="rnd">
              <a:solidFill>
                <a:srgbClr val="9A9A9A"/>
              </a:solidFill>
              <a:round/>
            </a:ln>
          </p:spPr>
        </p:sp>
        <p:sp>
          <p:nvSpPr>
            <p:cNvPr id="240" name="Átomo C_98"/>
            <p:cNvSpPr/>
            <p:nvPr/>
          </p:nvSpPr>
          <p:spPr>
            <a:xfrm>
              <a:off x="3835919" y="1968544"/>
              <a:ext cx="48313" cy="4831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1" name="Flecha 356_2"/>
            <p:cNvSpPr/>
            <p:nvPr/>
          </p:nvSpPr>
          <p:spPr>
            <a:xfrm>
              <a:off x="4091748" y="2087466"/>
              <a:ext cx="58712" cy="13654"/>
            </a:xfrm>
            <a:custGeom>
              <a:avLst/>
              <a:gdLst/>
              <a:ahLst/>
              <a:cxnLst/>
              <a:rect l="0" t="0" r="r" b="b"/>
              <a:pathLst>
                <a:path w="64" h="14" fill="none">
                  <a:moveTo>
                    <a:pt x="0" y="14"/>
                  </a:moveTo>
                  <a:lnTo>
                    <a:pt x="64" y="0"/>
                  </a:lnTo>
                </a:path>
              </a:pathLst>
            </a:custGeom>
            <a:noFill/>
            <a:ln w="19050" cap="rnd">
              <a:solidFill>
                <a:srgbClr val="9A9A9A"/>
              </a:solidFill>
              <a:round/>
            </a:ln>
          </p:spPr>
        </p:sp>
        <p:sp>
          <p:nvSpPr>
            <p:cNvPr id="242" name="Átomo C_99"/>
            <p:cNvSpPr/>
            <p:nvPr/>
          </p:nvSpPr>
          <p:spPr>
            <a:xfrm>
              <a:off x="3998125" y="2090935"/>
              <a:ext cx="48368" cy="4836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3" name="Flecha 359_2"/>
            <p:cNvSpPr/>
            <p:nvPr/>
          </p:nvSpPr>
          <p:spPr>
            <a:xfrm>
              <a:off x="3928287" y="1623333"/>
              <a:ext cx="9144" cy="58124"/>
            </a:xfrm>
            <a:custGeom>
              <a:avLst/>
              <a:gdLst/>
              <a:ahLst/>
              <a:cxnLst/>
              <a:rect l="0" t="0" r="r" b="b"/>
              <a:pathLst>
                <a:path w="10" h="63" fill="none">
                  <a:moveTo>
                    <a:pt x="0" y="0"/>
                  </a:moveTo>
                  <a:lnTo>
                    <a:pt x="2" y="63"/>
                  </a:lnTo>
                </a:path>
              </a:pathLst>
            </a:custGeom>
            <a:noFill/>
            <a:ln w="19050" cap="rnd">
              <a:solidFill>
                <a:srgbClr val="9A9A9A"/>
              </a:solidFill>
              <a:round/>
            </a:ln>
          </p:spPr>
        </p:sp>
        <p:sp>
          <p:nvSpPr>
            <p:cNvPr id="244" name="Átomo O_15"/>
            <p:cNvSpPr/>
            <p:nvPr/>
          </p:nvSpPr>
          <p:spPr>
            <a:xfrm>
              <a:off x="4065777" y="1843686"/>
              <a:ext cx="45703" cy="4570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45" name="Flecha 362_2"/>
            <p:cNvSpPr/>
            <p:nvPr/>
          </p:nvSpPr>
          <p:spPr>
            <a:xfrm>
              <a:off x="3845583" y="1922076"/>
              <a:ext cx="14493" cy="70625"/>
            </a:xfrm>
            <a:custGeom>
              <a:avLst/>
              <a:gdLst/>
              <a:ahLst/>
              <a:cxnLst/>
              <a:rect l="0" t="0" r="r" b="b"/>
              <a:pathLst>
                <a:path w="15" h="77" fill="none">
                  <a:moveTo>
                    <a:pt x="0" y="0"/>
                  </a:moveTo>
                  <a:lnTo>
                    <a:pt x="15" y="77"/>
                  </a:lnTo>
                </a:path>
              </a:pathLst>
            </a:custGeom>
            <a:noFill/>
            <a:ln w="19050" cap="rnd">
              <a:solidFill>
                <a:srgbClr val="9A9A9A"/>
              </a:solidFill>
              <a:round/>
            </a:ln>
          </p:spPr>
        </p:sp>
        <p:sp>
          <p:nvSpPr>
            <p:cNvPr id="246" name="Flecha 364_2"/>
            <p:cNvSpPr/>
            <p:nvPr/>
          </p:nvSpPr>
          <p:spPr>
            <a:xfrm>
              <a:off x="4148173" y="1959253"/>
              <a:ext cx="29087" cy="45727"/>
            </a:xfrm>
            <a:custGeom>
              <a:avLst/>
              <a:gdLst/>
              <a:ahLst/>
              <a:cxnLst/>
              <a:rect l="0" t="0" r="r" b="b"/>
              <a:pathLst>
                <a:path w="31" h="50" fill="none">
                  <a:moveTo>
                    <a:pt x="0" y="50"/>
                  </a:moveTo>
                  <a:lnTo>
                    <a:pt x="31" y="0"/>
                  </a:lnTo>
                </a:path>
              </a:pathLst>
            </a:custGeom>
            <a:noFill/>
            <a:ln w="19050" cap="rnd">
              <a:solidFill>
                <a:srgbClr val="9A9A9A"/>
              </a:solidFill>
              <a:round/>
            </a:ln>
          </p:spPr>
        </p:sp>
        <p:sp>
          <p:nvSpPr>
            <p:cNvPr id="247" name="Átomo C_100"/>
            <p:cNvSpPr/>
            <p:nvPr/>
          </p:nvSpPr>
          <p:spPr>
            <a:xfrm>
              <a:off x="4126150" y="2063156"/>
              <a:ext cx="48620" cy="4862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48" name="Flecha 367_2"/>
            <p:cNvSpPr/>
            <p:nvPr/>
          </p:nvSpPr>
          <p:spPr>
            <a:xfrm>
              <a:off x="4007210" y="2110244"/>
              <a:ext cx="13652" cy="9144"/>
            </a:xfrm>
            <a:custGeom>
              <a:avLst/>
              <a:gdLst/>
              <a:ahLst/>
              <a:cxnLst/>
              <a:rect l="0" t="0" r="r" b="b"/>
              <a:pathLst>
                <a:path w="14" h="10" fill="none">
                  <a:moveTo>
                    <a:pt x="14" y="0"/>
                  </a:moveTo>
                  <a:lnTo>
                    <a:pt x="0" y="4"/>
                  </a:lnTo>
                </a:path>
              </a:pathLst>
            </a:custGeom>
            <a:noFill/>
            <a:ln w="15240" cap="rnd">
              <a:solidFill>
                <a:srgbClr val="9A9A9A"/>
              </a:solidFill>
              <a:round/>
            </a:ln>
          </p:spPr>
        </p:sp>
        <p:sp>
          <p:nvSpPr>
            <p:cNvPr id="249" name="Flecha 369_2"/>
            <p:cNvSpPr/>
            <p:nvPr/>
          </p:nvSpPr>
          <p:spPr>
            <a:xfrm>
              <a:off x="4010105" y="2119994"/>
              <a:ext cx="13652" cy="9144"/>
            </a:xfrm>
            <a:custGeom>
              <a:avLst/>
              <a:gdLst/>
              <a:ahLst/>
              <a:cxnLst/>
              <a:rect l="0" t="0" r="r" b="b"/>
              <a:pathLst>
                <a:path w="14" h="10" fill="none">
                  <a:moveTo>
                    <a:pt x="14" y="0"/>
                  </a:moveTo>
                  <a:lnTo>
                    <a:pt x="0" y="4"/>
                  </a:lnTo>
                </a:path>
              </a:pathLst>
            </a:custGeom>
            <a:noFill/>
            <a:ln w="15240" cap="rnd">
              <a:solidFill>
                <a:srgbClr val="9A9A9A"/>
              </a:solidFill>
              <a:round/>
            </a:ln>
          </p:spPr>
        </p:sp>
        <p:sp>
          <p:nvSpPr>
            <p:cNvPr id="250" name="Flecha 371_2"/>
            <p:cNvSpPr/>
            <p:nvPr/>
          </p:nvSpPr>
          <p:spPr>
            <a:xfrm>
              <a:off x="4148173" y="2004980"/>
              <a:ext cx="9144" cy="82486"/>
            </a:xfrm>
            <a:custGeom>
              <a:avLst/>
              <a:gdLst/>
              <a:ahLst/>
              <a:cxnLst/>
              <a:rect l="0" t="0" r="r" b="b"/>
              <a:pathLst>
                <a:path w="10" h="90" fill="none">
                  <a:moveTo>
                    <a:pt x="2" y="90"/>
                  </a:moveTo>
                  <a:lnTo>
                    <a:pt x="0" y="0"/>
                  </a:lnTo>
                </a:path>
              </a:pathLst>
            </a:custGeom>
            <a:noFill/>
            <a:ln w="19050" cap="rnd">
              <a:solidFill>
                <a:srgbClr val="9A9A9A"/>
              </a:solidFill>
              <a:round/>
            </a:ln>
          </p:spPr>
        </p:sp>
        <p:sp>
          <p:nvSpPr>
            <p:cNvPr id="251" name="Átomo C_101"/>
            <p:cNvSpPr/>
            <p:nvPr/>
          </p:nvSpPr>
          <p:spPr>
            <a:xfrm>
              <a:off x="3903901" y="1598947"/>
              <a:ext cx="48772" cy="4877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52" name="Átomo C_102"/>
            <p:cNvSpPr/>
            <p:nvPr/>
          </p:nvSpPr>
          <p:spPr>
            <a:xfrm>
              <a:off x="3821183" y="1897676"/>
              <a:ext cx="48800" cy="4880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53" name="Átomo C_103"/>
            <p:cNvSpPr/>
            <p:nvPr/>
          </p:nvSpPr>
          <p:spPr>
            <a:xfrm>
              <a:off x="4123728" y="1980535"/>
              <a:ext cx="48890" cy="488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54" name="Flecha 376_2"/>
            <p:cNvSpPr/>
            <p:nvPr/>
          </p:nvSpPr>
          <p:spPr>
            <a:xfrm>
              <a:off x="3928287" y="1599685"/>
              <a:ext cx="78846" cy="23648"/>
            </a:xfrm>
            <a:custGeom>
              <a:avLst/>
              <a:gdLst/>
              <a:ahLst/>
              <a:cxnLst/>
              <a:rect l="0" t="0" r="r" b="b"/>
              <a:pathLst>
                <a:path w="86" h="25" fill="none">
                  <a:moveTo>
                    <a:pt x="86" y="0"/>
                  </a:moveTo>
                  <a:lnTo>
                    <a:pt x="0" y="25"/>
                  </a:lnTo>
                </a:path>
              </a:pathLst>
            </a:custGeom>
            <a:noFill/>
            <a:ln w="19050" cap="rnd">
              <a:solidFill>
                <a:srgbClr val="9A9A9A"/>
              </a:solidFill>
              <a:round/>
            </a:ln>
          </p:spPr>
        </p:sp>
        <p:sp>
          <p:nvSpPr>
            <p:cNvPr id="255" name="Átomo C_104"/>
            <p:cNvSpPr/>
            <p:nvPr/>
          </p:nvSpPr>
          <p:spPr>
            <a:xfrm>
              <a:off x="3982611" y="1575163"/>
              <a:ext cx="49044" cy="4904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56" name="Átomo O_16"/>
            <p:cNvSpPr/>
            <p:nvPr/>
          </p:nvSpPr>
          <p:spPr>
            <a:xfrm>
              <a:off x="3985530" y="2096045"/>
              <a:ext cx="46254" cy="4625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57" name="Flecha 380_2"/>
            <p:cNvSpPr/>
            <p:nvPr/>
          </p:nvSpPr>
          <p:spPr>
            <a:xfrm>
              <a:off x="3778783" y="1922076"/>
              <a:ext cx="66800" cy="11030"/>
            </a:xfrm>
            <a:custGeom>
              <a:avLst/>
              <a:gdLst/>
              <a:ahLst/>
              <a:cxnLst/>
              <a:rect l="0" t="0" r="r" b="b"/>
              <a:pathLst>
                <a:path w="73" h="12" fill="none">
                  <a:moveTo>
                    <a:pt x="0" y="12"/>
                  </a:moveTo>
                  <a:lnTo>
                    <a:pt x="73" y="0"/>
                  </a:lnTo>
                </a:path>
              </a:pathLst>
            </a:custGeom>
            <a:noFill/>
            <a:ln w="19050" cap="rnd">
              <a:solidFill>
                <a:srgbClr val="9A9A9A"/>
              </a:solidFill>
              <a:round/>
            </a:ln>
          </p:spPr>
        </p:sp>
        <p:sp>
          <p:nvSpPr>
            <p:cNvPr id="258" name="Flecha 382_2"/>
            <p:cNvSpPr/>
            <p:nvPr/>
          </p:nvSpPr>
          <p:spPr>
            <a:xfrm>
              <a:off x="4148173" y="1993176"/>
              <a:ext cx="51295" cy="11804"/>
            </a:xfrm>
            <a:custGeom>
              <a:avLst/>
              <a:gdLst/>
              <a:ahLst/>
              <a:cxnLst/>
              <a:rect l="0" t="0" r="r" b="b"/>
              <a:pathLst>
                <a:path w="56" h="12" fill="none">
                  <a:moveTo>
                    <a:pt x="0" y="12"/>
                  </a:moveTo>
                  <a:lnTo>
                    <a:pt x="56" y="0"/>
                  </a:lnTo>
                </a:path>
              </a:pathLst>
            </a:custGeom>
            <a:noFill/>
            <a:ln w="19050" cap="rnd">
              <a:solidFill>
                <a:srgbClr val="9A9A9A"/>
              </a:solidFill>
              <a:round/>
            </a:ln>
          </p:spPr>
        </p:sp>
        <p:sp>
          <p:nvSpPr>
            <p:cNvPr id="259" name="Flecha 384_2"/>
            <p:cNvSpPr/>
            <p:nvPr/>
          </p:nvSpPr>
          <p:spPr>
            <a:xfrm>
              <a:off x="4007133" y="1599685"/>
              <a:ext cx="39634" cy="60858"/>
            </a:xfrm>
            <a:custGeom>
              <a:avLst/>
              <a:gdLst/>
              <a:ahLst/>
              <a:cxnLst/>
              <a:rect l="0" t="0" r="r" b="b"/>
              <a:pathLst>
                <a:path w="43" h="66" fill="none">
                  <a:moveTo>
                    <a:pt x="43" y="66"/>
                  </a:moveTo>
                  <a:lnTo>
                    <a:pt x="0" y="0"/>
                  </a:lnTo>
                </a:path>
              </a:pathLst>
            </a:custGeom>
            <a:noFill/>
            <a:ln w="19050" cap="rnd">
              <a:solidFill>
                <a:srgbClr val="9A9A9A"/>
              </a:solidFill>
              <a:round/>
            </a:ln>
          </p:spPr>
        </p:sp>
        <p:sp>
          <p:nvSpPr>
            <p:cNvPr id="260" name="Átomo C_105"/>
            <p:cNvSpPr/>
            <p:nvPr/>
          </p:nvSpPr>
          <p:spPr>
            <a:xfrm>
              <a:off x="3754111" y="1908434"/>
              <a:ext cx="49345" cy="493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1" name="Átomo C_106"/>
            <p:cNvSpPr/>
            <p:nvPr/>
          </p:nvSpPr>
          <p:spPr>
            <a:xfrm>
              <a:off x="4022006" y="1635781"/>
              <a:ext cx="49523" cy="4952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2" name="Flecha 388_2"/>
            <p:cNvSpPr/>
            <p:nvPr/>
          </p:nvSpPr>
          <p:spPr>
            <a:xfrm>
              <a:off x="3765400" y="1862633"/>
              <a:ext cx="13383" cy="70473"/>
            </a:xfrm>
            <a:custGeom>
              <a:avLst/>
              <a:gdLst/>
              <a:ahLst/>
              <a:cxnLst/>
              <a:rect l="0" t="0" r="r" b="b"/>
              <a:pathLst>
                <a:path w="14" h="77" fill="none">
                  <a:moveTo>
                    <a:pt x="0" y="0"/>
                  </a:moveTo>
                  <a:lnTo>
                    <a:pt x="14" y="77"/>
                  </a:lnTo>
                </a:path>
              </a:pathLst>
            </a:custGeom>
            <a:noFill/>
            <a:ln w="19050" cap="rnd">
              <a:solidFill>
                <a:srgbClr val="9A9A9A"/>
              </a:solidFill>
              <a:round/>
            </a:ln>
          </p:spPr>
        </p:sp>
        <p:sp>
          <p:nvSpPr>
            <p:cNvPr id="263" name="Átomo C_107"/>
            <p:cNvSpPr/>
            <p:nvPr/>
          </p:nvSpPr>
          <p:spPr>
            <a:xfrm>
              <a:off x="4174674" y="1968382"/>
              <a:ext cx="49588" cy="4958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4" name="Flecha 391_2"/>
            <p:cNvSpPr/>
            <p:nvPr/>
          </p:nvSpPr>
          <p:spPr>
            <a:xfrm>
              <a:off x="4046767" y="1633433"/>
              <a:ext cx="77713" cy="27110"/>
            </a:xfrm>
            <a:custGeom>
              <a:avLst/>
              <a:gdLst/>
              <a:ahLst/>
              <a:cxnLst/>
              <a:rect l="0" t="0" r="r" b="b"/>
              <a:pathLst>
                <a:path w="84" h="29" fill="none">
                  <a:moveTo>
                    <a:pt x="84" y="0"/>
                  </a:moveTo>
                  <a:lnTo>
                    <a:pt x="0" y="29"/>
                  </a:lnTo>
                </a:path>
              </a:pathLst>
            </a:custGeom>
            <a:noFill/>
            <a:ln w="19050" cap="rnd">
              <a:solidFill>
                <a:srgbClr val="9A9A9A"/>
              </a:solidFill>
              <a:round/>
            </a:ln>
          </p:spPr>
        </p:sp>
        <p:sp>
          <p:nvSpPr>
            <p:cNvPr id="265" name="Flecha 393_2"/>
            <p:cNvSpPr/>
            <p:nvPr/>
          </p:nvSpPr>
          <p:spPr>
            <a:xfrm>
              <a:off x="4186238" y="1918414"/>
              <a:ext cx="13230" cy="74762"/>
            </a:xfrm>
            <a:custGeom>
              <a:avLst/>
              <a:gdLst/>
              <a:ahLst/>
              <a:cxnLst/>
              <a:rect l="0" t="0" r="r" b="b"/>
              <a:pathLst>
                <a:path w="14" h="81" fill="none">
                  <a:moveTo>
                    <a:pt x="14" y="81"/>
                  </a:moveTo>
                  <a:lnTo>
                    <a:pt x="0" y="0"/>
                  </a:lnTo>
                </a:path>
              </a:pathLst>
            </a:custGeom>
            <a:noFill/>
            <a:ln w="19050" cap="rnd">
              <a:solidFill>
                <a:srgbClr val="9A9A9A"/>
              </a:solidFill>
              <a:round/>
            </a:ln>
          </p:spPr>
        </p:sp>
        <p:sp>
          <p:nvSpPr>
            <p:cNvPr id="266" name="Átomo C_108"/>
            <p:cNvSpPr/>
            <p:nvPr/>
          </p:nvSpPr>
          <p:spPr>
            <a:xfrm>
              <a:off x="4099582" y="1608535"/>
              <a:ext cx="49796" cy="4979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7" name="Átomo C_109"/>
            <p:cNvSpPr/>
            <p:nvPr/>
          </p:nvSpPr>
          <p:spPr>
            <a:xfrm>
              <a:off x="3740481" y="1837714"/>
              <a:ext cx="49838" cy="4983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8" name="Átomo O_17"/>
            <p:cNvSpPr/>
            <p:nvPr/>
          </p:nvSpPr>
          <p:spPr>
            <a:xfrm>
              <a:off x="4162722" y="1894899"/>
              <a:ext cx="47031" cy="4703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69" name="Átomo C_110"/>
            <p:cNvSpPr/>
            <p:nvPr/>
          </p:nvSpPr>
          <p:spPr>
            <a:xfrm>
              <a:off x="4151621" y="1740406"/>
              <a:ext cx="50080" cy="5008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0" name="Flecha 399_2"/>
            <p:cNvSpPr/>
            <p:nvPr/>
          </p:nvSpPr>
          <p:spPr>
            <a:xfrm>
              <a:off x="4124480" y="1633433"/>
              <a:ext cx="36827" cy="52516"/>
            </a:xfrm>
            <a:custGeom>
              <a:avLst/>
              <a:gdLst/>
              <a:ahLst/>
              <a:cxnLst/>
              <a:rect l="0" t="0" r="r" b="b"/>
              <a:pathLst>
                <a:path w="40" h="57" fill="none">
                  <a:moveTo>
                    <a:pt x="40" y="57"/>
                  </a:moveTo>
                  <a:lnTo>
                    <a:pt x="0" y="0"/>
                  </a:lnTo>
                </a:path>
              </a:pathLst>
            </a:custGeom>
            <a:noFill/>
            <a:ln w="19050" cap="rnd">
              <a:solidFill>
                <a:srgbClr val="9A9A9A"/>
              </a:solidFill>
              <a:round/>
            </a:ln>
          </p:spPr>
        </p:sp>
        <p:sp>
          <p:nvSpPr>
            <p:cNvPr id="271" name="Flecha 401_2"/>
            <p:cNvSpPr/>
            <p:nvPr/>
          </p:nvSpPr>
          <p:spPr>
            <a:xfrm>
              <a:off x="3700762" y="1862633"/>
              <a:ext cx="64638" cy="12275"/>
            </a:xfrm>
            <a:custGeom>
              <a:avLst/>
              <a:gdLst/>
              <a:ahLst/>
              <a:cxnLst/>
              <a:rect l="0" t="0" r="r" b="b"/>
              <a:pathLst>
                <a:path w="70" h="13" fill="none">
                  <a:moveTo>
                    <a:pt x="0" y="13"/>
                  </a:moveTo>
                  <a:lnTo>
                    <a:pt x="70" y="0"/>
                  </a:lnTo>
                </a:path>
              </a:pathLst>
            </a:custGeom>
            <a:noFill/>
            <a:ln w="19050" cap="rnd">
              <a:solidFill>
                <a:srgbClr val="9A9A9A"/>
              </a:solidFill>
              <a:round/>
            </a:ln>
          </p:spPr>
        </p:sp>
        <p:sp>
          <p:nvSpPr>
            <p:cNvPr id="272" name="Flecha 403_2"/>
            <p:cNvSpPr/>
            <p:nvPr/>
          </p:nvSpPr>
          <p:spPr>
            <a:xfrm>
              <a:off x="4186238" y="1892049"/>
              <a:ext cx="51897" cy="26366"/>
            </a:xfrm>
            <a:custGeom>
              <a:avLst/>
              <a:gdLst/>
              <a:ahLst/>
              <a:cxnLst/>
              <a:rect l="0" t="0" r="r" b="b"/>
              <a:pathLst>
                <a:path w="56" h="28" fill="none">
                  <a:moveTo>
                    <a:pt x="0" y="28"/>
                  </a:moveTo>
                  <a:lnTo>
                    <a:pt x="56" y="0"/>
                  </a:lnTo>
                </a:path>
              </a:pathLst>
            </a:custGeom>
            <a:noFill/>
            <a:ln w="19050" cap="rnd">
              <a:solidFill>
                <a:srgbClr val="9A9A9A"/>
              </a:solidFill>
              <a:round/>
            </a:ln>
          </p:spPr>
        </p:sp>
        <p:sp>
          <p:nvSpPr>
            <p:cNvPr id="273" name="Flecha 405_2"/>
            <p:cNvSpPr/>
            <p:nvPr/>
          </p:nvSpPr>
          <p:spPr>
            <a:xfrm>
              <a:off x="4161307" y="1685949"/>
              <a:ext cx="15354" cy="79497"/>
            </a:xfrm>
            <a:custGeom>
              <a:avLst/>
              <a:gdLst/>
              <a:ahLst/>
              <a:cxnLst/>
              <a:rect l="0" t="0" r="r" b="b"/>
              <a:pathLst>
                <a:path w="16" h="86" fill="none">
                  <a:moveTo>
                    <a:pt x="16" y="86"/>
                  </a:moveTo>
                  <a:lnTo>
                    <a:pt x="0" y="0"/>
                  </a:lnTo>
                </a:path>
              </a:pathLst>
            </a:custGeom>
            <a:noFill/>
            <a:ln w="19050" cap="rnd">
              <a:solidFill>
                <a:srgbClr val="9A9A9A"/>
              </a:solidFill>
              <a:round/>
            </a:ln>
          </p:spPr>
        </p:sp>
        <p:sp>
          <p:nvSpPr>
            <p:cNvPr id="274" name="Flecha 407_2"/>
            <p:cNvSpPr/>
            <p:nvPr/>
          </p:nvSpPr>
          <p:spPr>
            <a:xfrm>
              <a:off x="4176661" y="1765446"/>
              <a:ext cx="41151" cy="48570"/>
            </a:xfrm>
            <a:custGeom>
              <a:avLst/>
              <a:gdLst/>
              <a:ahLst/>
              <a:cxnLst/>
              <a:rect l="0" t="0" r="r" b="b"/>
              <a:pathLst>
                <a:path w="45" h="53" fill="none">
                  <a:moveTo>
                    <a:pt x="45" y="53"/>
                  </a:moveTo>
                  <a:lnTo>
                    <a:pt x="0" y="0"/>
                  </a:lnTo>
                </a:path>
              </a:pathLst>
            </a:custGeom>
            <a:noFill/>
            <a:ln w="19050" cap="rnd">
              <a:solidFill>
                <a:srgbClr val="9A9A9A"/>
              </a:solidFill>
              <a:round/>
            </a:ln>
          </p:spPr>
        </p:sp>
        <p:sp>
          <p:nvSpPr>
            <p:cNvPr id="275" name="Átomo C_111"/>
            <p:cNvSpPr/>
            <p:nvPr/>
          </p:nvSpPr>
          <p:spPr>
            <a:xfrm>
              <a:off x="4136114" y="1660756"/>
              <a:ext cx="50387" cy="5038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6" name="Átomo C_112"/>
            <p:cNvSpPr/>
            <p:nvPr/>
          </p:nvSpPr>
          <p:spPr>
            <a:xfrm>
              <a:off x="4212941" y="1866855"/>
              <a:ext cx="50388" cy="5038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7" name="Átomo C_113"/>
            <p:cNvSpPr/>
            <p:nvPr/>
          </p:nvSpPr>
          <p:spPr>
            <a:xfrm>
              <a:off x="3675558" y="1849704"/>
              <a:ext cx="50408" cy="504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8" name="Flecha 412_2"/>
            <p:cNvSpPr/>
            <p:nvPr/>
          </p:nvSpPr>
          <p:spPr>
            <a:xfrm>
              <a:off x="4235362" y="1896312"/>
              <a:ext cx="54926" cy="35724"/>
            </a:xfrm>
            <a:custGeom>
              <a:avLst/>
              <a:gdLst/>
              <a:ahLst/>
              <a:cxnLst/>
              <a:rect l="0" t="0" r="r" b="b"/>
              <a:pathLst>
                <a:path w="60" h="39" fill="none">
                  <a:moveTo>
                    <a:pt x="0" y="0"/>
                  </a:moveTo>
                  <a:lnTo>
                    <a:pt x="60" y="39"/>
                  </a:lnTo>
                </a:path>
              </a:pathLst>
            </a:custGeom>
            <a:noFill/>
            <a:ln w="15240" cap="rnd">
              <a:solidFill>
                <a:srgbClr val="9A9A9A"/>
              </a:solidFill>
              <a:round/>
            </a:ln>
          </p:spPr>
        </p:sp>
        <p:sp>
          <p:nvSpPr>
            <p:cNvPr id="279" name="Flecha 414_2"/>
            <p:cNvSpPr/>
            <p:nvPr/>
          </p:nvSpPr>
          <p:spPr>
            <a:xfrm>
              <a:off x="4240908" y="1887786"/>
              <a:ext cx="54926" cy="35724"/>
            </a:xfrm>
            <a:custGeom>
              <a:avLst/>
              <a:gdLst/>
              <a:ahLst/>
              <a:cxnLst/>
              <a:rect l="0" t="0" r="r" b="b"/>
              <a:pathLst>
                <a:path w="60" h="39" fill="none">
                  <a:moveTo>
                    <a:pt x="0" y="0"/>
                  </a:moveTo>
                  <a:lnTo>
                    <a:pt x="60" y="39"/>
                  </a:lnTo>
                </a:path>
              </a:pathLst>
            </a:custGeom>
            <a:noFill/>
            <a:ln w="15240" cap="rnd">
              <a:solidFill>
                <a:srgbClr val="9A9A9A"/>
              </a:solidFill>
              <a:round/>
            </a:ln>
          </p:spPr>
        </p:sp>
        <p:sp>
          <p:nvSpPr>
            <p:cNvPr id="280" name="Flecha 416_2"/>
            <p:cNvSpPr/>
            <p:nvPr/>
          </p:nvSpPr>
          <p:spPr>
            <a:xfrm>
              <a:off x="4217812" y="1814015"/>
              <a:ext cx="20322" cy="78033"/>
            </a:xfrm>
            <a:custGeom>
              <a:avLst/>
              <a:gdLst/>
              <a:ahLst/>
              <a:cxnLst/>
              <a:rect l="0" t="0" r="r" b="b"/>
              <a:pathLst>
                <a:path w="22" h="85" fill="none">
                  <a:moveTo>
                    <a:pt x="22" y="85"/>
                  </a:moveTo>
                  <a:lnTo>
                    <a:pt x="0" y="0"/>
                  </a:lnTo>
                </a:path>
              </a:pathLst>
            </a:custGeom>
            <a:noFill/>
            <a:ln w="19050" cap="rnd">
              <a:solidFill>
                <a:srgbClr val="9A9A9A"/>
              </a:solidFill>
              <a:round/>
            </a:ln>
          </p:spPr>
        </p:sp>
        <p:sp>
          <p:nvSpPr>
            <p:cNvPr id="281" name="Átomo O_18"/>
            <p:cNvSpPr/>
            <p:nvPr/>
          </p:nvSpPr>
          <p:spPr>
            <a:xfrm>
              <a:off x="4269200" y="1903912"/>
              <a:ext cx="47721" cy="4772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82" name="Flecha 419_2"/>
            <p:cNvSpPr/>
            <p:nvPr/>
          </p:nvSpPr>
          <p:spPr>
            <a:xfrm>
              <a:off x="3687574" y="1804773"/>
              <a:ext cx="13188" cy="70134"/>
            </a:xfrm>
            <a:custGeom>
              <a:avLst/>
              <a:gdLst/>
              <a:ahLst/>
              <a:cxnLst/>
              <a:rect l="0" t="0" r="r" b="b"/>
              <a:pathLst>
                <a:path w="14" h="76" fill="none">
                  <a:moveTo>
                    <a:pt x="0" y="0"/>
                  </a:moveTo>
                  <a:lnTo>
                    <a:pt x="14" y="76"/>
                  </a:lnTo>
                </a:path>
              </a:pathLst>
            </a:custGeom>
            <a:noFill/>
            <a:ln w="19050" cap="rnd">
              <a:solidFill>
                <a:srgbClr val="9A9A9A"/>
              </a:solidFill>
              <a:round/>
            </a:ln>
          </p:spPr>
        </p:sp>
        <p:sp>
          <p:nvSpPr>
            <p:cNvPr id="283" name="Átomo C_114"/>
            <p:cNvSpPr/>
            <p:nvPr/>
          </p:nvSpPr>
          <p:spPr>
            <a:xfrm>
              <a:off x="4192474" y="1788677"/>
              <a:ext cx="50676" cy="5067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4" name="Átomo C_115"/>
            <p:cNvSpPr/>
            <p:nvPr/>
          </p:nvSpPr>
          <p:spPr>
            <a:xfrm>
              <a:off x="3662121" y="1779321"/>
              <a:ext cx="50906" cy="5090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5" name="Flecha 423_2"/>
            <p:cNvSpPr/>
            <p:nvPr/>
          </p:nvSpPr>
          <p:spPr>
            <a:xfrm>
              <a:off x="3624448" y="1804773"/>
              <a:ext cx="63127" cy="13227"/>
            </a:xfrm>
            <a:custGeom>
              <a:avLst/>
              <a:gdLst/>
              <a:ahLst/>
              <a:cxnLst/>
              <a:rect l="0" t="0" r="r" b="b"/>
              <a:pathLst>
                <a:path w="69" h="14" fill="none">
                  <a:moveTo>
                    <a:pt x="0" y="14"/>
                  </a:moveTo>
                  <a:lnTo>
                    <a:pt x="69" y="0"/>
                  </a:lnTo>
                </a:path>
              </a:pathLst>
            </a:custGeom>
            <a:noFill/>
            <a:ln w="19050" cap="rnd">
              <a:solidFill>
                <a:srgbClr val="9A9A9A"/>
              </a:solidFill>
              <a:round/>
            </a:ln>
          </p:spPr>
        </p:sp>
        <p:sp>
          <p:nvSpPr>
            <p:cNvPr id="286" name="Átomo C_116"/>
            <p:cNvSpPr/>
            <p:nvPr/>
          </p:nvSpPr>
          <p:spPr>
            <a:xfrm>
              <a:off x="3598703" y="1792255"/>
              <a:ext cx="51490" cy="514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7" name="Flecha 426_2"/>
            <p:cNvSpPr/>
            <p:nvPr/>
          </p:nvSpPr>
          <p:spPr>
            <a:xfrm>
              <a:off x="3611365" y="1748830"/>
              <a:ext cx="13083" cy="69170"/>
            </a:xfrm>
            <a:custGeom>
              <a:avLst/>
              <a:gdLst/>
              <a:ahLst/>
              <a:cxnLst/>
              <a:rect l="0" t="0" r="r" b="b"/>
              <a:pathLst>
                <a:path w="14" h="75" fill="none">
                  <a:moveTo>
                    <a:pt x="0" y="0"/>
                  </a:moveTo>
                  <a:lnTo>
                    <a:pt x="14" y="75"/>
                  </a:lnTo>
                </a:path>
              </a:pathLst>
            </a:custGeom>
            <a:noFill/>
            <a:ln w="19050" cap="rnd">
              <a:solidFill>
                <a:srgbClr val="9A9A9A"/>
              </a:solidFill>
              <a:round/>
            </a:ln>
          </p:spPr>
        </p:sp>
        <p:sp>
          <p:nvSpPr>
            <p:cNvPr id="288" name="Átomo C_117"/>
            <p:cNvSpPr/>
            <p:nvPr/>
          </p:nvSpPr>
          <p:spPr>
            <a:xfrm>
              <a:off x="3585370" y="1722835"/>
              <a:ext cx="51990" cy="51990"/>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sp>
        <p:nvSpPr>
          <p:cNvPr id="289" name="Lipasa 0"/>
          <p:cNvSpPr/>
          <p:nvPr/>
        </p:nvSpPr>
        <p:spPr>
          <a:xfrm>
            <a:off x="914400" y="3017520"/>
            <a:ext cx="822960" cy="502920"/>
          </a:xfrm>
          <a:prstGeom prst="roundRect">
            <a:avLst/>
          </a:prstGeom>
          <a:gradFill rotWithShape="1">
            <a:gsLst>
              <a:gs pos="0">
                <a:srgbClr val="9DCDED"/>
              </a:gs>
              <a:gs pos="55000">
                <a:srgbClr val="5DADE2"/>
              </a:gs>
              <a:gs pos="100000">
                <a:srgbClr val="41799E"/>
              </a:gs>
            </a:gsLst>
            <a:path path="circle">
              <a:fillToRect l="32000" t="28000" r="68000" b="72000"/>
            </a:path>
          </a:gradFill>
          <a:ln w="15875" cap="rnd">
            <a:solidFill>
              <a:srgbClr val="1F618D"/>
            </a:solidFill>
            <a:round/>
          </a:ln>
        </p:spPr>
        <p:txBody>
          <a:bodyPr wrap="square" lIns="73152" tIns="45720" rIns="73152" bIns="4572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Lipasa</a:t>
            </a:r>
            <a:endParaRPr lang="es-AR" sz="1100" dirty="0">
              <a:latin typeface="Fira Sans Condensed"/>
            </a:endParaRPr>
          </a:p>
        </p:txBody>
      </p:sp>
      <p:sp>
        <p:nvSpPr>
          <p:cNvPr id="290" name="Lipasa 1"/>
          <p:cNvSpPr/>
          <p:nvPr/>
        </p:nvSpPr>
        <p:spPr>
          <a:xfrm>
            <a:off x="2377440" y="3017520"/>
            <a:ext cx="822960" cy="502920"/>
          </a:xfrm>
          <a:prstGeom prst="roundRect">
            <a:avLst/>
          </a:prstGeom>
          <a:gradFill rotWithShape="1">
            <a:gsLst>
              <a:gs pos="0">
                <a:srgbClr val="9DCDED"/>
              </a:gs>
              <a:gs pos="55000">
                <a:srgbClr val="5DADE2"/>
              </a:gs>
              <a:gs pos="100000">
                <a:srgbClr val="41799E"/>
              </a:gs>
            </a:gsLst>
            <a:path path="circle">
              <a:fillToRect l="32000" t="28000" r="68000" b="72000"/>
            </a:path>
          </a:gradFill>
          <a:ln w="15875" cap="rnd">
            <a:solidFill>
              <a:srgbClr val="1F618D"/>
            </a:solidFill>
            <a:round/>
          </a:ln>
        </p:spPr>
        <p:txBody>
          <a:bodyPr wrap="square" lIns="73152" tIns="45720" rIns="73152" bIns="4572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Lipasa</a:t>
            </a:r>
            <a:endParaRPr lang="es-AR" sz="1100" dirty="0">
              <a:latin typeface="Fira Sans Condensed"/>
            </a:endParaRPr>
          </a:p>
        </p:txBody>
      </p:sp>
      <p:sp>
        <p:nvSpPr>
          <p:cNvPr id="291" name="Lipasa 2"/>
          <p:cNvSpPr/>
          <p:nvPr/>
        </p:nvSpPr>
        <p:spPr>
          <a:xfrm>
            <a:off x="3840480" y="3017520"/>
            <a:ext cx="822960" cy="502920"/>
          </a:xfrm>
          <a:prstGeom prst="roundRect">
            <a:avLst/>
          </a:prstGeom>
          <a:gradFill rotWithShape="1">
            <a:gsLst>
              <a:gs pos="0">
                <a:srgbClr val="9DCDED"/>
              </a:gs>
              <a:gs pos="55000">
                <a:srgbClr val="5DADE2"/>
              </a:gs>
              <a:gs pos="100000">
                <a:srgbClr val="41799E"/>
              </a:gs>
            </a:gsLst>
            <a:path path="circle">
              <a:fillToRect l="32000" t="28000" r="68000" b="72000"/>
            </a:path>
          </a:gradFill>
          <a:ln w="15875" cap="rnd">
            <a:solidFill>
              <a:srgbClr val="1F618D"/>
            </a:solidFill>
            <a:round/>
          </a:ln>
        </p:spPr>
        <p:txBody>
          <a:bodyPr wrap="square" lIns="73152" tIns="45720" rIns="73152" bIns="45720" anchor="ctr" rtlCol="0">
            <a:noAutofit/>
          </a:bodyPr>
          <a:lstStyle/>
          <a:p>
            <a:pPr algn="ctr">
              <a:spcAft>
                <a:spcPts val="300"/>
              </a:spcAft>
              <a:buNone/>
            </a:pPr>
            <a:r>
              <a:rPr lang="es-AR" sz="1100" b="1" dirty="0">
                <a:solidFill>
                  <a:srgbClr val="1E1E1E"/>
                </a:solidFill>
                <a:latin typeface="Fira Sans Condensed"/>
                <a:ea typeface="Fira Sans Condensed"/>
                <a:cs typeface="Fira Sans Condensed"/>
                <a:sym typeface="Fira Sans Condensed"/>
              </a:rPr>
              <a:t>Lipasa</a:t>
            </a:r>
            <a:endParaRPr lang="es-AR" sz="1100" dirty="0">
              <a:latin typeface="Fira Sans Condensed"/>
            </a:endParaRPr>
          </a:p>
        </p:txBody>
      </p:sp>
      <p:sp>
        <p:nvSpPr>
          <p:cNvPr id="292" name="Orlistat 0"/>
          <p:cNvSpPr/>
          <p:nvPr/>
        </p:nvSpPr>
        <p:spPr>
          <a:xfrm>
            <a:off x="5394960" y="1508760"/>
            <a:ext cx="457200" cy="457200"/>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O</a:t>
            </a:r>
            <a:endParaRPr lang="es-AR" sz="1300" dirty="0">
              <a:latin typeface="Fira Sans Condensed"/>
            </a:endParaRPr>
          </a:p>
        </p:txBody>
      </p:sp>
      <p:sp>
        <p:nvSpPr>
          <p:cNvPr id="293" name="Orlistat 1"/>
          <p:cNvSpPr/>
          <p:nvPr/>
        </p:nvSpPr>
        <p:spPr>
          <a:xfrm>
            <a:off x="5943600" y="1508760"/>
            <a:ext cx="457200" cy="457200"/>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O</a:t>
            </a:r>
            <a:endParaRPr lang="es-AR" sz="1300" dirty="0">
              <a:latin typeface="Fira Sans Condensed"/>
            </a:endParaRPr>
          </a:p>
        </p:txBody>
      </p:sp>
      <p:sp>
        <p:nvSpPr>
          <p:cNvPr id="294" name="Orlistat 2"/>
          <p:cNvSpPr/>
          <p:nvPr/>
        </p:nvSpPr>
        <p:spPr>
          <a:xfrm>
            <a:off x="6492240" y="1508760"/>
            <a:ext cx="457200" cy="457200"/>
          </a:xfrm>
          <a:prstGeom prst="ellipse">
            <a:avLst/>
          </a:prstGeom>
          <a:solidFill>
            <a:srgbClr val="C00000"/>
          </a:solidFill>
          <a:ln w="12700"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O</a:t>
            </a:r>
            <a:endParaRPr lang="es-AR" sz="1300" dirty="0">
              <a:latin typeface="Fira Sans Condensed"/>
            </a:endParaRPr>
          </a:p>
        </p:txBody>
      </p:sp>
      <p:grpSp>
        <p:nvGrpSpPr>
          <p:cNvPr id="295" name="Paso 1"/>
          <p:cNvGrpSpPr/>
          <p:nvPr/>
        </p:nvGrpSpPr>
        <p:grpSpPr>
          <a:xfrm>
            <a:off x="8138160" y="1051560"/>
            <a:ext cx="3703320" cy="457200"/>
            <a:chOff x="8138160" y="1051560"/>
            <a:chExt cx="3703320" cy="457200"/>
          </a:xfrm>
        </p:grpSpPr>
        <p:sp>
          <p:nvSpPr>
            <p:cNvPr id="296" name="Forma 436"/>
            <p:cNvSpPr/>
            <p:nvPr/>
          </p:nvSpPr>
          <p:spPr>
            <a:xfrm>
              <a:off x="8138160" y="1051560"/>
              <a:ext cx="3703320" cy="457200"/>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TAG dietarios llegan a la luz.</a:t>
              </a:r>
              <a:endParaRPr lang="es-AR" sz="1300" dirty="0">
                <a:latin typeface="Fira Sans Condensed"/>
              </a:endParaRPr>
            </a:p>
          </p:txBody>
        </p:sp>
        <p:sp>
          <p:nvSpPr>
            <p:cNvPr id="297" name="Forma 437"/>
            <p:cNvSpPr/>
            <p:nvPr/>
          </p:nvSpPr>
          <p:spPr>
            <a:xfrm>
              <a:off x="8229600" y="110642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1</a:t>
              </a:r>
              <a:endParaRPr lang="es-AR" sz="1300" dirty="0">
                <a:latin typeface="Fira Sans Condensed"/>
              </a:endParaRPr>
            </a:p>
          </p:txBody>
        </p:sp>
      </p:grpSp>
      <p:grpSp>
        <p:nvGrpSpPr>
          <p:cNvPr id="298" name="Paso 2"/>
          <p:cNvGrpSpPr/>
          <p:nvPr/>
        </p:nvGrpSpPr>
        <p:grpSpPr>
          <a:xfrm>
            <a:off x="8138160" y="1600200"/>
            <a:ext cx="3703320" cy="758952"/>
            <a:chOff x="8138160" y="1600200"/>
            <a:chExt cx="3703320" cy="758952"/>
          </a:xfrm>
        </p:grpSpPr>
        <p:sp>
          <p:nvSpPr>
            <p:cNvPr id="299" name="Forma 439"/>
            <p:cNvSpPr/>
            <p:nvPr/>
          </p:nvSpPr>
          <p:spPr>
            <a:xfrm>
              <a:off x="8138160" y="1600200"/>
              <a:ext cx="3703320" cy="7589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Las </a:t>
              </a:r>
              <a:r>
                <a:rPr lang="es-AR" sz="1300" b="1" dirty="0">
                  <a:solidFill>
                    <a:srgbClr val="1E1E1E"/>
                  </a:solidFill>
                  <a:latin typeface="Fira Sans Condensed"/>
                  <a:ea typeface="Fira Sans Condensed"/>
                  <a:cs typeface="Fira Sans Condensed"/>
                  <a:sym typeface="Fira Sans Condensed"/>
                </a:rPr>
                <a:t>lipasas gástrica y pancreática</a:t>
              </a:r>
              <a:r>
                <a:rPr lang="es-AR" sz="1300" dirty="0">
                  <a:solidFill>
                    <a:srgbClr val="1E1E1E"/>
                  </a:solidFill>
                  <a:latin typeface="Fira Sans Condensed"/>
                  <a:ea typeface="Fira Sans Condensed"/>
                  <a:cs typeface="Fira Sans Condensed"/>
                  <a:sym typeface="Fira Sans Condensed"/>
                </a:rPr>
                <a:t> los hidrolizarían a AG y monoacilglicéridos absorbibles.</a:t>
              </a:r>
              <a:endParaRPr lang="es-AR" sz="1300" dirty="0">
                <a:latin typeface="Fira Sans Condensed"/>
              </a:endParaRPr>
            </a:p>
          </p:txBody>
        </p:sp>
        <p:sp>
          <p:nvSpPr>
            <p:cNvPr id="300" name="Forma 440"/>
            <p:cNvSpPr/>
            <p:nvPr/>
          </p:nvSpPr>
          <p:spPr>
            <a:xfrm>
              <a:off x="8229600" y="1805940"/>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2</a:t>
              </a:r>
              <a:endParaRPr lang="es-AR" sz="1300" dirty="0">
                <a:latin typeface="Fira Sans Condensed"/>
              </a:endParaRPr>
            </a:p>
          </p:txBody>
        </p:sp>
      </p:grpSp>
      <p:grpSp>
        <p:nvGrpSpPr>
          <p:cNvPr id="301" name="Paso 3"/>
          <p:cNvGrpSpPr/>
          <p:nvPr/>
        </p:nvGrpSpPr>
        <p:grpSpPr>
          <a:xfrm>
            <a:off x="8138160" y="2450592"/>
            <a:ext cx="3703320" cy="560832"/>
            <a:chOff x="8138160" y="2450592"/>
            <a:chExt cx="3703320" cy="560832"/>
          </a:xfrm>
        </p:grpSpPr>
        <p:sp>
          <p:nvSpPr>
            <p:cNvPr id="302" name="Forma 442"/>
            <p:cNvSpPr/>
            <p:nvPr/>
          </p:nvSpPr>
          <p:spPr>
            <a:xfrm>
              <a:off x="8138160" y="2450592"/>
              <a:ext cx="3703320" cy="56083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El </a:t>
              </a:r>
              <a:r>
                <a:rPr lang="es-AR" sz="1300" b="1" dirty="0">
                  <a:solidFill>
                    <a:srgbClr val="1E1E1E"/>
                  </a:solidFill>
                  <a:latin typeface="Fira Sans Condensed"/>
                  <a:ea typeface="Fira Sans Condensed"/>
                  <a:cs typeface="Fira Sans Condensed"/>
                  <a:sym typeface="Fira Sans Condensed"/>
                </a:rPr>
                <a:t>orlistat</a:t>
              </a:r>
              <a:r>
                <a:rPr lang="es-AR" sz="1300" dirty="0">
                  <a:solidFill>
                    <a:srgbClr val="1E1E1E"/>
                  </a:solidFill>
                  <a:latin typeface="Fira Sans Condensed"/>
                  <a:ea typeface="Fira Sans Condensed"/>
                  <a:cs typeface="Fira Sans Condensed"/>
                  <a:sym typeface="Fira Sans Condensed"/>
                </a:rPr>
                <a:t> se une a las lipasas y las </a:t>
              </a:r>
              <a:r>
                <a:rPr lang="es-AR" sz="1300" b="1" dirty="0">
                  <a:solidFill>
                    <a:srgbClr val="1E1E1E"/>
                  </a:solidFill>
                  <a:latin typeface="Fira Sans Condensed"/>
                  <a:ea typeface="Fira Sans Condensed"/>
                  <a:cs typeface="Fira Sans Condensed"/>
                  <a:sym typeface="Fira Sans Condensed"/>
                </a:rPr>
                <a:t>inhibe</a:t>
              </a:r>
              <a:r>
                <a:rPr lang="es-AR" sz="1300" dirty="0">
                  <a:solidFill>
                    <a:srgbClr val="1E1E1E"/>
                  </a:solidFill>
                  <a:latin typeface="Fira Sans Condensed"/>
                  <a:ea typeface="Fira Sans Condensed"/>
                  <a:cs typeface="Fira Sans Condensed"/>
                  <a:sym typeface="Fira Sans Condensed"/>
                </a:rPr>
                <a:t>.</a:t>
              </a:r>
              <a:endParaRPr lang="es-AR" sz="1300" dirty="0">
                <a:latin typeface="Fira Sans Condensed"/>
              </a:endParaRPr>
            </a:p>
          </p:txBody>
        </p:sp>
        <p:sp>
          <p:nvSpPr>
            <p:cNvPr id="303" name="Forma 443"/>
            <p:cNvSpPr/>
            <p:nvPr/>
          </p:nvSpPr>
          <p:spPr>
            <a:xfrm>
              <a:off x="8229600" y="2557272"/>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3</a:t>
              </a:r>
              <a:endParaRPr lang="es-AR" sz="1300" dirty="0">
                <a:latin typeface="Fira Sans Condensed"/>
              </a:endParaRPr>
            </a:p>
          </p:txBody>
        </p:sp>
      </p:grpSp>
      <p:grpSp>
        <p:nvGrpSpPr>
          <p:cNvPr id="304" name="Paso 4"/>
          <p:cNvGrpSpPr/>
          <p:nvPr/>
        </p:nvGrpSpPr>
        <p:grpSpPr>
          <a:xfrm>
            <a:off x="8138160" y="3102864"/>
            <a:ext cx="3703320" cy="758952"/>
            <a:chOff x="8138160" y="3102864"/>
            <a:chExt cx="3703320" cy="758952"/>
          </a:xfrm>
        </p:grpSpPr>
        <p:sp>
          <p:nvSpPr>
            <p:cNvPr id="305" name="Forma 445"/>
            <p:cNvSpPr/>
            <p:nvPr/>
          </p:nvSpPr>
          <p:spPr>
            <a:xfrm>
              <a:off x="8138160" y="3102864"/>
              <a:ext cx="3703320" cy="758952"/>
            </a:xfrm>
            <a:prstGeom prst="rect">
              <a:avLst/>
            </a:prstGeom>
            <a:solidFill>
              <a:srgbClr val="FFFFFF"/>
            </a:solidFill>
            <a:ln w="15875" cap="rnd">
              <a:solidFill>
                <a:srgbClr val="1E1E1E"/>
              </a:solidFill>
              <a:round/>
            </a:ln>
            <a:effectLst>
              <a:outerShdw blurRad="63500" dist="38100" dir="2700000" algn="tl" rotWithShape="0">
                <a:srgbClr val="000000">
                  <a:alpha val="32000"/>
                </a:srgbClr>
              </a:outerShdw>
            </a:effectLst>
          </p:spPr>
          <p:txBody>
            <a:bodyPr wrap="square" lIns="548640" tIns="36576" rIns="91440" bIns="36576" anchor="ctr" rtlCol="0">
              <a:noAutofit/>
            </a:bodyPr>
            <a:lstStyle/>
            <a:p>
              <a:pPr algn="l">
                <a:spcAft>
                  <a:spcPts val="300"/>
                </a:spcAft>
                <a:buNone/>
              </a:pPr>
              <a:r>
                <a:rPr lang="es-AR" sz="1300" dirty="0">
                  <a:solidFill>
                    <a:srgbClr val="1E1E1E"/>
                  </a:solidFill>
                  <a:latin typeface="Fira Sans Condensed"/>
                  <a:ea typeface="Fira Sans Condensed"/>
                  <a:cs typeface="Fira Sans Condensed"/>
                  <a:sym typeface="Fira Sans Condensed"/>
                </a:rPr>
                <a:t>Parte de la grasa </a:t>
              </a:r>
              <a:r>
                <a:rPr lang="es-AR" sz="1300" b="1" dirty="0">
                  <a:solidFill>
                    <a:srgbClr val="1E1E1E"/>
                  </a:solidFill>
                  <a:latin typeface="Fira Sans Condensed"/>
                  <a:ea typeface="Fira Sans Condensed"/>
                  <a:cs typeface="Fira Sans Condensed"/>
                  <a:sym typeface="Fira Sans Condensed"/>
                </a:rPr>
                <a:t>no se absorbe</a:t>
              </a:r>
              <a:r>
                <a:rPr lang="es-AR" sz="1300" dirty="0">
                  <a:solidFill>
                    <a:srgbClr val="1E1E1E"/>
                  </a:solidFill>
                  <a:latin typeface="Fira Sans Condensed"/>
                  <a:ea typeface="Fira Sans Condensed"/>
                  <a:cs typeface="Fira Sans Condensed"/>
                  <a:sym typeface="Fira Sans Condensed"/>
                </a:rPr>
                <a:t> y se elimina por heces (esteatorrea esperable).</a:t>
              </a:r>
              <a:endParaRPr lang="es-AR" sz="1300" dirty="0">
                <a:latin typeface="Fira Sans Condensed"/>
              </a:endParaRPr>
            </a:p>
          </p:txBody>
        </p:sp>
        <p:sp>
          <p:nvSpPr>
            <p:cNvPr id="306" name="Forma 446"/>
            <p:cNvSpPr/>
            <p:nvPr/>
          </p:nvSpPr>
          <p:spPr>
            <a:xfrm>
              <a:off x="8229600" y="3308604"/>
              <a:ext cx="347472" cy="347472"/>
            </a:xfrm>
            <a:prstGeom prst="ellipse">
              <a:avLst/>
            </a:prstGeom>
            <a:solidFill>
              <a:srgbClr val="FFC000"/>
            </a:solidFill>
            <a:ln w="15875" cap="rnd">
              <a:solidFill>
                <a:srgbClr val="1E1E1E"/>
              </a:solidFill>
              <a:round/>
            </a:ln>
          </p:spPr>
          <p:txBody>
            <a:bodyPr wrap="square" lIns="0" tIns="0" rIns="0"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4</a:t>
              </a:r>
              <a:endParaRPr lang="es-AR" sz="1300" dirty="0">
                <a:latin typeface="Fira Sans Condensed"/>
              </a:endParaRPr>
            </a:p>
          </p:txBody>
        </p:sp>
      </p:grpSp>
      <p:sp>
        <p:nvSpPr>
          <p:cNvPr id="307" name="Recuadro Grasa no absorbida → h"/>
          <p:cNvSpPr/>
          <p:nvPr/>
        </p:nvSpPr>
        <p:spPr>
          <a:xfrm>
            <a:off x="4480560" y="4343400"/>
            <a:ext cx="338328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FFFFFF"/>
                </a:solidFill>
                <a:latin typeface="Fira Sans Condensed"/>
                <a:ea typeface="Fira Sans Condensed"/>
                <a:cs typeface="Fira Sans Condensed"/>
                <a:sym typeface="Fira Sans Condensed"/>
              </a:rPr>
              <a:t>Grasa no absorbida → heces</a:t>
            </a:r>
            <a:endParaRPr lang="es-AR" sz="1400" dirty="0">
              <a:latin typeface="Fira Sans Condensed"/>
            </a:endParaRPr>
          </a:p>
        </p:txBody>
      </p:sp>
      <p:sp>
        <p:nvSpPr>
          <p:cNvPr id="308" name="Forma 448"/>
          <p:cNvSpPr/>
          <p:nvPr/>
        </p:nvSpPr>
        <p:spPr>
          <a:xfrm>
            <a:off x="8138160" y="5029200"/>
            <a:ext cx="370332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250" dirty="0">
                <a:solidFill>
                  <a:srgbClr val="1E1E1E"/>
                </a:solidFill>
                <a:latin typeface="Fira Sans Condensed"/>
                <a:ea typeface="Fira Sans Condensed"/>
                <a:cs typeface="Fira Sans Condensed"/>
                <a:sym typeface="Fira Sans Condensed"/>
              </a:rPr>
              <a:t>No bloquea la lipólisis del </a:t>
            </a:r>
            <a:r>
              <a:rPr lang="es-AR" sz="1250" b="1" dirty="0">
                <a:solidFill>
                  <a:srgbClr val="1E1E1E"/>
                </a:solidFill>
                <a:latin typeface="Fira Sans Condensed"/>
                <a:ea typeface="Fira Sans Condensed"/>
                <a:cs typeface="Fira Sans Condensed"/>
                <a:sym typeface="Fira Sans Condensed"/>
              </a:rPr>
              <a:t>adipocito</a:t>
            </a:r>
            <a:r>
              <a:rPr lang="es-AR" sz="1250" dirty="0">
                <a:solidFill>
                  <a:srgbClr val="1E1E1E"/>
                </a:solidFill>
                <a:latin typeface="Fira Sans Condensed"/>
                <a:ea typeface="Fira Sans Condensed"/>
                <a:cs typeface="Fira Sans Condensed"/>
                <a:sym typeface="Fira Sans Condensed"/>
              </a:rPr>
              <a:t>, no es incretínico ni aumenta el basal.</a:t>
            </a:r>
            <a:endParaRPr lang="es-AR" sz="12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ANIMACIÓN: ORLISTAT EN LA LUZ INTESTINAL</a:t>
            </a:r>
            <a:endParaRPr lang="es-AR" sz="34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30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95"/>
                                        </p:tgtEl>
                                        <p:attrNameLst>
                                          <p:attrName>style.visibility</p:attrName>
                                        </p:attrNameLst>
                                      </p:cBhvr>
                                      <p:to>
                                        <p:strVal val="visible"/>
                                      </p:to>
                                    </p:set>
                                    <p:animEffect transition="in" filter="fade">
                                      <p:cBhvr>
                                        <p:cTn id="5" dur="500"/>
                                        <p:tgtEl>
                                          <p:spTgt spid="295"/>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200"/>
                                        <p:tgtEl>
                                          <p:spTgt spid="10"/>
                                        </p:tgtEl>
                                      </p:cBhvr>
                                    </p:animEffect>
                                  </p:childTnLst>
                                </p:cTn>
                              </p:par>
                            </p:childTnLst>
                          </p:cTn>
                        </p:par>
                        <p:par>
                          <p:cTn id="14" fill="hold">
                            <p:stCondLst>
                              <p:cond delay="700"/>
                            </p:stCondLst>
                            <p:childTnLst>
                              <p:par>
                                <p:cTn id="11" presetID="10" presetClass="entr" presetSubtype="0" fill="hold" grpId="0" nodeType="after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200"/>
                                        <p:tgtEl>
                                          <p:spTgt spid="103"/>
                                        </p:tgtEl>
                                      </p:cBhvr>
                                    </p:animEffect>
                                  </p:childTnLst>
                                </p:cTn>
                              </p:par>
                            </p:childTnLst>
                          </p:cTn>
                        </p:par>
                        <p:par>
                          <p:cTn id="18" fill="hold">
                            <p:stCondLst>
                              <p:cond delay="900"/>
                            </p:stCondLst>
                            <p:childTnLst>
                              <p:par>
                                <p:cTn id="15" presetID="10" presetClass="entr" presetSubtype="0" fill="hold" grpId="0" nodeType="afterEffect">
                                  <p:stCondLst>
                                    <p:cond delay="0"/>
                                  </p:stCondLst>
                                  <p:childTnLst>
                                    <p:set>
                                      <p:cBhvr>
                                        <p:cTn id="16" dur="1" fill="hold">
                                          <p:stCondLst>
                                            <p:cond delay="0"/>
                                          </p:stCondLst>
                                        </p:cTn>
                                        <p:tgtEl>
                                          <p:spTgt spid="196"/>
                                        </p:tgtEl>
                                        <p:attrNameLst>
                                          <p:attrName>style.visibility</p:attrName>
                                        </p:attrNameLst>
                                      </p:cBhvr>
                                      <p:to>
                                        <p:strVal val="visible"/>
                                      </p:to>
                                    </p:set>
                                    <p:animEffect transition="in" filter="fade">
                                      <p:cBhvr>
                                        <p:cTn id="17" dur="200"/>
                                        <p:tgtEl>
                                          <p:spTgt spid="196"/>
                                        </p:tgtEl>
                                      </p:cBhvr>
                                    </p:animEffect>
                                  </p:childTnLst>
                                </p:cTn>
                              </p:par>
                            </p:childTnLst>
                          </p:cTn>
                        </p:par>
                      </p:childTnLst>
                    </p:cTn>
                  </p:par>
                  <p:par>
                    <p:cTn id="33"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8"/>
                                        </p:tgtEl>
                                        <p:attrNameLst>
                                          <p:attrName>style.visibility</p:attrName>
                                        </p:attrNameLst>
                                      </p:cBhvr>
                                      <p:to>
                                        <p:strVal val="visible"/>
                                      </p:to>
                                    </p:set>
                                    <p:animEffect transition="in" filter="fade">
                                      <p:cBhvr>
                                        <p:cTn id="22" dur="500"/>
                                        <p:tgtEl>
                                          <p:spTgt spid="298"/>
                                        </p:tgtEl>
                                      </p:cBhvr>
                                    </p:animEffect>
                                  </p:childTnLst>
                                </p:cTn>
                              </p:par>
                            </p:childTnLst>
                          </p:cTn>
                        </p:par>
                        <p:par>
                          <p:cTn id="26" fill="hold">
                            <p:stCondLst>
                              <p:cond delay="500"/>
                            </p:stCondLst>
                            <p:childTnLst>
                              <p:par>
                                <p:cTn id="24" presetID="6" presetClass="emph" presetSubtype="0" fill="hold" grpId="0" nodeType="afterEffect">
                                  <p:stCondLst>
                                    <p:cond delay="0"/>
                                  </p:stCondLst>
                                  <p:childTnLst>
                                    <p:animScale>
                                      <p:cBhvr>
                                        <p:cTn id="25" dur="250" autoRev="1" fill="hold"/>
                                        <p:tgtEl>
                                          <p:spTgt spid="289"/>
                                        </p:tgtEl>
                                      </p:cBhvr>
                                      <p:by x="112000" y="112000"/>
                                    </p:animScale>
                                  </p:childTnLst>
                                </p:cTn>
                              </p:par>
                            </p:childTnLst>
                          </p:cTn>
                        </p:par>
                        <p:par>
                          <p:cTn id="29" fill="hold">
                            <p:stCondLst>
                              <p:cond delay="750"/>
                            </p:stCondLst>
                            <p:childTnLst>
                              <p:par>
                                <p:cTn id="27" presetID="6" presetClass="emph" presetSubtype="0" fill="hold" grpId="0" nodeType="afterEffect">
                                  <p:stCondLst>
                                    <p:cond delay="0"/>
                                  </p:stCondLst>
                                  <p:childTnLst>
                                    <p:animScale>
                                      <p:cBhvr>
                                        <p:cTn id="28" dur="250" autoRev="1" fill="hold"/>
                                        <p:tgtEl>
                                          <p:spTgt spid="290"/>
                                        </p:tgtEl>
                                      </p:cBhvr>
                                      <p:by x="112000" y="112000"/>
                                    </p:animScale>
                                  </p:childTnLst>
                                </p:cTn>
                              </p:par>
                            </p:childTnLst>
                          </p:cTn>
                        </p:par>
                        <p:par>
                          <p:cTn id="32" fill="hold">
                            <p:stCondLst>
                              <p:cond delay="1000"/>
                            </p:stCondLst>
                            <p:childTnLst>
                              <p:par>
                                <p:cTn id="30" presetID="6" presetClass="emph" presetSubtype="0" fill="hold" grpId="0" nodeType="afterEffect">
                                  <p:stCondLst>
                                    <p:cond delay="0"/>
                                  </p:stCondLst>
                                  <p:childTnLst>
                                    <p:animScale>
                                      <p:cBhvr>
                                        <p:cTn id="31" dur="250" autoRev="1" fill="hold"/>
                                        <p:tgtEl>
                                          <p:spTgt spid="291"/>
                                        </p:tgtEl>
                                      </p:cBhvr>
                                      <p:by x="112000" y="112000"/>
                                    </p:animScale>
                                  </p:childTnLst>
                                </p:cTn>
                              </p:par>
                            </p:childTnLst>
                          </p:cTn>
                        </p:par>
                      </p:childTnLst>
                    </p:cTn>
                  </p:par>
                  <p:par>
                    <p:cTn id="46" fill="hold">
                      <p:stCondLst>
                        <p:cond delay="indefinite"/>
                      </p:stCondLst>
                      <p:childTnLst>
                        <p:par>
                          <p:cTn id="39"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01"/>
                                        </p:tgtEl>
                                        <p:attrNameLst>
                                          <p:attrName>style.visibility</p:attrName>
                                        </p:attrNameLst>
                                      </p:cBhvr>
                                      <p:to>
                                        <p:strVal val="visible"/>
                                      </p:to>
                                    </p:set>
                                    <p:animEffect transition="in" filter="fade">
                                      <p:cBhvr>
                                        <p:cTn id="36" dur="500"/>
                                        <p:tgtEl>
                                          <p:spTgt spid="301"/>
                                        </p:tgtEl>
                                      </p:cBhvr>
                                    </p:animEffect>
                                  </p:childTnLst>
                                </p:cTn>
                              </p:par>
                              <p:par>
                                <p:cTn id="37" presetID="0" presetClass="path" presetSubtype="0" accel="20000" decel="20000" fill="hold" grpId="0" nodeType="withEffect">
                                  <p:stCondLst>
                                    <p:cond delay="0"/>
                                  </p:stCondLst>
                                  <p:childTnLst>
                                    <p:animMotion origin="layout" path="M 0 0 L -0.3525 0.2067 E" pathEditMode="relative" ptsTypes="">
                                      <p:cBhvr>
                                        <p:cTn id="38" dur="1200" fill="hold"/>
                                        <p:tgtEl>
                                          <p:spTgt spid="292"/>
                                        </p:tgtEl>
                                        <p:attrNameLst>
                                          <p:attrName>ppt_x</p:attrName>
                                          <p:attrName>ppt_y</p:attrName>
                                        </p:attrNameLst>
                                      </p:cBhvr>
                                      <p:rCtr x="-17625" y="10333"/>
                                    </p:animMotion>
                                  </p:childTnLst>
                                </p:cTn>
                              </p:par>
                            </p:childTnLst>
                          </p:cTn>
                        </p:par>
                        <p:par>
                          <p:cTn id="42" fill="hold">
                            <p:stCondLst>
                              <p:cond delay="200"/>
                            </p:stCondLst>
                            <p:childTnLst>
                              <p:par>
                                <p:cTn id="40" presetID="0" presetClass="path" presetSubtype="0" accel="20000" decel="20000" fill="hold" grpId="0" nodeType="afterEffect">
                                  <p:stCondLst>
                                    <p:cond delay="0"/>
                                  </p:stCondLst>
                                  <p:childTnLst>
                                    <p:animMotion origin="layout" path="M 0 0 L -0.2775 0.2067 E" pathEditMode="relative" ptsTypes="">
                                      <p:cBhvr>
                                        <p:cTn id="41" dur="1200" fill="hold"/>
                                        <p:tgtEl>
                                          <p:spTgt spid="293"/>
                                        </p:tgtEl>
                                        <p:attrNameLst>
                                          <p:attrName>ppt_x</p:attrName>
                                          <p:attrName>ppt_y</p:attrName>
                                        </p:attrNameLst>
                                      </p:cBhvr>
                                      <p:rCtr x="-13875" y="10333"/>
                                    </p:animMotion>
                                  </p:childTnLst>
                                </p:cTn>
                              </p:par>
                            </p:childTnLst>
                          </p:cTn>
                        </p:par>
                        <p:par>
                          <p:cTn id="45" fill="hold">
                            <p:stCondLst>
                              <p:cond delay="600"/>
                            </p:stCondLst>
                            <p:childTnLst>
                              <p:par>
                                <p:cTn id="43" presetID="0" presetClass="path" presetSubtype="0" accel="20000" decel="20000" fill="hold" grpId="0" nodeType="afterEffect">
                                  <p:stCondLst>
                                    <p:cond delay="0"/>
                                  </p:stCondLst>
                                  <p:childTnLst>
                                    <p:animMotion origin="layout" path="M 0 0 L -0.2025 0.2067 E" pathEditMode="relative" ptsTypes="">
                                      <p:cBhvr>
                                        <p:cTn id="44" dur="1200" fill="hold"/>
                                        <p:tgtEl>
                                          <p:spTgt spid="294"/>
                                        </p:tgtEl>
                                        <p:attrNameLst>
                                          <p:attrName>ppt_x</p:attrName>
                                          <p:attrName>ppt_y</p:attrName>
                                        </p:attrNameLst>
                                      </p:cBhvr>
                                      <p:rCtr x="-10125" y="10333"/>
                                    </p:animMotion>
                                  </p:childTnLst>
                                </p:cTn>
                              </p:par>
                            </p:childTnLst>
                          </p:cTn>
                        </p:par>
                      </p:childTnLst>
                    </p:cTn>
                  </p:par>
                  <p:par>
                    <p:cTn id="57" fill="hold">
                      <p:stCondLst>
                        <p:cond delay="indefinite"/>
                      </p:stCondLst>
                      <p:childTnLst>
                        <p:par>
                          <p:cTn id="50"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04"/>
                                        </p:tgtEl>
                                        <p:attrNameLst>
                                          <p:attrName>style.visibility</p:attrName>
                                        </p:attrNameLst>
                                      </p:cBhvr>
                                      <p:to>
                                        <p:strVal val="visible"/>
                                      </p:to>
                                    </p:set>
                                    <p:animEffect transition="in" filter="fade">
                                      <p:cBhvr>
                                        <p:cTn id="49" dur="500"/>
                                        <p:tgtEl>
                                          <p:spTgt spid="304"/>
                                        </p:tgtEl>
                                      </p:cBhvr>
                                    </p:animEffect>
                                  </p:childTnLst>
                                </p:cTn>
                              </p:par>
                            </p:childTnLst>
                          </p:cTn>
                        </p:par>
                        <p:par>
                          <p:cTn id="56" fill="hold">
                            <p:stCondLst>
                              <p:cond delay="500"/>
                            </p:stCondLst>
                            <p:childTnLst>
                              <p:par>
                                <p:cTn id="51" presetID="53" presetClass="entr" presetSubtype="16" fill="hold" grpId="0" nodeType="afterEffect">
                                  <p:stCondLst>
                                    <p:cond delay="0"/>
                                  </p:stCondLst>
                                  <p:childTnLst>
                                    <p:set>
                                      <p:cBhvr>
                                        <p:cTn id="52" dur="1" fill="hold">
                                          <p:stCondLst>
                                            <p:cond delay="0"/>
                                          </p:stCondLst>
                                        </p:cTn>
                                        <p:tgtEl>
                                          <p:spTgt spid="307"/>
                                        </p:tgtEl>
                                        <p:attrNameLst>
                                          <p:attrName>style.visibility</p:attrName>
                                        </p:attrNameLst>
                                      </p:cBhvr>
                                      <p:to>
                                        <p:strVal val="visible"/>
                                      </p:to>
                                    </p:set>
                                    <p:anim calcmode="lin" valueType="num">
                                      <p:cBhvr>
                                        <p:cTn id="53" dur="500" fill="hold"/>
                                        <p:tgtEl>
                                          <p:spTgt spid="307"/>
                                        </p:tgtEl>
                                        <p:attrNameLst>
                                          <p:attrName>ppt_w</p:attrName>
                                        </p:attrNameLst>
                                      </p:cBhvr>
                                      <p:tavLst>
                                        <p:tav tm="0">
                                          <p:val>
                                            <p:fltVal val="0"/>
                                          </p:val>
                                        </p:tav>
                                        <p:tav tm="100000">
                                          <p:val>
                                            <p:strVal val="#ppt_w"/>
                                          </p:val>
                                        </p:tav>
                                      </p:tavLst>
                                    </p:anim>
                                    <p:anim calcmode="lin" valueType="num">
                                      <p:cBhvr>
                                        <p:cTn id="54" dur="500" fill="hold"/>
                                        <p:tgtEl>
                                          <p:spTgt spid="307"/>
                                        </p:tgtEl>
                                        <p:attrNameLst>
                                          <p:attrName>ppt_h</p:attrName>
                                        </p:attrNameLst>
                                      </p:cBhvr>
                                      <p:tavLst>
                                        <p:tav tm="0">
                                          <p:val>
                                            <p:fltVal val="0"/>
                                          </p:val>
                                        </p:tav>
                                        <p:tav tm="100000">
                                          <p:val>
                                            <p:strVal val="#ppt_h"/>
                                          </p:val>
                                        </p:tav>
                                      </p:tavLst>
                                    </p:anim>
                                    <p:animEffect transition="in" filter="fade">
                                      <p:cBhvr>
                                        <p:cTn id="55" dur="500"/>
                                        <p:tgtEl>
                                          <p:spTgt spid="307"/>
                                        </p:tgtEl>
                                      </p:cBhvr>
                                    </p:animEffect>
                                  </p:childTnLst>
                                </p:cTn>
                              </p:par>
                            </p:childTnLst>
                          </p:cTn>
                        </p:par>
                      </p:childTnLst>
                    </p:cTn>
                  </p:par>
                  <p:par>
                    <p:cTn id="62" fill="hold">
                      <p:stCondLst>
                        <p:cond delay="indefinite"/>
                      </p:stCondLst>
                      <p:childTnLst>
                        <p:par>
                          <p:cTn id="61"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08"/>
                                        </p:tgtEl>
                                        <p:attrNameLst>
                                          <p:attrName>style.visibility</p:attrName>
                                        </p:attrNameLst>
                                      </p:cBhvr>
                                      <p:to>
                                        <p:strVal val="visible"/>
                                      </p:to>
                                    </p:set>
                                    <p:animEffect transition="in" filter="fade">
                                      <p:cBhvr>
                                        <p:cTn id="60" dur="5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animBg="1"/>
      <p:bldP spid="290" grpId="0" animBg="1"/>
      <p:bldP spid="291" grpId="0" animBg="1"/>
      <p:bldP spid="292" grpId="0" animBg="1"/>
      <p:bldP spid="293" grpId="0" animBg="1"/>
      <p:bldP spid="294" grpId="0" animBg="1"/>
      <p:bldP spid="307" grpId="0" animBg="1"/>
      <p:bldP spid="308" grpId="0" animBg="1"/>
    </p:bld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Receptor GLP-1"/>
          <p:cNvGrpSpPr/>
          <p:nvPr/>
        </p:nvGrpSpPr>
        <p:grpSpPr>
          <a:xfrm>
            <a:off x="365760" y="1591056"/>
            <a:ext cx="4754880" cy="841248"/>
            <a:chOff x="365760" y="1591056"/>
            <a:chExt cx="4754880" cy="841248"/>
          </a:xfrm>
        </p:grpSpPr>
        <p:grpSp>
          <p:nvGrpSpPr>
            <p:cNvPr id="8" name="Membrana GLP1"/>
            <p:cNvGrpSpPr/>
            <p:nvPr/>
          </p:nvGrpSpPr>
          <p:grpSpPr>
            <a:xfrm>
              <a:off x="365760" y="1828800"/>
              <a:ext cx="4754880" cy="365760"/>
              <a:chOff x="365760" y="1828800"/>
              <a:chExt cx="4754880" cy="365760"/>
            </a:xfrm>
          </p:grpSpPr>
          <p:sp>
            <p:nvSpPr>
              <p:cNvPr id="9" name="Forma 8"/>
              <p:cNvSpPr/>
              <p:nvPr/>
            </p:nvSpPr>
            <p:spPr>
              <a:xfrm>
                <a:off x="365760" y="1894637"/>
                <a:ext cx="4754880" cy="234086"/>
              </a:xfrm>
              <a:prstGeom prst="rect">
                <a:avLst/>
              </a:prstGeom>
              <a:solidFill>
                <a:srgbClr val="FDEBD0"/>
              </a:solidFill>
              <a:ln>
                <a:noFill/>
              </a:ln>
            </p:spPr>
          </p:sp>
          <p:sp>
            <p:nvSpPr>
              <p:cNvPr id="10" name="Forma 9"/>
              <p:cNvSpPr/>
              <p:nvPr/>
            </p:nvSpPr>
            <p:spPr>
              <a:xfrm>
                <a:off x="365760" y="1828800"/>
                <a:ext cx="4754880" cy="365760"/>
              </a:xfrm>
              <a:custGeom>
                <a:avLst/>
                <a:gdLst/>
                <a:ahLst/>
                <a:cxnLst/>
                <a:rect l="0" t="0" r="r" b="b"/>
                <a:pathLst>
                  <a:path w="5200" h="400">
                    <a:moveTo>
                      <a:pt x="97" y="47"/>
                    </a:moveTo>
                    <a:cubicBezTo>
                      <a:pt x="97" y="72"/>
                      <a:pt x="75" y="94"/>
                      <a:pt x="50" y="94"/>
                    </a:cubicBezTo>
                    <a:cubicBezTo>
                      <a:pt x="24" y="94"/>
                      <a:pt x="3" y="72"/>
                      <a:pt x="3" y="47"/>
                    </a:cubicBezTo>
                    <a:cubicBezTo>
                      <a:pt x="3" y="21"/>
                      <a:pt x="24" y="0"/>
                      <a:pt x="50" y="0"/>
                    </a:cubicBezTo>
                    <a:cubicBezTo>
                      <a:pt x="75" y="0"/>
                      <a:pt x="97" y="21"/>
                      <a:pt x="97" y="47"/>
                    </a:cubicBezTo>
                    <a:close/>
                    <a:moveTo>
                      <a:pt x="197" y="47"/>
                    </a:moveTo>
                    <a:cubicBezTo>
                      <a:pt x="197" y="72"/>
                      <a:pt x="175" y="94"/>
                      <a:pt x="150" y="94"/>
                    </a:cubicBezTo>
                    <a:cubicBezTo>
                      <a:pt x="124" y="94"/>
                      <a:pt x="103" y="72"/>
                      <a:pt x="103" y="47"/>
                    </a:cubicBezTo>
                    <a:cubicBezTo>
                      <a:pt x="103" y="21"/>
                      <a:pt x="124" y="0"/>
                      <a:pt x="150" y="0"/>
                    </a:cubicBezTo>
                    <a:cubicBezTo>
                      <a:pt x="175" y="0"/>
                      <a:pt x="197" y="21"/>
                      <a:pt x="197" y="47"/>
                    </a:cubicBezTo>
                    <a:close/>
                    <a:moveTo>
                      <a:pt x="297" y="47"/>
                    </a:moveTo>
                    <a:cubicBezTo>
                      <a:pt x="297" y="72"/>
                      <a:pt x="275" y="94"/>
                      <a:pt x="250" y="94"/>
                    </a:cubicBezTo>
                    <a:cubicBezTo>
                      <a:pt x="224" y="94"/>
                      <a:pt x="203" y="72"/>
                      <a:pt x="203" y="47"/>
                    </a:cubicBezTo>
                    <a:cubicBezTo>
                      <a:pt x="203" y="21"/>
                      <a:pt x="224" y="0"/>
                      <a:pt x="250" y="0"/>
                    </a:cubicBezTo>
                    <a:cubicBezTo>
                      <a:pt x="275" y="0"/>
                      <a:pt x="297" y="21"/>
                      <a:pt x="297" y="47"/>
                    </a:cubicBezTo>
                    <a:close/>
                    <a:moveTo>
                      <a:pt x="397" y="47"/>
                    </a:moveTo>
                    <a:cubicBezTo>
                      <a:pt x="397" y="72"/>
                      <a:pt x="375" y="94"/>
                      <a:pt x="350" y="94"/>
                    </a:cubicBezTo>
                    <a:cubicBezTo>
                      <a:pt x="324" y="94"/>
                      <a:pt x="303" y="72"/>
                      <a:pt x="303" y="47"/>
                    </a:cubicBezTo>
                    <a:cubicBezTo>
                      <a:pt x="303" y="21"/>
                      <a:pt x="324" y="0"/>
                      <a:pt x="350" y="0"/>
                    </a:cubicBezTo>
                    <a:cubicBezTo>
                      <a:pt x="375" y="0"/>
                      <a:pt x="397" y="21"/>
                      <a:pt x="397" y="47"/>
                    </a:cubicBezTo>
                    <a:close/>
                    <a:moveTo>
                      <a:pt x="497" y="47"/>
                    </a:moveTo>
                    <a:cubicBezTo>
                      <a:pt x="497" y="72"/>
                      <a:pt x="475" y="94"/>
                      <a:pt x="450" y="94"/>
                    </a:cubicBezTo>
                    <a:cubicBezTo>
                      <a:pt x="424" y="94"/>
                      <a:pt x="403" y="72"/>
                      <a:pt x="403" y="47"/>
                    </a:cubicBezTo>
                    <a:cubicBezTo>
                      <a:pt x="403" y="21"/>
                      <a:pt x="424" y="0"/>
                      <a:pt x="450" y="0"/>
                    </a:cubicBezTo>
                    <a:cubicBezTo>
                      <a:pt x="475" y="0"/>
                      <a:pt x="497" y="21"/>
                      <a:pt x="497" y="47"/>
                    </a:cubicBezTo>
                    <a:close/>
                    <a:moveTo>
                      <a:pt x="597" y="47"/>
                    </a:moveTo>
                    <a:cubicBezTo>
                      <a:pt x="597" y="72"/>
                      <a:pt x="575" y="94"/>
                      <a:pt x="550" y="94"/>
                    </a:cubicBezTo>
                    <a:cubicBezTo>
                      <a:pt x="524" y="94"/>
                      <a:pt x="503" y="72"/>
                      <a:pt x="503" y="47"/>
                    </a:cubicBezTo>
                    <a:cubicBezTo>
                      <a:pt x="503" y="21"/>
                      <a:pt x="524" y="0"/>
                      <a:pt x="550" y="0"/>
                    </a:cubicBezTo>
                    <a:cubicBezTo>
                      <a:pt x="575" y="0"/>
                      <a:pt x="597" y="21"/>
                      <a:pt x="597" y="47"/>
                    </a:cubicBezTo>
                    <a:close/>
                    <a:moveTo>
                      <a:pt x="697" y="47"/>
                    </a:moveTo>
                    <a:cubicBezTo>
                      <a:pt x="697" y="72"/>
                      <a:pt x="675" y="94"/>
                      <a:pt x="650" y="94"/>
                    </a:cubicBezTo>
                    <a:cubicBezTo>
                      <a:pt x="624" y="94"/>
                      <a:pt x="603" y="72"/>
                      <a:pt x="603" y="47"/>
                    </a:cubicBezTo>
                    <a:cubicBezTo>
                      <a:pt x="603" y="21"/>
                      <a:pt x="624" y="0"/>
                      <a:pt x="650" y="0"/>
                    </a:cubicBezTo>
                    <a:cubicBezTo>
                      <a:pt x="675" y="0"/>
                      <a:pt x="697" y="21"/>
                      <a:pt x="697" y="47"/>
                    </a:cubicBezTo>
                    <a:close/>
                    <a:moveTo>
                      <a:pt x="797" y="47"/>
                    </a:moveTo>
                    <a:cubicBezTo>
                      <a:pt x="797" y="72"/>
                      <a:pt x="775" y="94"/>
                      <a:pt x="750" y="94"/>
                    </a:cubicBezTo>
                    <a:cubicBezTo>
                      <a:pt x="724" y="94"/>
                      <a:pt x="703" y="72"/>
                      <a:pt x="703" y="47"/>
                    </a:cubicBezTo>
                    <a:cubicBezTo>
                      <a:pt x="703" y="21"/>
                      <a:pt x="724" y="0"/>
                      <a:pt x="750" y="0"/>
                    </a:cubicBezTo>
                    <a:cubicBezTo>
                      <a:pt x="775" y="0"/>
                      <a:pt x="797" y="21"/>
                      <a:pt x="797" y="47"/>
                    </a:cubicBezTo>
                    <a:close/>
                    <a:moveTo>
                      <a:pt x="897" y="47"/>
                    </a:moveTo>
                    <a:cubicBezTo>
                      <a:pt x="897" y="72"/>
                      <a:pt x="875" y="94"/>
                      <a:pt x="850" y="94"/>
                    </a:cubicBezTo>
                    <a:cubicBezTo>
                      <a:pt x="824" y="94"/>
                      <a:pt x="803" y="72"/>
                      <a:pt x="803" y="47"/>
                    </a:cubicBezTo>
                    <a:cubicBezTo>
                      <a:pt x="803" y="21"/>
                      <a:pt x="824" y="0"/>
                      <a:pt x="850" y="0"/>
                    </a:cubicBezTo>
                    <a:cubicBezTo>
                      <a:pt x="875" y="0"/>
                      <a:pt x="897" y="21"/>
                      <a:pt x="897" y="47"/>
                    </a:cubicBezTo>
                    <a:close/>
                    <a:moveTo>
                      <a:pt x="997" y="47"/>
                    </a:moveTo>
                    <a:cubicBezTo>
                      <a:pt x="997" y="72"/>
                      <a:pt x="975" y="94"/>
                      <a:pt x="950" y="94"/>
                    </a:cubicBezTo>
                    <a:cubicBezTo>
                      <a:pt x="924" y="94"/>
                      <a:pt x="903" y="72"/>
                      <a:pt x="903" y="47"/>
                    </a:cubicBezTo>
                    <a:cubicBezTo>
                      <a:pt x="903" y="21"/>
                      <a:pt x="924" y="0"/>
                      <a:pt x="950" y="0"/>
                    </a:cubicBezTo>
                    <a:cubicBezTo>
                      <a:pt x="975" y="0"/>
                      <a:pt x="997" y="21"/>
                      <a:pt x="997" y="47"/>
                    </a:cubicBezTo>
                    <a:close/>
                    <a:moveTo>
                      <a:pt x="1097" y="47"/>
                    </a:moveTo>
                    <a:cubicBezTo>
                      <a:pt x="1097" y="72"/>
                      <a:pt x="1075" y="94"/>
                      <a:pt x="1050" y="94"/>
                    </a:cubicBezTo>
                    <a:cubicBezTo>
                      <a:pt x="1024" y="94"/>
                      <a:pt x="1003" y="72"/>
                      <a:pt x="1003" y="47"/>
                    </a:cubicBezTo>
                    <a:cubicBezTo>
                      <a:pt x="1003" y="21"/>
                      <a:pt x="1024" y="0"/>
                      <a:pt x="1050" y="0"/>
                    </a:cubicBezTo>
                    <a:cubicBezTo>
                      <a:pt x="1075" y="0"/>
                      <a:pt x="1097" y="21"/>
                      <a:pt x="1097" y="47"/>
                    </a:cubicBezTo>
                    <a:close/>
                    <a:moveTo>
                      <a:pt x="1197" y="47"/>
                    </a:moveTo>
                    <a:cubicBezTo>
                      <a:pt x="1197" y="72"/>
                      <a:pt x="1175" y="94"/>
                      <a:pt x="1150" y="94"/>
                    </a:cubicBezTo>
                    <a:cubicBezTo>
                      <a:pt x="1124" y="94"/>
                      <a:pt x="1103" y="72"/>
                      <a:pt x="1103" y="47"/>
                    </a:cubicBezTo>
                    <a:cubicBezTo>
                      <a:pt x="1103" y="21"/>
                      <a:pt x="1124" y="0"/>
                      <a:pt x="1150" y="0"/>
                    </a:cubicBezTo>
                    <a:cubicBezTo>
                      <a:pt x="1175" y="0"/>
                      <a:pt x="1197" y="21"/>
                      <a:pt x="1197" y="47"/>
                    </a:cubicBezTo>
                    <a:close/>
                    <a:moveTo>
                      <a:pt x="1297" y="47"/>
                    </a:moveTo>
                    <a:cubicBezTo>
                      <a:pt x="1297" y="72"/>
                      <a:pt x="1275" y="94"/>
                      <a:pt x="1250" y="94"/>
                    </a:cubicBezTo>
                    <a:cubicBezTo>
                      <a:pt x="1224" y="94"/>
                      <a:pt x="1203" y="72"/>
                      <a:pt x="1203" y="47"/>
                    </a:cubicBezTo>
                    <a:cubicBezTo>
                      <a:pt x="1203" y="21"/>
                      <a:pt x="1224" y="0"/>
                      <a:pt x="1250" y="0"/>
                    </a:cubicBezTo>
                    <a:cubicBezTo>
                      <a:pt x="1275" y="0"/>
                      <a:pt x="1297" y="21"/>
                      <a:pt x="1297" y="47"/>
                    </a:cubicBezTo>
                    <a:close/>
                    <a:moveTo>
                      <a:pt x="1397" y="47"/>
                    </a:moveTo>
                    <a:cubicBezTo>
                      <a:pt x="1397" y="72"/>
                      <a:pt x="1375" y="94"/>
                      <a:pt x="1350" y="94"/>
                    </a:cubicBezTo>
                    <a:cubicBezTo>
                      <a:pt x="1324" y="94"/>
                      <a:pt x="1303" y="72"/>
                      <a:pt x="1303" y="47"/>
                    </a:cubicBezTo>
                    <a:cubicBezTo>
                      <a:pt x="1303" y="21"/>
                      <a:pt x="1324" y="0"/>
                      <a:pt x="1350" y="0"/>
                    </a:cubicBezTo>
                    <a:cubicBezTo>
                      <a:pt x="1375" y="0"/>
                      <a:pt x="1397" y="21"/>
                      <a:pt x="1397" y="47"/>
                    </a:cubicBezTo>
                    <a:close/>
                    <a:moveTo>
                      <a:pt x="1497" y="47"/>
                    </a:moveTo>
                    <a:cubicBezTo>
                      <a:pt x="1497" y="72"/>
                      <a:pt x="1475" y="94"/>
                      <a:pt x="1450" y="94"/>
                    </a:cubicBezTo>
                    <a:cubicBezTo>
                      <a:pt x="1424" y="94"/>
                      <a:pt x="1403" y="72"/>
                      <a:pt x="1403" y="47"/>
                    </a:cubicBezTo>
                    <a:cubicBezTo>
                      <a:pt x="1403" y="21"/>
                      <a:pt x="1424" y="0"/>
                      <a:pt x="1450" y="0"/>
                    </a:cubicBezTo>
                    <a:cubicBezTo>
                      <a:pt x="1475" y="0"/>
                      <a:pt x="1497" y="21"/>
                      <a:pt x="1497" y="47"/>
                    </a:cubicBezTo>
                    <a:close/>
                    <a:moveTo>
                      <a:pt x="1597" y="47"/>
                    </a:moveTo>
                    <a:cubicBezTo>
                      <a:pt x="1597" y="72"/>
                      <a:pt x="1575" y="94"/>
                      <a:pt x="1550" y="94"/>
                    </a:cubicBezTo>
                    <a:cubicBezTo>
                      <a:pt x="1524" y="94"/>
                      <a:pt x="1503" y="72"/>
                      <a:pt x="1503" y="47"/>
                    </a:cubicBezTo>
                    <a:cubicBezTo>
                      <a:pt x="1503" y="21"/>
                      <a:pt x="1524" y="0"/>
                      <a:pt x="1550" y="0"/>
                    </a:cubicBezTo>
                    <a:cubicBezTo>
                      <a:pt x="1575" y="0"/>
                      <a:pt x="1597" y="21"/>
                      <a:pt x="1597" y="47"/>
                    </a:cubicBezTo>
                    <a:close/>
                    <a:moveTo>
                      <a:pt x="1697" y="47"/>
                    </a:moveTo>
                    <a:cubicBezTo>
                      <a:pt x="1697" y="72"/>
                      <a:pt x="1675" y="94"/>
                      <a:pt x="1650" y="94"/>
                    </a:cubicBezTo>
                    <a:cubicBezTo>
                      <a:pt x="1624" y="94"/>
                      <a:pt x="1603" y="72"/>
                      <a:pt x="1603" y="47"/>
                    </a:cubicBezTo>
                    <a:cubicBezTo>
                      <a:pt x="1603" y="21"/>
                      <a:pt x="1624" y="0"/>
                      <a:pt x="1650" y="0"/>
                    </a:cubicBezTo>
                    <a:cubicBezTo>
                      <a:pt x="1675" y="0"/>
                      <a:pt x="1697" y="21"/>
                      <a:pt x="1697" y="47"/>
                    </a:cubicBezTo>
                    <a:close/>
                    <a:moveTo>
                      <a:pt x="1797" y="47"/>
                    </a:moveTo>
                    <a:cubicBezTo>
                      <a:pt x="1797" y="72"/>
                      <a:pt x="1775" y="94"/>
                      <a:pt x="1750" y="94"/>
                    </a:cubicBezTo>
                    <a:cubicBezTo>
                      <a:pt x="1724" y="94"/>
                      <a:pt x="1703" y="72"/>
                      <a:pt x="1703" y="47"/>
                    </a:cubicBezTo>
                    <a:cubicBezTo>
                      <a:pt x="1703" y="21"/>
                      <a:pt x="1724" y="0"/>
                      <a:pt x="1750" y="0"/>
                    </a:cubicBezTo>
                    <a:cubicBezTo>
                      <a:pt x="1775" y="0"/>
                      <a:pt x="1797" y="21"/>
                      <a:pt x="1797" y="47"/>
                    </a:cubicBezTo>
                    <a:close/>
                    <a:moveTo>
                      <a:pt x="1897" y="47"/>
                    </a:moveTo>
                    <a:cubicBezTo>
                      <a:pt x="1897" y="72"/>
                      <a:pt x="1875" y="94"/>
                      <a:pt x="1850" y="94"/>
                    </a:cubicBezTo>
                    <a:cubicBezTo>
                      <a:pt x="1824" y="94"/>
                      <a:pt x="1803" y="72"/>
                      <a:pt x="1803" y="47"/>
                    </a:cubicBezTo>
                    <a:cubicBezTo>
                      <a:pt x="1803" y="21"/>
                      <a:pt x="1824" y="0"/>
                      <a:pt x="1850" y="0"/>
                    </a:cubicBezTo>
                    <a:cubicBezTo>
                      <a:pt x="1875" y="0"/>
                      <a:pt x="1897" y="21"/>
                      <a:pt x="1897" y="47"/>
                    </a:cubicBezTo>
                    <a:close/>
                    <a:moveTo>
                      <a:pt x="1997" y="47"/>
                    </a:moveTo>
                    <a:cubicBezTo>
                      <a:pt x="1997" y="72"/>
                      <a:pt x="1975" y="94"/>
                      <a:pt x="1950" y="94"/>
                    </a:cubicBezTo>
                    <a:cubicBezTo>
                      <a:pt x="1924" y="94"/>
                      <a:pt x="1903" y="72"/>
                      <a:pt x="1903" y="47"/>
                    </a:cubicBezTo>
                    <a:cubicBezTo>
                      <a:pt x="1903" y="21"/>
                      <a:pt x="1924" y="0"/>
                      <a:pt x="1950" y="0"/>
                    </a:cubicBezTo>
                    <a:cubicBezTo>
                      <a:pt x="1975" y="0"/>
                      <a:pt x="1997" y="21"/>
                      <a:pt x="1997" y="47"/>
                    </a:cubicBezTo>
                    <a:close/>
                    <a:moveTo>
                      <a:pt x="2097" y="47"/>
                    </a:moveTo>
                    <a:cubicBezTo>
                      <a:pt x="2097" y="72"/>
                      <a:pt x="2075" y="94"/>
                      <a:pt x="2050" y="94"/>
                    </a:cubicBezTo>
                    <a:cubicBezTo>
                      <a:pt x="2024" y="94"/>
                      <a:pt x="2003" y="72"/>
                      <a:pt x="2003" y="47"/>
                    </a:cubicBezTo>
                    <a:cubicBezTo>
                      <a:pt x="2003" y="21"/>
                      <a:pt x="2024" y="0"/>
                      <a:pt x="2050" y="0"/>
                    </a:cubicBezTo>
                    <a:cubicBezTo>
                      <a:pt x="2075" y="0"/>
                      <a:pt x="2097" y="21"/>
                      <a:pt x="2097" y="47"/>
                    </a:cubicBezTo>
                    <a:close/>
                    <a:moveTo>
                      <a:pt x="2197" y="47"/>
                    </a:moveTo>
                    <a:cubicBezTo>
                      <a:pt x="2197" y="72"/>
                      <a:pt x="2175" y="94"/>
                      <a:pt x="2150" y="94"/>
                    </a:cubicBezTo>
                    <a:cubicBezTo>
                      <a:pt x="2124" y="94"/>
                      <a:pt x="2103" y="72"/>
                      <a:pt x="2103" y="47"/>
                    </a:cubicBezTo>
                    <a:cubicBezTo>
                      <a:pt x="2103" y="21"/>
                      <a:pt x="2124" y="0"/>
                      <a:pt x="2150" y="0"/>
                    </a:cubicBezTo>
                    <a:cubicBezTo>
                      <a:pt x="2175" y="0"/>
                      <a:pt x="2197" y="21"/>
                      <a:pt x="2197" y="47"/>
                    </a:cubicBezTo>
                    <a:close/>
                    <a:moveTo>
                      <a:pt x="2297" y="47"/>
                    </a:moveTo>
                    <a:cubicBezTo>
                      <a:pt x="2297" y="72"/>
                      <a:pt x="2275" y="94"/>
                      <a:pt x="2250" y="94"/>
                    </a:cubicBezTo>
                    <a:cubicBezTo>
                      <a:pt x="2224" y="94"/>
                      <a:pt x="2203" y="72"/>
                      <a:pt x="2203" y="47"/>
                    </a:cubicBezTo>
                    <a:cubicBezTo>
                      <a:pt x="2203" y="21"/>
                      <a:pt x="2224" y="0"/>
                      <a:pt x="2250" y="0"/>
                    </a:cubicBezTo>
                    <a:cubicBezTo>
                      <a:pt x="2275" y="0"/>
                      <a:pt x="2297" y="21"/>
                      <a:pt x="2297" y="47"/>
                    </a:cubicBezTo>
                    <a:close/>
                    <a:moveTo>
                      <a:pt x="2397" y="47"/>
                    </a:moveTo>
                    <a:cubicBezTo>
                      <a:pt x="2397" y="72"/>
                      <a:pt x="2375" y="94"/>
                      <a:pt x="2350" y="94"/>
                    </a:cubicBezTo>
                    <a:cubicBezTo>
                      <a:pt x="2324" y="94"/>
                      <a:pt x="2303" y="72"/>
                      <a:pt x="2303" y="47"/>
                    </a:cubicBezTo>
                    <a:cubicBezTo>
                      <a:pt x="2303" y="21"/>
                      <a:pt x="2324" y="0"/>
                      <a:pt x="2350" y="0"/>
                    </a:cubicBezTo>
                    <a:cubicBezTo>
                      <a:pt x="2375" y="0"/>
                      <a:pt x="2397" y="21"/>
                      <a:pt x="2397" y="47"/>
                    </a:cubicBezTo>
                    <a:close/>
                    <a:moveTo>
                      <a:pt x="2497" y="47"/>
                    </a:moveTo>
                    <a:cubicBezTo>
                      <a:pt x="2497" y="72"/>
                      <a:pt x="2475" y="94"/>
                      <a:pt x="2450" y="94"/>
                    </a:cubicBezTo>
                    <a:cubicBezTo>
                      <a:pt x="2424" y="94"/>
                      <a:pt x="2403" y="72"/>
                      <a:pt x="2403" y="47"/>
                    </a:cubicBezTo>
                    <a:cubicBezTo>
                      <a:pt x="2403" y="21"/>
                      <a:pt x="2424" y="0"/>
                      <a:pt x="2450" y="0"/>
                    </a:cubicBezTo>
                    <a:cubicBezTo>
                      <a:pt x="2475" y="0"/>
                      <a:pt x="2497" y="21"/>
                      <a:pt x="2497" y="47"/>
                    </a:cubicBezTo>
                    <a:close/>
                    <a:moveTo>
                      <a:pt x="2597" y="47"/>
                    </a:moveTo>
                    <a:cubicBezTo>
                      <a:pt x="2597" y="72"/>
                      <a:pt x="2575" y="94"/>
                      <a:pt x="2550" y="94"/>
                    </a:cubicBezTo>
                    <a:cubicBezTo>
                      <a:pt x="2524" y="94"/>
                      <a:pt x="2503" y="72"/>
                      <a:pt x="2503" y="47"/>
                    </a:cubicBezTo>
                    <a:cubicBezTo>
                      <a:pt x="2503" y="21"/>
                      <a:pt x="2524" y="0"/>
                      <a:pt x="2550" y="0"/>
                    </a:cubicBezTo>
                    <a:cubicBezTo>
                      <a:pt x="2575" y="0"/>
                      <a:pt x="2597" y="21"/>
                      <a:pt x="2597" y="47"/>
                    </a:cubicBezTo>
                    <a:close/>
                    <a:moveTo>
                      <a:pt x="2697" y="47"/>
                    </a:moveTo>
                    <a:cubicBezTo>
                      <a:pt x="2697" y="72"/>
                      <a:pt x="2675" y="94"/>
                      <a:pt x="2650" y="94"/>
                    </a:cubicBezTo>
                    <a:cubicBezTo>
                      <a:pt x="2624" y="94"/>
                      <a:pt x="2603" y="72"/>
                      <a:pt x="2603" y="47"/>
                    </a:cubicBezTo>
                    <a:cubicBezTo>
                      <a:pt x="2603" y="21"/>
                      <a:pt x="2624" y="0"/>
                      <a:pt x="2650" y="0"/>
                    </a:cubicBezTo>
                    <a:cubicBezTo>
                      <a:pt x="2675" y="0"/>
                      <a:pt x="2697" y="21"/>
                      <a:pt x="2697" y="47"/>
                    </a:cubicBezTo>
                    <a:close/>
                    <a:moveTo>
                      <a:pt x="2797" y="47"/>
                    </a:moveTo>
                    <a:cubicBezTo>
                      <a:pt x="2797" y="72"/>
                      <a:pt x="2775" y="94"/>
                      <a:pt x="2750" y="94"/>
                    </a:cubicBezTo>
                    <a:cubicBezTo>
                      <a:pt x="2724" y="94"/>
                      <a:pt x="2703" y="72"/>
                      <a:pt x="2703" y="47"/>
                    </a:cubicBezTo>
                    <a:cubicBezTo>
                      <a:pt x="2703" y="21"/>
                      <a:pt x="2724" y="0"/>
                      <a:pt x="2750" y="0"/>
                    </a:cubicBezTo>
                    <a:cubicBezTo>
                      <a:pt x="2775" y="0"/>
                      <a:pt x="2797" y="21"/>
                      <a:pt x="2797" y="47"/>
                    </a:cubicBezTo>
                    <a:close/>
                    <a:moveTo>
                      <a:pt x="2897" y="47"/>
                    </a:moveTo>
                    <a:cubicBezTo>
                      <a:pt x="2897" y="72"/>
                      <a:pt x="2875" y="94"/>
                      <a:pt x="2850" y="94"/>
                    </a:cubicBezTo>
                    <a:cubicBezTo>
                      <a:pt x="2824" y="94"/>
                      <a:pt x="2803" y="72"/>
                      <a:pt x="2803" y="47"/>
                    </a:cubicBezTo>
                    <a:cubicBezTo>
                      <a:pt x="2803" y="21"/>
                      <a:pt x="2824" y="0"/>
                      <a:pt x="2850" y="0"/>
                    </a:cubicBezTo>
                    <a:cubicBezTo>
                      <a:pt x="2875" y="0"/>
                      <a:pt x="2897" y="21"/>
                      <a:pt x="2897" y="47"/>
                    </a:cubicBezTo>
                    <a:close/>
                    <a:moveTo>
                      <a:pt x="2997" y="47"/>
                    </a:moveTo>
                    <a:cubicBezTo>
                      <a:pt x="2997" y="72"/>
                      <a:pt x="2975" y="94"/>
                      <a:pt x="2950" y="94"/>
                    </a:cubicBezTo>
                    <a:cubicBezTo>
                      <a:pt x="2924" y="94"/>
                      <a:pt x="2903" y="72"/>
                      <a:pt x="2903" y="47"/>
                    </a:cubicBezTo>
                    <a:cubicBezTo>
                      <a:pt x="2903" y="21"/>
                      <a:pt x="2924" y="0"/>
                      <a:pt x="2950" y="0"/>
                    </a:cubicBezTo>
                    <a:cubicBezTo>
                      <a:pt x="2975" y="0"/>
                      <a:pt x="2997" y="21"/>
                      <a:pt x="2997" y="47"/>
                    </a:cubicBezTo>
                    <a:close/>
                    <a:moveTo>
                      <a:pt x="3097" y="47"/>
                    </a:moveTo>
                    <a:cubicBezTo>
                      <a:pt x="3097" y="72"/>
                      <a:pt x="3075" y="94"/>
                      <a:pt x="3050" y="94"/>
                    </a:cubicBezTo>
                    <a:cubicBezTo>
                      <a:pt x="3024" y="94"/>
                      <a:pt x="3003" y="72"/>
                      <a:pt x="3003" y="47"/>
                    </a:cubicBezTo>
                    <a:cubicBezTo>
                      <a:pt x="3003" y="21"/>
                      <a:pt x="3024" y="0"/>
                      <a:pt x="3050" y="0"/>
                    </a:cubicBezTo>
                    <a:cubicBezTo>
                      <a:pt x="3075" y="0"/>
                      <a:pt x="3097" y="21"/>
                      <a:pt x="3097" y="47"/>
                    </a:cubicBezTo>
                    <a:close/>
                    <a:moveTo>
                      <a:pt x="3197" y="47"/>
                    </a:moveTo>
                    <a:cubicBezTo>
                      <a:pt x="3197" y="72"/>
                      <a:pt x="3175" y="94"/>
                      <a:pt x="3150" y="94"/>
                    </a:cubicBezTo>
                    <a:cubicBezTo>
                      <a:pt x="3124" y="94"/>
                      <a:pt x="3103" y="72"/>
                      <a:pt x="3103" y="47"/>
                    </a:cubicBezTo>
                    <a:cubicBezTo>
                      <a:pt x="3103" y="21"/>
                      <a:pt x="3124" y="0"/>
                      <a:pt x="3150" y="0"/>
                    </a:cubicBezTo>
                    <a:cubicBezTo>
                      <a:pt x="3175" y="0"/>
                      <a:pt x="3197" y="21"/>
                      <a:pt x="3197" y="47"/>
                    </a:cubicBezTo>
                    <a:close/>
                    <a:moveTo>
                      <a:pt x="3297" y="47"/>
                    </a:moveTo>
                    <a:cubicBezTo>
                      <a:pt x="3297" y="72"/>
                      <a:pt x="3275" y="94"/>
                      <a:pt x="3250" y="94"/>
                    </a:cubicBezTo>
                    <a:cubicBezTo>
                      <a:pt x="3224" y="94"/>
                      <a:pt x="3203" y="72"/>
                      <a:pt x="3203" y="47"/>
                    </a:cubicBezTo>
                    <a:cubicBezTo>
                      <a:pt x="3203" y="21"/>
                      <a:pt x="3224" y="0"/>
                      <a:pt x="3250" y="0"/>
                    </a:cubicBezTo>
                    <a:cubicBezTo>
                      <a:pt x="3275" y="0"/>
                      <a:pt x="3297" y="21"/>
                      <a:pt x="3297" y="47"/>
                    </a:cubicBezTo>
                    <a:close/>
                    <a:moveTo>
                      <a:pt x="3397" y="47"/>
                    </a:moveTo>
                    <a:cubicBezTo>
                      <a:pt x="3397" y="72"/>
                      <a:pt x="3375" y="94"/>
                      <a:pt x="3350" y="94"/>
                    </a:cubicBezTo>
                    <a:cubicBezTo>
                      <a:pt x="3324" y="94"/>
                      <a:pt x="3303" y="72"/>
                      <a:pt x="3303" y="47"/>
                    </a:cubicBezTo>
                    <a:cubicBezTo>
                      <a:pt x="3303" y="21"/>
                      <a:pt x="3324" y="0"/>
                      <a:pt x="3350" y="0"/>
                    </a:cubicBezTo>
                    <a:cubicBezTo>
                      <a:pt x="3375" y="0"/>
                      <a:pt x="3397" y="21"/>
                      <a:pt x="3397" y="47"/>
                    </a:cubicBezTo>
                    <a:close/>
                    <a:moveTo>
                      <a:pt x="3497" y="47"/>
                    </a:moveTo>
                    <a:cubicBezTo>
                      <a:pt x="3497" y="72"/>
                      <a:pt x="3475" y="94"/>
                      <a:pt x="3450" y="94"/>
                    </a:cubicBezTo>
                    <a:cubicBezTo>
                      <a:pt x="3424" y="94"/>
                      <a:pt x="3403" y="72"/>
                      <a:pt x="3403" y="47"/>
                    </a:cubicBezTo>
                    <a:cubicBezTo>
                      <a:pt x="3403" y="21"/>
                      <a:pt x="3424" y="0"/>
                      <a:pt x="3450" y="0"/>
                    </a:cubicBezTo>
                    <a:cubicBezTo>
                      <a:pt x="3475" y="0"/>
                      <a:pt x="3497" y="21"/>
                      <a:pt x="3497" y="47"/>
                    </a:cubicBezTo>
                    <a:close/>
                    <a:moveTo>
                      <a:pt x="3597" y="47"/>
                    </a:moveTo>
                    <a:cubicBezTo>
                      <a:pt x="3597" y="72"/>
                      <a:pt x="3575" y="94"/>
                      <a:pt x="3550" y="94"/>
                    </a:cubicBezTo>
                    <a:cubicBezTo>
                      <a:pt x="3524" y="94"/>
                      <a:pt x="3503" y="72"/>
                      <a:pt x="3503" y="47"/>
                    </a:cubicBezTo>
                    <a:cubicBezTo>
                      <a:pt x="3503" y="21"/>
                      <a:pt x="3524" y="0"/>
                      <a:pt x="3550" y="0"/>
                    </a:cubicBezTo>
                    <a:cubicBezTo>
                      <a:pt x="3575" y="0"/>
                      <a:pt x="3597" y="21"/>
                      <a:pt x="3597" y="47"/>
                    </a:cubicBezTo>
                    <a:close/>
                    <a:moveTo>
                      <a:pt x="3697" y="47"/>
                    </a:moveTo>
                    <a:cubicBezTo>
                      <a:pt x="3697" y="72"/>
                      <a:pt x="3675" y="94"/>
                      <a:pt x="3650" y="94"/>
                    </a:cubicBezTo>
                    <a:cubicBezTo>
                      <a:pt x="3624" y="94"/>
                      <a:pt x="3603" y="72"/>
                      <a:pt x="3603" y="47"/>
                    </a:cubicBezTo>
                    <a:cubicBezTo>
                      <a:pt x="3603" y="21"/>
                      <a:pt x="3624" y="0"/>
                      <a:pt x="3650" y="0"/>
                    </a:cubicBezTo>
                    <a:cubicBezTo>
                      <a:pt x="3675" y="0"/>
                      <a:pt x="3697" y="21"/>
                      <a:pt x="3697" y="47"/>
                    </a:cubicBezTo>
                    <a:close/>
                    <a:moveTo>
                      <a:pt x="3797" y="47"/>
                    </a:moveTo>
                    <a:cubicBezTo>
                      <a:pt x="3797" y="72"/>
                      <a:pt x="3775" y="94"/>
                      <a:pt x="3750" y="94"/>
                    </a:cubicBezTo>
                    <a:cubicBezTo>
                      <a:pt x="3724" y="94"/>
                      <a:pt x="3703" y="72"/>
                      <a:pt x="3703" y="47"/>
                    </a:cubicBezTo>
                    <a:cubicBezTo>
                      <a:pt x="3703" y="21"/>
                      <a:pt x="3724" y="0"/>
                      <a:pt x="3750" y="0"/>
                    </a:cubicBezTo>
                    <a:cubicBezTo>
                      <a:pt x="3775" y="0"/>
                      <a:pt x="3797" y="21"/>
                      <a:pt x="3797" y="47"/>
                    </a:cubicBezTo>
                    <a:close/>
                    <a:moveTo>
                      <a:pt x="3897" y="47"/>
                    </a:moveTo>
                    <a:cubicBezTo>
                      <a:pt x="3897" y="72"/>
                      <a:pt x="3875" y="94"/>
                      <a:pt x="3850" y="94"/>
                    </a:cubicBezTo>
                    <a:cubicBezTo>
                      <a:pt x="3824" y="94"/>
                      <a:pt x="3803" y="72"/>
                      <a:pt x="3803" y="47"/>
                    </a:cubicBezTo>
                    <a:cubicBezTo>
                      <a:pt x="3803" y="21"/>
                      <a:pt x="3824" y="0"/>
                      <a:pt x="3850" y="0"/>
                    </a:cubicBezTo>
                    <a:cubicBezTo>
                      <a:pt x="3875" y="0"/>
                      <a:pt x="3897" y="21"/>
                      <a:pt x="3897" y="47"/>
                    </a:cubicBezTo>
                    <a:close/>
                    <a:moveTo>
                      <a:pt x="3997" y="47"/>
                    </a:moveTo>
                    <a:cubicBezTo>
                      <a:pt x="3997" y="72"/>
                      <a:pt x="3975" y="94"/>
                      <a:pt x="3950" y="94"/>
                    </a:cubicBezTo>
                    <a:cubicBezTo>
                      <a:pt x="3924" y="94"/>
                      <a:pt x="3903" y="72"/>
                      <a:pt x="3903" y="47"/>
                    </a:cubicBezTo>
                    <a:cubicBezTo>
                      <a:pt x="3903" y="21"/>
                      <a:pt x="3924" y="0"/>
                      <a:pt x="3950" y="0"/>
                    </a:cubicBezTo>
                    <a:cubicBezTo>
                      <a:pt x="3975" y="0"/>
                      <a:pt x="3997" y="21"/>
                      <a:pt x="3997" y="47"/>
                    </a:cubicBezTo>
                    <a:close/>
                    <a:moveTo>
                      <a:pt x="4097" y="47"/>
                    </a:moveTo>
                    <a:cubicBezTo>
                      <a:pt x="4097" y="72"/>
                      <a:pt x="4075" y="94"/>
                      <a:pt x="4050" y="94"/>
                    </a:cubicBezTo>
                    <a:cubicBezTo>
                      <a:pt x="4024" y="94"/>
                      <a:pt x="4003" y="72"/>
                      <a:pt x="4003" y="47"/>
                    </a:cubicBezTo>
                    <a:cubicBezTo>
                      <a:pt x="4003" y="21"/>
                      <a:pt x="4024" y="0"/>
                      <a:pt x="4050" y="0"/>
                    </a:cubicBezTo>
                    <a:cubicBezTo>
                      <a:pt x="4075" y="0"/>
                      <a:pt x="4097" y="21"/>
                      <a:pt x="4097" y="47"/>
                    </a:cubicBezTo>
                    <a:close/>
                    <a:moveTo>
                      <a:pt x="4197" y="47"/>
                    </a:moveTo>
                    <a:cubicBezTo>
                      <a:pt x="4197" y="72"/>
                      <a:pt x="4175" y="94"/>
                      <a:pt x="4150" y="94"/>
                    </a:cubicBezTo>
                    <a:cubicBezTo>
                      <a:pt x="4124" y="94"/>
                      <a:pt x="4103" y="72"/>
                      <a:pt x="4103" y="47"/>
                    </a:cubicBezTo>
                    <a:cubicBezTo>
                      <a:pt x="4103" y="21"/>
                      <a:pt x="4124" y="0"/>
                      <a:pt x="4150" y="0"/>
                    </a:cubicBezTo>
                    <a:cubicBezTo>
                      <a:pt x="4175" y="0"/>
                      <a:pt x="4197" y="21"/>
                      <a:pt x="4197" y="47"/>
                    </a:cubicBezTo>
                    <a:close/>
                    <a:moveTo>
                      <a:pt x="4297" y="47"/>
                    </a:moveTo>
                    <a:cubicBezTo>
                      <a:pt x="4297" y="72"/>
                      <a:pt x="4275" y="94"/>
                      <a:pt x="4250" y="94"/>
                    </a:cubicBezTo>
                    <a:cubicBezTo>
                      <a:pt x="4224" y="94"/>
                      <a:pt x="4203" y="72"/>
                      <a:pt x="4203" y="47"/>
                    </a:cubicBezTo>
                    <a:cubicBezTo>
                      <a:pt x="4203" y="21"/>
                      <a:pt x="4224" y="0"/>
                      <a:pt x="4250" y="0"/>
                    </a:cubicBezTo>
                    <a:cubicBezTo>
                      <a:pt x="4275" y="0"/>
                      <a:pt x="4297" y="21"/>
                      <a:pt x="4297" y="47"/>
                    </a:cubicBezTo>
                    <a:close/>
                    <a:moveTo>
                      <a:pt x="4397" y="47"/>
                    </a:moveTo>
                    <a:cubicBezTo>
                      <a:pt x="4397" y="72"/>
                      <a:pt x="4375" y="94"/>
                      <a:pt x="4350" y="94"/>
                    </a:cubicBezTo>
                    <a:cubicBezTo>
                      <a:pt x="4324" y="94"/>
                      <a:pt x="4303" y="72"/>
                      <a:pt x="4303" y="47"/>
                    </a:cubicBezTo>
                    <a:cubicBezTo>
                      <a:pt x="4303" y="21"/>
                      <a:pt x="4324" y="0"/>
                      <a:pt x="4350" y="0"/>
                    </a:cubicBezTo>
                    <a:cubicBezTo>
                      <a:pt x="4375" y="0"/>
                      <a:pt x="4397" y="21"/>
                      <a:pt x="4397" y="47"/>
                    </a:cubicBezTo>
                    <a:close/>
                    <a:moveTo>
                      <a:pt x="4497" y="47"/>
                    </a:moveTo>
                    <a:cubicBezTo>
                      <a:pt x="4497" y="72"/>
                      <a:pt x="4475" y="94"/>
                      <a:pt x="4450" y="94"/>
                    </a:cubicBezTo>
                    <a:cubicBezTo>
                      <a:pt x="4424" y="94"/>
                      <a:pt x="4403" y="72"/>
                      <a:pt x="4403" y="47"/>
                    </a:cubicBezTo>
                    <a:cubicBezTo>
                      <a:pt x="4403" y="21"/>
                      <a:pt x="4424" y="0"/>
                      <a:pt x="4450" y="0"/>
                    </a:cubicBezTo>
                    <a:cubicBezTo>
                      <a:pt x="4475" y="0"/>
                      <a:pt x="4497" y="21"/>
                      <a:pt x="4497" y="47"/>
                    </a:cubicBezTo>
                    <a:close/>
                    <a:moveTo>
                      <a:pt x="4597" y="47"/>
                    </a:moveTo>
                    <a:cubicBezTo>
                      <a:pt x="4597" y="72"/>
                      <a:pt x="4575" y="94"/>
                      <a:pt x="4550" y="94"/>
                    </a:cubicBezTo>
                    <a:cubicBezTo>
                      <a:pt x="4524" y="94"/>
                      <a:pt x="4503" y="72"/>
                      <a:pt x="4503" y="47"/>
                    </a:cubicBezTo>
                    <a:cubicBezTo>
                      <a:pt x="4503" y="21"/>
                      <a:pt x="4524" y="0"/>
                      <a:pt x="4550" y="0"/>
                    </a:cubicBezTo>
                    <a:cubicBezTo>
                      <a:pt x="4575" y="0"/>
                      <a:pt x="4597" y="21"/>
                      <a:pt x="4597" y="47"/>
                    </a:cubicBezTo>
                    <a:close/>
                    <a:moveTo>
                      <a:pt x="4697" y="47"/>
                    </a:moveTo>
                    <a:cubicBezTo>
                      <a:pt x="4697" y="72"/>
                      <a:pt x="4675" y="94"/>
                      <a:pt x="4650" y="94"/>
                    </a:cubicBezTo>
                    <a:cubicBezTo>
                      <a:pt x="4624" y="94"/>
                      <a:pt x="4603" y="72"/>
                      <a:pt x="4603" y="47"/>
                    </a:cubicBezTo>
                    <a:cubicBezTo>
                      <a:pt x="4603" y="21"/>
                      <a:pt x="4624" y="0"/>
                      <a:pt x="4650" y="0"/>
                    </a:cubicBezTo>
                    <a:cubicBezTo>
                      <a:pt x="4675" y="0"/>
                      <a:pt x="4697" y="21"/>
                      <a:pt x="4697" y="47"/>
                    </a:cubicBezTo>
                    <a:close/>
                    <a:moveTo>
                      <a:pt x="4797" y="47"/>
                    </a:moveTo>
                    <a:cubicBezTo>
                      <a:pt x="4797" y="72"/>
                      <a:pt x="4775" y="94"/>
                      <a:pt x="4750" y="94"/>
                    </a:cubicBezTo>
                    <a:cubicBezTo>
                      <a:pt x="4724" y="94"/>
                      <a:pt x="4703" y="72"/>
                      <a:pt x="4703" y="47"/>
                    </a:cubicBezTo>
                    <a:cubicBezTo>
                      <a:pt x="4703" y="21"/>
                      <a:pt x="4724" y="0"/>
                      <a:pt x="4750" y="0"/>
                    </a:cubicBezTo>
                    <a:cubicBezTo>
                      <a:pt x="4775" y="0"/>
                      <a:pt x="4797" y="21"/>
                      <a:pt x="4797" y="47"/>
                    </a:cubicBezTo>
                    <a:close/>
                    <a:moveTo>
                      <a:pt x="4897" y="47"/>
                    </a:moveTo>
                    <a:cubicBezTo>
                      <a:pt x="4897" y="72"/>
                      <a:pt x="4875" y="94"/>
                      <a:pt x="4850" y="94"/>
                    </a:cubicBezTo>
                    <a:cubicBezTo>
                      <a:pt x="4824" y="94"/>
                      <a:pt x="4803" y="72"/>
                      <a:pt x="4803" y="47"/>
                    </a:cubicBezTo>
                    <a:cubicBezTo>
                      <a:pt x="4803" y="21"/>
                      <a:pt x="4824" y="0"/>
                      <a:pt x="4850" y="0"/>
                    </a:cubicBezTo>
                    <a:cubicBezTo>
                      <a:pt x="4875" y="0"/>
                      <a:pt x="4897" y="21"/>
                      <a:pt x="4897" y="47"/>
                    </a:cubicBezTo>
                    <a:close/>
                    <a:moveTo>
                      <a:pt x="4997" y="47"/>
                    </a:moveTo>
                    <a:cubicBezTo>
                      <a:pt x="4997" y="72"/>
                      <a:pt x="4975" y="94"/>
                      <a:pt x="4950" y="94"/>
                    </a:cubicBezTo>
                    <a:cubicBezTo>
                      <a:pt x="4924" y="94"/>
                      <a:pt x="4903" y="72"/>
                      <a:pt x="4903" y="47"/>
                    </a:cubicBezTo>
                    <a:cubicBezTo>
                      <a:pt x="4903" y="21"/>
                      <a:pt x="4924" y="0"/>
                      <a:pt x="4950" y="0"/>
                    </a:cubicBezTo>
                    <a:cubicBezTo>
                      <a:pt x="4975" y="0"/>
                      <a:pt x="4997" y="21"/>
                      <a:pt x="4997" y="47"/>
                    </a:cubicBezTo>
                    <a:close/>
                    <a:moveTo>
                      <a:pt x="5097" y="47"/>
                    </a:moveTo>
                    <a:cubicBezTo>
                      <a:pt x="5097" y="72"/>
                      <a:pt x="5075" y="94"/>
                      <a:pt x="5050" y="94"/>
                    </a:cubicBezTo>
                    <a:cubicBezTo>
                      <a:pt x="5024" y="94"/>
                      <a:pt x="5003" y="72"/>
                      <a:pt x="5003" y="47"/>
                    </a:cubicBezTo>
                    <a:cubicBezTo>
                      <a:pt x="5003" y="21"/>
                      <a:pt x="5024" y="0"/>
                      <a:pt x="5050" y="0"/>
                    </a:cubicBezTo>
                    <a:cubicBezTo>
                      <a:pt x="5075" y="0"/>
                      <a:pt x="5097" y="21"/>
                      <a:pt x="5097" y="47"/>
                    </a:cubicBezTo>
                    <a:close/>
                    <a:moveTo>
                      <a:pt x="5197" y="47"/>
                    </a:moveTo>
                    <a:cubicBezTo>
                      <a:pt x="5197" y="72"/>
                      <a:pt x="5175" y="94"/>
                      <a:pt x="5150" y="94"/>
                    </a:cubicBezTo>
                    <a:cubicBezTo>
                      <a:pt x="5124" y="94"/>
                      <a:pt x="5103" y="72"/>
                      <a:pt x="5103" y="47"/>
                    </a:cubicBezTo>
                    <a:cubicBezTo>
                      <a:pt x="5103" y="21"/>
                      <a:pt x="5124" y="0"/>
                      <a:pt x="5150" y="0"/>
                    </a:cubicBezTo>
                    <a:cubicBezTo>
                      <a:pt x="5175" y="0"/>
                      <a:pt x="5197" y="21"/>
                      <a:pt x="5197" y="47"/>
                    </a:cubicBezTo>
                    <a:close/>
                    <a:moveTo>
                      <a:pt x="97" y="353"/>
                    </a:moveTo>
                    <a:cubicBezTo>
                      <a:pt x="97" y="378"/>
                      <a:pt x="75" y="400"/>
                      <a:pt x="50" y="400"/>
                    </a:cubicBezTo>
                    <a:cubicBezTo>
                      <a:pt x="24" y="400"/>
                      <a:pt x="3" y="378"/>
                      <a:pt x="3" y="353"/>
                    </a:cubicBezTo>
                    <a:cubicBezTo>
                      <a:pt x="3" y="327"/>
                      <a:pt x="24" y="306"/>
                      <a:pt x="50" y="306"/>
                    </a:cubicBezTo>
                    <a:cubicBezTo>
                      <a:pt x="75" y="306"/>
                      <a:pt x="97" y="327"/>
                      <a:pt x="97" y="353"/>
                    </a:cubicBezTo>
                    <a:close/>
                    <a:moveTo>
                      <a:pt x="197" y="353"/>
                    </a:moveTo>
                    <a:cubicBezTo>
                      <a:pt x="197" y="378"/>
                      <a:pt x="175" y="400"/>
                      <a:pt x="150" y="400"/>
                    </a:cubicBezTo>
                    <a:cubicBezTo>
                      <a:pt x="124" y="400"/>
                      <a:pt x="103" y="378"/>
                      <a:pt x="103" y="353"/>
                    </a:cubicBezTo>
                    <a:cubicBezTo>
                      <a:pt x="103" y="327"/>
                      <a:pt x="124" y="306"/>
                      <a:pt x="150" y="306"/>
                    </a:cubicBezTo>
                    <a:cubicBezTo>
                      <a:pt x="175" y="306"/>
                      <a:pt x="197" y="327"/>
                      <a:pt x="197" y="353"/>
                    </a:cubicBezTo>
                    <a:close/>
                    <a:moveTo>
                      <a:pt x="297" y="353"/>
                    </a:moveTo>
                    <a:cubicBezTo>
                      <a:pt x="297" y="378"/>
                      <a:pt x="275" y="400"/>
                      <a:pt x="250" y="400"/>
                    </a:cubicBezTo>
                    <a:cubicBezTo>
                      <a:pt x="224" y="400"/>
                      <a:pt x="203" y="378"/>
                      <a:pt x="203" y="353"/>
                    </a:cubicBezTo>
                    <a:cubicBezTo>
                      <a:pt x="203" y="327"/>
                      <a:pt x="224" y="306"/>
                      <a:pt x="250" y="306"/>
                    </a:cubicBezTo>
                    <a:cubicBezTo>
                      <a:pt x="275" y="306"/>
                      <a:pt x="297" y="327"/>
                      <a:pt x="297" y="353"/>
                    </a:cubicBezTo>
                    <a:close/>
                    <a:moveTo>
                      <a:pt x="397" y="353"/>
                    </a:moveTo>
                    <a:cubicBezTo>
                      <a:pt x="397" y="378"/>
                      <a:pt x="375" y="400"/>
                      <a:pt x="350" y="400"/>
                    </a:cubicBezTo>
                    <a:cubicBezTo>
                      <a:pt x="324" y="400"/>
                      <a:pt x="303" y="378"/>
                      <a:pt x="303" y="353"/>
                    </a:cubicBezTo>
                    <a:cubicBezTo>
                      <a:pt x="303" y="327"/>
                      <a:pt x="324" y="306"/>
                      <a:pt x="350" y="306"/>
                    </a:cubicBezTo>
                    <a:cubicBezTo>
                      <a:pt x="375" y="306"/>
                      <a:pt x="397" y="327"/>
                      <a:pt x="397" y="353"/>
                    </a:cubicBezTo>
                    <a:close/>
                    <a:moveTo>
                      <a:pt x="497" y="353"/>
                    </a:moveTo>
                    <a:cubicBezTo>
                      <a:pt x="497" y="378"/>
                      <a:pt x="475" y="400"/>
                      <a:pt x="450" y="400"/>
                    </a:cubicBezTo>
                    <a:cubicBezTo>
                      <a:pt x="424" y="400"/>
                      <a:pt x="403" y="378"/>
                      <a:pt x="403" y="353"/>
                    </a:cubicBezTo>
                    <a:cubicBezTo>
                      <a:pt x="403" y="327"/>
                      <a:pt x="424" y="306"/>
                      <a:pt x="450" y="306"/>
                    </a:cubicBezTo>
                    <a:cubicBezTo>
                      <a:pt x="475" y="306"/>
                      <a:pt x="497" y="327"/>
                      <a:pt x="497" y="353"/>
                    </a:cubicBezTo>
                    <a:close/>
                    <a:moveTo>
                      <a:pt x="597" y="353"/>
                    </a:moveTo>
                    <a:cubicBezTo>
                      <a:pt x="597" y="378"/>
                      <a:pt x="575" y="400"/>
                      <a:pt x="550" y="400"/>
                    </a:cubicBezTo>
                    <a:cubicBezTo>
                      <a:pt x="524" y="400"/>
                      <a:pt x="503" y="378"/>
                      <a:pt x="503" y="353"/>
                    </a:cubicBezTo>
                    <a:cubicBezTo>
                      <a:pt x="503" y="327"/>
                      <a:pt x="524" y="306"/>
                      <a:pt x="550" y="306"/>
                    </a:cubicBezTo>
                    <a:cubicBezTo>
                      <a:pt x="575" y="306"/>
                      <a:pt x="597" y="327"/>
                      <a:pt x="597" y="353"/>
                    </a:cubicBezTo>
                    <a:close/>
                    <a:moveTo>
                      <a:pt x="697" y="353"/>
                    </a:moveTo>
                    <a:cubicBezTo>
                      <a:pt x="697" y="378"/>
                      <a:pt x="675" y="400"/>
                      <a:pt x="650" y="400"/>
                    </a:cubicBezTo>
                    <a:cubicBezTo>
                      <a:pt x="624" y="400"/>
                      <a:pt x="603" y="378"/>
                      <a:pt x="603" y="353"/>
                    </a:cubicBezTo>
                    <a:cubicBezTo>
                      <a:pt x="603" y="327"/>
                      <a:pt x="624" y="306"/>
                      <a:pt x="650" y="306"/>
                    </a:cubicBezTo>
                    <a:cubicBezTo>
                      <a:pt x="675" y="306"/>
                      <a:pt x="697" y="327"/>
                      <a:pt x="697" y="353"/>
                    </a:cubicBezTo>
                    <a:close/>
                    <a:moveTo>
                      <a:pt x="797" y="353"/>
                    </a:moveTo>
                    <a:cubicBezTo>
                      <a:pt x="797" y="378"/>
                      <a:pt x="775" y="400"/>
                      <a:pt x="750" y="400"/>
                    </a:cubicBezTo>
                    <a:cubicBezTo>
                      <a:pt x="724" y="400"/>
                      <a:pt x="703" y="378"/>
                      <a:pt x="703" y="353"/>
                    </a:cubicBezTo>
                    <a:cubicBezTo>
                      <a:pt x="703" y="327"/>
                      <a:pt x="724" y="306"/>
                      <a:pt x="750" y="306"/>
                    </a:cubicBezTo>
                    <a:cubicBezTo>
                      <a:pt x="775" y="306"/>
                      <a:pt x="797" y="327"/>
                      <a:pt x="797" y="353"/>
                    </a:cubicBezTo>
                    <a:close/>
                    <a:moveTo>
                      <a:pt x="897" y="353"/>
                    </a:moveTo>
                    <a:cubicBezTo>
                      <a:pt x="897" y="378"/>
                      <a:pt x="875" y="400"/>
                      <a:pt x="850" y="400"/>
                    </a:cubicBezTo>
                    <a:cubicBezTo>
                      <a:pt x="824" y="400"/>
                      <a:pt x="803" y="378"/>
                      <a:pt x="803" y="353"/>
                    </a:cubicBezTo>
                    <a:cubicBezTo>
                      <a:pt x="803" y="327"/>
                      <a:pt x="824" y="306"/>
                      <a:pt x="850" y="306"/>
                    </a:cubicBezTo>
                    <a:cubicBezTo>
                      <a:pt x="875" y="306"/>
                      <a:pt x="897" y="327"/>
                      <a:pt x="897" y="353"/>
                    </a:cubicBezTo>
                    <a:close/>
                    <a:moveTo>
                      <a:pt x="997" y="353"/>
                    </a:moveTo>
                    <a:cubicBezTo>
                      <a:pt x="997" y="378"/>
                      <a:pt x="975" y="400"/>
                      <a:pt x="950" y="400"/>
                    </a:cubicBezTo>
                    <a:cubicBezTo>
                      <a:pt x="924" y="400"/>
                      <a:pt x="903" y="378"/>
                      <a:pt x="903" y="353"/>
                    </a:cubicBezTo>
                    <a:cubicBezTo>
                      <a:pt x="903" y="327"/>
                      <a:pt x="924" y="306"/>
                      <a:pt x="950" y="306"/>
                    </a:cubicBezTo>
                    <a:cubicBezTo>
                      <a:pt x="975" y="306"/>
                      <a:pt x="997" y="327"/>
                      <a:pt x="997" y="353"/>
                    </a:cubicBezTo>
                    <a:close/>
                    <a:moveTo>
                      <a:pt x="1097" y="353"/>
                    </a:moveTo>
                    <a:cubicBezTo>
                      <a:pt x="1097" y="378"/>
                      <a:pt x="1075" y="400"/>
                      <a:pt x="1050" y="400"/>
                    </a:cubicBezTo>
                    <a:cubicBezTo>
                      <a:pt x="1024" y="400"/>
                      <a:pt x="1003" y="378"/>
                      <a:pt x="1003" y="353"/>
                    </a:cubicBezTo>
                    <a:cubicBezTo>
                      <a:pt x="1003" y="327"/>
                      <a:pt x="1024" y="306"/>
                      <a:pt x="1050" y="306"/>
                    </a:cubicBezTo>
                    <a:cubicBezTo>
                      <a:pt x="1075" y="306"/>
                      <a:pt x="1097" y="327"/>
                      <a:pt x="1097" y="353"/>
                    </a:cubicBezTo>
                    <a:close/>
                    <a:moveTo>
                      <a:pt x="1197" y="353"/>
                    </a:moveTo>
                    <a:cubicBezTo>
                      <a:pt x="1197" y="378"/>
                      <a:pt x="1175" y="400"/>
                      <a:pt x="1150" y="400"/>
                    </a:cubicBezTo>
                    <a:cubicBezTo>
                      <a:pt x="1124" y="400"/>
                      <a:pt x="1103" y="378"/>
                      <a:pt x="1103" y="353"/>
                    </a:cubicBezTo>
                    <a:cubicBezTo>
                      <a:pt x="1103" y="327"/>
                      <a:pt x="1124" y="306"/>
                      <a:pt x="1150" y="306"/>
                    </a:cubicBezTo>
                    <a:cubicBezTo>
                      <a:pt x="1175" y="306"/>
                      <a:pt x="1197" y="327"/>
                      <a:pt x="1197" y="353"/>
                    </a:cubicBezTo>
                    <a:close/>
                    <a:moveTo>
                      <a:pt x="1297" y="353"/>
                    </a:moveTo>
                    <a:cubicBezTo>
                      <a:pt x="1297" y="378"/>
                      <a:pt x="1275" y="400"/>
                      <a:pt x="1250" y="400"/>
                    </a:cubicBezTo>
                    <a:cubicBezTo>
                      <a:pt x="1224" y="400"/>
                      <a:pt x="1203" y="378"/>
                      <a:pt x="1203" y="353"/>
                    </a:cubicBezTo>
                    <a:cubicBezTo>
                      <a:pt x="1203" y="327"/>
                      <a:pt x="1224" y="306"/>
                      <a:pt x="1250" y="306"/>
                    </a:cubicBezTo>
                    <a:cubicBezTo>
                      <a:pt x="1275" y="306"/>
                      <a:pt x="1297" y="327"/>
                      <a:pt x="1297" y="353"/>
                    </a:cubicBezTo>
                    <a:close/>
                    <a:moveTo>
                      <a:pt x="1397" y="353"/>
                    </a:moveTo>
                    <a:cubicBezTo>
                      <a:pt x="1397" y="378"/>
                      <a:pt x="1375" y="400"/>
                      <a:pt x="1350" y="400"/>
                    </a:cubicBezTo>
                    <a:cubicBezTo>
                      <a:pt x="1324" y="400"/>
                      <a:pt x="1303" y="378"/>
                      <a:pt x="1303" y="353"/>
                    </a:cubicBezTo>
                    <a:cubicBezTo>
                      <a:pt x="1303" y="327"/>
                      <a:pt x="1324" y="306"/>
                      <a:pt x="1350" y="306"/>
                    </a:cubicBezTo>
                    <a:cubicBezTo>
                      <a:pt x="1375" y="306"/>
                      <a:pt x="1397" y="327"/>
                      <a:pt x="1397" y="353"/>
                    </a:cubicBezTo>
                    <a:close/>
                    <a:moveTo>
                      <a:pt x="1497" y="353"/>
                    </a:moveTo>
                    <a:cubicBezTo>
                      <a:pt x="1497" y="378"/>
                      <a:pt x="1475" y="400"/>
                      <a:pt x="1450" y="400"/>
                    </a:cubicBezTo>
                    <a:cubicBezTo>
                      <a:pt x="1424" y="400"/>
                      <a:pt x="1403" y="378"/>
                      <a:pt x="1403" y="353"/>
                    </a:cubicBezTo>
                    <a:cubicBezTo>
                      <a:pt x="1403" y="327"/>
                      <a:pt x="1424" y="306"/>
                      <a:pt x="1450" y="306"/>
                    </a:cubicBezTo>
                    <a:cubicBezTo>
                      <a:pt x="1475" y="306"/>
                      <a:pt x="1497" y="327"/>
                      <a:pt x="1497" y="353"/>
                    </a:cubicBezTo>
                    <a:close/>
                    <a:moveTo>
                      <a:pt x="1597" y="353"/>
                    </a:moveTo>
                    <a:cubicBezTo>
                      <a:pt x="1597" y="378"/>
                      <a:pt x="1575" y="400"/>
                      <a:pt x="1550" y="400"/>
                    </a:cubicBezTo>
                    <a:cubicBezTo>
                      <a:pt x="1524" y="400"/>
                      <a:pt x="1503" y="378"/>
                      <a:pt x="1503" y="353"/>
                    </a:cubicBezTo>
                    <a:cubicBezTo>
                      <a:pt x="1503" y="327"/>
                      <a:pt x="1524" y="306"/>
                      <a:pt x="1550" y="306"/>
                    </a:cubicBezTo>
                    <a:cubicBezTo>
                      <a:pt x="1575" y="306"/>
                      <a:pt x="1597" y="327"/>
                      <a:pt x="1597" y="353"/>
                    </a:cubicBezTo>
                    <a:close/>
                    <a:moveTo>
                      <a:pt x="1697" y="353"/>
                    </a:moveTo>
                    <a:cubicBezTo>
                      <a:pt x="1697" y="378"/>
                      <a:pt x="1675" y="400"/>
                      <a:pt x="1650" y="400"/>
                    </a:cubicBezTo>
                    <a:cubicBezTo>
                      <a:pt x="1624" y="400"/>
                      <a:pt x="1603" y="378"/>
                      <a:pt x="1603" y="353"/>
                    </a:cubicBezTo>
                    <a:cubicBezTo>
                      <a:pt x="1603" y="327"/>
                      <a:pt x="1624" y="306"/>
                      <a:pt x="1650" y="306"/>
                    </a:cubicBezTo>
                    <a:cubicBezTo>
                      <a:pt x="1675" y="306"/>
                      <a:pt x="1697" y="327"/>
                      <a:pt x="1697" y="353"/>
                    </a:cubicBezTo>
                    <a:close/>
                    <a:moveTo>
                      <a:pt x="1797" y="353"/>
                    </a:moveTo>
                    <a:cubicBezTo>
                      <a:pt x="1797" y="378"/>
                      <a:pt x="1775" y="400"/>
                      <a:pt x="1750" y="400"/>
                    </a:cubicBezTo>
                    <a:cubicBezTo>
                      <a:pt x="1724" y="400"/>
                      <a:pt x="1703" y="378"/>
                      <a:pt x="1703" y="353"/>
                    </a:cubicBezTo>
                    <a:cubicBezTo>
                      <a:pt x="1703" y="327"/>
                      <a:pt x="1724" y="306"/>
                      <a:pt x="1750" y="306"/>
                    </a:cubicBezTo>
                    <a:cubicBezTo>
                      <a:pt x="1775" y="306"/>
                      <a:pt x="1797" y="327"/>
                      <a:pt x="1797" y="353"/>
                    </a:cubicBezTo>
                    <a:close/>
                    <a:moveTo>
                      <a:pt x="1897" y="353"/>
                    </a:moveTo>
                    <a:cubicBezTo>
                      <a:pt x="1897" y="378"/>
                      <a:pt x="1875" y="400"/>
                      <a:pt x="1850" y="400"/>
                    </a:cubicBezTo>
                    <a:cubicBezTo>
                      <a:pt x="1824" y="400"/>
                      <a:pt x="1803" y="378"/>
                      <a:pt x="1803" y="353"/>
                    </a:cubicBezTo>
                    <a:cubicBezTo>
                      <a:pt x="1803" y="327"/>
                      <a:pt x="1824" y="306"/>
                      <a:pt x="1850" y="306"/>
                    </a:cubicBezTo>
                    <a:cubicBezTo>
                      <a:pt x="1875" y="306"/>
                      <a:pt x="1897" y="327"/>
                      <a:pt x="1897" y="353"/>
                    </a:cubicBezTo>
                    <a:close/>
                    <a:moveTo>
                      <a:pt x="1997" y="353"/>
                    </a:moveTo>
                    <a:cubicBezTo>
                      <a:pt x="1997" y="378"/>
                      <a:pt x="1975" y="400"/>
                      <a:pt x="1950" y="400"/>
                    </a:cubicBezTo>
                    <a:cubicBezTo>
                      <a:pt x="1924" y="400"/>
                      <a:pt x="1903" y="378"/>
                      <a:pt x="1903" y="353"/>
                    </a:cubicBezTo>
                    <a:cubicBezTo>
                      <a:pt x="1903" y="327"/>
                      <a:pt x="1924" y="306"/>
                      <a:pt x="1950" y="306"/>
                    </a:cubicBezTo>
                    <a:cubicBezTo>
                      <a:pt x="1975" y="306"/>
                      <a:pt x="1997" y="327"/>
                      <a:pt x="1997" y="353"/>
                    </a:cubicBezTo>
                    <a:close/>
                    <a:moveTo>
                      <a:pt x="2097" y="353"/>
                    </a:moveTo>
                    <a:cubicBezTo>
                      <a:pt x="2097" y="378"/>
                      <a:pt x="2075" y="400"/>
                      <a:pt x="2050" y="400"/>
                    </a:cubicBezTo>
                    <a:cubicBezTo>
                      <a:pt x="2024" y="400"/>
                      <a:pt x="2003" y="378"/>
                      <a:pt x="2003" y="353"/>
                    </a:cubicBezTo>
                    <a:cubicBezTo>
                      <a:pt x="2003" y="327"/>
                      <a:pt x="2024" y="306"/>
                      <a:pt x="2050" y="306"/>
                    </a:cubicBezTo>
                    <a:cubicBezTo>
                      <a:pt x="2075" y="306"/>
                      <a:pt x="2097" y="327"/>
                      <a:pt x="2097" y="353"/>
                    </a:cubicBezTo>
                    <a:close/>
                    <a:moveTo>
                      <a:pt x="2197" y="353"/>
                    </a:moveTo>
                    <a:cubicBezTo>
                      <a:pt x="2197" y="378"/>
                      <a:pt x="2175" y="400"/>
                      <a:pt x="2150" y="400"/>
                    </a:cubicBezTo>
                    <a:cubicBezTo>
                      <a:pt x="2124" y="400"/>
                      <a:pt x="2103" y="378"/>
                      <a:pt x="2103" y="353"/>
                    </a:cubicBezTo>
                    <a:cubicBezTo>
                      <a:pt x="2103" y="327"/>
                      <a:pt x="2124" y="306"/>
                      <a:pt x="2150" y="306"/>
                    </a:cubicBezTo>
                    <a:cubicBezTo>
                      <a:pt x="2175" y="306"/>
                      <a:pt x="2197" y="327"/>
                      <a:pt x="2197" y="353"/>
                    </a:cubicBezTo>
                    <a:close/>
                    <a:moveTo>
                      <a:pt x="2297" y="353"/>
                    </a:moveTo>
                    <a:cubicBezTo>
                      <a:pt x="2297" y="378"/>
                      <a:pt x="2275" y="400"/>
                      <a:pt x="2250" y="400"/>
                    </a:cubicBezTo>
                    <a:cubicBezTo>
                      <a:pt x="2224" y="400"/>
                      <a:pt x="2203" y="378"/>
                      <a:pt x="2203" y="353"/>
                    </a:cubicBezTo>
                    <a:cubicBezTo>
                      <a:pt x="2203" y="327"/>
                      <a:pt x="2224" y="306"/>
                      <a:pt x="2250" y="306"/>
                    </a:cubicBezTo>
                    <a:cubicBezTo>
                      <a:pt x="2275" y="306"/>
                      <a:pt x="2297" y="327"/>
                      <a:pt x="2297" y="353"/>
                    </a:cubicBezTo>
                    <a:close/>
                    <a:moveTo>
                      <a:pt x="2397" y="353"/>
                    </a:moveTo>
                    <a:cubicBezTo>
                      <a:pt x="2397" y="378"/>
                      <a:pt x="2375" y="400"/>
                      <a:pt x="2350" y="400"/>
                    </a:cubicBezTo>
                    <a:cubicBezTo>
                      <a:pt x="2324" y="400"/>
                      <a:pt x="2303" y="378"/>
                      <a:pt x="2303" y="353"/>
                    </a:cubicBezTo>
                    <a:cubicBezTo>
                      <a:pt x="2303" y="327"/>
                      <a:pt x="2324" y="306"/>
                      <a:pt x="2350" y="306"/>
                    </a:cubicBezTo>
                    <a:cubicBezTo>
                      <a:pt x="2375" y="306"/>
                      <a:pt x="2397" y="327"/>
                      <a:pt x="2397" y="353"/>
                    </a:cubicBezTo>
                    <a:close/>
                    <a:moveTo>
                      <a:pt x="2497" y="353"/>
                    </a:moveTo>
                    <a:cubicBezTo>
                      <a:pt x="2497" y="378"/>
                      <a:pt x="2475" y="400"/>
                      <a:pt x="2450" y="400"/>
                    </a:cubicBezTo>
                    <a:cubicBezTo>
                      <a:pt x="2424" y="400"/>
                      <a:pt x="2403" y="378"/>
                      <a:pt x="2403" y="353"/>
                    </a:cubicBezTo>
                    <a:cubicBezTo>
                      <a:pt x="2403" y="327"/>
                      <a:pt x="2424" y="306"/>
                      <a:pt x="2450" y="306"/>
                    </a:cubicBezTo>
                    <a:cubicBezTo>
                      <a:pt x="2475" y="306"/>
                      <a:pt x="2497" y="327"/>
                      <a:pt x="2497" y="353"/>
                    </a:cubicBezTo>
                    <a:close/>
                    <a:moveTo>
                      <a:pt x="2597" y="353"/>
                    </a:moveTo>
                    <a:cubicBezTo>
                      <a:pt x="2597" y="378"/>
                      <a:pt x="2575" y="400"/>
                      <a:pt x="2550" y="400"/>
                    </a:cubicBezTo>
                    <a:cubicBezTo>
                      <a:pt x="2524" y="400"/>
                      <a:pt x="2503" y="378"/>
                      <a:pt x="2503" y="353"/>
                    </a:cubicBezTo>
                    <a:cubicBezTo>
                      <a:pt x="2503" y="327"/>
                      <a:pt x="2524" y="306"/>
                      <a:pt x="2550" y="306"/>
                    </a:cubicBezTo>
                    <a:cubicBezTo>
                      <a:pt x="2575" y="306"/>
                      <a:pt x="2597" y="327"/>
                      <a:pt x="2597" y="353"/>
                    </a:cubicBezTo>
                    <a:close/>
                    <a:moveTo>
                      <a:pt x="2697" y="353"/>
                    </a:moveTo>
                    <a:cubicBezTo>
                      <a:pt x="2697" y="378"/>
                      <a:pt x="2675" y="400"/>
                      <a:pt x="2650" y="400"/>
                    </a:cubicBezTo>
                    <a:cubicBezTo>
                      <a:pt x="2624" y="400"/>
                      <a:pt x="2603" y="378"/>
                      <a:pt x="2603" y="353"/>
                    </a:cubicBezTo>
                    <a:cubicBezTo>
                      <a:pt x="2603" y="327"/>
                      <a:pt x="2624" y="306"/>
                      <a:pt x="2650" y="306"/>
                    </a:cubicBezTo>
                    <a:cubicBezTo>
                      <a:pt x="2675" y="306"/>
                      <a:pt x="2697" y="327"/>
                      <a:pt x="2697" y="353"/>
                    </a:cubicBezTo>
                    <a:close/>
                    <a:moveTo>
                      <a:pt x="2797" y="353"/>
                    </a:moveTo>
                    <a:cubicBezTo>
                      <a:pt x="2797" y="378"/>
                      <a:pt x="2775" y="400"/>
                      <a:pt x="2750" y="400"/>
                    </a:cubicBezTo>
                    <a:cubicBezTo>
                      <a:pt x="2724" y="400"/>
                      <a:pt x="2703" y="378"/>
                      <a:pt x="2703" y="353"/>
                    </a:cubicBezTo>
                    <a:cubicBezTo>
                      <a:pt x="2703" y="327"/>
                      <a:pt x="2724" y="306"/>
                      <a:pt x="2750" y="306"/>
                    </a:cubicBezTo>
                    <a:cubicBezTo>
                      <a:pt x="2775" y="306"/>
                      <a:pt x="2797" y="327"/>
                      <a:pt x="2797" y="353"/>
                    </a:cubicBezTo>
                    <a:close/>
                    <a:moveTo>
                      <a:pt x="2897" y="353"/>
                    </a:moveTo>
                    <a:cubicBezTo>
                      <a:pt x="2897" y="378"/>
                      <a:pt x="2875" y="400"/>
                      <a:pt x="2850" y="400"/>
                    </a:cubicBezTo>
                    <a:cubicBezTo>
                      <a:pt x="2824" y="400"/>
                      <a:pt x="2803" y="378"/>
                      <a:pt x="2803" y="353"/>
                    </a:cubicBezTo>
                    <a:cubicBezTo>
                      <a:pt x="2803" y="327"/>
                      <a:pt x="2824" y="306"/>
                      <a:pt x="2850" y="306"/>
                    </a:cubicBezTo>
                    <a:cubicBezTo>
                      <a:pt x="2875" y="306"/>
                      <a:pt x="2897" y="327"/>
                      <a:pt x="2897" y="353"/>
                    </a:cubicBezTo>
                    <a:close/>
                    <a:moveTo>
                      <a:pt x="2997" y="353"/>
                    </a:moveTo>
                    <a:cubicBezTo>
                      <a:pt x="2997" y="378"/>
                      <a:pt x="2975" y="400"/>
                      <a:pt x="2950" y="400"/>
                    </a:cubicBezTo>
                    <a:cubicBezTo>
                      <a:pt x="2924" y="400"/>
                      <a:pt x="2903" y="378"/>
                      <a:pt x="2903" y="353"/>
                    </a:cubicBezTo>
                    <a:cubicBezTo>
                      <a:pt x="2903" y="327"/>
                      <a:pt x="2924" y="306"/>
                      <a:pt x="2950" y="306"/>
                    </a:cubicBezTo>
                    <a:cubicBezTo>
                      <a:pt x="2975" y="306"/>
                      <a:pt x="2997" y="327"/>
                      <a:pt x="2997" y="353"/>
                    </a:cubicBezTo>
                    <a:close/>
                    <a:moveTo>
                      <a:pt x="3097" y="353"/>
                    </a:moveTo>
                    <a:cubicBezTo>
                      <a:pt x="3097" y="378"/>
                      <a:pt x="3075" y="400"/>
                      <a:pt x="3050" y="400"/>
                    </a:cubicBezTo>
                    <a:cubicBezTo>
                      <a:pt x="3024" y="400"/>
                      <a:pt x="3003" y="378"/>
                      <a:pt x="3003" y="353"/>
                    </a:cubicBezTo>
                    <a:cubicBezTo>
                      <a:pt x="3003" y="327"/>
                      <a:pt x="3024" y="306"/>
                      <a:pt x="3050" y="306"/>
                    </a:cubicBezTo>
                    <a:cubicBezTo>
                      <a:pt x="3075" y="306"/>
                      <a:pt x="3097" y="327"/>
                      <a:pt x="3097" y="353"/>
                    </a:cubicBezTo>
                    <a:close/>
                    <a:moveTo>
                      <a:pt x="3197" y="353"/>
                    </a:moveTo>
                    <a:cubicBezTo>
                      <a:pt x="3197" y="378"/>
                      <a:pt x="3175" y="400"/>
                      <a:pt x="3150" y="400"/>
                    </a:cubicBezTo>
                    <a:cubicBezTo>
                      <a:pt x="3124" y="400"/>
                      <a:pt x="3103" y="378"/>
                      <a:pt x="3103" y="353"/>
                    </a:cubicBezTo>
                    <a:cubicBezTo>
                      <a:pt x="3103" y="327"/>
                      <a:pt x="3124" y="306"/>
                      <a:pt x="3150" y="306"/>
                    </a:cubicBezTo>
                    <a:cubicBezTo>
                      <a:pt x="3175" y="306"/>
                      <a:pt x="3197" y="327"/>
                      <a:pt x="3197" y="353"/>
                    </a:cubicBezTo>
                    <a:close/>
                    <a:moveTo>
                      <a:pt x="3297" y="353"/>
                    </a:moveTo>
                    <a:cubicBezTo>
                      <a:pt x="3297" y="378"/>
                      <a:pt x="3275" y="400"/>
                      <a:pt x="3250" y="400"/>
                    </a:cubicBezTo>
                    <a:cubicBezTo>
                      <a:pt x="3224" y="400"/>
                      <a:pt x="3203" y="378"/>
                      <a:pt x="3203" y="353"/>
                    </a:cubicBezTo>
                    <a:cubicBezTo>
                      <a:pt x="3203" y="327"/>
                      <a:pt x="3224" y="306"/>
                      <a:pt x="3250" y="306"/>
                    </a:cubicBezTo>
                    <a:cubicBezTo>
                      <a:pt x="3275" y="306"/>
                      <a:pt x="3297" y="327"/>
                      <a:pt x="3297" y="353"/>
                    </a:cubicBezTo>
                    <a:close/>
                    <a:moveTo>
                      <a:pt x="3397" y="353"/>
                    </a:moveTo>
                    <a:cubicBezTo>
                      <a:pt x="3397" y="378"/>
                      <a:pt x="3375" y="400"/>
                      <a:pt x="3350" y="400"/>
                    </a:cubicBezTo>
                    <a:cubicBezTo>
                      <a:pt x="3324" y="400"/>
                      <a:pt x="3303" y="378"/>
                      <a:pt x="3303" y="353"/>
                    </a:cubicBezTo>
                    <a:cubicBezTo>
                      <a:pt x="3303" y="327"/>
                      <a:pt x="3324" y="306"/>
                      <a:pt x="3350" y="306"/>
                    </a:cubicBezTo>
                    <a:cubicBezTo>
                      <a:pt x="3375" y="306"/>
                      <a:pt x="3397" y="327"/>
                      <a:pt x="3397" y="353"/>
                    </a:cubicBezTo>
                    <a:close/>
                    <a:moveTo>
                      <a:pt x="3497" y="353"/>
                    </a:moveTo>
                    <a:cubicBezTo>
                      <a:pt x="3497" y="378"/>
                      <a:pt x="3475" y="400"/>
                      <a:pt x="3450" y="400"/>
                    </a:cubicBezTo>
                    <a:cubicBezTo>
                      <a:pt x="3424" y="400"/>
                      <a:pt x="3403" y="378"/>
                      <a:pt x="3403" y="353"/>
                    </a:cubicBezTo>
                    <a:cubicBezTo>
                      <a:pt x="3403" y="327"/>
                      <a:pt x="3424" y="306"/>
                      <a:pt x="3450" y="306"/>
                    </a:cubicBezTo>
                    <a:cubicBezTo>
                      <a:pt x="3475" y="306"/>
                      <a:pt x="3497" y="327"/>
                      <a:pt x="3497" y="353"/>
                    </a:cubicBezTo>
                    <a:close/>
                    <a:moveTo>
                      <a:pt x="3597" y="353"/>
                    </a:moveTo>
                    <a:cubicBezTo>
                      <a:pt x="3597" y="378"/>
                      <a:pt x="3575" y="400"/>
                      <a:pt x="3550" y="400"/>
                    </a:cubicBezTo>
                    <a:cubicBezTo>
                      <a:pt x="3524" y="400"/>
                      <a:pt x="3503" y="378"/>
                      <a:pt x="3503" y="353"/>
                    </a:cubicBezTo>
                    <a:cubicBezTo>
                      <a:pt x="3503" y="327"/>
                      <a:pt x="3524" y="306"/>
                      <a:pt x="3550" y="306"/>
                    </a:cubicBezTo>
                    <a:cubicBezTo>
                      <a:pt x="3575" y="306"/>
                      <a:pt x="3597" y="327"/>
                      <a:pt x="3597" y="353"/>
                    </a:cubicBezTo>
                    <a:close/>
                    <a:moveTo>
                      <a:pt x="3697" y="353"/>
                    </a:moveTo>
                    <a:cubicBezTo>
                      <a:pt x="3697" y="378"/>
                      <a:pt x="3675" y="400"/>
                      <a:pt x="3650" y="400"/>
                    </a:cubicBezTo>
                    <a:cubicBezTo>
                      <a:pt x="3624" y="400"/>
                      <a:pt x="3603" y="378"/>
                      <a:pt x="3603" y="353"/>
                    </a:cubicBezTo>
                    <a:cubicBezTo>
                      <a:pt x="3603" y="327"/>
                      <a:pt x="3624" y="306"/>
                      <a:pt x="3650" y="306"/>
                    </a:cubicBezTo>
                    <a:cubicBezTo>
                      <a:pt x="3675" y="306"/>
                      <a:pt x="3697" y="327"/>
                      <a:pt x="3697" y="353"/>
                    </a:cubicBezTo>
                    <a:close/>
                    <a:moveTo>
                      <a:pt x="3797" y="353"/>
                    </a:moveTo>
                    <a:cubicBezTo>
                      <a:pt x="3797" y="378"/>
                      <a:pt x="3775" y="400"/>
                      <a:pt x="3750" y="400"/>
                    </a:cubicBezTo>
                    <a:cubicBezTo>
                      <a:pt x="3724" y="400"/>
                      <a:pt x="3703" y="378"/>
                      <a:pt x="3703" y="353"/>
                    </a:cubicBezTo>
                    <a:cubicBezTo>
                      <a:pt x="3703" y="327"/>
                      <a:pt x="3724" y="306"/>
                      <a:pt x="3750" y="306"/>
                    </a:cubicBezTo>
                    <a:cubicBezTo>
                      <a:pt x="3775" y="306"/>
                      <a:pt x="3797" y="327"/>
                      <a:pt x="3797" y="353"/>
                    </a:cubicBezTo>
                    <a:close/>
                    <a:moveTo>
                      <a:pt x="3897" y="353"/>
                    </a:moveTo>
                    <a:cubicBezTo>
                      <a:pt x="3897" y="378"/>
                      <a:pt x="3875" y="400"/>
                      <a:pt x="3850" y="400"/>
                    </a:cubicBezTo>
                    <a:cubicBezTo>
                      <a:pt x="3824" y="400"/>
                      <a:pt x="3803" y="378"/>
                      <a:pt x="3803" y="353"/>
                    </a:cubicBezTo>
                    <a:cubicBezTo>
                      <a:pt x="3803" y="327"/>
                      <a:pt x="3824" y="306"/>
                      <a:pt x="3850" y="306"/>
                    </a:cubicBezTo>
                    <a:cubicBezTo>
                      <a:pt x="3875" y="306"/>
                      <a:pt x="3897" y="327"/>
                      <a:pt x="3897" y="353"/>
                    </a:cubicBezTo>
                    <a:close/>
                    <a:moveTo>
                      <a:pt x="3997" y="353"/>
                    </a:moveTo>
                    <a:cubicBezTo>
                      <a:pt x="3997" y="378"/>
                      <a:pt x="3975" y="400"/>
                      <a:pt x="3950" y="400"/>
                    </a:cubicBezTo>
                    <a:cubicBezTo>
                      <a:pt x="3924" y="400"/>
                      <a:pt x="3903" y="378"/>
                      <a:pt x="3903" y="353"/>
                    </a:cubicBezTo>
                    <a:cubicBezTo>
                      <a:pt x="3903" y="327"/>
                      <a:pt x="3924" y="306"/>
                      <a:pt x="3950" y="306"/>
                    </a:cubicBezTo>
                    <a:cubicBezTo>
                      <a:pt x="3975" y="306"/>
                      <a:pt x="3997" y="327"/>
                      <a:pt x="3997" y="353"/>
                    </a:cubicBezTo>
                    <a:close/>
                    <a:moveTo>
                      <a:pt x="4097" y="353"/>
                    </a:moveTo>
                    <a:cubicBezTo>
                      <a:pt x="4097" y="378"/>
                      <a:pt x="4075" y="400"/>
                      <a:pt x="4050" y="400"/>
                    </a:cubicBezTo>
                    <a:cubicBezTo>
                      <a:pt x="4024" y="400"/>
                      <a:pt x="4003" y="378"/>
                      <a:pt x="4003" y="353"/>
                    </a:cubicBezTo>
                    <a:cubicBezTo>
                      <a:pt x="4003" y="327"/>
                      <a:pt x="4024" y="306"/>
                      <a:pt x="4050" y="306"/>
                    </a:cubicBezTo>
                    <a:cubicBezTo>
                      <a:pt x="4075" y="306"/>
                      <a:pt x="4097" y="327"/>
                      <a:pt x="4097" y="353"/>
                    </a:cubicBezTo>
                    <a:close/>
                    <a:moveTo>
                      <a:pt x="4197" y="353"/>
                    </a:moveTo>
                    <a:cubicBezTo>
                      <a:pt x="4197" y="378"/>
                      <a:pt x="4175" y="400"/>
                      <a:pt x="4150" y="400"/>
                    </a:cubicBezTo>
                    <a:cubicBezTo>
                      <a:pt x="4124" y="400"/>
                      <a:pt x="4103" y="378"/>
                      <a:pt x="4103" y="353"/>
                    </a:cubicBezTo>
                    <a:cubicBezTo>
                      <a:pt x="4103" y="327"/>
                      <a:pt x="4124" y="306"/>
                      <a:pt x="4150" y="306"/>
                    </a:cubicBezTo>
                    <a:cubicBezTo>
                      <a:pt x="4175" y="306"/>
                      <a:pt x="4197" y="327"/>
                      <a:pt x="4197" y="353"/>
                    </a:cubicBezTo>
                    <a:close/>
                    <a:moveTo>
                      <a:pt x="4297" y="353"/>
                    </a:moveTo>
                    <a:cubicBezTo>
                      <a:pt x="4297" y="378"/>
                      <a:pt x="4275" y="400"/>
                      <a:pt x="4250" y="400"/>
                    </a:cubicBezTo>
                    <a:cubicBezTo>
                      <a:pt x="4224" y="400"/>
                      <a:pt x="4203" y="378"/>
                      <a:pt x="4203" y="353"/>
                    </a:cubicBezTo>
                    <a:cubicBezTo>
                      <a:pt x="4203" y="327"/>
                      <a:pt x="4224" y="306"/>
                      <a:pt x="4250" y="306"/>
                    </a:cubicBezTo>
                    <a:cubicBezTo>
                      <a:pt x="4275" y="306"/>
                      <a:pt x="4297" y="327"/>
                      <a:pt x="4297" y="353"/>
                    </a:cubicBezTo>
                    <a:close/>
                    <a:moveTo>
                      <a:pt x="4397" y="353"/>
                    </a:moveTo>
                    <a:cubicBezTo>
                      <a:pt x="4397" y="378"/>
                      <a:pt x="4375" y="400"/>
                      <a:pt x="4350" y="400"/>
                    </a:cubicBezTo>
                    <a:cubicBezTo>
                      <a:pt x="4324" y="400"/>
                      <a:pt x="4303" y="378"/>
                      <a:pt x="4303" y="353"/>
                    </a:cubicBezTo>
                    <a:cubicBezTo>
                      <a:pt x="4303" y="327"/>
                      <a:pt x="4324" y="306"/>
                      <a:pt x="4350" y="306"/>
                    </a:cubicBezTo>
                    <a:cubicBezTo>
                      <a:pt x="4375" y="306"/>
                      <a:pt x="4397" y="327"/>
                      <a:pt x="4397" y="353"/>
                    </a:cubicBezTo>
                    <a:close/>
                    <a:moveTo>
                      <a:pt x="4497" y="353"/>
                    </a:moveTo>
                    <a:cubicBezTo>
                      <a:pt x="4497" y="378"/>
                      <a:pt x="4475" y="400"/>
                      <a:pt x="4450" y="400"/>
                    </a:cubicBezTo>
                    <a:cubicBezTo>
                      <a:pt x="4424" y="400"/>
                      <a:pt x="4403" y="378"/>
                      <a:pt x="4403" y="353"/>
                    </a:cubicBezTo>
                    <a:cubicBezTo>
                      <a:pt x="4403" y="327"/>
                      <a:pt x="4424" y="306"/>
                      <a:pt x="4450" y="306"/>
                    </a:cubicBezTo>
                    <a:cubicBezTo>
                      <a:pt x="4475" y="306"/>
                      <a:pt x="4497" y="327"/>
                      <a:pt x="4497" y="353"/>
                    </a:cubicBezTo>
                    <a:close/>
                    <a:moveTo>
                      <a:pt x="4597" y="353"/>
                    </a:moveTo>
                    <a:cubicBezTo>
                      <a:pt x="4597" y="378"/>
                      <a:pt x="4575" y="400"/>
                      <a:pt x="4550" y="400"/>
                    </a:cubicBezTo>
                    <a:cubicBezTo>
                      <a:pt x="4524" y="400"/>
                      <a:pt x="4503" y="378"/>
                      <a:pt x="4503" y="353"/>
                    </a:cubicBezTo>
                    <a:cubicBezTo>
                      <a:pt x="4503" y="327"/>
                      <a:pt x="4524" y="306"/>
                      <a:pt x="4550" y="306"/>
                    </a:cubicBezTo>
                    <a:cubicBezTo>
                      <a:pt x="4575" y="306"/>
                      <a:pt x="4597" y="327"/>
                      <a:pt x="4597" y="353"/>
                    </a:cubicBezTo>
                    <a:close/>
                    <a:moveTo>
                      <a:pt x="4697" y="353"/>
                    </a:moveTo>
                    <a:cubicBezTo>
                      <a:pt x="4697" y="378"/>
                      <a:pt x="4675" y="400"/>
                      <a:pt x="4650" y="400"/>
                    </a:cubicBezTo>
                    <a:cubicBezTo>
                      <a:pt x="4624" y="400"/>
                      <a:pt x="4603" y="378"/>
                      <a:pt x="4603" y="353"/>
                    </a:cubicBezTo>
                    <a:cubicBezTo>
                      <a:pt x="4603" y="327"/>
                      <a:pt x="4624" y="306"/>
                      <a:pt x="4650" y="306"/>
                    </a:cubicBezTo>
                    <a:cubicBezTo>
                      <a:pt x="4675" y="306"/>
                      <a:pt x="4697" y="327"/>
                      <a:pt x="4697" y="353"/>
                    </a:cubicBezTo>
                    <a:close/>
                    <a:moveTo>
                      <a:pt x="4797" y="353"/>
                    </a:moveTo>
                    <a:cubicBezTo>
                      <a:pt x="4797" y="378"/>
                      <a:pt x="4775" y="400"/>
                      <a:pt x="4750" y="400"/>
                    </a:cubicBezTo>
                    <a:cubicBezTo>
                      <a:pt x="4724" y="400"/>
                      <a:pt x="4703" y="378"/>
                      <a:pt x="4703" y="353"/>
                    </a:cubicBezTo>
                    <a:cubicBezTo>
                      <a:pt x="4703" y="327"/>
                      <a:pt x="4724" y="306"/>
                      <a:pt x="4750" y="306"/>
                    </a:cubicBezTo>
                    <a:cubicBezTo>
                      <a:pt x="4775" y="306"/>
                      <a:pt x="4797" y="327"/>
                      <a:pt x="4797" y="353"/>
                    </a:cubicBezTo>
                    <a:close/>
                    <a:moveTo>
                      <a:pt x="4897" y="353"/>
                    </a:moveTo>
                    <a:cubicBezTo>
                      <a:pt x="4897" y="378"/>
                      <a:pt x="4875" y="400"/>
                      <a:pt x="4850" y="400"/>
                    </a:cubicBezTo>
                    <a:cubicBezTo>
                      <a:pt x="4824" y="400"/>
                      <a:pt x="4803" y="378"/>
                      <a:pt x="4803" y="353"/>
                    </a:cubicBezTo>
                    <a:cubicBezTo>
                      <a:pt x="4803" y="327"/>
                      <a:pt x="4824" y="306"/>
                      <a:pt x="4850" y="306"/>
                    </a:cubicBezTo>
                    <a:cubicBezTo>
                      <a:pt x="4875" y="306"/>
                      <a:pt x="4897" y="327"/>
                      <a:pt x="4897" y="353"/>
                    </a:cubicBezTo>
                    <a:close/>
                    <a:moveTo>
                      <a:pt x="4997" y="353"/>
                    </a:moveTo>
                    <a:cubicBezTo>
                      <a:pt x="4997" y="378"/>
                      <a:pt x="4975" y="400"/>
                      <a:pt x="4950" y="400"/>
                    </a:cubicBezTo>
                    <a:cubicBezTo>
                      <a:pt x="4924" y="400"/>
                      <a:pt x="4903" y="378"/>
                      <a:pt x="4903" y="353"/>
                    </a:cubicBezTo>
                    <a:cubicBezTo>
                      <a:pt x="4903" y="327"/>
                      <a:pt x="4924" y="306"/>
                      <a:pt x="4950" y="306"/>
                    </a:cubicBezTo>
                    <a:cubicBezTo>
                      <a:pt x="4975" y="306"/>
                      <a:pt x="4997" y="327"/>
                      <a:pt x="4997" y="353"/>
                    </a:cubicBezTo>
                    <a:close/>
                    <a:moveTo>
                      <a:pt x="5097" y="353"/>
                    </a:moveTo>
                    <a:cubicBezTo>
                      <a:pt x="5097" y="378"/>
                      <a:pt x="5075" y="400"/>
                      <a:pt x="5050" y="400"/>
                    </a:cubicBezTo>
                    <a:cubicBezTo>
                      <a:pt x="5024" y="400"/>
                      <a:pt x="5003" y="378"/>
                      <a:pt x="5003" y="353"/>
                    </a:cubicBezTo>
                    <a:cubicBezTo>
                      <a:pt x="5003" y="327"/>
                      <a:pt x="5024" y="306"/>
                      <a:pt x="5050" y="306"/>
                    </a:cubicBezTo>
                    <a:cubicBezTo>
                      <a:pt x="5075" y="306"/>
                      <a:pt x="5097" y="327"/>
                      <a:pt x="5097" y="353"/>
                    </a:cubicBezTo>
                    <a:close/>
                    <a:moveTo>
                      <a:pt x="5197" y="353"/>
                    </a:moveTo>
                    <a:cubicBezTo>
                      <a:pt x="5197" y="378"/>
                      <a:pt x="5175" y="400"/>
                      <a:pt x="5150" y="400"/>
                    </a:cubicBezTo>
                    <a:cubicBezTo>
                      <a:pt x="5124" y="400"/>
                      <a:pt x="5103" y="378"/>
                      <a:pt x="5103" y="353"/>
                    </a:cubicBezTo>
                    <a:cubicBezTo>
                      <a:pt x="5103" y="327"/>
                      <a:pt x="5124" y="306"/>
                      <a:pt x="5150" y="306"/>
                    </a:cubicBezTo>
                    <a:cubicBezTo>
                      <a:pt x="5175" y="306"/>
                      <a:pt x="5197" y="327"/>
                      <a:pt x="5197" y="353"/>
                    </a:cubicBezTo>
                    <a:close/>
                  </a:path>
                </a:pathLst>
              </a:custGeom>
              <a:gradFill rotWithShape="1">
                <a:gsLst>
                  <a:gs pos="0">
                    <a:srgbClr val="F5B4AD"/>
                  </a:gs>
                  <a:gs pos="55000">
                    <a:srgbClr val="F1948A"/>
                  </a:gs>
                  <a:gs pos="100000">
                    <a:srgbClr val="C0766E"/>
                  </a:gs>
                </a:gsLst>
                <a:path path="circle">
                  <a:fillToRect l="32000" t="28000" r="68000" b="72000"/>
                </a:path>
              </a:gradFill>
              <a:ln w="6350" cap="rnd">
                <a:solidFill>
                  <a:srgbClr val="84514B"/>
                </a:solidFill>
                <a:round/>
              </a:ln>
            </p:spPr>
          </p:sp>
          <p:sp>
            <p:nvSpPr>
              <p:cNvPr id="11" name="Forma 10"/>
              <p:cNvSpPr/>
              <p:nvPr/>
            </p:nvSpPr>
            <p:spPr>
              <a:xfrm>
                <a:off x="365760" y="1828800"/>
                <a:ext cx="4754880" cy="365760"/>
              </a:xfrm>
              <a:custGeom>
                <a:avLst/>
                <a:gdLst/>
                <a:ahLst/>
                <a:cxnLst/>
                <a:rect l="0" t="0" r="r" b="b"/>
                <a:pathLst>
                  <a:path w="5200" h="400" fill="none">
                    <a:moveTo>
                      <a:pt x="35" y="94"/>
                    </a:moveTo>
                    <a:lnTo>
                      <a:pt x="35" y="190"/>
                    </a:lnTo>
                  </a:path>
                  <a:path w="5200" h="400" fill="none">
                    <a:moveTo>
                      <a:pt x="65" y="94"/>
                    </a:moveTo>
                    <a:lnTo>
                      <a:pt x="65" y="190"/>
                    </a:lnTo>
                  </a:path>
                  <a:path w="5200" h="400" fill="none">
                    <a:moveTo>
                      <a:pt x="35" y="306"/>
                    </a:moveTo>
                    <a:lnTo>
                      <a:pt x="35" y="210"/>
                    </a:lnTo>
                  </a:path>
                  <a:path w="5200" h="400" fill="none">
                    <a:moveTo>
                      <a:pt x="65" y="306"/>
                    </a:moveTo>
                    <a:lnTo>
                      <a:pt x="65" y="210"/>
                    </a:lnTo>
                  </a:path>
                  <a:path w="5200" h="400" fill="none">
                    <a:moveTo>
                      <a:pt x="135" y="94"/>
                    </a:moveTo>
                    <a:lnTo>
                      <a:pt x="135" y="190"/>
                    </a:lnTo>
                  </a:path>
                  <a:path w="5200" h="400" fill="none">
                    <a:moveTo>
                      <a:pt x="165" y="94"/>
                    </a:moveTo>
                    <a:lnTo>
                      <a:pt x="165" y="190"/>
                    </a:lnTo>
                  </a:path>
                  <a:path w="5200" h="400" fill="none">
                    <a:moveTo>
                      <a:pt x="135" y="306"/>
                    </a:moveTo>
                    <a:lnTo>
                      <a:pt x="135" y="210"/>
                    </a:lnTo>
                  </a:path>
                  <a:path w="5200" h="400" fill="none">
                    <a:moveTo>
                      <a:pt x="165" y="306"/>
                    </a:moveTo>
                    <a:lnTo>
                      <a:pt x="165" y="210"/>
                    </a:lnTo>
                  </a:path>
                  <a:path w="5200" h="400" fill="none">
                    <a:moveTo>
                      <a:pt x="235" y="94"/>
                    </a:moveTo>
                    <a:lnTo>
                      <a:pt x="235" y="190"/>
                    </a:lnTo>
                  </a:path>
                  <a:path w="5200" h="400" fill="none">
                    <a:moveTo>
                      <a:pt x="265" y="94"/>
                    </a:moveTo>
                    <a:lnTo>
                      <a:pt x="265" y="190"/>
                    </a:lnTo>
                  </a:path>
                  <a:path w="5200" h="400" fill="none">
                    <a:moveTo>
                      <a:pt x="235" y="306"/>
                    </a:moveTo>
                    <a:lnTo>
                      <a:pt x="235" y="210"/>
                    </a:lnTo>
                  </a:path>
                  <a:path w="5200" h="400" fill="none">
                    <a:moveTo>
                      <a:pt x="265" y="306"/>
                    </a:moveTo>
                    <a:lnTo>
                      <a:pt x="265" y="210"/>
                    </a:lnTo>
                  </a:path>
                  <a:path w="5200" h="400" fill="none">
                    <a:moveTo>
                      <a:pt x="335" y="94"/>
                    </a:moveTo>
                    <a:lnTo>
                      <a:pt x="335" y="190"/>
                    </a:lnTo>
                  </a:path>
                  <a:path w="5200" h="400" fill="none">
                    <a:moveTo>
                      <a:pt x="365" y="94"/>
                    </a:moveTo>
                    <a:lnTo>
                      <a:pt x="365" y="190"/>
                    </a:lnTo>
                  </a:path>
                  <a:path w="5200" h="400" fill="none">
                    <a:moveTo>
                      <a:pt x="335" y="306"/>
                    </a:moveTo>
                    <a:lnTo>
                      <a:pt x="335" y="210"/>
                    </a:lnTo>
                  </a:path>
                  <a:path w="5200" h="400" fill="none">
                    <a:moveTo>
                      <a:pt x="365" y="306"/>
                    </a:moveTo>
                    <a:lnTo>
                      <a:pt x="365" y="210"/>
                    </a:lnTo>
                  </a:path>
                  <a:path w="5200" h="400" fill="none">
                    <a:moveTo>
                      <a:pt x="435" y="94"/>
                    </a:moveTo>
                    <a:lnTo>
                      <a:pt x="435" y="190"/>
                    </a:lnTo>
                  </a:path>
                  <a:path w="5200" h="400" fill="none">
                    <a:moveTo>
                      <a:pt x="465" y="94"/>
                    </a:moveTo>
                    <a:lnTo>
                      <a:pt x="465" y="190"/>
                    </a:lnTo>
                  </a:path>
                  <a:path w="5200" h="400" fill="none">
                    <a:moveTo>
                      <a:pt x="435" y="306"/>
                    </a:moveTo>
                    <a:lnTo>
                      <a:pt x="435" y="210"/>
                    </a:lnTo>
                  </a:path>
                  <a:path w="5200" h="400" fill="none">
                    <a:moveTo>
                      <a:pt x="465" y="306"/>
                    </a:moveTo>
                    <a:lnTo>
                      <a:pt x="465" y="210"/>
                    </a:lnTo>
                  </a:path>
                  <a:path w="5200" h="400" fill="none">
                    <a:moveTo>
                      <a:pt x="535" y="94"/>
                    </a:moveTo>
                    <a:lnTo>
                      <a:pt x="535" y="190"/>
                    </a:lnTo>
                  </a:path>
                  <a:path w="5200" h="400" fill="none">
                    <a:moveTo>
                      <a:pt x="565" y="94"/>
                    </a:moveTo>
                    <a:lnTo>
                      <a:pt x="565" y="190"/>
                    </a:lnTo>
                  </a:path>
                  <a:path w="5200" h="400" fill="none">
                    <a:moveTo>
                      <a:pt x="535" y="306"/>
                    </a:moveTo>
                    <a:lnTo>
                      <a:pt x="535" y="210"/>
                    </a:lnTo>
                  </a:path>
                  <a:path w="5200" h="400" fill="none">
                    <a:moveTo>
                      <a:pt x="565" y="306"/>
                    </a:moveTo>
                    <a:lnTo>
                      <a:pt x="565" y="210"/>
                    </a:lnTo>
                  </a:path>
                  <a:path w="5200" h="400" fill="none">
                    <a:moveTo>
                      <a:pt x="635" y="94"/>
                    </a:moveTo>
                    <a:lnTo>
                      <a:pt x="635" y="190"/>
                    </a:lnTo>
                  </a:path>
                  <a:path w="5200" h="400" fill="none">
                    <a:moveTo>
                      <a:pt x="665" y="94"/>
                    </a:moveTo>
                    <a:lnTo>
                      <a:pt x="665" y="190"/>
                    </a:lnTo>
                  </a:path>
                  <a:path w="5200" h="400" fill="none">
                    <a:moveTo>
                      <a:pt x="635" y="306"/>
                    </a:moveTo>
                    <a:lnTo>
                      <a:pt x="635" y="210"/>
                    </a:lnTo>
                  </a:path>
                  <a:path w="5200" h="400" fill="none">
                    <a:moveTo>
                      <a:pt x="665" y="306"/>
                    </a:moveTo>
                    <a:lnTo>
                      <a:pt x="665" y="210"/>
                    </a:lnTo>
                  </a:path>
                  <a:path w="5200" h="400" fill="none">
                    <a:moveTo>
                      <a:pt x="735" y="94"/>
                    </a:moveTo>
                    <a:lnTo>
                      <a:pt x="735" y="190"/>
                    </a:lnTo>
                  </a:path>
                  <a:path w="5200" h="400" fill="none">
                    <a:moveTo>
                      <a:pt x="765" y="94"/>
                    </a:moveTo>
                    <a:lnTo>
                      <a:pt x="765" y="190"/>
                    </a:lnTo>
                  </a:path>
                  <a:path w="5200" h="400" fill="none">
                    <a:moveTo>
                      <a:pt x="735" y="306"/>
                    </a:moveTo>
                    <a:lnTo>
                      <a:pt x="735" y="210"/>
                    </a:lnTo>
                  </a:path>
                  <a:path w="5200" h="400" fill="none">
                    <a:moveTo>
                      <a:pt x="765" y="306"/>
                    </a:moveTo>
                    <a:lnTo>
                      <a:pt x="765" y="210"/>
                    </a:lnTo>
                  </a:path>
                  <a:path w="5200" h="400" fill="none">
                    <a:moveTo>
                      <a:pt x="835" y="94"/>
                    </a:moveTo>
                    <a:lnTo>
                      <a:pt x="835" y="190"/>
                    </a:lnTo>
                  </a:path>
                  <a:path w="5200" h="400" fill="none">
                    <a:moveTo>
                      <a:pt x="865" y="94"/>
                    </a:moveTo>
                    <a:lnTo>
                      <a:pt x="865" y="190"/>
                    </a:lnTo>
                  </a:path>
                  <a:path w="5200" h="400" fill="none">
                    <a:moveTo>
                      <a:pt x="835" y="306"/>
                    </a:moveTo>
                    <a:lnTo>
                      <a:pt x="835" y="210"/>
                    </a:lnTo>
                  </a:path>
                  <a:path w="5200" h="400" fill="none">
                    <a:moveTo>
                      <a:pt x="865" y="306"/>
                    </a:moveTo>
                    <a:lnTo>
                      <a:pt x="865" y="210"/>
                    </a:lnTo>
                  </a:path>
                  <a:path w="5200" h="400" fill="none">
                    <a:moveTo>
                      <a:pt x="935" y="94"/>
                    </a:moveTo>
                    <a:lnTo>
                      <a:pt x="935" y="190"/>
                    </a:lnTo>
                  </a:path>
                  <a:path w="5200" h="400" fill="none">
                    <a:moveTo>
                      <a:pt x="965" y="94"/>
                    </a:moveTo>
                    <a:lnTo>
                      <a:pt x="965" y="190"/>
                    </a:lnTo>
                  </a:path>
                  <a:path w="5200" h="400" fill="none">
                    <a:moveTo>
                      <a:pt x="935" y="306"/>
                    </a:moveTo>
                    <a:lnTo>
                      <a:pt x="935" y="210"/>
                    </a:lnTo>
                  </a:path>
                  <a:path w="5200" h="400" fill="none">
                    <a:moveTo>
                      <a:pt x="965" y="306"/>
                    </a:moveTo>
                    <a:lnTo>
                      <a:pt x="965" y="210"/>
                    </a:lnTo>
                  </a:path>
                  <a:path w="5200" h="400" fill="none">
                    <a:moveTo>
                      <a:pt x="1035" y="94"/>
                    </a:moveTo>
                    <a:lnTo>
                      <a:pt x="1035" y="190"/>
                    </a:lnTo>
                  </a:path>
                  <a:path w="5200" h="400" fill="none">
                    <a:moveTo>
                      <a:pt x="1065" y="94"/>
                    </a:moveTo>
                    <a:lnTo>
                      <a:pt x="1065" y="190"/>
                    </a:lnTo>
                  </a:path>
                  <a:path w="5200" h="400" fill="none">
                    <a:moveTo>
                      <a:pt x="1035" y="306"/>
                    </a:moveTo>
                    <a:lnTo>
                      <a:pt x="1035" y="210"/>
                    </a:lnTo>
                  </a:path>
                  <a:path w="5200" h="400" fill="none">
                    <a:moveTo>
                      <a:pt x="1065" y="306"/>
                    </a:moveTo>
                    <a:lnTo>
                      <a:pt x="1065" y="210"/>
                    </a:lnTo>
                  </a:path>
                  <a:path w="5200" h="400" fill="none">
                    <a:moveTo>
                      <a:pt x="1135" y="94"/>
                    </a:moveTo>
                    <a:lnTo>
                      <a:pt x="1135" y="190"/>
                    </a:lnTo>
                  </a:path>
                  <a:path w="5200" h="400" fill="none">
                    <a:moveTo>
                      <a:pt x="1165" y="94"/>
                    </a:moveTo>
                    <a:lnTo>
                      <a:pt x="1165" y="190"/>
                    </a:lnTo>
                  </a:path>
                  <a:path w="5200" h="400" fill="none">
                    <a:moveTo>
                      <a:pt x="1135" y="306"/>
                    </a:moveTo>
                    <a:lnTo>
                      <a:pt x="1135" y="210"/>
                    </a:lnTo>
                  </a:path>
                  <a:path w="5200" h="400" fill="none">
                    <a:moveTo>
                      <a:pt x="1165" y="306"/>
                    </a:moveTo>
                    <a:lnTo>
                      <a:pt x="1165" y="210"/>
                    </a:lnTo>
                  </a:path>
                  <a:path w="5200" h="400" fill="none">
                    <a:moveTo>
                      <a:pt x="1235" y="94"/>
                    </a:moveTo>
                    <a:lnTo>
                      <a:pt x="1235" y="190"/>
                    </a:lnTo>
                  </a:path>
                  <a:path w="5200" h="400" fill="none">
                    <a:moveTo>
                      <a:pt x="1265" y="94"/>
                    </a:moveTo>
                    <a:lnTo>
                      <a:pt x="1265" y="190"/>
                    </a:lnTo>
                  </a:path>
                  <a:path w="5200" h="400" fill="none">
                    <a:moveTo>
                      <a:pt x="1235" y="306"/>
                    </a:moveTo>
                    <a:lnTo>
                      <a:pt x="1235" y="210"/>
                    </a:lnTo>
                  </a:path>
                  <a:path w="5200" h="400" fill="none">
                    <a:moveTo>
                      <a:pt x="1265" y="306"/>
                    </a:moveTo>
                    <a:lnTo>
                      <a:pt x="1265" y="210"/>
                    </a:lnTo>
                  </a:path>
                  <a:path w="5200" h="400" fill="none">
                    <a:moveTo>
                      <a:pt x="1335" y="94"/>
                    </a:moveTo>
                    <a:lnTo>
                      <a:pt x="1335" y="190"/>
                    </a:lnTo>
                  </a:path>
                  <a:path w="5200" h="400" fill="none">
                    <a:moveTo>
                      <a:pt x="1365" y="94"/>
                    </a:moveTo>
                    <a:lnTo>
                      <a:pt x="1365" y="190"/>
                    </a:lnTo>
                  </a:path>
                  <a:path w="5200" h="400" fill="none">
                    <a:moveTo>
                      <a:pt x="1335" y="306"/>
                    </a:moveTo>
                    <a:lnTo>
                      <a:pt x="1335" y="210"/>
                    </a:lnTo>
                  </a:path>
                  <a:path w="5200" h="400" fill="none">
                    <a:moveTo>
                      <a:pt x="1365" y="306"/>
                    </a:moveTo>
                    <a:lnTo>
                      <a:pt x="1365" y="210"/>
                    </a:lnTo>
                  </a:path>
                  <a:path w="5200" h="400" fill="none">
                    <a:moveTo>
                      <a:pt x="1435" y="94"/>
                    </a:moveTo>
                    <a:lnTo>
                      <a:pt x="1435" y="190"/>
                    </a:lnTo>
                  </a:path>
                  <a:path w="5200" h="400" fill="none">
                    <a:moveTo>
                      <a:pt x="1465" y="94"/>
                    </a:moveTo>
                    <a:lnTo>
                      <a:pt x="1465" y="190"/>
                    </a:lnTo>
                  </a:path>
                  <a:path w="5200" h="400" fill="none">
                    <a:moveTo>
                      <a:pt x="1435" y="306"/>
                    </a:moveTo>
                    <a:lnTo>
                      <a:pt x="1435" y="210"/>
                    </a:lnTo>
                  </a:path>
                  <a:path w="5200" h="400" fill="none">
                    <a:moveTo>
                      <a:pt x="1465" y="306"/>
                    </a:moveTo>
                    <a:lnTo>
                      <a:pt x="1465" y="210"/>
                    </a:lnTo>
                  </a:path>
                  <a:path w="5200" h="400" fill="none">
                    <a:moveTo>
                      <a:pt x="1535" y="94"/>
                    </a:moveTo>
                    <a:lnTo>
                      <a:pt x="1535" y="190"/>
                    </a:lnTo>
                  </a:path>
                  <a:path w="5200" h="400" fill="none">
                    <a:moveTo>
                      <a:pt x="1565" y="94"/>
                    </a:moveTo>
                    <a:lnTo>
                      <a:pt x="1565" y="190"/>
                    </a:lnTo>
                  </a:path>
                  <a:path w="5200" h="400" fill="none">
                    <a:moveTo>
                      <a:pt x="1535" y="306"/>
                    </a:moveTo>
                    <a:lnTo>
                      <a:pt x="1535" y="210"/>
                    </a:lnTo>
                  </a:path>
                  <a:path w="5200" h="400" fill="none">
                    <a:moveTo>
                      <a:pt x="1565" y="306"/>
                    </a:moveTo>
                    <a:lnTo>
                      <a:pt x="1565" y="210"/>
                    </a:lnTo>
                  </a:path>
                  <a:path w="5200" h="400" fill="none">
                    <a:moveTo>
                      <a:pt x="1635" y="94"/>
                    </a:moveTo>
                    <a:lnTo>
                      <a:pt x="1635" y="190"/>
                    </a:lnTo>
                  </a:path>
                  <a:path w="5200" h="400" fill="none">
                    <a:moveTo>
                      <a:pt x="1665" y="94"/>
                    </a:moveTo>
                    <a:lnTo>
                      <a:pt x="1665" y="190"/>
                    </a:lnTo>
                  </a:path>
                  <a:path w="5200" h="400" fill="none">
                    <a:moveTo>
                      <a:pt x="1635" y="306"/>
                    </a:moveTo>
                    <a:lnTo>
                      <a:pt x="1635" y="210"/>
                    </a:lnTo>
                  </a:path>
                  <a:path w="5200" h="400" fill="none">
                    <a:moveTo>
                      <a:pt x="1665" y="306"/>
                    </a:moveTo>
                    <a:lnTo>
                      <a:pt x="1665" y="210"/>
                    </a:lnTo>
                  </a:path>
                  <a:path w="5200" h="400" fill="none">
                    <a:moveTo>
                      <a:pt x="1735" y="94"/>
                    </a:moveTo>
                    <a:lnTo>
                      <a:pt x="1735" y="190"/>
                    </a:lnTo>
                  </a:path>
                  <a:path w="5200" h="400" fill="none">
                    <a:moveTo>
                      <a:pt x="1765" y="94"/>
                    </a:moveTo>
                    <a:lnTo>
                      <a:pt x="1765" y="190"/>
                    </a:lnTo>
                  </a:path>
                  <a:path w="5200" h="400" fill="none">
                    <a:moveTo>
                      <a:pt x="1735" y="306"/>
                    </a:moveTo>
                    <a:lnTo>
                      <a:pt x="1735" y="210"/>
                    </a:lnTo>
                  </a:path>
                  <a:path w="5200" h="400" fill="none">
                    <a:moveTo>
                      <a:pt x="1765" y="306"/>
                    </a:moveTo>
                    <a:lnTo>
                      <a:pt x="1765" y="210"/>
                    </a:lnTo>
                  </a:path>
                  <a:path w="5200" h="400" fill="none">
                    <a:moveTo>
                      <a:pt x="1835" y="94"/>
                    </a:moveTo>
                    <a:lnTo>
                      <a:pt x="1835" y="190"/>
                    </a:lnTo>
                  </a:path>
                  <a:path w="5200" h="400" fill="none">
                    <a:moveTo>
                      <a:pt x="1865" y="94"/>
                    </a:moveTo>
                    <a:lnTo>
                      <a:pt x="1865" y="190"/>
                    </a:lnTo>
                  </a:path>
                  <a:path w="5200" h="400" fill="none">
                    <a:moveTo>
                      <a:pt x="1835" y="306"/>
                    </a:moveTo>
                    <a:lnTo>
                      <a:pt x="1835" y="210"/>
                    </a:lnTo>
                  </a:path>
                  <a:path w="5200" h="400" fill="none">
                    <a:moveTo>
                      <a:pt x="1865" y="306"/>
                    </a:moveTo>
                    <a:lnTo>
                      <a:pt x="1865" y="210"/>
                    </a:lnTo>
                  </a:path>
                  <a:path w="5200" h="400" fill="none">
                    <a:moveTo>
                      <a:pt x="1935" y="94"/>
                    </a:moveTo>
                    <a:lnTo>
                      <a:pt x="1935" y="190"/>
                    </a:lnTo>
                  </a:path>
                  <a:path w="5200" h="400" fill="none">
                    <a:moveTo>
                      <a:pt x="1965" y="94"/>
                    </a:moveTo>
                    <a:lnTo>
                      <a:pt x="1965" y="190"/>
                    </a:lnTo>
                  </a:path>
                  <a:path w="5200" h="400" fill="none">
                    <a:moveTo>
                      <a:pt x="1935" y="306"/>
                    </a:moveTo>
                    <a:lnTo>
                      <a:pt x="1935" y="210"/>
                    </a:lnTo>
                  </a:path>
                  <a:path w="5200" h="400" fill="none">
                    <a:moveTo>
                      <a:pt x="1965" y="306"/>
                    </a:moveTo>
                    <a:lnTo>
                      <a:pt x="1965" y="210"/>
                    </a:lnTo>
                  </a:path>
                  <a:path w="5200" h="400" fill="none">
                    <a:moveTo>
                      <a:pt x="2035" y="94"/>
                    </a:moveTo>
                    <a:lnTo>
                      <a:pt x="2035" y="190"/>
                    </a:lnTo>
                  </a:path>
                  <a:path w="5200" h="400" fill="none">
                    <a:moveTo>
                      <a:pt x="2065" y="94"/>
                    </a:moveTo>
                    <a:lnTo>
                      <a:pt x="2065" y="190"/>
                    </a:lnTo>
                  </a:path>
                  <a:path w="5200" h="400" fill="none">
                    <a:moveTo>
                      <a:pt x="2035" y="306"/>
                    </a:moveTo>
                    <a:lnTo>
                      <a:pt x="2035" y="210"/>
                    </a:lnTo>
                  </a:path>
                  <a:path w="5200" h="400" fill="none">
                    <a:moveTo>
                      <a:pt x="2065" y="306"/>
                    </a:moveTo>
                    <a:lnTo>
                      <a:pt x="2065" y="210"/>
                    </a:lnTo>
                  </a:path>
                  <a:path w="5200" h="400" fill="none">
                    <a:moveTo>
                      <a:pt x="2135" y="94"/>
                    </a:moveTo>
                    <a:lnTo>
                      <a:pt x="2135" y="190"/>
                    </a:lnTo>
                  </a:path>
                  <a:path w="5200" h="400" fill="none">
                    <a:moveTo>
                      <a:pt x="2165" y="94"/>
                    </a:moveTo>
                    <a:lnTo>
                      <a:pt x="2165" y="190"/>
                    </a:lnTo>
                  </a:path>
                  <a:path w="5200" h="400" fill="none">
                    <a:moveTo>
                      <a:pt x="2135" y="306"/>
                    </a:moveTo>
                    <a:lnTo>
                      <a:pt x="2135" y="210"/>
                    </a:lnTo>
                  </a:path>
                  <a:path w="5200" h="400" fill="none">
                    <a:moveTo>
                      <a:pt x="2165" y="306"/>
                    </a:moveTo>
                    <a:lnTo>
                      <a:pt x="2165" y="210"/>
                    </a:lnTo>
                  </a:path>
                  <a:path w="5200" h="400" fill="none">
                    <a:moveTo>
                      <a:pt x="2235" y="94"/>
                    </a:moveTo>
                    <a:lnTo>
                      <a:pt x="2235" y="190"/>
                    </a:lnTo>
                  </a:path>
                  <a:path w="5200" h="400" fill="none">
                    <a:moveTo>
                      <a:pt x="2265" y="94"/>
                    </a:moveTo>
                    <a:lnTo>
                      <a:pt x="2265" y="190"/>
                    </a:lnTo>
                  </a:path>
                  <a:path w="5200" h="400" fill="none">
                    <a:moveTo>
                      <a:pt x="2235" y="306"/>
                    </a:moveTo>
                    <a:lnTo>
                      <a:pt x="2235" y="210"/>
                    </a:lnTo>
                  </a:path>
                  <a:path w="5200" h="400" fill="none">
                    <a:moveTo>
                      <a:pt x="2265" y="306"/>
                    </a:moveTo>
                    <a:lnTo>
                      <a:pt x="2265" y="210"/>
                    </a:lnTo>
                  </a:path>
                  <a:path w="5200" h="400" fill="none">
                    <a:moveTo>
                      <a:pt x="2335" y="94"/>
                    </a:moveTo>
                    <a:lnTo>
                      <a:pt x="2335" y="190"/>
                    </a:lnTo>
                  </a:path>
                  <a:path w="5200" h="400" fill="none">
                    <a:moveTo>
                      <a:pt x="2365" y="94"/>
                    </a:moveTo>
                    <a:lnTo>
                      <a:pt x="2365" y="190"/>
                    </a:lnTo>
                  </a:path>
                  <a:path w="5200" h="400" fill="none">
                    <a:moveTo>
                      <a:pt x="2335" y="306"/>
                    </a:moveTo>
                    <a:lnTo>
                      <a:pt x="2335" y="210"/>
                    </a:lnTo>
                  </a:path>
                  <a:path w="5200" h="400" fill="none">
                    <a:moveTo>
                      <a:pt x="2365" y="306"/>
                    </a:moveTo>
                    <a:lnTo>
                      <a:pt x="2365" y="210"/>
                    </a:lnTo>
                  </a:path>
                  <a:path w="5200" h="400" fill="none">
                    <a:moveTo>
                      <a:pt x="2435" y="94"/>
                    </a:moveTo>
                    <a:lnTo>
                      <a:pt x="2435" y="190"/>
                    </a:lnTo>
                  </a:path>
                  <a:path w="5200" h="400" fill="none">
                    <a:moveTo>
                      <a:pt x="2465" y="94"/>
                    </a:moveTo>
                    <a:lnTo>
                      <a:pt x="2465" y="190"/>
                    </a:lnTo>
                  </a:path>
                  <a:path w="5200" h="400" fill="none">
                    <a:moveTo>
                      <a:pt x="2435" y="306"/>
                    </a:moveTo>
                    <a:lnTo>
                      <a:pt x="2435" y="210"/>
                    </a:lnTo>
                  </a:path>
                  <a:path w="5200" h="400" fill="none">
                    <a:moveTo>
                      <a:pt x="2465" y="306"/>
                    </a:moveTo>
                    <a:lnTo>
                      <a:pt x="2465" y="210"/>
                    </a:lnTo>
                  </a:path>
                  <a:path w="5200" h="400" fill="none">
                    <a:moveTo>
                      <a:pt x="2535" y="94"/>
                    </a:moveTo>
                    <a:lnTo>
                      <a:pt x="2535" y="190"/>
                    </a:lnTo>
                  </a:path>
                  <a:path w="5200" h="400" fill="none">
                    <a:moveTo>
                      <a:pt x="2565" y="94"/>
                    </a:moveTo>
                    <a:lnTo>
                      <a:pt x="2565" y="190"/>
                    </a:lnTo>
                  </a:path>
                  <a:path w="5200" h="400" fill="none">
                    <a:moveTo>
                      <a:pt x="2535" y="306"/>
                    </a:moveTo>
                    <a:lnTo>
                      <a:pt x="2535" y="210"/>
                    </a:lnTo>
                  </a:path>
                  <a:path w="5200" h="400" fill="none">
                    <a:moveTo>
                      <a:pt x="2565" y="306"/>
                    </a:moveTo>
                    <a:lnTo>
                      <a:pt x="2565" y="210"/>
                    </a:lnTo>
                  </a:path>
                  <a:path w="5200" h="400" fill="none">
                    <a:moveTo>
                      <a:pt x="2635" y="94"/>
                    </a:moveTo>
                    <a:lnTo>
                      <a:pt x="2635" y="190"/>
                    </a:lnTo>
                  </a:path>
                  <a:path w="5200" h="400" fill="none">
                    <a:moveTo>
                      <a:pt x="2665" y="94"/>
                    </a:moveTo>
                    <a:lnTo>
                      <a:pt x="2665" y="190"/>
                    </a:lnTo>
                  </a:path>
                  <a:path w="5200" h="400" fill="none">
                    <a:moveTo>
                      <a:pt x="2635" y="306"/>
                    </a:moveTo>
                    <a:lnTo>
                      <a:pt x="2635" y="210"/>
                    </a:lnTo>
                  </a:path>
                  <a:path w="5200" h="400" fill="none">
                    <a:moveTo>
                      <a:pt x="2665" y="306"/>
                    </a:moveTo>
                    <a:lnTo>
                      <a:pt x="2665" y="210"/>
                    </a:lnTo>
                  </a:path>
                  <a:path w="5200" h="400" fill="none">
                    <a:moveTo>
                      <a:pt x="2735" y="94"/>
                    </a:moveTo>
                    <a:lnTo>
                      <a:pt x="2735" y="190"/>
                    </a:lnTo>
                  </a:path>
                  <a:path w="5200" h="400" fill="none">
                    <a:moveTo>
                      <a:pt x="2765" y="94"/>
                    </a:moveTo>
                    <a:lnTo>
                      <a:pt x="2765" y="190"/>
                    </a:lnTo>
                  </a:path>
                  <a:path w="5200" h="400" fill="none">
                    <a:moveTo>
                      <a:pt x="2735" y="306"/>
                    </a:moveTo>
                    <a:lnTo>
                      <a:pt x="2735" y="210"/>
                    </a:lnTo>
                  </a:path>
                  <a:path w="5200" h="400" fill="none">
                    <a:moveTo>
                      <a:pt x="2765" y="306"/>
                    </a:moveTo>
                    <a:lnTo>
                      <a:pt x="2765" y="210"/>
                    </a:lnTo>
                  </a:path>
                  <a:path w="5200" h="400" fill="none">
                    <a:moveTo>
                      <a:pt x="2835" y="94"/>
                    </a:moveTo>
                    <a:lnTo>
                      <a:pt x="2835" y="190"/>
                    </a:lnTo>
                  </a:path>
                  <a:path w="5200" h="400" fill="none">
                    <a:moveTo>
                      <a:pt x="2865" y="94"/>
                    </a:moveTo>
                    <a:lnTo>
                      <a:pt x="2865" y="190"/>
                    </a:lnTo>
                  </a:path>
                  <a:path w="5200" h="400" fill="none">
                    <a:moveTo>
                      <a:pt x="2835" y="306"/>
                    </a:moveTo>
                    <a:lnTo>
                      <a:pt x="2835" y="210"/>
                    </a:lnTo>
                  </a:path>
                  <a:path w="5200" h="400" fill="none">
                    <a:moveTo>
                      <a:pt x="2865" y="306"/>
                    </a:moveTo>
                    <a:lnTo>
                      <a:pt x="2865" y="210"/>
                    </a:lnTo>
                  </a:path>
                  <a:path w="5200" h="400" fill="none">
                    <a:moveTo>
                      <a:pt x="2935" y="94"/>
                    </a:moveTo>
                    <a:lnTo>
                      <a:pt x="2935" y="190"/>
                    </a:lnTo>
                  </a:path>
                  <a:path w="5200" h="400" fill="none">
                    <a:moveTo>
                      <a:pt x="2965" y="94"/>
                    </a:moveTo>
                    <a:lnTo>
                      <a:pt x="2965" y="190"/>
                    </a:lnTo>
                  </a:path>
                  <a:path w="5200" h="400" fill="none">
                    <a:moveTo>
                      <a:pt x="2935" y="306"/>
                    </a:moveTo>
                    <a:lnTo>
                      <a:pt x="2935" y="210"/>
                    </a:lnTo>
                  </a:path>
                  <a:path w="5200" h="400" fill="none">
                    <a:moveTo>
                      <a:pt x="2965" y="306"/>
                    </a:moveTo>
                    <a:lnTo>
                      <a:pt x="2965" y="210"/>
                    </a:lnTo>
                  </a:path>
                  <a:path w="5200" h="400" fill="none">
                    <a:moveTo>
                      <a:pt x="3035" y="94"/>
                    </a:moveTo>
                    <a:lnTo>
                      <a:pt x="3035" y="190"/>
                    </a:lnTo>
                  </a:path>
                  <a:path w="5200" h="400" fill="none">
                    <a:moveTo>
                      <a:pt x="3065" y="94"/>
                    </a:moveTo>
                    <a:lnTo>
                      <a:pt x="3065" y="190"/>
                    </a:lnTo>
                  </a:path>
                  <a:path w="5200" h="400" fill="none">
                    <a:moveTo>
                      <a:pt x="3035" y="306"/>
                    </a:moveTo>
                    <a:lnTo>
                      <a:pt x="3035" y="210"/>
                    </a:lnTo>
                  </a:path>
                  <a:path w="5200" h="400" fill="none">
                    <a:moveTo>
                      <a:pt x="3065" y="306"/>
                    </a:moveTo>
                    <a:lnTo>
                      <a:pt x="3065" y="210"/>
                    </a:lnTo>
                  </a:path>
                  <a:path w="5200" h="400" fill="none">
                    <a:moveTo>
                      <a:pt x="3135" y="94"/>
                    </a:moveTo>
                    <a:lnTo>
                      <a:pt x="3135" y="190"/>
                    </a:lnTo>
                  </a:path>
                  <a:path w="5200" h="400" fill="none">
                    <a:moveTo>
                      <a:pt x="3165" y="94"/>
                    </a:moveTo>
                    <a:lnTo>
                      <a:pt x="3165" y="190"/>
                    </a:lnTo>
                  </a:path>
                  <a:path w="5200" h="400" fill="none">
                    <a:moveTo>
                      <a:pt x="3135" y="306"/>
                    </a:moveTo>
                    <a:lnTo>
                      <a:pt x="3135" y="210"/>
                    </a:lnTo>
                  </a:path>
                  <a:path w="5200" h="400" fill="none">
                    <a:moveTo>
                      <a:pt x="3165" y="306"/>
                    </a:moveTo>
                    <a:lnTo>
                      <a:pt x="3165" y="210"/>
                    </a:lnTo>
                  </a:path>
                  <a:path w="5200" h="400" fill="none">
                    <a:moveTo>
                      <a:pt x="3235" y="94"/>
                    </a:moveTo>
                    <a:lnTo>
                      <a:pt x="3235" y="190"/>
                    </a:lnTo>
                  </a:path>
                  <a:path w="5200" h="400" fill="none">
                    <a:moveTo>
                      <a:pt x="3265" y="94"/>
                    </a:moveTo>
                    <a:lnTo>
                      <a:pt x="3265" y="190"/>
                    </a:lnTo>
                  </a:path>
                  <a:path w="5200" h="400" fill="none">
                    <a:moveTo>
                      <a:pt x="3235" y="306"/>
                    </a:moveTo>
                    <a:lnTo>
                      <a:pt x="3235" y="210"/>
                    </a:lnTo>
                  </a:path>
                  <a:path w="5200" h="400" fill="none">
                    <a:moveTo>
                      <a:pt x="3265" y="306"/>
                    </a:moveTo>
                    <a:lnTo>
                      <a:pt x="3265" y="210"/>
                    </a:lnTo>
                  </a:path>
                  <a:path w="5200" h="400" fill="none">
                    <a:moveTo>
                      <a:pt x="3335" y="94"/>
                    </a:moveTo>
                    <a:lnTo>
                      <a:pt x="3335" y="190"/>
                    </a:lnTo>
                  </a:path>
                  <a:path w="5200" h="400" fill="none">
                    <a:moveTo>
                      <a:pt x="3365" y="94"/>
                    </a:moveTo>
                    <a:lnTo>
                      <a:pt x="3365" y="190"/>
                    </a:lnTo>
                  </a:path>
                  <a:path w="5200" h="400" fill="none">
                    <a:moveTo>
                      <a:pt x="3335" y="306"/>
                    </a:moveTo>
                    <a:lnTo>
                      <a:pt x="3335" y="210"/>
                    </a:lnTo>
                  </a:path>
                  <a:path w="5200" h="400" fill="none">
                    <a:moveTo>
                      <a:pt x="3365" y="306"/>
                    </a:moveTo>
                    <a:lnTo>
                      <a:pt x="3365" y="210"/>
                    </a:lnTo>
                  </a:path>
                  <a:path w="5200" h="400" fill="none">
                    <a:moveTo>
                      <a:pt x="3435" y="94"/>
                    </a:moveTo>
                    <a:lnTo>
                      <a:pt x="3435" y="190"/>
                    </a:lnTo>
                  </a:path>
                  <a:path w="5200" h="400" fill="none">
                    <a:moveTo>
                      <a:pt x="3465" y="94"/>
                    </a:moveTo>
                    <a:lnTo>
                      <a:pt x="3465" y="190"/>
                    </a:lnTo>
                  </a:path>
                  <a:path w="5200" h="400" fill="none">
                    <a:moveTo>
                      <a:pt x="3435" y="306"/>
                    </a:moveTo>
                    <a:lnTo>
                      <a:pt x="3435" y="210"/>
                    </a:lnTo>
                  </a:path>
                  <a:path w="5200" h="400" fill="none">
                    <a:moveTo>
                      <a:pt x="3465" y="306"/>
                    </a:moveTo>
                    <a:lnTo>
                      <a:pt x="3465" y="210"/>
                    </a:lnTo>
                  </a:path>
                  <a:path w="5200" h="400" fill="none">
                    <a:moveTo>
                      <a:pt x="3535" y="94"/>
                    </a:moveTo>
                    <a:lnTo>
                      <a:pt x="3535" y="190"/>
                    </a:lnTo>
                  </a:path>
                  <a:path w="5200" h="400" fill="none">
                    <a:moveTo>
                      <a:pt x="3565" y="94"/>
                    </a:moveTo>
                    <a:lnTo>
                      <a:pt x="3565" y="190"/>
                    </a:lnTo>
                  </a:path>
                  <a:path w="5200" h="400" fill="none">
                    <a:moveTo>
                      <a:pt x="3535" y="306"/>
                    </a:moveTo>
                    <a:lnTo>
                      <a:pt x="3535" y="210"/>
                    </a:lnTo>
                  </a:path>
                  <a:path w="5200" h="400" fill="none">
                    <a:moveTo>
                      <a:pt x="3565" y="306"/>
                    </a:moveTo>
                    <a:lnTo>
                      <a:pt x="3565" y="210"/>
                    </a:lnTo>
                  </a:path>
                  <a:path w="5200" h="400" fill="none">
                    <a:moveTo>
                      <a:pt x="3635" y="94"/>
                    </a:moveTo>
                    <a:lnTo>
                      <a:pt x="3635" y="190"/>
                    </a:lnTo>
                  </a:path>
                  <a:path w="5200" h="400" fill="none">
                    <a:moveTo>
                      <a:pt x="3665" y="94"/>
                    </a:moveTo>
                    <a:lnTo>
                      <a:pt x="3665" y="190"/>
                    </a:lnTo>
                  </a:path>
                  <a:path w="5200" h="400" fill="none">
                    <a:moveTo>
                      <a:pt x="3635" y="306"/>
                    </a:moveTo>
                    <a:lnTo>
                      <a:pt x="3635" y="210"/>
                    </a:lnTo>
                  </a:path>
                  <a:path w="5200" h="400" fill="none">
                    <a:moveTo>
                      <a:pt x="3665" y="306"/>
                    </a:moveTo>
                    <a:lnTo>
                      <a:pt x="3665" y="210"/>
                    </a:lnTo>
                  </a:path>
                  <a:path w="5200" h="400" fill="none">
                    <a:moveTo>
                      <a:pt x="3735" y="94"/>
                    </a:moveTo>
                    <a:lnTo>
                      <a:pt x="3735" y="190"/>
                    </a:lnTo>
                  </a:path>
                  <a:path w="5200" h="400" fill="none">
                    <a:moveTo>
                      <a:pt x="3765" y="94"/>
                    </a:moveTo>
                    <a:lnTo>
                      <a:pt x="3765" y="190"/>
                    </a:lnTo>
                  </a:path>
                  <a:path w="5200" h="400" fill="none">
                    <a:moveTo>
                      <a:pt x="3735" y="306"/>
                    </a:moveTo>
                    <a:lnTo>
                      <a:pt x="3735" y="210"/>
                    </a:lnTo>
                  </a:path>
                  <a:path w="5200" h="400" fill="none">
                    <a:moveTo>
                      <a:pt x="3765" y="306"/>
                    </a:moveTo>
                    <a:lnTo>
                      <a:pt x="3765" y="210"/>
                    </a:lnTo>
                  </a:path>
                  <a:path w="5200" h="400" fill="none">
                    <a:moveTo>
                      <a:pt x="3835" y="94"/>
                    </a:moveTo>
                    <a:lnTo>
                      <a:pt x="3835" y="190"/>
                    </a:lnTo>
                  </a:path>
                  <a:path w="5200" h="400" fill="none">
                    <a:moveTo>
                      <a:pt x="3865" y="94"/>
                    </a:moveTo>
                    <a:lnTo>
                      <a:pt x="3865" y="190"/>
                    </a:lnTo>
                  </a:path>
                  <a:path w="5200" h="400" fill="none">
                    <a:moveTo>
                      <a:pt x="3835" y="306"/>
                    </a:moveTo>
                    <a:lnTo>
                      <a:pt x="3835" y="210"/>
                    </a:lnTo>
                  </a:path>
                  <a:path w="5200" h="400" fill="none">
                    <a:moveTo>
                      <a:pt x="3865" y="306"/>
                    </a:moveTo>
                    <a:lnTo>
                      <a:pt x="3865" y="210"/>
                    </a:lnTo>
                  </a:path>
                  <a:path w="5200" h="400" fill="none">
                    <a:moveTo>
                      <a:pt x="3935" y="94"/>
                    </a:moveTo>
                    <a:lnTo>
                      <a:pt x="3935" y="190"/>
                    </a:lnTo>
                  </a:path>
                  <a:path w="5200" h="400" fill="none">
                    <a:moveTo>
                      <a:pt x="3965" y="94"/>
                    </a:moveTo>
                    <a:lnTo>
                      <a:pt x="3965" y="190"/>
                    </a:lnTo>
                  </a:path>
                  <a:path w="5200" h="400" fill="none">
                    <a:moveTo>
                      <a:pt x="3935" y="306"/>
                    </a:moveTo>
                    <a:lnTo>
                      <a:pt x="3935" y="210"/>
                    </a:lnTo>
                  </a:path>
                  <a:path w="5200" h="400" fill="none">
                    <a:moveTo>
                      <a:pt x="3965" y="306"/>
                    </a:moveTo>
                    <a:lnTo>
                      <a:pt x="3965" y="210"/>
                    </a:lnTo>
                  </a:path>
                  <a:path w="5200" h="400" fill="none">
                    <a:moveTo>
                      <a:pt x="4035" y="94"/>
                    </a:moveTo>
                    <a:lnTo>
                      <a:pt x="4035" y="190"/>
                    </a:lnTo>
                  </a:path>
                  <a:path w="5200" h="400" fill="none">
                    <a:moveTo>
                      <a:pt x="4065" y="94"/>
                    </a:moveTo>
                    <a:lnTo>
                      <a:pt x="4065" y="190"/>
                    </a:lnTo>
                  </a:path>
                  <a:path w="5200" h="400" fill="none">
                    <a:moveTo>
                      <a:pt x="4035" y="306"/>
                    </a:moveTo>
                    <a:lnTo>
                      <a:pt x="4035" y="210"/>
                    </a:lnTo>
                  </a:path>
                  <a:path w="5200" h="400" fill="none">
                    <a:moveTo>
                      <a:pt x="4065" y="306"/>
                    </a:moveTo>
                    <a:lnTo>
                      <a:pt x="4065" y="210"/>
                    </a:lnTo>
                  </a:path>
                  <a:path w="5200" h="400" fill="none">
                    <a:moveTo>
                      <a:pt x="4135" y="94"/>
                    </a:moveTo>
                    <a:lnTo>
                      <a:pt x="4135" y="190"/>
                    </a:lnTo>
                  </a:path>
                  <a:path w="5200" h="400" fill="none">
                    <a:moveTo>
                      <a:pt x="4165" y="94"/>
                    </a:moveTo>
                    <a:lnTo>
                      <a:pt x="4165" y="190"/>
                    </a:lnTo>
                  </a:path>
                  <a:path w="5200" h="400" fill="none">
                    <a:moveTo>
                      <a:pt x="4135" y="306"/>
                    </a:moveTo>
                    <a:lnTo>
                      <a:pt x="4135" y="210"/>
                    </a:lnTo>
                  </a:path>
                  <a:path w="5200" h="400" fill="none">
                    <a:moveTo>
                      <a:pt x="4165" y="306"/>
                    </a:moveTo>
                    <a:lnTo>
                      <a:pt x="4165" y="210"/>
                    </a:lnTo>
                  </a:path>
                  <a:path w="5200" h="400" fill="none">
                    <a:moveTo>
                      <a:pt x="4235" y="94"/>
                    </a:moveTo>
                    <a:lnTo>
                      <a:pt x="4235" y="190"/>
                    </a:lnTo>
                  </a:path>
                  <a:path w="5200" h="400" fill="none">
                    <a:moveTo>
                      <a:pt x="4265" y="94"/>
                    </a:moveTo>
                    <a:lnTo>
                      <a:pt x="4265" y="190"/>
                    </a:lnTo>
                  </a:path>
                  <a:path w="5200" h="400" fill="none">
                    <a:moveTo>
                      <a:pt x="4235" y="306"/>
                    </a:moveTo>
                    <a:lnTo>
                      <a:pt x="4235" y="210"/>
                    </a:lnTo>
                  </a:path>
                  <a:path w="5200" h="400" fill="none">
                    <a:moveTo>
                      <a:pt x="4265" y="306"/>
                    </a:moveTo>
                    <a:lnTo>
                      <a:pt x="4265" y="210"/>
                    </a:lnTo>
                  </a:path>
                  <a:path w="5200" h="400" fill="none">
                    <a:moveTo>
                      <a:pt x="4335" y="94"/>
                    </a:moveTo>
                    <a:lnTo>
                      <a:pt x="4335" y="190"/>
                    </a:lnTo>
                  </a:path>
                  <a:path w="5200" h="400" fill="none">
                    <a:moveTo>
                      <a:pt x="4365" y="94"/>
                    </a:moveTo>
                    <a:lnTo>
                      <a:pt x="4365" y="190"/>
                    </a:lnTo>
                  </a:path>
                  <a:path w="5200" h="400" fill="none">
                    <a:moveTo>
                      <a:pt x="4335" y="306"/>
                    </a:moveTo>
                    <a:lnTo>
                      <a:pt x="4335" y="210"/>
                    </a:lnTo>
                  </a:path>
                  <a:path w="5200" h="400" fill="none">
                    <a:moveTo>
                      <a:pt x="4365" y="306"/>
                    </a:moveTo>
                    <a:lnTo>
                      <a:pt x="4365" y="210"/>
                    </a:lnTo>
                  </a:path>
                  <a:path w="5200" h="400" fill="none">
                    <a:moveTo>
                      <a:pt x="4435" y="94"/>
                    </a:moveTo>
                    <a:lnTo>
                      <a:pt x="4435" y="190"/>
                    </a:lnTo>
                  </a:path>
                  <a:path w="5200" h="400" fill="none">
                    <a:moveTo>
                      <a:pt x="4465" y="94"/>
                    </a:moveTo>
                    <a:lnTo>
                      <a:pt x="4465" y="190"/>
                    </a:lnTo>
                  </a:path>
                  <a:path w="5200" h="400" fill="none">
                    <a:moveTo>
                      <a:pt x="4435" y="306"/>
                    </a:moveTo>
                    <a:lnTo>
                      <a:pt x="4435" y="210"/>
                    </a:lnTo>
                  </a:path>
                  <a:path w="5200" h="400" fill="none">
                    <a:moveTo>
                      <a:pt x="4465" y="306"/>
                    </a:moveTo>
                    <a:lnTo>
                      <a:pt x="4465" y="210"/>
                    </a:lnTo>
                  </a:path>
                  <a:path w="5200" h="400" fill="none">
                    <a:moveTo>
                      <a:pt x="4535" y="94"/>
                    </a:moveTo>
                    <a:lnTo>
                      <a:pt x="4535" y="190"/>
                    </a:lnTo>
                  </a:path>
                  <a:path w="5200" h="400" fill="none">
                    <a:moveTo>
                      <a:pt x="4565" y="94"/>
                    </a:moveTo>
                    <a:lnTo>
                      <a:pt x="4565" y="190"/>
                    </a:lnTo>
                  </a:path>
                  <a:path w="5200" h="400" fill="none">
                    <a:moveTo>
                      <a:pt x="4535" y="306"/>
                    </a:moveTo>
                    <a:lnTo>
                      <a:pt x="4535" y="210"/>
                    </a:lnTo>
                  </a:path>
                  <a:path w="5200" h="400" fill="none">
                    <a:moveTo>
                      <a:pt x="4565" y="306"/>
                    </a:moveTo>
                    <a:lnTo>
                      <a:pt x="4565" y="210"/>
                    </a:lnTo>
                  </a:path>
                  <a:path w="5200" h="400" fill="none">
                    <a:moveTo>
                      <a:pt x="4635" y="94"/>
                    </a:moveTo>
                    <a:lnTo>
                      <a:pt x="4635" y="190"/>
                    </a:lnTo>
                  </a:path>
                  <a:path w="5200" h="400" fill="none">
                    <a:moveTo>
                      <a:pt x="4665" y="94"/>
                    </a:moveTo>
                    <a:lnTo>
                      <a:pt x="4665" y="190"/>
                    </a:lnTo>
                  </a:path>
                  <a:path w="5200" h="400" fill="none">
                    <a:moveTo>
                      <a:pt x="4635" y="306"/>
                    </a:moveTo>
                    <a:lnTo>
                      <a:pt x="4635" y="210"/>
                    </a:lnTo>
                  </a:path>
                  <a:path w="5200" h="400" fill="none">
                    <a:moveTo>
                      <a:pt x="4665" y="306"/>
                    </a:moveTo>
                    <a:lnTo>
                      <a:pt x="4665" y="210"/>
                    </a:lnTo>
                  </a:path>
                  <a:path w="5200" h="400" fill="none">
                    <a:moveTo>
                      <a:pt x="4735" y="94"/>
                    </a:moveTo>
                    <a:lnTo>
                      <a:pt x="4735" y="190"/>
                    </a:lnTo>
                  </a:path>
                  <a:path w="5200" h="400" fill="none">
                    <a:moveTo>
                      <a:pt x="4765" y="94"/>
                    </a:moveTo>
                    <a:lnTo>
                      <a:pt x="4765" y="190"/>
                    </a:lnTo>
                  </a:path>
                  <a:path w="5200" h="400" fill="none">
                    <a:moveTo>
                      <a:pt x="4735" y="306"/>
                    </a:moveTo>
                    <a:lnTo>
                      <a:pt x="4735" y="210"/>
                    </a:lnTo>
                  </a:path>
                  <a:path w="5200" h="400" fill="none">
                    <a:moveTo>
                      <a:pt x="4765" y="306"/>
                    </a:moveTo>
                    <a:lnTo>
                      <a:pt x="4765" y="210"/>
                    </a:lnTo>
                  </a:path>
                  <a:path w="5200" h="400" fill="none">
                    <a:moveTo>
                      <a:pt x="4835" y="94"/>
                    </a:moveTo>
                    <a:lnTo>
                      <a:pt x="4835" y="190"/>
                    </a:lnTo>
                  </a:path>
                  <a:path w="5200" h="400" fill="none">
                    <a:moveTo>
                      <a:pt x="4865" y="94"/>
                    </a:moveTo>
                    <a:lnTo>
                      <a:pt x="4865" y="190"/>
                    </a:lnTo>
                  </a:path>
                  <a:path w="5200" h="400" fill="none">
                    <a:moveTo>
                      <a:pt x="4835" y="306"/>
                    </a:moveTo>
                    <a:lnTo>
                      <a:pt x="4835" y="210"/>
                    </a:lnTo>
                  </a:path>
                  <a:path w="5200" h="400" fill="none">
                    <a:moveTo>
                      <a:pt x="4865" y="306"/>
                    </a:moveTo>
                    <a:lnTo>
                      <a:pt x="4865" y="210"/>
                    </a:lnTo>
                  </a:path>
                  <a:path w="5200" h="400" fill="none">
                    <a:moveTo>
                      <a:pt x="4935" y="94"/>
                    </a:moveTo>
                    <a:lnTo>
                      <a:pt x="4935" y="190"/>
                    </a:lnTo>
                  </a:path>
                  <a:path w="5200" h="400" fill="none">
                    <a:moveTo>
                      <a:pt x="4965" y="94"/>
                    </a:moveTo>
                    <a:lnTo>
                      <a:pt x="4965" y="190"/>
                    </a:lnTo>
                  </a:path>
                  <a:path w="5200" h="400" fill="none">
                    <a:moveTo>
                      <a:pt x="4935" y="306"/>
                    </a:moveTo>
                    <a:lnTo>
                      <a:pt x="4935" y="210"/>
                    </a:lnTo>
                  </a:path>
                  <a:path w="5200" h="400" fill="none">
                    <a:moveTo>
                      <a:pt x="4965" y="306"/>
                    </a:moveTo>
                    <a:lnTo>
                      <a:pt x="4965" y="210"/>
                    </a:lnTo>
                  </a:path>
                  <a:path w="5200" h="400" fill="none">
                    <a:moveTo>
                      <a:pt x="5035" y="94"/>
                    </a:moveTo>
                    <a:lnTo>
                      <a:pt x="5035" y="190"/>
                    </a:lnTo>
                  </a:path>
                  <a:path w="5200" h="400" fill="none">
                    <a:moveTo>
                      <a:pt x="5065" y="94"/>
                    </a:moveTo>
                    <a:lnTo>
                      <a:pt x="5065" y="190"/>
                    </a:lnTo>
                  </a:path>
                  <a:path w="5200" h="400" fill="none">
                    <a:moveTo>
                      <a:pt x="5035" y="306"/>
                    </a:moveTo>
                    <a:lnTo>
                      <a:pt x="5035" y="210"/>
                    </a:lnTo>
                  </a:path>
                  <a:path w="5200" h="400" fill="none">
                    <a:moveTo>
                      <a:pt x="5065" y="306"/>
                    </a:moveTo>
                    <a:lnTo>
                      <a:pt x="5065" y="210"/>
                    </a:lnTo>
                  </a:path>
                  <a:path w="5200" h="400" fill="none">
                    <a:moveTo>
                      <a:pt x="5135" y="94"/>
                    </a:moveTo>
                    <a:lnTo>
                      <a:pt x="5135" y="190"/>
                    </a:lnTo>
                  </a:path>
                  <a:path w="5200" h="400" fill="none">
                    <a:moveTo>
                      <a:pt x="5165" y="94"/>
                    </a:moveTo>
                    <a:lnTo>
                      <a:pt x="5165" y="190"/>
                    </a:lnTo>
                  </a:path>
                  <a:path w="5200" h="400" fill="none">
                    <a:moveTo>
                      <a:pt x="5135" y="306"/>
                    </a:moveTo>
                    <a:lnTo>
                      <a:pt x="5135" y="210"/>
                    </a:lnTo>
                  </a:path>
                  <a:path w="5200" h="400" fill="none">
                    <a:moveTo>
                      <a:pt x="5165" y="306"/>
                    </a:moveTo>
                    <a:lnTo>
                      <a:pt x="5165" y="210"/>
                    </a:lnTo>
                  </a:path>
                </a:pathLst>
              </a:custGeom>
              <a:noFill/>
              <a:ln w="9525" cap="rnd">
                <a:solidFill>
                  <a:srgbClr val="A49887"/>
                </a:solidFill>
                <a:round/>
              </a:ln>
            </p:spPr>
          </p:sp>
        </p:grpSp>
        <p:grpSp>
          <p:nvGrpSpPr>
            <p:cNvPr id="12" name="GLP-1R"/>
            <p:cNvGrpSpPr/>
            <p:nvPr/>
          </p:nvGrpSpPr>
          <p:grpSpPr>
            <a:xfrm>
              <a:off x="2103120" y="1591056"/>
              <a:ext cx="1372972" cy="841248"/>
              <a:chOff x="2103120" y="1591056"/>
              <a:chExt cx="1372972" cy="841248"/>
            </a:xfrm>
          </p:grpSpPr>
          <p:sp>
            <p:nvSpPr>
              <p:cNvPr id="13" name="Forma 12"/>
              <p:cNvSpPr/>
              <p:nvPr/>
            </p:nvSpPr>
            <p:spPr>
              <a:xfrm>
                <a:off x="2103120"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4" name="Forma 13"/>
              <p:cNvSpPr/>
              <p:nvPr/>
            </p:nvSpPr>
            <p:spPr>
              <a:xfrm>
                <a:off x="2299259"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5" name="Forma 14"/>
              <p:cNvSpPr/>
              <p:nvPr/>
            </p:nvSpPr>
            <p:spPr>
              <a:xfrm>
                <a:off x="2495398"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6" name="Forma 15"/>
              <p:cNvSpPr/>
              <p:nvPr/>
            </p:nvSpPr>
            <p:spPr>
              <a:xfrm>
                <a:off x="2691536"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7" name="Forma 16"/>
              <p:cNvSpPr/>
              <p:nvPr/>
            </p:nvSpPr>
            <p:spPr>
              <a:xfrm>
                <a:off x="2887675"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8" name="Forma 17"/>
              <p:cNvSpPr/>
              <p:nvPr/>
            </p:nvSpPr>
            <p:spPr>
              <a:xfrm>
                <a:off x="3083814"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19" name="Forma 18"/>
              <p:cNvSpPr/>
              <p:nvPr/>
            </p:nvSpPr>
            <p:spPr>
              <a:xfrm>
                <a:off x="3279953" y="1709928"/>
                <a:ext cx="154534" cy="603504"/>
              </a:xfrm>
              <a:prstGeom prst="roundRect">
                <a:avLst>
                  <a:gd name="adj" fmla="val 50000"/>
                </a:avLst>
              </a:prstGeom>
              <a:gradFill rotWithShape="1">
                <a:gsLst>
                  <a:gs pos="0">
                    <a:srgbClr val="579070"/>
                  </a:gs>
                  <a:gs pos="30000">
                    <a:srgbClr val="AADFC1"/>
                  </a:gs>
                  <a:gs pos="55000">
                    <a:srgbClr val="7DCEA0"/>
                  </a:gs>
                  <a:gs pos="100000">
                    <a:srgbClr val="579070"/>
                  </a:gs>
                </a:gsLst>
                <a:lin ang="5400000" scaled="0"/>
              </a:gradFill>
              <a:ln w="12700" cap="rnd">
                <a:solidFill>
                  <a:srgbClr val="3E6750"/>
                </a:solidFill>
                <a:round/>
              </a:ln>
            </p:spPr>
          </p:sp>
          <p:sp>
            <p:nvSpPr>
              <p:cNvPr id="20" name="Forma 19"/>
              <p:cNvSpPr/>
              <p:nvPr/>
            </p:nvSpPr>
            <p:spPr>
              <a:xfrm>
                <a:off x="2103120" y="1591056"/>
                <a:ext cx="1372972" cy="841248"/>
              </a:xfrm>
              <a:custGeom>
                <a:avLst/>
                <a:gdLst/>
                <a:ahLst/>
                <a:cxnLst/>
                <a:rect l="0" t="0" r="r" b="b"/>
                <a:pathLst>
                  <a:path w="1000" h="1400" fill="none">
                    <a:moveTo>
                      <a:pt x="56" y="1190"/>
                    </a:moveTo>
                    <a:quadBezTo>
                      <a:pt x="127" y="1400"/>
                      <a:pt x="199" y="1190"/>
                    </a:quadBezTo>
                  </a:path>
                  <a:path w="1000" h="1400" fill="none">
                    <a:moveTo>
                      <a:pt x="199" y="210"/>
                    </a:moveTo>
                    <a:quadBezTo>
                      <a:pt x="270" y="0"/>
                      <a:pt x="341" y="210"/>
                    </a:quadBezTo>
                  </a:path>
                  <a:path w="1000" h="1400" fill="none">
                    <a:moveTo>
                      <a:pt x="341" y="1190"/>
                    </a:moveTo>
                    <a:quadBezTo>
                      <a:pt x="412" y="1400"/>
                      <a:pt x="484" y="1190"/>
                    </a:quadBezTo>
                  </a:path>
                  <a:path w="1000" h="1400" fill="none">
                    <a:moveTo>
                      <a:pt x="484" y="210"/>
                    </a:moveTo>
                    <a:quadBezTo>
                      <a:pt x="555" y="0"/>
                      <a:pt x="627" y="210"/>
                    </a:quadBezTo>
                  </a:path>
                  <a:path w="1000" h="1400" fill="none">
                    <a:moveTo>
                      <a:pt x="627" y="1190"/>
                    </a:moveTo>
                    <a:quadBezTo>
                      <a:pt x="698" y="1400"/>
                      <a:pt x="770" y="1190"/>
                    </a:quadBezTo>
                  </a:path>
                  <a:path w="1000" h="1400" fill="none">
                    <a:moveTo>
                      <a:pt x="770" y="210"/>
                    </a:moveTo>
                    <a:quadBezTo>
                      <a:pt x="841" y="0"/>
                      <a:pt x="913" y="210"/>
                    </a:quadBezTo>
                  </a:path>
                </a:pathLst>
              </a:custGeom>
              <a:noFill/>
              <a:ln w="19050" cap="rnd">
                <a:solidFill>
                  <a:srgbClr val="3E6750"/>
                </a:solidFill>
                <a:round/>
              </a:ln>
            </p:spPr>
          </p:sp>
        </p:grpSp>
      </p:grpSp>
      <p:sp>
        <p:nvSpPr>
          <p:cNvPr id="21" name="Agonista GLP1"/>
          <p:cNvSpPr/>
          <p:nvPr/>
        </p:nvSpPr>
        <p:spPr>
          <a:xfrm>
            <a:off x="2057400" y="1051560"/>
            <a:ext cx="1463040" cy="4114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Agonista</a:t>
            </a:r>
            <a:endParaRPr lang="es-AR" sz="1300" dirty="0">
              <a:latin typeface="Fira Sans Condensed"/>
            </a:endParaRPr>
          </a:p>
        </p:txBody>
      </p:sp>
      <p:grpSp>
        <p:nvGrpSpPr>
          <p:cNvPr id="22" name="Señal"/>
          <p:cNvGrpSpPr/>
          <p:nvPr/>
        </p:nvGrpSpPr>
        <p:grpSpPr>
          <a:xfrm>
            <a:off x="1097280" y="2743200"/>
            <a:ext cx="3108960" cy="1737360"/>
            <a:chOff x="1097280" y="2743200"/>
            <a:chExt cx="3108960" cy="1737360"/>
          </a:xfrm>
        </p:grpSpPr>
        <p:sp>
          <p:nvSpPr>
            <p:cNvPr id="23" name="Recuadro Gs → adenilil ciclasa"/>
            <p:cNvSpPr/>
            <p:nvPr/>
          </p:nvSpPr>
          <p:spPr>
            <a:xfrm>
              <a:off x="1097280" y="2743200"/>
              <a:ext cx="3108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Gs → adenilil ciclasa</a:t>
              </a:r>
              <a:endParaRPr lang="es-AR" sz="1300" dirty="0">
                <a:latin typeface="Fira Sans Condensed"/>
              </a:endParaRPr>
            </a:p>
          </p:txBody>
        </p:sp>
        <p:sp>
          <p:nvSpPr>
            <p:cNvPr id="24" name="Recuadro AMPc ↑"/>
            <p:cNvSpPr/>
            <p:nvPr/>
          </p:nvSpPr>
          <p:spPr>
            <a:xfrm>
              <a:off x="1097280" y="3383280"/>
              <a:ext cx="310896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AMPc ↑</a:t>
              </a:r>
              <a:endParaRPr lang="es-AR" sz="1300" dirty="0">
                <a:latin typeface="Fira Sans Condensed"/>
              </a:endParaRPr>
            </a:p>
          </p:txBody>
        </p:sp>
        <p:sp>
          <p:nvSpPr>
            <p:cNvPr id="25" name="Flecha 24_2"/>
            <p:cNvSpPr/>
            <p:nvPr/>
          </p:nvSpPr>
          <p:spPr>
            <a:xfrm>
              <a:off x="2651760" y="3200400"/>
              <a:ext cx="9144" cy="164592"/>
            </a:xfrm>
            <a:custGeom>
              <a:avLst/>
              <a:gdLst/>
              <a:ahLst/>
              <a:cxnLst/>
              <a:rect l="0" t="0" r="r" b="b"/>
              <a:pathLst>
                <a:path w="10" h="180" fill="none">
                  <a:moveTo>
                    <a:pt x="0" y="0"/>
                  </a:moveTo>
                  <a:lnTo>
                    <a:pt x="0" y="180"/>
                  </a:lnTo>
                </a:path>
              </a:pathLst>
            </a:custGeom>
            <a:noFill/>
            <a:ln w="25400" cap="rnd">
              <a:solidFill>
                <a:srgbClr val="1E1E1E"/>
              </a:solidFill>
              <a:round/>
              <a:tailEnd type="triangle" w="med" len="med"/>
            </a:ln>
          </p:spPr>
        </p:sp>
        <p:sp>
          <p:nvSpPr>
            <p:cNvPr id="26" name="Recuadro PKA · Epac2"/>
            <p:cNvSpPr/>
            <p:nvPr/>
          </p:nvSpPr>
          <p:spPr>
            <a:xfrm>
              <a:off x="1097280" y="4023360"/>
              <a:ext cx="310896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PKA · Epac2</a:t>
              </a:r>
              <a:endParaRPr lang="es-AR" sz="1300" dirty="0">
                <a:latin typeface="Fira Sans Condensed"/>
              </a:endParaRPr>
            </a:p>
          </p:txBody>
        </p:sp>
        <p:sp>
          <p:nvSpPr>
            <p:cNvPr id="27" name="Flecha 27_2"/>
            <p:cNvSpPr/>
            <p:nvPr/>
          </p:nvSpPr>
          <p:spPr>
            <a:xfrm>
              <a:off x="2651760" y="3840480"/>
              <a:ext cx="9144" cy="164592"/>
            </a:xfrm>
            <a:custGeom>
              <a:avLst/>
              <a:gdLst/>
              <a:ahLst/>
              <a:cxnLst/>
              <a:rect l="0" t="0" r="r" b="b"/>
              <a:pathLst>
                <a:path w="10" h="180" fill="none">
                  <a:moveTo>
                    <a:pt x="0" y="0"/>
                  </a:moveTo>
                  <a:lnTo>
                    <a:pt x="0" y="180"/>
                  </a:lnTo>
                </a:path>
              </a:pathLst>
            </a:custGeom>
            <a:noFill/>
            <a:ln w="25400" cap="rnd">
              <a:solidFill>
                <a:srgbClr val="1E1E1E"/>
              </a:solidFill>
              <a:round/>
              <a:tailEnd type="triangle" w="med" len="med"/>
            </a:ln>
          </p:spPr>
        </p:sp>
      </p:grpSp>
      <p:grpSp>
        <p:nvGrpSpPr>
          <p:cNvPr id="28" name="Blanco 0"/>
          <p:cNvGrpSpPr/>
          <p:nvPr/>
        </p:nvGrpSpPr>
        <p:grpSpPr>
          <a:xfrm>
            <a:off x="4297680" y="1097280"/>
            <a:ext cx="7543800" cy="2560320"/>
            <a:chOff x="4297680" y="1097280"/>
            <a:chExt cx="7543800" cy="2560320"/>
          </a:xfrm>
        </p:grpSpPr>
        <p:sp>
          <p:nvSpPr>
            <p:cNvPr id="29" name="Flecha 30_2"/>
            <p:cNvSpPr/>
            <p:nvPr/>
          </p:nvSpPr>
          <p:spPr>
            <a:xfrm>
              <a:off x="4297680" y="1600200"/>
              <a:ext cx="1188720" cy="2057400"/>
            </a:xfrm>
            <a:custGeom>
              <a:avLst/>
              <a:gdLst/>
              <a:ahLst/>
              <a:cxnLst/>
              <a:rect l="0" t="0" r="r" b="b"/>
              <a:pathLst>
                <a:path w="1299" h="2250" fill="none">
                  <a:moveTo>
                    <a:pt x="0" y="2250"/>
                  </a:moveTo>
                  <a:lnTo>
                    <a:pt x="1299" y="0"/>
                  </a:lnTo>
                </a:path>
              </a:pathLst>
            </a:custGeom>
            <a:noFill/>
            <a:ln w="31750" cap="rnd">
              <a:solidFill>
                <a:srgbClr val="1E8C3A"/>
              </a:solidFill>
              <a:round/>
              <a:tailEnd type="triangle" w="med" len="med"/>
            </a:ln>
          </p:spPr>
        </p:sp>
        <p:pic>
          <p:nvPicPr>
            <p:cNvPr id="30" name="Imagen pancreas" descr="Ilustración biomédica (Servier Medical Art, CC BY)"/>
            <p:cNvPicPr>
              <a:picLocks noChangeAspect="1"/>
            </p:cNvPicPr>
            <p:nvPr/>
          </p:nvPicPr>
          <p:blipFill>
            <a:blip r:embed="rId2"/>
            <a:stretch>
              <a:fillRect/>
            </a:stretch>
          </p:blipFill>
          <p:spPr>
            <a:xfrm>
              <a:off x="5577840" y="1353541"/>
              <a:ext cx="1188720" cy="493319"/>
            </a:xfrm>
            <a:prstGeom prst="rect">
              <a:avLst/>
            </a:prstGeom>
          </p:spPr>
        </p:pic>
        <p:sp>
          <p:nvSpPr>
            <p:cNvPr id="31" name="Forma 33"/>
            <p:cNvSpPr/>
            <p:nvPr/>
          </p:nvSpPr>
          <p:spPr>
            <a:xfrm>
              <a:off x="6858000" y="1097280"/>
              <a:ext cx="498348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Célula β: insulina </a:t>
              </a:r>
              <a:r>
                <a:rPr lang="es-AR" sz="1400" b="1" dirty="0">
                  <a:solidFill>
                    <a:srgbClr val="1E1E1E"/>
                  </a:solidFill>
                  <a:latin typeface="Fira Sans Condensed"/>
                  <a:ea typeface="Fira Sans Condensed"/>
                  <a:cs typeface="Fira Sans Condensed"/>
                  <a:sym typeface="Fira Sans Condensed"/>
                </a:rPr>
                <a:t>glucosa-dependiente</a:t>
              </a:r>
              <a:r>
                <a:rPr lang="es-AR" sz="1400" dirty="0">
                  <a:solidFill>
                    <a:srgbClr val="1E1E1E"/>
                  </a:solidFill>
                  <a:latin typeface="Fira Sans Condensed"/>
                  <a:ea typeface="Fira Sans Condensed"/>
                  <a:cs typeface="Fira Sans Condensed"/>
                  <a:sym typeface="Fira Sans Condensed"/>
                </a:rPr>
                <a:t> ↑; glucagón ↓ en hiperglucemia</a:t>
              </a:r>
              <a:endParaRPr lang="es-AR" sz="1400" dirty="0">
                <a:latin typeface="Fira Sans Condensed"/>
              </a:endParaRPr>
            </a:p>
          </p:txBody>
        </p:sp>
      </p:grpSp>
      <p:grpSp>
        <p:nvGrpSpPr>
          <p:cNvPr id="32" name="Blanco 1"/>
          <p:cNvGrpSpPr/>
          <p:nvPr/>
        </p:nvGrpSpPr>
        <p:grpSpPr>
          <a:xfrm>
            <a:off x="4297680" y="2377440"/>
            <a:ext cx="7543800" cy="1280160"/>
            <a:chOff x="4297680" y="2377440"/>
            <a:chExt cx="7543800" cy="1280160"/>
          </a:xfrm>
        </p:grpSpPr>
        <p:sp>
          <p:nvSpPr>
            <p:cNvPr id="33" name="Flecha 35_2"/>
            <p:cNvSpPr/>
            <p:nvPr/>
          </p:nvSpPr>
          <p:spPr>
            <a:xfrm>
              <a:off x="4297680" y="2926080"/>
              <a:ext cx="1188720" cy="731520"/>
            </a:xfrm>
            <a:custGeom>
              <a:avLst/>
              <a:gdLst/>
              <a:ahLst/>
              <a:cxnLst/>
              <a:rect l="0" t="0" r="r" b="b"/>
              <a:pathLst>
                <a:path w="1299" h="800" fill="none">
                  <a:moveTo>
                    <a:pt x="0" y="800"/>
                  </a:moveTo>
                  <a:lnTo>
                    <a:pt x="1299" y="0"/>
                  </a:lnTo>
                </a:path>
              </a:pathLst>
            </a:custGeom>
            <a:noFill/>
            <a:ln w="31750" cap="rnd">
              <a:solidFill>
                <a:srgbClr val="1E8C3A"/>
              </a:solidFill>
              <a:round/>
              <a:tailEnd type="triangle" w="med" len="med"/>
            </a:ln>
          </p:spPr>
        </p:sp>
        <p:pic>
          <p:nvPicPr>
            <p:cNvPr id="34" name="Imagen brain-2" descr="Ilustración biomédica (Servier Medical Art, CC BY)"/>
            <p:cNvPicPr>
              <a:picLocks noChangeAspect="1"/>
            </p:cNvPicPr>
            <p:nvPr/>
          </p:nvPicPr>
          <p:blipFill>
            <a:blip r:embed="rId3"/>
            <a:stretch>
              <a:fillRect/>
            </a:stretch>
          </p:blipFill>
          <p:spPr>
            <a:xfrm>
              <a:off x="5634925" y="2377440"/>
              <a:ext cx="1074551" cy="1097280"/>
            </a:xfrm>
            <a:prstGeom prst="rect">
              <a:avLst/>
            </a:prstGeom>
          </p:spPr>
        </p:pic>
        <p:sp>
          <p:nvSpPr>
            <p:cNvPr id="35" name="Forma 38"/>
            <p:cNvSpPr/>
            <p:nvPr/>
          </p:nvSpPr>
          <p:spPr>
            <a:xfrm>
              <a:off x="6858000" y="2423160"/>
              <a:ext cx="498348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SNC / aferencias vagales: </a:t>
              </a:r>
              <a:r>
                <a:rPr lang="es-AR" sz="1400" b="1" dirty="0">
                  <a:solidFill>
                    <a:srgbClr val="1E1E1E"/>
                  </a:solidFill>
                  <a:latin typeface="Fira Sans Condensed"/>
                  <a:ea typeface="Fira Sans Condensed"/>
                  <a:cs typeface="Fira Sans Condensed"/>
                  <a:sym typeface="Fira Sans Condensed"/>
                </a:rPr>
                <a:t>saciedad</a:t>
              </a:r>
              <a:r>
                <a:rPr lang="es-AR" sz="1400" dirty="0">
                  <a:solidFill>
                    <a:srgbClr val="1E1E1E"/>
                  </a:solidFill>
                  <a:latin typeface="Fira Sans Condensed"/>
                  <a:ea typeface="Fira Sans Condensed"/>
                  <a:cs typeface="Fira Sans Condensed"/>
                  <a:sym typeface="Fira Sans Condensed"/>
                </a:rPr>
                <a:t>, ingesta ↓</a:t>
              </a:r>
              <a:endParaRPr lang="es-AR" sz="1400" dirty="0">
                <a:latin typeface="Fira Sans Condensed"/>
              </a:endParaRPr>
            </a:p>
          </p:txBody>
        </p:sp>
      </p:grpSp>
      <p:grpSp>
        <p:nvGrpSpPr>
          <p:cNvPr id="36" name="Blanco 2"/>
          <p:cNvGrpSpPr/>
          <p:nvPr/>
        </p:nvGrpSpPr>
        <p:grpSpPr>
          <a:xfrm>
            <a:off x="4297680" y="3657600"/>
            <a:ext cx="7543800" cy="1143000"/>
            <a:chOff x="4297680" y="3657600"/>
            <a:chExt cx="7543800" cy="1143000"/>
          </a:xfrm>
        </p:grpSpPr>
        <p:sp>
          <p:nvSpPr>
            <p:cNvPr id="37" name="Flecha 40_2"/>
            <p:cNvSpPr/>
            <p:nvPr/>
          </p:nvSpPr>
          <p:spPr>
            <a:xfrm>
              <a:off x="4297680" y="3657600"/>
              <a:ext cx="1188720" cy="594360"/>
            </a:xfrm>
            <a:custGeom>
              <a:avLst/>
              <a:gdLst/>
              <a:ahLst/>
              <a:cxnLst/>
              <a:rect l="0" t="0" r="r" b="b"/>
              <a:pathLst>
                <a:path w="1299" h="649" fill="none">
                  <a:moveTo>
                    <a:pt x="0" y="0"/>
                  </a:moveTo>
                  <a:lnTo>
                    <a:pt x="1299" y="649"/>
                  </a:lnTo>
                </a:path>
              </a:pathLst>
            </a:custGeom>
            <a:noFill/>
            <a:ln w="31750" cap="rnd">
              <a:solidFill>
                <a:srgbClr val="1E8C3A"/>
              </a:solidFill>
              <a:round/>
              <a:tailEnd type="triangle" w="med" len="med"/>
            </a:ln>
          </p:spPr>
        </p:sp>
        <p:pic>
          <p:nvPicPr>
            <p:cNvPr id="38" name="Imagen stomach" descr="Ilustración biomédica (Servier Medical Art, CC BY)"/>
            <p:cNvPicPr>
              <a:picLocks noChangeAspect="1"/>
            </p:cNvPicPr>
            <p:nvPr/>
          </p:nvPicPr>
          <p:blipFill>
            <a:blip r:embed="rId4"/>
            <a:stretch>
              <a:fillRect/>
            </a:stretch>
          </p:blipFill>
          <p:spPr>
            <a:xfrm>
              <a:off x="5644722" y="3703320"/>
              <a:ext cx="1054956" cy="1097280"/>
            </a:xfrm>
            <a:prstGeom prst="rect">
              <a:avLst/>
            </a:prstGeom>
          </p:spPr>
        </p:pic>
        <p:sp>
          <p:nvSpPr>
            <p:cNvPr id="39" name="Forma 43"/>
            <p:cNvSpPr/>
            <p:nvPr/>
          </p:nvSpPr>
          <p:spPr>
            <a:xfrm>
              <a:off x="6858000" y="3749040"/>
              <a:ext cx="4983480" cy="105156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b="1" dirty="0">
                  <a:solidFill>
                    <a:srgbClr val="1E1E1E"/>
                  </a:solidFill>
                  <a:latin typeface="Fira Sans Condensed"/>
                  <a:ea typeface="Fira Sans Condensed"/>
                  <a:cs typeface="Fira Sans Condensed"/>
                  <a:sym typeface="Fira Sans Condensed"/>
                </a:rPr>
                <a:t>Vaciamiento gástrico</a:t>
              </a:r>
              <a:r>
                <a:rPr lang="es-AR" sz="1400" dirty="0">
                  <a:solidFill>
                    <a:srgbClr val="1E1E1E"/>
                  </a:solidFill>
                  <a:latin typeface="Fira Sans Condensed"/>
                  <a:ea typeface="Fira Sans Condensed"/>
                  <a:cs typeface="Fira Sans Condensed"/>
                  <a:sym typeface="Fira Sans Condensed"/>
                </a:rPr>
                <a:t> más lento (según agente y etapa)</a:t>
              </a:r>
              <a:endParaRPr lang="es-AR" sz="1400" dirty="0">
                <a:latin typeface="Fira Sans Condensed"/>
              </a:endParaRPr>
            </a:p>
          </p:txBody>
        </p:sp>
      </p:grpSp>
      <p:sp>
        <p:nvSpPr>
          <p:cNvPr id="40" name="Perla clínica"/>
          <p:cNvSpPr/>
          <p:nvPr/>
        </p:nvSpPr>
        <p:spPr>
          <a:xfrm>
            <a:off x="365760" y="5120640"/>
            <a:ext cx="11475720" cy="11430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El peso baja por </a:t>
            </a:r>
            <a:r>
              <a:rPr lang="es-AR" sz="1450" b="1" dirty="0">
                <a:solidFill>
                  <a:srgbClr val="FFFFFF"/>
                </a:solidFill>
                <a:latin typeface="Fira Sans Condensed"/>
                <a:ea typeface="Fira Sans Condensed"/>
                <a:cs typeface="Fira Sans Condensed"/>
                <a:sym typeface="Fira Sans Condensed"/>
              </a:rPr>
              <a:t>modificación sostenida de la ingesta</a:t>
            </a:r>
            <a:r>
              <a:rPr lang="es-AR" sz="1450" dirty="0">
                <a:solidFill>
                  <a:srgbClr val="FFFFFF"/>
                </a:solidFill>
                <a:latin typeface="Fira Sans Condensed"/>
                <a:ea typeface="Fira Sans Condensed"/>
                <a:cs typeface="Fira Sans Condensed"/>
                <a:sym typeface="Fira Sans Condensed"/>
              </a:rPr>
              <a:t> y respuestas neuroendocrinas, </a:t>
            </a:r>
            <a:r>
              <a:rPr lang="es-AR" sz="1450" b="1" dirty="0">
                <a:solidFill>
                  <a:srgbClr val="FFFFFF"/>
                </a:solidFill>
                <a:latin typeface="Fira Sans Condensed"/>
                <a:ea typeface="Fira Sans Condensed"/>
                <a:cs typeface="Fira Sans Condensed"/>
                <a:sym typeface="Fira Sans Condensed"/>
              </a:rPr>
              <a:t>no</a:t>
            </a:r>
            <a:r>
              <a:rPr lang="es-AR" sz="1450" dirty="0">
                <a:solidFill>
                  <a:srgbClr val="FFFFFF"/>
                </a:solidFill>
                <a:latin typeface="Fira Sans Condensed"/>
                <a:ea typeface="Fira Sans Condensed"/>
                <a:cs typeface="Fira Sans Condensed"/>
                <a:sym typeface="Fira Sans Condensed"/>
              </a:rPr>
              <a:t> por una «quema química de grasa». Planificar seguimiento, nutrición, actividad y riesgo de </a:t>
            </a:r>
            <a:r>
              <a:rPr lang="es-AR" sz="1450" b="1" dirty="0">
                <a:solidFill>
                  <a:srgbClr val="FFFFFF"/>
                </a:solidFill>
                <a:latin typeface="Fira Sans Condensed"/>
                <a:ea typeface="Fira Sans Condensed"/>
                <a:cs typeface="Fira Sans Condensed"/>
                <a:sym typeface="Fira Sans Condensed"/>
              </a:rPr>
              <a:t>recuperar peso al suspender</a:t>
            </a:r>
            <a:r>
              <a:rPr lang="es-AR" sz="1450" dirty="0">
                <a:solidFill>
                  <a:srgbClr val="FFFFFF"/>
                </a:solidFill>
                <a:latin typeface="Fira Sans Condensed"/>
                <a:ea typeface="Fira Sans Condensed"/>
                <a:cs typeface="Fira Sans Condensed"/>
                <a:sym typeface="Fira Sans Condensed"/>
              </a:rPr>
              <a:t>.</a:t>
            </a:r>
            <a:endParaRPr lang="es-AR" sz="14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ANIMACIÓN: AGONISTAS DEL RECEPTOR GLP-1</a:t>
            </a:r>
            <a:endParaRPr lang="es-AR" sz="34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4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500"/>
                                        <p:tgtEl>
                                          <p:spTgt spid="21"/>
                                        </p:tgtEl>
                                      </p:cBhvr>
                                    </p:animEffect>
                                  </p:childTnLst>
                                </p:cTn>
                              </p:par>
                              <p:par>
                                <p:cTn id="6" presetID="0" presetClass="path" presetSubtype="0" accel="20000" decel="20000" fill="hold" grpId="0" nodeType="withEffect">
                                  <p:stCondLst>
                                    <p:cond delay="0"/>
                                  </p:stCondLst>
                                  <p:childTnLst>
                                    <p:animMotion origin="layout" path="M 0 0 L 0.0000 0.0733 E" pathEditMode="relative" ptsTypes="">
                                      <p:cBhvr>
                                        <p:cTn id="7" dur="800" fill="hold"/>
                                        <p:tgtEl>
                                          <p:spTgt spid="21"/>
                                        </p:tgtEl>
                                        <p:attrNameLst>
                                          <p:attrName>ppt_x</p:attrName>
                                          <p:attrName>ppt_y</p:attrName>
                                        </p:attrNameLst>
                                      </p:cBhvr>
                                      <p:rCtr x="0" y="3666"/>
                                    </p:animMotion>
                                  </p:childTnLst>
                                </p:cTn>
                              </p:par>
                            </p:childTnLst>
                          </p:cTn>
                        </p:par>
                      </p:childTnLst>
                    </p:cTn>
                  </p:par>
                  <p:par>
                    <p:cTn id="14" fill="hold">
                      <p:stCondLst>
                        <p:cond delay="indefinite"/>
                      </p:stCondLst>
                      <p:childTnLst>
                        <p:par>
                          <p:cTn id="13"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900"/>
                                        <p:tgtEl>
                                          <p:spTgt spid="22"/>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9" fill="hold">
                      <p:stCondLst>
                        <p:cond delay="indefinite"/>
                      </p:stCondLst>
                      <p:childTnLst>
                        <p:par>
                          <p:cTn id="28"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par>
                    <p:cTn id="36" fill="hold">
                      <p:stCondLst>
                        <p:cond delay="indefinite"/>
                      </p:stCondLst>
                      <p:childTnLst>
                        <p:par>
                          <p:cTn id="35"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p:cTn id="32" dur="500" fill="hold"/>
                                        <p:tgtEl>
                                          <p:spTgt spid="40"/>
                                        </p:tgtEl>
                                        <p:attrNameLst>
                                          <p:attrName>ppt_w</p:attrName>
                                        </p:attrNameLst>
                                      </p:cBhvr>
                                      <p:tavLst>
                                        <p:tav tm="0">
                                          <p:val>
                                            <p:fltVal val="0"/>
                                          </p:val>
                                        </p:tav>
                                        <p:tav tm="100000">
                                          <p:val>
                                            <p:strVal val="#ppt_w"/>
                                          </p:val>
                                        </p:tav>
                                      </p:tavLst>
                                    </p:anim>
                                    <p:anim calcmode="lin" valueType="num">
                                      <p:cBhvr>
                                        <p:cTn id="33" dur="500" fill="hold"/>
                                        <p:tgtEl>
                                          <p:spTgt spid="40"/>
                                        </p:tgtEl>
                                        <p:attrNameLst>
                                          <p:attrName>ppt_h</p:attrName>
                                        </p:attrNameLst>
                                      </p:cBhvr>
                                      <p:tavLst>
                                        <p:tav tm="0">
                                          <p:val>
                                            <p:fltVal val="0"/>
                                          </p:val>
                                        </p:tav>
                                        <p:tav tm="100000">
                                          <p:val>
                                            <p:strVal val="#ppt_h"/>
                                          </p:val>
                                        </p:tav>
                                      </p:tavLst>
                                    </p:anim>
                                    <p:animEffect transition="in" filter="fade">
                                      <p:cBhvr>
                                        <p:cTn id="3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0" grpId="0" animBg="1"/>
    </p:bld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grpSp>
        <p:nvGrpSpPr>
          <p:cNvPr id="6" name="Seg 0"/>
          <p:cNvGrpSpPr/>
          <p:nvPr/>
        </p:nvGrpSpPr>
        <p:grpSpPr>
          <a:xfrm>
            <a:off x="365760" y="1051560"/>
            <a:ext cx="11475720" cy="868680"/>
            <a:chOff x="365760" y="1051560"/>
            <a:chExt cx="11475720" cy="868680"/>
          </a:xfrm>
        </p:grpSpPr>
        <p:sp>
          <p:nvSpPr>
            <p:cNvPr id="7" name="Recuadro TA 160/100 · riesgo CV"/>
            <p:cNvSpPr/>
            <p:nvPr/>
          </p:nvSpPr>
          <p:spPr>
            <a:xfrm>
              <a:off x="365760" y="1051560"/>
              <a:ext cx="4206240" cy="8686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FFFFFF"/>
                  </a:solidFill>
                  <a:latin typeface="Fira Sans Condensed"/>
                  <a:ea typeface="Fira Sans Condensed"/>
                  <a:cs typeface="Fira Sans Condensed"/>
                  <a:sym typeface="Fira Sans Condensed"/>
                </a:rPr>
                <a:t>TA 160/100 · riesgo CV · sospecha de AOS</a:t>
              </a:r>
              <a:endParaRPr lang="es-AR" sz="1350" dirty="0">
                <a:latin typeface="Fira Sans Condensed"/>
              </a:endParaRPr>
            </a:p>
          </p:txBody>
        </p:sp>
        <p:sp>
          <p:nvSpPr>
            <p:cNvPr id="8" name="Forma 7"/>
            <p:cNvSpPr/>
            <p:nvPr/>
          </p:nvSpPr>
          <p:spPr>
            <a:xfrm>
              <a:off x="4709160" y="1051560"/>
              <a:ext cx="71323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Simpaticomiméticos</a:t>
              </a:r>
              <a:r>
                <a:rPr lang="es-AR" sz="1450" dirty="0">
                  <a:solidFill>
                    <a:srgbClr val="1E1E1E"/>
                  </a:solidFill>
                  <a:latin typeface="Fira Sans Condensed"/>
                  <a:ea typeface="Fira Sans Condensed"/>
                  <a:cs typeface="Fira Sans Condensed"/>
                  <a:sym typeface="Fira Sans Condensed"/>
                </a:rPr>
                <a:t> no son selección automática.</a:t>
              </a:r>
              <a:endParaRPr lang="es-AR" sz="1450" dirty="0">
                <a:latin typeface="Fira Sans Condensed"/>
              </a:endParaRPr>
            </a:p>
          </p:txBody>
        </p:sp>
      </p:grpSp>
      <p:grpSp>
        <p:nvGrpSpPr>
          <p:cNvPr id="9" name="Seg 1"/>
          <p:cNvGrpSpPr/>
          <p:nvPr/>
        </p:nvGrpSpPr>
        <p:grpSpPr>
          <a:xfrm>
            <a:off x="365760" y="2075688"/>
            <a:ext cx="11475720" cy="868680"/>
            <a:chOff x="365760" y="2075688"/>
            <a:chExt cx="11475720" cy="868680"/>
          </a:xfrm>
        </p:grpSpPr>
        <p:sp>
          <p:nvSpPr>
            <p:cNvPr id="10" name="Recuadro Antecedente pancreatob"/>
            <p:cNvSpPr/>
            <p:nvPr/>
          </p:nvSpPr>
          <p:spPr>
            <a:xfrm>
              <a:off x="365760" y="2075688"/>
              <a:ext cx="420624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Antecedente pancreatobiliar + descenso rápido</a:t>
              </a:r>
              <a:endParaRPr lang="es-AR" sz="1350" dirty="0">
                <a:latin typeface="Fira Sans Condensed"/>
              </a:endParaRPr>
            </a:p>
          </p:txBody>
        </p:sp>
        <p:sp>
          <p:nvSpPr>
            <p:cNvPr id="11" name="Forma 10"/>
            <p:cNvSpPr/>
            <p:nvPr/>
          </p:nvSpPr>
          <p:spPr>
            <a:xfrm>
              <a:off x="4709160" y="2075688"/>
              <a:ext cx="71323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Revisar riesgos </a:t>
              </a:r>
              <a:r>
                <a:rPr lang="es-AR" sz="1450" b="1" dirty="0">
                  <a:solidFill>
                    <a:srgbClr val="1E1E1E"/>
                  </a:solidFill>
                  <a:latin typeface="Fira Sans Condensed"/>
                  <a:ea typeface="Fira Sans Condensed"/>
                  <a:cs typeface="Fira Sans Condensed"/>
                  <a:sym typeface="Fira Sans Condensed"/>
                </a:rPr>
                <a:t>biliares</a:t>
              </a:r>
              <a:r>
                <a:rPr lang="es-AR" sz="1450" dirty="0">
                  <a:solidFill>
                    <a:srgbClr val="1E1E1E"/>
                  </a:solidFill>
                  <a:latin typeface="Fira Sans Condensed"/>
                  <a:ea typeface="Fira Sans Condensed"/>
                  <a:cs typeface="Fira Sans Condensed"/>
                  <a:sym typeface="Fira Sans Condensed"/>
                </a:rPr>
                <a:t>, síntomas abdominales y fichas técnicas antes de </a:t>
              </a:r>
              <a:r>
                <a:rPr lang="es-AR" sz="1450" b="1" dirty="0">
                  <a:solidFill>
                    <a:srgbClr val="1E1E1E"/>
                  </a:solidFill>
                  <a:latin typeface="Fira Sans Condensed"/>
                  <a:ea typeface="Fira Sans Condensed"/>
                  <a:cs typeface="Fira Sans Condensed"/>
                  <a:sym typeface="Fira Sans Condensed"/>
                </a:rPr>
                <a:t>incretinas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grpSp>
      <p:grpSp>
        <p:nvGrpSpPr>
          <p:cNvPr id="12" name="Seg 2"/>
          <p:cNvGrpSpPr/>
          <p:nvPr/>
        </p:nvGrpSpPr>
        <p:grpSpPr>
          <a:xfrm>
            <a:off x="365760" y="3099816"/>
            <a:ext cx="11475720" cy="868680"/>
            <a:chOff x="365760" y="3099816"/>
            <a:chExt cx="11475720" cy="868680"/>
          </a:xfrm>
        </p:grpSpPr>
        <p:sp>
          <p:nvSpPr>
            <p:cNvPr id="13" name="Recuadro Depresión, conducta, j"/>
            <p:cNvSpPr/>
            <p:nvPr/>
          </p:nvSpPr>
          <p:spPr>
            <a:xfrm>
              <a:off x="365760" y="3099816"/>
              <a:ext cx="4206240" cy="86868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Depresión, conducta, juego patológico</a:t>
              </a:r>
              <a:endParaRPr lang="es-AR" sz="1350" dirty="0">
                <a:latin typeface="Fira Sans Condensed"/>
              </a:endParaRPr>
            </a:p>
          </p:txBody>
        </p:sp>
        <p:sp>
          <p:nvSpPr>
            <p:cNvPr id="14" name="Forma 13"/>
            <p:cNvSpPr/>
            <p:nvPr/>
          </p:nvSpPr>
          <p:spPr>
            <a:xfrm>
              <a:off x="4709160" y="3099816"/>
              <a:ext cx="71323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Valorar </a:t>
              </a:r>
              <a:r>
                <a:rPr lang="es-AR" sz="1450" b="1" dirty="0">
                  <a:solidFill>
                    <a:srgbClr val="1E1E1E"/>
                  </a:solidFill>
                  <a:latin typeface="Fira Sans Condensed"/>
                  <a:ea typeface="Fira Sans Condensed"/>
                  <a:cs typeface="Fira Sans Condensed"/>
                  <a:sym typeface="Fira Sans Condensed"/>
                </a:rPr>
                <a:t>riesgos psiquiátricos</a:t>
              </a:r>
              <a:r>
                <a:rPr lang="es-AR" sz="1450" dirty="0">
                  <a:solidFill>
                    <a:srgbClr val="1E1E1E"/>
                  </a:solidFill>
                  <a:latin typeface="Fira Sans Condensed"/>
                  <a:ea typeface="Fira Sans Condensed"/>
                  <a:cs typeface="Fira Sans Condensed"/>
                  <a:sym typeface="Fira Sans Condensed"/>
                </a:rPr>
                <a:t> e interacciones.</a:t>
              </a:r>
              <a:endParaRPr lang="es-AR" sz="1450" dirty="0">
                <a:latin typeface="Fira Sans Condensed"/>
              </a:endParaRPr>
            </a:p>
          </p:txBody>
        </p:sp>
      </p:grpSp>
      <p:grpSp>
        <p:nvGrpSpPr>
          <p:cNvPr id="15" name="Seg 3"/>
          <p:cNvGrpSpPr/>
          <p:nvPr/>
        </p:nvGrpSpPr>
        <p:grpSpPr>
          <a:xfrm>
            <a:off x="365760" y="4123944"/>
            <a:ext cx="11475720" cy="868680"/>
            <a:chOff x="365760" y="4123944"/>
            <a:chExt cx="11475720" cy="868680"/>
          </a:xfrm>
        </p:grpSpPr>
        <p:sp>
          <p:nvSpPr>
            <p:cNvPr id="16" name="Recuadro DM2 con sulfonilureas"/>
            <p:cNvSpPr/>
            <p:nvPr/>
          </p:nvSpPr>
          <p:spPr>
            <a:xfrm>
              <a:off x="365760" y="4123944"/>
              <a:ext cx="420624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DM2 con sulfonilureas</a:t>
              </a:r>
              <a:endParaRPr lang="es-AR" sz="1350" dirty="0">
                <a:latin typeface="Fira Sans Condensed"/>
              </a:endParaRPr>
            </a:p>
          </p:txBody>
        </p:sp>
        <p:sp>
          <p:nvSpPr>
            <p:cNvPr id="17" name="Forma 16"/>
            <p:cNvSpPr/>
            <p:nvPr/>
          </p:nvSpPr>
          <p:spPr>
            <a:xfrm>
              <a:off x="4709160" y="4123944"/>
              <a:ext cx="71323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Al sumar fármacos que reducen glucemia/ingesta, </a:t>
              </a:r>
              <a:r>
                <a:rPr lang="es-AR" sz="1450" b="1" dirty="0">
                  <a:solidFill>
                    <a:srgbClr val="1E1E1E"/>
                  </a:solidFill>
                  <a:latin typeface="Fira Sans Condensed"/>
                  <a:ea typeface="Fira Sans Condensed"/>
                  <a:cs typeface="Fira Sans Condensed"/>
                  <a:sym typeface="Fira Sans Condensed"/>
                </a:rPr>
                <a:t>revisar dosis</a:t>
              </a:r>
              <a:r>
                <a:rPr lang="es-AR" sz="1450" dirty="0">
                  <a:solidFill>
                    <a:srgbClr val="1E1E1E"/>
                  </a:solidFill>
                  <a:latin typeface="Fira Sans Condensed"/>
                  <a:ea typeface="Fira Sans Condensed"/>
                  <a:cs typeface="Fira Sans Condensed"/>
                  <a:sym typeface="Fira Sans Condensed"/>
                </a:rPr>
                <a:t> por hipoglucemia.</a:t>
              </a:r>
              <a:endParaRPr lang="es-AR" sz="1450" dirty="0">
                <a:latin typeface="Fira Sans Condensed"/>
              </a:endParaRPr>
            </a:p>
          </p:txBody>
        </p:sp>
      </p:grpSp>
      <p:grpSp>
        <p:nvGrpSpPr>
          <p:cNvPr id="18" name="Seg 4"/>
          <p:cNvGrpSpPr/>
          <p:nvPr/>
        </p:nvGrpSpPr>
        <p:grpSpPr>
          <a:xfrm>
            <a:off x="365760" y="5148072"/>
            <a:ext cx="11475720" cy="868680"/>
            <a:chOff x="365760" y="5148072"/>
            <a:chExt cx="11475720" cy="868680"/>
          </a:xfrm>
        </p:grpSpPr>
        <p:sp>
          <p:nvSpPr>
            <p:cNvPr id="19" name="Recuadro Tabaquismo"/>
            <p:cNvSpPr/>
            <p:nvPr/>
          </p:nvSpPr>
          <p:spPr>
            <a:xfrm>
              <a:off x="365760" y="5148072"/>
              <a:ext cx="4206240" cy="8686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Tabaquismo</a:t>
              </a:r>
              <a:endParaRPr lang="es-AR" sz="1350" dirty="0">
                <a:latin typeface="Fira Sans Condensed"/>
              </a:endParaRPr>
            </a:p>
          </p:txBody>
        </p:sp>
        <p:sp>
          <p:nvSpPr>
            <p:cNvPr id="20" name="Forma 19"/>
            <p:cNvSpPr/>
            <p:nvPr/>
          </p:nvSpPr>
          <p:spPr>
            <a:xfrm>
              <a:off x="4709160" y="5148072"/>
              <a:ext cx="713232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Dejar de fumar</a:t>
              </a:r>
              <a:r>
                <a:rPr lang="es-AR" sz="1450" dirty="0">
                  <a:solidFill>
                    <a:srgbClr val="1E1E1E"/>
                  </a:solidFill>
                  <a:latin typeface="Fira Sans Condensed"/>
                  <a:ea typeface="Fira Sans Condensed"/>
                  <a:cs typeface="Fira Sans Condensed"/>
                  <a:sym typeface="Fira Sans Condensed"/>
                </a:rPr>
                <a:t>: beneficio CV muy importante independiente del peso.</a:t>
              </a:r>
              <a:endParaRPr lang="es-AR" sz="1450" dirty="0">
                <a:latin typeface="Fira Sans Condensed"/>
              </a:endParaRPr>
            </a:p>
          </p:txBody>
        </p:sp>
      </p:gr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SEGURIDAD FARMACOLÓGICA CONTEXTUALIZADA AL CASO 20</a:t>
            </a:r>
            <a:endParaRPr lang="es-AR" sz="2600" dirty="0">
              <a:latin typeface="Permanent Marker"/>
            </a:endParaRPr>
          </a:p>
        </p:txBody>
      </p:sp>
      <p:sp>
        <p:nvSpPr>
          <p:cNvPr id="5"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Estómago cirugía" descr="Ilustración biomédica (Servier Medical Art, CC BY)"/>
          <p:cNvPicPr>
            <a:picLocks noChangeAspect="1"/>
          </p:cNvPicPr>
          <p:nvPr/>
        </p:nvPicPr>
        <p:blipFill>
          <a:blip r:embed="rId2"/>
          <a:stretch>
            <a:fillRect/>
          </a:stretch>
        </p:blipFill>
        <p:spPr>
          <a:xfrm>
            <a:off x="365760" y="1097280"/>
            <a:ext cx="2743200" cy="2853254"/>
          </a:xfrm>
          <a:prstGeom prst="rect">
            <a:avLst/>
          </a:prstGeom>
        </p:spPr>
      </p:pic>
      <p:grpSp>
        <p:nvGrpSpPr>
          <p:cNvPr id="7" name="Cuadro Indicaciones"/>
          <p:cNvGrpSpPr/>
          <p:nvPr/>
        </p:nvGrpSpPr>
        <p:grpSpPr>
          <a:xfrm>
            <a:off x="3383280" y="1051560"/>
            <a:ext cx="8458200" cy="1737360"/>
            <a:chOff x="3383280" y="1051560"/>
            <a:chExt cx="8458200" cy="1737360"/>
          </a:xfrm>
        </p:grpSpPr>
        <p:sp>
          <p:nvSpPr>
            <p:cNvPr id="8" name="Forma 7"/>
            <p:cNvSpPr/>
            <p:nvPr/>
          </p:nvSpPr>
          <p:spPr>
            <a:xfrm>
              <a:off x="3383280" y="1252728"/>
              <a:ext cx="8458200" cy="15361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ASMBS/IFSO 2022: </a:t>
              </a:r>
              <a:r>
                <a:rPr lang="es-AR" sz="1500" b="1" dirty="0">
                  <a:solidFill>
                    <a:srgbClr val="1E1E1E"/>
                  </a:solidFill>
                  <a:latin typeface="Fira Sans Condensed"/>
                  <a:ea typeface="Fira Sans Condensed"/>
                  <a:cs typeface="Fira Sans Condensed"/>
                  <a:sym typeface="Fira Sans Condensed"/>
                </a:rPr>
                <a:t>recomendada desde IMC ≥ 35 kg/m²</a:t>
              </a:r>
              <a:r>
                <a:rPr lang="es-AR" sz="1500" dirty="0">
                  <a:solidFill>
                    <a:srgbClr val="1E1E1E"/>
                  </a:solidFill>
                  <a:latin typeface="Fira Sans Condensed"/>
                  <a:ea typeface="Fira Sans Condensed"/>
                  <a:cs typeface="Fira Sans Condensed"/>
                  <a:sym typeface="Fira Sans Condensed"/>
                </a:rPr>
                <a:t> independientemente de comorbilidades en pacientes apropiadamente evaluados; </a:t>
              </a:r>
              <a:r>
                <a:rPr lang="es-AR" sz="1500" b="1" dirty="0">
                  <a:solidFill>
                    <a:srgbClr val="1E1E1E"/>
                  </a:solidFill>
                  <a:latin typeface="Fira Sans Condensed"/>
                  <a:ea typeface="Fira Sans Condensed"/>
                  <a:cs typeface="Fira Sans Condensed"/>
                  <a:sym typeface="Fira Sans Condensed"/>
                </a:rPr>
                <a:t>considerar</a:t>
              </a:r>
              <a:r>
                <a:rPr lang="es-AR" sz="1500" dirty="0">
                  <a:solidFill>
                    <a:srgbClr val="1E1E1E"/>
                  </a:solidFill>
                  <a:latin typeface="Fira Sans Condensed"/>
                  <a:ea typeface="Fira Sans Condensed"/>
                  <a:cs typeface="Fira Sans Condensed"/>
                  <a:sym typeface="Fira Sans Condensed"/>
                </a:rPr>
                <a:t> con enfermedad metabólica e IMC </a:t>
              </a:r>
              <a:r>
                <a:rPr lang="es-AR" sz="1500" b="1" dirty="0">
                  <a:solidFill>
                    <a:srgbClr val="1E1E1E"/>
                  </a:solidFill>
                  <a:latin typeface="Fira Sans Condensed"/>
                  <a:ea typeface="Fira Sans Condensed"/>
                  <a:cs typeface="Fira Sans Condensed"/>
                  <a:sym typeface="Fira Sans Condensed"/>
                </a:rPr>
                <a:t>30–34,9</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9" name="Forma 8"/>
            <p:cNvSpPr/>
            <p:nvPr/>
          </p:nvSpPr>
          <p:spPr>
            <a:xfrm>
              <a:off x="3520440" y="1051560"/>
              <a:ext cx="1467998"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INDICACIONES</a:t>
              </a:r>
              <a:endParaRPr lang="es-AR" sz="1400" dirty="0">
                <a:latin typeface="Fira Sans Condensed"/>
              </a:endParaRPr>
            </a:p>
          </p:txBody>
        </p:sp>
      </p:grpSp>
      <p:sp>
        <p:nvSpPr>
          <p:cNvPr id="10" name="Recuadro CASO 20: IMC 58,8 → CR"/>
          <p:cNvSpPr/>
          <p:nvPr/>
        </p:nvSpPr>
        <p:spPr>
          <a:xfrm>
            <a:off x="3383280" y="3017520"/>
            <a:ext cx="8458200" cy="6858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CASO 20: IMC 58,8 → CRITERIO ANTROPOMÉTRICO FUERTE PARA EVALUACIÓN</a:t>
            </a:r>
            <a:endParaRPr lang="es-AR" sz="1400" dirty="0">
              <a:latin typeface="Fira Sans Condensed"/>
            </a:endParaRPr>
          </a:p>
        </p:txBody>
      </p:sp>
      <p:sp>
        <p:nvSpPr>
          <p:cNvPr id="11" name="Forma 10"/>
          <p:cNvSpPr/>
          <p:nvPr/>
        </p:nvSpPr>
        <p:spPr>
          <a:xfrm>
            <a:off x="3383280" y="3931920"/>
            <a:ext cx="8458200" cy="1234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Evaluación por </a:t>
            </a:r>
            <a:r>
              <a:rPr lang="es-AR" sz="1400" b="1" dirty="0">
                <a:solidFill>
                  <a:srgbClr val="1E1E1E"/>
                </a:solidFill>
                <a:latin typeface="Fira Sans Condensed"/>
                <a:ea typeface="Fira Sans Condensed"/>
                <a:cs typeface="Fira Sans Condensed"/>
                <a:sym typeface="Fira Sans Condensed"/>
              </a:rPr>
              <a:t>equipo interdisciplinario</a:t>
            </a:r>
            <a:r>
              <a:rPr lang="es-AR" sz="1400" dirty="0">
                <a:solidFill>
                  <a:srgbClr val="1E1E1E"/>
                </a:solidFill>
                <a:latin typeface="Fira Sans Condensed"/>
                <a:ea typeface="Fira Sans Condensed"/>
                <a:cs typeface="Fira Sans Condensed"/>
                <a:sym typeface="Fira Sans Condensed"/>
              </a:rPr>
              <a:t>: no significa cirugía inmediata ni elimina salud mental, riesgo quirúrgico, seguimiento, requisitos regulatorios y cobertura.</a:t>
            </a:r>
            <a:endParaRPr lang="es-AR" sz="1400" dirty="0">
              <a:latin typeface="Fira Sans Condensed"/>
            </a:endParaRPr>
          </a:p>
        </p:txBody>
      </p:sp>
      <p:sp>
        <p:nvSpPr>
          <p:cNvPr id="12" name="Forma 11"/>
          <p:cNvSpPr/>
          <p:nvPr/>
        </p:nvSpPr>
        <p:spPr>
          <a:xfrm>
            <a:off x="365760" y="3931920"/>
            <a:ext cx="2834640" cy="23317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Manga gástrica</a:t>
            </a:r>
            <a:r>
              <a:rPr lang="es-AR" sz="1350" dirty="0">
                <a:solidFill>
                  <a:srgbClr val="1E1E1E"/>
                </a:solidFill>
                <a:latin typeface="Fira Sans Condensed"/>
                <a:ea typeface="Fira Sans Condensed"/>
                <a:cs typeface="Fira Sans Condensed"/>
                <a:sym typeface="Fira Sans Condensed"/>
              </a:rPr>
              <a:t> y </a:t>
            </a:r>
            <a:r>
              <a:rPr lang="es-AR" sz="1350" b="1" dirty="0">
                <a:solidFill>
                  <a:srgbClr val="1E1E1E"/>
                </a:solidFill>
                <a:latin typeface="Fira Sans Condensed"/>
                <a:ea typeface="Fira Sans Condensed"/>
                <a:cs typeface="Fira Sans Condensed"/>
                <a:sym typeface="Fira Sans Condensed"/>
              </a:rPr>
              <a:t>bypass gástrico</a:t>
            </a:r>
            <a:r>
              <a:rPr lang="es-AR" sz="1350" dirty="0">
                <a:solidFill>
                  <a:srgbClr val="1E1E1E"/>
                </a:solidFill>
                <a:latin typeface="Fira Sans Condensed"/>
                <a:ea typeface="Fira Sans Condensed"/>
                <a:cs typeface="Fira Sans Condensed"/>
                <a:sym typeface="Fira Sans Condensed"/>
              </a:rPr>
              <a:t>: modifican capacidad y </a:t>
            </a:r>
            <a:r>
              <a:rPr lang="es-AR" sz="1350" b="1" dirty="0">
                <a:solidFill>
                  <a:srgbClr val="1E1E1E"/>
                </a:solidFill>
                <a:latin typeface="Fira Sans Condensed"/>
                <a:ea typeface="Fira Sans Condensed"/>
                <a:cs typeface="Fira Sans Condensed"/>
                <a:sym typeface="Fira Sans Condensed"/>
              </a:rPr>
              <a:t>hormonas intestinales</a:t>
            </a:r>
            <a:r>
              <a:rPr lang="es-AR" sz="1350" dirty="0">
                <a:solidFill>
                  <a:srgbClr val="1E1E1E"/>
                </a:solidFill>
                <a:latin typeface="Fira Sans Condensed"/>
                <a:ea typeface="Fira Sans Condensed"/>
                <a:cs typeface="Fira Sans Condensed"/>
                <a:sym typeface="Fira Sans Condensed"/>
              </a:rPr>
              <a:t>, con efectos glucémicos relevantes.</a:t>
            </a:r>
            <a:endParaRPr lang="es-AR" sz="1350" dirty="0">
              <a:latin typeface="Fira Sans Condensed"/>
            </a:endParaRPr>
          </a:p>
        </p:txBody>
      </p:sp>
      <p:sp>
        <p:nvSpPr>
          <p:cNvPr id="13" name="Perla clínica"/>
          <p:cNvSpPr/>
          <p:nvPr/>
        </p:nvSpPr>
        <p:spPr>
          <a:xfrm>
            <a:off x="3383280" y="5349240"/>
            <a:ext cx="8458200" cy="9144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Riesgos: </a:t>
            </a:r>
            <a:r>
              <a:rPr lang="es-AR" sz="1500" b="1" dirty="0">
                <a:solidFill>
                  <a:srgbClr val="FFFFFF"/>
                </a:solidFill>
                <a:latin typeface="Fira Sans Condensed"/>
                <a:ea typeface="Fira Sans Condensed"/>
                <a:cs typeface="Fira Sans Condensed"/>
                <a:sym typeface="Fira Sans Condensed"/>
              </a:rPr>
              <a:t>déficits nutricionales</a:t>
            </a:r>
            <a:r>
              <a:rPr lang="es-AR" sz="1500" dirty="0">
                <a:solidFill>
                  <a:srgbClr val="FFFFFF"/>
                </a:solidFill>
                <a:latin typeface="Fira Sans Condensed"/>
                <a:ea typeface="Fira Sans Condensed"/>
                <a:cs typeface="Fira Sans Condensed"/>
                <a:sym typeface="Fira Sans Condensed"/>
              </a:rPr>
              <a:t>, complicaciones quirúrgicas y </a:t>
            </a:r>
            <a:r>
              <a:rPr lang="es-AR" sz="1500" b="1" dirty="0">
                <a:solidFill>
                  <a:srgbClr val="FFFFFF"/>
                </a:solidFill>
                <a:latin typeface="Fira Sans Condensed"/>
                <a:ea typeface="Fira Sans Condensed"/>
                <a:cs typeface="Fira Sans Condensed"/>
                <a:sym typeface="Fira Sans Condensed"/>
              </a:rPr>
              <a:t>seguimiento de por vida</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CIRUGÍA METABÓLICA Y BARIÁTRICA</a:t>
            </a:r>
            <a:endParaRPr lang="es-AR" sz="3400" dirty="0">
              <a:latin typeface="Permanent Marker"/>
            </a:endParaRPr>
          </a:p>
        </p:txBody>
      </p:sp>
      <p:sp>
        <p:nvSpPr>
          <p:cNvPr id="5"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1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31" fill="hold">
                      <p:stCondLst>
                        <p:cond delay="indefinite"/>
                      </p:stCondLst>
                      <p:childTnLst>
                        <p:par>
                          <p:cTn id="30"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animEffect transition="in" filter="fade">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Sibutramina"/>
          <p:cNvGrpSpPr/>
          <p:nvPr/>
        </p:nvGrpSpPr>
        <p:grpSpPr>
          <a:xfrm>
            <a:off x="365760" y="1051560"/>
            <a:ext cx="5577840" cy="3063240"/>
            <a:chOff x="365760" y="1051560"/>
            <a:chExt cx="5577840" cy="3063240"/>
          </a:xfrm>
        </p:grpSpPr>
        <p:sp>
          <p:nvSpPr>
            <p:cNvPr id="8" name="Recuadro SIBUTRAMINA · DISPOSIC"/>
            <p:cNvSpPr/>
            <p:nvPr/>
          </p:nvSpPr>
          <p:spPr>
            <a:xfrm>
              <a:off x="365760" y="1051560"/>
              <a:ext cx="557784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SIBUTRAMINA · DISPOSICIÓN 6533/2010</a:t>
              </a:r>
              <a:endParaRPr lang="es-AR" sz="1500" dirty="0">
                <a:latin typeface="Fira Sans Condensed"/>
              </a:endParaRPr>
            </a:p>
          </p:txBody>
        </p:sp>
        <p:sp>
          <p:nvSpPr>
            <p:cNvPr id="9" name="Forma 8"/>
            <p:cNvSpPr/>
            <p:nvPr/>
          </p:nvSpPr>
          <p:spPr>
            <a:xfrm>
              <a:off x="365760" y="1737360"/>
              <a:ext cx="557784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26/10/2010 (publicada el 02/11/2010): </a:t>
              </a:r>
              <a:r>
                <a:rPr lang="es-AR" sz="1400" b="1" dirty="0">
                  <a:solidFill>
                    <a:srgbClr val="1E1E1E"/>
                  </a:solidFill>
                  <a:latin typeface="Fira Sans Condensed"/>
                  <a:ea typeface="Fira Sans Condensed"/>
                  <a:cs typeface="Fira Sans Condensed"/>
                  <a:sym typeface="Fira Sans Condensed"/>
                </a:rPr>
                <a:t>suspendió</a:t>
              </a:r>
              <a:r>
                <a:rPr lang="es-AR" sz="1400" dirty="0">
                  <a:solidFill>
                    <a:srgbClr val="1E1E1E"/>
                  </a:solidFill>
                  <a:latin typeface="Fira Sans Condensed"/>
                  <a:ea typeface="Fira Sans Condensed"/>
                  <a:cs typeface="Fira Sans Condensed"/>
                  <a:sym typeface="Fira Sans Condensed"/>
                </a:rPr>
                <a:t> la importación del ingrediente activo y la elaboración, importación, comercialización, distribución y uso de especialidades que la contuvieran, solas o asociadas, por </a:t>
              </a:r>
              <a:r>
                <a:rPr lang="es-AR" sz="1400" b="1" dirty="0">
                  <a:solidFill>
                    <a:srgbClr val="1E1E1E"/>
                  </a:solidFill>
                  <a:latin typeface="Fira Sans Condensed"/>
                  <a:ea typeface="Fira Sans Condensed"/>
                  <a:cs typeface="Fira Sans Condensed"/>
                  <a:sym typeface="Fira Sans Condensed"/>
                </a:rPr>
                <a:t>seguridad cardiovascular</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grpSp>
        <p:nvGrpSpPr>
          <p:cNvPr id="10" name="Rimonabant"/>
          <p:cNvGrpSpPr/>
          <p:nvPr/>
        </p:nvGrpSpPr>
        <p:grpSpPr>
          <a:xfrm>
            <a:off x="6263640" y="1051560"/>
            <a:ext cx="5577840" cy="3063240"/>
            <a:chOff x="6263640" y="1051560"/>
            <a:chExt cx="5577840" cy="3063240"/>
          </a:xfrm>
        </p:grpSpPr>
        <p:sp>
          <p:nvSpPr>
            <p:cNvPr id="11" name="Recuadro RIMONABANT · DISPOSICI"/>
            <p:cNvSpPr/>
            <p:nvPr/>
          </p:nvSpPr>
          <p:spPr>
            <a:xfrm>
              <a:off x="6263640" y="1051560"/>
              <a:ext cx="5577840" cy="594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RIMONABANT · DISPOSICIÓN 6238/2008</a:t>
              </a:r>
              <a:endParaRPr lang="es-AR" sz="1500" dirty="0">
                <a:latin typeface="Fira Sans Condensed"/>
              </a:endParaRPr>
            </a:p>
          </p:txBody>
        </p:sp>
        <p:sp>
          <p:nvSpPr>
            <p:cNvPr id="12" name="Forma 11"/>
            <p:cNvSpPr/>
            <p:nvPr/>
          </p:nvSpPr>
          <p:spPr>
            <a:xfrm>
              <a:off x="6263640" y="1737360"/>
              <a:ext cx="557784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t"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24/10/2008: </a:t>
              </a:r>
              <a:r>
                <a:rPr lang="es-AR" sz="1400" b="1" dirty="0">
                  <a:solidFill>
                    <a:srgbClr val="1E1E1E"/>
                  </a:solidFill>
                  <a:latin typeface="Fira Sans Condensed"/>
                  <a:ea typeface="Fira Sans Condensed"/>
                  <a:cs typeface="Fira Sans Condensed"/>
                  <a:sym typeface="Fira Sans Condensed"/>
                </a:rPr>
                <a:t>suspendió</a:t>
              </a:r>
              <a:r>
                <a:rPr lang="es-AR" sz="1400" dirty="0">
                  <a:solidFill>
                    <a:srgbClr val="1E1E1E"/>
                  </a:solidFill>
                  <a:latin typeface="Fira Sans Condensed"/>
                  <a:ea typeface="Fira Sans Condensed"/>
                  <a:cs typeface="Fira Sans Condensed"/>
                  <a:sym typeface="Fira Sans Condensed"/>
                </a:rPr>
                <a:t> comercialización y expendio y ordenó el </a:t>
              </a:r>
              <a:r>
                <a:rPr lang="es-AR" sz="1400" b="1" dirty="0">
                  <a:solidFill>
                    <a:srgbClr val="1E1E1E"/>
                  </a:solidFill>
                  <a:latin typeface="Fira Sans Condensed"/>
                  <a:ea typeface="Fira Sans Condensed"/>
                  <a:cs typeface="Fira Sans Condensed"/>
                  <a:sym typeface="Fira Sans Condensed"/>
                </a:rPr>
                <a:t>retiro del mercado</a:t>
              </a:r>
              <a:r>
                <a:rPr lang="es-AR" sz="1400" dirty="0">
                  <a:solidFill>
                    <a:srgbClr val="1E1E1E"/>
                  </a:solidFill>
                  <a:latin typeface="Fira Sans Condensed"/>
                  <a:ea typeface="Fira Sans Condensed"/>
                  <a:cs typeface="Fira Sans Condensed"/>
                  <a:sym typeface="Fira Sans Condensed"/>
                </a:rPr>
                <a:t> por relación beneficio-riesgo desfavorable y efectos </a:t>
              </a:r>
              <a:r>
                <a:rPr lang="es-AR" sz="1400" b="1" dirty="0">
                  <a:solidFill>
                    <a:srgbClr val="1E1E1E"/>
                  </a:solidFill>
                  <a:latin typeface="Fira Sans Condensed"/>
                  <a:ea typeface="Fira Sans Condensed"/>
                  <a:cs typeface="Fira Sans Condensed"/>
                  <a:sym typeface="Fira Sans Condensed"/>
                </a:rPr>
                <a:t>psiquiátricos</a:t>
              </a:r>
              <a:r>
                <a:rPr lang="es-AR" sz="1400" dirty="0">
                  <a:solidFill>
                    <a:srgbClr val="1E1E1E"/>
                  </a:solidFill>
                  <a:latin typeface="Fira Sans Condensed"/>
                  <a:ea typeface="Fira Sans Condensed"/>
                  <a:cs typeface="Fira Sans Condensed"/>
                  <a:sym typeface="Fira Sans Condensed"/>
                </a:rPr>
                <a:t>, incluida ideación/suicidalidad.</a:t>
              </a:r>
              <a:endParaRPr lang="es-AR" sz="1400" dirty="0">
                <a:latin typeface="Fira Sans Condensed"/>
              </a:endParaRPr>
            </a:p>
          </p:txBody>
        </p:sp>
      </p:grpSp>
      <p:grpSp>
        <p:nvGrpSpPr>
          <p:cNvPr id="13" name="Wegovy"/>
          <p:cNvGrpSpPr/>
          <p:nvPr/>
        </p:nvGrpSpPr>
        <p:grpSpPr>
          <a:xfrm>
            <a:off x="365760" y="4343400"/>
            <a:ext cx="5577840" cy="1920240"/>
            <a:chOff x="365760" y="4343400"/>
            <a:chExt cx="5577840" cy="1920240"/>
          </a:xfrm>
        </p:grpSpPr>
        <p:sp>
          <p:nvSpPr>
            <p:cNvPr id="14" name="Recuadro SEMAGLUTIDA PARA PESO "/>
            <p:cNvSpPr/>
            <p:nvPr/>
          </p:nvSpPr>
          <p:spPr>
            <a:xfrm>
              <a:off x="365760" y="4343400"/>
              <a:ext cx="5577840" cy="54864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1E1E1E"/>
                  </a:solidFill>
                  <a:latin typeface="Fira Sans Condensed"/>
                  <a:ea typeface="Fira Sans Condensed"/>
                  <a:cs typeface="Fira Sans Condensed"/>
                  <a:sym typeface="Fira Sans Condensed"/>
                </a:rPr>
                <a:t>SEMAGLUTIDA PARA PESO (WEGOVY)</a:t>
              </a:r>
              <a:endParaRPr lang="es-AR" sz="1400" dirty="0">
                <a:latin typeface="Fira Sans Condensed"/>
              </a:endParaRPr>
            </a:p>
          </p:txBody>
        </p:sp>
        <p:sp>
          <p:nvSpPr>
            <p:cNvPr id="15" name="Forma 14"/>
            <p:cNvSpPr/>
            <p:nvPr/>
          </p:nvSpPr>
          <p:spPr>
            <a:xfrm>
              <a:off x="365760" y="4937760"/>
              <a:ext cx="5577840" cy="13258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Registro comunicado por ANMAT el </a:t>
              </a:r>
              <a:r>
                <a:rPr lang="es-AR" sz="1350" b="1" dirty="0">
                  <a:solidFill>
                    <a:srgbClr val="1E1E1E"/>
                  </a:solidFill>
                  <a:latin typeface="Fira Sans Condensed"/>
                  <a:ea typeface="Fira Sans Condensed"/>
                  <a:cs typeface="Fira Sans Condensed"/>
                  <a:sym typeface="Fira Sans Condensed"/>
                </a:rPr>
                <a:t>07/08/2023</a:t>
              </a:r>
              <a:r>
                <a:rPr lang="es-AR" sz="1350" dirty="0">
                  <a:solidFill>
                    <a:srgbClr val="1E1E1E"/>
                  </a:solidFill>
                  <a:latin typeface="Fira Sans Condensed"/>
                  <a:ea typeface="Fira Sans Condensed"/>
                  <a:cs typeface="Fira Sans Condensed"/>
                  <a:sym typeface="Fira Sans Condensed"/>
                </a:rPr>
                <a:t>; acceso sujeto a comercialización y cobertura.</a:t>
              </a:r>
              <a:endParaRPr lang="es-AR" sz="1350" dirty="0">
                <a:latin typeface="Fira Sans Condensed"/>
              </a:endParaRPr>
            </a:p>
          </p:txBody>
        </p:sp>
      </p:grpSp>
      <p:grpSp>
        <p:nvGrpSpPr>
          <p:cNvPr id="16" name="Cuadro Fecha de verificación"/>
          <p:cNvGrpSpPr/>
          <p:nvPr/>
        </p:nvGrpSpPr>
        <p:grpSpPr>
          <a:xfrm>
            <a:off x="6263640" y="4343400"/>
            <a:ext cx="5577840" cy="1920240"/>
            <a:chOff x="6263640" y="4343400"/>
            <a:chExt cx="5577840" cy="1920240"/>
          </a:xfrm>
        </p:grpSpPr>
        <p:sp>
          <p:nvSpPr>
            <p:cNvPr id="17" name="Forma 16"/>
            <p:cNvSpPr/>
            <p:nvPr/>
          </p:nvSpPr>
          <p:spPr>
            <a:xfrm>
              <a:off x="6263640" y="4544568"/>
              <a:ext cx="5577840" cy="17190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200" dirty="0">
                  <a:solidFill>
                    <a:srgbClr val="1E1E1E"/>
                  </a:solidFill>
                  <a:latin typeface="Fira Sans Condensed"/>
                  <a:ea typeface="Fira Sans Condensed"/>
                  <a:cs typeface="Fira Sans Condensed"/>
                  <a:sym typeface="Fira Sans Condensed"/>
                </a:rPr>
                <a:t>Situación regulatoria según el material de cátedra (actualizado a octubre de 2026, fuentes [ANMAT] y [LEY]). El 27/10/2026 no fue posible consultar argentina.gob.ar desde el entorno de producción; antes de exponer, confirmar en ANMAT y el Boletín Oficial.</a:t>
              </a:r>
              <a:endParaRPr lang="es-AR" sz="1200" dirty="0">
                <a:latin typeface="Fira Sans Condensed"/>
              </a:endParaRPr>
            </a:p>
          </p:txBody>
        </p:sp>
        <p:sp>
          <p:nvSpPr>
            <p:cNvPr id="18" name="Forma 17"/>
            <p:cNvSpPr/>
            <p:nvPr/>
          </p:nvSpPr>
          <p:spPr>
            <a:xfrm>
              <a:off x="6400800" y="4343400"/>
              <a:ext cx="2206178" cy="384048"/>
            </a:xfrm>
            <a:prstGeom prst="rect">
              <a:avLst/>
            </a:prstGeom>
            <a:solidFill>
              <a:srgbClr val="FFFFF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FECHA DE VERIFICACIÓN</a:t>
              </a:r>
              <a:endParaRPr lang="es-AR" sz="1400" dirty="0">
                <a:latin typeface="Fira Sans Condensed"/>
              </a:endParaRPr>
            </a:p>
          </p:txBody>
        </p:sp>
      </p:gr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ANMAT: SIBUTRAMINA Y RIMONABANT (PREGUNTA 2A)</a:t>
            </a:r>
            <a:endParaRPr lang="es-AR" sz="3000" dirty="0">
              <a:latin typeface="Permanent Marker"/>
            </a:endParaRPr>
          </a:p>
        </p:txBody>
      </p:sp>
      <p:sp>
        <p:nvSpPr>
          <p:cNvPr id="6"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1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199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sp>
        <p:nvSpPr>
          <p:cNvPr id="6" name="Recuadro SANCIONADA 13/08/2008 "/>
          <p:cNvSpPr/>
          <p:nvPr/>
        </p:nvSpPr>
        <p:spPr>
          <a:xfrm>
            <a:off x="365760" y="1051560"/>
            <a:ext cx="1147572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SANCIONADA 13/08/2008 · PUBLICADA 03/09/2008 · DECLARA DE INTERÉS NACIONAL LA PREVENCIÓN Y CONTROL</a:t>
            </a:r>
            <a:endParaRPr lang="es-AR" sz="1300" dirty="0">
              <a:latin typeface="Fira Sans Condensed"/>
            </a:endParaRPr>
          </a:p>
        </p:txBody>
      </p:sp>
      <p:grpSp>
        <p:nvGrpSpPr>
          <p:cNvPr id="7" name="Ley Art. 2"/>
          <p:cNvGrpSpPr/>
          <p:nvPr/>
        </p:nvGrpSpPr>
        <p:grpSpPr>
          <a:xfrm>
            <a:off x="365760" y="1691640"/>
            <a:ext cx="11475720" cy="457200"/>
            <a:chOff x="365760" y="1691640"/>
            <a:chExt cx="11475720" cy="457200"/>
          </a:xfrm>
        </p:grpSpPr>
        <p:sp>
          <p:nvSpPr>
            <p:cNvPr id="8" name="Recuadro Art. 2"/>
            <p:cNvSpPr/>
            <p:nvPr/>
          </p:nvSpPr>
          <p:spPr>
            <a:xfrm>
              <a:off x="365760" y="169164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 2</a:t>
              </a:r>
              <a:endParaRPr lang="es-AR" sz="1300" dirty="0">
                <a:latin typeface="Fira Sans Condensed"/>
              </a:endParaRPr>
            </a:p>
          </p:txBody>
        </p:sp>
        <p:sp>
          <p:nvSpPr>
            <p:cNvPr id="9" name="Forma 8"/>
            <p:cNvSpPr txBox="1"/>
            <p:nvPr/>
          </p:nvSpPr>
          <p:spPr>
            <a:xfrm>
              <a:off x="1965960" y="169164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Incluye </a:t>
              </a:r>
              <a:r>
                <a:rPr lang="es-AR" sz="1350" b="1" dirty="0">
                  <a:solidFill>
                    <a:srgbClr val="1E1E1E"/>
                  </a:solidFill>
                  <a:latin typeface="Fira Sans Condensed"/>
                  <a:ea typeface="Fira Sans Condensed"/>
                  <a:cs typeface="Fira Sans Condensed"/>
                  <a:sym typeface="Fira Sans Condensed"/>
                </a:rPr>
                <a:t>obesidad, bulimia y anorexia nerviosa</a:t>
              </a:r>
              <a:r>
                <a:rPr lang="es-AR" sz="1350" dirty="0">
                  <a:solidFill>
                    <a:srgbClr val="1E1E1E"/>
                  </a:solidFill>
                  <a:latin typeface="Fira Sans Condensed"/>
                  <a:ea typeface="Fira Sans Condensed"/>
                  <a:cs typeface="Fira Sans Condensed"/>
                  <a:sym typeface="Fira Sans Condensed"/>
                </a:rPr>
                <a:t>, entre otros que determine la reglamentación.</a:t>
              </a:r>
              <a:endParaRPr lang="es-AR" sz="1350" dirty="0">
                <a:latin typeface="Fira Sans Condensed"/>
              </a:endParaRPr>
            </a:p>
          </p:txBody>
        </p:sp>
      </p:grpSp>
      <p:grpSp>
        <p:nvGrpSpPr>
          <p:cNvPr id="10" name="Ley Art. 3"/>
          <p:cNvGrpSpPr/>
          <p:nvPr/>
        </p:nvGrpSpPr>
        <p:grpSpPr>
          <a:xfrm>
            <a:off x="365760" y="2240280"/>
            <a:ext cx="11475720" cy="457200"/>
            <a:chOff x="365760" y="2240280"/>
            <a:chExt cx="11475720" cy="457200"/>
          </a:xfrm>
        </p:grpSpPr>
        <p:sp>
          <p:nvSpPr>
            <p:cNvPr id="11" name="Recuadro Art. 3"/>
            <p:cNvSpPr/>
            <p:nvPr/>
          </p:nvSpPr>
          <p:spPr>
            <a:xfrm>
              <a:off x="365760" y="224028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 3</a:t>
              </a:r>
              <a:endParaRPr lang="es-AR" sz="1300" dirty="0">
                <a:latin typeface="Fira Sans Condensed"/>
              </a:endParaRPr>
            </a:p>
          </p:txBody>
        </p:sp>
        <p:sp>
          <p:nvSpPr>
            <p:cNvPr id="12" name="Forma 11"/>
            <p:cNvSpPr txBox="1"/>
            <p:nvPr/>
          </p:nvSpPr>
          <p:spPr>
            <a:xfrm>
              <a:off x="1965960" y="224028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Programa nacional: campañas, educación, prevención, investigación, combate a </a:t>
              </a:r>
              <a:r>
                <a:rPr lang="es-AR" sz="1350" b="1" dirty="0">
                  <a:solidFill>
                    <a:srgbClr val="1E1E1E"/>
                  </a:solidFill>
                  <a:latin typeface="Fira Sans Condensed"/>
                  <a:ea typeface="Fira Sans Condensed"/>
                  <a:cs typeface="Fira Sans Condensed"/>
                  <a:sym typeface="Fira Sans Condensed"/>
                </a:rPr>
                <a:t>discriminación/estigmatización</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grpSp>
      <p:grpSp>
        <p:nvGrpSpPr>
          <p:cNvPr id="13" name="Ley Arts. 6–9"/>
          <p:cNvGrpSpPr/>
          <p:nvPr/>
        </p:nvGrpSpPr>
        <p:grpSpPr>
          <a:xfrm>
            <a:off x="365760" y="2788920"/>
            <a:ext cx="11475720" cy="457200"/>
            <a:chOff x="365760" y="2788920"/>
            <a:chExt cx="11475720" cy="457200"/>
          </a:xfrm>
        </p:grpSpPr>
        <p:sp>
          <p:nvSpPr>
            <p:cNvPr id="14" name="Recuadro Arts. 6–9"/>
            <p:cNvSpPr/>
            <p:nvPr/>
          </p:nvSpPr>
          <p:spPr>
            <a:xfrm>
              <a:off x="365760" y="278892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Arts. 6–9</a:t>
              </a:r>
              <a:endParaRPr lang="es-AR" sz="1300" dirty="0">
                <a:latin typeface="Fira Sans Condensed"/>
              </a:endParaRPr>
            </a:p>
          </p:txBody>
        </p:sp>
        <p:sp>
          <p:nvSpPr>
            <p:cNvPr id="15" name="Forma 14"/>
            <p:cNvSpPr txBox="1"/>
            <p:nvPr/>
          </p:nvSpPr>
          <p:spPr>
            <a:xfrm>
              <a:off x="1965960" y="278892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Educación alimentaria, actividad física, entornos escolares y capacitación.</a:t>
              </a:r>
              <a:endParaRPr lang="es-AR" sz="1350" dirty="0">
                <a:latin typeface="Fira Sans Condensed"/>
              </a:endParaRPr>
            </a:p>
          </p:txBody>
        </p:sp>
      </p:grpSp>
      <p:grpSp>
        <p:nvGrpSpPr>
          <p:cNvPr id="16" name="Ley Arts. 15–16"/>
          <p:cNvGrpSpPr/>
          <p:nvPr/>
        </p:nvGrpSpPr>
        <p:grpSpPr>
          <a:xfrm>
            <a:off x="365760" y="3337560"/>
            <a:ext cx="11475720" cy="457200"/>
            <a:chOff x="365760" y="3337560"/>
            <a:chExt cx="11475720" cy="457200"/>
          </a:xfrm>
        </p:grpSpPr>
        <p:sp>
          <p:nvSpPr>
            <p:cNvPr id="17" name="Recuadro Arts. 15–16"/>
            <p:cNvSpPr/>
            <p:nvPr/>
          </p:nvSpPr>
          <p:spPr>
            <a:xfrm>
              <a:off x="365760" y="333756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Arts. 15–16</a:t>
              </a:r>
              <a:endParaRPr lang="es-AR" sz="1300" dirty="0">
                <a:latin typeface="Fira Sans Condensed"/>
              </a:endParaRPr>
            </a:p>
          </p:txBody>
        </p:sp>
        <p:sp>
          <p:nvSpPr>
            <p:cNvPr id="18" name="Forma 17"/>
            <p:cNvSpPr txBox="1"/>
            <p:nvPr/>
          </p:nvSpPr>
          <p:spPr>
            <a:xfrm>
              <a:off x="1965960" y="333756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Cobertura de tratamiento integral en el </a:t>
              </a:r>
              <a:r>
                <a:rPr lang="es-AR" sz="1350" b="1" dirty="0">
                  <a:solidFill>
                    <a:srgbClr val="1E1E1E"/>
                  </a:solidFill>
                  <a:latin typeface="Fira Sans Condensed"/>
                  <a:ea typeface="Fira Sans Condensed"/>
                  <a:cs typeface="Fira Sans Condensed"/>
                  <a:sym typeface="Fira Sans Condensed"/>
                </a:rPr>
                <a:t>PMO</a:t>
              </a:r>
              <a:r>
                <a:rPr lang="es-AR" sz="1350" dirty="0">
                  <a:solidFill>
                    <a:srgbClr val="1E1E1E"/>
                  </a:solidFill>
                  <a:latin typeface="Fira Sans Condensed"/>
                  <a:ea typeface="Fira Sans Condensed"/>
                  <a:cs typeface="Fira Sans Condensed"/>
                  <a:sym typeface="Fira Sans Condensed"/>
                </a:rPr>
                <a:t> y asistencia </a:t>
              </a:r>
              <a:r>
                <a:rPr lang="es-AR" sz="1350" b="1" dirty="0">
                  <a:solidFill>
                    <a:srgbClr val="1E1E1E"/>
                  </a:solidFill>
                  <a:latin typeface="Fira Sans Condensed"/>
                  <a:ea typeface="Fira Sans Condensed"/>
                  <a:cs typeface="Fira Sans Condensed"/>
                  <a:sym typeface="Fira Sans Condensed"/>
                </a:rPr>
                <a:t>multidisciplinaria</a:t>
              </a:r>
              <a:r>
                <a:rPr lang="es-AR" sz="1350" dirty="0">
                  <a:solidFill>
                    <a:srgbClr val="1E1E1E"/>
                  </a:solidFill>
                  <a:latin typeface="Fira Sans Condensed"/>
                  <a:ea typeface="Fira Sans Condensed"/>
                  <a:cs typeface="Fira Sans Condensed"/>
                  <a:sym typeface="Fira Sans Condensed"/>
                </a:rPr>
                <a:t> según indicación y requisitos.</a:t>
              </a:r>
              <a:endParaRPr lang="es-AR" sz="1350" dirty="0">
                <a:latin typeface="Fira Sans Condensed"/>
              </a:endParaRPr>
            </a:p>
          </p:txBody>
        </p:sp>
      </p:grpSp>
      <p:grpSp>
        <p:nvGrpSpPr>
          <p:cNvPr id="19" name="Ley Art. 17"/>
          <p:cNvGrpSpPr/>
          <p:nvPr/>
        </p:nvGrpSpPr>
        <p:grpSpPr>
          <a:xfrm>
            <a:off x="365760" y="3886200"/>
            <a:ext cx="11475720" cy="457200"/>
            <a:chOff x="365760" y="3886200"/>
            <a:chExt cx="11475720" cy="457200"/>
          </a:xfrm>
        </p:grpSpPr>
        <p:sp>
          <p:nvSpPr>
            <p:cNvPr id="20" name="Recuadro Art. 17"/>
            <p:cNvSpPr/>
            <p:nvPr/>
          </p:nvSpPr>
          <p:spPr>
            <a:xfrm>
              <a:off x="365760" y="388620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 17</a:t>
              </a:r>
              <a:endParaRPr lang="es-AR" sz="1300" dirty="0">
                <a:latin typeface="Fira Sans Condensed"/>
              </a:endParaRPr>
            </a:p>
          </p:txBody>
        </p:sp>
        <p:sp>
          <p:nvSpPr>
            <p:cNvPr id="21" name="Forma 20"/>
            <p:cNvSpPr txBox="1"/>
            <p:nvPr/>
          </p:nvSpPr>
          <p:spPr>
            <a:xfrm>
              <a:off x="1965960" y="388620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Prohibición de negar bienes o servicios a una persona con obesidad en condiciones legalmente previstas.</a:t>
              </a:r>
              <a:endParaRPr lang="es-AR" sz="1350" dirty="0">
                <a:latin typeface="Fira Sans Condensed"/>
              </a:endParaRPr>
            </a:p>
          </p:txBody>
        </p:sp>
      </p:grpSp>
      <p:grpSp>
        <p:nvGrpSpPr>
          <p:cNvPr id="22" name="Ley Art. 18"/>
          <p:cNvGrpSpPr/>
          <p:nvPr/>
        </p:nvGrpSpPr>
        <p:grpSpPr>
          <a:xfrm>
            <a:off x="365760" y="4434840"/>
            <a:ext cx="11475720" cy="457200"/>
            <a:chOff x="365760" y="4434840"/>
            <a:chExt cx="11475720" cy="457200"/>
          </a:xfrm>
        </p:grpSpPr>
        <p:sp>
          <p:nvSpPr>
            <p:cNvPr id="23" name="Recuadro Art. 18"/>
            <p:cNvSpPr/>
            <p:nvPr/>
          </p:nvSpPr>
          <p:spPr>
            <a:xfrm>
              <a:off x="365760" y="4434840"/>
              <a:ext cx="1463040" cy="45720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Art. 18</a:t>
              </a:r>
              <a:endParaRPr lang="es-AR" sz="1300" dirty="0">
                <a:latin typeface="Fira Sans Condensed"/>
              </a:endParaRPr>
            </a:p>
          </p:txBody>
        </p:sp>
        <p:sp>
          <p:nvSpPr>
            <p:cNvPr id="24" name="Forma 23"/>
            <p:cNvSpPr txBox="1"/>
            <p:nvPr/>
          </p:nvSpPr>
          <p:spPr>
            <a:xfrm>
              <a:off x="1965960" y="4434840"/>
              <a:ext cx="9875520" cy="457200"/>
            </a:xfrm>
            <a:prstGeom prst="rect">
              <a:avLst/>
            </a:prstGeom>
            <a:noFill/>
            <a:ln>
              <a:noFill/>
            </a:ln>
          </p:spPr>
          <p:txBody>
            <a:bodyPr wrap="square" lIns="0" tIns="0" rIns="0" bIns="0"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Accesibilidad y equipamiento de instituciones educativas y sanitarias.</a:t>
              </a:r>
              <a:endParaRPr lang="es-AR" sz="1350" dirty="0">
                <a:latin typeface="Fira Sans Condensed"/>
              </a:endParaRPr>
            </a:p>
          </p:txBody>
        </p:sp>
      </p:grpSp>
      <p:sp>
        <p:nvSpPr>
          <p:cNvPr id="25" name="Perla clínica"/>
          <p:cNvSpPr/>
          <p:nvPr/>
        </p:nvSpPr>
        <p:spPr>
          <a:xfrm>
            <a:off x="365760" y="5074920"/>
            <a:ext cx="11475720" cy="11887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00" b="1" dirty="0">
                <a:solidFill>
                  <a:srgbClr val="FFFFFF"/>
                </a:solidFill>
                <a:latin typeface="Fira Sans Condensed"/>
                <a:ea typeface="Fira Sans Condensed"/>
                <a:cs typeface="Fira Sans Condensed"/>
                <a:sym typeface="Fira Sans Condensed"/>
              </a:rPr>
              <a:t>Veto parcial: Decreto 1395/2008</a:t>
            </a:r>
            <a:r>
              <a:rPr lang="es-AR" sz="1400" dirty="0">
                <a:solidFill>
                  <a:srgbClr val="FFFFFF"/>
                </a:solidFill>
                <a:latin typeface="Fira Sans Condensed"/>
                <a:ea typeface="Fira Sans Condensed"/>
                <a:cs typeface="Fira Sans Condensed"/>
                <a:sym typeface="Fira Sans Condensed"/>
              </a:rPr>
              <a:t> observó los arts. </a:t>
            </a:r>
            <a:r>
              <a:rPr lang="es-AR" sz="1400" b="1" dirty="0">
                <a:solidFill>
                  <a:srgbClr val="FFFFFF"/>
                </a:solidFill>
                <a:latin typeface="Fira Sans Condensed"/>
                <a:ea typeface="Fira Sans Condensed"/>
                <a:cs typeface="Fira Sans Condensed"/>
                <a:sym typeface="Fira Sans Condensed"/>
              </a:rPr>
              <a:t>5</a:t>
            </a:r>
            <a:r>
              <a:rPr lang="es-AR" sz="1400" dirty="0">
                <a:solidFill>
                  <a:srgbClr val="FFFFFF"/>
                </a:solidFill>
                <a:latin typeface="Fira Sans Condensed"/>
                <a:ea typeface="Fira Sans Condensed"/>
                <a:cs typeface="Fira Sans Condensed"/>
                <a:sym typeface="Fira Sans Condensed"/>
              </a:rPr>
              <a:t> (notificación epidemiológica), </a:t>
            </a:r>
            <a:r>
              <a:rPr lang="es-AR" sz="1400" b="1" dirty="0">
                <a:solidFill>
                  <a:srgbClr val="FFFFFF"/>
                </a:solidFill>
                <a:latin typeface="Fira Sans Condensed"/>
                <a:ea typeface="Fira Sans Condensed"/>
                <a:cs typeface="Fira Sans Condensed"/>
                <a:sym typeface="Fira Sans Condensed"/>
              </a:rPr>
              <a:t>11</a:t>
            </a:r>
            <a:r>
              <a:rPr lang="es-AR" sz="1400" dirty="0">
                <a:solidFill>
                  <a:srgbClr val="FFFFFF"/>
                </a:solidFill>
                <a:latin typeface="Fira Sans Condensed"/>
                <a:ea typeface="Fira Sans Condensed"/>
                <a:cs typeface="Fira Sans Condensed"/>
                <a:sym typeface="Fira Sans Condensed"/>
              </a:rPr>
              <a:t> (leyenda en publicidad de alimentos), </a:t>
            </a:r>
            <a:r>
              <a:rPr lang="es-AR" sz="1400" b="1" dirty="0">
                <a:solidFill>
                  <a:srgbClr val="FFFFFF"/>
                </a:solidFill>
                <a:latin typeface="Fira Sans Condensed"/>
                <a:ea typeface="Fira Sans Condensed"/>
                <a:cs typeface="Fira Sans Condensed"/>
                <a:sym typeface="Fira Sans Condensed"/>
              </a:rPr>
              <a:t>20</a:t>
            </a:r>
            <a:r>
              <a:rPr lang="es-AR" sz="1400" dirty="0">
                <a:solidFill>
                  <a:srgbClr val="FFFFFF"/>
                </a:solidFill>
                <a:latin typeface="Fira Sans Condensed"/>
                <a:ea typeface="Fira Sans Condensed"/>
                <a:cs typeface="Fira Sans Condensed"/>
                <a:sym typeface="Fira Sans Condensed"/>
              </a:rPr>
              <a:t> (etiqueta de grasas trans) y </a:t>
            </a:r>
            <a:r>
              <a:rPr lang="es-AR" sz="1400" b="1" dirty="0">
                <a:solidFill>
                  <a:srgbClr val="FFFFFF"/>
                </a:solidFill>
                <a:latin typeface="Fira Sans Condensed"/>
                <a:ea typeface="Fira Sans Condensed"/>
                <a:cs typeface="Fira Sans Condensed"/>
                <a:sym typeface="Fira Sans Condensed"/>
              </a:rPr>
              <a:t>21</a:t>
            </a:r>
            <a:r>
              <a:rPr lang="es-AR" sz="1400" dirty="0">
                <a:solidFill>
                  <a:srgbClr val="FFFFFF"/>
                </a:solidFill>
                <a:latin typeface="Fira Sans Condensed"/>
                <a:ea typeface="Fira Sans Condensed"/>
                <a:cs typeface="Fira Sans Condensed"/>
                <a:sym typeface="Fira Sans Condensed"/>
              </a:rPr>
              <a:t> (sanciones): no presentarlos como normas vigentes.</a:t>
            </a:r>
            <a:endParaRPr lang="es-AR" sz="1400" dirty="0">
              <a:latin typeface="Fira Sans Condensed"/>
            </a:endParaRPr>
          </a:p>
        </p:txBody>
      </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LEY 26.396: TRASTORNOS ALIMENTARIOS (PREGUNTA 3)</a:t>
            </a:r>
            <a:endParaRPr lang="es-AR" sz="3000" dirty="0">
              <a:latin typeface="Permanent Marker"/>
            </a:endParaRPr>
          </a:p>
        </p:txBody>
      </p:sp>
      <p:sp>
        <p:nvSpPr>
          <p:cNvPr id="5" name="Etiqueta sección"/>
          <p:cNvSpPr/>
          <p:nvPr/>
        </p:nvSpPr>
        <p:spPr>
          <a:xfrm>
            <a:off x="164592" y="6510528"/>
            <a:ext cx="1699318"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VIII · TRATAMIENTO</a:t>
            </a:r>
            <a:endParaRPr lang="es-AR" sz="950" dirty="0">
              <a:latin typeface="Fira Sans Condensed"/>
            </a:endParaRPr>
          </a:p>
        </p:txBody>
      </p:sp>
      <p:sp>
        <p:nvSpPr>
          <p:cNvPr id="2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200"/>
                                        <p:tgtEl>
                                          <p:spTgt spid="7"/>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200"/>
                                        <p:tgtEl>
                                          <p:spTgt spid="10"/>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
                                        <p:tgtEl>
                                          <p:spTgt spid="13"/>
                                        </p:tgtEl>
                                      </p:cBhvr>
                                    </p:animEffect>
                                  </p:childTnLst>
                                </p:cTn>
                              </p:par>
                            </p:childTnLst>
                          </p:cTn>
                        </p:par>
                        <p:par>
                          <p:cTn id="18"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00"/>
                                        <p:tgtEl>
                                          <p:spTgt spid="16"/>
                                        </p:tgtEl>
                                      </p:cBhvr>
                                    </p:animEffect>
                                  </p:childTnLst>
                                </p:cTn>
                              </p:par>
                            </p:childTnLst>
                          </p:cTn>
                        </p:par>
                        <p:par>
                          <p:cTn id="22"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200"/>
                                        <p:tgtEl>
                                          <p:spTgt spid="19"/>
                                        </p:tgtEl>
                                      </p:cBhvr>
                                    </p:animEffect>
                                  </p:childTnLst>
                                </p:cTn>
                              </p:par>
                            </p:childTnLst>
                          </p:cTn>
                        </p:par>
                        <p:par>
                          <p:cTn id="26"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00"/>
                                        <p:tgtEl>
                                          <p:spTgt spid="22"/>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IX</a:t>
            </a:r>
            <a:endParaRPr lang="es-AR" sz="2000" dirty="0">
              <a:latin typeface="Fira Sans Condensed"/>
            </a:endParaRPr>
          </a:p>
        </p:txBody>
      </p:sp>
      <p:sp>
        <p:nvSpPr>
          <p:cNvPr id="6" name="Título unidad"/>
          <p:cNvSpPr txBox="1"/>
          <p:nvPr/>
        </p:nvSpPr>
        <p:spPr>
          <a:xfrm>
            <a:off x="2468880" y="960120"/>
            <a:ext cx="7223760" cy="78663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4100" dirty="0">
                <a:solidFill>
                  <a:srgbClr val="1E1E1E"/>
                </a:solidFill>
                <a:effectLst>
                  <a:glow rad="101600">
                    <a:srgbClr val="FFFFFF">
                      <a:alpha val="70000"/>
                    </a:srgbClr>
                  </a:glow>
                </a:effectLst>
                <a:latin typeface="Permanent Marker"/>
                <a:ea typeface="Permanent Marker"/>
                <a:cs typeface="Permanent Marker"/>
                <a:sym typeface="Permanent Marker"/>
              </a:rPr>
              <a:t>SÍNDROME METABÓLICO</a:t>
            </a:r>
            <a:endParaRPr lang="es-AR" sz="41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Cinco criterios clínicos, un entramado fisiopatológico</a:t>
            </a:r>
            <a:endParaRPr lang="es-AR" sz="190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Definición y criterios</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Sistemas históricos</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Aplicación al caso 20</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Etiología</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Animación integradora y Mapa 7</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Secuencia F: aterogénesis</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Riñón e intervenciones</a:t>
            </a:r>
            <a:endParaRPr lang="es-AR" sz="1400" dirty="0">
              <a:latin typeface="Fira Sans Condensed"/>
            </a:endParaRPr>
          </a:p>
        </p:txBody>
      </p:sp>
      <p:pic>
        <p:nvPicPr>
          <p:cNvPr id="15" name="Corazón" descr="Ilustración biomédica (Servier Medical Art, CC BY)"/>
          <p:cNvPicPr>
            <a:picLocks noChangeAspect="1"/>
          </p:cNvPicPr>
          <p:nvPr/>
        </p:nvPicPr>
        <p:blipFill>
          <a:blip r:embed="rId2"/>
          <a:stretch>
            <a:fillRect/>
          </a:stretch>
        </p:blipFill>
        <p:spPr>
          <a:xfrm>
            <a:off x="9966960" y="457200"/>
            <a:ext cx="1828800" cy="2588797"/>
          </a:xfrm>
          <a:prstGeom prst="rect">
            <a:avLst/>
          </a:prstGeom>
        </p:spPr>
      </p:pic>
      <p:pic>
        <p:nvPicPr>
          <p:cNvPr id="16" name="Arteria" descr="Ilustración biomédica (Servier Medical Art, CC BY)"/>
          <p:cNvPicPr>
            <a:picLocks noChangeAspect="1"/>
          </p:cNvPicPr>
          <p:nvPr/>
        </p:nvPicPr>
        <p:blipFill>
          <a:blip r:embed="rId3"/>
          <a:stretch>
            <a:fillRect/>
          </a:stretch>
        </p:blipFill>
        <p:spPr>
          <a:xfrm>
            <a:off x="10424160" y="3108960"/>
            <a:ext cx="920409" cy="2377440"/>
          </a:xfrm>
          <a:prstGeom prst="rect">
            <a:avLst/>
          </a:prstGeom>
        </p:spPr>
      </p:pic>
      <p:pic>
        <p:nvPicPr>
          <p:cNvPr id="17" name="LDL" descr="Ilustración biomédica (Servier Medical Art, CC BY)"/>
          <p:cNvPicPr>
            <a:picLocks noChangeAspect="1"/>
          </p:cNvPicPr>
          <p:nvPr/>
        </p:nvPicPr>
        <p:blipFill>
          <a:blip r:embed="rId4"/>
          <a:stretch>
            <a:fillRect/>
          </a:stretch>
        </p:blipFill>
        <p:spPr>
          <a:xfrm>
            <a:off x="365760" y="1188720"/>
            <a:ext cx="1645920" cy="1454288"/>
          </a:xfrm>
          <a:prstGeom prst="rect">
            <a:avLst/>
          </a:prstGeom>
        </p:spPr>
      </p:pic>
      <p:pic>
        <p:nvPicPr>
          <p:cNvPr id="18" name="Célula espumosa" descr="Ilustración biomédica (Servier Medical Art, CC BY)"/>
          <p:cNvPicPr>
            <a:picLocks noChangeAspect="1"/>
          </p:cNvPicPr>
          <p:nvPr/>
        </p:nvPicPr>
        <p:blipFill>
          <a:blip r:embed="rId5"/>
          <a:stretch>
            <a:fillRect/>
          </a:stretch>
        </p:blipFill>
        <p:spPr>
          <a:xfrm>
            <a:off x="365760" y="4023360"/>
            <a:ext cx="1554480" cy="1743808"/>
          </a:xfrm>
          <a:prstGeom prst="rect">
            <a:avLst/>
          </a:prstGeom>
        </p:spPr>
      </p:pic>
      <p:sp>
        <p:nvSpPr>
          <p:cNvPr id="1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Componente Obesidad abdominal"/>
          <p:cNvGrpSpPr/>
          <p:nvPr/>
        </p:nvGrpSpPr>
        <p:grpSpPr>
          <a:xfrm>
            <a:off x="365760" y="1097280"/>
            <a:ext cx="2194560" cy="2194560"/>
            <a:chOff x="365760" y="1097280"/>
            <a:chExt cx="2194560" cy="2194560"/>
          </a:xfrm>
        </p:grpSpPr>
        <p:pic>
          <p:nvPicPr>
            <p:cNvPr id="8" name="Imagen obese-man" descr="Ilustración biomédica (Servier Medical Art, CC BY)"/>
            <p:cNvPicPr>
              <a:picLocks noChangeAspect="1"/>
            </p:cNvPicPr>
            <p:nvPr/>
          </p:nvPicPr>
          <p:blipFill>
            <a:blip r:embed="rId2"/>
            <a:stretch>
              <a:fillRect/>
            </a:stretch>
          </p:blipFill>
          <p:spPr>
            <a:xfrm>
              <a:off x="1035003" y="1097280"/>
              <a:ext cx="856074" cy="1554480"/>
            </a:xfrm>
            <a:prstGeom prst="rect">
              <a:avLst/>
            </a:prstGeom>
          </p:spPr>
        </p:pic>
        <p:sp>
          <p:nvSpPr>
            <p:cNvPr id="9" name="Recuadro Obesidad abdominal"/>
            <p:cNvSpPr/>
            <p:nvPr/>
          </p:nvSpPr>
          <p:spPr>
            <a:xfrm>
              <a:off x="365760" y="274320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Obesidad abdominal</a:t>
              </a:r>
              <a:endParaRPr lang="es-AR" sz="1300" dirty="0">
                <a:latin typeface="Fira Sans Condensed"/>
              </a:endParaRPr>
            </a:p>
          </p:txBody>
        </p:sp>
      </p:grpSp>
      <p:grpSp>
        <p:nvGrpSpPr>
          <p:cNvPr id="10" name="Componente Glucemia alterada"/>
          <p:cNvGrpSpPr/>
          <p:nvPr/>
        </p:nvGrpSpPr>
        <p:grpSpPr>
          <a:xfrm>
            <a:off x="2679192" y="1532992"/>
            <a:ext cx="2194560" cy="1758848"/>
            <a:chOff x="2679192" y="1532992"/>
            <a:chExt cx="2194560" cy="1758848"/>
          </a:xfrm>
        </p:grpSpPr>
        <p:pic>
          <p:nvPicPr>
            <p:cNvPr id="11" name="Imagen pancreas" descr="Ilustración biomédica (Servier Medical Art, CC BY)"/>
            <p:cNvPicPr>
              <a:picLocks noChangeAspect="1"/>
            </p:cNvPicPr>
            <p:nvPr/>
          </p:nvPicPr>
          <p:blipFill>
            <a:blip r:embed="rId3"/>
            <a:stretch>
              <a:fillRect/>
            </a:stretch>
          </p:blipFill>
          <p:spPr>
            <a:xfrm>
              <a:off x="2953512" y="1532992"/>
              <a:ext cx="1645920" cy="683057"/>
            </a:xfrm>
            <a:prstGeom prst="rect">
              <a:avLst/>
            </a:prstGeom>
          </p:spPr>
        </p:pic>
        <p:sp>
          <p:nvSpPr>
            <p:cNvPr id="12" name="Recuadro Glucemia alterada"/>
            <p:cNvSpPr/>
            <p:nvPr/>
          </p:nvSpPr>
          <p:spPr>
            <a:xfrm>
              <a:off x="2679192" y="274320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Glucemia alterada</a:t>
              </a:r>
              <a:endParaRPr lang="es-AR" sz="1300" dirty="0">
                <a:latin typeface="Fira Sans Condensed"/>
              </a:endParaRPr>
            </a:p>
          </p:txBody>
        </p:sp>
      </p:grpSp>
      <p:grpSp>
        <p:nvGrpSpPr>
          <p:cNvPr id="13" name="Componente Presión arterial elevada"/>
          <p:cNvGrpSpPr/>
          <p:nvPr/>
        </p:nvGrpSpPr>
        <p:grpSpPr>
          <a:xfrm>
            <a:off x="4992624" y="1097280"/>
            <a:ext cx="2194560" cy="2194560"/>
            <a:chOff x="4992624" y="1097280"/>
            <a:chExt cx="2194560" cy="2194560"/>
          </a:xfrm>
        </p:grpSpPr>
        <p:pic>
          <p:nvPicPr>
            <p:cNvPr id="14" name="Imagen heart-front" descr="Ilustración biomédica (Servier Medical Art, CC BY)"/>
            <p:cNvPicPr>
              <a:picLocks noChangeAspect="1"/>
            </p:cNvPicPr>
            <p:nvPr/>
          </p:nvPicPr>
          <p:blipFill>
            <a:blip r:embed="rId4"/>
            <a:stretch>
              <a:fillRect/>
            </a:stretch>
          </p:blipFill>
          <p:spPr>
            <a:xfrm>
              <a:off x="5540839" y="1097280"/>
              <a:ext cx="1098129" cy="1554480"/>
            </a:xfrm>
            <a:prstGeom prst="rect">
              <a:avLst/>
            </a:prstGeom>
          </p:spPr>
        </p:pic>
        <p:sp>
          <p:nvSpPr>
            <p:cNvPr id="15" name="Recuadro Presión arterial eleva"/>
            <p:cNvSpPr/>
            <p:nvPr/>
          </p:nvSpPr>
          <p:spPr>
            <a:xfrm>
              <a:off x="4992624" y="274320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Presión arterial elevada</a:t>
              </a:r>
              <a:endParaRPr lang="es-AR" sz="1300" dirty="0">
                <a:latin typeface="Fira Sans Condensed"/>
              </a:endParaRPr>
            </a:p>
          </p:txBody>
        </p:sp>
      </p:grpSp>
      <p:grpSp>
        <p:nvGrpSpPr>
          <p:cNvPr id="16" name="Componente Triglicéridos altos"/>
          <p:cNvGrpSpPr/>
          <p:nvPr/>
        </p:nvGrpSpPr>
        <p:grpSpPr>
          <a:xfrm>
            <a:off x="7306056" y="1200281"/>
            <a:ext cx="2194560" cy="2091559"/>
            <a:chOff x="7306056" y="1200281"/>
            <a:chExt cx="2194560" cy="2091559"/>
          </a:xfrm>
        </p:grpSpPr>
        <p:pic>
          <p:nvPicPr>
            <p:cNvPr id="17" name="Imagen vldl-1" descr="Ilustración biomédica (Servier Medical Art, CC BY)"/>
            <p:cNvPicPr>
              <a:picLocks noChangeAspect="1"/>
            </p:cNvPicPr>
            <p:nvPr/>
          </p:nvPicPr>
          <p:blipFill>
            <a:blip r:embed="rId5"/>
            <a:stretch>
              <a:fillRect/>
            </a:stretch>
          </p:blipFill>
          <p:spPr>
            <a:xfrm>
              <a:off x="7580376" y="1200281"/>
              <a:ext cx="1645920" cy="1348479"/>
            </a:xfrm>
            <a:prstGeom prst="rect">
              <a:avLst/>
            </a:prstGeom>
          </p:spPr>
        </p:pic>
        <p:sp>
          <p:nvSpPr>
            <p:cNvPr id="18" name="Recuadro Triglicéridos altos"/>
            <p:cNvSpPr/>
            <p:nvPr/>
          </p:nvSpPr>
          <p:spPr>
            <a:xfrm>
              <a:off x="7306056" y="274320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Triglicéridos altos</a:t>
              </a:r>
              <a:endParaRPr lang="es-AR" sz="1300" dirty="0">
                <a:latin typeface="Fira Sans Condensed"/>
              </a:endParaRPr>
            </a:p>
          </p:txBody>
        </p:sp>
      </p:grpSp>
      <p:grpSp>
        <p:nvGrpSpPr>
          <p:cNvPr id="19" name="Componente HDL bajo"/>
          <p:cNvGrpSpPr/>
          <p:nvPr/>
        </p:nvGrpSpPr>
        <p:grpSpPr>
          <a:xfrm>
            <a:off x="9619488" y="1097280"/>
            <a:ext cx="2194560" cy="2194560"/>
            <a:chOff x="9619488" y="1097280"/>
            <a:chExt cx="2194560" cy="2194560"/>
          </a:xfrm>
        </p:grpSpPr>
        <p:pic>
          <p:nvPicPr>
            <p:cNvPr id="20" name="Imagen lipid-hdl-1" descr="Ilustración biomédica (Servier Medical Art, CC BY)"/>
            <p:cNvPicPr>
              <a:picLocks noChangeAspect="1"/>
            </p:cNvPicPr>
            <p:nvPr/>
          </p:nvPicPr>
          <p:blipFill>
            <a:blip r:embed="rId6"/>
            <a:stretch>
              <a:fillRect/>
            </a:stretch>
          </p:blipFill>
          <p:spPr>
            <a:xfrm>
              <a:off x="9981721" y="1097280"/>
              <a:ext cx="1470094" cy="1554480"/>
            </a:xfrm>
            <a:prstGeom prst="rect">
              <a:avLst/>
            </a:prstGeom>
          </p:spPr>
        </p:pic>
        <p:sp>
          <p:nvSpPr>
            <p:cNvPr id="21" name="Recuadro HDL bajo"/>
            <p:cNvSpPr/>
            <p:nvPr/>
          </p:nvSpPr>
          <p:spPr>
            <a:xfrm>
              <a:off x="9619488" y="2743200"/>
              <a:ext cx="21945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HDL bajo</a:t>
              </a:r>
              <a:endParaRPr lang="es-AR" sz="1300" dirty="0">
                <a:latin typeface="Fira Sans Condensed"/>
              </a:endParaRPr>
            </a:p>
          </p:txBody>
        </p:sp>
      </p:grpSp>
      <p:grpSp>
        <p:nvGrpSpPr>
          <p:cNvPr id="22" name="Cuadro Concepto"/>
          <p:cNvGrpSpPr/>
          <p:nvPr/>
        </p:nvGrpSpPr>
        <p:grpSpPr>
          <a:xfrm>
            <a:off x="365760" y="3520440"/>
            <a:ext cx="5669280" cy="2743200"/>
            <a:chOff x="365760" y="3520440"/>
            <a:chExt cx="5669280" cy="2743200"/>
          </a:xfrm>
        </p:grpSpPr>
        <p:sp>
          <p:nvSpPr>
            <p:cNvPr id="23" name="Forma 22"/>
            <p:cNvSpPr/>
            <p:nvPr/>
          </p:nvSpPr>
          <p:spPr>
            <a:xfrm>
              <a:off x="365760" y="3721608"/>
              <a:ext cx="5669280" cy="2542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Agrupación que señala </a:t>
              </a:r>
              <a:r>
                <a:rPr lang="es-AR" sz="1450" b="1" dirty="0">
                  <a:solidFill>
                    <a:srgbClr val="1E1E1E"/>
                  </a:solidFill>
                  <a:latin typeface="Fira Sans Condensed"/>
                  <a:ea typeface="Fira Sans Condensed"/>
                  <a:cs typeface="Fira Sans Condensed"/>
                  <a:sym typeface="Fira Sans Condensed"/>
                </a:rPr>
                <a:t>riesgo cardiometabólico elevado</a:t>
              </a:r>
              <a:r>
                <a:rPr lang="es-AR" sz="1450" dirty="0">
                  <a:solidFill>
                    <a:srgbClr val="1E1E1E"/>
                  </a:solidFill>
                  <a:latin typeface="Fira Sans Condensed"/>
                  <a:ea typeface="Fira Sans Condensed"/>
                  <a:cs typeface="Fira Sans Condensed"/>
                  <a:sym typeface="Fira Sans Condensed"/>
                </a:rPr>
                <a:t> y mayor probabilidad de </a:t>
              </a:r>
              <a:r>
                <a:rPr lang="es-AR" sz="1450" b="1" dirty="0">
                  <a:solidFill>
                    <a:srgbClr val="1E1E1E"/>
                  </a:solidFill>
                  <a:latin typeface="Fira Sans Condensed"/>
                  <a:ea typeface="Fira Sans Condensed"/>
                  <a:cs typeface="Fira Sans Condensed"/>
                  <a:sym typeface="Fira Sans Condensed"/>
                </a:rPr>
                <a:t>DM2</a:t>
              </a:r>
              <a:r>
                <a:rPr lang="es-AR" sz="1450" dirty="0">
                  <a:solidFill>
                    <a:srgbClr val="1E1E1E"/>
                  </a:solidFill>
                  <a:latin typeface="Fira Sans Condensed"/>
                  <a:ea typeface="Fira Sans Condensed"/>
                  <a:cs typeface="Fira Sans Condensed"/>
                  <a:sym typeface="Fira Sans Condensed"/>
                </a:rPr>
                <a:t>. [S] la reconstruye como interacción de </a:t>
              </a:r>
              <a:r>
                <a:rPr lang="es-AR" sz="1450" b="1" dirty="0">
                  <a:solidFill>
                    <a:srgbClr val="1E1E1E"/>
                  </a:solidFill>
                  <a:latin typeface="Fira Sans Condensed"/>
                  <a:ea typeface="Fira Sans Condensed"/>
                  <a:cs typeface="Fira Sans Condensed"/>
                  <a:sym typeface="Fira Sans Condensed"/>
                </a:rPr>
                <a:t>adiposidad visceral, ácidos grasos libres, inflamación y señal insulínica anormal</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24" name="Forma 23"/>
            <p:cNvSpPr/>
            <p:nvPr/>
          </p:nvSpPr>
          <p:spPr>
            <a:xfrm>
              <a:off x="502920" y="3520440"/>
              <a:ext cx="119141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CONCEPTO</a:t>
              </a:r>
              <a:endParaRPr lang="es-AR" sz="1400" dirty="0">
                <a:latin typeface="Fira Sans Condensed"/>
              </a:endParaRPr>
            </a:p>
          </p:txBody>
        </p:sp>
      </p:grpSp>
      <p:grpSp>
        <p:nvGrpSpPr>
          <p:cNvPr id="25" name="Cuadro Debate"/>
          <p:cNvGrpSpPr/>
          <p:nvPr/>
        </p:nvGrpSpPr>
        <p:grpSpPr>
          <a:xfrm>
            <a:off x="6263640" y="3520440"/>
            <a:ext cx="5577840" cy="2743200"/>
            <a:chOff x="6263640" y="3520440"/>
            <a:chExt cx="5577840" cy="2743200"/>
          </a:xfrm>
        </p:grpSpPr>
        <p:sp>
          <p:nvSpPr>
            <p:cNvPr id="26" name="Forma 25"/>
            <p:cNvSpPr/>
            <p:nvPr/>
          </p:nvSpPr>
          <p:spPr>
            <a:xfrm>
              <a:off x="6263640" y="3721608"/>
              <a:ext cx="5577840" cy="2542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Útil para reconocer la </a:t>
              </a:r>
              <a:r>
                <a:rPr lang="es-AR" sz="1450" b="1" dirty="0">
                  <a:solidFill>
                    <a:srgbClr val="1E1E1E"/>
                  </a:solidFill>
                  <a:latin typeface="Fira Sans Condensed"/>
                  <a:ea typeface="Fira Sans Condensed"/>
                  <a:cs typeface="Fira Sans Condensed"/>
                  <a:sym typeface="Fira Sans Condensed"/>
                </a:rPr>
                <a:t>convergencia</a:t>
              </a:r>
              <a:r>
                <a:rPr lang="es-AR" sz="1450" dirty="0">
                  <a:solidFill>
                    <a:srgbClr val="1E1E1E"/>
                  </a:solidFill>
                  <a:latin typeface="Fira Sans Condensed"/>
                  <a:ea typeface="Fira Sans Condensed"/>
                  <a:cs typeface="Fira Sans Condensed"/>
                  <a:sym typeface="Fira Sans Condensed"/>
                </a:rPr>
                <a:t> de factores, pero existe debate sobre si predice más que evaluar </a:t>
              </a:r>
              <a:r>
                <a:rPr lang="es-AR" sz="1450" b="1" dirty="0">
                  <a:solidFill>
                    <a:srgbClr val="1E1E1E"/>
                  </a:solidFill>
                  <a:latin typeface="Fira Sans Condensed"/>
                  <a:ea typeface="Fira Sans Condensed"/>
                  <a:cs typeface="Fira Sans Condensed"/>
                  <a:sym typeface="Fira Sans Condensed"/>
                </a:rPr>
                <a:t>cada componente</a:t>
              </a:r>
              <a:r>
                <a:rPr lang="es-AR" sz="1450" dirty="0">
                  <a:solidFill>
                    <a:srgbClr val="1E1E1E"/>
                  </a:solidFill>
                  <a:latin typeface="Fira Sans Condensed"/>
                  <a:ea typeface="Fira Sans Condensed"/>
                  <a:cs typeface="Fira Sans Condensed"/>
                  <a:sym typeface="Fira Sans Condensed"/>
                </a:rPr>
                <a:t>; </a:t>
              </a:r>
              <a:r>
                <a:rPr lang="es-AR" sz="1450" b="1" dirty="0">
                  <a:solidFill>
                    <a:srgbClr val="1E1E1E"/>
                  </a:solidFill>
                  <a:latin typeface="Fira Sans Condensed"/>
                  <a:ea typeface="Fira Sans Condensed"/>
                  <a:cs typeface="Fira Sans Condensed"/>
                  <a:sym typeface="Fira Sans Condensed"/>
                </a:rPr>
                <a:t>no sustituye</a:t>
              </a:r>
              <a:r>
                <a:rPr lang="es-AR" sz="1450" dirty="0">
                  <a:solidFill>
                    <a:srgbClr val="1E1E1E"/>
                  </a:solidFill>
                  <a:latin typeface="Fira Sans Condensed"/>
                  <a:ea typeface="Fira Sans Condensed"/>
                  <a:cs typeface="Fira Sans Condensed"/>
                  <a:sym typeface="Fira Sans Condensed"/>
                </a:rPr>
                <a:t> la estimación individual del riesgo cardiovascular.</a:t>
              </a:r>
              <a:endParaRPr lang="es-AR" sz="1450" dirty="0">
                <a:latin typeface="Fira Sans Condensed"/>
              </a:endParaRPr>
            </a:p>
          </p:txBody>
        </p:sp>
        <p:sp>
          <p:nvSpPr>
            <p:cNvPr id="27" name="Forma 26"/>
            <p:cNvSpPr/>
            <p:nvPr/>
          </p:nvSpPr>
          <p:spPr>
            <a:xfrm>
              <a:off x="6400800" y="3520440"/>
              <a:ext cx="951701"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DEBATE</a:t>
              </a:r>
              <a:endParaRPr lang="es-AR" sz="14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QUÉ SIGNIFICA SÍNDROME METABÓLICO</a:t>
            </a:r>
            <a:endParaRPr lang="es-AR" sz="34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200"/>
                                        <p:tgtEl>
                                          <p:spTgt spid="7"/>
                                        </p:tgtEl>
                                      </p:cBhvr>
                                    </p:animEffect>
                                  </p:childTnLst>
                                </p:cTn>
                              </p:par>
                            </p:childTnLst>
                          </p:cTn>
                        </p:par>
                        <p:par>
                          <p:cTn id="10" fill="hold">
                            <p:stCondLst>
                              <p:cond delay="200"/>
                            </p:stCondLst>
                            <p:childTnLst>
                              <p:par>
                                <p:cTn id="7" presetID="10" presetClass="entr" presetSubtype="0" fill="hold" grpId="0"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200"/>
                                        <p:tgtEl>
                                          <p:spTgt spid="10"/>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
                                        <p:tgtEl>
                                          <p:spTgt spid="13"/>
                                        </p:tgtEl>
                                      </p:cBhvr>
                                    </p:animEffect>
                                  </p:childTnLst>
                                </p:cTn>
                              </p:par>
                            </p:childTnLst>
                          </p:cTn>
                        </p:par>
                        <p:par>
                          <p:cTn id="18"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200"/>
                                        <p:tgtEl>
                                          <p:spTgt spid="16"/>
                                        </p:tgtEl>
                                      </p:cBhvr>
                                    </p:animEffect>
                                  </p:childTnLst>
                                </p:cTn>
                              </p:par>
                            </p:childTnLst>
                          </p:cTn>
                        </p:par>
                        <p:par>
                          <p:cTn id="22"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200"/>
                                        <p:tgtEl>
                                          <p:spTgt spid="19"/>
                                        </p:tgtEl>
                                      </p:cBhvr>
                                    </p:animEffect>
                                  </p:childTnLst>
                                </p:cTn>
                              </p:par>
                            </p:childTnLst>
                          </p:cTn>
                        </p:par>
                      </p:childTnLst>
                    </p:cTn>
                  </p:par>
                  <p:par>
                    <p:cTn id="28"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33" fill="hold">
                      <p:stCondLst>
                        <p:cond delay="indefinite"/>
                      </p:stCondLst>
                      <p:childTnLst>
                        <p:par>
                          <p:cTn id="32"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aphicFrame>
        <p:nvGraphicFramePr>
          <p:cNvPr id="6" name="Criterios SM"/>
          <p:cNvGraphicFramePr>
            <a:graphicFrameLocks noGrp="1"/>
          </p:cNvGraphicFramePr>
          <p:nvPr/>
        </p:nvGraphicFramePr>
        <p:xfrm>
          <a:off x="365760" y="1051560"/>
          <a:ext cx="11475720" cy="2362200"/>
        </p:xfrm>
        <a:graphic>
          <a:graphicData uri="http://schemas.openxmlformats.org/drawingml/2006/table">
            <a:tbl>
              <a:tblPr firstRow="1" bandRow="1"/>
              <a:tblGrid>
                <a:gridCol w="2743200"/>
                <a:gridCol w="8732520"/>
              </a:tblGrid>
              <a:tr h="365760">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Criterio (≥ 3 de 5)</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c>
                  <a:txBody>
                    <a:bodyPr/>
                    <a:lstStyle/>
                    <a:p>
                      <a:pPr algn="l">
                        <a:spcAft>
                          <a:spcPts val="100"/>
                        </a:spcAft>
                        <a:buNone/>
                      </a:pPr>
                      <a:r>
                        <a:rPr lang="es-AR" sz="1500" b="1" dirty="0">
                          <a:solidFill>
                            <a:srgbClr val="1E1E1E"/>
                          </a:solidFill>
                          <a:latin typeface="Fira Sans Condensed"/>
                          <a:ea typeface="Fira Sans Condensed"/>
                          <a:cs typeface="Fira Sans Condensed"/>
                          <a:sym typeface="Fira Sans Condensed"/>
                        </a:rPr>
                        <a:t>Umbral de uso frecuente</a:t>
                      </a:r>
                      <a:endParaRPr lang="es-AR" sz="150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C000"/>
                    </a:solidFill>
                  </a:tcPr>
                </a:tc>
              </a:tr>
              <a:tr h="53340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Cintura elevada</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50" dirty="0">
                          <a:solidFill>
                            <a:srgbClr val="1E1E1E"/>
                          </a:solidFill>
                          <a:latin typeface="Fira Sans Condensed"/>
                          <a:ea typeface="Fira Sans Condensed"/>
                          <a:cs typeface="Fira Sans Condensed"/>
                          <a:sym typeface="Fira Sans Condensed"/>
                        </a:rPr>
                        <a:t>Según población: ATP III clásico más de 102 cm (H) / más de 88 cm (M); IDF puede usar ≥ 90 / ≥ 80 cm en determinados grupos</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Triglicéridos</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50" dirty="0">
                          <a:solidFill>
                            <a:srgbClr val="1E1E1E"/>
                          </a:solidFill>
                          <a:latin typeface="Fira Sans Condensed"/>
                          <a:ea typeface="Fira Sans Condensed"/>
                          <a:cs typeface="Fira Sans Condensed"/>
                          <a:sym typeface="Fira Sans Condensed"/>
                        </a:rPr>
                        <a:t>≥ 150 mg/dL o tratamiento específico</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HDL-C bajo</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50" dirty="0">
                          <a:solidFill>
                            <a:srgbClr val="1E1E1E"/>
                          </a:solidFill>
                          <a:latin typeface="Fira Sans Condensed"/>
                          <a:ea typeface="Fira Sans Condensed"/>
                          <a:cs typeface="Fira Sans Condensed"/>
                          <a:sym typeface="Fira Sans Condensed"/>
                        </a:rPr>
                        <a:t>&lt; 40 mg/dL hombres o &lt; 50 mg/dL mujeres, o tratamiento</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r h="36576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Presión arterial</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c>
                  <a:txBody>
                    <a:bodyPr/>
                    <a:lstStyle/>
                    <a:p>
                      <a:pPr algn="l">
                        <a:spcAft>
                          <a:spcPts val="100"/>
                        </a:spcAft>
                        <a:buNone/>
                      </a:pPr>
                      <a:r>
                        <a:rPr lang="es-AR" sz="1450" dirty="0">
                          <a:solidFill>
                            <a:srgbClr val="1E1E1E"/>
                          </a:solidFill>
                          <a:latin typeface="Fira Sans Condensed"/>
                          <a:ea typeface="Fira Sans Condensed"/>
                          <a:cs typeface="Fira Sans Condensed"/>
                          <a:sym typeface="Fira Sans Condensed"/>
                        </a:rPr>
                        <a:t>Sistólica ≥ 130 y/o diastólica ≥ 85 mmHg o tratamiento antihipertensivo</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2CC"/>
                    </a:solidFill>
                  </a:tcPr>
                </a:tc>
              </a:tr>
              <a:tr h="365760">
                <a:tc>
                  <a:txBody>
                    <a:bodyPr/>
                    <a:lstStyle/>
                    <a:p>
                      <a:pPr algn="l">
                        <a:spcAft>
                          <a:spcPts val="100"/>
                        </a:spcAft>
                        <a:buNone/>
                      </a:pPr>
                      <a:r>
                        <a:rPr lang="es-AR" sz="1450" b="1" dirty="0">
                          <a:solidFill>
                            <a:srgbClr val="1E1E1E"/>
                          </a:solidFill>
                          <a:latin typeface="Fira Sans Condensed"/>
                          <a:ea typeface="Fira Sans Condensed"/>
                          <a:cs typeface="Fira Sans Condensed"/>
                          <a:sym typeface="Fira Sans Condensed"/>
                        </a:rPr>
                        <a:t>Glucemia de ayunas</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c>
                  <a:txBody>
                    <a:bodyPr/>
                    <a:lstStyle/>
                    <a:p>
                      <a:pPr algn="l">
                        <a:spcAft>
                          <a:spcPts val="100"/>
                        </a:spcAft>
                        <a:buNone/>
                      </a:pPr>
                      <a:r>
                        <a:rPr lang="es-AR" sz="1450" dirty="0">
                          <a:solidFill>
                            <a:srgbClr val="1E1E1E"/>
                          </a:solidFill>
                          <a:latin typeface="Fira Sans Condensed"/>
                          <a:ea typeface="Fira Sans Condensed"/>
                          <a:cs typeface="Fira Sans Condensed"/>
                          <a:sym typeface="Fira Sans Condensed"/>
                        </a:rPr>
                        <a:t>≥ 100 mg/dL o tratamiento por hiperglucemia</a:t>
                      </a:r>
                      <a:endParaRPr lang="es-AR" sz="1450" dirty="0">
                        <a:latin typeface="Fira Sans Condensed"/>
                      </a:endParaRPr>
                    </a:p>
                  </a:txBody>
                  <a:tcPr marL="73152" marR="73152" marT="36576" marB="36576" anchor="ctr">
                    <a:lnL w="12700">
                      <a:solidFill>
                        <a:srgbClr val="1E1E1E"/>
                      </a:solidFill>
                    </a:lnL>
                    <a:lnR w="12700">
                      <a:solidFill>
                        <a:srgbClr val="1E1E1E"/>
                      </a:solidFill>
                    </a:lnR>
                    <a:lnT w="12700">
                      <a:solidFill>
                        <a:srgbClr val="1E1E1E"/>
                      </a:solidFill>
                    </a:lnT>
                    <a:lnB w="12700">
                      <a:solidFill>
                        <a:srgbClr val="1E1E1E"/>
                      </a:solidFill>
                    </a:lnB>
                    <a:solidFill>
                      <a:srgbClr val="FFFFFF"/>
                    </a:solidFill>
                  </a:tcPr>
                </a:tc>
              </a:tr>
            </a:tbl>
          </a:graphicData>
        </a:graphic>
      </p:graphicFrame>
      <p:sp>
        <p:nvSpPr>
          <p:cNvPr id="7" name="Perla clínica"/>
          <p:cNvSpPr/>
          <p:nvPr/>
        </p:nvSpPr>
        <p:spPr>
          <a:xfrm>
            <a:off x="365760" y="4846320"/>
            <a:ext cx="11475720" cy="13716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50" dirty="0">
                <a:solidFill>
                  <a:srgbClr val="FFFFFF"/>
                </a:solidFill>
                <a:latin typeface="Fira Sans Condensed"/>
                <a:ea typeface="Fira Sans Condensed"/>
                <a:cs typeface="Fira Sans Condensed"/>
                <a:sym typeface="Fira Sans Condensed"/>
              </a:rPr>
              <a:t>Diagnóstico con </a:t>
            </a:r>
            <a:r>
              <a:rPr lang="es-AR" sz="1550" b="1" dirty="0">
                <a:solidFill>
                  <a:srgbClr val="FFFFFF"/>
                </a:solidFill>
                <a:latin typeface="Fira Sans Condensed"/>
                <a:ea typeface="Fira Sans Condensed"/>
                <a:cs typeface="Fira Sans Condensed"/>
                <a:sym typeface="Fira Sans Condensed"/>
              </a:rPr>
              <a:t>al menos 3 de 5</a:t>
            </a:r>
            <a:r>
              <a:rPr lang="es-AR" sz="1550" dirty="0">
                <a:solidFill>
                  <a:srgbClr val="FFFFFF"/>
                </a:solidFill>
                <a:latin typeface="Fira Sans Condensed"/>
                <a:ea typeface="Fira Sans Condensed"/>
                <a:cs typeface="Fira Sans Condensed"/>
                <a:sym typeface="Fira Sans Condensed"/>
              </a:rPr>
              <a:t> criterios; los puntos de corte de cintura dependen de </a:t>
            </a:r>
            <a:r>
              <a:rPr lang="es-AR" sz="1550" b="1" dirty="0">
                <a:solidFill>
                  <a:srgbClr val="FFFFFF"/>
                </a:solidFill>
                <a:latin typeface="Fira Sans Condensed"/>
                <a:ea typeface="Fira Sans Condensed"/>
                <a:cs typeface="Fira Sans Condensed"/>
                <a:sym typeface="Fira Sans Condensed"/>
              </a:rPr>
              <a:t>población</a:t>
            </a:r>
            <a:r>
              <a:rPr lang="es-AR" sz="1550" dirty="0">
                <a:solidFill>
                  <a:srgbClr val="FFFFFF"/>
                </a:solidFill>
                <a:latin typeface="Fira Sans Condensed"/>
                <a:ea typeface="Fira Sans Condensed"/>
                <a:cs typeface="Fira Sans Condensed"/>
                <a:sym typeface="Fira Sans Condensed"/>
              </a:rPr>
              <a:t> y recomendaciones regionales. </a:t>
            </a:r>
            <a:r>
              <a:rPr lang="es-AR" sz="1550" b="1" dirty="0">
                <a:solidFill>
                  <a:srgbClr val="FFFFFF"/>
                </a:solidFill>
                <a:latin typeface="Fira Sans Condensed"/>
                <a:ea typeface="Fira Sans Condensed"/>
                <a:cs typeface="Fira Sans Condensed"/>
                <a:sym typeface="Fira Sans Condensed"/>
              </a:rPr>
              <a:t>Nombrar siempre la definición usada.</a:t>
            </a:r>
            <a:endParaRPr lang="es-AR" sz="1550" dirty="0">
              <a:latin typeface="Fira Sans Condensed"/>
            </a:endParaRPr>
          </a:p>
        </p:txBody>
      </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CRITERIOS: DEFINICIÓN ARMONIZADA / ATP III MODIFICADO</a:t>
            </a:r>
            <a:endParaRPr lang="es-AR" sz="26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Sistema OMS (1998)"/>
          <p:cNvGrpSpPr/>
          <p:nvPr/>
        </p:nvGrpSpPr>
        <p:grpSpPr>
          <a:xfrm>
            <a:off x="365760" y="1143000"/>
            <a:ext cx="2304288" cy="3108960"/>
            <a:chOff x="365760" y="1143000"/>
            <a:chExt cx="2304288" cy="3108960"/>
          </a:xfrm>
        </p:grpSpPr>
        <p:sp>
          <p:nvSpPr>
            <p:cNvPr id="8" name="Recuadro OMS (1998)"/>
            <p:cNvSpPr/>
            <p:nvPr/>
          </p:nvSpPr>
          <p:spPr>
            <a:xfrm>
              <a:off x="365760" y="1143000"/>
              <a:ext cx="2194560" cy="640080"/>
            </a:xfrm>
            <a:prstGeom prst="rect">
              <a:avLst/>
            </a:prstGeom>
            <a:solidFill>
              <a:srgbClr val="9DC3E6"/>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OMS (1998)</a:t>
              </a:r>
              <a:endParaRPr lang="es-AR" sz="1350" dirty="0">
                <a:latin typeface="Fira Sans Condensed"/>
              </a:endParaRPr>
            </a:p>
          </p:txBody>
        </p:sp>
        <p:sp>
          <p:nvSpPr>
            <p:cNvPr id="9" name="Forma 8"/>
            <p:cNvSpPr/>
            <p:nvPr/>
          </p:nvSpPr>
          <p:spPr>
            <a:xfrm>
              <a:off x="365760" y="1874520"/>
              <a:ext cx="219456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Exige evidencia de </a:t>
              </a:r>
              <a:r>
                <a:rPr lang="es-AR" sz="1350" b="1" dirty="0">
                  <a:solidFill>
                    <a:srgbClr val="1E1E1E"/>
                  </a:solidFill>
                  <a:latin typeface="Fira Sans Condensed"/>
                  <a:ea typeface="Fira Sans Condensed"/>
                  <a:cs typeface="Fira Sans Condensed"/>
                  <a:sym typeface="Fira Sans Condensed"/>
                </a:rPr>
                <a:t>alteración glucémica / resistencia insulínica</a:t>
              </a:r>
              <a:r>
                <a:rPr lang="es-AR" sz="1350" dirty="0">
                  <a:solidFill>
                    <a:srgbClr val="1E1E1E"/>
                  </a:solidFill>
                  <a:latin typeface="Fira Sans Condensed"/>
                  <a:ea typeface="Fira Sans Condensed"/>
                  <a:cs typeface="Fira Sans Condensed"/>
                  <a:sym typeface="Fira Sans Condensed"/>
                </a:rPr>
                <a:t> como requisito.</a:t>
              </a:r>
              <a:endParaRPr lang="es-AR" sz="1350" dirty="0">
                <a:latin typeface="Fira Sans Condensed"/>
              </a:endParaRPr>
            </a:p>
          </p:txBody>
        </p:sp>
        <p:sp>
          <p:nvSpPr>
            <p:cNvPr id="10" name="Flecha 9_2"/>
            <p:cNvSpPr/>
            <p:nvPr/>
          </p:nvSpPr>
          <p:spPr>
            <a:xfrm>
              <a:off x="2578608" y="1463040"/>
              <a:ext cx="91440" cy="9144"/>
            </a:xfrm>
            <a:custGeom>
              <a:avLst/>
              <a:gdLst/>
              <a:ahLst/>
              <a:cxnLst/>
              <a:rect l="0" t="0" r="r" b="b"/>
              <a:pathLst>
                <a:path w="100" h="10" fill="none">
                  <a:moveTo>
                    <a:pt x="0" y="0"/>
                  </a:moveTo>
                  <a:lnTo>
                    <a:pt x="100" y="0"/>
                  </a:lnTo>
                </a:path>
              </a:pathLst>
            </a:custGeom>
            <a:noFill/>
            <a:ln w="31750" cap="rnd">
              <a:solidFill>
                <a:srgbClr val="1E1E1E"/>
              </a:solidFill>
              <a:round/>
              <a:tailEnd type="triangle" w="med" len="med"/>
            </a:ln>
          </p:spPr>
        </p:sp>
      </p:grpSp>
      <p:grpSp>
        <p:nvGrpSpPr>
          <p:cNvPr id="11" name="Sistema EGIR (1999)"/>
          <p:cNvGrpSpPr/>
          <p:nvPr/>
        </p:nvGrpSpPr>
        <p:grpSpPr>
          <a:xfrm>
            <a:off x="2679192" y="1143000"/>
            <a:ext cx="2304288" cy="3108960"/>
            <a:chOff x="2679192" y="1143000"/>
            <a:chExt cx="2304288" cy="3108960"/>
          </a:xfrm>
        </p:grpSpPr>
        <p:sp>
          <p:nvSpPr>
            <p:cNvPr id="12" name="Recuadro EGIR (1999)"/>
            <p:cNvSpPr/>
            <p:nvPr/>
          </p:nvSpPr>
          <p:spPr>
            <a:xfrm>
              <a:off x="2679192" y="1143000"/>
              <a:ext cx="219456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EGIR (1999)</a:t>
              </a:r>
              <a:endParaRPr lang="es-AR" sz="1350" dirty="0">
                <a:latin typeface="Fira Sans Condensed"/>
              </a:endParaRPr>
            </a:p>
          </p:txBody>
        </p:sp>
        <p:sp>
          <p:nvSpPr>
            <p:cNvPr id="13" name="Forma 13"/>
            <p:cNvSpPr/>
            <p:nvPr/>
          </p:nvSpPr>
          <p:spPr>
            <a:xfrm>
              <a:off x="2679192" y="1874520"/>
              <a:ext cx="219456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Centrado en </a:t>
              </a:r>
              <a:r>
                <a:rPr lang="es-AR" sz="1350" b="1" dirty="0">
                  <a:solidFill>
                    <a:srgbClr val="1E1E1E"/>
                  </a:solidFill>
                  <a:latin typeface="Fira Sans Condensed"/>
                  <a:ea typeface="Fira Sans Condensed"/>
                  <a:cs typeface="Fira Sans Condensed"/>
                  <a:sym typeface="Fira Sans Condensed"/>
                </a:rPr>
                <a:t>hiperinsulinemia</a:t>
              </a:r>
              <a:r>
                <a:rPr lang="es-AR" sz="1350" dirty="0">
                  <a:solidFill>
                    <a:srgbClr val="1E1E1E"/>
                  </a:solidFill>
                  <a:latin typeface="Fira Sans Condensed"/>
                  <a:ea typeface="Fira Sans Condensed"/>
                  <a:cs typeface="Fira Sans Condensed"/>
                  <a:sym typeface="Fira Sans Condensed"/>
                </a:rPr>
                <a:t> (resistencia) como requisito.</a:t>
              </a:r>
              <a:endParaRPr lang="es-AR" sz="1350" dirty="0">
                <a:latin typeface="Fira Sans Condensed"/>
              </a:endParaRPr>
            </a:p>
          </p:txBody>
        </p:sp>
        <p:sp>
          <p:nvSpPr>
            <p:cNvPr id="14" name="Flecha 14_2"/>
            <p:cNvSpPr/>
            <p:nvPr/>
          </p:nvSpPr>
          <p:spPr>
            <a:xfrm>
              <a:off x="4892040" y="1463040"/>
              <a:ext cx="91440" cy="9144"/>
            </a:xfrm>
            <a:custGeom>
              <a:avLst/>
              <a:gdLst/>
              <a:ahLst/>
              <a:cxnLst/>
              <a:rect l="0" t="0" r="r" b="b"/>
              <a:pathLst>
                <a:path w="99" h="10" fill="none">
                  <a:moveTo>
                    <a:pt x="0" y="0"/>
                  </a:moveTo>
                  <a:lnTo>
                    <a:pt x="99" y="0"/>
                  </a:lnTo>
                </a:path>
              </a:pathLst>
            </a:custGeom>
            <a:noFill/>
            <a:ln w="31750" cap="rnd">
              <a:solidFill>
                <a:srgbClr val="1E1E1E"/>
              </a:solidFill>
              <a:round/>
              <a:tailEnd type="triangle" w="med" len="med"/>
            </a:ln>
          </p:spPr>
        </p:sp>
      </p:grpSp>
      <p:grpSp>
        <p:nvGrpSpPr>
          <p:cNvPr id="15" name="Sistema NCEP ATP III (2001)"/>
          <p:cNvGrpSpPr/>
          <p:nvPr/>
        </p:nvGrpSpPr>
        <p:grpSpPr>
          <a:xfrm>
            <a:off x="4992624" y="1143000"/>
            <a:ext cx="2304288" cy="3108960"/>
            <a:chOff x="4992624" y="1143000"/>
            <a:chExt cx="2304288" cy="3108960"/>
          </a:xfrm>
        </p:grpSpPr>
        <p:sp>
          <p:nvSpPr>
            <p:cNvPr id="16" name="Recuadro NCEP ATP III (2001)"/>
            <p:cNvSpPr/>
            <p:nvPr/>
          </p:nvSpPr>
          <p:spPr>
            <a:xfrm>
              <a:off x="4992624" y="1143000"/>
              <a:ext cx="219456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C00000"/>
                  </a:solidFill>
                  <a:latin typeface="Fira Sans Condensed"/>
                  <a:ea typeface="Fira Sans Condensed"/>
                  <a:cs typeface="Fira Sans Condensed"/>
                  <a:sym typeface="Fira Sans Condensed"/>
                </a:rPr>
                <a:t>NCEP ATP III (2001)</a:t>
              </a:r>
              <a:endParaRPr lang="es-AR" sz="1350" dirty="0">
                <a:latin typeface="Fira Sans Condensed"/>
              </a:endParaRPr>
            </a:p>
          </p:txBody>
        </p:sp>
        <p:sp>
          <p:nvSpPr>
            <p:cNvPr id="17" name="Forma 18"/>
            <p:cNvSpPr/>
            <p:nvPr/>
          </p:nvSpPr>
          <p:spPr>
            <a:xfrm>
              <a:off x="4992624" y="1874520"/>
              <a:ext cx="219456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3 de 5 criterios; glucemia original </a:t>
              </a:r>
              <a:r>
                <a:rPr lang="es-AR" sz="1350" b="1" dirty="0">
                  <a:solidFill>
                    <a:srgbClr val="1E1E1E"/>
                  </a:solidFill>
                  <a:latin typeface="Fira Sans Condensed"/>
                  <a:ea typeface="Fira Sans Condensed"/>
                  <a:cs typeface="Fira Sans Condensed"/>
                  <a:sym typeface="Fira Sans Condensed"/>
                </a:rPr>
                <a:t>≥ 110 mg/dL</a:t>
              </a:r>
              <a:r>
                <a:rPr lang="es-AR" sz="1350" dirty="0">
                  <a:solidFill>
                    <a:srgbClr val="1E1E1E"/>
                  </a:solidFill>
                  <a:latin typeface="Fira Sans Condensed"/>
                  <a:ea typeface="Fira Sans Condensed"/>
                  <a:cs typeface="Fira Sans Condensed"/>
                  <a:sym typeface="Fira Sans Condensed"/>
                </a:rPr>
                <a:t>, luego reducida a </a:t>
              </a:r>
              <a:r>
                <a:rPr lang="es-AR" sz="1350" b="1" dirty="0">
                  <a:solidFill>
                    <a:srgbClr val="1E1E1E"/>
                  </a:solidFill>
                  <a:latin typeface="Fira Sans Condensed"/>
                  <a:ea typeface="Fira Sans Condensed"/>
                  <a:cs typeface="Fira Sans Condensed"/>
                  <a:sym typeface="Fira Sans Condensed"/>
                </a:rPr>
                <a:t>≥ 100</a:t>
              </a:r>
              <a:r>
                <a:rPr lang="es-AR" sz="1350" dirty="0">
                  <a:solidFill>
                    <a:srgbClr val="1E1E1E"/>
                  </a:solidFill>
                  <a:latin typeface="Fira Sans Condensed"/>
                  <a:ea typeface="Fira Sans Condensed"/>
                  <a:cs typeface="Fira Sans Condensed"/>
                  <a:sym typeface="Fira Sans Condensed"/>
                </a:rPr>
                <a:t>.</a:t>
              </a:r>
              <a:endParaRPr lang="es-AR" sz="1350" dirty="0">
                <a:latin typeface="Fira Sans Condensed"/>
              </a:endParaRPr>
            </a:p>
          </p:txBody>
        </p:sp>
        <p:sp>
          <p:nvSpPr>
            <p:cNvPr id="18" name="Flecha 19_2"/>
            <p:cNvSpPr/>
            <p:nvPr/>
          </p:nvSpPr>
          <p:spPr>
            <a:xfrm>
              <a:off x="7205472" y="1463040"/>
              <a:ext cx="91440" cy="9144"/>
            </a:xfrm>
            <a:custGeom>
              <a:avLst/>
              <a:gdLst/>
              <a:ahLst/>
              <a:cxnLst/>
              <a:rect l="0" t="0" r="r" b="b"/>
              <a:pathLst>
                <a:path w="100" h="10" fill="none">
                  <a:moveTo>
                    <a:pt x="0" y="0"/>
                  </a:moveTo>
                  <a:lnTo>
                    <a:pt x="100" y="0"/>
                  </a:lnTo>
                </a:path>
              </a:pathLst>
            </a:custGeom>
            <a:noFill/>
            <a:ln w="31750" cap="rnd">
              <a:solidFill>
                <a:srgbClr val="1E1E1E"/>
              </a:solidFill>
              <a:round/>
              <a:tailEnd type="triangle" w="med" len="med"/>
            </a:ln>
          </p:spPr>
        </p:sp>
      </p:grpSp>
      <p:grpSp>
        <p:nvGrpSpPr>
          <p:cNvPr id="19" name="Sistema IDF (2005)"/>
          <p:cNvGrpSpPr/>
          <p:nvPr/>
        </p:nvGrpSpPr>
        <p:grpSpPr>
          <a:xfrm>
            <a:off x="7306056" y="1143000"/>
            <a:ext cx="2304288" cy="3108960"/>
            <a:chOff x="7306056" y="1143000"/>
            <a:chExt cx="2304288" cy="3108960"/>
          </a:xfrm>
        </p:grpSpPr>
        <p:sp>
          <p:nvSpPr>
            <p:cNvPr id="20" name="Recuadro IDF (2005)"/>
            <p:cNvSpPr/>
            <p:nvPr/>
          </p:nvSpPr>
          <p:spPr>
            <a:xfrm>
              <a:off x="7306056" y="1143000"/>
              <a:ext cx="2194560" cy="6400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IDF (2005)</a:t>
              </a:r>
              <a:endParaRPr lang="es-AR" sz="1350" dirty="0">
                <a:latin typeface="Fira Sans Condensed"/>
              </a:endParaRPr>
            </a:p>
          </p:txBody>
        </p:sp>
        <p:sp>
          <p:nvSpPr>
            <p:cNvPr id="21" name="Forma 23"/>
            <p:cNvSpPr/>
            <p:nvPr/>
          </p:nvSpPr>
          <p:spPr>
            <a:xfrm>
              <a:off x="7306056" y="1874520"/>
              <a:ext cx="219456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b="1" dirty="0">
                  <a:solidFill>
                    <a:srgbClr val="1E1E1E"/>
                  </a:solidFill>
                  <a:latin typeface="Fira Sans Condensed"/>
                  <a:ea typeface="Fira Sans Condensed"/>
                  <a:cs typeface="Fira Sans Condensed"/>
                  <a:sym typeface="Fira Sans Condensed"/>
                </a:rPr>
                <a:t>Cintura elevada obligatoria</a:t>
              </a:r>
              <a:r>
                <a:rPr lang="es-AR" sz="1350" dirty="0">
                  <a:solidFill>
                    <a:srgbClr val="1E1E1E"/>
                  </a:solidFill>
                  <a:latin typeface="Fira Sans Condensed"/>
                  <a:ea typeface="Fira Sans Condensed"/>
                  <a:cs typeface="Fira Sans Condensed"/>
                  <a:sym typeface="Fira Sans Condensed"/>
                </a:rPr>
                <a:t> + 2 criterios.</a:t>
              </a:r>
              <a:endParaRPr lang="es-AR" sz="1350" dirty="0">
                <a:latin typeface="Fira Sans Condensed"/>
              </a:endParaRPr>
            </a:p>
          </p:txBody>
        </p:sp>
        <p:sp>
          <p:nvSpPr>
            <p:cNvPr id="22" name="Flecha 24_2"/>
            <p:cNvSpPr/>
            <p:nvPr/>
          </p:nvSpPr>
          <p:spPr>
            <a:xfrm>
              <a:off x="9518904" y="1463040"/>
              <a:ext cx="91440" cy="9144"/>
            </a:xfrm>
            <a:custGeom>
              <a:avLst/>
              <a:gdLst/>
              <a:ahLst/>
              <a:cxnLst/>
              <a:rect l="0" t="0" r="r" b="b"/>
              <a:pathLst>
                <a:path w="99" h="10" fill="none">
                  <a:moveTo>
                    <a:pt x="0" y="0"/>
                  </a:moveTo>
                  <a:lnTo>
                    <a:pt x="99" y="0"/>
                  </a:lnTo>
                </a:path>
              </a:pathLst>
            </a:custGeom>
            <a:noFill/>
            <a:ln w="31750" cap="rnd">
              <a:solidFill>
                <a:srgbClr val="1E1E1E"/>
              </a:solidFill>
              <a:round/>
              <a:tailEnd type="triangle" w="med" len="med"/>
            </a:ln>
          </p:spPr>
        </p:sp>
      </p:grpSp>
      <p:grpSp>
        <p:nvGrpSpPr>
          <p:cNvPr id="23" name="Sistema ARMONIZADA (2009)"/>
          <p:cNvGrpSpPr/>
          <p:nvPr/>
        </p:nvGrpSpPr>
        <p:grpSpPr>
          <a:xfrm>
            <a:off x="9619488" y="1143000"/>
            <a:ext cx="2194560" cy="3108960"/>
            <a:chOff x="9619488" y="1143000"/>
            <a:chExt cx="2194560" cy="3108960"/>
          </a:xfrm>
        </p:grpSpPr>
        <p:sp>
          <p:nvSpPr>
            <p:cNvPr id="24" name="Recuadro ARMONIZADA (2009)"/>
            <p:cNvSpPr/>
            <p:nvPr/>
          </p:nvSpPr>
          <p:spPr>
            <a:xfrm>
              <a:off x="9619488" y="1143000"/>
              <a:ext cx="2194560" cy="6400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FFFFFF"/>
                  </a:solidFill>
                  <a:latin typeface="Fira Sans Condensed"/>
                  <a:ea typeface="Fira Sans Condensed"/>
                  <a:cs typeface="Fira Sans Condensed"/>
                  <a:sym typeface="Fira Sans Condensed"/>
                </a:rPr>
                <a:t>ARMONIZADA (2009)</a:t>
              </a:r>
              <a:endParaRPr lang="es-AR" sz="1350" dirty="0">
                <a:latin typeface="Fira Sans Condensed"/>
              </a:endParaRPr>
            </a:p>
          </p:txBody>
        </p:sp>
        <p:sp>
          <p:nvSpPr>
            <p:cNvPr id="25" name="Forma 28"/>
            <p:cNvSpPr/>
            <p:nvPr/>
          </p:nvSpPr>
          <p:spPr>
            <a:xfrm>
              <a:off x="9619488" y="1874520"/>
              <a:ext cx="2194560" cy="237744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350" dirty="0">
                  <a:solidFill>
                    <a:srgbClr val="1E1E1E"/>
                  </a:solidFill>
                  <a:latin typeface="Fira Sans Condensed"/>
                  <a:ea typeface="Fira Sans Condensed"/>
                  <a:cs typeface="Fira Sans Condensed"/>
                  <a:sym typeface="Fira Sans Condensed"/>
                </a:rPr>
                <a:t>3 de 5; la obesidad central </a:t>
              </a:r>
              <a:r>
                <a:rPr lang="es-AR" sz="1350" b="1" dirty="0">
                  <a:solidFill>
                    <a:srgbClr val="1E1E1E"/>
                  </a:solidFill>
                  <a:latin typeface="Fira Sans Condensed"/>
                  <a:ea typeface="Fira Sans Condensed"/>
                  <a:cs typeface="Fira Sans Condensed"/>
                  <a:sym typeface="Fira Sans Condensed"/>
                </a:rPr>
                <a:t>ya no es obligatoria</a:t>
              </a:r>
              <a:r>
                <a:rPr lang="es-AR" sz="1350" dirty="0">
                  <a:solidFill>
                    <a:srgbClr val="1E1E1E"/>
                  </a:solidFill>
                  <a:latin typeface="Fira Sans Condensed"/>
                  <a:ea typeface="Fira Sans Condensed"/>
                  <a:cs typeface="Fira Sans Condensed"/>
                  <a:sym typeface="Fira Sans Condensed"/>
                </a:rPr>
                <a:t>; cintura según población.</a:t>
              </a:r>
              <a:endParaRPr lang="es-AR" sz="1350" dirty="0">
                <a:latin typeface="Fira Sans Condensed"/>
              </a:endParaRPr>
            </a:p>
          </p:txBody>
        </p:sp>
      </p:grpSp>
      <p:sp>
        <p:nvSpPr>
          <p:cNvPr id="26" name="Perla clínica"/>
          <p:cNvSpPr/>
          <p:nvPr/>
        </p:nvSpPr>
        <p:spPr>
          <a:xfrm>
            <a:off x="365760" y="4526280"/>
            <a:ext cx="11475720" cy="17373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Error frecuente: describir el SM con la glucemia </a:t>
            </a:r>
            <a:r>
              <a:rPr lang="es-AR" sz="1500" b="1" dirty="0">
                <a:solidFill>
                  <a:srgbClr val="FFFFFF"/>
                </a:solidFill>
                <a:latin typeface="Fira Sans Condensed"/>
                <a:ea typeface="Fira Sans Condensed"/>
                <a:cs typeface="Fira Sans Condensed"/>
                <a:sym typeface="Fira Sans Condensed"/>
              </a:rPr>
              <a:t>110</a:t>
            </a:r>
            <a:r>
              <a:rPr lang="es-AR" sz="1500" dirty="0">
                <a:solidFill>
                  <a:srgbClr val="FFFFFF"/>
                </a:solidFill>
                <a:latin typeface="Fira Sans Condensed"/>
                <a:ea typeface="Fira Sans Condensed"/>
                <a:cs typeface="Fira Sans Condensed"/>
                <a:sym typeface="Fira Sans Condensed"/>
              </a:rPr>
              <a:t> del ATP III original como si fuera el único punto actual, o combinar la cintura </a:t>
            </a:r>
            <a:r>
              <a:rPr lang="es-AR" sz="1500" b="1" dirty="0">
                <a:solidFill>
                  <a:srgbClr val="FFFFFF"/>
                </a:solidFill>
                <a:latin typeface="Fira Sans Condensed"/>
                <a:ea typeface="Fira Sans Condensed"/>
                <a:cs typeface="Fira Sans Condensed"/>
                <a:sym typeface="Fira Sans Condensed"/>
              </a:rPr>
              <a:t>obligatoria</a:t>
            </a:r>
            <a:r>
              <a:rPr lang="es-AR" sz="1500" dirty="0">
                <a:solidFill>
                  <a:srgbClr val="FFFFFF"/>
                </a:solidFill>
                <a:latin typeface="Fira Sans Condensed"/>
                <a:ea typeface="Fira Sans Condensed"/>
                <a:cs typeface="Fira Sans Condensed"/>
                <a:sym typeface="Fira Sans Condensed"/>
              </a:rPr>
              <a:t> de IDF con el esquema </a:t>
            </a:r>
            <a:r>
              <a:rPr lang="es-AR" sz="1500" b="1" dirty="0">
                <a:solidFill>
                  <a:srgbClr val="FFFFFF"/>
                </a:solidFill>
                <a:latin typeface="Fira Sans Condensed"/>
                <a:ea typeface="Fira Sans Condensed"/>
                <a:cs typeface="Fira Sans Condensed"/>
                <a:sym typeface="Fira Sans Condensed"/>
              </a:rPr>
              <a:t>3 de 5</a:t>
            </a:r>
            <a:r>
              <a:rPr lang="es-AR" sz="1500" dirty="0">
                <a:solidFill>
                  <a:srgbClr val="FFFFFF"/>
                </a:solidFill>
                <a:latin typeface="Fira Sans Condensed"/>
                <a:ea typeface="Fira Sans Condensed"/>
                <a:cs typeface="Fira Sans Condensed"/>
                <a:sym typeface="Fira Sans Condensed"/>
              </a:rPr>
              <a:t>. [S] compara los sistemas en su </a:t>
            </a:r>
            <a:r>
              <a:rPr lang="es-AR" sz="1500" b="1" dirty="0">
                <a:solidFill>
                  <a:srgbClr val="FFFFFF"/>
                </a:solidFill>
                <a:latin typeface="Fira Sans Condensed"/>
                <a:ea typeface="Fira Sans Condensed"/>
                <a:cs typeface="Fira Sans Condensed"/>
                <a:sym typeface="Fira Sans Condensed"/>
              </a:rPr>
              <a:t>Tabla 1 (p. 3)</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SISTEMAS HISTÓRICOS: NO MEZCLAR UMBRALES</a:t>
            </a:r>
            <a:endParaRPr lang="es-AR" sz="33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p:cTn id="30" dur="500" fill="hold"/>
                                        <p:tgtEl>
                                          <p:spTgt spid="26"/>
                                        </p:tgtEl>
                                        <p:attrNameLst>
                                          <p:attrName>ppt_w</p:attrName>
                                        </p:attrNameLst>
                                      </p:cBhvr>
                                      <p:tavLst>
                                        <p:tav tm="0">
                                          <p:val>
                                            <p:fltVal val="0"/>
                                          </p:val>
                                        </p:tav>
                                        <p:tav tm="100000">
                                          <p:val>
                                            <p:strVal val="#ppt_w"/>
                                          </p:val>
                                        </p:tav>
                                      </p:tavLst>
                                    </p:anim>
                                    <p:anim calcmode="lin" valueType="num">
                                      <p:cBhvr>
                                        <p:cTn id="31" dur="500" fill="hold"/>
                                        <p:tgtEl>
                                          <p:spTgt spid="26"/>
                                        </p:tgtEl>
                                        <p:attrNameLst>
                                          <p:attrName>ppt_h</p:attrName>
                                        </p:attrNameLst>
                                      </p:cBhvr>
                                      <p:tavLst>
                                        <p:tav tm="0">
                                          <p:val>
                                            <p:fltVal val="0"/>
                                          </p:val>
                                        </p:tav>
                                        <p:tav tm="100000">
                                          <p:val>
                                            <p:strVal val="#ppt_h"/>
                                          </p:val>
                                        </p:tav>
                                      </p:tavLst>
                                    </p:anim>
                                    <p:animEffect transition="in" filter="fade">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Criterio 0"/>
          <p:cNvGrpSpPr/>
          <p:nvPr/>
        </p:nvGrpSpPr>
        <p:grpSpPr>
          <a:xfrm>
            <a:off x="365760" y="1097280"/>
            <a:ext cx="8412480" cy="640080"/>
            <a:chOff x="365760" y="1097280"/>
            <a:chExt cx="8412480" cy="640080"/>
          </a:xfrm>
        </p:grpSpPr>
        <p:sp>
          <p:nvSpPr>
            <p:cNvPr id="8" name="Recuadro Cintura 124 cm"/>
            <p:cNvSpPr/>
            <p:nvPr/>
          </p:nvSpPr>
          <p:spPr>
            <a:xfrm>
              <a:off x="365760" y="1097280"/>
              <a:ext cx="5120640" cy="6400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Cintura 124 cm</a:t>
              </a:r>
              <a:endParaRPr lang="es-AR" sz="1500" dirty="0">
                <a:latin typeface="Fira Sans Condensed"/>
              </a:endParaRPr>
            </a:p>
          </p:txBody>
        </p:sp>
        <p:sp>
          <p:nvSpPr>
            <p:cNvPr id="9" name="Flecha 8_2"/>
            <p:cNvSpPr/>
            <p:nvPr/>
          </p:nvSpPr>
          <p:spPr>
            <a:xfrm>
              <a:off x="5532120" y="1417320"/>
              <a:ext cx="502920" cy="9144"/>
            </a:xfrm>
            <a:custGeom>
              <a:avLst/>
              <a:gdLst/>
              <a:ahLst/>
              <a:cxnLst/>
              <a:rect l="0" t="0" r="r" b="b"/>
              <a:pathLst>
                <a:path w="549" h="10" fill="none">
                  <a:moveTo>
                    <a:pt x="0" y="0"/>
                  </a:moveTo>
                  <a:lnTo>
                    <a:pt x="549" y="0"/>
                  </a:lnTo>
                </a:path>
              </a:pathLst>
            </a:custGeom>
            <a:noFill/>
            <a:ln w="31750" cap="rnd">
              <a:solidFill>
                <a:srgbClr val="1E1E1E"/>
              </a:solidFill>
              <a:round/>
              <a:tailEnd type="triangle" w="med" len="med"/>
            </a:ln>
          </p:spPr>
        </p:sp>
        <p:sp>
          <p:nvSpPr>
            <p:cNvPr id="10" name="Recuadro SÍ"/>
            <p:cNvSpPr/>
            <p:nvPr/>
          </p:nvSpPr>
          <p:spPr>
            <a:xfrm>
              <a:off x="6126480" y="1097280"/>
              <a:ext cx="265176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SÍ</a:t>
              </a:r>
              <a:endParaRPr lang="es-AR" sz="1500" dirty="0">
                <a:latin typeface="Fira Sans Condensed"/>
              </a:endParaRPr>
            </a:p>
          </p:txBody>
        </p:sp>
      </p:grpSp>
      <p:grpSp>
        <p:nvGrpSpPr>
          <p:cNvPr id="11" name="Criterio 1"/>
          <p:cNvGrpSpPr/>
          <p:nvPr/>
        </p:nvGrpSpPr>
        <p:grpSpPr>
          <a:xfrm>
            <a:off x="365760" y="1874520"/>
            <a:ext cx="8412480" cy="640080"/>
            <a:chOff x="365760" y="1874520"/>
            <a:chExt cx="8412480" cy="640080"/>
          </a:xfrm>
        </p:grpSpPr>
        <p:sp>
          <p:nvSpPr>
            <p:cNvPr id="12" name="Recuadro TG 185 mg/dL"/>
            <p:cNvSpPr/>
            <p:nvPr/>
          </p:nvSpPr>
          <p:spPr>
            <a:xfrm>
              <a:off x="365760" y="1874520"/>
              <a:ext cx="5120640" cy="6400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TG 185 mg/dL</a:t>
              </a:r>
              <a:endParaRPr lang="es-AR" sz="1500" dirty="0">
                <a:latin typeface="Fira Sans Condensed"/>
              </a:endParaRPr>
            </a:p>
          </p:txBody>
        </p:sp>
        <p:sp>
          <p:nvSpPr>
            <p:cNvPr id="13" name="Flecha 13_2"/>
            <p:cNvSpPr/>
            <p:nvPr/>
          </p:nvSpPr>
          <p:spPr>
            <a:xfrm>
              <a:off x="5532120" y="2194560"/>
              <a:ext cx="502920" cy="9144"/>
            </a:xfrm>
            <a:custGeom>
              <a:avLst/>
              <a:gdLst/>
              <a:ahLst/>
              <a:cxnLst/>
              <a:rect l="0" t="0" r="r" b="b"/>
              <a:pathLst>
                <a:path w="549" h="10" fill="none">
                  <a:moveTo>
                    <a:pt x="0" y="0"/>
                  </a:moveTo>
                  <a:lnTo>
                    <a:pt x="549" y="0"/>
                  </a:lnTo>
                </a:path>
              </a:pathLst>
            </a:custGeom>
            <a:noFill/>
            <a:ln w="31750" cap="rnd">
              <a:solidFill>
                <a:srgbClr val="1E1E1E"/>
              </a:solidFill>
              <a:round/>
              <a:tailEnd type="triangle" w="med" len="med"/>
            </a:ln>
          </p:spPr>
        </p:sp>
        <p:sp>
          <p:nvSpPr>
            <p:cNvPr id="14" name="Recuadro SÍ_2"/>
            <p:cNvSpPr/>
            <p:nvPr/>
          </p:nvSpPr>
          <p:spPr>
            <a:xfrm>
              <a:off x="6126480" y="1874520"/>
              <a:ext cx="265176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SÍ</a:t>
              </a:r>
              <a:endParaRPr lang="es-AR" sz="1500" dirty="0">
                <a:latin typeface="Fira Sans Condensed"/>
              </a:endParaRPr>
            </a:p>
          </p:txBody>
        </p:sp>
      </p:grpSp>
      <p:grpSp>
        <p:nvGrpSpPr>
          <p:cNvPr id="15" name="Criterio 2"/>
          <p:cNvGrpSpPr/>
          <p:nvPr/>
        </p:nvGrpSpPr>
        <p:grpSpPr>
          <a:xfrm>
            <a:off x="365760" y="2651760"/>
            <a:ext cx="8412480" cy="640080"/>
            <a:chOff x="365760" y="2651760"/>
            <a:chExt cx="8412480" cy="640080"/>
          </a:xfrm>
        </p:grpSpPr>
        <p:sp>
          <p:nvSpPr>
            <p:cNvPr id="16" name="Recuadro HDL 30 mg/dL"/>
            <p:cNvSpPr/>
            <p:nvPr/>
          </p:nvSpPr>
          <p:spPr>
            <a:xfrm>
              <a:off x="365760" y="2651760"/>
              <a:ext cx="5120640" cy="6400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HDL 30 mg/dL</a:t>
              </a:r>
              <a:endParaRPr lang="es-AR" sz="1500" dirty="0">
                <a:latin typeface="Fira Sans Condensed"/>
              </a:endParaRPr>
            </a:p>
          </p:txBody>
        </p:sp>
        <p:sp>
          <p:nvSpPr>
            <p:cNvPr id="17" name="Flecha 18_2"/>
            <p:cNvSpPr/>
            <p:nvPr/>
          </p:nvSpPr>
          <p:spPr>
            <a:xfrm>
              <a:off x="5532120" y="2971800"/>
              <a:ext cx="502920" cy="9144"/>
            </a:xfrm>
            <a:custGeom>
              <a:avLst/>
              <a:gdLst/>
              <a:ahLst/>
              <a:cxnLst/>
              <a:rect l="0" t="0" r="r" b="b"/>
              <a:pathLst>
                <a:path w="549" h="10" fill="none">
                  <a:moveTo>
                    <a:pt x="0" y="0"/>
                  </a:moveTo>
                  <a:lnTo>
                    <a:pt x="549" y="0"/>
                  </a:lnTo>
                </a:path>
              </a:pathLst>
            </a:custGeom>
            <a:noFill/>
            <a:ln w="31750" cap="rnd">
              <a:solidFill>
                <a:srgbClr val="1E1E1E"/>
              </a:solidFill>
              <a:round/>
              <a:tailEnd type="triangle" w="med" len="med"/>
            </a:ln>
          </p:spPr>
        </p:sp>
        <p:sp>
          <p:nvSpPr>
            <p:cNvPr id="18" name="Recuadro SÍ_3"/>
            <p:cNvSpPr/>
            <p:nvPr/>
          </p:nvSpPr>
          <p:spPr>
            <a:xfrm>
              <a:off x="6126480" y="2651760"/>
              <a:ext cx="265176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SÍ</a:t>
              </a:r>
              <a:endParaRPr lang="es-AR" sz="1500" dirty="0">
                <a:latin typeface="Fira Sans Condensed"/>
              </a:endParaRPr>
            </a:p>
          </p:txBody>
        </p:sp>
      </p:grpSp>
      <p:grpSp>
        <p:nvGrpSpPr>
          <p:cNvPr id="19" name="Criterio 3"/>
          <p:cNvGrpSpPr/>
          <p:nvPr/>
        </p:nvGrpSpPr>
        <p:grpSpPr>
          <a:xfrm>
            <a:off x="365760" y="3429000"/>
            <a:ext cx="8412480" cy="640080"/>
            <a:chOff x="365760" y="3429000"/>
            <a:chExt cx="8412480" cy="640080"/>
          </a:xfrm>
        </p:grpSpPr>
        <p:sp>
          <p:nvSpPr>
            <p:cNvPr id="20" name="Recuadro TA 160/100"/>
            <p:cNvSpPr/>
            <p:nvPr/>
          </p:nvSpPr>
          <p:spPr>
            <a:xfrm>
              <a:off x="365760" y="3429000"/>
              <a:ext cx="5120640" cy="6400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TA 160/100</a:t>
              </a:r>
              <a:endParaRPr lang="es-AR" sz="1500" dirty="0">
                <a:latin typeface="Fira Sans Condensed"/>
              </a:endParaRPr>
            </a:p>
          </p:txBody>
        </p:sp>
        <p:sp>
          <p:nvSpPr>
            <p:cNvPr id="21" name="Flecha 23_2"/>
            <p:cNvSpPr/>
            <p:nvPr/>
          </p:nvSpPr>
          <p:spPr>
            <a:xfrm>
              <a:off x="5532120" y="3749040"/>
              <a:ext cx="502920" cy="9144"/>
            </a:xfrm>
            <a:custGeom>
              <a:avLst/>
              <a:gdLst/>
              <a:ahLst/>
              <a:cxnLst/>
              <a:rect l="0" t="0" r="r" b="b"/>
              <a:pathLst>
                <a:path w="549" h="10" fill="none">
                  <a:moveTo>
                    <a:pt x="0" y="0"/>
                  </a:moveTo>
                  <a:lnTo>
                    <a:pt x="549" y="0"/>
                  </a:lnTo>
                </a:path>
              </a:pathLst>
            </a:custGeom>
            <a:noFill/>
            <a:ln w="31750" cap="rnd">
              <a:solidFill>
                <a:srgbClr val="1E1E1E"/>
              </a:solidFill>
              <a:round/>
              <a:tailEnd type="triangle" w="med" len="med"/>
            </a:ln>
          </p:spPr>
        </p:sp>
        <p:sp>
          <p:nvSpPr>
            <p:cNvPr id="22" name="Recuadro SÍ_4"/>
            <p:cNvSpPr/>
            <p:nvPr/>
          </p:nvSpPr>
          <p:spPr>
            <a:xfrm>
              <a:off x="6126480" y="3429000"/>
              <a:ext cx="2651760" cy="64008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SÍ</a:t>
              </a:r>
              <a:endParaRPr lang="es-AR" sz="1500" dirty="0">
                <a:latin typeface="Fira Sans Condensed"/>
              </a:endParaRPr>
            </a:p>
          </p:txBody>
        </p:sp>
      </p:grpSp>
      <p:grpSp>
        <p:nvGrpSpPr>
          <p:cNvPr id="23" name="Criterio 4"/>
          <p:cNvGrpSpPr/>
          <p:nvPr/>
        </p:nvGrpSpPr>
        <p:grpSpPr>
          <a:xfrm>
            <a:off x="365760" y="4206240"/>
            <a:ext cx="8412480" cy="640080"/>
            <a:chOff x="365760" y="4206240"/>
            <a:chExt cx="8412480" cy="640080"/>
          </a:xfrm>
        </p:grpSpPr>
        <p:sp>
          <p:nvSpPr>
            <p:cNvPr id="24" name="Recuadro Glucosa 145 mg/dL (ayu"/>
            <p:cNvSpPr/>
            <p:nvPr/>
          </p:nvSpPr>
          <p:spPr>
            <a:xfrm>
              <a:off x="365760" y="4206240"/>
              <a:ext cx="5120640" cy="64008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Glucosa 145 mg/dL (ayuno no aclarado)</a:t>
              </a:r>
              <a:endParaRPr lang="es-AR" sz="1500" dirty="0">
                <a:latin typeface="Fira Sans Condensed"/>
              </a:endParaRPr>
            </a:p>
          </p:txBody>
        </p:sp>
        <p:sp>
          <p:nvSpPr>
            <p:cNvPr id="25" name="Flecha 28_2"/>
            <p:cNvSpPr/>
            <p:nvPr/>
          </p:nvSpPr>
          <p:spPr>
            <a:xfrm>
              <a:off x="5532120" y="4526280"/>
              <a:ext cx="502920" cy="9144"/>
            </a:xfrm>
            <a:custGeom>
              <a:avLst/>
              <a:gdLst/>
              <a:ahLst/>
              <a:cxnLst/>
              <a:rect l="0" t="0" r="r" b="b"/>
              <a:pathLst>
                <a:path w="549" h="10" fill="none">
                  <a:moveTo>
                    <a:pt x="0" y="0"/>
                  </a:moveTo>
                  <a:lnTo>
                    <a:pt x="549" y="0"/>
                  </a:lnTo>
                </a:path>
              </a:pathLst>
            </a:custGeom>
            <a:noFill/>
            <a:ln w="31750" cap="rnd">
              <a:solidFill>
                <a:srgbClr val="1E1E1E"/>
              </a:solidFill>
              <a:round/>
              <a:tailEnd type="triangle" w="med" len="med"/>
            </a:ln>
          </p:spPr>
        </p:sp>
        <p:sp>
          <p:nvSpPr>
            <p:cNvPr id="26" name="Recuadro SÓLO si fue en ayunas"/>
            <p:cNvSpPr/>
            <p:nvPr/>
          </p:nvSpPr>
          <p:spPr>
            <a:xfrm>
              <a:off x="6126480" y="4206240"/>
              <a:ext cx="2651760" cy="6400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SÓLO si fue en ayunas</a:t>
              </a:r>
              <a:endParaRPr lang="es-AR" sz="1500" dirty="0">
                <a:latin typeface="Fira Sans Condensed"/>
              </a:endParaRPr>
            </a:p>
          </p:txBody>
        </p:sp>
      </p:grpSp>
      <p:sp>
        <p:nvSpPr>
          <p:cNvPr id="27" name="Recuadro ≥ 4 CRITERIOS DOCUMENT"/>
          <p:cNvSpPr/>
          <p:nvPr/>
        </p:nvSpPr>
        <p:spPr>
          <a:xfrm>
            <a:off x="9052560" y="1097280"/>
            <a:ext cx="2788920" cy="36118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FFFFFF"/>
                </a:solidFill>
                <a:latin typeface="Fira Sans Condensed"/>
                <a:ea typeface="Fira Sans Condensed"/>
                <a:cs typeface="Fira Sans Condensed"/>
                <a:sym typeface="Fira Sans Condensed"/>
              </a:rPr>
              <a:t>≥ 4 CRITERIOS DOCUMENTADOS</a:t>
            </a:r>
            <a:endParaRPr lang="es-AR" sz="1600" dirty="0">
              <a:latin typeface="Fira Sans Condensed"/>
            </a:endParaRPr>
          </a:p>
          <a:p>
            <a:pPr algn="ctr">
              <a:spcAft>
                <a:spcPts val="200"/>
              </a:spcAft>
              <a:buNone/>
            </a:pPr>
            <a:r>
              <a:rPr lang="es-AR" sz="1600" b="1" dirty="0">
                <a:solidFill>
                  <a:srgbClr val="FFFFFF"/>
                </a:solidFill>
                <a:latin typeface="Fira Sans Condensed"/>
                <a:ea typeface="Fira Sans Condensed"/>
                <a:cs typeface="Fira Sans Condensed"/>
                <a:sym typeface="Fira Sans Condensed"/>
              </a:rPr>
              <a:t>→ SÍNDROME METABÓLICO</a:t>
            </a:r>
            <a:endParaRPr lang="es-AR" sz="1600" dirty="0">
              <a:latin typeface="Fira Sans Condensed"/>
            </a:endParaRPr>
          </a:p>
        </p:txBody>
      </p:sp>
      <p:sp>
        <p:nvSpPr>
          <p:cNvPr id="28" name="Forma 32"/>
          <p:cNvSpPr/>
          <p:nvPr/>
        </p:nvSpPr>
        <p:spPr>
          <a:xfrm>
            <a:off x="365760" y="5120640"/>
            <a:ext cx="11475720" cy="11430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Una glucemia </a:t>
            </a:r>
            <a:r>
              <a:rPr lang="es-AR" sz="1500" b="1" dirty="0">
                <a:solidFill>
                  <a:srgbClr val="1E1E1E"/>
                </a:solidFill>
                <a:latin typeface="Fira Sans Condensed"/>
                <a:ea typeface="Fira Sans Condensed"/>
                <a:cs typeface="Fira Sans Condensed"/>
                <a:sym typeface="Fira Sans Condensed"/>
              </a:rPr>
              <a:t>no identificada como de ayunas</a:t>
            </a:r>
            <a:r>
              <a:rPr lang="es-AR" sz="1500" dirty="0">
                <a:solidFill>
                  <a:srgbClr val="1E1E1E"/>
                </a:solidFill>
                <a:latin typeface="Fira Sans Condensed"/>
                <a:ea typeface="Fira Sans Condensed"/>
                <a:cs typeface="Fira Sans Condensed"/>
                <a:sym typeface="Fira Sans Condensed"/>
              </a:rPr>
              <a:t> no debe puntuarse automáticamente como criterio formal, aunque </a:t>
            </a:r>
            <a:r>
              <a:rPr lang="es-AR" sz="1500" b="1" dirty="0">
                <a:solidFill>
                  <a:srgbClr val="1E1E1E"/>
                </a:solidFill>
                <a:latin typeface="Fira Sans Condensed"/>
                <a:ea typeface="Fira Sans Condensed"/>
                <a:cs typeface="Fira Sans Condensed"/>
                <a:sym typeface="Fira Sans Condensed"/>
              </a:rPr>
              <a:t>sugiere alteración</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APLICACIÓN AL CASO 20 (PREGUNTA 4A)</a:t>
            </a:r>
            <a:endParaRPr lang="es-AR" sz="34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34" fill="hold">
                      <p:stCondLst>
                        <p:cond delay="indefinite"/>
                      </p:stCondLst>
                      <p:childTnLst>
                        <p:par>
                          <p:cTn id="33"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p:cTn id="30" dur="500" fill="hold"/>
                                        <p:tgtEl>
                                          <p:spTgt spid="27"/>
                                        </p:tgtEl>
                                        <p:attrNameLst>
                                          <p:attrName>ppt_w</p:attrName>
                                        </p:attrNameLst>
                                      </p:cBhvr>
                                      <p:tavLst>
                                        <p:tav tm="0">
                                          <p:val>
                                            <p:fltVal val="0"/>
                                          </p:val>
                                        </p:tav>
                                        <p:tav tm="100000">
                                          <p:val>
                                            <p:strVal val="#ppt_w"/>
                                          </p:val>
                                        </p:tav>
                                      </p:tavLst>
                                    </p:anim>
                                    <p:anim calcmode="lin" valueType="num">
                                      <p:cBhvr>
                                        <p:cTn id="31" dur="500" fill="hold"/>
                                        <p:tgtEl>
                                          <p:spTgt spid="27"/>
                                        </p:tgtEl>
                                        <p:attrNameLst>
                                          <p:attrName>ppt_h</p:attrName>
                                        </p:attrNameLst>
                                      </p:cBhvr>
                                      <p:tavLst>
                                        <p:tav tm="0">
                                          <p:val>
                                            <p:fltVal val="0"/>
                                          </p:val>
                                        </p:tav>
                                        <p:tav tm="100000">
                                          <p:val>
                                            <p:strVal val="#ppt_h"/>
                                          </p:val>
                                        </p:tav>
                                      </p:tavLst>
                                    </p:anim>
                                    <p:animEffect transition="in" filter="fade">
                                      <p:cBhvr>
                                        <p:cTn id="32" dur="500"/>
                                        <p:tgtEl>
                                          <p:spTgt spid="27"/>
                                        </p:tgtEl>
                                      </p:cBhvr>
                                    </p:animEffect>
                                  </p:childTnLst>
                                </p:cTn>
                              </p:par>
                            </p:childTnLst>
                          </p:cTn>
                        </p:par>
                      </p:childTnLst>
                    </p:cTn>
                  </p:par>
                  <p:par>
                    <p:cTn id="39" fill="hold">
                      <p:stCondLst>
                        <p:cond delay="indefinite"/>
                      </p:stCondLst>
                      <p:childTnLst>
                        <p:par>
                          <p:cTn id="38"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Etio 0"/>
          <p:cNvSpPr/>
          <p:nvPr/>
        </p:nvSpPr>
        <p:spPr>
          <a:xfrm>
            <a:off x="2788920" y="1097280"/>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Genética y epigenética</a:t>
            </a:r>
            <a:endParaRPr lang="es-AR" sz="1150" dirty="0">
              <a:latin typeface="Fira Sans Condensed"/>
            </a:endParaRPr>
          </a:p>
        </p:txBody>
      </p:sp>
      <p:sp>
        <p:nvSpPr>
          <p:cNvPr id="7" name="Etio 1"/>
          <p:cNvSpPr/>
          <p:nvPr/>
        </p:nvSpPr>
        <p:spPr>
          <a:xfrm>
            <a:off x="4320712" y="1525135"/>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Exceso de energía</a:t>
            </a:r>
            <a:endParaRPr lang="es-AR" sz="1150" dirty="0">
              <a:latin typeface="Fira Sans Condensed"/>
            </a:endParaRPr>
          </a:p>
        </p:txBody>
      </p:sp>
      <p:sp>
        <p:nvSpPr>
          <p:cNvPr id="8" name="Etio 2"/>
          <p:cNvSpPr/>
          <p:nvPr/>
        </p:nvSpPr>
        <p:spPr>
          <a:xfrm>
            <a:off x="5267411" y="2645275"/>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Adiposidad visceral y ectópica</a:t>
            </a:r>
            <a:endParaRPr lang="es-AR" sz="1150" dirty="0">
              <a:latin typeface="Fira Sans Condensed"/>
            </a:endParaRPr>
          </a:p>
        </p:txBody>
      </p:sp>
      <p:sp>
        <p:nvSpPr>
          <p:cNvPr id="9" name="Etio 3"/>
          <p:cNvSpPr/>
          <p:nvPr/>
        </p:nvSpPr>
        <p:spPr>
          <a:xfrm>
            <a:off x="5267411" y="4029845"/>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Actividad reducida</a:t>
            </a:r>
            <a:endParaRPr lang="es-AR" sz="1150" dirty="0">
              <a:latin typeface="Fira Sans Condensed"/>
            </a:endParaRPr>
          </a:p>
        </p:txBody>
      </p:sp>
      <p:sp>
        <p:nvSpPr>
          <p:cNvPr id="10" name="Etio 4"/>
          <p:cNvSpPr/>
          <p:nvPr/>
        </p:nvSpPr>
        <p:spPr>
          <a:xfrm>
            <a:off x="4320712" y="5149985"/>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Sueño insuficiente / AOS</a:t>
            </a:r>
            <a:endParaRPr lang="es-AR" sz="1150" dirty="0">
              <a:latin typeface="Fira Sans Condensed"/>
            </a:endParaRPr>
          </a:p>
        </p:txBody>
      </p:sp>
      <p:sp>
        <p:nvSpPr>
          <p:cNvPr id="11" name="Etio 5"/>
          <p:cNvSpPr/>
          <p:nvPr/>
        </p:nvSpPr>
        <p:spPr>
          <a:xfrm>
            <a:off x="2788920" y="5577840"/>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Envejecimiento</a:t>
            </a:r>
            <a:endParaRPr lang="es-AR" sz="1150" dirty="0">
              <a:latin typeface="Fira Sans Condensed"/>
            </a:endParaRPr>
          </a:p>
        </p:txBody>
      </p:sp>
      <p:sp>
        <p:nvSpPr>
          <p:cNvPr id="12" name="Etio 6"/>
          <p:cNvSpPr/>
          <p:nvPr/>
        </p:nvSpPr>
        <p:spPr>
          <a:xfrm>
            <a:off x="1257128" y="5149985"/>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Factores psicosociales</a:t>
            </a:r>
            <a:endParaRPr lang="es-AR" sz="1150" dirty="0">
              <a:latin typeface="Fira Sans Condensed"/>
            </a:endParaRPr>
          </a:p>
        </p:txBody>
      </p:sp>
      <p:sp>
        <p:nvSpPr>
          <p:cNvPr id="13" name="Etio 7"/>
          <p:cNvSpPr/>
          <p:nvPr/>
        </p:nvSpPr>
        <p:spPr>
          <a:xfrm>
            <a:off x="310429" y="4029845"/>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Adipocinas alteradas · AGNE</a:t>
            </a:r>
            <a:endParaRPr lang="es-AR" sz="1150" dirty="0">
              <a:latin typeface="Fira Sans Condensed"/>
            </a:endParaRPr>
          </a:p>
        </p:txBody>
      </p:sp>
      <p:sp>
        <p:nvSpPr>
          <p:cNvPr id="14" name="Etio 8"/>
          <p:cNvSpPr/>
          <p:nvPr/>
        </p:nvSpPr>
        <p:spPr>
          <a:xfrm>
            <a:off x="310429" y="2645275"/>
            <a:ext cx="201168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C00000"/>
                </a:solidFill>
                <a:latin typeface="Fira Sans Condensed"/>
                <a:ea typeface="Fira Sans Condensed"/>
                <a:cs typeface="Fira Sans Condensed"/>
                <a:sym typeface="Fira Sans Condensed"/>
              </a:rPr>
              <a:t>Lipotoxicidad · estrés oxidativo</a:t>
            </a:r>
            <a:endParaRPr lang="es-AR" sz="1150" dirty="0">
              <a:latin typeface="Fira Sans Condensed"/>
            </a:endParaRPr>
          </a:p>
        </p:txBody>
      </p:sp>
      <p:sp>
        <p:nvSpPr>
          <p:cNvPr id="15" name="Etio 9"/>
          <p:cNvSpPr/>
          <p:nvPr/>
        </p:nvSpPr>
        <p:spPr>
          <a:xfrm>
            <a:off x="1257128" y="1525135"/>
            <a:ext cx="201168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1E1E1E"/>
                </a:solidFill>
                <a:latin typeface="Fira Sans Condensed"/>
                <a:ea typeface="Fira Sans Condensed"/>
                <a:cs typeface="Fira Sans Condensed"/>
                <a:sym typeface="Fira Sans Condensed"/>
              </a:rPr>
              <a:t>Hiperinsulinemia y declive β</a:t>
            </a:r>
            <a:endParaRPr lang="es-AR" sz="1150" dirty="0">
              <a:latin typeface="Fira Sans Condensed"/>
            </a:endParaRPr>
          </a:p>
        </p:txBody>
      </p:sp>
      <p:sp>
        <p:nvSpPr>
          <p:cNvPr id="16" name="Centro SM"/>
          <p:cNvSpPr/>
          <p:nvPr/>
        </p:nvSpPr>
        <p:spPr>
          <a:xfrm>
            <a:off x="2834640" y="3063240"/>
            <a:ext cx="1920240" cy="1097280"/>
          </a:xfrm>
          <a:prstGeom prst="ellipse">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SÍNDROME</a:t>
            </a:r>
            <a:endParaRPr lang="es-AR" sz="1400" dirty="0">
              <a:latin typeface="Fira Sans Condensed"/>
            </a:endParaRPr>
          </a:p>
          <a:p>
            <a:pPr algn="ctr">
              <a:spcAft>
                <a:spcPts val="300"/>
              </a:spcAft>
              <a:buNone/>
            </a:pPr>
            <a:r>
              <a:rPr lang="es-AR" sz="1400" b="1" dirty="0">
                <a:solidFill>
                  <a:srgbClr val="FFFFFF"/>
                </a:solidFill>
                <a:latin typeface="Fira Sans Condensed"/>
                <a:ea typeface="Fira Sans Condensed"/>
                <a:cs typeface="Fira Sans Condensed"/>
                <a:sym typeface="Fira Sans Condensed"/>
              </a:rPr>
              <a:t>METABÓLICO</a:t>
            </a:r>
            <a:endParaRPr lang="es-AR" sz="1400" dirty="0">
              <a:latin typeface="Fira Sans Condensed"/>
            </a:endParaRPr>
          </a:p>
        </p:txBody>
      </p:sp>
      <p:grpSp>
        <p:nvGrpSpPr>
          <p:cNvPr id="17" name="Cuadro Claves"/>
          <p:cNvGrpSpPr/>
          <p:nvPr/>
        </p:nvGrpSpPr>
        <p:grpSpPr>
          <a:xfrm>
            <a:off x="7589520" y="1097280"/>
            <a:ext cx="4251960" cy="5166360"/>
            <a:chOff x="7589520" y="1097280"/>
            <a:chExt cx="4251960" cy="5166360"/>
          </a:xfrm>
        </p:grpSpPr>
        <p:sp>
          <p:nvSpPr>
            <p:cNvPr id="18" name="Forma 17"/>
            <p:cNvSpPr/>
            <p:nvPr/>
          </p:nvSpPr>
          <p:spPr>
            <a:xfrm>
              <a:off x="7589520" y="1298448"/>
              <a:ext cx="4251960" cy="496519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Multifactorial</a:t>
              </a:r>
              <a:r>
                <a:rPr lang="es-AR" sz="1450" dirty="0">
                  <a:solidFill>
                    <a:srgbClr val="1E1E1E"/>
                  </a:solidFill>
                  <a:latin typeface="Fira Sans Condensed"/>
                  <a:ea typeface="Fira Sans Condensed"/>
                  <a:cs typeface="Fira Sans Condensed"/>
                  <a:sym typeface="Fira Sans Condensed"/>
                </a:rPr>
                <a:t>: no existe una causa única requerida.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No hay una </a:t>
              </a:r>
              <a:r>
                <a:rPr lang="es-AR" sz="1450" b="1" dirty="0">
                  <a:solidFill>
                    <a:srgbClr val="1E1E1E"/>
                  </a:solidFill>
                  <a:latin typeface="Fira Sans Condensed"/>
                  <a:ea typeface="Fira Sans Condensed"/>
                  <a:cs typeface="Fira Sans Condensed"/>
                  <a:sym typeface="Fira Sans Condensed"/>
                </a:rPr>
                <a:t>concentración obligatoria de insulina</a:t>
              </a:r>
              <a:r>
                <a:rPr lang="es-AR" sz="1450" dirty="0">
                  <a:solidFill>
                    <a:srgbClr val="1E1E1E"/>
                  </a:solidFill>
                  <a:latin typeface="Fira Sans Condensed"/>
                  <a:ea typeface="Fira Sans Condensed"/>
                  <a:cs typeface="Fira Sans Condensed"/>
                  <a:sym typeface="Fira Sans Condensed"/>
                </a:rPr>
                <a:t> para diagnosticarlo.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hipótesis del </a:t>
              </a:r>
              <a:r>
                <a:rPr lang="es-AR" sz="1450" b="1" dirty="0">
                  <a:solidFill>
                    <a:srgbClr val="1E1E1E"/>
                  </a:solidFill>
                  <a:latin typeface="Fira Sans Condensed"/>
                  <a:ea typeface="Fira Sans Condensed"/>
                  <a:cs typeface="Fira Sans Condensed"/>
                  <a:sym typeface="Fira Sans Condensed"/>
                </a:rPr>
                <a:t>«adipocito inflamatorio»</a:t>
              </a:r>
              <a:r>
                <a:rPr lang="es-AR" sz="1450" dirty="0">
                  <a:solidFill>
                    <a:srgbClr val="1E1E1E"/>
                  </a:solidFill>
                  <a:latin typeface="Fira Sans Condensed"/>
                  <a:ea typeface="Fira Sans Condensed"/>
                  <a:cs typeface="Fira Sans Condensed"/>
                  <a:sym typeface="Fira Sans Condensed"/>
                </a:rPr>
                <a:t> y la obesidad como </a:t>
              </a:r>
              <a:r>
                <a:rPr lang="es-AR" sz="1450" b="1" dirty="0">
                  <a:solidFill>
                    <a:srgbClr val="1E1E1E"/>
                  </a:solidFill>
                  <a:latin typeface="Fira Sans Condensed"/>
                  <a:ea typeface="Fira Sans Condensed"/>
                  <a:cs typeface="Fira Sans Condensed"/>
                  <a:sym typeface="Fira Sans Condensed"/>
                </a:rPr>
                <a:t>eje patogénico</a:t>
              </a:r>
              <a:r>
                <a:rPr lang="es-AR" sz="1450" dirty="0">
                  <a:solidFill>
                    <a:srgbClr val="1E1E1E"/>
                  </a:solidFill>
                  <a:latin typeface="Fira Sans Condensed"/>
                  <a:ea typeface="Fira Sans Condensed"/>
                  <a:cs typeface="Fira Sans Condensed"/>
                  <a:sym typeface="Fira Sans Condensed"/>
                </a:rPr>
                <a:t> [S] es un marco útil…</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…sin negar que haya </a:t>
              </a:r>
              <a:r>
                <a:rPr lang="es-AR" sz="1450" b="1" dirty="0">
                  <a:solidFill>
                    <a:srgbClr val="1E1E1E"/>
                  </a:solidFill>
                  <a:latin typeface="Fira Sans Condensed"/>
                  <a:ea typeface="Fira Sans Condensed"/>
                  <a:cs typeface="Fira Sans Condensed"/>
                  <a:sym typeface="Fira Sans Condensed"/>
                </a:rPr>
                <a:t>resistencia a insulina en personas sin obesidad</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19" name="Forma 18"/>
            <p:cNvSpPr/>
            <p:nvPr/>
          </p:nvSpPr>
          <p:spPr>
            <a:xfrm>
              <a:off x="7726680" y="1097280"/>
              <a:ext cx="940660"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CLAVES</a:t>
              </a:r>
              <a:endParaRPr lang="es-AR" sz="1400" dirty="0">
                <a:latin typeface="Fira Sans Condensed"/>
              </a:endParaRPr>
            </a:p>
          </p:txBody>
        </p:sp>
      </p:gr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ETIOLOGÍA DEL SÍNDROME METABÓLICO (PREGUNTA 4B)</a:t>
            </a:r>
            <a:endParaRPr lang="es-AR" sz="28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animEffect transition="in" filter="fade">
                                      <p:cBhvr>
                                        <p:cTn id="7" dur="500"/>
                                        <p:tgtEl>
                                          <p:spTgt spid="16"/>
                                        </p:tgtEl>
                                      </p:cBhvr>
                                    </p:animEffect>
                                  </p:childTnLst>
                                </p:cTn>
                              </p:par>
                            </p:childTnLst>
                          </p:cTn>
                        </p:par>
                      </p:childTnLst>
                    </p:cTn>
                  </p:par>
                  <p:par>
                    <p:cTn id="50" fill="hold">
                      <p:stCondLst>
                        <p:cond delay="indefinite"/>
                      </p:stCondLst>
                      <p:childTnLst>
                        <p:par>
                          <p:cTn id="13"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
                                        <p:tgtEl>
                                          <p:spTgt spid="6"/>
                                        </p:tgtEl>
                                      </p:cBhvr>
                                    </p:animEffect>
                                  </p:childTnLst>
                                </p:cTn>
                              </p:par>
                            </p:childTnLst>
                          </p:cTn>
                        </p:par>
                        <p:par>
                          <p:cTn id="17" fill="hold">
                            <p:stCondLst>
                              <p:cond delay="15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50"/>
                                        <p:tgtEl>
                                          <p:spTgt spid="7"/>
                                        </p:tgtEl>
                                      </p:cBhvr>
                                    </p:animEffect>
                                  </p:childTnLst>
                                </p:cTn>
                              </p:par>
                            </p:childTnLst>
                          </p:cTn>
                        </p:par>
                        <p:par>
                          <p:cTn id="21" fill="hold">
                            <p:stCondLst>
                              <p:cond delay="3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50"/>
                                        <p:tgtEl>
                                          <p:spTgt spid="8"/>
                                        </p:tgtEl>
                                      </p:cBhvr>
                                    </p:animEffect>
                                  </p:childTnLst>
                                </p:cTn>
                              </p:par>
                            </p:childTnLst>
                          </p:cTn>
                        </p:par>
                        <p:par>
                          <p:cTn id="25" fill="hold">
                            <p:stCondLst>
                              <p:cond delay="45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50"/>
                                        <p:tgtEl>
                                          <p:spTgt spid="9"/>
                                        </p:tgtEl>
                                      </p:cBhvr>
                                    </p:animEffect>
                                  </p:childTnLst>
                                </p:cTn>
                              </p:par>
                            </p:childTnLst>
                          </p:cTn>
                        </p:par>
                        <p:par>
                          <p:cTn id="29" fill="hold">
                            <p:stCondLst>
                              <p:cond delay="6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50"/>
                                        <p:tgtEl>
                                          <p:spTgt spid="10"/>
                                        </p:tgtEl>
                                      </p:cBhvr>
                                    </p:animEffect>
                                  </p:childTnLst>
                                </p:cTn>
                              </p:par>
                            </p:childTnLst>
                          </p:cTn>
                        </p:par>
                        <p:par>
                          <p:cTn id="33" fill="hold">
                            <p:stCondLst>
                              <p:cond delay="75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50"/>
                                        <p:tgtEl>
                                          <p:spTgt spid="11"/>
                                        </p:tgtEl>
                                      </p:cBhvr>
                                    </p:animEffect>
                                  </p:childTnLst>
                                </p:cTn>
                              </p:par>
                            </p:childTnLst>
                          </p:cTn>
                        </p:par>
                        <p:par>
                          <p:cTn id="37" fill="hold">
                            <p:stCondLst>
                              <p:cond delay="9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50"/>
                                        <p:tgtEl>
                                          <p:spTgt spid="12"/>
                                        </p:tgtEl>
                                      </p:cBhvr>
                                    </p:animEffect>
                                  </p:childTnLst>
                                </p:cTn>
                              </p:par>
                            </p:childTnLst>
                          </p:cTn>
                        </p:par>
                        <p:par>
                          <p:cTn id="41" fill="hold">
                            <p:stCondLst>
                              <p:cond delay="105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50"/>
                                        <p:tgtEl>
                                          <p:spTgt spid="13"/>
                                        </p:tgtEl>
                                      </p:cBhvr>
                                    </p:animEffect>
                                  </p:childTnLst>
                                </p:cTn>
                              </p:par>
                            </p:childTnLst>
                          </p:cTn>
                        </p:par>
                        <p:par>
                          <p:cTn id="45"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50"/>
                                        <p:tgtEl>
                                          <p:spTgt spid="14"/>
                                        </p:tgtEl>
                                      </p:cBhvr>
                                    </p:animEffect>
                                  </p:childTnLst>
                                </p:cTn>
                              </p:par>
                            </p:childTnLst>
                          </p:cTn>
                        </p:par>
                        <p:par>
                          <p:cTn id="49" fill="hold">
                            <p:stCondLst>
                              <p:cond delay="1350"/>
                            </p:stCondLst>
                            <p:childTnLst>
                              <p:par>
                                <p:cTn id="46" presetID="10" presetClass="entr" presetSubtype="0"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150"/>
                                        <p:tgtEl>
                                          <p:spTgt spid="15"/>
                                        </p:tgtEl>
                                      </p:cBhvr>
                                    </p:animEffect>
                                  </p:childTnLst>
                                </p:cTn>
                              </p:par>
                            </p:childTnLst>
                          </p:cTn>
                        </p:par>
                      </p:childTnLst>
                    </p:cTn>
                  </p:par>
                  <p:par>
                    <p:cTn id="55" fill="hold">
                      <p:stCondLst>
                        <p:cond delay="indefinite"/>
                      </p:stCondLst>
                      <p:childTnLst>
                        <p:par>
                          <p:cTn id="54"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sp>
        <p:nvSpPr>
          <p:cNvPr id="6" name="Flecha n0→n1"/>
          <p:cNvSpPr/>
          <p:nvPr/>
        </p:nvSpPr>
        <p:spPr>
          <a:xfrm>
            <a:off x="3054096" y="1623060"/>
            <a:ext cx="173736" cy="9144"/>
          </a:xfrm>
          <a:custGeom>
            <a:avLst/>
            <a:gdLst/>
            <a:ahLst/>
            <a:cxnLst/>
            <a:rect l="0" t="0" r="r" b="b"/>
            <a:pathLst>
              <a:path w="189" h="10" fill="none">
                <a:moveTo>
                  <a:pt x="0" y="0"/>
                </a:moveTo>
                <a:lnTo>
                  <a:pt x="189" y="0"/>
                </a:lnTo>
              </a:path>
            </a:pathLst>
          </a:custGeom>
          <a:noFill/>
          <a:ln w="28575" cap="rnd">
            <a:solidFill>
              <a:srgbClr val="1E1E1E"/>
            </a:solidFill>
            <a:round/>
            <a:tailEnd type="triangle" w="med" len="med"/>
          </a:ln>
        </p:spPr>
      </p:sp>
      <p:sp>
        <p:nvSpPr>
          <p:cNvPr id="7" name="Flecha n1→n2"/>
          <p:cNvSpPr/>
          <p:nvPr/>
        </p:nvSpPr>
        <p:spPr>
          <a:xfrm>
            <a:off x="5952744" y="1623060"/>
            <a:ext cx="173736" cy="9144"/>
          </a:xfrm>
          <a:custGeom>
            <a:avLst/>
            <a:gdLst/>
            <a:ahLst/>
            <a:cxnLst/>
            <a:rect l="0" t="0" r="r" b="b"/>
            <a:pathLst>
              <a:path w="190" h="10" fill="none">
                <a:moveTo>
                  <a:pt x="0" y="0"/>
                </a:moveTo>
                <a:lnTo>
                  <a:pt x="190" y="0"/>
                </a:lnTo>
              </a:path>
            </a:pathLst>
          </a:custGeom>
          <a:noFill/>
          <a:ln w="28575" cap="rnd">
            <a:solidFill>
              <a:srgbClr val="1E1E1E"/>
            </a:solidFill>
            <a:round/>
            <a:tailEnd type="triangle" w="med" len="med"/>
          </a:ln>
        </p:spPr>
      </p:sp>
      <p:sp>
        <p:nvSpPr>
          <p:cNvPr id="8" name="Flecha n2→n3"/>
          <p:cNvSpPr/>
          <p:nvPr/>
        </p:nvSpPr>
        <p:spPr>
          <a:xfrm>
            <a:off x="8851392" y="1623060"/>
            <a:ext cx="173736" cy="9144"/>
          </a:xfrm>
          <a:custGeom>
            <a:avLst/>
            <a:gdLst/>
            <a:ahLst/>
            <a:cxnLst/>
            <a:rect l="0" t="0" r="r" b="b"/>
            <a:pathLst>
              <a:path w="190" h="10" fill="none">
                <a:moveTo>
                  <a:pt x="0" y="0"/>
                </a:moveTo>
                <a:lnTo>
                  <a:pt x="190" y="0"/>
                </a:lnTo>
              </a:path>
            </a:pathLst>
          </a:custGeom>
          <a:noFill/>
          <a:ln w="28575" cap="rnd">
            <a:solidFill>
              <a:srgbClr val="1E1E1E"/>
            </a:solidFill>
            <a:round/>
            <a:tailEnd type="triangle" w="med" len="med"/>
          </a:ln>
        </p:spPr>
      </p:sp>
      <p:sp>
        <p:nvSpPr>
          <p:cNvPr id="9" name="Flecha n3→n4"/>
          <p:cNvSpPr/>
          <p:nvPr/>
        </p:nvSpPr>
        <p:spPr>
          <a:xfrm>
            <a:off x="10387584" y="2084832"/>
            <a:ext cx="9144" cy="612648"/>
          </a:xfrm>
          <a:custGeom>
            <a:avLst/>
            <a:gdLst/>
            <a:ahLst/>
            <a:cxnLst/>
            <a:rect l="0" t="0" r="r" b="b"/>
            <a:pathLst>
              <a:path w="10" h="670" fill="none">
                <a:moveTo>
                  <a:pt x="0" y="0"/>
                </a:moveTo>
                <a:lnTo>
                  <a:pt x="0" y="670"/>
                </a:lnTo>
              </a:path>
            </a:pathLst>
          </a:custGeom>
          <a:noFill/>
          <a:ln w="28575" cap="rnd">
            <a:solidFill>
              <a:srgbClr val="1E1E1E"/>
            </a:solidFill>
            <a:round/>
            <a:tailEnd type="triangle" w="med" len="med"/>
          </a:ln>
        </p:spPr>
      </p:sp>
      <p:sp>
        <p:nvSpPr>
          <p:cNvPr id="10" name="Flecha n4→n5"/>
          <p:cNvSpPr/>
          <p:nvPr/>
        </p:nvSpPr>
        <p:spPr>
          <a:xfrm>
            <a:off x="8851392" y="3177540"/>
            <a:ext cx="173736" cy="9144"/>
          </a:xfrm>
          <a:custGeom>
            <a:avLst/>
            <a:gdLst/>
            <a:ahLst/>
            <a:cxnLst/>
            <a:rect l="0" t="0" r="r" b="b"/>
            <a:pathLst>
              <a:path w="190" h="10" fill="none">
                <a:moveTo>
                  <a:pt x="190" y="0"/>
                </a:moveTo>
                <a:lnTo>
                  <a:pt x="0" y="0"/>
                </a:lnTo>
              </a:path>
            </a:pathLst>
          </a:custGeom>
          <a:noFill/>
          <a:ln w="28575" cap="rnd">
            <a:solidFill>
              <a:srgbClr val="1E1E1E"/>
            </a:solidFill>
            <a:round/>
            <a:tailEnd type="triangle" w="med" len="med"/>
          </a:ln>
        </p:spPr>
      </p:sp>
      <p:sp>
        <p:nvSpPr>
          <p:cNvPr id="11" name="Flecha n5→n6"/>
          <p:cNvSpPr/>
          <p:nvPr/>
        </p:nvSpPr>
        <p:spPr>
          <a:xfrm>
            <a:off x="5952744" y="3177540"/>
            <a:ext cx="173736" cy="9144"/>
          </a:xfrm>
          <a:custGeom>
            <a:avLst/>
            <a:gdLst/>
            <a:ahLst/>
            <a:cxnLst/>
            <a:rect l="0" t="0" r="r" b="b"/>
            <a:pathLst>
              <a:path w="190" h="10" fill="none">
                <a:moveTo>
                  <a:pt x="190" y="0"/>
                </a:moveTo>
                <a:lnTo>
                  <a:pt x="0" y="0"/>
                </a:lnTo>
              </a:path>
            </a:pathLst>
          </a:custGeom>
          <a:noFill/>
          <a:ln w="28575" cap="rnd">
            <a:solidFill>
              <a:srgbClr val="1E1E1E"/>
            </a:solidFill>
            <a:round/>
            <a:tailEnd type="triangle" w="med" len="med"/>
          </a:ln>
        </p:spPr>
      </p:sp>
      <p:sp>
        <p:nvSpPr>
          <p:cNvPr id="12" name="Nodo n0"/>
          <p:cNvSpPr/>
          <p:nvPr/>
        </p:nvSpPr>
        <p:spPr>
          <a:xfrm>
            <a:off x="365760" y="1188720"/>
            <a:ext cx="265176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C00000"/>
                </a:solidFill>
                <a:latin typeface="Fira Sans Condensed"/>
                <a:ea typeface="Fira Sans Condensed"/>
                <a:cs typeface="Fira Sans Condensed"/>
                <a:sym typeface="Fira Sans Condensed"/>
              </a:rPr>
              <a:t>ADIPOSIDAD VISCERAL DISFUNCIONAL</a:t>
            </a:r>
            <a:endParaRPr lang="es-AR" sz="1300" dirty="0">
              <a:latin typeface="Fira Sans Condensed"/>
            </a:endParaRPr>
          </a:p>
        </p:txBody>
      </p:sp>
      <p:sp>
        <p:nvSpPr>
          <p:cNvPr id="13" name="Nodo n1"/>
          <p:cNvSpPr/>
          <p:nvPr/>
        </p:nvSpPr>
        <p:spPr>
          <a:xfrm>
            <a:off x="3264408" y="1188720"/>
            <a:ext cx="265176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AGNE ↑ y mediadores inflamatorios</a:t>
            </a:r>
            <a:endParaRPr lang="es-AR" sz="1300" dirty="0">
              <a:latin typeface="Fira Sans Condensed"/>
            </a:endParaRPr>
          </a:p>
        </p:txBody>
      </p:sp>
      <p:sp>
        <p:nvSpPr>
          <p:cNvPr id="14" name="Nodo n2"/>
          <p:cNvSpPr/>
          <p:nvPr/>
        </p:nvSpPr>
        <p:spPr>
          <a:xfrm>
            <a:off x="6163056" y="1188720"/>
            <a:ext cx="2651760" cy="8686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Resistencia insulínica</a:t>
            </a:r>
            <a:endParaRPr lang="es-AR" sz="1300" dirty="0">
              <a:latin typeface="Fira Sans Condensed"/>
            </a:endParaRPr>
          </a:p>
        </p:txBody>
      </p:sp>
      <p:sp>
        <p:nvSpPr>
          <p:cNvPr id="15" name="Nodo n3"/>
          <p:cNvSpPr/>
          <p:nvPr/>
        </p:nvSpPr>
        <p:spPr>
          <a:xfrm>
            <a:off x="9061704" y="1188720"/>
            <a:ext cx="265176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Producción hepática de VLDL ↑</a:t>
            </a:r>
            <a:endParaRPr lang="es-AR" sz="1300" dirty="0">
              <a:latin typeface="Fira Sans Condensed"/>
            </a:endParaRPr>
          </a:p>
        </p:txBody>
      </p:sp>
      <p:sp>
        <p:nvSpPr>
          <p:cNvPr id="16" name="Nodo n4"/>
          <p:cNvSpPr/>
          <p:nvPr/>
        </p:nvSpPr>
        <p:spPr>
          <a:xfrm>
            <a:off x="9061704" y="2743200"/>
            <a:ext cx="2651760" cy="86868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Dislipidemia: TG ↑, HDL ↓, LDL pequeñas</a:t>
            </a:r>
            <a:endParaRPr lang="es-AR" sz="1300" dirty="0">
              <a:latin typeface="Fira Sans Condensed"/>
            </a:endParaRPr>
          </a:p>
        </p:txBody>
      </p:sp>
      <p:sp>
        <p:nvSpPr>
          <p:cNvPr id="17" name="Nodo n5"/>
          <p:cNvSpPr/>
          <p:nvPr/>
        </p:nvSpPr>
        <p:spPr>
          <a:xfrm>
            <a:off x="6163056" y="2743200"/>
            <a:ext cx="2651760" cy="86868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Disfunción endotelial</a:t>
            </a:r>
            <a:endParaRPr lang="es-AR" sz="1300" dirty="0">
              <a:latin typeface="Fira Sans Condensed"/>
            </a:endParaRPr>
          </a:p>
        </p:txBody>
      </p:sp>
      <p:sp>
        <p:nvSpPr>
          <p:cNvPr id="18" name="Nodo n6"/>
          <p:cNvSpPr/>
          <p:nvPr/>
        </p:nvSpPr>
        <p:spPr>
          <a:xfrm>
            <a:off x="3264408" y="2743200"/>
            <a:ext cx="2651760" cy="86868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FFFFFF"/>
                </a:solidFill>
                <a:latin typeface="Fira Sans Condensed"/>
                <a:ea typeface="Fira Sans Condensed"/>
                <a:cs typeface="Fira Sans Condensed"/>
                <a:sym typeface="Fira Sans Condensed"/>
              </a:rPr>
              <a:t>Riesgo cardiovascular ↑</a:t>
            </a:r>
            <a:endParaRPr lang="es-AR" sz="1300" dirty="0">
              <a:latin typeface="Fira Sans Condensed"/>
            </a:endParaRPr>
          </a:p>
        </p:txBody>
      </p:sp>
      <p:grpSp>
        <p:nvGrpSpPr>
          <p:cNvPr id="19" name="Cuadro Puente a la aterogénes"/>
          <p:cNvGrpSpPr/>
          <p:nvPr/>
        </p:nvGrpSpPr>
        <p:grpSpPr>
          <a:xfrm>
            <a:off x="365760" y="4023360"/>
            <a:ext cx="11475720" cy="2240280"/>
            <a:chOff x="365760" y="4023360"/>
            <a:chExt cx="11475720" cy="2240280"/>
          </a:xfrm>
        </p:grpSpPr>
        <p:sp>
          <p:nvSpPr>
            <p:cNvPr id="20" name="Forma 19"/>
            <p:cNvSpPr/>
            <p:nvPr/>
          </p:nvSpPr>
          <p:spPr>
            <a:xfrm>
              <a:off x="365760" y="4224528"/>
              <a:ext cx="11475720" cy="20391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Las lipoproteínas con </a:t>
              </a:r>
              <a:r>
                <a:rPr lang="es-AR" sz="1500" b="1" dirty="0">
                  <a:solidFill>
                    <a:srgbClr val="1E1E1E"/>
                  </a:solidFill>
                  <a:latin typeface="Fira Sans Condensed"/>
                  <a:ea typeface="Fira Sans Condensed"/>
                  <a:cs typeface="Fira Sans Condensed"/>
                  <a:sym typeface="Fira Sans Condensed"/>
                </a:rPr>
                <a:t>ApoB</a:t>
              </a:r>
              <a:r>
                <a:rPr lang="es-AR" sz="1500" dirty="0">
                  <a:solidFill>
                    <a:srgbClr val="1E1E1E"/>
                  </a:solidFill>
                  <a:latin typeface="Fira Sans Condensed"/>
                  <a:ea typeface="Fira Sans Condensed"/>
                  <a:cs typeface="Fira Sans Condensed"/>
                  <a:sym typeface="Fira Sans Condensed"/>
                </a:rPr>
                <a:t> (VLDL remanentes, LDL) se </a:t>
              </a:r>
              <a:r>
                <a:rPr lang="es-AR" sz="1500" b="1" dirty="0">
                  <a:solidFill>
                    <a:srgbClr val="1E1E1E"/>
                  </a:solidFill>
                  <a:latin typeface="Fira Sans Condensed"/>
                  <a:ea typeface="Fira Sans Condensed"/>
                  <a:cs typeface="Fira Sans Condensed"/>
                  <a:sym typeface="Fira Sans Condensed"/>
                </a:rPr>
                <a:t>retienen en la íntima</a:t>
              </a:r>
              <a:r>
                <a:rPr lang="es-AR" sz="1500" dirty="0">
                  <a:solidFill>
                    <a:srgbClr val="1E1E1E"/>
                  </a:solidFill>
                  <a:latin typeface="Fira Sans Condensed"/>
                  <a:ea typeface="Fira Sans Condensed"/>
                  <a:cs typeface="Fira Sans Condensed"/>
                  <a:sym typeface="Fira Sans Condensed"/>
                </a:rPr>
                <a:t> arterial; su modificación desencadena una </a:t>
              </a:r>
              <a:r>
                <a:rPr lang="es-AR" sz="1500" b="1" dirty="0">
                  <a:solidFill>
                    <a:srgbClr val="1E1E1E"/>
                  </a:solidFill>
                  <a:latin typeface="Fira Sans Condensed"/>
                  <a:ea typeface="Fira Sans Condensed"/>
                  <a:cs typeface="Fira Sans Condensed"/>
                  <a:sym typeface="Fira Sans Condensed"/>
                </a:rPr>
                <a:t>respuesta inflamatoria</a:t>
              </a:r>
              <a:r>
                <a:rPr lang="es-AR" sz="1500" dirty="0">
                  <a:solidFill>
                    <a:srgbClr val="1E1E1E"/>
                  </a:solidFill>
                  <a:latin typeface="Fira Sans Condensed"/>
                  <a:ea typeface="Fira Sans Condensed"/>
                  <a:cs typeface="Fira Sans Condensed"/>
                  <a:sym typeface="Fira Sans Condensed"/>
                </a:rPr>
                <a:t> que inicia la placa (Secuencia F). El riesgo depende también de </a:t>
              </a:r>
              <a:r>
                <a:rPr lang="es-AR" sz="1500" b="1" dirty="0">
                  <a:solidFill>
                    <a:srgbClr val="1E1E1E"/>
                  </a:solidFill>
                  <a:latin typeface="Fira Sans Condensed"/>
                  <a:ea typeface="Fira Sans Condensed"/>
                  <a:cs typeface="Fira Sans Condensed"/>
                  <a:sym typeface="Fira Sans Condensed"/>
                </a:rPr>
                <a:t>LDL/ApoB, HTA y tabaquismo</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21" name="Forma 20"/>
            <p:cNvSpPr/>
            <p:nvPr/>
          </p:nvSpPr>
          <p:spPr>
            <a:xfrm>
              <a:off x="502920" y="4023360"/>
              <a:ext cx="253700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PUENTE A LA ATEROGÉNESIS</a:t>
              </a:r>
              <a:endParaRPr lang="es-AR" sz="1400" dirty="0">
                <a:latin typeface="Fira Sans Condensed"/>
              </a:endParaRPr>
            </a:p>
          </p:txBody>
        </p:sp>
      </p:grpSp>
      <p:sp>
        <p:nvSpPr>
          <p:cNvPr id="4" name="Título"/>
          <p:cNvSpPr txBox="1"/>
          <p:nvPr/>
        </p:nvSpPr>
        <p:spPr>
          <a:xfrm>
            <a:off x="320040" y="91440"/>
            <a:ext cx="11551615" cy="4729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200" dirty="0">
                <a:solidFill>
                  <a:srgbClr val="1E1E1E"/>
                </a:solidFill>
                <a:effectLst>
                  <a:glow rad="101600">
                    <a:srgbClr val="FFFFFF">
                      <a:alpha val="70000"/>
                    </a:srgbClr>
                  </a:glow>
                </a:effectLst>
                <a:latin typeface="Permanent Marker"/>
                <a:ea typeface="Permanent Marker"/>
                <a:cs typeface="Permanent Marker"/>
                <a:sym typeface="Permanent Marker"/>
              </a:rPr>
              <a:t>ANIMACIÓN INTEGRADORA: DE LA ADIPOSIDAD VISCERAL AL RIESGO CV</a:t>
            </a:r>
            <a:endParaRPr lang="es-AR" sz="22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childTnLst>
                          </p:cTn>
                        </p:par>
                      </p:childTnLst>
                    </p:cTn>
                  </p:par>
                  <p:par>
                    <p:cTn id="16" fill="hold">
                      <p:stCondLst>
                        <p:cond delay="indefinite"/>
                      </p:stCondLst>
                      <p:childTnLst>
                        <p:par>
                          <p:cTn id="11" fill="hold">
                            <p:stCondLst>
                              <p:cond delay="0"/>
                            </p:stCondLst>
                            <p:childTnLst>
                              <p:par>
                                <p:cTn id="8" presetID="22" presetClass="entr" presetSubtype="8"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5"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5" fill="hold">
                      <p:stCondLst>
                        <p:cond delay="indefinite"/>
                      </p:stCondLst>
                      <p:childTnLst>
                        <p:par>
                          <p:cTn id="20"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4"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00"/>
                                        <p:tgtEl>
                                          <p:spTgt spid="14"/>
                                        </p:tgtEl>
                                      </p:cBhvr>
                                    </p:animEffect>
                                  </p:childTnLst>
                                </p:cTn>
                              </p:par>
                            </p:childTnLst>
                          </p:cTn>
                        </p:par>
                      </p:childTnLst>
                    </p:cTn>
                  </p:par>
                  <p:par>
                    <p:cTn id="34" fill="hold">
                      <p:stCondLst>
                        <p:cond delay="indefinite"/>
                      </p:stCondLst>
                      <p:childTnLst>
                        <p:par>
                          <p:cTn id="29"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33"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childTnLst>
                          </p:cTn>
                        </p:par>
                      </p:childTnLst>
                    </p:cTn>
                  </p:par>
                  <p:par>
                    <p:cTn id="43" fill="hold">
                      <p:stCondLst>
                        <p:cond delay="indefinite"/>
                      </p:stCondLst>
                      <p:childTnLst>
                        <p:par>
                          <p:cTn id="38"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par>
                          <p:cTn id="42"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childTnLst>
                          </p:cTn>
                        </p:par>
                      </p:childTnLst>
                    </p:cTn>
                  </p:par>
                  <p:par>
                    <p:cTn id="52" fill="hold">
                      <p:stCondLst>
                        <p:cond delay="indefinite"/>
                      </p:stCondLst>
                      <p:childTnLst>
                        <p:par>
                          <p:cTn id="47"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right)">
                                      <p:cBhvr>
                                        <p:cTn id="46" dur="500"/>
                                        <p:tgtEl>
                                          <p:spTgt spid="10"/>
                                        </p:tgtEl>
                                      </p:cBhvr>
                                    </p:animEffect>
                                  </p:childTnLst>
                                </p:cTn>
                              </p:par>
                            </p:childTnLst>
                          </p:cTn>
                        </p:par>
                        <p:par>
                          <p:cTn id="51"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childTnLst>
                          </p:cTn>
                        </p:par>
                      </p:childTnLst>
                    </p:cTn>
                  </p:par>
                  <p:par>
                    <p:cTn id="61" fill="hold">
                      <p:stCondLst>
                        <p:cond delay="indefinite"/>
                      </p:stCondLst>
                      <p:childTnLst>
                        <p:par>
                          <p:cTn id="56"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right)">
                                      <p:cBhvr>
                                        <p:cTn id="55" dur="500"/>
                                        <p:tgtEl>
                                          <p:spTgt spid="11"/>
                                        </p:tgtEl>
                                      </p:cBhvr>
                                    </p:animEffect>
                                  </p:childTnLst>
                                </p:cTn>
                              </p:par>
                            </p:childTnLst>
                          </p:cTn>
                        </p:par>
                        <p:par>
                          <p:cTn id="60"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00"/>
                                        <p:tgtEl>
                                          <p:spTgt spid="18"/>
                                        </p:tgtEl>
                                      </p:cBhvr>
                                    </p:animEffect>
                                  </p:childTnLst>
                                </p:cTn>
                              </p:par>
                            </p:childTnLst>
                          </p:cTn>
                        </p:par>
                      </p:childTnLst>
                    </p:cTn>
                  </p:par>
                  <p:par>
                    <p:cTn id="66" fill="hold">
                      <p:stCondLst>
                        <p:cond delay="indefinite"/>
                      </p:stCondLst>
                      <p:childTnLst>
                        <p:par>
                          <p:cTn id="65"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13" grpId="0" animBg="1"/>
      <p:bldP spid="7" grpId="0" animBg="1"/>
      <p:bldP spid="14" grpId="0" animBg="1"/>
      <p:bldP spid="8" grpId="0" animBg="1"/>
      <p:bldP spid="15" grpId="0" animBg="1"/>
      <p:bldP spid="9" grpId="0" animBg="1"/>
      <p:bldP spid="16" grpId="0" animBg="1"/>
      <p:bldP spid="10" grpId="0" animBg="1"/>
      <p:bldP spid="17" grpId="0" animBg="1"/>
      <p:bldP spid="11" grpId="0" animBg="1"/>
      <p:bldP spid="18" grpId="0" animBg="1"/>
    </p:bld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ADIPOSIDAD VISCERAL" descr="Ilustración biomédica (Servier Medical Art, CC BY)"/>
          <p:cNvPicPr>
            <a:picLocks noChangeAspect="1"/>
          </p:cNvPicPr>
          <p:nvPr/>
        </p:nvPicPr>
        <p:blipFill>
          <a:blip r:embed="rId2"/>
          <a:stretch>
            <a:fillRect/>
          </a:stretch>
        </p:blipFill>
        <p:spPr>
          <a:xfrm>
            <a:off x="365760" y="914400"/>
            <a:ext cx="1143000" cy="2075486"/>
          </a:xfrm>
          <a:prstGeom prst="rect">
            <a:avLst/>
          </a:prstGeom>
        </p:spPr>
      </p:pic>
      <p:sp>
        <p:nvSpPr>
          <p:cNvPr id="7" name="!!Rótulo órgano ADIPOSIDAD VISCERAL"/>
          <p:cNvSpPr/>
          <p:nvPr/>
        </p:nvSpPr>
        <p:spPr>
          <a:xfrm>
            <a:off x="320040" y="3063240"/>
            <a:ext cx="185211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ADIPOSIDAD VISCERAL</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4206240" y="914400"/>
            <a:ext cx="2011680" cy="1459695"/>
          </a:xfrm>
          <a:prstGeom prst="rect">
            <a:avLst/>
          </a:prstGeom>
        </p:spPr>
      </p:pic>
      <p:sp>
        <p:nvSpPr>
          <p:cNvPr id="9" name="!!Rótulo órgano HÍGADO"/>
          <p:cNvSpPr/>
          <p:nvPr/>
        </p:nvSpPr>
        <p:spPr>
          <a:xfrm>
            <a:off x="4572000" y="23774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RIÑÓN" descr="Ilustración biomédica (Servier Medical Art, CC BY)"/>
          <p:cNvPicPr>
            <a:picLocks noChangeAspect="1"/>
          </p:cNvPicPr>
          <p:nvPr/>
        </p:nvPicPr>
        <p:blipFill>
          <a:blip r:embed="rId4"/>
          <a:stretch>
            <a:fillRect/>
          </a:stretch>
        </p:blipFill>
        <p:spPr>
          <a:xfrm>
            <a:off x="9966960" y="914400"/>
            <a:ext cx="914400" cy="1330728"/>
          </a:xfrm>
          <a:prstGeom prst="rect">
            <a:avLst/>
          </a:prstGeom>
        </p:spPr>
      </p:pic>
      <p:sp>
        <p:nvSpPr>
          <p:cNvPr id="11" name="!!Rótulo órgano RIÑÓN"/>
          <p:cNvSpPr/>
          <p:nvPr/>
        </p:nvSpPr>
        <p:spPr>
          <a:xfrm>
            <a:off x="9829800" y="224028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2" name="!!Órgano ENDOTELIO" descr="Ilustración biomédica (Servier Medical Art, CC BY)"/>
          <p:cNvPicPr>
            <a:picLocks noChangeAspect="1"/>
          </p:cNvPicPr>
          <p:nvPr/>
        </p:nvPicPr>
        <p:blipFill>
          <a:blip r:embed="rId5"/>
          <a:stretch>
            <a:fillRect/>
          </a:stretch>
        </p:blipFill>
        <p:spPr>
          <a:xfrm>
            <a:off x="4297680" y="3657600"/>
            <a:ext cx="1920240" cy="1518361"/>
          </a:xfrm>
          <a:prstGeom prst="rect">
            <a:avLst/>
          </a:prstGeom>
        </p:spPr>
      </p:pic>
      <p:sp>
        <p:nvSpPr>
          <p:cNvPr id="13" name="!!Rótulo órgano ENDOTELIO"/>
          <p:cNvSpPr/>
          <p:nvPr/>
        </p:nvSpPr>
        <p:spPr>
          <a:xfrm>
            <a:off x="4526280" y="5257800"/>
            <a:ext cx="107244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ENDOTELIO</a:t>
            </a:r>
            <a:endParaRPr lang="es-AR" sz="1250" dirty="0">
              <a:latin typeface="Fira Sans Condensed"/>
            </a:endParaRPr>
          </a:p>
        </p:txBody>
      </p:sp>
      <p:pic>
        <p:nvPicPr>
          <p:cNvPr id="14" name="!!Órgano CORAZÓN" descr="Ilustración biomédica (Servier Medical Art, CC BY)"/>
          <p:cNvPicPr>
            <a:picLocks noChangeAspect="1"/>
          </p:cNvPicPr>
          <p:nvPr/>
        </p:nvPicPr>
        <p:blipFill>
          <a:blip r:embed="rId6"/>
          <a:stretch>
            <a:fillRect/>
          </a:stretch>
        </p:blipFill>
        <p:spPr>
          <a:xfrm>
            <a:off x="10241280" y="3291840"/>
            <a:ext cx="1280160" cy="1812158"/>
          </a:xfrm>
          <a:prstGeom prst="rect">
            <a:avLst/>
          </a:prstGeom>
        </p:spPr>
      </p:pic>
      <p:sp>
        <p:nvSpPr>
          <p:cNvPr id="15" name="!!Rótulo órgano CORAZÓN"/>
          <p:cNvSpPr/>
          <p:nvPr/>
        </p:nvSpPr>
        <p:spPr>
          <a:xfrm>
            <a:off x="10195560" y="5120640"/>
            <a:ext cx="96101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a:t>
            </a:r>
            <a:endParaRPr lang="es-AR" sz="1250" dirty="0">
              <a:latin typeface="Fira Sans Condensed"/>
            </a:endParaRPr>
          </a:p>
        </p:txBody>
      </p:sp>
      <p:grpSp>
        <p:nvGrpSpPr>
          <p:cNvPr id="16" name="!!Mapa elemento 0"/>
          <p:cNvGrpSpPr/>
          <p:nvPr/>
        </p:nvGrpSpPr>
        <p:grpSpPr>
          <a:xfrm>
            <a:off x="1554480" y="1417320"/>
            <a:ext cx="2606040" cy="226378"/>
            <a:chOff x="1554480" y="1417320"/>
            <a:chExt cx="2606040" cy="226378"/>
          </a:xfrm>
        </p:grpSpPr>
        <p:sp>
          <p:nvSpPr>
            <p:cNvPr id="17" name="Flecha 16_2"/>
            <p:cNvSpPr/>
            <p:nvPr/>
          </p:nvSpPr>
          <p:spPr>
            <a:xfrm>
              <a:off x="1554480" y="1554480"/>
              <a:ext cx="2606040" cy="9144"/>
            </a:xfrm>
            <a:custGeom>
              <a:avLst/>
              <a:gdLst/>
              <a:ahLst/>
              <a:cxnLst/>
              <a:rect l="0" t="0" r="r" b="b"/>
              <a:pathLst>
                <a:path w="2849" h="10" fill="none">
                  <a:moveTo>
                    <a:pt x="0" y="0"/>
                  </a:moveTo>
                  <a:lnTo>
                    <a:pt x="2849" y="0"/>
                  </a:lnTo>
                </a:path>
              </a:pathLst>
            </a:custGeom>
            <a:noFill/>
            <a:ln w="38100" cap="rnd">
              <a:solidFill>
                <a:srgbClr val="2563B0"/>
              </a:solidFill>
              <a:prstDash val="dash"/>
              <a:round/>
              <a:tailEnd type="triangle" w="med" len="med"/>
            </a:ln>
          </p:spPr>
        </p:sp>
        <p:sp>
          <p:nvSpPr>
            <p:cNvPr id="18" name="Rótulo AGNE · citocinas"/>
            <p:cNvSpPr/>
            <p:nvPr/>
          </p:nvSpPr>
          <p:spPr>
            <a:xfrm>
              <a:off x="2235743" y="141732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19" name="!!Mapa elemento 1"/>
          <p:cNvSpPr/>
          <p:nvPr/>
        </p:nvSpPr>
        <p:spPr>
          <a:xfrm>
            <a:off x="6537960" y="1051560"/>
            <a:ext cx="31089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FFFFFF"/>
                </a:solidFill>
                <a:latin typeface="Fira Sans Condensed"/>
                <a:ea typeface="Fira Sans Condensed"/>
                <a:cs typeface="Fira Sans Condensed"/>
                <a:sym typeface="Fira Sans Condensed"/>
              </a:rPr>
              <a:t>RESISTENCIA INSULÍNICA </a:t>
            </a:r>
            <a:r>
              <a:rPr lang="es-AR" sz="1150" b="1" dirty="0">
                <a:solidFill>
                  <a:srgbClr val="FFFFFF"/>
                </a:solidFill>
                <a:latin typeface="Cambria Math"/>
                <a:ea typeface="Cambria Math"/>
                <a:cs typeface="Cambria Math"/>
                <a:sym typeface="Cambria Math"/>
              </a:rPr>
              <a:t>↔</a:t>
            </a:r>
            <a:r>
              <a:rPr lang="es-AR" sz="1150" b="1" dirty="0">
                <a:solidFill>
                  <a:srgbClr val="FFFFFF"/>
                </a:solidFill>
                <a:latin typeface="Fira Sans Condensed"/>
                <a:ea typeface="Fira Sans Condensed"/>
                <a:cs typeface="Fira Sans Condensed"/>
                <a:sym typeface="Fira Sans Condensed"/>
              </a:rPr>
              <a:t> hiperinsulinemia</a:t>
            </a:r>
            <a:endParaRPr lang="es-AR" sz="1150" dirty="0">
              <a:latin typeface="Fira Sans Condensed"/>
            </a:endParaRPr>
          </a:p>
        </p:txBody>
      </p:sp>
      <p:grpSp>
        <p:nvGrpSpPr>
          <p:cNvPr id="20" name="!!Mapa elemento 2"/>
          <p:cNvGrpSpPr/>
          <p:nvPr/>
        </p:nvGrpSpPr>
        <p:grpSpPr>
          <a:xfrm>
            <a:off x="6263640" y="1463040"/>
            <a:ext cx="3657600" cy="548640"/>
            <a:chOff x="6263640" y="1463040"/>
            <a:chExt cx="3657600" cy="548640"/>
          </a:xfrm>
        </p:grpSpPr>
        <p:sp>
          <p:nvSpPr>
            <p:cNvPr id="21" name="Flecha 21_2"/>
            <p:cNvSpPr/>
            <p:nvPr/>
          </p:nvSpPr>
          <p:spPr>
            <a:xfrm>
              <a:off x="6263640" y="1463040"/>
              <a:ext cx="3657600" cy="548640"/>
            </a:xfrm>
            <a:custGeom>
              <a:avLst/>
              <a:gdLst/>
              <a:ahLst/>
              <a:cxnLst/>
              <a:rect l="0" t="0" r="r" b="b"/>
              <a:pathLst>
                <a:path w="4000" h="600" fill="none">
                  <a:moveTo>
                    <a:pt x="0" y="600"/>
                  </a:moveTo>
                  <a:lnTo>
                    <a:pt x="4000" y="0"/>
                  </a:lnTo>
                </a:path>
              </a:pathLst>
            </a:custGeom>
            <a:noFill/>
            <a:ln w="38100" cap="rnd">
              <a:solidFill>
                <a:srgbClr val="1E1E1E"/>
              </a:solidFill>
              <a:round/>
              <a:tailEnd type="triangle" w="med" len="med"/>
            </a:ln>
          </p:spPr>
        </p:sp>
        <p:sp>
          <p:nvSpPr>
            <p:cNvPr id="22" name="Rótulo Na⁺ retenido"/>
            <p:cNvSpPr/>
            <p:nvPr/>
          </p:nvSpPr>
          <p:spPr>
            <a:xfrm>
              <a:off x="7863840" y="1783080"/>
              <a:ext cx="10318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Na⁺ retenido</a:t>
              </a:r>
              <a:endParaRPr lang="es-AR" sz="1150" dirty="0">
                <a:latin typeface="Fira Sans Condensed"/>
              </a:endParaRPr>
            </a:p>
          </p:txBody>
        </p:sp>
      </p:grpSp>
      <p:sp>
        <p:nvSpPr>
          <p:cNvPr id="23" name="!!Mapa elemento 3"/>
          <p:cNvSpPr/>
          <p:nvPr/>
        </p:nvSpPr>
        <p:spPr>
          <a:xfrm>
            <a:off x="6537960" y="2331720"/>
            <a:ext cx="3108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HTA (simpático, SRAA, AOS)</a:t>
            </a:r>
            <a:endParaRPr lang="es-AR" sz="1200" dirty="0">
              <a:latin typeface="Fira Sans Condensed"/>
            </a:endParaRPr>
          </a:p>
        </p:txBody>
      </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MAPA 7 · SÍNDROME METABÓLICO · RESISTENCIA E HTA</a:t>
            </a:r>
            <a:endParaRPr lang="es-AR" sz="29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p:cTn id="10" dur="500" fill="hold"/>
                                        <p:tgtEl>
                                          <p:spTgt spid="19"/>
                                        </p:tgtEl>
                                        <p:attrNameLst>
                                          <p:attrName>ppt_w</p:attrName>
                                        </p:attrNameLst>
                                      </p:cBhvr>
                                      <p:tavLst>
                                        <p:tav tm="0">
                                          <p:val>
                                            <p:fltVal val="0"/>
                                          </p:val>
                                        </p:tav>
                                        <p:tav tm="100000">
                                          <p:val>
                                            <p:strVal val="#ppt_w"/>
                                          </p:val>
                                        </p:tav>
                                      </p:tavLst>
                                    </p:anim>
                                    <p:anim calcmode="lin" valueType="num">
                                      <p:cBhvr>
                                        <p:cTn id="11" dur="500" fill="hold"/>
                                        <p:tgtEl>
                                          <p:spTgt spid="19"/>
                                        </p:tgtEl>
                                        <p:attrNameLst>
                                          <p:attrName>ppt_h</p:attrName>
                                        </p:attrNameLst>
                                      </p:cBhvr>
                                      <p:tavLst>
                                        <p:tav tm="0">
                                          <p:val>
                                            <p:fltVal val="0"/>
                                          </p:val>
                                        </p:tav>
                                        <p:tav tm="100000">
                                          <p:val>
                                            <p:strVal val="#ppt_h"/>
                                          </p:val>
                                        </p:tav>
                                      </p:tavLst>
                                    </p:anim>
                                    <p:animEffect transition="in" filter="fade">
                                      <p:cBhvr>
                                        <p:cTn id="12" dur="500"/>
                                        <p:tgtEl>
                                          <p:spTgt spid="19"/>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26" fill="hold">
                      <p:stCondLst>
                        <p:cond delay="indefinite"/>
                      </p:stCondLst>
                      <p:childTnLst>
                        <p:par>
                          <p:cTn id="25"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500" fill="hold"/>
                                        <p:tgtEl>
                                          <p:spTgt spid="23"/>
                                        </p:tgtEl>
                                        <p:attrNameLst>
                                          <p:attrName>ppt_w</p:attrName>
                                        </p:attrNameLst>
                                      </p:cBhvr>
                                      <p:tavLst>
                                        <p:tav tm="0">
                                          <p:val>
                                            <p:fltVal val="0"/>
                                          </p:val>
                                        </p:tav>
                                        <p:tav tm="100000">
                                          <p:val>
                                            <p:strVal val="#ppt_w"/>
                                          </p:val>
                                        </p:tav>
                                      </p:tavLst>
                                    </p:anim>
                                    <p:anim calcmode="lin" valueType="num">
                                      <p:cBhvr>
                                        <p:cTn id="23" dur="500" fill="hold"/>
                                        <p:tgtEl>
                                          <p:spTgt spid="23"/>
                                        </p:tgtEl>
                                        <p:attrNameLst>
                                          <p:attrName>ppt_h</p:attrName>
                                        </p:attrNameLst>
                                      </p:cBhvr>
                                      <p:tavLst>
                                        <p:tav tm="0">
                                          <p:val>
                                            <p:fltVal val="0"/>
                                          </p:val>
                                        </p:tav>
                                        <p:tav tm="100000">
                                          <p:val>
                                            <p:strVal val="#ppt_h"/>
                                          </p:val>
                                        </p:tav>
                                      </p:tavLst>
                                    </p:anim>
                                    <p:animEffect transition="in" filter="fade">
                                      <p:cBhvr>
                                        <p:cTn id="2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animBg="1"/>
    </p:bld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ADIPOSIDAD VISCERAL" descr="Ilustración biomédica (Servier Medical Art, CC BY)"/>
          <p:cNvPicPr>
            <a:picLocks noChangeAspect="1"/>
          </p:cNvPicPr>
          <p:nvPr/>
        </p:nvPicPr>
        <p:blipFill>
          <a:blip r:embed="rId2"/>
          <a:stretch>
            <a:fillRect/>
          </a:stretch>
        </p:blipFill>
        <p:spPr>
          <a:xfrm>
            <a:off x="365760" y="914400"/>
            <a:ext cx="1143000" cy="2075486"/>
          </a:xfrm>
          <a:prstGeom prst="rect">
            <a:avLst/>
          </a:prstGeom>
        </p:spPr>
      </p:pic>
      <p:sp>
        <p:nvSpPr>
          <p:cNvPr id="7" name="!!Rótulo órgano ADIPOSIDAD VISCERAL"/>
          <p:cNvSpPr/>
          <p:nvPr/>
        </p:nvSpPr>
        <p:spPr>
          <a:xfrm>
            <a:off x="320040" y="3063240"/>
            <a:ext cx="185211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ADIPOSIDAD VISCERAL</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4206240" y="914400"/>
            <a:ext cx="2011680" cy="1459695"/>
          </a:xfrm>
          <a:prstGeom prst="rect">
            <a:avLst/>
          </a:prstGeom>
        </p:spPr>
      </p:pic>
      <p:sp>
        <p:nvSpPr>
          <p:cNvPr id="9" name="!!Rótulo órgano HÍGADO"/>
          <p:cNvSpPr/>
          <p:nvPr/>
        </p:nvSpPr>
        <p:spPr>
          <a:xfrm>
            <a:off x="4572000" y="23774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RIÑÓN" descr="Ilustración biomédica (Servier Medical Art, CC BY)"/>
          <p:cNvPicPr>
            <a:picLocks noChangeAspect="1"/>
          </p:cNvPicPr>
          <p:nvPr/>
        </p:nvPicPr>
        <p:blipFill>
          <a:blip r:embed="rId4"/>
          <a:stretch>
            <a:fillRect/>
          </a:stretch>
        </p:blipFill>
        <p:spPr>
          <a:xfrm>
            <a:off x="9966960" y="914400"/>
            <a:ext cx="914400" cy="1330728"/>
          </a:xfrm>
          <a:prstGeom prst="rect">
            <a:avLst/>
          </a:prstGeom>
        </p:spPr>
      </p:pic>
      <p:sp>
        <p:nvSpPr>
          <p:cNvPr id="11" name="!!Rótulo órgano RIÑÓN"/>
          <p:cNvSpPr/>
          <p:nvPr/>
        </p:nvSpPr>
        <p:spPr>
          <a:xfrm>
            <a:off x="9829800" y="224028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2" name="!!Órgano ENDOTELIO" descr="Ilustración biomédica (Servier Medical Art, CC BY)"/>
          <p:cNvPicPr>
            <a:picLocks noChangeAspect="1"/>
          </p:cNvPicPr>
          <p:nvPr/>
        </p:nvPicPr>
        <p:blipFill>
          <a:blip r:embed="rId5"/>
          <a:stretch>
            <a:fillRect/>
          </a:stretch>
        </p:blipFill>
        <p:spPr>
          <a:xfrm>
            <a:off x="4297680" y="3657600"/>
            <a:ext cx="1920240" cy="1518361"/>
          </a:xfrm>
          <a:prstGeom prst="rect">
            <a:avLst/>
          </a:prstGeom>
        </p:spPr>
      </p:pic>
      <p:sp>
        <p:nvSpPr>
          <p:cNvPr id="13" name="!!Rótulo órgano ENDOTELIO"/>
          <p:cNvSpPr/>
          <p:nvPr/>
        </p:nvSpPr>
        <p:spPr>
          <a:xfrm>
            <a:off x="4526280" y="5257800"/>
            <a:ext cx="107244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ENDOTELIO</a:t>
            </a:r>
            <a:endParaRPr lang="es-AR" sz="1250" dirty="0">
              <a:latin typeface="Fira Sans Condensed"/>
            </a:endParaRPr>
          </a:p>
        </p:txBody>
      </p:sp>
      <p:pic>
        <p:nvPicPr>
          <p:cNvPr id="14" name="!!Órgano CORAZÓN" descr="Ilustración biomédica (Servier Medical Art, CC BY)"/>
          <p:cNvPicPr>
            <a:picLocks noChangeAspect="1"/>
          </p:cNvPicPr>
          <p:nvPr/>
        </p:nvPicPr>
        <p:blipFill>
          <a:blip r:embed="rId6"/>
          <a:stretch>
            <a:fillRect/>
          </a:stretch>
        </p:blipFill>
        <p:spPr>
          <a:xfrm>
            <a:off x="10241280" y="3291840"/>
            <a:ext cx="1280160" cy="1812158"/>
          </a:xfrm>
          <a:prstGeom prst="rect">
            <a:avLst/>
          </a:prstGeom>
        </p:spPr>
      </p:pic>
      <p:sp>
        <p:nvSpPr>
          <p:cNvPr id="15" name="!!Rótulo órgano CORAZÓN"/>
          <p:cNvSpPr/>
          <p:nvPr/>
        </p:nvSpPr>
        <p:spPr>
          <a:xfrm>
            <a:off x="10195560" y="5120640"/>
            <a:ext cx="96101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a:t>
            </a:r>
            <a:endParaRPr lang="es-AR" sz="1250" dirty="0">
              <a:latin typeface="Fira Sans Condensed"/>
            </a:endParaRPr>
          </a:p>
        </p:txBody>
      </p:sp>
      <p:grpSp>
        <p:nvGrpSpPr>
          <p:cNvPr id="16" name="!!Mapa elemento 0"/>
          <p:cNvGrpSpPr/>
          <p:nvPr/>
        </p:nvGrpSpPr>
        <p:grpSpPr>
          <a:xfrm>
            <a:off x="1554480" y="1417320"/>
            <a:ext cx="2606040" cy="226378"/>
            <a:chOff x="1554480" y="1417320"/>
            <a:chExt cx="2606040" cy="226378"/>
          </a:xfrm>
        </p:grpSpPr>
        <p:sp>
          <p:nvSpPr>
            <p:cNvPr id="17" name="Flecha 16_2"/>
            <p:cNvSpPr/>
            <p:nvPr/>
          </p:nvSpPr>
          <p:spPr>
            <a:xfrm>
              <a:off x="1554480" y="1554480"/>
              <a:ext cx="2606040" cy="9144"/>
            </a:xfrm>
            <a:custGeom>
              <a:avLst/>
              <a:gdLst/>
              <a:ahLst/>
              <a:cxnLst/>
              <a:rect l="0" t="0" r="r" b="b"/>
              <a:pathLst>
                <a:path w="2849" h="10" fill="none">
                  <a:moveTo>
                    <a:pt x="0" y="0"/>
                  </a:moveTo>
                  <a:lnTo>
                    <a:pt x="2849" y="0"/>
                  </a:lnTo>
                </a:path>
              </a:pathLst>
            </a:custGeom>
            <a:noFill/>
            <a:ln w="38100" cap="rnd">
              <a:solidFill>
                <a:srgbClr val="2563B0"/>
              </a:solidFill>
              <a:prstDash val="dash"/>
              <a:round/>
              <a:tailEnd type="triangle" w="med" len="med"/>
            </a:ln>
          </p:spPr>
        </p:sp>
        <p:sp>
          <p:nvSpPr>
            <p:cNvPr id="18" name="Rótulo AGNE · citocinas"/>
            <p:cNvSpPr/>
            <p:nvPr/>
          </p:nvSpPr>
          <p:spPr>
            <a:xfrm>
              <a:off x="2235743" y="141732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19" name="!!Mapa elemento 1"/>
          <p:cNvSpPr/>
          <p:nvPr/>
        </p:nvSpPr>
        <p:spPr>
          <a:xfrm>
            <a:off x="6537960" y="1051560"/>
            <a:ext cx="31089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FFFFFF"/>
                </a:solidFill>
                <a:latin typeface="Fira Sans Condensed"/>
                <a:ea typeface="Fira Sans Condensed"/>
                <a:cs typeface="Fira Sans Condensed"/>
                <a:sym typeface="Fira Sans Condensed"/>
              </a:rPr>
              <a:t>RESISTENCIA INSULÍNICA </a:t>
            </a:r>
            <a:r>
              <a:rPr lang="es-AR" sz="1150" b="1" dirty="0">
                <a:solidFill>
                  <a:srgbClr val="FFFFFF"/>
                </a:solidFill>
                <a:latin typeface="Cambria Math"/>
                <a:ea typeface="Cambria Math"/>
                <a:cs typeface="Cambria Math"/>
                <a:sym typeface="Cambria Math"/>
              </a:rPr>
              <a:t>↔</a:t>
            </a:r>
            <a:r>
              <a:rPr lang="es-AR" sz="1150" b="1" dirty="0">
                <a:solidFill>
                  <a:srgbClr val="FFFFFF"/>
                </a:solidFill>
                <a:latin typeface="Fira Sans Condensed"/>
                <a:ea typeface="Fira Sans Condensed"/>
                <a:cs typeface="Fira Sans Condensed"/>
                <a:sym typeface="Fira Sans Condensed"/>
              </a:rPr>
              <a:t> hiperinsulinemia</a:t>
            </a:r>
            <a:endParaRPr lang="es-AR" sz="1150" dirty="0">
              <a:latin typeface="Fira Sans Condensed"/>
            </a:endParaRPr>
          </a:p>
        </p:txBody>
      </p:sp>
      <p:grpSp>
        <p:nvGrpSpPr>
          <p:cNvPr id="20" name="!!Mapa elemento 2"/>
          <p:cNvGrpSpPr/>
          <p:nvPr/>
        </p:nvGrpSpPr>
        <p:grpSpPr>
          <a:xfrm>
            <a:off x="6263640" y="1463040"/>
            <a:ext cx="3657600" cy="548640"/>
            <a:chOff x="6263640" y="1463040"/>
            <a:chExt cx="3657600" cy="548640"/>
          </a:xfrm>
        </p:grpSpPr>
        <p:sp>
          <p:nvSpPr>
            <p:cNvPr id="21" name="Flecha 21_2"/>
            <p:cNvSpPr/>
            <p:nvPr/>
          </p:nvSpPr>
          <p:spPr>
            <a:xfrm>
              <a:off x="6263640" y="1463040"/>
              <a:ext cx="3657600" cy="548640"/>
            </a:xfrm>
            <a:custGeom>
              <a:avLst/>
              <a:gdLst/>
              <a:ahLst/>
              <a:cxnLst/>
              <a:rect l="0" t="0" r="r" b="b"/>
              <a:pathLst>
                <a:path w="4000" h="600" fill="none">
                  <a:moveTo>
                    <a:pt x="0" y="600"/>
                  </a:moveTo>
                  <a:lnTo>
                    <a:pt x="4000" y="0"/>
                  </a:lnTo>
                </a:path>
              </a:pathLst>
            </a:custGeom>
            <a:noFill/>
            <a:ln w="38100" cap="rnd">
              <a:solidFill>
                <a:srgbClr val="1E1E1E"/>
              </a:solidFill>
              <a:round/>
              <a:tailEnd type="triangle" w="med" len="med"/>
            </a:ln>
          </p:spPr>
        </p:sp>
        <p:sp>
          <p:nvSpPr>
            <p:cNvPr id="22" name="Rótulo Na⁺ retenido"/>
            <p:cNvSpPr/>
            <p:nvPr/>
          </p:nvSpPr>
          <p:spPr>
            <a:xfrm>
              <a:off x="7863840" y="1783080"/>
              <a:ext cx="10318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Na⁺ retenido</a:t>
              </a:r>
              <a:endParaRPr lang="es-AR" sz="1150" dirty="0">
                <a:latin typeface="Fira Sans Condensed"/>
              </a:endParaRPr>
            </a:p>
          </p:txBody>
        </p:sp>
      </p:grpSp>
      <p:sp>
        <p:nvSpPr>
          <p:cNvPr id="23" name="!!Mapa elemento 3"/>
          <p:cNvSpPr/>
          <p:nvPr/>
        </p:nvSpPr>
        <p:spPr>
          <a:xfrm>
            <a:off x="6537960" y="2331720"/>
            <a:ext cx="3108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HTA (simpático, SRAA, AOS)</a:t>
            </a:r>
            <a:endParaRPr lang="es-AR" sz="1200" dirty="0">
              <a:latin typeface="Fira Sans Condensed"/>
            </a:endParaRPr>
          </a:p>
        </p:txBody>
      </p:sp>
      <p:grpSp>
        <p:nvGrpSpPr>
          <p:cNvPr id="24" name="!!Mapa elemento 4"/>
          <p:cNvGrpSpPr/>
          <p:nvPr/>
        </p:nvGrpSpPr>
        <p:grpSpPr>
          <a:xfrm>
            <a:off x="4721542" y="2697480"/>
            <a:ext cx="981077" cy="914400"/>
            <a:chOff x="4721542" y="2697480"/>
            <a:chExt cx="981077" cy="914400"/>
          </a:xfrm>
        </p:grpSpPr>
        <p:sp>
          <p:nvSpPr>
            <p:cNvPr id="25" name="Flecha 26_2"/>
            <p:cNvSpPr/>
            <p:nvPr/>
          </p:nvSpPr>
          <p:spPr>
            <a:xfrm>
              <a:off x="5212080" y="2697480"/>
              <a:ext cx="9144" cy="914400"/>
            </a:xfrm>
            <a:custGeom>
              <a:avLst/>
              <a:gdLst/>
              <a:ahLst/>
              <a:cxnLst/>
              <a:rect l="0" t="0" r="r" b="b"/>
              <a:pathLst>
                <a:path w="10" h="1000" fill="none">
                  <a:moveTo>
                    <a:pt x="0" y="0"/>
                  </a:moveTo>
                  <a:lnTo>
                    <a:pt x="0" y="1000"/>
                  </a:lnTo>
                </a:path>
              </a:pathLst>
            </a:custGeom>
            <a:noFill/>
            <a:ln w="38100" cap="rnd">
              <a:solidFill>
                <a:srgbClr val="1E1E1E"/>
              </a:solidFill>
              <a:round/>
              <a:tailEnd type="triangle" w="med" len="med"/>
            </a:ln>
          </p:spPr>
        </p:sp>
        <p:sp>
          <p:nvSpPr>
            <p:cNvPr id="26" name="Rótulo VLDL · ApoB"/>
            <p:cNvSpPr/>
            <p:nvPr/>
          </p:nvSpPr>
          <p:spPr>
            <a:xfrm>
              <a:off x="4721542" y="3017520"/>
              <a:ext cx="981077"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VLDL · ApoB</a:t>
              </a:r>
              <a:endParaRPr lang="es-AR" sz="1150" dirty="0">
                <a:latin typeface="Fira Sans Condensed"/>
              </a:endParaRPr>
            </a:p>
          </p:txBody>
        </p:sp>
      </p:grpSp>
      <p:sp>
        <p:nvSpPr>
          <p:cNvPr id="27" name="!!Mapa elemento 5"/>
          <p:cNvSpPr/>
          <p:nvPr/>
        </p:nvSpPr>
        <p:spPr>
          <a:xfrm>
            <a:off x="365760" y="3749040"/>
            <a:ext cx="35661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DISLIPIDEMIA: TG ↑ · HDL ↓</a:t>
            </a:r>
            <a:endParaRPr lang="es-AR" sz="1250" dirty="0">
              <a:latin typeface="Fira Sans Condensed"/>
            </a:endParaRPr>
          </a:p>
        </p:txBody>
      </p:sp>
      <p:grpSp>
        <p:nvGrpSpPr>
          <p:cNvPr id="28" name="!!Mapa elemento 6"/>
          <p:cNvGrpSpPr/>
          <p:nvPr/>
        </p:nvGrpSpPr>
        <p:grpSpPr>
          <a:xfrm>
            <a:off x="3977640" y="4023360"/>
            <a:ext cx="320040" cy="182880"/>
            <a:chOff x="3977640" y="4023360"/>
            <a:chExt cx="320040" cy="182880"/>
          </a:xfrm>
        </p:grpSpPr>
        <p:sp>
          <p:nvSpPr>
            <p:cNvPr id="29" name="Flecha 31_2"/>
            <p:cNvSpPr/>
            <p:nvPr/>
          </p:nvSpPr>
          <p:spPr>
            <a:xfrm>
              <a:off x="3977640" y="4023360"/>
              <a:ext cx="320040" cy="182880"/>
            </a:xfrm>
            <a:custGeom>
              <a:avLst/>
              <a:gdLst/>
              <a:ahLst/>
              <a:cxnLst/>
              <a:rect l="0" t="0" r="r" b="b"/>
              <a:pathLst>
                <a:path w="350" h="199" fill="none">
                  <a:moveTo>
                    <a:pt x="0" y="0"/>
                  </a:moveTo>
                  <a:lnTo>
                    <a:pt x="350" y="199"/>
                  </a:lnTo>
                </a:path>
              </a:pathLst>
            </a:custGeom>
            <a:noFill/>
            <a:ln w="38100" cap="rnd">
              <a:solidFill>
                <a:srgbClr val="1E1E1E"/>
              </a:solidFill>
              <a:round/>
              <a:tailEnd type="triangle" w="med" len="med"/>
            </a:ln>
          </p:spPr>
        </p:sp>
      </p:grpSp>
      <p:grpSp>
        <p:nvGrpSpPr>
          <p:cNvPr id="30" name="!!Mapa elemento 7"/>
          <p:cNvGrpSpPr/>
          <p:nvPr/>
        </p:nvGrpSpPr>
        <p:grpSpPr>
          <a:xfrm>
            <a:off x="6263640" y="3923741"/>
            <a:ext cx="3945820" cy="648259"/>
            <a:chOff x="6263640" y="3923741"/>
            <a:chExt cx="3945820" cy="648259"/>
          </a:xfrm>
        </p:grpSpPr>
        <p:grpSp>
          <p:nvGrpSpPr>
            <p:cNvPr id="31" name="Inhibición"/>
            <p:cNvGrpSpPr/>
            <p:nvPr/>
          </p:nvGrpSpPr>
          <p:grpSpPr>
            <a:xfrm>
              <a:off x="6263640" y="3923741"/>
              <a:ext cx="3945820" cy="648259"/>
              <a:chOff x="6263640" y="3923741"/>
              <a:chExt cx="3945820" cy="648259"/>
            </a:xfrm>
          </p:grpSpPr>
          <p:sp>
            <p:nvSpPr>
              <p:cNvPr id="32" name="Flecha 35_2"/>
              <p:cNvSpPr/>
              <p:nvPr/>
            </p:nvSpPr>
            <p:spPr>
              <a:xfrm>
                <a:off x="6263640" y="4023360"/>
                <a:ext cx="3931920" cy="548640"/>
              </a:xfrm>
              <a:custGeom>
                <a:avLst/>
                <a:gdLst/>
                <a:ahLst/>
                <a:cxnLst/>
                <a:rect l="0" t="0" r="r" b="b"/>
                <a:pathLst>
                  <a:path w="4300" h="599" fill="none">
                    <a:moveTo>
                      <a:pt x="0" y="599"/>
                    </a:moveTo>
                    <a:lnTo>
                      <a:pt x="4300" y="0"/>
                    </a:lnTo>
                  </a:path>
                </a:pathLst>
              </a:custGeom>
              <a:noFill/>
              <a:ln w="31750" cap="rnd">
                <a:solidFill>
                  <a:srgbClr val="C00000"/>
                </a:solidFill>
                <a:round/>
              </a:ln>
            </p:spPr>
          </p:sp>
          <p:sp>
            <p:nvSpPr>
              <p:cNvPr id="33" name="Flecha 37_2"/>
              <p:cNvSpPr/>
              <p:nvPr/>
            </p:nvSpPr>
            <p:spPr>
              <a:xfrm>
                <a:off x="10181660" y="3923741"/>
                <a:ext cx="27801" cy="199238"/>
              </a:xfrm>
              <a:custGeom>
                <a:avLst/>
                <a:gdLst/>
                <a:ahLst/>
                <a:cxnLst/>
                <a:rect l="0" t="0" r="r" b="b"/>
                <a:pathLst>
                  <a:path w="30" h="217" fill="none">
                    <a:moveTo>
                      <a:pt x="0" y="0"/>
                    </a:moveTo>
                    <a:lnTo>
                      <a:pt x="30" y="217"/>
                    </a:lnTo>
                  </a:path>
                </a:pathLst>
              </a:custGeom>
              <a:noFill/>
              <a:ln w="50800" cap="rnd">
                <a:solidFill>
                  <a:srgbClr val="C00000"/>
                </a:solidFill>
                <a:round/>
              </a:ln>
            </p:spPr>
          </p:sp>
        </p:grpSp>
        <p:sp>
          <p:nvSpPr>
            <p:cNvPr id="34" name="Rótulo aterosclerosis"/>
            <p:cNvSpPr/>
            <p:nvPr/>
          </p:nvSpPr>
          <p:spPr>
            <a:xfrm>
              <a:off x="7661498" y="4160520"/>
              <a:ext cx="113620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aterosclerosis</a:t>
              </a:r>
              <a:endParaRPr lang="es-AR" sz="1150" dirty="0">
                <a:latin typeface="Fira Sans Condensed"/>
              </a:endParaRPr>
            </a:p>
          </p:txBody>
        </p:sp>
      </p:grpSp>
      <p:sp>
        <p:nvSpPr>
          <p:cNvPr id="35" name="!!Mapa elemento 8"/>
          <p:cNvSpPr/>
          <p:nvPr/>
        </p:nvSpPr>
        <p:spPr>
          <a:xfrm>
            <a:off x="6537960" y="3108960"/>
            <a:ext cx="3108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Disfunción endotelial: NO ↓</a:t>
            </a:r>
            <a:endParaRPr lang="es-AR" sz="1200" dirty="0">
              <a:latin typeface="Fira Sans Condensed"/>
            </a:endParaRPr>
          </a:p>
        </p:txBody>
      </p:sp>
      <p:sp>
        <p:nvSpPr>
          <p:cNvPr id="4" name="Título"/>
          <p:cNvSpPr txBox="1"/>
          <p:nvPr/>
        </p:nvSpPr>
        <p:spPr>
          <a:xfrm>
            <a:off x="320040" y="91440"/>
            <a:ext cx="11551615" cy="4894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300" dirty="0">
                <a:solidFill>
                  <a:srgbClr val="1E1E1E"/>
                </a:solidFill>
                <a:effectLst>
                  <a:glow rad="101600">
                    <a:srgbClr val="FFFFFF">
                      <a:alpha val="70000"/>
                    </a:srgbClr>
                  </a:glow>
                </a:effectLst>
                <a:latin typeface="Permanent Marker"/>
                <a:ea typeface="Permanent Marker"/>
                <a:cs typeface="Permanent Marker"/>
                <a:sym typeface="Permanent Marker"/>
              </a:rPr>
              <a:t>MAPA 7 · SÍNDROME METABÓLICO · LÍPIDOS, ENDOTELIO Y CORAZÓN</a:t>
            </a:r>
            <a:endParaRPr lang="es-AR" sz="23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209</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500"/>
                                        <p:tgtEl>
                                          <p:spTgt spid="24"/>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27"/>
                                        </p:tgtEl>
                                        <p:attrNameLst>
                                          <p:attrName>style.visibility</p:attrName>
                                        </p:attrNameLst>
                                      </p:cBhvr>
                                      <p:to>
                                        <p:strVal val="visible"/>
                                      </p:to>
                                    </p:set>
                                    <p:anim calcmode="lin" valueType="num">
                                      <p:cBhvr>
                                        <p:cTn id="10" dur="500" fill="hold"/>
                                        <p:tgtEl>
                                          <p:spTgt spid="27"/>
                                        </p:tgtEl>
                                        <p:attrNameLst>
                                          <p:attrName>ppt_w</p:attrName>
                                        </p:attrNameLst>
                                      </p:cBhvr>
                                      <p:tavLst>
                                        <p:tav tm="0">
                                          <p:val>
                                            <p:fltVal val="0"/>
                                          </p:val>
                                        </p:tav>
                                        <p:tav tm="100000">
                                          <p:val>
                                            <p:strVal val="#ppt_w"/>
                                          </p:val>
                                        </p:tav>
                                      </p:tavLst>
                                    </p:anim>
                                    <p:anim calcmode="lin" valueType="num">
                                      <p:cBhvr>
                                        <p:cTn id="11" dur="500" fill="hold"/>
                                        <p:tgtEl>
                                          <p:spTgt spid="27"/>
                                        </p:tgtEl>
                                        <p:attrNameLst>
                                          <p:attrName>ppt_h</p:attrName>
                                        </p:attrNameLst>
                                      </p:cBhvr>
                                      <p:tavLst>
                                        <p:tav tm="0">
                                          <p:val>
                                            <p:fltVal val="0"/>
                                          </p:val>
                                        </p:tav>
                                        <p:tav tm="100000">
                                          <p:val>
                                            <p:strVal val="#ppt_h"/>
                                          </p:val>
                                        </p:tav>
                                      </p:tavLst>
                                    </p:anim>
                                    <p:animEffect transition="in" filter="fade">
                                      <p:cBhvr>
                                        <p:cTn id="12" dur="500"/>
                                        <p:tgtEl>
                                          <p:spTgt spid="27"/>
                                        </p:tgtEl>
                                      </p:cBhvr>
                                    </p:animEffect>
                                  </p:childTnLst>
                                </p:cTn>
                              </p:par>
                            </p:childTnLst>
                          </p:cTn>
                        </p:par>
                      </p:childTnLst>
                    </p:cTn>
                  </p:par>
                  <p:par>
                    <p:cTn id="19" fill="hold">
                      <p:stCondLst>
                        <p:cond delay="indefinite"/>
                      </p:stCondLst>
                      <p:childTnLst>
                        <p:par>
                          <p:cTn id="18"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24" fill="hold">
                      <p:stCondLst>
                        <p:cond delay="indefinite"/>
                      </p:stCondLst>
                      <p:childTnLst>
                        <p:par>
                          <p:cTn id="2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31" fill="hold">
                      <p:stCondLst>
                        <p:cond delay="indefinite"/>
                      </p:stCondLst>
                      <p:childTnLst>
                        <p:par>
                          <p:cTn id="30"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p:cTn id="27" dur="500" fill="hold"/>
                                        <p:tgtEl>
                                          <p:spTgt spid="35"/>
                                        </p:tgtEl>
                                        <p:attrNameLst>
                                          <p:attrName>ppt_w</p:attrName>
                                        </p:attrNameLst>
                                      </p:cBhvr>
                                      <p:tavLst>
                                        <p:tav tm="0">
                                          <p:val>
                                            <p:fltVal val="0"/>
                                          </p:val>
                                        </p:tav>
                                        <p:tav tm="100000">
                                          <p:val>
                                            <p:strVal val="#ppt_w"/>
                                          </p:val>
                                        </p:tav>
                                      </p:tavLst>
                                    </p:anim>
                                    <p:anim calcmode="lin" valueType="num">
                                      <p:cBhvr>
                                        <p:cTn id="28" dur="500" fill="hold"/>
                                        <p:tgtEl>
                                          <p:spTgt spid="35"/>
                                        </p:tgtEl>
                                        <p:attrNameLst>
                                          <p:attrName>ppt_h</p:attrName>
                                        </p:attrNameLst>
                                      </p:cBhvr>
                                      <p:tavLst>
                                        <p:tav tm="0">
                                          <p:val>
                                            <p:fltVal val="0"/>
                                          </p:val>
                                        </p:tav>
                                        <p:tav tm="100000">
                                          <p:val>
                                            <p:strVal val="#ppt_h"/>
                                          </p:val>
                                        </p:tav>
                                      </p:tavLst>
                                    </p:anim>
                                    <p:animEffect transition="in" filter="fade">
                                      <p:cBhvr>
                                        <p:cTn id="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5" grpId="0" animBg="1"/>
    </p:bld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pic>
        <p:nvPicPr>
          <p:cNvPr id="6" name="!!Órgano ADIPOSIDAD VISCERAL" descr="Ilustración biomédica (Servier Medical Art, CC BY)"/>
          <p:cNvPicPr>
            <a:picLocks noChangeAspect="1"/>
          </p:cNvPicPr>
          <p:nvPr/>
        </p:nvPicPr>
        <p:blipFill>
          <a:blip r:embed="rId2"/>
          <a:stretch>
            <a:fillRect/>
          </a:stretch>
        </p:blipFill>
        <p:spPr>
          <a:xfrm>
            <a:off x="365760" y="914400"/>
            <a:ext cx="1143000" cy="2075486"/>
          </a:xfrm>
          <a:prstGeom prst="rect">
            <a:avLst/>
          </a:prstGeom>
        </p:spPr>
      </p:pic>
      <p:sp>
        <p:nvSpPr>
          <p:cNvPr id="7" name="!!Rótulo órgano ADIPOSIDAD VISCERAL"/>
          <p:cNvSpPr/>
          <p:nvPr/>
        </p:nvSpPr>
        <p:spPr>
          <a:xfrm>
            <a:off x="320040" y="3063240"/>
            <a:ext cx="1852116"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ADIPOSIDAD VISCERAL</a:t>
            </a:r>
            <a:endParaRPr lang="es-AR" sz="1250" dirty="0">
              <a:latin typeface="Fira Sans Condensed"/>
            </a:endParaRPr>
          </a:p>
        </p:txBody>
      </p:sp>
      <p:pic>
        <p:nvPicPr>
          <p:cNvPr id="8" name="!!Órgano HÍGADO" descr="Ilustración biomédica (Servier Medical Art, CC BY)"/>
          <p:cNvPicPr>
            <a:picLocks noChangeAspect="1"/>
          </p:cNvPicPr>
          <p:nvPr/>
        </p:nvPicPr>
        <p:blipFill>
          <a:blip r:embed="rId3"/>
          <a:stretch>
            <a:fillRect/>
          </a:stretch>
        </p:blipFill>
        <p:spPr>
          <a:xfrm>
            <a:off x="4206240" y="914400"/>
            <a:ext cx="2011680" cy="1459695"/>
          </a:xfrm>
          <a:prstGeom prst="rect">
            <a:avLst/>
          </a:prstGeom>
        </p:spPr>
      </p:pic>
      <p:sp>
        <p:nvSpPr>
          <p:cNvPr id="9" name="!!Rótulo órgano HÍGADO"/>
          <p:cNvSpPr/>
          <p:nvPr/>
        </p:nvSpPr>
        <p:spPr>
          <a:xfrm>
            <a:off x="4572000" y="2377440"/>
            <a:ext cx="841094"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HÍGADO</a:t>
            </a:r>
            <a:endParaRPr lang="es-AR" sz="1250" dirty="0">
              <a:latin typeface="Fira Sans Condensed"/>
            </a:endParaRPr>
          </a:p>
        </p:txBody>
      </p:sp>
      <p:pic>
        <p:nvPicPr>
          <p:cNvPr id="10" name="!!Órgano RIÑÓN" descr="Ilustración biomédica (Servier Medical Art, CC BY)"/>
          <p:cNvPicPr>
            <a:picLocks noChangeAspect="1"/>
          </p:cNvPicPr>
          <p:nvPr/>
        </p:nvPicPr>
        <p:blipFill>
          <a:blip r:embed="rId4"/>
          <a:stretch>
            <a:fillRect/>
          </a:stretch>
        </p:blipFill>
        <p:spPr>
          <a:xfrm>
            <a:off x="9966960" y="914400"/>
            <a:ext cx="914400" cy="1330728"/>
          </a:xfrm>
          <a:prstGeom prst="rect">
            <a:avLst/>
          </a:prstGeom>
        </p:spPr>
      </p:pic>
      <p:sp>
        <p:nvSpPr>
          <p:cNvPr id="11" name="!!Rótulo órgano RIÑÓN"/>
          <p:cNvSpPr/>
          <p:nvPr/>
        </p:nvSpPr>
        <p:spPr>
          <a:xfrm>
            <a:off x="9829800" y="2240280"/>
            <a:ext cx="744272"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RIÑÓN</a:t>
            </a:r>
            <a:endParaRPr lang="es-AR" sz="1250" dirty="0">
              <a:latin typeface="Fira Sans Condensed"/>
            </a:endParaRPr>
          </a:p>
        </p:txBody>
      </p:sp>
      <p:pic>
        <p:nvPicPr>
          <p:cNvPr id="12" name="!!Órgano ENDOTELIO" descr="Ilustración biomédica (Servier Medical Art, CC BY)"/>
          <p:cNvPicPr>
            <a:picLocks noChangeAspect="1"/>
          </p:cNvPicPr>
          <p:nvPr/>
        </p:nvPicPr>
        <p:blipFill>
          <a:blip r:embed="rId5"/>
          <a:stretch>
            <a:fillRect/>
          </a:stretch>
        </p:blipFill>
        <p:spPr>
          <a:xfrm>
            <a:off x="4297680" y="3657600"/>
            <a:ext cx="1920240" cy="1518361"/>
          </a:xfrm>
          <a:prstGeom prst="rect">
            <a:avLst/>
          </a:prstGeom>
        </p:spPr>
      </p:pic>
      <p:sp>
        <p:nvSpPr>
          <p:cNvPr id="13" name="!!Rótulo órgano ENDOTELIO"/>
          <p:cNvSpPr/>
          <p:nvPr/>
        </p:nvSpPr>
        <p:spPr>
          <a:xfrm>
            <a:off x="4526280" y="5257800"/>
            <a:ext cx="107244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ENDOTELIO</a:t>
            </a:r>
            <a:endParaRPr lang="es-AR" sz="1250" dirty="0">
              <a:latin typeface="Fira Sans Condensed"/>
            </a:endParaRPr>
          </a:p>
        </p:txBody>
      </p:sp>
      <p:pic>
        <p:nvPicPr>
          <p:cNvPr id="14" name="!!Órgano CORAZÓN" descr="Ilustración biomédica (Servier Medical Art, CC BY)"/>
          <p:cNvPicPr>
            <a:picLocks noChangeAspect="1"/>
          </p:cNvPicPr>
          <p:nvPr/>
        </p:nvPicPr>
        <p:blipFill>
          <a:blip r:embed="rId6"/>
          <a:stretch>
            <a:fillRect/>
          </a:stretch>
        </p:blipFill>
        <p:spPr>
          <a:xfrm>
            <a:off x="10241280" y="3291840"/>
            <a:ext cx="1280160" cy="1812158"/>
          </a:xfrm>
          <a:prstGeom prst="rect">
            <a:avLst/>
          </a:prstGeom>
        </p:spPr>
      </p:pic>
      <p:sp>
        <p:nvSpPr>
          <p:cNvPr id="15" name="!!Rótulo órgano CORAZÓN"/>
          <p:cNvSpPr/>
          <p:nvPr/>
        </p:nvSpPr>
        <p:spPr>
          <a:xfrm>
            <a:off x="10195560" y="5120640"/>
            <a:ext cx="961017" cy="347472"/>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CORAZÓN</a:t>
            </a:r>
            <a:endParaRPr lang="es-AR" sz="1250" dirty="0">
              <a:latin typeface="Fira Sans Condensed"/>
            </a:endParaRPr>
          </a:p>
        </p:txBody>
      </p:sp>
      <p:grpSp>
        <p:nvGrpSpPr>
          <p:cNvPr id="16" name="!!Mapa elemento 0"/>
          <p:cNvGrpSpPr/>
          <p:nvPr/>
        </p:nvGrpSpPr>
        <p:grpSpPr>
          <a:xfrm>
            <a:off x="1554480" y="1417320"/>
            <a:ext cx="2606040" cy="226378"/>
            <a:chOff x="1554480" y="1417320"/>
            <a:chExt cx="2606040" cy="226378"/>
          </a:xfrm>
        </p:grpSpPr>
        <p:sp>
          <p:nvSpPr>
            <p:cNvPr id="17" name="Flecha 16_2"/>
            <p:cNvSpPr/>
            <p:nvPr/>
          </p:nvSpPr>
          <p:spPr>
            <a:xfrm>
              <a:off x="1554480" y="1554480"/>
              <a:ext cx="2606040" cy="9144"/>
            </a:xfrm>
            <a:custGeom>
              <a:avLst/>
              <a:gdLst/>
              <a:ahLst/>
              <a:cxnLst/>
              <a:rect l="0" t="0" r="r" b="b"/>
              <a:pathLst>
                <a:path w="2849" h="10" fill="none">
                  <a:moveTo>
                    <a:pt x="0" y="0"/>
                  </a:moveTo>
                  <a:lnTo>
                    <a:pt x="2849" y="0"/>
                  </a:lnTo>
                </a:path>
              </a:pathLst>
            </a:custGeom>
            <a:noFill/>
            <a:ln w="38100" cap="rnd">
              <a:solidFill>
                <a:srgbClr val="2563B0"/>
              </a:solidFill>
              <a:prstDash val="dash"/>
              <a:round/>
              <a:tailEnd type="triangle" w="med" len="med"/>
            </a:ln>
          </p:spPr>
        </p:sp>
        <p:sp>
          <p:nvSpPr>
            <p:cNvPr id="18" name="Rótulo AGNE · citocinas"/>
            <p:cNvSpPr/>
            <p:nvPr/>
          </p:nvSpPr>
          <p:spPr>
            <a:xfrm>
              <a:off x="2235743" y="1417320"/>
              <a:ext cx="1243515"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AGNE · citocinas</a:t>
              </a:r>
              <a:endParaRPr lang="es-AR" sz="1150" dirty="0">
                <a:latin typeface="Fira Sans Condensed"/>
              </a:endParaRPr>
            </a:p>
          </p:txBody>
        </p:sp>
      </p:grpSp>
      <p:sp>
        <p:nvSpPr>
          <p:cNvPr id="19" name="!!Mapa elemento 1"/>
          <p:cNvSpPr/>
          <p:nvPr/>
        </p:nvSpPr>
        <p:spPr>
          <a:xfrm>
            <a:off x="6537960" y="1051560"/>
            <a:ext cx="310896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150" b="1" dirty="0">
                <a:solidFill>
                  <a:srgbClr val="FFFFFF"/>
                </a:solidFill>
                <a:latin typeface="Fira Sans Condensed"/>
                <a:ea typeface="Fira Sans Condensed"/>
                <a:cs typeface="Fira Sans Condensed"/>
                <a:sym typeface="Fira Sans Condensed"/>
              </a:rPr>
              <a:t>RESISTENCIA INSULÍNICA </a:t>
            </a:r>
            <a:r>
              <a:rPr lang="es-AR" sz="1150" b="1" dirty="0">
                <a:solidFill>
                  <a:srgbClr val="FFFFFF"/>
                </a:solidFill>
                <a:latin typeface="Cambria Math"/>
                <a:ea typeface="Cambria Math"/>
                <a:cs typeface="Cambria Math"/>
                <a:sym typeface="Cambria Math"/>
              </a:rPr>
              <a:t>↔</a:t>
            </a:r>
            <a:r>
              <a:rPr lang="es-AR" sz="1150" b="1" dirty="0">
                <a:solidFill>
                  <a:srgbClr val="FFFFFF"/>
                </a:solidFill>
                <a:latin typeface="Fira Sans Condensed"/>
                <a:ea typeface="Fira Sans Condensed"/>
                <a:cs typeface="Fira Sans Condensed"/>
                <a:sym typeface="Fira Sans Condensed"/>
              </a:rPr>
              <a:t> hiperinsulinemia</a:t>
            </a:r>
            <a:endParaRPr lang="es-AR" sz="1150" dirty="0">
              <a:latin typeface="Fira Sans Condensed"/>
            </a:endParaRPr>
          </a:p>
        </p:txBody>
      </p:sp>
      <p:grpSp>
        <p:nvGrpSpPr>
          <p:cNvPr id="20" name="!!Mapa elemento 2"/>
          <p:cNvGrpSpPr/>
          <p:nvPr/>
        </p:nvGrpSpPr>
        <p:grpSpPr>
          <a:xfrm>
            <a:off x="6263640" y="1463040"/>
            <a:ext cx="3657600" cy="548640"/>
            <a:chOff x="6263640" y="1463040"/>
            <a:chExt cx="3657600" cy="548640"/>
          </a:xfrm>
        </p:grpSpPr>
        <p:sp>
          <p:nvSpPr>
            <p:cNvPr id="21" name="Flecha 21_2"/>
            <p:cNvSpPr/>
            <p:nvPr/>
          </p:nvSpPr>
          <p:spPr>
            <a:xfrm>
              <a:off x="6263640" y="1463040"/>
              <a:ext cx="3657600" cy="548640"/>
            </a:xfrm>
            <a:custGeom>
              <a:avLst/>
              <a:gdLst/>
              <a:ahLst/>
              <a:cxnLst/>
              <a:rect l="0" t="0" r="r" b="b"/>
              <a:pathLst>
                <a:path w="4000" h="600" fill="none">
                  <a:moveTo>
                    <a:pt x="0" y="600"/>
                  </a:moveTo>
                  <a:lnTo>
                    <a:pt x="4000" y="0"/>
                  </a:lnTo>
                </a:path>
              </a:pathLst>
            </a:custGeom>
            <a:noFill/>
            <a:ln w="38100" cap="rnd">
              <a:solidFill>
                <a:srgbClr val="1E1E1E"/>
              </a:solidFill>
              <a:round/>
              <a:tailEnd type="triangle" w="med" len="med"/>
            </a:ln>
          </p:spPr>
        </p:sp>
        <p:sp>
          <p:nvSpPr>
            <p:cNvPr id="22" name="Rótulo Na⁺ retenido"/>
            <p:cNvSpPr/>
            <p:nvPr/>
          </p:nvSpPr>
          <p:spPr>
            <a:xfrm>
              <a:off x="7863840" y="1783080"/>
              <a:ext cx="1031823"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Na⁺ retenido</a:t>
              </a:r>
              <a:endParaRPr lang="es-AR" sz="1150" dirty="0">
                <a:latin typeface="Fira Sans Condensed"/>
              </a:endParaRPr>
            </a:p>
          </p:txBody>
        </p:sp>
      </p:grpSp>
      <p:sp>
        <p:nvSpPr>
          <p:cNvPr id="23" name="!!Mapa elemento 3"/>
          <p:cNvSpPr/>
          <p:nvPr/>
        </p:nvSpPr>
        <p:spPr>
          <a:xfrm>
            <a:off x="6537960" y="2331720"/>
            <a:ext cx="3108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HTA (simpático, SRAA, AOS)</a:t>
            </a:r>
            <a:endParaRPr lang="es-AR" sz="1200" dirty="0">
              <a:latin typeface="Fira Sans Condensed"/>
            </a:endParaRPr>
          </a:p>
        </p:txBody>
      </p:sp>
      <p:grpSp>
        <p:nvGrpSpPr>
          <p:cNvPr id="24" name="!!Mapa elemento 4"/>
          <p:cNvGrpSpPr/>
          <p:nvPr/>
        </p:nvGrpSpPr>
        <p:grpSpPr>
          <a:xfrm>
            <a:off x="4721542" y="2697480"/>
            <a:ext cx="981077" cy="914400"/>
            <a:chOff x="4721542" y="2697480"/>
            <a:chExt cx="981077" cy="914400"/>
          </a:xfrm>
        </p:grpSpPr>
        <p:sp>
          <p:nvSpPr>
            <p:cNvPr id="25" name="Flecha 26_2"/>
            <p:cNvSpPr/>
            <p:nvPr/>
          </p:nvSpPr>
          <p:spPr>
            <a:xfrm>
              <a:off x="5212080" y="2697480"/>
              <a:ext cx="9144" cy="914400"/>
            </a:xfrm>
            <a:custGeom>
              <a:avLst/>
              <a:gdLst/>
              <a:ahLst/>
              <a:cxnLst/>
              <a:rect l="0" t="0" r="r" b="b"/>
              <a:pathLst>
                <a:path w="10" h="1000" fill="none">
                  <a:moveTo>
                    <a:pt x="0" y="0"/>
                  </a:moveTo>
                  <a:lnTo>
                    <a:pt x="0" y="1000"/>
                  </a:lnTo>
                </a:path>
              </a:pathLst>
            </a:custGeom>
            <a:noFill/>
            <a:ln w="38100" cap="rnd">
              <a:solidFill>
                <a:srgbClr val="1E1E1E"/>
              </a:solidFill>
              <a:round/>
              <a:tailEnd type="triangle" w="med" len="med"/>
            </a:ln>
          </p:spPr>
        </p:sp>
        <p:sp>
          <p:nvSpPr>
            <p:cNvPr id="26" name="Rótulo VLDL · ApoB"/>
            <p:cNvSpPr/>
            <p:nvPr/>
          </p:nvSpPr>
          <p:spPr>
            <a:xfrm>
              <a:off x="4721542" y="3017520"/>
              <a:ext cx="981077"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VLDL · ApoB</a:t>
              </a:r>
              <a:endParaRPr lang="es-AR" sz="1150" dirty="0">
                <a:latin typeface="Fira Sans Condensed"/>
              </a:endParaRPr>
            </a:p>
          </p:txBody>
        </p:sp>
      </p:grpSp>
      <p:sp>
        <p:nvSpPr>
          <p:cNvPr id="27" name="!!Mapa elemento 5"/>
          <p:cNvSpPr/>
          <p:nvPr/>
        </p:nvSpPr>
        <p:spPr>
          <a:xfrm>
            <a:off x="365760" y="3749040"/>
            <a:ext cx="356616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50" b="1" dirty="0">
                <a:solidFill>
                  <a:srgbClr val="C00000"/>
                </a:solidFill>
                <a:latin typeface="Fira Sans Condensed"/>
                <a:ea typeface="Fira Sans Condensed"/>
                <a:cs typeface="Fira Sans Condensed"/>
                <a:sym typeface="Fira Sans Condensed"/>
              </a:rPr>
              <a:t>DISLIPIDEMIA: TG ↑ · HDL ↓</a:t>
            </a:r>
            <a:endParaRPr lang="es-AR" sz="1250" dirty="0">
              <a:latin typeface="Fira Sans Condensed"/>
            </a:endParaRPr>
          </a:p>
        </p:txBody>
      </p:sp>
      <p:grpSp>
        <p:nvGrpSpPr>
          <p:cNvPr id="28" name="!!Mapa elemento 6"/>
          <p:cNvGrpSpPr/>
          <p:nvPr/>
        </p:nvGrpSpPr>
        <p:grpSpPr>
          <a:xfrm>
            <a:off x="3977640" y="4023360"/>
            <a:ext cx="320040" cy="182880"/>
            <a:chOff x="3977640" y="4023360"/>
            <a:chExt cx="320040" cy="182880"/>
          </a:xfrm>
        </p:grpSpPr>
        <p:sp>
          <p:nvSpPr>
            <p:cNvPr id="29" name="Flecha 31_2"/>
            <p:cNvSpPr/>
            <p:nvPr/>
          </p:nvSpPr>
          <p:spPr>
            <a:xfrm>
              <a:off x="3977640" y="4023360"/>
              <a:ext cx="320040" cy="182880"/>
            </a:xfrm>
            <a:custGeom>
              <a:avLst/>
              <a:gdLst/>
              <a:ahLst/>
              <a:cxnLst/>
              <a:rect l="0" t="0" r="r" b="b"/>
              <a:pathLst>
                <a:path w="350" h="199" fill="none">
                  <a:moveTo>
                    <a:pt x="0" y="0"/>
                  </a:moveTo>
                  <a:lnTo>
                    <a:pt x="350" y="199"/>
                  </a:lnTo>
                </a:path>
              </a:pathLst>
            </a:custGeom>
            <a:noFill/>
            <a:ln w="38100" cap="rnd">
              <a:solidFill>
                <a:srgbClr val="1E1E1E"/>
              </a:solidFill>
              <a:round/>
              <a:tailEnd type="triangle" w="med" len="med"/>
            </a:ln>
          </p:spPr>
        </p:sp>
      </p:grpSp>
      <p:grpSp>
        <p:nvGrpSpPr>
          <p:cNvPr id="30" name="!!Mapa elemento 7"/>
          <p:cNvGrpSpPr/>
          <p:nvPr/>
        </p:nvGrpSpPr>
        <p:grpSpPr>
          <a:xfrm>
            <a:off x="6263640" y="3923741"/>
            <a:ext cx="3945820" cy="648259"/>
            <a:chOff x="6263640" y="3923741"/>
            <a:chExt cx="3945820" cy="648259"/>
          </a:xfrm>
        </p:grpSpPr>
        <p:grpSp>
          <p:nvGrpSpPr>
            <p:cNvPr id="31" name="Inhibición"/>
            <p:cNvGrpSpPr/>
            <p:nvPr/>
          </p:nvGrpSpPr>
          <p:grpSpPr>
            <a:xfrm>
              <a:off x="6263640" y="3923741"/>
              <a:ext cx="3945820" cy="648259"/>
              <a:chOff x="6263640" y="3923741"/>
              <a:chExt cx="3945820" cy="648259"/>
            </a:xfrm>
          </p:grpSpPr>
          <p:sp>
            <p:nvSpPr>
              <p:cNvPr id="32" name="Flecha 35_2"/>
              <p:cNvSpPr/>
              <p:nvPr/>
            </p:nvSpPr>
            <p:spPr>
              <a:xfrm>
                <a:off x="6263640" y="4023360"/>
                <a:ext cx="3931920" cy="548640"/>
              </a:xfrm>
              <a:custGeom>
                <a:avLst/>
                <a:gdLst/>
                <a:ahLst/>
                <a:cxnLst/>
                <a:rect l="0" t="0" r="r" b="b"/>
                <a:pathLst>
                  <a:path w="4300" h="599" fill="none">
                    <a:moveTo>
                      <a:pt x="0" y="599"/>
                    </a:moveTo>
                    <a:lnTo>
                      <a:pt x="4300" y="0"/>
                    </a:lnTo>
                  </a:path>
                </a:pathLst>
              </a:custGeom>
              <a:noFill/>
              <a:ln w="31750" cap="rnd">
                <a:solidFill>
                  <a:srgbClr val="C00000"/>
                </a:solidFill>
                <a:round/>
              </a:ln>
            </p:spPr>
          </p:sp>
          <p:sp>
            <p:nvSpPr>
              <p:cNvPr id="33" name="Flecha 37_2"/>
              <p:cNvSpPr/>
              <p:nvPr/>
            </p:nvSpPr>
            <p:spPr>
              <a:xfrm>
                <a:off x="10181660" y="3923741"/>
                <a:ext cx="27801" cy="199238"/>
              </a:xfrm>
              <a:custGeom>
                <a:avLst/>
                <a:gdLst/>
                <a:ahLst/>
                <a:cxnLst/>
                <a:rect l="0" t="0" r="r" b="b"/>
                <a:pathLst>
                  <a:path w="30" h="217" fill="none">
                    <a:moveTo>
                      <a:pt x="0" y="0"/>
                    </a:moveTo>
                    <a:lnTo>
                      <a:pt x="30" y="217"/>
                    </a:lnTo>
                  </a:path>
                </a:pathLst>
              </a:custGeom>
              <a:noFill/>
              <a:ln w="50800" cap="rnd">
                <a:solidFill>
                  <a:srgbClr val="C00000"/>
                </a:solidFill>
                <a:round/>
              </a:ln>
            </p:spPr>
          </p:sp>
        </p:grpSp>
        <p:sp>
          <p:nvSpPr>
            <p:cNvPr id="34" name="Rótulo aterosclerosis"/>
            <p:cNvSpPr/>
            <p:nvPr/>
          </p:nvSpPr>
          <p:spPr>
            <a:xfrm>
              <a:off x="7661498" y="4160520"/>
              <a:ext cx="1136204" cy="226377"/>
            </a:xfrm>
            <a:prstGeom prst="rect">
              <a:avLst/>
            </a:prstGeom>
            <a:solidFill>
              <a:srgbClr val="FFFFFF"/>
            </a:solidFill>
            <a:ln w="9525" cap="rnd">
              <a:solidFill>
                <a:srgbClr val="1E1E1E"/>
              </a:solidFill>
              <a:round/>
            </a:ln>
          </p:spPr>
          <p:txBody>
            <a:bodyPr wrap="square" lIns="27432" tIns="0" rIns="27432"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aterosclerosis</a:t>
              </a:r>
              <a:endParaRPr lang="es-AR" sz="1150" dirty="0">
                <a:latin typeface="Fira Sans Condensed"/>
              </a:endParaRPr>
            </a:p>
          </p:txBody>
        </p:sp>
      </p:grpSp>
      <p:sp>
        <p:nvSpPr>
          <p:cNvPr id="35" name="!!Mapa elemento 8"/>
          <p:cNvSpPr/>
          <p:nvPr/>
        </p:nvSpPr>
        <p:spPr>
          <a:xfrm>
            <a:off x="6537960" y="3108960"/>
            <a:ext cx="310896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200" b="1" dirty="0">
                <a:solidFill>
                  <a:srgbClr val="1E1E1E"/>
                </a:solidFill>
                <a:latin typeface="Fira Sans Condensed"/>
                <a:ea typeface="Fira Sans Condensed"/>
                <a:cs typeface="Fira Sans Condensed"/>
                <a:sym typeface="Fira Sans Condensed"/>
              </a:rPr>
              <a:t>Disfunción endotelial: NO ↓</a:t>
            </a:r>
            <a:endParaRPr lang="es-AR" sz="1200" dirty="0">
              <a:latin typeface="Fira Sans Condensed"/>
            </a:endParaRPr>
          </a:p>
        </p:txBody>
      </p:sp>
      <p:sp>
        <p:nvSpPr>
          <p:cNvPr id="36" name="!!Conclusión mapa"/>
          <p:cNvSpPr/>
          <p:nvPr/>
        </p:nvSpPr>
        <p:spPr>
          <a:xfrm>
            <a:off x="365760" y="5806440"/>
            <a:ext cx="1147572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450" dirty="0">
                <a:solidFill>
                  <a:srgbClr val="FFFFFF"/>
                </a:solidFill>
                <a:latin typeface="Fira Sans Condensed"/>
                <a:ea typeface="Fira Sans Condensed"/>
                <a:cs typeface="Fira Sans Condensed"/>
                <a:sym typeface="Fira Sans Condensed"/>
              </a:rPr>
              <a:t>Adiposidad visceral </a:t>
            </a:r>
            <a:r>
              <a:rPr lang="es-AR" sz="1450" dirty="0">
                <a:solidFill>
                  <a:srgbClr val="FFFFFF"/>
                </a:solidFill>
                <a:latin typeface="Cambria Math"/>
                <a:ea typeface="Cambria Math"/>
                <a:cs typeface="Cambria Math"/>
                <a:sym typeface="Cambria Math"/>
              </a:rPr>
              <a:t>↔</a:t>
            </a:r>
            <a:r>
              <a:rPr lang="es-AR" sz="1450" dirty="0">
                <a:solidFill>
                  <a:srgbClr val="FFFFFF"/>
                </a:solidFill>
                <a:latin typeface="Fira Sans Condensed"/>
                <a:ea typeface="Fira Sans Condensed"/>
                <a:cs typeface="Fira Sans Condensed"/>
                <a:sym typeface="Fira Sans Condensed"/>
              </a:rPr>
              <a:t> RI </a:t>
            </a:r>
            <a:r>
              <a:rPr lang="es-AR" sz="1450" dirty="0">
                <a:solidFill>
                  <a:srgbClr val="FFFFFF"/>
                </a:solidFill>
                <a:latin typeface="Cambria Math"/>
                <a:ea typeface="Cambria Math"/>
                <a:cs typeface="Cambria Math"/>
                <a:sym typeface="Cambria Math"/>
              </a:rPr>
              <a:t>↔</a:t>
            </a:r>
            <a:r>
              <a:rPr lang="es-AR" sz="1450" dirty="0">
                <a:solidFill>
                  <a:srgbClr val="FFFFFF"/>
                </a:solidFill>
                <a:latin typeface="Fira Sans Condensed"/>
                <a:ea typeface="Fira Sans Condensed"/>
                <a:cs typeface="Fira Sans Condensed"/>
                <a:sym typeface="Fira Sans Condensed"/>
              </a:rPr>
              <a:t> dislipidemia </a:t>
            </a:r>
            <a:r>
              <a:rPr lang="es-AR" sz="1450" dirty="0">
                <a:solidFill>
                  <a:srgbClr val="FFFFFF"/>
                </a:solidFill>
                <a:latin typeface="Cambria Math"/>
                <a:ea typeface="Cambria Math"/>
                <a:cs typeface="Cambria Math"/>
                <a:sym typeface="Cambria Math"/>
              </a:rPr>
              <a:t>↔</a:t>
            </a:r>
            <a:r>
              <a:rPr lang="es-AR" sz="1450" dirty="0">
                <a:solidFill>
                  <a:srgbClr val="FFFFFF"/>
                </a:solidFill>
                <a:latin typeface="Fira Sans Condensed"/>
                <a:ea typeface="Fira Sans Condensed"/>
                <a:cs typeface="Fira Sans Condensed"/>
                <a:sym typeface="Fira Sans Condensed"/>
              </a:rPr>
              <a:t> HTA </a:t>
            </a:r>
            <a:r>
              <a:rPr lang="es-AR" sz="1450" dirty="0">
                <a:solidFill>
                  <a:srgbClr val="FFFFFF"/>
                </a:solidFill>
                <a:latin typeface="Cambria Math"/>
                <a:ea typeface="Cambria Math"/>
                <a:cs typeface="Cambria Math"/>
                <a:sym typeface="Cambria Math"/>
              </a:rPr>
              <a:t>↔</a:t>
            </a:r>
            <a:r>
              <a:rPr lang="es-AR" sz="1450" dirty="0">
                <a:solidFill>
                  <a:srgbClr val="FFFFFF"/>
                </a:solidFill>
                <a:latin typeface="Fira Sans Condensed"/>
                <a:ea typeface="Fira Sans Condensed"/>
                <a:cs typeface="Fira Sans Condensed"/>
                <a:sym typeface="Fira Sans Condensed"/>
              </a:rPr>
              <a:t> disfunción endotelial</a:t>
            </a:r>
            <a:endParaRPr lang="es-AR" sz="1450" dirty="0">
              <a:latin typeface="Fira Sans Condensed"/>
            </a:endParaRPr>
          </a:p>
        </p:txBody>
      </p:sp>
      <p:sp>
        <p:nvSpPr>
          <p:cNvPr id="4"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MAPA 7 · SÍNDROME METABÓLICO · SISTEMA COMPLETO</a:t>
            </a:r>
            <a:endParaRPr lang="es-AR" sz="28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210</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 calcmode="lin" valueType="num">
                                      <p:cBhvr>
                                        <p:cTn id="5" dur="500" fill="hold"/>
                                        <p:tgtEl>
                                          <p:spTgt spid="36"/>
                                        </p:tgtEl>
                                        <p:attrNameLst>
                                          <p:attrName>ppt_w</p:attrName>
                                        </p:attrNameLst>
                                      </p:cBhvr>
                                      <p:tavLst>
                                        <p:tav tm="0">
                                          <p:val>
                                            <p:fltVal val="0"/>
                                          </p:val>
                                        </p:tav>
                                        <p:tav tm="100000">
                                          <p:val>
                                            <p:strVal val="#ppt_w"/>
                                          </p:val>
                                        </p:tav>
                                      </p:tavLst>
                                    </p:anim>
                                    <p:anim calcmode="lin" valueType="num">
                                      <p:cBhvr>
                                        <p:cTn id="6" dur="500" fill="hold"/>
                                        <p:tgtEl>
                                          <p:spTgt spid="36"/>
                                        </p:tgtEl>
                                        <p:attrNameLst>
                                          <p:attrName>ppt_h</p:attrName>
                                        </p:attrNameLst>
                                      </p:cBhvr>
                                      <p:tavLst>
                                        <p:tav tm="0">
                                          <p:val>
                                            <p:fltVal val="0"/>
                                          </p:val>
                                        </p:tav>
                                        <p:tav tm="100000">
                                          <p:val>
                                            <p:strVal val="#ppt_h"/>
                                          </p:val>
                                        </p:tav>
                                      </p:tavLst>
                                    </p:anim>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Rel → DM2"/>
          <p:cNvGrpSpPr/>
          <p:nvPr/>
        </p:nvGrpSpPr>
        <p:grpSpPr>
          <a:xfrm>
            <a:off x="365760" y="1051560"/>
            <a:ext cx="3657600" cy="3931920"/>
            <a:chOff x="365760" y="1051560"/>
            <a:chExt cx="3657600" cy="3931920"/>
          </a:xfrm>
        </p:grpSpPr>
        <p:pic>
          <p:nvPicPr>
            <p:cNvPr id="8" name="Imagen langerhans-islet-pancreas" descr="Ilustración biomédica (Servier Medical Art, CC BY)"/>
            <p:cNvPicPr>
              <a:picLocks noChangeAspect="1"/>
            </p:cNvPicPr>
            <p:nvPr/>
          </p:nvPicPr>
          <p:blipFill>
            <a:blip r:embed="rId2"/>
            <a:stretch>
              <a:fillRect/>
            </a:stretch>
          </p:blipFill>
          <p:spPr>
            <a:xfrm>
              <a:off x="1566073" y="1051560"/>
              <a:ext cx="1256973" cy="1371600"/>
            </a:xfrm>
            <a:prstGeom prst="rect">
              <a:avLst/>
            </a:prstGeom>
          </p:spPr>
        </p:pic>
        <p:sp>
          <p:nvSpPr>
            <p:cNvPr id="9" name="Recuadro → DM2"/>
            <p:cNvSpPr/>
            <p:nvPr/>
          </p:nvSpPr>
          <p:spPr>
            <a:xfrm>
              <a:off x="365760" y="2514600"/>
              <a:ext cx="36576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C00000"/>
                  </a:solidFill>
                  <a:latin typeface="Fira Sans Condensed"/>
                  <a:ea typeface="Fira Sans Condensed"/>
                  <a:cs typeface="Fira Sans Condensed"/>
                  <a:sym typeface="Fira Sans Condensed"/>
                </a:rPr>
                <a:t>→ DM2</a:t>
              </a:r>
              <a:endParaRPr lang="es-AR" sz="1600" dirty="0">
                <a:latin typeface="Fira Sans Condensed"/>
              </a:endParaRPr>
            </a:p>
          </p:txBody>
        </p:sp>
        <p:sp>
          <p:nvSpPr>
            <p:cNvPr id="10" name="Forma 9"/>
            <p:cNvSpPr/>
            <p:nvPr/>
          </p:nvSpPr>
          <p:spPr>
            <a:xfrm>
              <a:off x="365760" y="3154680"/>
              <a:ext cx="3657600" cy="1828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Grasa visceral y hepatomuscular → resistencia → β ↑ secreción → </a:t>
              </a:r>
              <a:r>
                <a:rPr lang="es-AR" sz="1400" b="1" dirty="0">
                  <a:solidFill>
                    <a:srgbClr val="1E1E1E"/>
                  </a:solidFill>
                  <a:latin typeface="Fira Sans Condensed"/>
                  <a:ea typeface="Fira Sans Condensed"/>
                  <a:cs typeface="Fira Sans Condensed"/>
                  <a:sym typeface="Fira Sans Condensed"/>
                </a:rPr>
                <a:t>agotamiento relativo</a:t>
              </a:r>
              <a:r>
                <a:rPr lang="es-AR" sz="1400" dirty="0">
                  <a:solidFill>
                    <a:srgbClr val="1E1E1E"/>
                  </a:solidFill>
                  <a:latin typeface="Fira Sans Condensed"/>
                  <a:ea typeface="Fira Sans Condensed"/>
                  <a:cs typeface="Fira Sans Condensed"/>
                  <a:sym typeface="Fira Sans Condensed"/>
                </a:rPr>
                <a:t> → intolerancia/hiperglucemia sostenida.</a:t>
              </a:r>
              <a:endParaRPr lang="es-AR" sz="1400" dirty="0">
                <a:latin typeface="Fira Sans Condensed"/>
              </a:endParaRPr>
            </a:p>
          </p:txBody>
        </p:sp>
      </p:grpSp>
      <p:grpSp>
        <p:nvGrpSpPr>
          <p:cNvPr id="11" name="Rel → HTA"/>
          <p:cNvGrpSpPr/>
          <p:nvPr/>
        </p:nvGrpSpPr>
        <p:grpSpPr>
          <a:xfrm>
            <a:off x="4206240" y="1051560"/>
            <a:ext cx="3657600" cy="3931920"/>
            <a:chOff x="4206240" y="1051560"/>
            <a:chExt cx="3657600" cy="3931920"/>
          </a:xfrm>
        </p:grpSpPr>
        <p:pic>
          <p:nvPicPr>
            <p:cNvPr id="12" name="Imagen kidney-2" descr="Ilustración biomédica (Servier Medical Art, CC BY)"/>
            <p:cNvPicPr>
              <a:picLocks noChangeAspect="1"/>
            </p:cNvPicPr>
            <p:nvPr/>
          </p:nvPicPr>
          <p:blipFill>
            <a:blip r:embed="rId3"/>
            <a:stretch>
              <a:fillRect/>
            </a:stretch>
          </p:blipFill>
          <p:spPr>
            <a:xfrm>
              <a:off x="5563797" y="1051560"/>
              <a:ext cx="942485" cy="1371600"/>
            </a:xfrm>
            <a:prstGeom prst="rect">
              <a:avLst/>
            </a:prstGeom>
          </p:spPr>
        </p:pic>
        <p:sp>
          <p:nvSpPr>
            <p:cNvPr id="13" name="Recuadro → HTA"/>
            <p:cNvSpPr/>
            <p:nvPr/>
          </p:nvSpPr>
          <p:spPr>
            <a:xfrm>
              <a:off x="4206240" y="2514600"/>
              <a:ext cx="365760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1E1E1E"/>
                  </a:solidFill>
                  <a:latin typeface="Fira Sans Condensed"/>
                  <a:ea typeface="Fira Sans Condensed"/>
                  <a:cs typeface="Fira Sans Condensed"/>
                  <a:sym typeface="Fira Sans Condensed"/>
                </a:rPr>
                <a:t>→ HTA</a:t>
              </a:r>
              <a:endParaRPr lang="es-AR" sz="1600" dirty="0">
                <a:latin typeface="Fira Sans Condensed"/>
              </a:endParaRPr>
            </a:p>
          </p:txBody>
        </p:sp>
        <p:sp>
          <p:nvSpPr>
            <p:cNvPr id="14" name="Forma 13"/>
            <p:cNvSpPr/>
            <p:nvPr/>
          </p:nvSpPr>
          <p:spPr>
            <a:xfrm>
              <a:off x="4206240" y="3154680"/>
              <a:ext cx="3657600" cy="1828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Hiperactividad </a:t>
              </a:r>
              <a:r>
                <a:rPr lang="es-AR" sz="1400" b="1" dirty="0">
                  <a:solidFill>
                    <a:srgbClr val="1E1E1E"/>
                  </a:solidFill>
                  <a:latin typeface="Fira Sans Condensed"/>
                  <a:ea typeface="Fira Sans Condensed"/>
                  <a:cs typeface="Fira Sans Condensed"/>
                  <a:sym typeface="Fira Sans Condensed"/>
                </a:rPr>
                <a:t>simpática</a:t>
              </a:r>
              <a:r>
                <a:rPr lang="es-AR" sz="1400" dirty="0">
                  <a:solidFill>
                    <a:srgbClr val="1E1E1E"/>
                  </a:solidFill>
                  <a:latin typeface="Fira Sans Condensed"/>
                  <a:ea typeface="Fira Sans Condensed"/>
                  <a:cs typeface="Fira Sans Condensed"/>
                  <a:sym typeface="Fira Sans Condensed"/>
                </a:rPr>
                <a:t>, </a:t>
              </a:r>
              <a:r>
                <a:rPr lang="es-AR" sz="1400" b="1" dirty="0">
                  <a:solidFill>
                    <a:srgbClr val="1E1E1E"/>
                  </a:solidFill>
                  <a:latin typeface="Fira Sans Condensed"/>
                  <a:ea typeface="Fira Sans Condensed"/>
                  <a:cs typeface="Fira Sans Condensed"/>
                  <a:sym typeface="Fira Sans Condensed"/>
                </a:rPr>
                <a:t>SRAA</a:t>
              </a:r>
              <a:r>
                <a:rPr lang="es-AR" sz="1400" dirty="0">
                  <a:solidFill>
                    <a:srgbClr val="1E1E1E"/>
                  </a:solidFill>
                  <a:latin typeface="Fira Sans Condensed"/>
                  <a:ea typeface="Fira Sans Condensed"/>
                  <a:cs typeface="Fira Sans Condensed"/>
                  <a:sym typeface="Fira Sans Condensed"/>
                </a:rPr>
                <a:t> renal/adiposo, </a:t>
              </a:r>
              <a:r>
                <a:rPr lang="es-AR" sz="1400" b="1" dirty="0">
                  <a:solidFill>
                    <a:srgbClr val="1E1E1E"/>
                  </a:solidFill>
                  <a:latin typeface="Fira Sans Condensed"/>
                  <a:ea typeface="Fira Sans Condensed"/>
                  <a:cs typeface="Fira Sans Condensed"/>
                  <a:sym typeface="Fira Sans Condensed"/>
                </a:rPr>
                <a:t>retención de Na⁺</a:t>
              </a:r>
              <a:r>
                <a:rPr lang="es-AR" sz="1400" dirty="0">
                  <a:solidFill>
                    <a:srgbClr val="1E1E1E"/>
                  </a:solidFill>
                  <a:latin typeface="Fira Sans Condensed"/>
                  <a:ea typeface="Fira Sans Condensed"/>
                  <a:cs typeface="Fira Sans Condensed"/>
                  <a:sym typeface="Fira Sans Condensed"/>
                </a:rPr>
                <a:t>, endotelio disfuncional y </a:t>
              </a:r>
              <a:r>
                <a:rPr lang="es-AR" sz="1400" b="1" dirty="0">
                  <a:solidFill>
                    <a:srgbClr val="1E1E1E"/>
                  </a:solidFill>
                  <a:latin typeface="Fira Sans Condensed"/>
                  <a:ea typeface="Fira Sans Condensed"/>
                  <a:cs typeface="Fira Sans Condensed"/>
                  <a:sym typeface="Fira Sans Condensed"/>
                </a:rPr>
                <a:t>AOS</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grpSp>
        <p:nvGrpSpPr>
          <p:cNvPr id="15" name="Rel → ATEROSCLEROSIS"/>
          <p:cNvGrpSpPr/>
          <p:nvPr/>
        </p:nvGrpSpPr>
        <p:grpSpPr>
          <a:xfrm>
            <a:off x="8046720" y="1051560"/>
            <a:ext cx="3657600" cy="3931920"/>
            <a:chOff x="8046720" y="1051560"/>
            <a:chExt cx="3657600" cy="3931920"/>
          </a:xfrm>
        </p:grpSpPr>
        <p:pic>
          <p:nvPicPr>
            <p:cNvPr id="16" name="Imagen heart-front" descr="Ilustración biomédica (Servier Medical Art, CC BY)"/>
            <p:cNvPicPr>
              <a:picLocks noChangeAspect="1"/>
            </p:cNvPicPr>
            <p:nvPr/>
          </p:nvPicPr>
          <p:blipFill>
            <a:blip r:embed="rId4"/>
            <a:stretch>
              <a:fillRect/>
            </a:stretch>
          </p:blipFill>
          <p:spPr>
            <a:xfrm>
              <a:off x="9391051" y="1051560"/>
              <a:ext cx="968937" cy="1371600"/>
            </a:xfrm>
            <a:prstGeom prst="rect">
              <a:avLst/>
            </a:prstGeom>
          </p:spPr>
        </p:pic>
        <p:sp>
          <p:nvSpPr>
            <p:cNvPr id="17" name="Recuadro → ATEROSCLEROSIS"/>
            <p:cNvSpPr/>
            <p:nvPr/>
          </p:nvSpPr>
          <p:spPr>
            <a:xfrm>
              <a:off x="8046720" y="2514600"/>
              <a:ext cx="3657600" cy="5486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FFFFFF"/>
                  </a:solidFill>
                  <a:latin typeface="Fira Sans Condensed"/>
                  <a:ea typeface="Fira Sans Condensed"/>
                  <a:cs typeface="Fira Sans Condensed"/>
                  <a:sym typeface="Fira Sans Condensed"/>
                </a:rPr>
                <a:t>→ ATEROSCLEROSIS</a:t>
              </a:r>
              <a:endParaRPr lang="es-AR" sz="1600" dirty="0">
                <a:latin typeface="Fira Sans Condensed"/>
              </a:endParaRPr>
            </a:p>
          </p:txBody>
        </p:sp>
        <p:sp>
          <p:nvSpPr>
            <p:cNvPr id="18" name="Forma 17"/>
            <p:cNvSpPr/>
            <p:nvPr/>
          </p:nvSpPr>
          <p:spPr>
            <a:xfrm>
              <a:off x="8046720" y="3154680"/>
              <a:ext cx="3657600" cy="182880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00" dirty="0">
                  <a:solidFill>
                    <a:srgbClr val="1E1E1E"/>
                  </a:solidFill>
                  <a:latin typeface="Fira Sans Condensed"/>
                  <a:ea typeface="Fira Sans Condensed"/>
                  <a:cs typeface="Fira Sans Condensed"/>
                  <a:sym typeface="Fira Sans Condensed"/>
                </a:rPr>
                <a:t>VLDL/TG ↑, HDL ↓, partículas </a:t>
              </a:r>
              <a:r>
                <a:rPr lang="es-AR" sz="1400" b="1" dirty="0">
                  <a:solidFill>
                    <a:srgbClr val="1E1E1E"/>
                  </a:solidFill>
                  <a:latin typeface="Fira Sans Condensed"/>
                  <a:ea typeface="Fira Sans Condensed"/>
                  <a:cs typeface="Fira Sans Condensed"/>
                  <a:sym typeface="Fira Sans Condensed"/>
                </a:rPr>
                <a:t>ApoB</a:t>
              </a:r>
              <a:r>
                <a:rPr lang="es-AR" sz="1400" dirty="0">
                  <a:solidFill>
                    <a:srgbClr val="1E1E1E"/>
                  </a:solidFill>
                  <a:latin typeface="Fira Sans Condensed"/>
                  <a:ea typeface="Fira Sans Condensed"/>
                  <a:cs typeface="Fira Sans Condensed"/>
                  <a:sym typeface="Fira Sans Condensed"/>
                </a:rPr>
                <a:t>, inflamación, glicación, estrés oxidativo, ambiente </a:t>
              </a:r>
              <a:r>
                <a:rPr lang="es-AR" sz="1400" b="1" dirty="0">
                  <a:solidFill>
                    <a:srgbClr val="1E1E1E"/>
                  </a:solidFill>
                  <a:latin typeface="Fira Sans Condensed"/>
                  <a:ea typeface="Fira Sans Condensed"/>
                  <a:cs typeface="Fira Sans Condensed"/>
                  <a:sym typeface="Fira Sans Condensed"/>
                </a:rPr>
                <a:t>protrombótico (PAI-1 ↑)</a:t>
              </a:r>
              <a:r>
                <a:rPr lang="es-AR" sz="1400" dirty="0">
                  <a:solidFill>
                    <a:srgbClr val="1E1E1E"/>
                  </a:solidFill>
                  <a:latin typeface="Fira Sans Condensed"/>
                  <a:ea typeface="Fira Sans Condensed"/>
                  <a:cs typeface="Fira Sans Condensed"/>
                  <a:sym typeface="Fira Sans Condensed"/>
                </a:rPr>
                <a:t>.</a:t>
              </a:r>
              <a:endParaRPr lang="es-AR" sz="1400" dirty="0">
                <a:latin typeface="Fira Sans Condensed"/>
              </a:endParaRPr>
            </a:p>
          </p:txBody>
        </p:sp>
      </p:grpSp>
      <p:sp>
        <p:nvSpPr>
          <p:cNvPr id="19" name="Perla clínica"/>
          <p:cNvSpPr/>
          <p:nvPr/>
        </p:nvSpPr>
        <p:spPr>
          <a:xfrm>
            <a:off x="365760" y="5212080"/>
            <a:ext cx="11475720" cy="105156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600" dirty="0">
                <a:solidFill>
                  <a:srgbClr val="FFFFFF"/>
                </a:solidFill>
                <a:latin typeface="Fira Sans Condensed"/>
                <a:ea typeface="Fira Sans Condensed"/>
                <a:cs typeface="Fira Sans Condensed"/>
                <a:sym typeface="Fira Sans Condensed"/>
              </a:rPr>
              <a:t>La combinación es </a:t>
            </a:r>
            <a:r>
              <a:rPr lang="es-AR" sz="1600" b="1" dirty="0">
                <a:solidFill>
                  <a:srgbClr val="FFFFFF"/>
                </a:solidFill>
                <a:latin typeface="Fira Sans Condensed"/>
                <a:ea typeface="Fira Sans Condensed"/>
                <a:cs typeface="Fira Sans Condensed"/>
                <a:sym typeface="Fira Sans Condensed"/>
              </a:rPr>
              <a:t>más peligrosa</a:t>
            </a:r>
            <a:r>
              <a:rPr lang="es-AR" sz="1600" dirty="0">
                <a:solidFill>
                  <a:srgbClr val="FFFFFF"/>
                </a:solidFill>
                <a:latin typeface="Fira Sans Condensed"/>
                <a:ea typeface="Fira Sans Condensed"/>
                <a:cs typeface="Fira Sans Condensed"/>
                <a:sym typeface="Fira Sans Condensed"/>
              </a:rPr>
              <a:t> que abordar el peso </a:t>
            </a:r>
            <a:r>
              <a:rPr lang="es-AR" sz="1600" b="1" dirty="0">
                <a:solidFill>
                  <a:srgbClr val="FFFFFF"/>
                </a:solidFill>
                <a:latin typeface="Fira Sans Condensed"/>
                <a:ea typeface="Fira Sans Condensed"/>
                <a:cs typeface="Fira Sans Condensed"/>
                <a:sym typeface="Fira Sans Condensed"/>
              </a:rPr>
              <a:t>sin controlar LDL, tabaco y TA</a:t>
            </a:r>
            <a:r>
              <a:rPr lang="es-AR" sz="1600" dirty="0">
                <a:solidFill>
                  <a:srgbClr val="FFFFFF"/>
                </a:solidFill>
                <a:latin typeface="Fira Sans Condensed"/>
                <a:ea typeface="Fira Sans Condensed"/>
                <a:cs typeface="Fira Sans Condensed"/>
                <a:sym typeface="Fira Sans Condensed"/>
              </a:rPr>
              <a:t>.</a:t>
            </a:r>
            <a:endParaRPr lang="es-AR" sz="1600" dirty="0">
              <a:latin typeface="Fira Sans Condensed"/>
            </a:endParaRPr>
          </a:p>
        </p:txBody>
      </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SM </a:t>
            </a:r>
            <a:r>
              <a:rPr lang="es-AR" sz="3300" dirty="0">
                <a:solidFill>
                  <a:srgbClr val="1E1E1E"/>
                </a:solidFill>
                <a:effectLst>
                  <a:glow rad="101600">
                    <a:srgbClr val="FFFFFF">
                      <a:alpha val="70000"/>
                    </a:srgbClr>
                  </a:glow>
                </a:effectLst>
                <a:latin typeface="Fira Sans Condensed"/>
                <a:ea typeface="Fira Sans Condensed"/>
                <a:cs typeface="Fira Sans Condensed"/>
                <a:sym typeface="Fira Sans Condensed"/>
              </a:rPr>
              <a:t>→</a:t>
            </a: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 DM2, HTA Y ATEROSCLEROSIS (PREGUNTA 4C)</a:t>
            </a:r>
            <a:endParaRPr lang="es-AR" sz="33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0"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4" fill="hold">
                      <p:stCondLst>
                        <p:cond delay="indefinite"/>
                      </p:stCondLst>
                      <p:childTnLst>
                        <p:par>
                          <p:cTn id="23"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C0392B"/>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LDL 0" descr="Ilustración biomédica (Servier Medical Art, CC BY)"/>
          <p:cNvPicPr>
            <a:picLocks noChangeAspect="1"/>
          </p:cNvPicPr>
          <p:nvPr/>
        </p:nvPicPr>
        <p:blipFill>
          <a:blip r:embed="rId2"/>
          <a:stretch>
            <a:fillRect/>
          </a:stretch>
        </p:blipFill>
        <p:spPr>
          <a:xfrm>
            <a:off x="1463040" y="1188720"/>
            <a:ext cx="502920" cy="444366"/>
          </a:xfrm>
          <a:prstGeom prst="rect">
            <a:avLst/>
          </a:prstGeom>
        </p:spPr>
      </p:pic>
      <p:pic>
        <p:nvPicPr>
          <p:cNvPr id="29" name="!!LDL 1" descr="Ilustración biomédica (Servier Medical Art, CC BY)"/>
          <p:cNvPicPr>
            <a:picLocks noChangeAspect="1"/>
          </p:cNvPicPr>
          <p:nvPr/>
        </p:nvPicPr>
        <p:blipFill>
          <a:blip r:embed="rId2"/>
          <a:stretch>
            <a:fillRect/>
          </a:stretch>
        </p:blipFill>
        <p:spPr>
          <a:xfrm>
            <a:off x="3108960" y="2057400"/>
            <a:ext cx="502920" cy="444366"/>
          </a:xfrm>
          <a:prstGeom prst="rect">
            <a:avLst/>
          </a:prstGeom>
        </p:spPr>
      </p:pic>
      <p:pic>
        <p:nvPicPr>
          <p:cNvPr id="30" name="!!LDL 2" descr="Ilustración biomédica (Servier Medical Art, CC BY)"/>
          <p:cNvPicPr>
            <a:picLocks noChangeAspect="1"/>
          </p:cNvPicPr>
          <p:nvPr/>
        </p:nvPicPr>
        <p:blipFill>
          <a:blip r:embed="rId2"/>
          <a:stretch>
            <a:fillRect/>
          </a:stretch>
        </p:blipFill>
        <p:spPr>
          <a:xfrm>
            <a:off x="4754880" y="1234440"/>
            <a:ext cx="502920" cy="444366"/>
          </a:xfrm>
          <a:prstGeom prst="rect">
            <a:avLst/>
          </a:prstGeom>
        </p:spPr>
      </p:pic>
      <p:pic>
        <p:nvPicPr>
          <p:cNvPr id="31" name="!!LDL 3" descr="Ilustración biomédica (Servier Medical Art, CC BY)"/>
          <p:cNvPicPr>
            <a:picLocks noChangeAspect="1"/>
          </p:cNvPicPr>
          <p:nvPr/>
        </p:nvPicPr>
        <p:blipFill>
          <a:blip r:embed="rId2"/>
          <a:stretch>
            <a:fillRect/>
          </a:stretch>
        </p:blipFill>
        <p:spPr>
          <a:xfrm>
            <a:off x="6309360" y="2103120"/>
            <a:ext cx="502920" cy="444366"/>
          </a:xfrm>
          <a:prstGeom prst="rect">
            <a:avLst/>
          </a:prstGeom>
        </p:spPr>
      </p:pic>
      <p:pic>
        <p:nvPicPr>
          <p:cNvPr id="32" name="!!VLDL F" descr="Ilustración biomédica (Servier Medical Art, CC BY)"/>
          <p:cNvPicPr>
            <a:picLocks noChangeAspect="1"/>
          </p:cNvPicPr>
          <p:nvPr/>
        </p:nvPicPr>
        <p:blipFill>
          <a:blip r:embed="rId3"/>
          <a:stretch>
            <a:fillRect/>
          </a:stretch>
        </p:blipFill>
        <p:spPr>
          <a:xfrm>
            <a:off x="3931920" y="1280160"/>
            <a:ext cx="640080" cy="524408"/>
          </a:xfrm>
          <a:prstGeom prst="rect">
            <a:avLst/>
          </a:prstGeom>
        </p:spPr>
      </p:pic>
      <p:grpSp>
        <p:nvGrpSpPr>
          <p:cNvPr id="33" name="!!Panel F"/>
          <p:cNvGrpSpPr/>
          <p:nvPr/>
        </p:nvGrpSpPr>
        <p:grpSpPr>
          <a:xfrm>
            <a:off x="7955280" y="1051560"/>
            <a:ext cx="3886200" cy="4434840"/>
            <a:chOff x="7955280" y="1051560"/>
            <a:chExt cx="3886200" cy="4434840"/>
          </a:xfrm>
        </p:grpSpPr>
        <p:sp>
          <p:nvSpPr>
            <p:cNvPr id="34" name="Forma 33"/>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LDL</a:t>
              </a:r>
              <a:r>
                <a:rPr lang="es-AR" sz="1450" dirty="0">
                  <a:solidFill>
                    <a:srgbClr val="1E1E1E"/>
                  </a:solidFill>
                  <a:latin typeface="Fira Sans Condensed"/>
                  <a:ea typeface="Fira Sans Condensed"/>
                  <a:cs typeface="Fira Sans Condensed"/>
                  <a:sym typeface="Fira Sans Condensed"/>
                </a:rPr>
                <a:t>, </a:t>
              </a:r>
              <a:r>
                <a:rPr lang="es-AR" sz="1450" b="1" dirty="0">
                  <a:solidFill>
                    <a:srgbClr val="1E1E1E"/>
                  </a:solidFill>
                  <a:latin typeface="Fira Sans Condensed"/>
                  <a:ea typeface="Fira Sans Condensed"/>
                  <a:cs typeface="Fira Sans Condensed"/>
                  <a:sym typeface="Fira Sans Condensed"/>
                </a:rPr>
                <a:t>VLDL remanentes</a:t>
              </a:r>
              <a:r>
                <a:rPr lang="es-AR" sz="1450" dirty="0">
                  <a:solidFill>
                    <a:srgbClr val="1E1E1E"/>
                  </a:solidFill>
                  <a:latin typeface="Fira Sans Condensed"/>
                  <a:ea typeface="Fira Sans Condensed"/>
                  <a:cs typeface="Fira Sans Condensed"/>
                  <a:sym typeface="Fira Sans Condensed"/>
                </a:rPr>
                <a:t> e </a:t>
              </a:r>
              <a:r>
                <a:rPr lang="es-AR" sz="1450" b="1" dirty="0">
                  <a:solidFill>
                    <a:srgbClr val="1E1E1E"/>
                  </a:solidFill>
                  <a:latin typeface="Fira Sans Condensed"/>
                  <a:ea typeface="Fira Sans Condensed"/>
                  <a:cs typeface="Fira Sans Condensed"/>
                  <a:sym typeface="Fira Sans Condensed"/>
                </a:rPr>
                <a:t>IDL</a:t>
              </a:r>
              <a:r>
                <a:rPr lang="es-AR" sz="1450" dirty="0">
                  <a:solidFill>
                    <a:srgbClr val="1E1E1E"/>
                  </a:solidFill>
                  <a:latin typeface="Fira Sans Condensed"/>
                  <a:ea typeface="Fira Sans Condensed"/>
                  <a:cs typeface="Fira Sans Condensed"/>
                  <a:sym typeface="Fira Sans Condensed"/>
                </a:rPr>
                <a:t>: una molécula de </a:t>
              </a:r>
              <a:r>
                <a:rPr lang="es-AR" sz="1450" b="1" dirty="0">
                  <a:solidFill>
                    <a:srgbClr val="1E1E1E"/>
                  </a:solidFill>
                  <a:latin typeface="Fira Sans Condensed"/>
                  <a:ea typeface="Fira Sans Condensed"/>
                  <a:cs typeface="Fira Sans Condensed"/>
                  <a:sym typeface="Fira Sans Condensed"/>
                </a:rPr>
                <a:t>ApoB</a:t>
              </a:r>
              <a:r>
                <a:rPr lang="es-AR" sz="1450" dirty="0">
                  <a:solidFill>
                    <a:srgbClr val="1E1E1E"/>
                  </a:solidFill>
                  <a:latin typeface="Fira Sans Condensed"/>
                  <a:ea typeface="Fira Sans Condensed"/>
                  <a:cs typeface="Fira Sans Condensed"/>
                  <a:sym typeface="Fira Sans Condensed"/>
                </a:rPr>
                <a:t> por partícula.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En el SM: más partículas, </a:t>
              </a:r>
              <a:r>
                <a:rPr lang="es-AR" sz="1450" b="1" dirty="0">
                  <a:solidFill>
                    <a:srgbClr val="1E1E1E"/>
                  </a:solidFill>
                  <a:latin typeface="Fira Sans Condensed"/>
                  <a:ea typeface="Fira Sans Condensed"/>
                  <a:cs typeface="Fira Sans Condensed"/>
                  <a:sym typeface="Fira Sans Condensed"/>
                </a:rPr>
                <a:t>LDL pequeñas y densas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El número de partículas </a:t>
              </a:r>
              <a:r>
                <a:rPr lang="es-AR" sz="1450" b="1" dirty="0">
                  <a:solidFill>
                    <a:srgbClr val="1E1E1E"/>
                  </a:solidFill>
                  <a:latin typeface="Fira Sans Condensed"/>
                  <a:ea typeface="Fira Sans Condensed"/>
                  <a:cs typeface="Fira Sans Condensed"/>
                  <a:sym typeface="Fira Sans Condensed"/>
                </a:rPr>
                <a:t>ApoB</a:t>
              </a:r>
              <a:r>
                <a:rPr lang="es-AR" sz="1450" dirty="0">
                  <a:solidFill>
                    <a:srgbClr val="1E1E1E"/>
                  </a:solidFill>
                  <a:latin typeface="Fira Sans Condensed"/>
                  <a:ea typeface="Fira Sans Condensed"/>
                  <a:cs typeface="Fira Sans Condensed"/>
                  <a:sym typeface="Fira Sans Condensed"/>
                </a:rPr>
                <a:t> que atraviesan el endotelio condiciona el riesgo.</a:t>
              </a:r>
              <a:endParaRPr lang="es-AR" sz="1450" dirty="0">
                <a:latin typeface="Fira Sans Condensed"/>
              </a:endParaRPr>
            </a:p>
          </p:txBody>
        </p:sp>
        <p:sp>
          <p:nvSpPr>
            <p:cNvPr id="35" name="Forma 34"/>
            <p:cNvSpPr/>
            <p:nvPr/>
          </p:nvSpPr>
          <p:spPr>
            <a:xfrm>
              <a:off x="8092440" y="1051560"/>
              <a:ext cx="251891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PARTÍCULAS ATEROGÉNICAS</a:t>
              </a:r>
              <a:endParaRPr lang="es-AR" sz="1400" dirty="0">
                <a:latin typeface="Fira Sans Condensed"/>
              </a:endParaRPr>
            </a:p>
          </p:txBody>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SECUENCIA F · 1 · LIPOPROTEÍNAS CON APOB EN LA SANGRE</a:t>
            </a:r>
            <a:endParaRPr lang="es-AR" sz="27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212</a:t>
            </a:r>
            <a:endParaRPr lang="es-AR" sz="1000" dirty="0">
              <a:latin typeface="Fira Sans Condensed"/>
            </a:endParaRP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LDL 0" descr="Ilustración biomédica (Servier Medical Art, CC BY)"/>
          <p:cNvPicPr>
            <a:picLocks noChangeAspect="1"/>
          </p:cNvPicPr>
          <p:nvPr/>
        </p:nvPicPr>
        <p:blipFill>
          <a:blip r:embed="rId2"/>
          <a:stretch>
            <a:fillRect/>
          </a:stretch>
        </p:blipFill>
        <p:spPr>
          <a:xfrm>
            <a:off x="1463040" y="3291840"/>
            <a:ext cx="502920" cy="444366"/>
          </a:xfrm>
          <a:prstGeom prst="rect">
            <a:avLst/>
          </a:prstGeom>
        </p:spPr>
      </p:pic>
      <p:pic>
        <p:nvPicPr>
          <p:cNvPr id="29" name="!!LDL 1" descr="Ilustración biomédica (Servier Medical Art, CC BY)"/>
          <p:cNvPicPr>
            <a:picLocks noChangeAspect="1"/>
          </p:cNvPicPr>
          <p:nvPr/>
        </p:nvPicPr>
        <p:blipFill>
          <a:blip r:embed="rId2"/>
          <a:stretch>
            <a:fillRect/>
          </a:stretch>
        </p:blipFill>
        <p:spPr>
          <a:xfrm>
            <a:off x="3108960" y="2057400"/>
            <a:ext cx="502920" cy="444366"/>
          </a:xfrm>
          <a:prstGeom prst="rect">
            <a:avLst/>
          </a:prstGeom>
        </p:spPr>
      </p:pic>
      <p:pic>
        <p:nvPicPr>
          <p:cNvPr id="30" name="!!LDL 2" descr="Ilustración biomédica (Servier Medical Art, CC BY)"/>
          <p:cNvPicPr>
            <a:picLocks noChangeAspect="1"/>
          </p:cNvPicPr>
          <p:nvPr/>
        </p:nvPicPr>
        <p:blipFill>
          <a:blip r:embed="rId2"/>
          <a:stretch>
            <a:fillRect/>
          </a:stretch>
        </p:blipFill>
        <p:spPr>
          <a:xfrm>
            <a:off x="4754880" y="3383280"/>
            <a:ext cx="502920" cy="444366"/>
          </a:xfrm>
          <a:prstGeom prst="rect">
            <a:avLst/>
          </a:prstGeom>
        </p:spPr>
      </p:pic>
      <p:pic>
        <p:nvPicPr>
          <p:cNvPr id="31" name="!!LDL 3" descr="Ilustración biomédica (Servier Medical Art, CC BY)"/>
          <p:cNvPicPr>
            <a:picLocks noChangeAspect="1"/>
          </p:cNvPicPr>
          <p:nvPr/>
        </p:nvPicPr>
        <p:blipFill>
          <a:blip r:embed="rId2"/>
          <a:stretch>
            <a:fillRect/>
          </a:stretch>
        </p:blipFill>
        <p:spPr>
          <a:xfrm>
            <a:off x="6309360" y="2103120"/>
            <a:ext cx="502920" cy="444366"/>
          </a:xfrm>
          <a:prstGeom prst="rect">
            <a:avLst/>
          </a:prstGeom>
        </p:spPr>
      </p:pic>
      <p:pic>
        <p:nvPicPr>
          <p:cNvPr id="32" name="!!VLDL F" descr="Ilustración biomédica (Servier Medical Art, CC BY)"/>
          <p:cNvPicPr>
            <a:picLocks noChangeAspect="1"/>
          </p:cNvPicPr>
          <p:nvPr/>
        </p:nvPicPr>
        <p:blipFill>
          <a:blip r:embed="rId3"/>
          <a:stretch>
            <a:fillRect/>
          </a:stretch>
        </p:blipFill>
        <p:spPr>
          <a:xfrm>
            <a:off x="3931920" y="1280160"/>
            <a:ext cx="640080" cy="524408"/>
          </a:xfrm>
          <a:prstGeom prst="rect">
            <a:avLst/>
          </a:prstGeom>
        </p:spPr>
      </p:pic>
      <p:grpSp>
        <p:nvGrpSpPr>
          <p:cNvPr id="33" name="!!Panel F"/>
          <p:cNvGrpSpPr/>
          <p:nvPr/>
        </p:nvGrpSpPr>
        <p:grpSpPr>
          <a:xfrm>
            <a:off x="7955280" y="1051560"/>
            <a:ext cx="3886200" cy="4434840"/>
            <a:chOff x="7955280" y="1051560"/>
            <a:chExt cx="3886200" cy="4434840"/>
          </a:xfrm>
        </p:grpSpPr>
        <p:sp>
          <p:nvSpPr>
            <p:cNvPr id="34" name="Forma 33"/>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partículas pequeñas </a:t>
              </a:r>
              <a:r>
                <a:rPr lang="es-AR" sz="1450" b="1" dirty="0">
                  <a:solidFill>
                    <a:srgbClr val="1E1E1E"/>
                  </a:solidFill>
                  <a:latin typeface="Fira Sans Condensed"/>
                  <a:ea typeface="Fira Sans Condensed"/>
                  <a:cs typeface="Fira Sans Condensed"/>
                  <a:sym typeface="Fira Sans Condensed"/>
                </a:rPr>
                <a:t>ingresan</a:t>
              </a:r>
              <a:r>
                <a:rPr lang="es-AR" sz="1450" dirty="0">
                  <a:solidFill>
                    <a:srgbClr val="1E1E1E"/>
                  </a:solidFill>
                  <a:latin typeface="Fira Sans Condensed"/>
                  <a:ea typeface="Fira Sans Condensed"/>
                  <a:cs typeface="Fira Sans Condensed"/>
                  <a:sym typeface="Fira Sans Condensed"/>
                </a:rPr>
                <a:t> a la íntima a través del endotelio.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a:t>
              </a:r>
              <a:r>
                <a:rPr lang="es-AR" sz="1450" b="1" dirty="0">
                  <a:solidFill>
                    <a:srgbClr val="1E1E1E"/>
                  </a:solidFill>
                  <a:latin typeface="Fira Sans Condensed"/>
                  <a:ea typeface="Fira Sans Condensed"/>
                  <a:cs typeface="Fira Sans Condensed"/>
                  <a:sym typeface="Fira Sans Condensed"/>
                </a:rPr>
                <a:t>disfunción endotelial</a:t>
              </a:r>
              <a:r>
                <a:rPr lang="es-AR" sz="1450" dirty="0">
                  <a:solidFill>
                    <a:srgbClr val="1E1E1E"/>
                  </a:solidFill>
                  <a:latin typeface="Fira Sans Condensed"/>
                  <a:ea typeface="Fira Sans Condensed"/>
                  <a:cs typeface="Fira Sans Condensed"/>
                  <a:sym typeface="Fira Sans Condensed"/>
                </a:rPr>
                <a:t> (NO ↓, hiperglucemia, HTA, tabaco) facilita el ingreso y la activación.</a:t>
              </a:r>
              <a:endParaRPr lang="es-AR" sz="1450" dirty="0">
                <a:latin typeface="Fira Sans Condensed"/>
              </a:endParaRPr>
            </a:p>
          </p:txBody>
        </p:sp>
        <p:sp>
          <p:nvSpPr>
            <p:cNvPr id="35" name="Forma 34"/>
            <p:cNvSpPr/>
            <p:nvPr/>
          </p:nvSpPr>
          <p:spPr>
            <a:xfrm>
              <a:off x="8092440" y="1051560"/>
              <a:ext cx="1239151" cy="384048"/>
            </a:xfrm>
            <a:prstGeom prst="rect">
              <a:avLst/>
            </a:prstGeom>
            <a:solidFill>
              <a:srgbClr val="F4877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ENDOTELIO</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F · 2 · ATRAVIESAN EL ENDOTELIO</a:t>
            </a:r>
            <a:endParaRPr lang="es-AR" sz="34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6"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213</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LDL 0" descr="Ilustración biomédica (Servier Medical Art, CC BY)"/>
          <p:cNvPicPr>
            <a:picLocks noChangeAspect="1"/>
          </p:cNvPicPr>
          <p:nvPr/>
        </p:nvPicPr>
        <p:blipFill>
          <a:blip r:embed="rId2"/>
          <a:stretch>
            <a:fillRect/>
          </a:stretch>
        </p:blipFill>
        <p:spPr>
          <a:xfrm>
            <a:off x="1463040" y="3291840"/>
            <a:ext cx="502920" cy="444366"/>
          </a:xfrm>
          <a:prstGeom prst="rect">
            <a:avLst/>
          </a:prstGeom>
        </p:spPr>
      </p:pic>
      <p:pic>
        <p:nvPicPr>
          <p:cNvPr id="29" name="!!LDL 1" descr="Ilustración biomédica (Servier Medical Art, CC BY)"/>
          <p:cNvPicPr>
            <a:picLocks noChangeAspect="1"/>
          </p:cNvPicPr>
          <p:nvPr/>
        </p:nvPicPr>
        <p:blipFill>
          <a:blip r:embed="rId2"/>
          <a:stretch>
            <a:fillRect/>
          </a:stretch>
        </p:blipFill>
        <p:spPr>
          <a:xfrm>
            <a:off x="2377440" y="3429000"/>
            <a:ext cx="502920" cy="444366"/>
          </a:xfrm>
          <a:prstGeom prst="rect">
            <a:avLst/>
          </a:prstGeom>
        </p:spPr>
      </p:pic>
      <p:pic>
        <p:nvPicPr>
          <p:cNvPr id="30" name="!!LDL 2" descr="Ilustración biomédica (Servier Medical Art, CC BY)"/>
          <p:cNvPicPr>
            <a:picLocks noChangeAspect="1"/>
          </p:cNvPicPr>
          <p:nvPr/>
        </p:nvPicPr>
        <p:blipFill>
          <a:blip r:embed="rId2"/>
          <a:stretch>
            <a:fillRect/>
          </a:stretch>
        </p:blipFill>
        <p:spPr>
          <a:xfrm>
            <a:off x="4754880" y="3383280"/>
            <a:ext cx="502920" cy="444366"/>
          </a:xfrm>
          <a:prstGeom prst="rect">
            <a:avLst/>
          </a:prstGeom>
        </p:spPr>
      </p:pic>
      <p:pic>
        <p:nvPicPr>
          <p:cNvPr id="31" name="!!LDL 3" descr="Ilustración biomédica (Servier Medical Art, CC BY)"/>
          <p:cNvPicPr>
            <a:picLocks noChangeAspect="1"/>
          </p:cNvPicPr>
          <p:nvPr/>
        </p:nvPicPr>
        <p:blipFill>
          <a:blip r:embed="rId2"/>
          <a:stretch>
            <a:fillRect/>
          </a:stretch>
        </p:blipFill>
        <p:spPr>
          <a:xfrm>
            <a:off x="5486400" y="3246120"/>
            <a:ext cx="502920" cy="444366"/>
          </a:xfrm>
          <a:prstGeom prst="rect">
            <a:avLst/>
          </a:prstGeom>
        </p:spPr>
      </p:pic>
      <p:grpSp>
        <p:nvGrpSpPr>
          <p:cNvPr id="32" name="Proteoglucanos"/>
          <p:cNvGrpSpPr/>
          <p:nvPr/>
        </p:nvGrpSpPr>
        <p:grpSpPr>
          <a:xfrm>
            <a:off x="1097280" y="3657600"/>
            <a:ext cx="5577840" cy="640080"/>
            <a:chOff x="1097280" y="3657600"/>
            <a:chExt cx="5577840" cy="640080"/>
          </a:xfrm>
        </p:grpSpPr>
        <p:sp>
          <p:nvSpPr>
            <p:cNvPr id="33" name="Flecha 32_2"/>
            <p:cNvSpPr/>
            <p:nvPr/>
          </p:nvSpPr>
          <p:spPr>
            <a:xfrm>
              <a:off x="1097280" y="3657600"/>
              <a:ext cx="548640" cy="640080"/>
            </a:xfrm>
            <a:custGeom>
              <a:avLst/>
              <a:gdLst/>
              <a:ahLst/>
              <a:cxnLst/>
              <a:rect l="0" t="0" r="r" b="b"/>
              <a:pathLst>
                <a:path w="600" h="700" fill="none">
                  <a:moveTo>
                    <a:pt x="0" y="700"/>
                  </a:moveTo>
                  <a:quadBezTo>
                    <a:pt x="300" y="0"/>
                    <a:pt x="600" y="700"/>
                  </a:quadBezTo>
                </a:path>
              </a:pathLst>
            </a:custGeom>
            <a:noFill/>
            <a:ln w="25400" cap="rnd">
              <a:solidFill>
                <a:srgbClr val="7D3C98"/>
              </a:solidFill>
              <a:round/>
            </a:ln>
          </p:spPr>
        </p:sp>
        <p:sp>
          <p:nvSpPr>
            <p:cNvPr id="34" name="Flecha 34_2"/>
            <p:cNvSpPr/>
            <p:nvPr/>
          </p:nvSpPr>
          <p:spPr>
            <a:xfrm>
              <a:off x="2103120" y="3657600"/>
              <a:ext cx="548640" cy="640080"/>
            </a:xfrm>
            <a:custGeom>
              <a:avLst/>
              <a:gdLst/>
              <a:ahLst/>
              <a:cxnLst/>
              <a:rect l="0" t="0" r="r" b="b"/>
              <a:pathLst>
                <a:path w="600" h="700" fill="none">
                  <a:moveTo>
                    <a:pt x="0" y="700"/>
                  </a:moveTo>
                  <a:quadBezTo>
                    <a:pt x="300" y="0"/>
                    <a:pt x="600" y="700"/>
                  </a:quadBezTo>
                </a:path>
              </a:pathLst>
            </a:custGeom>
            <a:noFill/>
            <a:ln w="25400" cap="rnd">
              <a:solidFill>
                <a:srgbClr val="7D3C98"/>
              </a:solidFill>
              <a:round/>
            </a:ln>
          </p:spPr>
        </p:sp>
        <p:sp>
          <p:nvSpPr>
            <p:cNvPr id="35" name="Flecha 36_2"/>
            <p:cNvSpPr/>
            <p:nvPr/>
          </p:nvSpPr>
          <p:spPr>
            <a:xfrm>
              <a:off x="3108960" y="3657600"/>
              <a:ext cx="548640" cy="640080"/>
            </a:xfrm>
            <a:custGeom>
              <a:avLst/>
              <a:gdLst/>
              <a:ahLst/>
              <a:cxnLst/>
              <a:rect l="0" t="0" r="r" b="b"/>
              <a:pathLst>
                <a:path w="599" h="700" fill="none">
                  <a:moveTo>
                    <a:pt x="0" y="700"/>
                  </a:moveTo>
                  <a:quadBezTo>
                    <a:pt x="299" y="0"/>
                    <a:pt x="599" y="700"/>
                  </a:quadBezTo>
                </a:path>
              </a:pathLst>
            </a:custGeom>
            <a:noFill/>
            <a:ln w="25400" cap="rnd">
              <a:solidFill>
                <a:srgbClr val="7D3C98"/>
              </a:solidFill>
              <a:round/>
            </a:ln>
          </p:spPr>
        </p:sp>
        <p:sp>
          <p:nvSpPr>
            <p:cNvPr id="36" name="Flecha 38_2"/>
            <p:cNvSpPr/>
            <p:nvPr/>
          </p:nvSpPr>
          <p:spPr>
            <a:xfrm>
              <a:off x="4114800" y="3657600"/>
              <a:ext cx="548640" cy="640080"/>
            </a:xfrm>
            <a:custGeom>
              <a:avLst/>
              <a:gdLst/>
              <a:ahLst/>
              <a:cxnLst/>
              <a:rect l="0" t="0" r="r" b="b"/>
              <a:pathLst>
                <a:path w="600" h="700" fill="none">
                  <a:moveTo>
                    <a:pt x="0" y="700"/>
                  </a:moveTo>
                  <a:quadBezTo>
                    <a:pt x="300" y="0"/>
                    <a:pt x="600" y="700"/>
                  </a:quadBezTo>
                </a:path>
              </a:pathLst>
            </a:custGeom>
            <a:noFill/>
            <a:ln w="25400" cap="rnd">
              <a:solidFill>
                <a:srgbClr val="7D3C98"/>
              </a:solidFill>
              <a:round/>
            </a:ln>
          </p:spPr>
        </p:sp>
        <p:sp>
          <p:nvSpPr>
            <p:cNvPr id="37" name="Flecha 40_2"/>
            <p:cNvSpPr/>
            <p:nvPr/>
          </p:nvSpPr>
          <p:spPr>
            <a:xfrm>
              <a:off x="5120640" y="3657600"/>
              <a:ext cx="548640" cy="640080"/>
            </a:xfrm>
            <a:custGeom>
              <a:avLst/>
              <a:gdLst/>
              <a:ahLst/>
              <a:cxnLst/>
              <a:rect l="0" t="0" r="r" b="b"/>
              <a:pathLst>
                <a:path w="599" h="700" fill="none">
                  <a:moveTo>
                    <a:pt x="0" y="700"/>
                  </a:moveTo>
                  <a:quadBezTo>
                    <a:pt x="299" y="0"/>
                    <a:pt x="599" y="700"/>
                  </a:quadBezTo>
                </a:path>
              </a:pathLst>
            </a:custGeom>
            <a:noFill/>
            <a:ln w="25400" cap="rnd">
              <a:solidFill>
                <a:srgbClr val="7D3C98"/>
              </a:solidFill>
              <a:round/>
            </a:ln>
          </p:spPr>
        </p:sp>
        <p:sp>
          <p:nvSpPr>
            <p:cNvPr id="38" name="Flecha 42_2"/>
            <p:cNvSpPr/>
            <p:nvPr/>
          </p:nvSpPr>
          <p:spPr>
            <a:xfrm>
              <a:off x="6126480" y="3657600"/>
              <a:ext cx="548640" cy="640080"/>
            </a:xfrm>
            <a:custGeom>
              <a:avLst/>
              <a:gdLst/>
              <a:ahLst/>
              <a:cxnLst/>
              <a:rect l="0" t="0" r="r" b="b"/>
              <a:pathLst>
                <a:path w="599" h="700" fill="none">
                  <a:moveTo>
                    <a:pt x="0" y="700"/>
                  </a:moveTo>
                  <a:quadBezTo>
                    <a:pt x="299" y="0"/>
                    <a:pt x="599" y="700"/>
                  </a:quadBezTo>
                </a:path>
              </a:pathLst>
            </a:custGeom>
            <a:noFill/>
            <a:ln w="25400" cap="rnd">
              <a:solidFill>
                <a:srgbClr val="7D3C98"/>
              </a:solidFill>
              <a:round/>
            </a:ln>
          </p:spPr>
        </p:sp>
      </p:grpSp>
      <p:grpSp>
        <p:nvGrpSpPr>
          <p:cNvPr id="39" name="!!Panel F"/>
          <p:cNvGrpSpPr/>
          <p:nvPr/>
        </p:nvGrpSpPr>
        <p:grpSpPr>
          <a:xfrm>
            <a:off x="7955280" y="1051560"/>
            <a:ext cx="3886200" cy="4434840"/>
            <a:chOff x="7955280" y="1051560"/>
            <a:chExt cx="3886200" cy="4434840"/>
          </a:xfrm>
        </p:grpSpPr>
        <p:sp>
          <p:nvSpPr>
            <p:cNvPr id="40" name="Forma 45"/>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 ApoB se </a:t>
              </a:r>
              <a:r>
                <a:rPr lang="es-AR" sz="1450" b="1" dirty="0">
                  <a:solidFill>
                    <a:srgbClr val="1E1E1E"/>
                  </a:solidFill>
                  <a:latin typeface="Fira Sans Condensed"/>
                  <a:ea typeface="Fira Sans Condensed"/>
                  <a:cs typeface="Fira Sans Condensed"/>
                  <a:sym typeface="Fira Sans Condensed"/>
                </a:rPr>
                <a:t>une a proteoglucanos</a:t>
              </a:r>
              <a:r>
                <a:rPr lang="es-AR" sz="1450" dirty="0">
                  <a:solidFill>
                    <a:srgbClr val="1E1E1E"/>
                  </a:solidFill>
                  <a:latin typeface="Fira Sans Condensed"/>
                  <a:ea typeface="Fira Sans Condensed"/>
                  <a:cs typeface="Fira Sans Condensed"/>
                  <a:sym typeface="Fira Sans Condensed"/>
                </a:rPr>
                <a:t> de la matriz.</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partículas quedan </a:t>
              </a:r>
              <a:r>
                <a:rPr lang="es-AR" sz="1450" b="1" dirty="0">
                  <a:solidFill>
                    <a:srgbClr val="1E1E1E"/>
                  </a:solidFill>
                  <a:latin typeface="Fira Sans Condensed"/>
                  <a:ea typeface="Fira Sans Condensed"/>
                  <a:cs typeface="Fira Sans Condensed"/>
                  <a:sym typeface="Fira Sans Condensed"/>
                </a:rPr>
                <a:t>retenidas</a:t>
              </a:r>
              <a:r>
                <a:rPr lang="es-AR" sz="1450" dirty="0">
                  <a:solidFill>
                    <a:srgbClr val="1E1E1E"/>
                  </a:solidFill>
                  <a:latin typeface="Fira Sans Condensed"/>
                  <a:ea typeface="Fira Sans Condensed"/>
                  <a:cs typeface="Fira Sans Condensed"/>
                  <a:sym typeface="Fira Sans Condensed"/>
                </a:rPr>
                <a:t> y se </a:t>
              </a:r>
              <a:r>
                <a:rPr lang="es-AR" sz="1450" b="1" dirty="0">
                  <a:solidFill>
                    <a:srgbClr val="1E1E1E"/>
                  </a:solidFill>
                  <a:latin typeface="Fira Sans Condensed"/>
                  <a:ea typeface="Fira Sans Condensed"/>
                  <a:cs typeface="Fira Sans Condensed"/>
                  <a:sym typeface="Fira Sans Condensed"/>
                </a:rPr>
                <a:t>modifican</a:t>
              </a:r>
              <a:r>
                <a:rPr lang="es-AR" sz="1450" dirty="0">
                  <a:solidFill>
                    <a:srgbClr val="1E1E1E"/>
                  </a:solidFill>
                  <a:latin typeface="Fira Sans Condensed"/>
                  <a:ea typeface="Fira Sans Condensed"/>
                  <a:cs typeface="Fira Sans Condensed"/>
                  <a:sym typeface="Fira Sans Condensed"/>
                </a:rPr>
                <a:t>: </a:t>
              </a:r>
              <a:r>
                <a:rPr lang="es-AR" sz="1450" b="1" dirty="0">
                  <a:solidFill>
                    <a:srgbClr val="1E1E1E"/>
                  </a:solidFill>
                  <a:latin typeface="Fira Sans Condensed"/>
                  <a:ea typeface="Fira Sans Condensed"/>
                  <a:cs typeface="Fira Sans Condensed"/>
                  <a:sym typeface="Fira Sans Condensed"/>
                </a:rPr>
                <a:t>oxidación, agregación</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Retención + modificación = </a:t>
              </a:r>
              <a:r>
                <a:rPr lang="es-AR" sz="1450" b="1" dirty="0">
                  <a:solidFill>
                    <a:srgbClr val="1E1E1E"/>
                  </a:solidFill>
                  <a:latin typeface="Fira Sans Condensed"/>
                  <a:ea typeface="Fira Sans Condensed"/>
                  <a:cs typeface="Fira Sans Condensed"/>
                  <a:sym typeface="Fira Sans Condensed"/>
                </a:rPr>
                <a:t>disparador</a:t>
              </a:r>
              <a:r>
                <a:rPr lang="es-AR" sz="1450" dirty="0">
                  <a:solidFill>
                    <a:srgbClr val="1E1E1E"/>
                  </a:solidFill>
                  <a:latin typeface="Fira Sans Condensed"/>
                  <a:ea typeface="Fira Sans Condensed"/>
                  <a:cs typeface="Fira Sans Condensed"/>
                  <a:sym typeface="Fira Sans Condensed"/>
                </a:rPr>
                <a:t> de la respuesta.</a:t>
              </a:r>
              <a:endParaRPr lang="es-AR" sz="1450" dirty="0">
                <a:latin typeface="Fira Sans Condensed"/>
              </a:endParaRPr>
            </a:p>
          </p:txBody>
        </p:sp>
        <p:sp>
          <p:nvSpPr>
            <p:cNvPr id="41" name="Forma 46"/>
            <p:cNvSpPr/>
            <p:nvPr/>
          </p:nvSpPr>
          <p:spPr>
            <a:xfrm>
              <a:off x="8092440" y="1051560"/>
              <a:ext cx="1244883"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RETENCIÓN</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F · 3 · RETENCIÓN EN LA ÍNTIMA</a:t>
            </a:r>
            <a:endParaRPr lang="es-AR" sz="34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4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214</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22" presetClass="entr" presetSubtype="8"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wipe(left)">
                                      <p:cBhvr>
                                        <p:cTn id="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LDL 0" descr="Ilustración biomédica (Servier Medical Art, CC BY)"/>
          <p:cNvPicPr>
            <a:picLocks noChangeAspect="1"/>
          </p:cNvPicPr>
          <p:nvPr/>
        </p:nvPicPr>
        <p:blipFill>
          <a:blip r:embed="rId2"/>
          <a:stretch>
            <a:fillRect/>
          </a:stretch>
        </p:blipFill>
        <p:spPr>
          <a:xfrm>
            <a:off x="1463040" y="3291840"/>
            <a:ext cx="502920" cy="444366"/>
          </a:xfrm>
          <a:prstGeom prst="rect">
            <a:avLst/>
          </a:prstGeom>
        </p:spPr>
      </p:pic>
      <p:pic>
        <p:nvPicPr>
          <p:cNvPr id="29" name="!!LDL 1" descr="Ilustración biomédica (Servier Medical Art, CC BY)"/>
          <p:cNvPicPr>
            <a:picLocks noChangeAspect="1"/>
          </p:cNvPicPr>
          <p:nvPr/>
        </p:nvPicPr>
        <p:blipFill>
          <a:blip r:embed="rId2"/>
          <a:stretch>
            <a:fillRect/>
          </a:stretch>
        </p:blipFill>
        <p:spPr>
          <a:xfrm>
            <a:off x="2377440" y="3429000"/>
            <a:ext cx="502920" cy="444366"/>
          </a:xfrm>
          <a:prstGeom prst="rect">
            <a:avLst/>
          </a:prstGeom>
        </p:spPr>
      </p:pic>
      <p:pic>
        <p:nvPicPr>
          <p:cNvPr id="30" name="!!LDL 2" descr="Ilustración biomédica (Servier Medical Art, CC BY)"/>
          <p:cNvPicPr>
            <a:picLocks noChangeAspect="1"/>
          </p:cNvPicPr>
          <p:nvPr/>
        </p:nvPicPr>
        <p:blipFill>
          <a:blip r:embed="rId2"/>
          <a:stretch>
            <a:fillRect/>
          </a:stretch>
        </p:blipFill>
        <p:spPr>
          <a:xfrm>
            <a:off x="4754880" y="3383280"/>
            <a:ext cx="502920" cy="444366"/>
          </a:xfrm>
          <a:prstGeom prst="rect">
            <a:avLst/>
          </a:prstGeom>
        </p:spPr>
      </p:pic>
      <p:pic>
        <p:nvPicPr>
          <p:cNvPr id="31" name="!!LDL 3" descr="Ilustración biomédica (Servier Medical Art, CC BY)"/>
          <p:cNvPicPr>
            <a:picLocks noChangeAspect="1"/>
          </p:cNvPicPr>
          <p:nvPr/>
        </p:nvPicPr>
        <p:blipFill>
          <a:blip r:embed="rId2"/>
          <a:stretch>
            <a:fillRect/>
          </a:stretch>
        </p:blipFill>
        <p:spPr>
          <a:xfrm>
            <a:off x="5486400" y="3246120"/>
            <a:ext cx="502920" cy="444366"/>
          </a:xfrm>
          <a:prstGeom prst="rect">
            <a:avLst/>
          </a:prstGeom>
        </p:spPr>
      </p:pic>
      <p:sp>
        <p:nvSpPr>
          <p:cNvPr id="32" name="Adhesión 0"/>
          <p:cNvSpPr/>
          <p:nvPr/>
        </p:nvSpPr>
        <p:spPr>
          <a:xfrm>
            <a:off x="914400" y="2514600"/>
            <a:ext cx="1463040" cy="32918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050" b="1" dirty="0">
                <a:solidFill>
                  <a:srgbClr val="1E1E1E"/>
                </a:solidFill>
                <a:latin typeface="Fira Sans Condensed"/>
                <a:ea typeface="Fira Sans Condensed"/>
                <a:cs typeface="Fira Sans Condensed"/>
                <a:sym typeface="Fira Sans Condensed"/>
              </a:rPr>
              <a:t>adhesión</a:t>
            </a:r>
            <a:endParaRPr lang="es-AR" sz="1050" dirty="0">
              <a:latin typeface="Fira Sans Condensed"/>
            </a:endParaRPr>
          </a:p>
        </p:txBody>
      </p:sp>
      <p:sp>
        <p:nvSpPr>
          <p:cNvPr id="33" name="Adhesión 1"/>
          <p:cNvSpPr/>
          <p:nvPr/>
        </p:nvSpPr>
        <p:spPr>
          <a:xfrm>
            <a:off x="2926080" y="2514600"/>
            <a:ext cx="1463040" cy="32918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050" b="1" dirty="0">
                <a:solidFill>
                  <a:srgbClr val="1E1E1E"/>
                </a:solidFill>
                <a:latin typeface="Fira Sans Condensed"/>
                <a:ea typeface="Fira Sans Condensed"/>
                <a:cs typeface="Fira Sans Condensed"/>
                <a:sym typeface="Fira Sans Condensed"/>
              </a:rPr>
              <a:t>adhesión</a:t>
            </a:r>
            <a:endParaRPr lang="es-AR" sz="1050" dirty="0">
              <a:latin typeface="Fira Sans Condensed"/>
            </a:endParaRPr>
          </a:p>
        </p:txBody>
      </p:sp>
      <p:sp>
        <p:nvSpPr>
          <p:cNvPr id="34" name="Adhesión 2"/>
          <p:cNvSpPr/>
          <p:nvPr/>
        </p:nvSpPr>
        <p:spPr>
          <a:xfrm>
            <a:off x="4937760" y="2514600"/>
            <a:ext cx="1463040" cy="329184"/>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050" b="1" dirty="0">
                <a:solidFill>
                  <a:srgbClr val="1E1E1E"/>
                </a:solidFill>
                <a:latin typeface="Fira Sans Condensed"/>
                <a:ea typeface="Fira Sans Condensed"/>
                <a:cs typeface="Fira Sans Condensed"/>
                <a:sym typeface="Fira Sans Condensed"/>
              </a:rPr>
              <a:t>adhesión</a:t>
            </a:r>
            <a:endParaRPr lang="es-AR" sz="1050" dirty="0">
              <a:latin typeface="Fira Sans Condensed"/>
            </a:endParaRPr>
          </a:p>
        </p:txBody>
      </p:sp>
      <p:pic>
        <p:nvPicPr>
          <p:cNvPr id="35" name="!!Monocito 0" descr="Ilustración biomédica (Servier Medical Art, CC BY)"/>
          <p:cNvPicPr>
            <a:picLocks noChangeAspect="1"/>
          </p:cNvPicPr>
          <p:nvPr/>
        </p:nvPicPr>
        <p:blipFill>
          <a:blip r:embed="rId3"/>
          <a:stretch>
            <a:fillRect/>
          </a:stretch>
        </p:blipFill>
        <p:spPr>
          <a:xfrm>
            <a:off x="1371600" y="1234440"/>
            <a:ext cx="502920" cy="544538"/>
          </a:xfrm>
          <a:prstGeom prst="rect">
            <a:avLst/>
          </a:prstGeom>
        </p:spPr>
      </p:pic>
      <p:pic>
        <p:nvPicPr>
          <p:cNvPr id="36" name="!!Monocito 1" descr="Ilustración biomédica (Servier Medical Art, CC BY)"/>
          <p:cNvPicPr>
            <a:picLocks noChangeAspect="1"/>
          </p:cNvPicPr>
          <p:nvPr/>
        </p:nvPicPr>
        <p:blipFill>
          <a:blip r:embed="rId3"/>
          <a:stretch>
            <a:fillRect/>
          </a:stretch>
        </p:blipFill>
        <p:spPr>
          <a:xfrm>
            <a:off x="3657600" y="1234440"/>
            <a:ext cx="502920" cy="544538"/>
          </a:xfrm>
          <a:prstGeom prst="rect">
            <a:avLst/>
          </a:prstGeom>
        </p:spPr>
      </p:pic>
      <p:pic>
        <p:nvPicPr>
          <p:cNvPr id="37" name="!!Monocito 2" descr="Ilustración biomédica (Servier Medical Art, CC BY)"/>
          <p:cNvPicPr>
            <a:picLocks noChangeAspect="1"/>
          </p:cNvPicPr>
          <p:nvPr/>
        </p:nvPicPr>
        <p:blipFill>
          <a:blip r:embed="rId3"/>
          <a:stretch>
            <a:fillRect/>
          </a:stretch>
        </p:blipFill>
        <p:spPr>
          <a:xfrm>
            <a:off x="5943600" y="1234440"/>
            <a:ext cx="502920" cy="544538"/>
          </a:xfrm>
          <a:prstGeom prst="rect">
            <a:avLst/>
          </a:prstGeom>
        </p:spPr>
      </p:pic>
      <p:grpSp>
        <p:nvGrpSpPr>
          <p:cNvPr id="38" name="!!Panel F"/>
          <p:cNvGrpSpPr/>
          <p:nvPr/>
        </p:nvGrpSpPr>
        <p:grpSpPr>
          <a:xfrm>
            <a:off x="7955280" y="1051560"/>
            <a:ext cx="3886200" cy="4434840"/>
            <a:chOff x="7955280" y="1051560"/>
            <a:chExt cx="3886200" cy="4434840"/>
          </a:xfrm>
        </p:grpSpPr>
        <p:sp>
          <p:nvSpPr>
            <p:cNvPr id="39" name="Forma 38"/>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Las partículas modificadas </a:t>
              </a:r>
              <a:r>
                <a:rPr lang="es-AR" sz="1450" b="1" dirty="0">
                  <a:solidFill>
                    <a:srgbClr val="1E1E1E"/>
                  </a:solidFill>
                  <a:latin typeface="Fira Sans Condensed"/>
                  <a:ea typeface="Fira Sans Condensed"/>
                  <a:cs typeface="Fira Sans Condensed"/>
                  <a:sym typeface="Fira Sans Condensed"/>
                </a:rPr>
                <a:t>activan endotelio y monocitos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Moléculas de </a:t>
              </a:r>
              <a:r>
                <a:rPr lang="es-AR" sz="1450" b="1" dirty="0">
                  <a:solidFill>
                    <a:srgbClr val="1E1E1E"/>
                  </a:solidFill>
                  <a:latin typeface="Fira Sans Condensed"/>
                  <a:ea typeface="Fira Sans Condensed"/>
                  <a:cs typeface="Fira Sans Condensed"/>
                  <a:sym typeface="Fira Sans Condensed"/>
                </a:rPr>
                <a:t>adhesión</a:t>
              </a:r>
              <a:r>
                <a:rPr lang="es-AR" sz="1450" dirty="0">
                  <a:solidFill>
                    <a:srgbClr val="1E1E1E"/>
                  </a:solidFill>
                  <a:latin typeface="Fira Sans Condensed"/>
                  <a:ea typeface="Fira Sans Condensed"/>
                  <a:cs typeface="Fira Sans Condensed"/>
                  <a:sym typeface="Fira Sans Condensed"/>
                </a:rPr>
                <a:t> y quimiocinas (</a:t>
              </a:r>
              <a:r>
                <a:rPr lang="es-AR" sz="1450" b="1" dirty="0">
                  <a:solidFill>
                    <a:srgbClr val="1E1E1E"/>
                  </a:solidFill>
                  <a:latin typeface="Fira Sans Condensed"/>
                  <a:ea typeface="Fira Sans Condensed"/>
                  <a:cs typeface="Fira Sans Condensed"/>
                  <a:sym typeface="Fira Sans Condensed"/>
                </a:rPr>
                <a:t>MCP-1</a:t>
              </a:r>
              <a:r>
                <a:rPr lang="es-AR" sz="1450" dirty="0">
                  <a:solidFill>
                    <a:srgbClr val="1E1E1E"/>
                  </a:solidFill>
                  <a:latin typeface="Fira Sans Condensed"/>
                  <a:ea typeface="Fira Sans Condensed"/>
                  <a:cs typeface="Fira Sans Condensed"/>
                  <a:sym typeface="Fira Sans Condensed"/>
                </a:rPr>
                <a:t>) reclutan </a:t>
              </a:r>
              <a:r>
                <a:rPr lang="es-AR" sz="1450" b="1" dirty="0">
                  <a:solidFill>
                    <a:srgbClr val="1E1E1E"/>
                  </a:solidFill>
                  <a:latin typeface="Fira Sans Condensed"/>
                  <a:ea typeface="Fira Sans Condensed"/>
                  <a:cs typeface="Fira Sans Condensed"/>
                  <a:sym typeface="Fira Sans Condensed"/>
                </a:rPr>
                <a:t>monocitos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Contribuyen la hiperglucemia (AGE/RAGE) y las citocinas del adiposo.</a:t>
              </a:r>
              <a:endParaRPr lang="es-AR" sz="1450" dirty="0">
                <a:latin typeface="Fira Sans Condensed"/>
              </a:endParaRPr>
            </a:p>
          </p:txBody>
        </p:sp>
        <p:sp>
          <p:nvSpPr>
            <p:cNvPr id="40" name="Forma 39"/>
            <p:cNvSpPr/>
            <p:nvPr/>
          </p:nvSpPr>
          <p:spPr>
            <a:xfrm>
              <a:off x="8092440" y="1051560"/>
              <a:ext cx="1429566" cy="384048"/>
            </a:xfrm>
            <a:prstGeom prst="rect">
              <a:avLst/>
            </a:prstGeom>
            <a:solidFill>
              <a:srgbClr val="C00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INFLAMACIÓN</a:t>
              </a:r>
              <a:endParaRPr lang="es-AR" sz="1400" dirty="0">
                <a:latin typeface="Fira Sans Condensed"/>
              </a:endParaRPr>
            </a:p>
          </p:txBody>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SECUENCIA F · 4 · ACTIVACIÓN ENDOTELIAL E INFLAMACIÓN</a:t>
            </a:r>
            <a:endParaRPr lang="es-AR" sz="27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4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215</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1"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 calcmode="lin" valueType="num">
                                      <p:cBhvr>
                                        <p:cTn id="5" dur="500" fill="hold"/>
                                        <p:tgtEl>
                                          <p:spTgt spid="32"/>
                                        </p:tgtEl>
                                        <p:attrNameLst>
                                          <p:attrName>ppt_w</p:attrName>
                                        </p:attrNameLst>
                                      </p:cBhvr>
                                      <p:tavLst>
                                        <p:tav tm="0">
                                          <p:val>
                                            <p:fltVal val="0"/>
                                          </p:val>
                                        </p:tav>
                                        <p:tav tm="100000">
                                          <p:val>
                                            <p:strVal val="#ppt_w"/>
                                          </p:val>
                                        </p:tav>
                                      </p:tavLst>
                                    </p:anim>
                                    <p:anim calcmode="lin" valueType="num">
                                      <p:cBhvr>
                                        <p:cTn id="6" dur="500" fill="hold"/>
                                        <p:tgtEl>
                                          <p:spTgt spid="32"/>
                                        </p:tgtEl>
                                        <p:attrNameLst>
                                          <p:attrName>ppt_h</p:attrName>
                                        </p:attrNameLst>
                                      </p:cBhvr>
                                      <p:tavLst>
                                        <p:tav tm="0">
                                          <p:val>
                                            <p:fltVal val="0"/>
                                          </p:val>
                                        </p:tav>
                                        <p:tav tm="100000">
                                          <p:val>
                                            <p:strVal val="#ppt_h"/>
                                          </p:val>
                                        </p:tav>
                                      </p:tavLst>
                                    </p:anim>
                                    <p:animEffect transition="in" filter="fade">
                                      <p:cBhvr>
                                        <p:cTn id="7" dur="500"/>
                                        <p:tgtEl>
                                          <p:spTgt spid="32"/>
                                        </p:tgtEl>
                                      </p:cBhvr>
                                    </p:animEffect>
                                  </p:childTnLst>
                                </p:cTn>
                              </p:par>
                            </p:childTnLst>
                          </p:cTn>
                        </p:par>
                        <p:par>
                          <p:cTn id="14"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500" fill="hold"/>
                                        <p:tgtEl>
                                          <p:spTgt spid="33"/>
                                        </p:tgtEl>
                                        <p:attrNameLst>
                                          <p:attrName>ppt_w</p:attrName>
                                        </p:attrNameLst>
                                      </p:cBhvr>
                                      <p:tavLst>
                                        <p:tav tm="0">
                                          <p:val>
                                            <p:fltVal val="0"/>
                                          </p:val>
                                        </p:tav>
                                        <p:tav tm="100000">
                                          <p:val>
                                            <p:strVal val="#ppt_w"/>
                                          </p:val>
                                        </p:tav>
                                      </p:tavLst>
                                    </p:anim>
                                    <p:anim calcmode="lin" valueType="num">
                                      <p:cBhvr>
                                        <p:cTn id="12" dur="500" fill="hold"/>
                                        <p:tgtEl>
                                          <p:spTgt spid="33"/>
                                        </p:tgtEl>
                                        <p:attrNameLst>
                                          <p:attrName>ppt_h</p:attrName>
                                        </p:attrNameLst>
                                      </p:cBhvr>
                                      <p:tavLst>
                                        <p:tav tm="0">
                                          <p:val>
                                            <p:fltVal val="0"/>
                                          </p:val>
                                        </p:tav>
                                        <p:tav tm="100000">
                                          <p:val>
                                            <p:strVal val="#ppt_h"/>
                                          </p:val>
                                        </p:tav>
                                      </p:tavLst>
                                    </p:anim>
                                    <p:animEffect transition="in" filter="fade">
                                      <p:cBhvr>
                                        <p:cTn id="13" dur="500"/>
                                        <p:tgtEl>
                                          <p:spTgt spid="33"/>
                                        </p:tgtEl>
                                      </p:cBhvr>
                                    </p:animEffect>
                                  </p:childTnLst>
                                </p:cTn>
                              </p:par>
                            </p:childTnLst>
                          </p:cTn>
                        </p:par>
                        <p:par>
                          <p:cTn id="20"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500" fill="hold"/>
                                        <p:tgtEl>
                                          <p:spTgt spid="34"/>
                                        </p:tgtEl>
                                        <p:attrNameLst>
                                          <p:attrName>ppt_w</p:attrName>
                                        </p:attrNameLst>
                                      </p:cBhvr>
                                      <p:tavLst>
                                        <p:tav tm="0">
                                          <p:val>
                                            <p:fltVal val="0"/>
                                          </p:val>
                                        </p:tav>
                                        <p:tav tm="100000">
                                          <p:val>
                                            <p:strVal val="#ppt_w"/>
                                          </p:val>
                                        </p:tav>
                                      </p:tavLst>
                                    </p:anim>
                                    <p:anim calcmode="lin" valueType="num">
                                      <p:cBhvr>
                                        <p:cTn id="18" dur="500" fill="hold"/>
                                        <p:tgtEl>
                                          <p:spTgt spid="34"/>
                                        </p:tgtEl>
                                        <p:attrNameLst>
                                          <p:attrName>ppt_h</p:attrName>
                                        </p:attrNameLst>
                                      </p:cBhvr>
                                      <p:tavLst>
                                        <p:tav tm="0">
                                          <p:val>
                                            <p:fltVal val="0"/>
                                          </p:val>
                                        </p:tav>
                                        <p:tav tm="100000">
                                          <p:val>
                                            <p:strVal val="#ppt_h"/>
                                          </p:val>
                                        </p:tav>
                                      </p:tavLst>
                                    </p:anim>
                                    <p:animEffect transition="in" filter="fade">
                                      <p:cBhvr>
                                        <p:cTn id="19" dur="500"/>
                                        <p:tgtEl>
                                          <p:spTgt spid="34"/>
                                        </p:tgtEl>
                                      </p:cBhvr>
                                    </p:animEffect>
                                  </p:childTnLst>
                                </p:cTn>
                              </p:par>
                            </p:childTnLst>
                          </p:cTn>
                        </p:par>
                      </p:childTnLst>
                    </p:cTn>
                  </p:par>
                  <p:par>
                    <p:cTn id="31" fill="hold">
                      <p:stCondLst>
                        <p:cond delay="indefinite"/>
                      </p:stCondLst>
                      <p:childTnLst>
                        <p:par>
                          <p:cTn id="24" fill="hold">
                            <p:stCondLst>
                              <p:cond delay="0"/>
                            </p:stCondLst>
                            <p:childTnLst>
                              <p:par>
                                <p:cTn id="22" presetID="0" presetClass="path" presetSubtype="0" accel="20000" decel="20000" fill="hold" grpId="0" nodeType="clickEffect">
                                  <p:stCondLst>
                                    <p:cond delay="0"/>
                                  </p:stCondLst>
                                  <p:childTnLst>
                                    <p:animMotion origin="layout" path="M 0 0 L 0.0150 0.2533 E" pathEditMode="relative" ptsTypes="">
                                      <p:cBhvr>
                                        <p:cTn id="23" dur="1300" fill="hold"/>
                                        <p:tgtEl>
                                          <p:spTgt spid="35"/>
                                        </p:tgtEl>
                                        <p:attrNameLst>
                                          <p:attrName>ppt_x</p:attrName>
                                          <p:attrName>ppt_y</p:attrName>
                                        </p:attrNameLst>
                                      </p:cBhvr>
                                      <p:rCtr x="750" y="12666"/>
                                    </p:animMotion>
                                  </p:childTnLst>
                                </p:cTn>
                              </p:par>
                            </p:childTnLst>
                          </p:cTn>
                        </p:par>
                        <p:par>
                          <p:cTn id="27" fill="hold">
                            <p:stCondLst>
                              <p:cond delay="200"/>
                            </p:stCondLst>
                            <p:childTnLst>
                              <p:par>
                                <p:cTn id="25" presetID="0" presetClass="path" presetSubtype="0" accel="20000" decel="20000" fill="hold" grpId="0" nodeType="afterEffect">
                                  <p:stCondLst>
                                    <p:cond delay="0"/>
                                  </p:stCondLst>
                                  <p:childTnLst>
                                    <p:animMotion origin="layout" path="M 0 0 L 0.0150 0.2533 E" pathEditMode="relative" ptsTypes="">
                                      <p:cBhvr>
                                        <p:cTn id="26" dur="1300" fill="hold"/>
                                        <p:tgtEl>
                                          <p:spTgt spid="36"/>
                                        </p:tgtEl>
                                        <p:attrNameLst>
                                          <p:attrName>ppt_x</p:attrName>
                                          <p:attrName>ppt_y</p:attrName>
                                        </p:attrNameLst>
                                      </p:cBhvr>
                                      <p:rCtr x="750" y="12666"/>
                                    </p:animMotion>
                                  </p:childTnLst>
                                </p:cTn>
                              </p:par>
                            </p:childTnLst>
                          </p:cTn>
                        </p:par>
                        <p:par>
                          <p:cTn id="30" fill="hold">
                            <p:stCondLst>
                              <p:cond delay="600"/>
                            </p:stCondLst>
                            <p:childTnLst>
                              <p:par>
                                <p:cTn id="28" presetID="0" presetClass="path" presetSubtype="0" accel="20000" decel="20000" fill="hold" grpId="0" nodeType="afterEffect">
                                  <p:stCondLst>
                                    <p:cond delay="0"/>
                                  </p:stCondLst>
                                  <p:childTnLst>
                                    <p:animMotion origin="layout" path="M 0 0 L 0.0150 0.2533 E" pathEditMode="relative" ptsTypes="">
                                      <p:cBhvr>
                                        <p:cTn id="29" dur="1300" fill="hold"/>
                                        <p:tgtEl>
                                          <p:spTgt spid="37"/>
                                        </p:tgtEl>
                                        <p:attrNameLst>
                                          <p:attrName>ppt_x</p:attrName>
                                          <p:attrName>ppt_y</p:attrName>
                                        </p:attrNameLst>
                                      </p:cBhvr>
                                      <p:rCtr x="750" y="126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LDL 0" descr="Ilustración biomédica (Servier Medical Art, CC BY)"/>
          <p:cNvPicPr>
            <a:picLocks noChangeAspect="1"/>
          </p:cNvPicPr>
          <p:nvPr/>
        </p:nvPicPr>
        <p:blipFill>
          <a:blip r:embed="rId2"/>
          <a:stretch>
            <a:fillRect/>
          </a:stretch>
        </p:blipFill>
        <p:spPr>
          <a:xfrm>
            <a:off x="1737360" y="3429000"/>
            <a:ext cx="502920" cy="444366"/>
          </a:xfrm>
          <a:prstGeom prst="rect">
            <a:avLst/>
          </a:prstGeom>
        </p:spPr>
      </p:pic>
      <p:pic>
        <p:nvPicPr>
          <p:cNvPr id="29" name="!!LDL 1" descr="Ilustración biomédica (Servier Medical Art, CC BY)"/>
          <p:cNvPicPr>
            <a:picLocks noChangeAspect="1"/>
          </p:cNvPicPr>
          <p:nvPr/>
        </p:nvPicPr>
        <p:blipFill>
          <a:blip r:embed="rId2"/>
          <a:stretch>
            <a:fillRect/>
          </a:stretch>
        </p:blipFill>
        <p:spPr>
          <a:xfrm>
            <a:off x="2194560" y="3611880"/>
            <a:ext cx="502920" cy="444366"/>
          </a:xfrm>
          <a:prstGeom prst="rect">
            <a:avLst/>
          </a:prstGeom>
        </p:spPr>
      </p:pic>
      <p:pic>
        <p:nvPicPr>
          <p:cNvPr id="30" name="!!LDL 2" descr="Ilustración biomédica (Servier Medical Art, CC BY)"/>
          <p:cNvPicPr>
            <a:picLocks noChangeAspect="1"/>
          </p:cNvPicPr>
          <p:nvPr/>
        </p:nvPicPr>
        <p:blipFill>
          <a:blip r:embed="rId2"/>
          <a:stretch>
            <a:fillRect/>
          </a:stretch>
        </p:blipFill>
        <p:spPr>
          <a:xfrm>
            <a:off x="4206240" y="3520440"/>
            <a:ext cx="502920" cy="444366"/>
          </a:xfrm>
          <a:prstGeom prst="rect">
            <a:avLst/>
          </a:prstGeom>
        </p:spPr>
      </p:pic>
      <p:pic>
        <p:nvPicPr>
          <p:cNvPr id="31" name="!!LDL 3" descr="Ilustración biomédica (Servier Medical Art, CC BY)"/>
          <p:cNvPicPr>
            <a:picLocks noChangeAspect="1"/>
          </p:cNvPicPr>
          <p:nvPr/>
        </p:nvPicPr>
        <p:blipFill>
          <a:blip r:embed="rId2"/>
          <a:stretch>
            <a:fillRect/>
          </a:stretch>
        </p:blipFill>
        <p:spPr>
          <a:xfrm>
            <a:off x="4846320" y="3337560"/>
            <a:ext cx="502920" cy="444366"/>
          </a:xfrm>
          <a:prstGeom prst="rect">
            <a:avLst/>
          </a:prstGeom>
        </p:spPr>
      </p:pic>
      <p:pic>
        <p:nvPicPr>
          <p:cNvPr id="32" name="!!Monocito 0" descr="Ilustración biomédica (Servier Medical Art, CC BY)"/>
          <p:cNvPicPr>
            <a:picLocks noChangeAspect="1"/>
          </p:cNvPicPr>
          <p:nvPr/>
        </p:nvPicPr>
        <p:blipFill>
          <a:blip r:embed="rId3"/>
          <a:stretch>
            <a:fillRect/>
          </a:stretch>
        </p:blipFill>
        <p:spPr>
          <a:xfrm>
            <a:off x="1463040" y="3108960"/>
            <a:ext cx="960120" cy="1039573"/>
          </a:xfrm>
          <a:prstGeom prst="rect">
            <a:avLst/>
          </a:prstGeom>
        </p:spPr>
      </p:pic>
      <p:pic>
        <p:nvPicPr>
          <p:cNvPr id="33" name="!!Monocito 1" descr="Ilustración biomédica (Servier Medical Art, CC BY)"/>
          <p:cNvPicPr>
            <a:picLocks noChangeAspect="1"/>
          </p:cNvPicPr>
          <p:nvPr/>
        </p:nvPicPr>
        <p:blipFill>
          <a:blip r:embed="rId3"/>
          <a:stretch>
            <a:fillRect/>
          </a:stretch>
        </p:blipFill>
        <p:spPr>
          <a:xfrm>
            <a:off x="3749040" y="3108960"/>
            <a:ext cx="960120" cy="1039573"/>
          </a:xfrm>
          <a:prstGeom prst="rect">
            <a:avLst/>
          </a:prstGeom>
        </p:spPr>
      </p:pic>
      <p:pic>
        <p:nvPicPr>
          <p:cNvPr id="34" name="!!Monocito 2" descr="Ilustración biomédica (Servier Medical Art, CC BY)"/>
          <p:cNvPicPr>
            <a:picLocks noChangeAspect="1"/>
          </p:cNvPicPr>
          <p:nvPr/>
        </p:nvPicPr>
        <p:blipFill>
          <a:blip r:embed="rId3"/>
          <a:stretch>
            <a:fillRect/>
          </a:stretch>
        </p:blipFill>
        <p:spPr>
          <a:xfrm>
            <a:off x="6035040" y="3108960"/>
            <a:ext cx="960120" cy="1039573"/>
          </a:xfrm>
          <a:prstGeom prst="rect">
            <a:avLst/>
          </a:prstGeom>
        </p:spPr>
      </p:pic>
      <p:grpSp>
        <p:nvGrpSpPr>
          <p:cNvPr id="35" name="!!Panel F"/>
          <p:cNvGrpSpPr/>
          <p:nvPr/>
        </p:nvGrpSpPr>
        <p:grpSpPr>
          <a:xfrm>
            <a:off x="7955280" y="1051560"/>
            <a:ext cx="3886200" cy="4434840"/>
            <a:chOff x="7955280" y="1051560"/>
            <a:chExt cx="3886200" cy="4434840"/>
          </a:xfrm>
        </p:grpSpPr>
        <p:sp>
          <p:nvSpPr>
            <p:cNvPr id="36" name="Forma 35"/>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En la íntima el monocito se diferencia a </a:t>
              </a:r>
              <a:r>
                <a:rPr lang="es-AR" sz="1450" b="1" dirty="0">
                  <a:solidFill>
                    <a:srgbClr val="1E1E1E"/>
                  </a:solidFill>
                  <a:latin typeface="Fira Sans Condensed"/>
                  <a:ea typeface="Fira Sans Condensed"/>
                  <a:cs typeface="Fira Sans Condensed"/>
                  <a:sym typeface="Fira Sans Condensed"/>
                </a:rPr>
                <a:t>macrófago</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Capta</a:t>
              </a:r>
              <a:r>
                <a:rPr lang="es-AR" sz="1450" dirty="0">
                  <a:solidFill>
                    <a:srgbClr val="1E1E1E"/>
                  </a:solidFill>
                  <a:latin typeface="Fira Sans Condensed"/>
                  <a:ea typeface="Fira Sans Condensed"/>
                  <a:cs typeface="Fira Sans Condensed"/>
                  <a:sym typeface="Fira Sans Condensed"/>
                </a:rPr>
                <a:t> lipoproteínas modificadas (receptores scavenger) sin freno por colesterol.</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Libera </a:t>
              </a:r>
              <a:r>
                <a:rPr lang="es-AR" sz="1450" b="1" dirty="0">
                  <a:solidFill>
                    <a:srgbClr val="1E1E1E"/>
                  </a:solidFill>
                  <a:latin typeface="Fira Sans Condensed"/>
                  <a:ea typeface="Fira Sans Condensed"/>
                  <a:cs typeface="Fira Sans Condensed"/>
                  <a:sym typeface="Fira Sans Condensed"/>
                </a:rPr>
                <a:t>citocinas y proteasas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sp>
          <p:nvSpPr>
            <p:cNvPr id="37" name="Forma 36"/>
            <p:cNvSpPr/>
            <p:nvPr/>
          </p:nvSpPr>
          <p:spPr>
            <a:xfrm>
              <a:off x="8092440" y="1051560"/>
              <a:ext cx="1335993" cy="384048"/>
            </a:xfrm>
            <a:prstGeom prst="rect">
              <a:avLst/>
            </a:prstGeom>
            <a:solidFill>
              <a:srgbClr val="92D05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MACRÓFAGO</a:t>
              </a:r>
              <a:endParaRPr lang="es-AR" sz="1400" dirty="0">
                <a:latin typeface="Fira Sans Condensed"/>
              </a:endParaRPr>
            </a:p>
          </p:txBody>
        </p:sp>
      </p:grpSp>
      <p:sp>
        <p:nvSpPr>
          <p:cNvPr id="4" name="Título"/>
          <p:cNvSpPr txBox="1"/>
          <p:nvPr/>
        </p:nvSpPr>
        <p:spPr>
          <a:xfrm>
            <a:off x="320040" y="91440"/>
            <a:ext cx="11551615" cy="52247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500" dirty="0">
                <a:solidFill>
                  <a:srgbClr val="1E1E1E"/>
                </a:solidFill>
                <a:effectLst>
                  <a:glow rad="101600">
                    <a:srgbClr val="FFFFFF">
                      <a:alpha val="70000"/>
                    </a:srgbClr>
                  </a:glow>
                </a:effectLst>
                <a:latin typeface="Permanent Marker"/>
                <a:ea typeface="Permanent Marker"/>
                <a:cs typeface="Permanent Marker"/>
                <a:sym typeface="Permanent Marker"/>
              </a:rPr>
              <a:t>SECUENCIA F · 5 · EL MONOCITO SE CONVIERTE EN MACRÓFAGO</a:t>
            </a:r>
            <a:endParaRPr lang="es-AR" sz="25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216</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grpSp>
        <p:nvGrpSpPr>
          <p:cNvPr id="20" name="!!Progreso F"/>
          <p:cNvGrpSpPr/>
          <p:nvPr/>
        </p:nvGrpSpPr>
        <p:grpSpPr>
          <a:xfrm>
            <a:off x="365760" y="5760720"/>
            <a:ext cx="11393424" cy="438912"/>
            <a:chOff x="365760" y="5760720"/>
            <a:chExt cx="11393424" cy="438912"/>
          </a:xfrm>
        </p:grpSpPr>
        <p:sp>
          <p:nvSpPr>
            <p:cNvPr id="21" name="Forma 20"/>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2" name="Forma 21"/>
            <p:cNvSpPr/>
            <p:nvPr/>
          </p:nvSpPr>
          <p:spPr>
            <a:xfrm>
              <a:off x="2002536"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3" name="Forma 22"/>
            <p:cNvSpPr/>
            <p:nvPr/>
          </p:nvSpPr>
          <p:spPr>
            <a:xfrm>
              <a:off x="3639312"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4" name="Forma 23"/>
            <p:cNvSpPr/>
            <p:nvPr/>
          </p:nvSpPr>
          <p:spPr>
            <a:xfrm>
              <a:off x="5276088"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5" name="Forma 24"/>
            <p:cNvSpPr/>
            <p:nvPr/>
          </p:nvSpPr>
          <p:spPr>
            <a:xfrm>
              <a:off x="6912864"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6" name="Forma 25"/>
            <p:cNvSpPr/>
            <p:nvPr/>
          </p:nvSpPr>
          <p:spPr>
            <a:xfrm>
              <a:off x="8549640"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27" name="Forma 26"/>
            <p:cNvSpPr/>
            <p:nvPr/>
          </p:nvSpPr>
          <p:spPr>
            <a:xfrm>
              <a:off x="10186416" y="5760720"/>
              <a:ext cx="1572768" cy="438912"/>
            </a:xfrm>
            <a:prstGeom prst="rect">
              <a:avLst/>
            </a:prstGeom>
            <a:solidFill>
              <a:srgbClr val="FFFFFF"/>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Placa</a:t>
              </a:r>
              <a:endParaRPr lang="es-AR" sz="1150" dirty="0">
                <a:latin typeface="Fira Sans Condensed"/>
              </a:endParaRPr>
            </a:p>
          </p:txBody>
        </p:sp>
      </p:grpSp>
      <p:pic>
        <p:nvPicPr>
          <p:cNvPr id="28" name="!!Monocito 0" descr="Ilustración biomédica (Servier Medical Art, CC BY)"/>
          <p:cNvPicPr>
            <a:picLocks noChangeAspect="1"/>
          </p:cNvPicPr>
          <p:nvPr/>
        </p:nvPicPr>
        <p:blipFill>
          <a:blip r:embed="rId2"/>
          <a:stretch>
            <a:fillRect/>
          </a:stretch>
        </p:blipFill>
        <p:spPr>
          <a:xfrm>
            <a:off x="1463040" y="3063240"/>
            <a:ext cx="1005840" cy="1128346"/>
          </a:xfrm>
          <a:prstGeom prst="rect">
            <a:avLst/>
          </a:prstGeom>
        </p:spPr>
      </p:pic>
      <p:pic>
        <p:nvPicPr>
          <p:cNvPr id="29" name="!!Monocito 1" descr="Ilustración biomédica (Servier Medical Art, CC BY)"/>
          <p:cNvPicPr>
            <a:picLocks noChangeAspect="1"/>
          </p:cNvPicPr>
          <p:nvPr/>
        </p:nvPicPr>
        <p:blipFill>
          <a:blip r:embed="rId2"/>
          <a:stretch>
            <a:fillRect/>
          </a:stretch>
        </p:blipFill>
        <p:spPr>
          <a:xfrm>
            <a:off x="3749040" y="3063240"/>
            <a:ext cx="1005840" cy="1128346"/>
          </a:xfrm>
          <a:prstGeom prst="rect">
            <a:avLst/>
          </a:prstGeom>
        </p:spPr>
      </p:pic>
      <p:pic>
        <p:nvPicPr>
          <p:cNvPr id="30" name="!!Monocito 2" descr="Ilustración biomédica (Servier Medical Art, CC BY)"/>
          <p:cNvPicPr>
            <a:picLocks noChangeAspect="1"/>
          </p:cNvPicPr>
          <p:nvPr/>
        </p:nvPicPr>
        <p:blipFill>
          <a:blip r:embed="rId2"/>
          <a:stretch>
            <a:fillRect/>
          </a:stretch>
        </p:blipFill>
        <p:spPr>
          <a:xfrm>
            <a:off x="6035040" y="3063240"/>
            <a:ext cx="1005840" cy="1128346"/>
          </a:xfrm>
          <a:prstGeom prst="rect">
            <a:avLst/>
          </a:prstGeom>
        </p:spPr>
      </p:pic>
      <p:grpSp>
        <p:nvGrpSpPr>
          <p:cNvPr id="31" name="!!Panel F"/>
          <p:cNvGrpSpPr/>
          <p:nvPr/>
        </p:nvGrpSpPr>
        <p:grpSpPr>
          <a:xfrm>
            <a:off x="7955280" y="1051560"/>
            <a:ext cx="3886200" cy="4434840"/>
            <a:chOff x="7955280" y="1051560"/>
            <a:chExt cx="3886200" cy="4434840"/>
          </a:xfrm>
        </p:grpSpPr>
        <p:sp>
          <p:nvSpPr>
            <p:cNvPr id="32" name="Forma 31"/>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Macrófagos </a:t>
              </a:r>
              <a:r>
                <a:rPr lang="es-AR" sz="1450" b="1" dirty="0">
                  <a:solidFill>
                    <a:srgbClr val="1E1E1E"/>
                  </a:solidFill>
                  <a:latin typeface="Fira Sans Condensed"/>
                  <a:ea typeface="Fira Sans Condensed"/>
                  <a:cs typeface="Fira Sans Condensed"/>
                  <a:sym typeface="Fira Sans Condensed"/>
                </a:rPr>
                <a:t>cargados de colesterol</a:t>
              </a:r>
              <a:r>
                <a:rPr lang="es-AR" sz="1450" dirty="0">
                  <a:solidFill>
                    <a:srgbClr val="1E1E1E"/>
                  </a:solidFill>
                  <a:latin typeface="Fira Sans Condensed"/>
                  <a:ea typeface="Fira Sans Condensed"/>
                  <a:cs typeface="Fira Sans Condensed"/>
                  <a:sym typeface="Fira Sans Condensed"/>
                </a:rPr>
                <a:t> = células espumosas (estría grasa).</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Su muerte forma un </a:t>
              </a:r>
              <a:r>
                <a:rPr lang="es-AR" sz="1450" b="1" dirty="0">
                  <a:solidFill>
                    <a:srgbClr val="1E1E1E"/>
                  </a:solidFill>
                  <a:latin typeface="Fira Sans Condensed"/>
                  <a:ea typeface="Fira Sans Condensed"/>
                  <a:cs typeface="Fira Sans Condensed"/>
                  <a:sym typeface="Fira Sans Condensed"/>
                </a:rPr>
                <a:t>núcleo necrótico</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Remodelación de la pared por citocinas y proteasas.</a:t>
              </a:r>
              <a:endParaRPr lang="es-AR" sz="1450" dirty="0">
                <a:latin typeface="Fira Sans Condensed"/>
              </a:endParaRPr>
            </a:p>
          </p:txBody>
        </p:sp>
        <p:sp>
          <p:nvSpPr>
            <p:cNvPr id="33" name="Forma 32"/>
            <p:cNvSpPr/>
            <p:nvPr/>
          </p:nvSpPr>
          <p:spPr>
            <a:xfrm>
              <a:off x="8092440" y="1051560"/>
              <a:ext cx="2038927"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CÉLULAS ESPUMOSAS</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F · 6 · CÉLULAS ESPUMOSAS</a:t>
            </a:r>
            <a:endParaRPr lang="es-AR" sz="34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217</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sp>
        <p:nvSpPr>
          <p:cNvPr id="6" name="!!Luz arterial"/>
          <p:cNvSpPr/>
          <p:nvPr/>
        </p:nvSpPr>
        <p:spPr>
          <a:xfrm>
            <a:off x="365760" y="1051560"/>
            <a:ext cx="7315200" cy="1828800"/>
          </a:xfrm>
          <a:prstGeom prst="rect">
            <a:avLst/>
          </a:prstGeom>
          <a:gradFill rotWithShape="1">
            <a:gsLst>
              <a:gs pos="0">
                <a:srgbClr val="F5B7B1"/>
              </a:gs>
              <a:gs pos="100000">
                <a:srgbClr val="FADBD8"/>
              </a:gs>
            </a:gsLst>
            <a:lin ang="5400000" scaled="0"/>
          </a:gradFill>
          <a:ln w="12700" cap="rnd">
            <a:solidFill>
              <a:srgbClr val="1E1E1E"/>
            </a:solidFill>
            <a:round/>
          </a:ln>
        </p:spPr>
      </p:sp>
      <p:sp>
        <p:nvSpPr>
          <p:cNvPr id="7" name="!!Rótulo luz F"/>
          <p:cNvSpPr txBox="1"/>
          <p:nvPr/>
        </p:nvSpPr>
        <p:spPr>
          <a:xfrm>
            <a:off x="457200" y="1097280"/>
            <a:ext cx="2743200" cy="320040"/>
          </a:xfrm>
          <a:prstGeom prst="rect">
            <a:avLst/>
          </a:prstGeom>
          <a:noFill/>
          <a:ln>
            <a:noFill/>
          </a:ln>
        </p:spPr>
        <p:txBody>
          <a:bodyPr wrap="square" lIns="0" tIns="0" rIns="0" bIns="0" anchor="ctr" rtlCol="0">
            <a:noAutofit/>
          </a:bodyPr>
          <a:lstStyle/>
          <a:p>
            <a:pPr algn="l">
              <a:spcAft>
                <a:spcPts val="300"/>
              </a:spcAft>
              <a:buNone/>
            </a:pPr>
            <a:r>
              <a:rPr lang="es-AR" sz="125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LUZ ARTERIAL</a:t>
            </a:r>
            <a:endParaRPr lang="es-AR" sz="1250" dirty="0">
              <a:latin typeface="Fira Sans Condensed"/>
            </a:endParaRPr>
          </a:p>
        </p:txBody>
      </p:sp>
      <p:sp>
        <p:nvSpPr>
          <p:cNvPr id="8" name="!!GR F 0"/>
          <p:cNvSpPr/>
          <p:nvPr/>
        </p:nvSpPr>
        <p:spPr>
          <a:xfrm>
            <a:off x="91440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9" name="!!GR F 1"/>
          <p:cNvSpPr/>
          <p:nvPr/>
        </p:nvSpPr>
        <p:spPr>
          <a:xfrm>
            <a:off x="187452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0" name="!!GR F 2"/>
          <p:cNvSpPr/>
          <p:nvPr/>
        </p:nvSpPr>
        <p:spPr>
          <a:xfrm>
            <a:off x="283464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1" name="!!GR F 3"/>
          <p:cNvSpPr/>
          <p:nvPr/>
        </p:nvSpPr>
        <p:spPr>
          <a:xfrm>
            <a:off x="379476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2" name="!!GR F 4"/>
          <p:cNvSpPr/>
          <p:nvPr/>
        </p:nvSpPr>
        <p:spPr>
          <a:xfrm>
            <a:off x="475488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3" name="!!GR F 5"/>
          <p:cNvSpPr/>
          <p:nvPr/>
        </p:nvSpPr>
        <p:spPr>
          <a:xfrm>
            <a:off x="5715000" y="205740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4" name="!!GR F 6"/>
          <p:cNvSpPr/>
          <p:nvPr/>
        </p:nvSpPr>
        <p:spPr>
          <a:xfrm>
            <a:off x="6675120" y="1554480"/>
            <a:ext cx="457200" cy="457200"/>
          </a:xfrm>
          <a:prstGeom prst="ellipse">
            <a:avLst/>
          </a:prstGeom>
          <a:gradFill rotWithShape="1">
            <a:gsLst>
              <a:gs pos="0">
                <a:srgbClr val="E06A5F"/>
              </a:gs>
              <a:gs pos="38000">
                <a:srgbClr val="EF8C80"/>
              </a:gs>
              <a:gs pos="72000">
                <a:srgbClr val="C9372C"/>
              </a:gs>
              <a:gs pos="100000">
                <a:srgbClr val="7B1F17"/>
              </a:gs>
            </a:gsLst>
            <a:path path="circle">
              <a:fillToRect l="50000" t="50000" r="50000" b="50000"/>
            </a:path>
          </a:gradFill>
          <a:ln w="9525" cap="rnd">
            <a:solidFill>
              <a:srgbClr val="6E1A12"/>
            </a:solidFill>
            <a:round/>
          </a:ln>
        </p:spPr>
      </p:sp>
      <p:sp>
        <p:nvSpPr>
          <p:cNvPr id="15" name="!!Endotelio F"/>
          <p:cNvSpPr/>
          <p:nvPr/>
        </p:nvSpPr>
        <p:spPr>
          <a:xfrm>
            <a:off x="365760" y="2880360"/>
            <a:ext cx="7315200" cy="164592"/>
          </a:xfrm>
          <a:prstGeom prst="rect">
            <a:avLst/>
          </a:prstGeom>
          <a:solidFill>
            <a:srgbClr val="E74C3C"/>
          </a:solidFill>
          <a:ln w="9525" cap="rnd">
            <a:solidFill>
              <a:srgbClr val="1E1E1E"/>
            </a:solidFill>
            <a:round/>
          </a:ln>
        </p:spPr>
      </p:sp>
      <p:sp>
        <p:nvSpPr>
          <p:cNvPr id="16" name="!!Íntima F"/>
          <p:cNvSpPr/>
          <p:nvPr/>
        </p:nvSpPr>
        <p:spPr>
          <a:xfrm>
            <a:off x="365760" y="3044952"/>
            <a:ext cx="7315200" cy="1371600"/>
          </a:xfrm>
          <a:prstGeom prst="rect">
            <a:avLst/>
          </a:prstGeom>
          <a:gradFill rotWithShape="1">
            <a:gsLst>
              <a:gs pos="0">
                <a:srgbClr val="FDEBD0"/>
              </a:gs>
              <a:gs pos="100000">
                <a:srgbClr val="F8C471"/>
              </a:gs>
            </a:gsLst>
            <a:lin ang="5400000" scaled="0"/>
          </a:gradFill>
          <a:ln w="12700" cap="rnd">
            <a:solidFill>
              <a:srgbClr val="1E1E1E"/>
            </a:solidFill>
            <a:round/>
          </a:ln>
        </p:spPr>
      </p:sp>
      <p:sp>
        <p:nvSpPr>
          <p:cNvPr id="17" name="!!Rótulo íntima F"/>
          <p:cNvSpPr txBox="1"/>
          <p:nvPr/>
        </p:nvSpPr>
        <p:spPr>
          <a:xfrm>
            <a:off x="457200" y="4069080"/>
            <a:ext cx="18288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ÍNTIMA</a:t>
            </a:r>
            <a:endParaRPr lang="es-AR" sz="1200" dirty="0">
              <a:latin typeface="Fira Sans Condensed"/>
            </a:endParaRPr>
          </a:p>
        </p:txBody>
      </p:sp>
      <p:sp>
        <p:nvSpPr>
          <p:cNvPr id="18" name="!!Media F"/>
          <p:cNvSpPr/>
          <p:nvPr/>
        </p:nvSpPr>
        <p:spPr>
          <a:xfrm>
            <a:off x="365760" y="4416552"/>
            <a:ext cx="7315200" cy="1051560"/>
          </a:xfrm>
          <a:prstGeom prst="rect">
            <a:avLst/>
          </a:prstGeom>
          <a:gradFill rotWithShape="1">
            <a:gsLst>
              <a:gs pos="0">
                <a:srgbClr val="F1948A"/>
              </a:gs>
              <a:gs pos="100000">
                <a:srgbClr val="CD6155"/>
              </a:gs>
            </a:gsLst>
            <a:lin ang="5400000" scaled="0"/>
          </a:gradFill>
          <a:ln w="12700" cap="rnd">
            <a:solidFill>
              <a:srgbClr val="1E1E1E"/>
            </a:solidFill>
            <a:round/>
          </a:ln>
        </p:spPr>
      </p:sp>
      <p:sp>
        <p:nvSpPr>
          <p:cNvPr id="19" name="!!Rótulo media F"/>
          <p:cNvSpPr txBox="1"/>
          <p:nvPr/>
        </p:nvSpPr>
        <p:spPr>
          <a:xfrm>
            <a:off x="457200" y="5074920"/>
            <a:ext cx="2743200" cy="292608"/>
          </a:xfrm>
          <a:prstGeom prst="rect">
            <a:avLst/>
          </a:prstGeom>
          <a:noFill/>
          <a:ln>
            <a:noFill/>
          </a:ln>
        </p:spPr>
        <p:txBody>
          <a:bodyPr wrap="square" lIns="0" tIns="0" rIns="0" bIns="0" anchor="ctr" rtlCol="0">
            <a:noAutofit/>
          </a:bodyPr>
          <a:lstStyle/>
          <a:p>
            <a:pPr algn="l">
              <a:spcAft>
                <a:spcPts val="300"/>
              </a:spcAft>
              <a:buNone/>
            </a:pPr>
            <a:r>
              <a:rPr lang="es-AR" sz="12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MEDIA (músculo liso)</a:t>
            </a:r>
            <a:endParaRPr lang="es-AR" sz="1200" dirty="0">
              <a:latin typeface="Fira Sans Condensed"/>
            </a:endParaRPr>
          </a:p>
        </p:txBody>
      </p:sp>
      <p:sp>
        <p:nvSpPr>
          <p:cNvPr id="20" name="!!Placa F"/>
          <p:cNvSpPr/>
          <p:nvPr/>
        </p:nvSpPr>
        <p:spPr>
          <a:xfrm>
            <a:off x="2194560" y="1965960"/>
            <a:ext cx="4023360" cy="2377440"/>
          </a:xfrm>
          <a:custGeom>
            <a:avLst/>
            <a:gdLst/>
            <a:ahLst/>
            <a:cxnLst/>
            <a:rect l="0" t="0" r="r" b="b"/>
            <a:pathLst>
              <a:path w="1000" h="1000">
                <a:moveTo>
                  <a:pt x="0" y="1000"/>
                </a:moveTo>
                <a:cubicBezTo>
                  <a:pt x="-113" y="920"/>
                  <a:pt x="83" y="533"/>
                  <a:pt x="150" y="400"/>
                </a:cubicBezTo>
                <a:cubicBezTo>
                  <a:pt x="216" y="266"/>
                  <a:pt x="406" y="0"/>
                  <a:pt x="500" y="0"/>
                </a:cubicBezTo>
                <a:cubicBezTo>
                  <a:pt x="593" y="0"/>
                  <a:pt x="783" y="266"/>
                  <a:pt x="850" y="400"/>
                </a:cubicBezTo>
                <a:cubicBezTo>
                  <a:pt x="916" y="533"/>
                  <a:pt x="1113" y="920"/>
                  <a:pt x="1000" y="1000"/>
                </a:cubicBezTo>
                <a:cubicBezTo>
                  <a:pt x="886" y="1080"/>
                  <a:pt x="113" y="1080"/>
                  <a:pt x="0" y="1000"/>
                </a:cubicBezTo>
                <a:close/>
              </a:path>
            </a:pathLst>
          </a:custGeom>
          <a:gradFill rotWithShape="1">
            <a:gsLst>
              <a:gs pos="0">
                <a:srgbClr val="F9E79F"/>
              </a:gs>
              <a:gs pos="100000">
                <a:srgbClr val="D4AC0D"/>
              </a:gs>
            </a:gsLst>
            <a:path path="circle">
              <a:fillToRect l="50000" t="60000" r="50000" b="40000"/>
            </a:path>
          </a:gradFill>
          <a:ln w="25400" cap="rnd">
            <a:solidFill>
              <a:srgbClr val="7D6608"/>
            </a:solidFill>
            <a:round/>
          </a:ln>
        </p:spPr>
      </p:sp>
      <p:sp>
        <p:nvSpPr>
          <p:cNvPr id="21" name="!!Núcleo necrótico"/>
          <p:cNvSpPr/>
          <p:nvPr/>
        </p:nvSpPr>
        <p:spPr>
          <a:xfrm>
            <a:off x="3474720" y="2926080"/>
            <a:ext cx="1463040" cy="822960"/>
          </a:xfrm>
          <a:prstGeom prst="ellipse">
            <a:avLst/>
          </a:prstGeom>
          <a:solidFill>
            <a:srgbClr val="7B241C">
              <a:alpha val="70000"/>
            </a:srgbClr>
          </a:solidFill>
          <a:ln>
            <a:noFill/>
          </a:ln>
        </p:spPr>
        <p:txBody>
          <a:bodyPr wrap="square" lIns="73152" tIns="45720" rIns="73152" bIns="45720" anchor="ctr" rtlCol="0">
            <a:noAutofit/>
          </a:bodyPr>
          <a:lstStyle/>
          <a:p>
            <a:pPr algn="ctr">
              <a:spcAft>
                <a:spcPts val="300"/>
              </a:spcAft>
              <a:buNone/>
            </a:pPr>
            <a:r>
              <a:rPr lang="es-AR" sz="1000" b="1" dirty="0">
                <a:solidFill>
                  <a:srgbClr val="FFFFFF"/>
                </a:solidFill>
                <a:latin typeface="Fira Sans Condensed"/>
                <a:ea typeface="Fira Sans Condensed"/>
                <a:cs typeface="Fira Sans Condensed"/>
                <a:sym typeface="Fira Sans Condensed"/>
              </a:rPr>
              <a:t>núcleo</a:t>
            </a:r>
            <a:endParaRPr lang="es-AR" sz="1000" dirty="0">
              <a:latin typeface="Fira Sans Condensed"/>
            </a:endParaRPr>
          </a:p>
          <a:p>
            <a:pPr algn="ctr">
              <a:spcAft>
                <a:spcPts val="300"/>
              </a:spcAft>
              <a:buNone/>
            </a:pPr>
            <a:r>
              <a:rPr lang="es-AR" sz="1000" b="1" dirty="0">
                <a:solidFill>
                  <a:srgbClr val="FFFFFF"/>
                </a:solidFill>
                <a:latin typeface="Fira Sans Condensed"/>
                <a:ea typeface="Fira Sans Condensed"/>
                <a:cs typeface="Fira Sans Condensed"/>
                <a:sym typeface="Fira Sans Condensed"/>
              </a:rPr>
              <a:t>necrótico</a:t>
            </a:r>
            <a:endParaRPr lang="es-AR" sz="1000" dirty="0">
              <a:latin typeface="Fira Sans Condensed"/>
            </a:endParaRPr>
          </a:p>
        </p:txBody>
      </p:sp>
      <p:sp>
        <p:nvSpPr>
          <p:cNvPr id="22" name="!!Cápsula fibrosa"/>
          <p:cNvSpPr/>
          <p:nvPr/>
        </p:nvSpPr>
        <p:spPr>
          <a:xfrm>
            <a:off x="2286000" y="1920240"/>
            <a:ext cx="3840480" cy="411480"/>
          </a:xfrm>
          <a:custGeom>
            <a:avLst/>
            <a:gdLst/>
            <a:ahLst/>
            <a:cxnLst/>
            <a:rect l="0" t="0" r="r" b="b"/>
            <a:pathLst>
              <a:path w="1000" h="1000" fill="none">
                <a:moveTo>
                  <a:pt x="0" y="900"/>
                </a:moveTo>
                <a:cubicBezTo>
                  <a:pt x="66" y="780"/>
                  <a:pt x="366" y="0"/>
                  <a:pt x="500" y="0"/>
                </a:cubicBezTo>
                <a:cubicBezTo>
                  <a:pt x="633" y="0"/>
                  <a:pt x="933" y="780"/>
                  <a:pt x="1000" y="900"/>
                </a:cubicBezTo>
              </a:path>
            </a:pathLst>
          </a:custGeom>
          <a:noFill/>
          <a:ln w="50800" cap="rnd">
            <a:solidFill>
              <a:srgbClr val="FFFFFF"/>
            </a:solidFill>
            <a:round/>
          </a:ln>
        </p:spPr>
      </p:sp>
      <p:grpSp>
        <p:nvGrpSpPr>
          <p:cNvPr id="23" name="!!Progreso F"/>
          <p:cNvGrpSpPr/>
          <p:nvPr/>
        </p:nvGrpSpPr>
        <p:grpSpPr>
          <a:xfrm>
            <a:off x="365760" y="5760720"/>
            <a:ext cx="11393424" cy="438912"/>
            <a:chOff x="365760" y="5760720"/>
            <a:chExt cx="11393424" cy="438912"/>
          </a:xfrm>
        </p:grpSpPr>
        <p:sp>
          <p:nvSpPr>
            <p:cNvPr id="24" name="Forma 23"/>
            <p:cNvSpPr/>
            <p:nvPr/>
          </p:nvSpPr>
          <p:spPr>
            <a:xfrm>
              <a:off x="36576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ApoB en sangre</a:t>
              </a:r>
              <a:endParaRPr lang="es-AR" sz="1150" dirty="0">
                <a:latin typeface="Fira Sans Condensed"/>
              </a:endParaRPr>
            </a:p>
          </p:txBody>
        </p:sp>
        <p:sp>
          <p:nvSpPr>
            <p:cNvPr id="25" name="Forma 24"/>
            <p:cNvSpPr/>
            <p:nvPr/>
          </p:nvSpPr>
          <p:spPr>
            <a:xfrm>
              <a:off x="2002536"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Endotelio</a:t>
              </a:r>
              <a:endParaRPr lang="es-AR" sz="1150" dirty="0">
                <a:latin typeface="Fira Sans Condensed"/>
              </a:endParaRPr>
            </a:p>
          </p:txBody>
        </p:sp>
        <p:sp>
          <p:nvSpPr>
            <p:cNvPr id="26" name="Forma 25"/>
            <p:cNvSpPr/>
            <p:nvPr/>
          </p:nvSpPr>
          <p:spPr>
            <a:xfrm>
              <a:off x="3639312"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Retención</a:t>
              </a:r>
              <a:endParaRPr lang="es-AR" sz="1150" dirty="0">
                <a:latin typeface="Fira Sans Condensed"/>
              </a:endParaRPr>
            </a:p>
          </p:txBody>
        </p:sp>
        <p:sp>
          <p:nvSpPr>
            <p:cNvPr id="27" name="Forma 26"/>
            <p:cNvSpPr/>
            <p:nvPr/>
          </p:nvSpPr>
          <p:spPr>
            <a:xfrm>
              <a:off x="5276088"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Inflamación</a:t>
              </a:r>
              <a:endParaRPr lang="es-AR" sz="1150" dirty="0">
                <a:latin typeface="Fira Sans Condensed"/>
              </a:endParaRPr>
            </a:p>
          </p:txBody>
        </p:sp>
        <p:sp>
          <p:nvSpPr>
            <p:cNvPr id="28" name="Forma 27"/>
            <p:cNvSpPr/>
            <p:nvPr/>
          </p:nvSpPr>
          <p:spPr>
            <a:xfrm>
              <a:off x="6912864"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Macrófago</a:t>
              </a:r>
              <a:endParaRPr lang="es-AR" sz="1150" dirty="0">
                <a:latin typeface="Fira Sans Condensed"/>
              </a:endParaRPr>
            </a:p>
          </p:txBody>
        </p:sp>
        <p:sp>
          <p:nvSpPr>
            <p:cNvPr id="29" name="Forma 28"/>
            <p:cNvSpPr/>
            <p:nvPr/>
          </p:nvSpPr>
          <p:spPr>
            <a:xfrm>
              <a:off x="8549640" y="5760720"/>
              <a:ext cx="1572768" cy="438912"/>
            </a:xfrm>
            <a:prstGeom prst="rect">
              <a:avLst/>
            </a:prstGeom>
            <a:solidFill>
              <a:srgbClr val="FFE699"/>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1E1E1E"/>
                  </a:solidFill>
                  <a:latin typeface="Fira Sans Condensed"/>
                  <a:ea typeface="Fira Sans Condensed"/>
                  <a:cs typeface="Fira Sans Condensed"/>
                  <a:sym typeface="Fira Sans Condensed"/>
                </a:rPr>
                <a:t>Célula espumosa</a:t>
              </a:r>
              <a:endParaRPr lang="es-AR" sz="1150" dirty="0">
                <a:latin typeface="Fira Sans Condensed"/>
              </a:endParaRPr>
            </a:p>
          </p:txBody>
        </p:sp>
        <p:sp>
          <p:nvSpPr>
            <p:cNvPr id="30" name="Forma 29"/>
            <p:cNvSpPr/>
            <p:nvPr/>
          </p:nvSpPr>
          <p:spPr>
            <a:xfrm>
              <a:off x="10186416" y="5760720"/>
              <a:ext cx="1572768" cy="438912"/>
            </a:xfrm>
            <a:prstGeom prst="rect">
              <a:avLst/>
            </a:prstGeom>
            <a:solidFill>
              <a:srgbClr val="FFC000"/>
            </a:solidFill>
            <a:ln w="12700" cap="rnd">
              <a:solidFill>
                <a:srgbClr val="1E1E1E"/>
              </a:solidFill>
              <a:round/>
            </a:ln>
          </p:spPr>
          <p:txBody>
            <a:bodyPr wrap="square" lIns="18288" tIns="0" rIns="18288" bIns="0" anchor="ctr" rtlCol="0">
              <a:noAutofit/>
            </a:bodyPr>
            <a:lstStyle/>
            <a:p>
              <a:pPr algn="ctr">
                <a:spcAft>
                  <a:spcPts val="300"/>
                </a:spcAft>
                <a:buNone/>
              </a:pPr>
              <a:r>
                <a:rPr lang="es-AR" sz="1150" b="1" dirty="0">
                  <a:solidFill>
                    <a:srgbClr val="C00000"/>
                  </a:solidFill>
                  <a:latin typeface="Fira Sans Condensed"/>
                  <a:ea typeface="Fira Sans Condensed"/>
                  <a:cs typeface="Fira Sans Condensed"/>
                  <a:sym typeface="Fira Sans Condensed"/>
                </a:rPr>
                <a:t>Placa</a:t>
              </a:r>
              <a:endParaRPr lang="es-AR" sz="1150" dirty="0">
                <a:latin typeface="Fira Sans Condensed"/>
              </a:endParaRPr>
            </a:p>
          </p:txBody>
        </p:sp>
      </p:grpSp>
      <p:grpSp>
        <p:nvGrpSpPr>
          <p:cNvPr id="31" name="Trombo"/>
          <p:cNvGrpSpPr/>
          <p:nvPr/>
        </p:nvGrpSpPr>
        <p:grpSpPr>
          <a:xfrm>
            <a:off x="4480560" y="1600200"/>
            <a:ext cx="1188720" cy="685800"/>
            <a:chOff x="4480560" y="1600200"/>
            <a:chExt cx="1188720" cy="685800"/>
          </a:xfrm>
        </p:grpSpPr>
        <p:sp>
          <p:nvSpPr>
            <p:cNvPr id="32" name="Forma 31"/>
            <p:cNvSpPr/>
            <p:nvPr/>
          </p:nvSpPr>
          <p:spPr>
            <a:xfrm>
              <a:off x="4480560" y="1600200"/>
              <a:ext cx="1188720" cy="685800"/>
            </a:xfrm>
            <a:prstGeom prst="ellipse">
              <a:avLst/>
            </a:prstGeom>
            <a:gradFill rotWithShape="1">
              <a:gsLst>
                <a:gs pos="0">
                  <a:srgbClr val="E6B0AA"/>
                </a:gs>
                <a:gs pos="100000">
                  <a:srgbClr val="922B21"/>
                </a:gs>
              </a:gsLst>
              <a:path path="circle">
                <a:fillToRect l="40000" t="40000" r="60000" b="60000"/>
              </a:path>
            </a:gradFill>
            <a:ln w="15875" cap="rnd">
              <a:solidFill>
                <a:srgbClr val="1E1E1E"/>
              </a:solidFill>
              <a:round/>
            </a:ln>
          </p:spPr>
          <p:txBody>
            <a:bodyPr wrap="square" lIns="73152" tIns="45720" rIns="73152" bIns="45720" anchor="ctr" rtlCol="0">
              <a:noAutofit/>
            </a:bodyPr>
            <a:lstStyle/>
            <a:p>
              <a:pPr algn="ctr">
                <a:spcAft>
                  <a:spcPts val="300"/>
                </a:spcAft>
                <a:buNone/>
              </a:pPr>
              <a:r>
                <a:rPr lang="es-AR" sz="1100" b="1" dirty="0">
                  <a:solidFill>
                    <a:srgbClr val="FFFFFF"/>
                  </a:solidFill>
                  <a:latin typeface="Fira Sans Condensed"/>
                  <a:ea typeface="Fira Sans Condensed"/>
                  <a:cs typeface="Fira Sans Condensed"/>
                  <a:sym typeface="Fira Sans Condensed"/>
                </a:rPr>
                <a:t>trombo</a:t>
              </a:r>
              <a:endParaRPr lang="es-AR" sz="1100" dirty="0">
                <a:latin typeface="Fira Sans Condensed"/>
              </a:endParaRPr>
            </a:p>
          </p:txBody>
        </p:sp>
      </p:grpSp>
      <p:sp>
        <p:nvSpPr>
          <p:cNvPr id="33" name="Rotura"/>
          <p:cNvSpPr/>
          <p:nvPr/>
        </p:nvSpPr>
        <p:spPr>
          <a:xfrm>
            <a:off x="4754880" y="2011680"/>
            <a:ext cx="228600" cy="594360"/>
          </a:xfrm>
          <a:custGeom>
            <a:avLst/>
            <a:gdLst/>
            <a:ahLst/>
            <a:cxnLst/>
            <a:rect l="0" t="0" r="r" b="b"/>
            <a:pathLst>
              <a:path w="250" h="649" fill="none">
                <a:moveTo>
                  <a:pt x="0" y="0"/>
                </a:moveTo>
                <a:lnTo>
                  <a:pt x="250" y="349"/>
                </a:lnTo>
                <a:lnTo>
                  <a:pt x="99" y="649"/>
                </a:lnTo>
              </a:path>
            </a:pathLst>
          </a:custGeom>
          <a:noFill/>
          <a:ln w="44450" cap="rnd">
            <a:solidFill>
              <a:srgbClr val="1E1E1E"/>
            </a:solidFill>
            <a:round/>
          </a:ln>
        </p:spPr>
      </p:sp>
      <p:grpSp>
        <p:nvGrpSpPr>
          <p:cNvPr id="34" name="!!Panel F"/>
          <p:cNvGrpSpPr/>
          <p:nvPr/>
        </p:nvGrpSpPr>
        <p:grpSpPr>
          <a:xfrm>
            <a:off x="7955280" y="1051560"/>
            <a:ext cx="3886200" cy="4434840"/>
            <a:chOff x="7955280" y="1051560"/>
            <a:chExt cx="3886200" cy="4434840"/>
          </a:xfrm>
        </p:grpSpPr>
        <p:sp>
          <p:nvSpPr>
            <p:cNvPr id="35" name="Forma 34"/>
            <p:cNvSpPr/>
            <p:nvPr/>
          </p:nvSpPr>
          <p:spPr>
            <a:xfrm>
              <a:off x="7955280" y="1252728"/>
              <a:ext cx="3886200" cy="4233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Placa</a:t>
              </a:r>
              <a:r>
                <a:rPr lang="es-AR" sz="1450" dirty="0">
                  <a:solidFill>
                    <a:srgbClr val="1E1E1E"/>
                  </a:solidFill>
                  <a:latin typeface="Fira Sans Condensed"/>
                  <a:ea typeface="Fira Sans Condensed"/>
                  <a:cs typeface="Fira Sans Condensed"/>
                  <a:sym typeface="Fira Sans Condensed"/>
                </a:rPr>
                <a:t> con núcleo necrótico y cápsula fibrosa que </a:t>
              </a:r>
              <a:r>
                <a:rPr lang="es-AR" sz="1450" b="1" dirty="0">
                  <a:solidFill>
                    <a:srgbClr val="1E1E1E"/>
                  </a:solidFill>
                  <a:latin typeface="Fira Sans Condensed"/>
                  <a:ea typeface="Fira Sans Condensed"/>
                  <a:cs typeface="Fira Sans Condensed"/>
                  <a:sym typeface="Fira Sans Condensed"/>
                </a:rPr>
                <a:t>protruye</a:t>
              </a:r>
              <a:r>
                <a:rPr lang="es-AR" sz="1450" dirty="0">
                  <a:solidFill>
                    <a:srgbClr val="1E1E1E"/>
                  </a:solidFill>
                  <a:latin typeface="Fira Sans Condensed"/>
                  <a:ea typeface="Fira Sans Condensed"/>
                  <a:cs typeface="Fira Sans Condensed"/>
                  <a:sym typeface="Fira Sans Condensed"/>
                </a:rPr>
                <a:t> en la luz.</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Rotura o erosión</a:t>
              </a:r>
              <a:r>
                <a:rPr lang="es-AR" sz="1450" dirty="0">
                  <a:solidFill>
                    <a:srgbClr val="1E1E1E"/>
                  </a:solidFill>
                  <a:latin typeface="Fira Sans Condensed"/>
                  <a:ea typeface="Fira Sans Condensed"/>
                  <a:cs typeface="Fira Sans Condensed"/>
                  <a:sym typeface="Fira Sans Condensed"/>
                </a:rPr>
                <a:t> expone material </a:t>
              </a:r>
              <a:r>
                <a:rPr lang="es-AR" sz="1450" b="1" dirty="0">
                  <a:solidFill>
                    <a:srgbClr val="1E1E1E"/>
                  </a:solidFill>
                  <a:latin typeface="Fira Sans Condensed"/>
                  <a:ea typeface="Fira Sans Condensed"/>
                  <a:cs typeface="Fira Sans Condensed"/>
                  <a:sym typeface="Fira Sans Condensed"/>
                </a:rPr>
                <a:t>trombogénico</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Agregación plaquetaria y trombosis</a:t>
              </a:r>
              <a:r>
                <a:rPr lang="es-AR" sz="1450" dirty="0">
                  <a:solidFill>
                    <a:srgbClr val="1E1E1E"/>
                  </a:solidFill>
                  <a:latin typeface="Fira Sans Condensed"/>
                  <a:ea typeface="Fira Sans Condensed"/>
                  <a:cs typeface="Fira Sans Condensed"/>
                  <a:sym typeface="Fira Sans Condensed"/>
                </a:rPr>
                <a:t> → infarto, ACV, isquemia periférica.</a:t>
              </a:r>
              <a:endParaRPr lang="es-AR" sz="1450" dirty="0">
                <a:latin typeface="Fira Sans Condensed"/>
              </a:endParaRPr>
            </a:p>
          </p:txBody>
        </p:sp>
        <p:sp>
          <p:nvSpPr>
            <p:cNvPr id="36" name="Forma 35"/>
            <p:cNvSpPr/>
            <p:nvPr/>
          </p:nvSpPr>
          <p:spPr>
            <a:xfrm>
              <a:off x="8092440" y="1051560"/>
              <a:ext cx="1644931" cy="384048"/>
            </a:xfrm>
            <a:prstGeom prst="rect">
              <a:avLst/>
            </a:prstGeom>
            <a:solidFill>
              <a:srgbClr val="C00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FFFFFF"/>
                  </a:solidFill>
                  <a:latin typeface="Fira Sans Condensed"/>
                  <a:ea typeface="Fira Sans Condensed"/>
                  <a:cs typeface="Fira Sans Condensed"/>
                  <a:sym typeface="Fira Sans Condensed"/>
                </a:rPr>
                <a:t>PLACA Y EVENTO</a:t>
              </a:r>
              <a:endParaRPr lang="es-AR" sz="1400" dirty="0">
                <a:latin typeface="Fira Sans Condensed"/>
              </a:endParaRPr>
            </a:p>
          </p:txBody>
        </p:sp>
      </p:gr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SECUENCIA F · 7 · PLACA, ROTURA Y TROMBOSIS</a:t>
            </a:r>
            <a:endParaRPr lang="es-AR" sz="3400" dirty="0">
              <a:latin typeface="Permanent Marker"/>
            </a:endParaRPr>
          </a:p>
        </p:txBody>
      </p:sp>
      <p:sp>
        <p:nvSpPr>
          <p:cNvPr id="5"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218</a:t>
            </a:r>
            <a:endParaRPr lang="es-AR" sz="1000" dirty="0">
              <a:latin typeface="Fira Sans Condense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22" presetClass="entr" presetSubtype="1" fill="hold" grpId="0" nodeType="clickEffect">
                                  <p:stCondLst>
                                    <p:cond delay="0"/>
                                  </p:stCondLst>
                                  <p:childTnLst>
                                    <p:set>
                                      <p:cBhvr>
                                        <p:cTn id="4" dur="1" fill="hold">
                                          <p:stCondLst>
                                            <p:cond delay="0"/>
                                          </p:stCondLst>
                                        </p:cTn>
                                        <p:tgtEl>
                                          <p:spTgt spid="33"/>
                                        </p:tgtEl>
                                        <p:attrNameLst>
                                          <p:attrName>style.visibility</p:attrName>
                                        </p:attrNameLst>
                                      </p:cBhvr>
                                      <p:to>
                                        <p:strVal val="visible"/>
                                      </p:to>
                                    </p:set>
                                    <p:animEffect transition="in" filter="wipe(up)">
                                      <p:cBhvr>
                                        <p:cTn id="5" dur="600"/>
                                        <p:tgtEl>
                                          <p:spTgt spid="33"/>
                                        </p:tgtEl>
                                      </p:cBhvr>
                                    </p:animEffect>
                                  </p:childTnLst>
                                </p:cTn>
                              </p:par>
                            </p:childTnLst>
                          </p:cTn>
                        </p:par>
                      </p:childTnLst>
                    </p:cTn>
                  </p:par>
                  <p:par>
                    <p:cTn id="14" fill="hold">
                      <p:stCondLst>
                        <p:cond delay="indefinite"/>
                      </p:stCondLst>
                      <p:childTnLst>
                        <p:par>
                          <p:cTn id="13" fill="hold">
                            <p:stCondLst>
                              <p:cond delay="0"/>
                            </p:stCondLst>
                            <p:childTnLst>
                              <p:par>
                                <p:cTn id="8" presetID="53" presetClass="entr" presetSubtype="16" fill="hold" grpId="0" nodeType="clickEffect">
                                  <p:stCondLst>
                                    <p:cond delay="0"/>
                                  </p:stCondLst>
                                  <p:childTnLst>
                                    <p:set>
                                      <p:cBhvr>
                                        <p:cTn id="9" dur="1" fill="hold">
                                          <p:stCondLst>
                                            <p:cond delay="0"/>
                                          </p:stCondLst>
                                        </p:cTn>
                                        <p:tgtEl>
                                          <p:spTgt spid="31"/>
                                        </p:tgtEl>
                                        <p:attrNameLst>
                                          <p:attrName>style.visibility</p:attrName>
                                        </p:attrNameLst>
                                      </p:cBhvr>
                                      <p:to>
                                        <p:strVal val="visible"/>
                                      </p:to>
                                    </p:set>
                                    <p:anim calcmode="lin" valueType="num">
                                      <p:cBhvr>
                                        <p:cTn id="10" dur="500" fill="hold"/>
                                        <p:tgtEl>
                                          <p:spTgt spid="31"/>
                                        </p:tgtEl>
                                        <p:attrNameLst>
                                          <p:attrName>ppt_w</p:attrName>
                                        </p:attrNameLst>
                                      </p:cBhvr>
                                      <p:tavLst>
                                        <p:tav tm="0">
                                          <p:val>
                                            <p:fltVal val="0"/>
                                          </p:val>
                                        </p:tav>
                                        <p:tav tm="100000">
                                          <p:val>
                                            <p:strVal val="#ppt_w"/>
                                          </p:val>
                                        </p:tav>
                                      </p:tavLst>
                                    </p:anim>
                                    <p:anim calcmode="lin" valueType="num">
                                      <p:cBhvr>
                                        <p:cTn id="11" dur="500" fill="hold"/>
                                        <p:tgtEl>
                                          <p:spTgt spid="31"/>
                                        </p:tgtEl>
                                        <p:attrNameLst>
                                          <p:attrName>ppt_h</p:attrName>
                                        </p:attrNameLst>
                                      </p:cBhvr>
                                      <p:tavLst>
                                        <p:tav tm="0">
                                          <p:val>
                                            <p:fltVal val="0"/>
                                          </p:val>
                                        </p:tav>
                                        <p:tav tm="100000">
                                          <p:val>
                                            <p:strVal val="#ppt_h"/>
                                          </p:val>
                                        </p:tav>
                                      </p:tavLst>
                                    </p:anim>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pic>
        <p:nvPicPr>
          <p:cNvPr id="7" name="Riñón SM" descr="Ilustración biomédica (Servier Medical Art, CC BY)"/>
          <p:cNvPicPr>
            <a:picLocks noChangeAspect="1"/>
          </p:cNvPicPr>
          <p:nvPr/>
        </p:nvPicPr>
        <p:blipFill>
          <a:blip r:embed="rId2"/>
          <a:stretch>
            <a:fillRect/>
          </a:stretch>
        </p:blipFill>
        <p:spPr>
          <a:xfrm>
            <a:off x="457200" y="1097280"/>
            <a:ext cx="2136300" cy="3108960"/>
          </a:xfrm>
          <a:prstGeom prst="rect">
            <a:avLst/>
          </a:prstGeom>
        </p:spPr>
      </p:pic>
      <p:sp>
        <p:nvSpPr>
          <p:cNvPr id="8" name="Flecha o→r"/>
          <p:cNvSpPr/>
          <p:nvPr/>
        </p:nvSpPr>
        <p:spPr>
          <a:xfrm>
            <a:off x="5522976" y="1463040"/>
            <a:ext cx="292608" cy="9144"/>
          </a:xfrm>
          <a:custGeom>
            <a:avLst/>
            <a:gdLst/>
            <a:ahLst/>
            <a:cxnLst/>
            <a:rect l="0" t="0" r="r" b="b"/>
            <a:pathLst>
              <a:path w="320" h="10" fill="none">
                <a:moveTo>
                  <a:pt x="0" y="0"/>
                </a:moveTo>
                <a:lnTo>
                  <a:pt x="320" y="0"/>
                </a:lnTo>
              </a:path>
            </a:pathLst>
          </a:custGeom>
          <a:noFill/>
          <a:ln w="28575" cap="rnd">
            <a:solidFill>
              <a:srgbClr val="1E1E1E"/>
            </a:solidFill>
            <a:round/>
            <a:headEnd type="triangle" w="med" len="med"/>
            <a:tailEnd type="triangle" w="med" len="med"/>
          </a:ln>
        </p:spPr>
      </p:sp>
      <p:sp>
        <p:nvSpPr>
          <p:cNvPr id="9" name="Flecha r→h"/>
          <p:cNvSpPr/>
          <p:nvPr/>
        </p:nvSpPr>
        <p:spPr>
          <a:xfrm>
            <a:off x="8631936" y="1463040"/>
            <a:ext cx="292608" cy="9144"/>
          </a:xfrm>
          <a:custGeom>
            <a:avLst/>
            <a:gdLst/>
            <a:ahLst/>
            <a:cxnLst/>
            <a:rect l="0" t="0" r="r" b="b"/>
            <a:pathLst>
              <a:path w="320" h="10" fill="none">
                <a:moveTo>
                  <a:pt x="0" y="0"/>
                </a:moveTo>
                <a:lnTo>
                  <a:pt x="320" y="0"/>
                </a:lnTo>
              </a:path>
            </a:pathLst>
          </a:custGeom>
          <a:noFill/>
          <a:ln w="28575" cap="rnd">
            <a:solidFill>
              <a:srgbClr val="1E1E1E"/>
            </a:solidFill>
            <a:round/>
            <a:headEnd type="triangle" w="med" len="med"/>
            <a:tailEnd type="triangle" w="med" len="med"/>
          </a:ln>
        </p:spPr>
      </p:sp>
      <p:sp>
        <p:nvSpPr>
          <p:cNvPr id="10" name="Flecha n→e"/>
          <p:cNvSpPr/>
          <p:nvPr/>
        </p:nvSpPr>
        <p:spPr>
          <a:xfrm>
            <a:off x="8595360" y="2606040"/>
            <a:ext cx="320040" cy="228600"/>
          </a:xfrm>
          <a:custGeom>
            <a:avLst/>
            <a:gdLst/>
            <a:ahLst/>
            <a:cxnLst/>
            <a:rect l="0" t="0" r="r" b="b"/>
            <a:pathLst>
              <a:path w="349" h="250" fill="none">
                <a:moveTo>
                  <a:pt x="0" y="0"/>
                </a:moveTo>
                <a:lnTo>
                  <a:pt x="349" y="250"/>
                </a:lnTo>
              </a:path>
            </a:pathLst>
          </a:custGeom>
          <a:noFill/>
          <a:ln w="28575" cap="rnd">
            <a:solidFill>
              <a:srgbClr val="1E1E1E"/>
            </a:solidFill>
            <a:round/>
            <a:tailEnd type="triangle" w="med" len="med"/>
          </a:ln>
        </p:spPr>
      </p:sp>
      <p:sp>
        <p:nvSpPr>
          <p:cNvPr id="11" name="Flecha p→e"/>
          <p:cNvSpPr/>
          <p:nvPr/>
        </p:nvSpPr>
        <p:spPr>
          <a:xfrm>
            <a:off x="8586216" y="3383280"/>
            <a:ext cx="338328" cy="9144"/>
          </a:xfrm>
          <a:custGeom>
            <a:avLst/>
            <a:gdLst/>
            <a:ahLst/>
            <a:cxnLst/>
            <a:rect l="0" t="0" r="r" b="b"/>
            <a:pathLst>
              <a:path w="370" h="10" fill="none">
                <a:moveTo>
                  <a:pt x="0" y="0"/>
                </a:moveTo>
                <a:lnTo>
                  <a:pt x="370" y="0"/>
                </a:lnTo>
              </a:path>
            </a:pathLst>
          </a:custGeom>
          <a:noFill/>
          <a:ln w="28575" cap="rnd">
            <a:solidFill>
              <a:srgbClr val="1E1E1E"/>
            </a:solidFill>
            <a:round/>
            <a:tailEnd type="triangle" w="med" len="med"/>
          </a:ln>
        </p:spPr>
      </p:sp>
      <p:sp>
        <p:nvSpPr>
          <p:cNvPr id="12" name="Flecha g→e"/>
          <p:cNvSpPr/>
          <p:nvPr/>
        </p:nvSpPr>
        <p:spPr>
          <a:xfrm>
            <a:off x="8595360" y="3931920"/>
            <a:ext cx="320040" cy="228600"/>
          </a:xfrm>
          <a:custGeom>
            <a:avLst/>
            <a:gdLst/>
            <a:ahLst/>
            <a:cxnLst/>
            <a:rect l="0" t="0" r="r" b="b"/>
            <a:pathLst>
              <a:path w="349" h="250" fill="none">
                <a:moveTo>
                  <a:pt x="0" y="250"/>
                </a:moveTo>
                <a:lnTo>
                  <a:pt x="349" y="0"/>
                </a:lnTo>
              </a:path>
            </a:pathLst>
          </a:custGeom>
          <a:noFill/>
          <a:ln w="28575" cap="rnd">
            <a:solidFill>
              <a:srgbClr val="1E1E1E"/>
            </a:solidFill>
            <a:round/>
            <a:tailEnd type="triangle" w="med" len="med"/>
          </a:ln>
        </p:spPr>
      </p:sp>
      <p:sp>
        <p:nvSpPr>
          <p:cNvPr id="13" name="Nodo o"/>
          <p:cNvSpPr/>
          <p:nvPr/>
        </p:nvSpPr>
        <p:spPr>
          <a:xfrm>
            <a:off x="3108960" y="1188720"/>
            <a:ext cx="237744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OBESIDAD</a:t>
            </a:r>
            <a:endParaRPr lang="es-AR" sz="1500" dirty="0">
              <a:latin typeface="Fira Sans Condensed"/>
            </a:endParaRPr>
          </a:p>
        </p:txBody>
      </p:sp>
      <p:sp>
        <p:nvSpPr>
          <p:cNvPr id="14" name="Nodo r"/>
          <p:cNvSpPr/>
          <p:nvPr/>
        </p:nvSpPr>
        <p:spPr>
          <a:xfrm>
            <a:off x="5852160" y="1188720"/>
            <a:ext cx="2743200" cy="54864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50" b="1" dirty="0">
                <a:solidFill>
                  <a:srgbClr val="1E1E1E"/>
                </a:solidFill>
                <a:latin typeface="Fira Sans Condensed"/>
                <a:ea typeface="Fira Sans Condensed"/>
                <a:cs typeface="Fira Sans Condensed"/>
                <a:sym typeface="Fira Sans Condensed"/>
              </a:rPr>
              <a:t>Resistencia insulínica</a:t>
            </a:r>
            <a:endParaRPr lang="es-AR" sz="1350" dirty="0">
              <a:latin typeface="Fira Sans Condensed"/>
            </a:endParaRPr>
          </a:p>
        </p:txBody>
      </p:sp>
      <p:sp>
        <p:nvSpPr>
          <p:cNvPr id="15" name="Nodo h"/>
          <p:cNvSpPr/>
          <p:nvPr/>
        </p:nvSpPr>
        <p:spPr>
          <a:xfrm>
            <a:off x="8961120" y="1188720"/>
            <a:ext cx="2880360" cy="54864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HTA</a:t>
            </a:r>
            <a:endParaRPr lang="es-AR" sz="1500" dirty="0">
              <a:latin typeface="Fira Sans Condensed"/>
            </a:endParaRPr>
          </a:p>
        </p:txBody>
      </p:sp>
      <p:sp>
        <p:nvSpPr>
          <p:cNvPr id="16" name="Nodo n"/>
          <p:cNvSpPr/>
          <p:nvPr/>
        </p:nvSpPr>
        <p:spPr>
          <a:xfrm>
            <a:off x="3108960" y="2331720"/>
            <a:ext cx="544068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Hiperinsulinemia y adiposidad → retención renal de Na⁺</a:t>
            </a:r>
            <a:endParaRPr lang="es-AR" sz="1300" dirty="0">
              <a:latin typeface="Fira Sans Condensed"/>
            </a:endParaRPr>
          </a:p>
        </p:txBody>
      </p:sp>
      <p:sp>
        <p:nvSpPr>
          <p:cNvPr id="17" name="Nodo p"/>
          <p:cNvSpPr/>
          <p:nvPr/>
        </p:nvSpPr>
        <p:spPr>
          <a:xfrm>
            <a:off x="3108960" y="3108960"/>
            <a:ext cx="544068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Presión elevada lesiona nefronas y microvasos</a:t>
            </a:r>
            <a:endParaRPr lang="es-AR" sz="1300" dirty="0">
              <a:latin typeface="Fira Sans Condensed"/>
            </a:endParaRPr>
          </a:p>
        </p:txBody>
      </p:sp>
      <p:sp>
        <p:nvSpPr>
          <p:cNvPr id="18" name="Nodo g"/>
          <p:cNvSpPr/>
          <p:nvPr/>
        </p:nvSpPr>
        <p:spPr>
          <a:xfrm>
            <a:off x="3108960" y="3886200"/>
            <a:ext cx="5440680" cy="548640"/>
          </a:xfrm>
          <a:prstGeom prst="rect">
            <a:avLst/>
          </a:prstGeom>
          <a:solidFill>
            <a:srgbClr val="FFFFF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300" b="1" dirty="0">
                <a:solidFill>
                  <a:srgbClr val="1E1E1E"/>
                </a:solidFill>
                <a:latin typeface="Fira Sans Condensed"/>
                <a:ea typeface="Fira Sans Condensed"/>
                <a:cs typeface="Fira Sans Condensed"/>
                <a:sym typeface="Fira Sans Condensed"/>
              </a:rPr>
              <a:t>Hiperglucemia: hiperfiltración inicial → daño glomerular</a:t>
            </a:r>
            <a:endParaRPr lang="es-AR" sz="1300" dirty="0">
              <a:latin typeface="Fira Sans Condensed"/>
            </a:endParaRPr>
          </a:p>
        </p:txBody>
      </p:sp>
      <p:sp>
        <p:nvSpPr>
          <p:cNvPr id="19" name="Nodo e"/>
          <p:cNvSpPr/>
          <p:nvPr/>
        </p:nvSpPr>
        <p:spPr>
          <a:xfrm>
            <a:off x="8961120" y="2331720"/>
            <a:ext cx="2880360" cy="21031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600" b="1" dirty="0">
                <a:solidFill>
                  <a:srgbClr val="FFFFFF"/>
                </a:solidFill>
                <a:latin typeface="Fira Sans Condensed"/>
                <a:ea typeface="Fira Sans Condensed"/>
                <a:cs typeface="Fira Sans Condensed"/>
                <a:sym typeface="Fira Sans Condensed"/>
              </a:rPr>
              <a:t>Enfermedad renal</a:t>
            </a:r>
            <a:endParaRPr lang="es-AR" sz="1600" dirty="0">
              <a:latin typeface="Fira Sans Condensed"/>
            </a:endParaRPr>
          </a:p>
        </p:txBody>
      </p:sp>
      <p:sp>
        <p:nvSpPr>
          <p:cNvPr id="20" name="Perla clínica"/>
          <p:cNvSpPr/>
          <p:nvPr/>
        </p:nvSpPr>
        <p:spPr>
          <a:xfrm>
            <a:off x="365760" y="4846320"/>
            <a:ext cx="11475720" cy="14173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700" dirty="0">
                <a:solidFill>
                  <a:srgbClr val="FFFFFF"/>
                </a:solidFill>
                <a:latin typeface="Fira Sans Condensed"/>
                <a:ea typeface="Fira Sans Condensed"/>
                <a:cs typeface="Fira Sans Condensed"/>
                <a:sym typeface="Fira Sans Condensed"/>
              </a:rPr>
              <a:t>Medir </a:t>
            </a:r>
            <a:r>
              <a:rPr lang="es-AR" sz="1700" b="1" dirty="0">
                <a:solidFill>
                  <a:srgbClr val="FFFFFF"/>
                </a:solidFill>
                <a:latin typeface="Fira Sans Condensed"/>
                <a:ea typeface="Fira Sans Condensed"/>
                <a:cs typeface="Fira Sans Condensed"/>
                <a:sym typeface="Fira Sans Condensed"/>
              </a:rPr>
              <a:t>albuminuria y TFG</a:t>
            </a:r>
            <a:r>
              <a:rPr lang="es-AR" sz="1700" dirty="0">
                <a:solidFill>
                  <a:srgbClr val="FFFFFF"/>
                </a:solidFill>
                <a:latin typeface="Fira Sans Condensed"/>
                <a:ea typeface="Fira Sans Condensed"/>
                <a:cs typeface="Fira Sans Condensed"/>
                <a:sym typeface="Fira Sans Condensed"/>
              </a:rPr>
              <a:t> aporta mucho más que la creatinina aislada.</a:t>
            </a:r>
            <a:endParaRPr lang="es-AR" sz="1700" dirty="0">
              <a:latin typeface="Fira Sans Condensed"/>
            </a:endParaRPr>
          </a:p>
        </p:txBody>
      </p:sp>
      <p:sp>
        <p:nvSpPr>
          <p:cNvPr id="5" name="Título"/>
          <p:cNvSpPr txBox="1"/>
          <p:nvPr/>
        </p:nvSpPr>
        <p:spPr>
          <a:xfrm>
            <a:off x="320040" y="91440"/>
            <a:ext cx="11551615" cy="57200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800" dirty="0">
                <a:solidFill>
                  <a:srgbClr val="1E1E1E"/>
                </a:solidFill>
                <a:effectLst>
                  <a:glow rad="101600">
                    <a:srgbClr val="FFFFFF">
                      <a:alpha val="70000"/>
                    </a:srgbClr>
                  </a:glow>
                </a:effectLst>
                <a:latin typeface="Permanent Marker"/>
                <a:ea typeface="Permanent Marker"/>
                <a:cs typeface="Permanent Marker"/>
                <a:sym typeface="Permanent Marker"/>
              </a:rPr>
              <a:t>EL RIÑÓN UNE OBESIDAD, RESISTENCIA INSULÍNICA E HTA</a:t>
            </a:r>
            <a:endParaRPr lang="es-AR" sz="28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2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219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childTnLst>
                          </p:cTn>
                        </p:par>
                        <p:par>
                          <p:cTn id="10" fill="hold">
                            <p:stCondLst>
                              <p:cond delay="400"/>
                            </p:stCondLst>
                            <p:childTnLst>
                              <p:par>
                                <p:cTn id="7" presetID="22" presetClass="entr" presetSubtype="8"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500"/>
                                        <p:tgtEl>
                                          <p:spTgt spid="8"/>
                                        </p:tgtEl>
                                      </p:cBhvr>
                                    </p:animEffect>
                                  </p:childTnLst>
                                </p:cTn>
                              </p:par>
                            </p:childTnLst>
                          </p:cTn>
                        </p:par>
                        <p:par>
                          <p:cTn id="14"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childTnLst>
                          </p:cTn>
                        </p:par>
                        <p:par>
                          <p:cTn id="18" fill="hold">
                            <p:stCondLst>
                              <p:cond delay="1300"/>
                            </p:stCondLst>
                            <p:childTnLst>
                              <p:par>
                                <p:cTn id="15" presetID="2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22" fill="hold">
                            <p:stCondLst>
                              <p:cond delay="18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00"/>
                                        <p:tgtEl>
                                          <p:spTgt spid="15"/>
                                        </p:tgtEl>
                                      </p:cBhvr>
                                    </p:animEffect>
                                  </p:childTnLst>
                                </p:cTn>
                              </p:par>
                            </p:childTnLst>
                          </p:cTn>
                        </p:par>
                      </p:childTnLst>
                    </p:cTn>
                  </p:par>
                  <p:par>
                    <p:cTn id="36" fill="hold">
                      <p:stCondLst>
                        <p:cond delay="indefinite"/>
                      </p:stCondLst>
                      <p:childTnLst>
                        <p:par>
                          <p:cTn id="27"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childTnLst>
                          </p:cTn>
                        </p:par>
                        <p:par>
                          <p:cTn id="31" fill="hold">
                            <p:stCondLst>
                              <p:cond delay="400"/>
                            </p:stCondLst>
                            <p:childTnLst>
                              <p:par>
                                <p:cTn id="28" presetID="10" presetClass="entr" presetSubtype="0"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childTnLst>
                          </p:cTn>
                        </p:par>
                        <p:par>
                          <p:cTn id="35" fill="hold">
                            <p:stCondLst>
                              <p:cond delay="800"/>
                            </p:stCondLst>
                            <p:childTnLst>
                              <p:par>
                                <p:cTn id="32" presetID="10"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childTnLst>
                          </p:cTn>
                        </p:par>
                      </p:childTnLst>
                    </p:cTn>
                  </p:par>
                  <p:par>
                    <p:cTn id="53" fill="hold">
                      <p:stCondLst>
                        <p:cond delay="indefinite"/>
                      </p:stCondLst>
                      <p:childTnLst>
                        <p:par>
                          <p:cTn id="40"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par>
                          <p:cTn id="44"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par>
                          <p:cTn id="48"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par>
                          <p:cTn id="52" fill="hold">
                            <p:stCondLst>
                              <p:cond delay="15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childTnLst>
                          </p:cTn>
                        </p:par>
                      </p:childTnLst>
                    </p:cTn>
                  </p:par>
                  <p:par>
                    <p:cTn id="60" fill="hold">
                      <p:stCondLst>
                        <p:cond delay="indefinite"/>
                      </p:stCondLst>
                      <p:childTnLst>
                        <p:par>
                          <p:cTn id="59"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fltVal val="0"/>
                                          </p:val>
                                        </p:tav>
                                        <p:tav tm="100000">
                                          <p:val>
                                            <p:strVal val="#ppt_h"/>
                                          </p:val>
                                        </p:tav>
                                      </p:tavLst>
                                    </p:anim>
                                    <p:animEffect transition="in" filter="fade">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animBg="1"/>
      <p:bldP spid="14" grpId="0" animBg="1"/>
      <p:bldP spid="9" grpId="0" animBg="1"/>
      <p:bldP spid="15" grpId="0" animBg="1"/>
      <p:bldP spid="16" grpId="0" animBg="1"/>
      <p:bldP spid="17" grpId="0" animBg="1"/>
      <p:bldP spid="18" grpId="0" animBg="1"/>
      <p:bldP spid="10" grpId="0" animBg="1"/>
      <p:bldP spid="11" grpId="0" animBg="1"/>
      <p:bldP spid="12" grpId="0" animBg="1"/>
      <p:bldP spid="19" grpId="0" animBg="1"/>
      <p:bldP spid="20" grpId="0" animBg="1"/>
    </p:bldLst>
  </p:timing>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Int 0"/>
          <p:cNvGrpSpPr/>
          <p:nvPr/>
        </p:nvGrpSpPr>
        <p:grpSpPr>
          <a:xfrm>
            <a:off x="365760" y="1097280"/>
            <a:ext cx="3657600" cy="1783080"/>
            <a:chOff x="365760" y="1097280"/>
            <a:chExt cx="3657600" cy="1783080"/>
          </a:xfrm>
        </p:grpSpPr>
        <p:sp>
          <p:nvSpPr>
            <p:cNvPr id="8" name="Forma 7"/>
            <p:cNvSpPr/>
            <p:nvPr/>
          </p:nvSpPr>
          <p:spPr>
            <a:xfrm>
              <a:off x="365760" y="1097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9" name="Imagen runner" descr="Ilustración biomédica (Servier Medical Art, CC BY)"/>
            <p:cNvPicPr>
              <a:picLocks noChangeAspect="1"/>
            </p:cNvPicPr>
            <p:nvPr/>
          </p:nvPicPr>
          <p:blipFill>
            <a:blip r:embed="rId2"/>
            <a:stretch>
              <a:fillRect/>
            </a:stretch>
          </p:blipFill>
          <p:spPr>
            <a:xfrm>
              <a:off x="756731" y="1234440"/>
              <a:ext cx="681097" cy="1508760"/>
            </a:xfrm>
            <a:prstGeom prst="rect">
              <a:avLst/>
            </a:prstGeom>
          </p:spPr>
        </p:pic>
        <p:sp>
          <p:nvSpPr>
            <p:cNvPr id="10" name="Forma 9"/>
            <p:cNvSpPr txBox="1"/>
            <p:nvPr/>
          </p:nvSpPr>
          <p:spPr>
            <a:xfrm>
              <a:off x="1828800" y="118872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Pérdida de adiposidad y actividad física</a:t>
              </a:r>
              <a:endParaRPr lang="es-AR" sz="1500" dirty="0">
                <a:latin typeface="Fira Sans Condensed"/>
              </a:endParaRPr>
            </a:p>
          </p:txBody>
        </p:sp>
      </p:grpSp>
      <p:grpSp>
        <p:nvGrpSpPr>
          <p:cNvPr id="11" name="Int 1"/>
          <p:cNvGrpSpPr/>
          <p:nvPr/>
        </p:nvGrpSpPr>
        <p:grpSpPr>
          <a:xfrm>
            <a:off x="4206240" y="1097280"/>
            <a:ext cx="3657600" cy="1783080"/>
            <a:chOff x="4206240" y="1097280"/>
            <a:chExt cx="3657600" cy="1783080"/>
          </a:xfrm>
        </p:grpSpPr>
        <p:sp>
          <p:nvSpPr>
            <p:cNvPr id="12" name="Forma 11"/>
            <p:cNvSpPr/>
            <p:nvPr/>
          </p:nvSpPr>
          <p:spPr>
            <a:xfrm>
              <a:off x="4206240" y="1097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13" name="Imagen healthy-lung" descr="Ilustración biomédica (Servier Medical Art, CC BY)"/>
            <p:cNvPicPr>
              <a:picLocks noChangeAspect="1"/>
            </p:cNvPicPr>
            <p:nvPr/>
          </p:nvPicPr>
          <p:blipFill>
            <a:blip r:embed="rId3"/>
            <a:stretch>
              <a:fillRect/>
            </a:stretch>
          </p:blipFill>
          <p:spPr>
            <a:xfrm>
              <a:off x="4297680" y="1256702"/>
              <a:ext cx="1280160" cy="1464235"/>
            </a:xfrm>
            <a:prstGeom prst="rect">
              <a:avLst/>
            </a:prstGeom>
          </p:spPr>
        </p:pic>
        <p:sp>
          <p:nvSpPr>
            <p:cNvPr id="14" name="Forma 13"/>
            <p:cNvSpPr txBox="1"/>
            <p:nvPr/>
          </p:nvSpPr>
          <p:spPr>
            <a:xfrm>
              <a:off x="5669280" y="118872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Sueño y manejo de AOS</a:t>
              </a:r>
              <a:endParaRPr lang="es-AR" sz="1500" dirty="0">
                <a:latin typeface="Fira Sans Condensed"/>
              </a:endParaRPr>
            </a:p>
          </p:txBody>
        </p:sp>
      </p:grpSp>
      <p:grpSp>
        <p:nvGrpSpPr>
          <p:cNvPr id="15" name="Int 2"/>
          <p:cNvGrpSpPr/>
          <p:nvPr/>
        </p:nvGrpSpPr>
        <p:grpSpPr>
          <a:xfrm>
            <a:off x="8046720" y="1097280"/>
            <a:ext cx="3657600" cy="1783080"/>
            <a:chOff x="8046720" y="1097280"/>
            <a:chExt cx="3657600" cy="1783080"/>
          </a:xfrm>
        </p:grpSpPr>
        <p:sp>
          <p:nvSpPr>
            <p:cNvPr id="16" name="Forma 15"/>
            <p:cNvSpPr/>
            <p:nvPr/>
          </p:nvSpPr>
          <p:spPr>
            <a:xfrm>
              <a:off x="8046720" y="109728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17" name="Imagen heart-front" descr="Ilustración biomédica (Servier Medical Art, CC BY)"/>
            <p:cNvPicPr>
              <a:picLocks noChangeAspect="1"/>
            </p:cNvPicPr>
            <p:nvPr/>
          </p:nvPicPr>
          <p:blipFill>
            <a:blip r:embed="rId4"/>
            <a:stretch>
              <a:fillRect/>
            </a:stretch>
          </p:blipFill>
          <p:spPr>
            <a:xfrm>
              <a:off x="8245324" y="1234440"/>
              <a:ext cx="1065831" cy="1508760"/>
            </a:xfrm>
            <a:prstGeom prst="rect">
              <a:avLst/>
            </a:prstGeom>
          </p:spPr>
        </p:pic>
        <p:sp>
          <p:nvSpPr>
            <p:cNvPr id="18" name="Forma 17"/>
            <p:cNvSpPr txBox="1"/>
            <p:nvPr/>
          </p:nvSpPr>
          <p:spPr>
            <a:xfrm>
              <a:off x="9509760" y="118872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Suspender el tabaco</a:t>
              </a:r>
              <a:endParaRPr lang="es-AR" sz="1500" dirty="0">
                <a:latin typeface="Fira Sans Condensed"/>
              </a:endParaRPr>
            </a:p>
          </p:txBody>
        </p:sp>
      </p:grpSp>
      <p:grpSp>
        <p:nvGrpSpPr>
          <p:cNvPr id="19" name="Int 3"/>
          <p:cNvGrpSpPr/>
          <p:nvPr/>
        </p:nvGrpSpPr>
        <p:grpSpPr>
          <a:xfrm>
            <a:off x="365760" y="3063240"/>
            <a:ext cx="3657600" cy="1783080"/>
            <a:chOff x="365760" y="3063240"/>
            <a:chExt cx="3657600" cy="1783080"/>
          </a:xfrm>
        </p:grpSpPr>
        <p:sp>
          <p:nvSpPr>
            <p:cNvPr id="20" name="Forma 19"/>
            <p:cNvSpPr/>
            <p:nvPr/>
          </p:nvSpPr>
          <p:spPr>
            <a:xfrm>
              <a:off x="365760" y="306324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21" name="Imagen small-intestine" descr="Ilustración biomédica (Servier Medical Art, CC BY)"/>
            <p:cNvPicPr>
              <a:picLocks noChangeAspect="1"/>
            </p:cNvPicPr>
            <p:nvPr/>
          </p:nvPicPr>
          <p:blipFill>
            <a:blip r:embed="rId5"/>
            <a:stretch>
              <a:fillRect/>
            </a:stretch>
          </p:blipFill>
          <p:spPr>
            <a:xfrm>
              <a:off x="457200" y="3319272"/>
              <a:ext cx="1280160" cy="1271016"/>
            </a:xfrm>
            <a:prstGeom prst="rect">
              <a:avLst/>
            </a:prstGeom>
          </p:spPr>
        </p:pic>
        <p:sp>
          <p:nvSpPr>
            <p:cNvPr id="22" name="Forma 21"/>
            <p:cNvSpPr txBox="1"/>
            <p:nvPr/>
          </p:nvSpPr>
          <p:spPr>
            <a:xfrm>
              <a:off x="1828800" y="315468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Nutrición suficiente y de calidad</a:t>
              </a:r>
              <a:endParaRPr lang="es-AR" sz="1500" dirty="0">
                <a:latin typeface="Fira Sans Condensed"/>
              </a:endParaRPr>
            </a:p>
          </p:txBody>
        </p:sp>
      </p:grpSp>
      <p:grpSp>
        <p:nvGrpSpPr>
          <p:cNvPr id="23" name="Int 4"/>
          <p:cNvGrpSpPr/>
          <p:nvPr/>
        </p:nvGrpSpPr>
        <p:grpSpPr>
          <a:xfrm>
            <a:off x="4206240" y="3063240"/>
            <a:ext cx="3657600" cy="1783080"/>
            <a:chOff x="4206240" y="3063240"/>
            <a:chExt cx="3657600" cy="1783080"/>
          </a:xfrm>
        </p:grpSpPr>
        <p:sp>
          <p:nvSpPr>
            <p:cNvPr id="24" name="Forma 23"/>
            <p:cNvSpPr/>
            <p:nvPr/>
          </p:nvSpPr>
          <p:spPr>
            <a:xfrm>
              <a:off x="4206240" y="306324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25" name="Imagen kidney-2" descr="Ilustración biomédica (Servier Medical Art, CC BY)"/>
            <p:cNvPicPr>
              <a:picLocks noChangeAspect="1"/>
            </p:cNvPicPr>
            <p:nvPr/>
          </p:nvPicPr>
          <p:blipFill>
            <a:blip r:embed="rId6"/>
            <a:stretch>
              <a:fillRect/>
            </a:stretch>
          </p:blipFill>
          <p:spPr>
            <a:xfrm>
              <a:off x="4419393" y="3200400"/>
              <a:ext cx="1036734" cy="1508760"/>
            </a:xfrm>
            <a:prstGeom prst="rect">
              <a:avLst/>
            </a:prstGeom>
          </p:spPr>
        </p:pic>
        <p:sp>
          <p:nvSpPr>
            <p:cNvPr id="26" name="Forma 25"/>
            <p:cNvSpPr txBox="1"/>
            <p:nvPr/>
          </p:nvSpPr>
          <p:spPr>
            <a:xfrm>
              <a:off x="5669280" y="315468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Tratar HTA · buscar albuminuria</a:t>
              </a:r>
              <a:endParaRPr lang="es-AR" sz="1500" dirty="0">
                <a:latin typeface="Fira Sans Condensed"/>
              </a:endParaRPr>
            </a:p>
          </p:txBody>
        </p:sp>
      </p:grpSp>
      <p:grpSp>
        <p:nvGrpSpPr>
          <p:cNvPr id="27" name="Int 5"/>
          <p:cNvGrpSpPr/>
          <p:nvPr/>
        </p:nvGrpSpPr>
        <p:grpSpPr>
          <a:xfrm>
            <a:off x="8046720" y="3063240"/>
            <a:ext cx="3657600" cy="1783080"/>
            <a:chOff x="8046720" y="3063240"/>
            <a:chExt cx="3657600" cy="1783080"/>
          </a:xfrm>
        </p:grpSpPr>
        <p:sp>
          <p:nvSpPr>
            <p:cNvPr id="28" name="Forma 27"/>
            <p:cNvSpPr/>
            <p:nvPr/>
          </p:nvSpPr>
          <p:spPr>
            <a:xfrm>
              <a:off x="8046720" y="3063240"/>
              <a:ext cx="3657600" cy="17830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pic>
          <p:nvPicPr>
            <p:cNvPr id="29" name="Imagen ldl-1" descr="Ilustración biomédica (Servier Medical Art, CC BY)"/>
            <p:cNvPicPr>
              <a:picLocks noChangeAspect="1"/>
            </p:cNvPicPr>
            <p:nvPr/>
          </p:nvPicPr>
          <p:blipFill>
            <a:blip r:embed="rId7"/>
            <a:stretch>
              <a:fillRect/>
            </a:stretch>
          </p:blipFill>
          <p:spPr>
            <a:xfrm>
              <a:off x="8138160" y="3389224"/>
              <a:ext cx="1280160" cy="1131113"/>
            </a:xfrm>
            <a:prstGeom prst="rect">
              <a:avLst/>
            </a:prstGeom>
          </p:spPr>
        </p:pic>
        <p:sp>
          <p:nvSpPr>
            <p:cNvPr id="30" name="Forma 29"/>
            <p:cNvSpPr txBox="1"/>
            <p:nvPr/>
          </p:nvSpPr>
          <p:spPr>
            <a:xfrm>
              <a:off x="9509760" y="3154680"/>
              <a:ext cx="2103120" cy="1600200"/>
            </a:xfrm>
            <a:prstGeom prst="rect">
              <a:avLst/>
            </a:prstGeom>
            <a:noFill/>
            <a:ln>
              <a:noFill/>
            </a:ln>
          </p:spPr>
          <p:txBody>
            <a:bodyPr wrap="square" lIns="0" tIns="0" rIns="0" bIns="0" anchor="ctr" rtlCol="0">
              <a:noAutofit/>
            </a:bodyPr>
            <a:lstStyle/>
            <a:p>
              <a:pPr algn="l">
                <a:spcAft>
                  <a:spcPts val="300"/>
                </a:spcAft>
                <a:buNone/>
              </a:pPr>
              <a:r>
                <a:rPr lang="es-AR" sz="1500" b="1" dirty="0">
                  <a:solidFill>
                    <a:srgbClr val="C00000"/>
                  </a:solidFill>
                  <a:latin typeface="Fira Sans Condensed"/>
                  <a:ea typeface="Fira Sans Condensed"/>
                  <a:cs typeface="Fira Sans Condensed"/>
                  <a:sym typeface="Fira Sans Condensed"/>
                </a:rPr>
                <a:t>Lípidos y glucemia con objetivos individualizados</a:t>
              </a:r>
              <a:endParaRPr lang="es-AR" sz="1500" dirty="0">
                <a:latin typeface="Fira Sans Condensed"/>
              </a:endParaRPr>
            </a:p>
          </p:txBody>
        </p:sp>
      </p:grpSp>
      <p:sp>
        <p:nvSpPr>
          <p:cNvPr id="31" name="Perla clínica"/>
          <p:cNvSpPr/>
          <p:nvPr/>
        </p:nvSpPr>
        <p:spPr>
          <a:xfrm>
            <a:off x="365760" y="5120640"/>
            <a:ext cx="11475720" cy="114300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500" dirty="0">
                <a:solidFill>
                  <a:srgbClr val="FFFFFF"/>
                </a:solidFill>
                <a:latin typeface="Fira Sans Condensed"/>
                <a:ea typeface="Fira Sans Condensed"/>
                <a:cs typeface="Fira Sans Condensed"/>
                <a:sym typeface="Fira Sans Condensed"/>
              </a:rPr>
              <a:t>No existe una </a:t>
            </a:r>
            <a:r>
              <a:rPr lang="es-AR" sz="1500" b="1" dirty="0">
                <a:solidFill>
                  <a:srgbClr val="FFFFFF"/>
                </a:solidFill>
                <a:latin typeface="Fira Sans Condensed"/>
                <a:ea typeface="Fira Sans Condensed"/>
                <a:cs typeface="Fira Sans Condensed"/>
                <a:sym typeface="Fira Sans Condensed"/>
              </a:rPr>
              <a:t>«pastilla del síndrome metabólico»</a:t>
            </a:r>
            <a:r>
              <a:rPr lang="es-AR" sz="1500" dirty="0">
                <a:solidFill>
                  <a:srgbClr val="FFFFFF"/>
                </a:solidFill>
                <a:latin typeface="Fira Sans Condensed"/>
                <a:ea typeface="Fira Sans Condensed"/>
                <a:cs typeface="Fira Sans Condensed"/>
                <a:sym typeface="Fira Sans Condensed"/>
              </a:rPr>
              <a:t>: cada factor se trata de forma sostenida. Las propuestas farmacológicas de 2009 se contrastan con guías y regulaciones </a:t>
            </a:r>
            <a:r>
              <a:rPr lang="es-AR" sz="1500" b="1" dirty="0">
                <a:solidFill>
                  <a:srgbClr val="FFFFFF"/>
                </a:solidFill>
                <a:latin typeface="Fira Sans Condensed"/>
                <a:ea typeface="Fira Sans Condensed"/>
                <a:cs typeface="Fira Sans Condensed"/>
                <a:sym typeface="Fira Sans Condensed"/>
              </a:rPr>
              <a:t>vigentes</a:t>
            </a:r>
            <a:r>
              <a:rPr lang="es-AR" sz="1500" dirty="0">
                <a:solidFill>
                  <a:srgbClr val="FFFFFF"/>
                </a:solidFill>
                <a:latin typeface="Fira Sans Condensed"/>
                <a:ea typeface="Fira Sans Condensed"/>
                <a:cs typeface="Fira Sans Condensed"/>
                <a:sym typeface="Fira Sans Condensed"/>
              </a:rPr>
              <a:t>.</a:t>
            </a:r>
            <a:endParaRPr lang="es-AR" sz="1500" dirty="0">
              <a:latin typeface="Fira Sans Condensed"/>
            </a:endParaRPr>
          </a:p>
        </p:txBody>
      </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INTERVENCIONES INTEGRADAS EN EL SÍNDROME METABÓLICO</a:t>
            </a:r>
            <a:endParaRPr lang="es-AR" sz="2600" dirty="0">
              <a:latin typeface="Permanent Marker"/>
            </a:endParaRPr>
          </a:p>
        </p:txBody>
      </p:sp>
      <p:sp>
        <p:nvSpPr>
          <p:cNvPr id="6" name="Etiqueta sección"/>
          <p:cNvSpPr/>
          <p:nvPr/>
        </p:nvSpPr>
        <p:spPr>
          <a:xfrm>
            <a:off x="164592" y="6510528"/>
            <a:ext cx="2161492"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IX · SÍNDROME METABÓLICO</a:t>
            </a:r>
            <a:endParaRPr lang="es-AR" sz="950" dirty="0">
              <a:latin typeface="Fira Sans Condensed"/>
            </a:endParaRPr>
          </a:p>
        </p:txBody>
      </p:sp>
      <p:sp>
        <p:nvSpPr>
          <p:cNvPr id="3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3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00"/>
                                        <p:tgtEl>
                                          <p:spTgt spid="11"/>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00"/>
                                        <p:tgtEl>
                                          <p:spTgt spid="15"/>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300"/>
                                        <p:tgtEl>
                                          <p:spTgt spid="19"/>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300"/>
                                        <p:tgtEl>
                                          <p:spTgt spid="23"/>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300"/>
                                        <p:tgtEl>
                                          <p:spTgt spid="27"/>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X</a:t>
            </a:r>
            <a:endParaRPr lang="es-AR" sz="2000" dirty="0">
              <a:latin typeface="Fira Sans Condensed"/>
            </a:endParaRPr>
          </a:p>
        </p:txBody>
      </p:sp>
      <p:sp>
        <p:nvSpPr>
          <p:cNvPr id="6" name="Título unidad"/>
          <p:cNvSpPr txBox="1"/>
          <p:nvPr/>
        </p:nvSpPr>
        <p:spPr>
          <a:xfrm>
            <a:off x="2468880" y="960120"/>
            <a:ext cx="7223760" cy="9187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4900" dirty="0">
                <a:solidFill>
                  <a:srgbClr val="1E1E1E"/>
                </a:solidFill>
                <a:effectLst>
                  <a:glow rad="101600">
                    <a:srgbClr val="FFFFFF">
                      <a:alpha val="70000"/>
                    </a:srgbClr>
                  </a:glow>
                </a:effectLst>
                <a:latin typeface="Permanent Marker"/>
                <a:ea typeface="Permanent Marker"/>
                <a:cs typeface="Permanent Marker"/>
                <a:sym typeface="Permanent Marker"/>
              </a:rPr>
              <a:t>PRÁCTICA APLICADA</a:t>
            </a:r>
            <a:endParaRPr lang="es-AR" sz="49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750" b="1" dirty="0">
                <a:solidFill>
                  <a:srgbClr val="1E1E1E"/>
                </a:solidFill>
                <a:latin typeface="Fira Sans Condensed"/>
                <a:ea typeface="Fira Sans Condensed"/>
                <a:cs typeface="Fira Sans Condensed"/>
                <a:sym typeface="Fira Sans Condensed"/>
              </a:rPr>
              <a:t>Datos → interpretación → fórmula → cálculo → resultado → significado</a:t>
            </a:r>
            <a:endParaRPr lang="es-AR" sz="1750" dirty="0">
              <a:latin typeface="Fira Sans Condensed"/>
            </a:endParaRPr>
          </a:p>
        </p:txBody>
      </p:sp>
      <p:sp>
        <p:nvSpPr>
          <p:cNvPr id="8" name="Tema 1"/>
          <p:cNvSpPr/>
          <p:nvPr/>
        </p:nvSpPr>
        <p:spPr>
          <a:xfrm>
            <a:off x="260604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1–2: diagnóstico y HbA1c</a:t>
            </a:r>
            <a:endParaRPr lang="es-AR" sz="1400" dirty="0">
              <a:latin typeface="Fira Sans Condensed"/>
            </a:endParaRPr>
          </a:p>
        </p:txBody>
      </p:sp>
      <p:sp>
        <p:nvSpPr>
          <p:cNvPr id="9" name="Tema 2"/>
          <p:cNvSpPr/>
          <p:nvPr/>
        </p:nvSpPr>
        <p:spPr>
          <a:xfrm>
            <a:off x="260604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3–5: gases y anion gap</a:t>
            </a:r>
            <a:endParaRPr lang="es-AR" sz="1400" dirty="0">
              <a:latin typeface="Fira Sans Condensed"/>
            </a:endParaRPr>
          </a:p>
        </p:txBody>
      </p:sp>
      <p:sp>
        <p:nvSpPr>
          <p:cNvPr id="10" name="Tema 3"/>
          <p:cNvSpPr/>
          <p:nvPr/>
        </p:nvSpPr>
        <p:spPr>
          <a:xfrm>
            <a:off x="260604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6: osmolalidad</a:t>
            </a:r>
            <a:endParaRPr lang="es-AR" sz="1400" dirty="0">
              <a:latin typeface="Fira Sans Condensed"/>
            </a:endParaRPr>
          </a:p>
        </p:txBody>
      </p:sp>
      <p:sp>
        <p:nvSpPr>
          <p:cNvPr id="11" name="Tema 4"/>
          <p:cNvSpPr/>
          <p:nvPr/>
        </p:nvSpPr>
        <p:spPr>
          <a:xfrm>
            <a:off x="2606040" y="5221224"/>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7–9: K⁺, cetonas, EHH</a:t>
            </a:r>
            <a:endParaRPr lang="es-AR" sz="1400" dirty="0">
              <a:latin typeface="Fira Sans Condensed"/>
            </a:endParaRPr>
          </a:p>
        </p:txBody>
      </p:sp>
      <p:sp>
        <p:nvSpPr>
          <p:cNvPr id="12" name="Tema 5"/>
          <p:cNvSpPr/>
          <p:nvPr/>
        </p:nvSpPr>
        <p:spPr>
          <a:xfrm>
            <a:off x="6172200" y="3520440"/>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10–11: IMC, GET y SM</a:t>
            </a:r>
            <a:endParaRPr lang="es-AR" sz="1400" dirty="0">
              <a:latin typeface="Fira Sans Condensed"/>
            </a:endParaRPr>
          </a:p>
        </p:txBody>
      </p:sp>
      <p:sp>
        <p:nvSpPr>
          <p:cNvPr id="13" name="Tema 6"/>
          <p:cNvSpPr/>
          <p:nvPr/>
        </p:nvSpPr>
        <p:spPr>
          <a:xfrm>
            <a:off x="6172200" y="4087368"/>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Ej. 12: fármaco tras la crisis</a:t>
            </a:r>
            <a:endParaRPr lang="es-AR" sz="1400" dirty="0">
              <a:latin typeface="Fira Sans Condensed"/>
            </a:endParaRPr>
          </a:p>
        </p:txBody>
      </p:sp>
      <p:sp>
        <p:nvSpPr>
          <p:cNvPr id="14" name="Tema 7"/>
          <p:cNvSpPr/>
          <p:nvPr/>
        </p:nvSpPr>
        <p:spPr>
          <a:xfrm>
            <a:off x="6172200" y="4654296"/>
            <a:ext cx="338328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Preguntas de opción múltiple</a:t>
            </a:r>
            <a:endParaRPr lang="es-AR" sz="1400" dirty="0">
              <a:latin typeface="Fira Sans Condensed"/>
            </a:endParaRPr>
          </a:p>
        </p:txBody>
      </p:sp>
      <p:grpSp>
        <p:nvGrpSpPr>
          <p:cNvPr id="15" name="Glc"/>
          <p:cNvGrpSpPr/>
          <p:nvPr/>
        </p:nvGrpSpPr>
        <p:grpSpPr>
          <a:xfrm>
            <a:off x="10002517" y="677088"/>
            <a:ext cx="1752908" cy="1402702"/>
            <a:chOff x="10002517" y="677088"/>
            <a:chExt cx="1752908" cy="1402702"/>
          </a:xfrm>
        </p:grpSpPr>
        <p:sp>
          <p:nvSpPr>
            <p:cNvPr id="16" name="Átomo H"/>
            <p:cNvSpPr/>
            <p:nvPr/>
          </p:nvSpPr>
          <p:spPr>
            <a:xfrm>
              <a:off x="11156620" y="1375973"/>
              <a:ext cx="117073" cy="11707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7" name="Átomo H_2"/>
            <p:cNvSpPr/>
            <p:nvPr/>
          </p:nvSpPr>
          <p:spPr>
            <a:xfrm>
              <a:off x="11336887" y="840067"/>
              <a:ext cx="117755" cy="11775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8" name="Flecha 17_2"/>
            <p:cNvSpPr/>
            <p:nvPr/>
          </p:nvSpPr>
          <p:spPr>
            <a:xfrm>
              <a:off x="11395765" y="898945"/>
              <a:ext cx="168368" cy="93498"/>
            </a:xfrm>
            <a:custGeom>
              <a:avLst/>
              <a:gdLst/>
              <a:ahLst/>
              <a:cxnLst/>
              <a:rect l="0" t="0" r="r" b="b"/>
              <a:pathLst>
                <a:path w="184" h="102" fill="none">
                  <a:moveTo>
                    <a:pt x="184" y="102"/>
                  </a:moveTo>
                  <a:lnTo>
                    <a:pt x="0" y="0"/>
                  </a:lnTo>
                </a:path>
              </a:pathLst>
            </a:custGeom>
            <a:noFill/>
            <a:ln w="29892" cap="rnd">
              <a:solidFill>
                <a:srgbClr val="9A9A9A"/>
              </a:solidFill>
              <a:round/>
            </a:ln>
          </p:spPr>
        </p:sp>
        <p:sp>
          <p:nvSpPr>
            <p:cNvPr id="19" name="Flecha 19_2"/>
            <p:cNvSpPr/>
            <p:nvPr/>
          </p:nvSpPr>
          <p:spPr>
            <a:xfrm>
              <a:off x="11215157" y="1434510"/>
              <a:ext cx="57063" cy="48753"/>
            </a:xfrm>
            <a:custGeom>
              <a:avLst/>
              <a:gdLst/>
              <a:ahLst/>
              <a:cxnLst/>
              <a:rect l="0" t="0" r="r" b="b"/>
              <a:pathLst>
                <a:path w="62" h="53" fill="none">
                  <a:moveTo>
                    <a:pt x="62" y="53"/>
                  </a:moveTo>
                  <a:lnTo>
                    <a:pt x="0" y="0"/>
                  </a:lnTo>
                </a:path>
              </a:pathLst>
            </a:custGeom>
            <a:noFill/>
            <a:ln w="29892" cap="rnd">
              <a:solidFill>
                <a:srgbClr val="9A9A9A"/>
              </a:solidFill>
              <a:round/>
            </a:ln>
          </p:spPr>
        </p:sp>
        <p:sp>
          <p:nvSpPr>
            <p:cNvPr id="20" name="Átomo H_3"/>
            <p:cNvSpPr/>
            <p:nvPr/>
          </p:nvSpPr>
          <p:spPr>
            <a:xfrm>
              <a:off x="11636345" y="1582362"/>
              <a:ext cx="119081" cy="11908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1" name="Átomo H_4"/>
            <p:cNvSpPr/>
            <p:nvPr/>
          </p:nvSpPr>
          <p:spPr>
            <a:xfrm>
              <a:off x="10535901" y="1290062"/>
              <a:ext cx="119611" cy="11961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2" name="Átomo O"/>
            <p:cNvSpPr/>
            <p:nvPr/>
          </p:nvSpPr>
          <p:spPr>
            <a:xfrm>
              <a:off x="11470101" y="898411"/>
              <a:ext cx="188064" cy="18806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3" name="Flecha 24_2"/>
            <p:cNvSpPr/>
            <p:nvPr/>
          </p:nvSpPr>
          <p:spPr>
            <a:xfrm>
              <a:off x="11508666" y="1641902"/>
              <a:ext cx="187219" cy="91734"/>
            </a:xfrm>
            <a:custGeom>
              <a:avLst/>
              <a:gdLst/>
              <a:ahLst/>
              <a:cxnLst/>
              <a:rect l="0" t="0" r="r" b="b"/>
              <a:pathLst>
                <a:path w="204" h="100" fill="none">
                  <a:moveTo>
                    <a:pt x="0" y="100"/>
                  </a:moveTo>
                  <a:lnTo>
                    <a:pt x="204" y="0"/>
                  </a:lnTo>
                </a:path>
              </a:pathLst>
            </a:custGeom>
            <a:noFill/>
            <a:ln w="29892" cap="rnd">
              <a:solidFill>
                <a:srgbClr val="9A9A9A"/>
              </a:solidFill>
              <a:round/>
            </a:ln>
          </p:spPr>
        </p:sp>
        <p:sp>
          <p:nvSpPr>
            <p:cNvPr id="24" name="Átomo H_5"/>
            <p:cNvSpPr/>
            <p:nvPr/>
          </p:nvSpPr>
          <p:spPr>
            <a:xfrm>
              <a:off x="10993746" y="1959219"/>
              <a:ext cx="120571" cy="1205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5" name="Átomo O_2"/>
            <p:cNvSpPr/>
            <p:nvPr/>
          </p:nvSpPr>
          <p:spPr>
            <a:xfrm>
              <a:off x="11413908" y="1638879"/>
              <a:ext cx="189515" cy="18951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6" name="Flecha 28_2"/>
            <p:cNvSpPr/>
            <p:nvPr/>
          </p:nvSpPr>
          <p:spPr>
            <a:xfrm>
              <a:off x="11272219" y="1483263"/>
              <a:ext cx="236446" cy="250373"/>
            </a:xfrm>
            <a:custGeom>
              <a:avLst/>
              <a:gdLst/>
              <a:ahLst/>
              <a:cxnLst/>
              <a:rect l="0" t="0" r="r" b="b"/>
              <a:pathLst>
                <a:path w="258" h="273" fill="none">
                  <a:moveTo>
                    <a:pt x="0" y="0"/>
                  </a:moveTo>
                  <a:lnTo>
                    <a:pt x="258" y="273"/>
                  </a:lnTo>
                </a:path>
              </a:pathLst>
            </a:custGeom>
            <a:noFill/>
            <a:ln w="29892" cap="rnd">
              <a:solidFill>
                <a:srgbClr val="9A9A9A"/>
              </a:solidFill>
              <a:round/>
            </a:ln>
          </p:spPr>
        </p:sp>
        <p:sp>
          <p:nvSpPr>
            <p:cNvPr id="27" name="Átomo C"/>
            <p:cNvSpPr/>
            <p:nvPr/>
          </p:nvSpPr>
          <p:spPr>
            <a:xfrm>
              <a:off x="11171628" y="1382672"/>
              <a:ext cx="201183" cy="2011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8" name="Flecha 31_2"/>
            <p:cNvSpPr/>
            <p:nvPr/>
          </p:nvSpPr>
          <p:spPr>
            <a:xfrm>
              <a:off x="10861553" y="1890968"/>
              <a:ext cx="192479" cy="128536"/>
            </a:xfrm>
            <a:custGeom>
              <a:avLst/>
              <a:gdLst/>
              <a:ahLst/>
              <a:cxnLst/>
              <a:rect l="0" t="0" r="r" b="b"/>
              <a:pathLst>
                <a:path w="210" h="140" fill="none">
                  <a:moveTo>
                    <a:pt x="0" y="0"/>
                  </a:moveTo>
                  <a:lnTo>
                    <a:pt x="210" y="140"/>
                  </a:lnTo>
                </a:path>
              </a:pathLst>
            </a:custGeom>
            <a:noFill/>
            <a:ln w="29892" cap="rnd">
              <a:solidFill>
                <a:srgbClr val="9A9A9A"/>
              </a:solidFill>
              <a:round/>
            </a:ln>
          </p:spPr>
        </p:sp>
        <p:sp>
          <p:nvSpPr>
            <p:cNvPr id="29" name="Átomo O_3"/>
            <p:cNvSpPr/>
            <p:nvPr/>
          </p:nvSpPr>
          <p:spPr>
            <a:xfrm>
              <a:off x="10766405" y="1795821"/>
              <a:ext cx="190295" cy="19029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0" name="Flecha 34_2"/>
            <p:cNvSpPr/>
            <p:nvPr/>
          </p:nvSpPr>
          <p:spPr>
            <a:xfrm>
              <a:off x="10595706" y="1338412"/>
              <a:ext cx="120304" cy="11456"/>
            </a:xfrm>
            <a:custGeom>
              <a:avLst/>
              <a:gdLst/>
              <a:ahLst/>
              <a:cxnLst/>
              <a:rect l="0" t="0" r="r" b="b"/>
              <a:pathLst>
                <a:path w="131" h="12" fill="none">
                  <a:moveTo>
                    <a:pt x="131" y="0"/>
                  </a:moveTo>
                  <a:lnTo>
                    <a:pt x="0" y="12"/>
                  </a:lnTo>
                </a:path>
              </a:pathLst>
            </a:custGeom>
            <a:noFill/>
            <a:ln w="29892" cap="rnd">
              <a:solidFill>
                <a:srgbClr val="9A9A9A"/>
              </a:solidFill>
              <a:round/>
            </a:ln>
          </p:spPr>
        </p:sp>
        <p:sp>
          <p:nvSpPr>
            <p:cNvPr id="31" name="Flecha 36_2"/>
            <p:cNvSpPr/>
            <p:nvPr/>
          </p:nvSpPr>
          <p:spPr>
            <a:xfrm>
              <a:off x="11408371" y="992444"/>
              <a:ext cx="155762" cy="192482"/>
            </a:xfrm>
            <a:custGeom>
              <a:avLst/>
              <a:gdLst/>
              <a:ahLst/>
              <a:cxnLst/>
              <a:rect l="0" t="0" r="r" b="b"/>
              <a:pathLst>
                <a:path w="170" h="210" fill="none">
                  <a:moveTo>
                    <a:pt x="0" y="210"/>
                  </a:moveTo>
                  <a:lnTo>
                    <a:pt x="170" y="0"/>
                  </a:lnTo>
                </a:path>
              </a:pathLst>
            </a:custGeom>
            <a:noFill/>
            <a:ln w="29892" cap="rnd">
              <a:solidFill>
                <a:srgbClr val="9A9A9A"/>
              </a:solidFill>
              <a:round/>
            </a:ln>
          </p:spPr>
        </p:sp>
        <p:sp>
          <p:nvSpPr>
            <p:cNvPr id="32" name="Flecha 38_2"/>
            <p:cNvSpPr/>
            <p:nvPr/>
          </p:nvSpPr>
          <p:spPr>
            <a:xfrm>
              <a:off x="11272219" y="1184925"/>
              <a:ext cx="136152" cy="298338"/>
            </a:xfrm>
            <a:custGeom>
              <a:avLst/>
              <a:gdLst/>
              <a:ahLst/>
              <a:cxnLst/>
              <a:rect l="0" t="0" r="r" b="b"/>
              <a:pathLst>
                <a:path w="148" h="326" fill="none">
                  <a:moveTo>
                    <a:pt x="148" y="0"/>
                  </a:moveTo>
                  <a:lnTo>
                    <a:pt x="0" y="326"/>
                  </a:lnTo>
                </a:path>
              </a:pathLst>
            </a:custGeom>
            <a:noFill/>
            <a:ln w="29892" cap="rnd">
              <a:solidFill>
                <a:srgbClr val="9A9A9A"/>
              </a:solidFill>
              <a:round/>
            </a:ln>
          </p:spPr>
        </p:sp>
        <p:sp>
          <p:nvSpPr>
            <p:cNvPr id="33" name="Flecha 40_2"/>
            <p:cNvSpPr/>
            <p:nvPr/>
          </p:nvSpPr>
          <p:spPr>
            <a:xfrm>
              <a:off x="10973138" y="1483263"/>
              <a:ext cx="299082" cy="119042"/>
            </a:xfrm>
            <a:custGeom>
              <a:avLst/>
              <a:gdLst/>
              <a:ahLst/>
              <a:cxnLst/>
              <a:rect l="0" t="0" r="r" b="b"/>
              <a:pathLst>
                <a:path w="327" h="130" fill="none">
                  <a:moveTo>
                    <a:pt x="327" y="0"/>
                  </a:moveTo>
                  <a:lnTo>
                    <a:pt x="0" y="130"/>
                  </a:lnTo>
                </a:path>
              </a:pathLst>
            </a:custGeom>
            <a:noFill/>
            <a:ln w="29892" cap="rnd">
              <a:solidFill>
                <a:srgbClr val="9A9A9A"/>
              </a:solidFill>
              <a:round/>
            </a:ln>
          </p:spPr>
        </p:sp>
        <p:sp>
          <p:nvSpPr>
            <p:cNvPr id="34" name="Flecha 42_2"/>
            <p:cNvSpPr/>
            <p:nvPr/>
          </p:nvSpPr>
          <p:spPr>
            <a:xfrm>
              <a:off x="10861553" y="1602305"/>
              <a:ext cx="111585" cy="288663"/>
            </a:xfrm>
            <a:custGeom>
              <a:avLst/>
              <a:gdLst/>
              <a:ahLst/>
              <a:cxnLst/>
              <a:rect l="0" t="0" r="r" b="b"/>
              <a:pathLst>
                <a:path w="122" h="315" fill="none">
                  <a:moveTo>
                    <a:pt x="122" y="0"/>
                  </a:moveTo>
                  <a:lnTo>
                    <a:pt x="0" y="315"/>
                  </a:lnTo>
                </a:path>
              </a:pathLst>
            </a:custGeom>
            <a:noFill/>
            <a:ln w="29892" cap="rnd">
              <a:solidFill>
                <a:srgbClr val="9A9A9A"/>
              </a:solidFill>
              <a:round/>
            </a:ln>
          </p:spPr>
        </p:sp>
        <p:sp>
          <p:nvSpPr>
            <p:cNvPr id="35" name="Átomo C_2"/>
            <p:cNvSpPr/>
            <p:nvPr/>
          </p:nvSpPr>
          <p:spPr>
            <a:xfrm>
              <a:off x="10613522" y="1235923"/>
              <a:ext cx="204977" cy="20497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6" name="Flecha 45_2"/>
            <p:cNvSpPr/>
            <p:nvPr/>
          </p:nvSpPr>
          <p:spPr>
            <a:xfrm>
              <a:off x="10716010" y="1338412"/>
              <a:ext cx="257127" cy="263894"/>
            </a:xfrm>
            <a:custGeom>
              <a:avLst/>
              <a:gdLst/>
              <a:ahLst/>
              <a:cxnLst/>
              <a:rect l="0" t="0" r="r" b="b"/>
              <a:pathLst>
                <a:path w="281" h="288" fill="none">
                  <a:moveTo>
                    <a:pt x="281" y="288"/>
                  </a:moveTo>
                  <a:lnTo>
                    <a:pt x="0" y="0"/>
                  </a:lnTo>
                </a:path>
              </a:pathLst>
            </a:custGeom>
            <a:noFill/>
            <a:ln w="29892" cap="rnd">
              <a:solidFill>
                <a:srgbClr val="9A9A9A"/>
              </a:solidFill>
              <a:round/>
            </a:ln>
          </p:spPr>
        </p:sp>
        <p:sp>
          <p:nvSpPr>
            <p:cNvPr id="37" name="Flecha 47_2"/>
            <p:cNvSpPr/>
            <p:nvPr/>
          </p:nvSpPr>
          <p:spPr>
            <a:xfrm>
              <a:off x="10716010" y="1018303"/>
              <a:ext cx="131659" cy="320108"/>
            </a:xfrm>
            <a:custGeom>
              <a:avLst/>
              <a:gdLst/>
              <a:ahLst/>
              <a:cxnLst/>
              <a:rect l="0" t="0" r="r" b="b"/>
              <a:pathLst>
                <a:path w="143" h="350" fill="none">
                  <a:moveTo>
                    <a:pt x="0" y="350"/>
                  </a:moveTo>
                  <a:lnTo>
                    <a:pt x="143" y="0"/>
                  </a:lnTo>
                </a:path>
              </a:pathLst>
            </a:custGeom>
            <a:noFill/>
            <a:ln w="29892" cap="rnd">
              <a:solidFill>
                <a:srgbClr val="9A9A9A"/>
              </a:solidFill>
              <a:round/>
            </a:ln>
          </p:spPr>
        </p:sp>
        <p:sp>
          <p:nvSpPr>
            <p:cNvPr id="38" name="Átomo C_3"/>
            <p:cNvSpPr/>
            <p:nvPr/>
          </p:nvSpPr>
          <p:spPr>
            <a:xfrm>
              <a:off x="11305773" y="1082327"/>
              <a:ext cx="205197" cy="20519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Átomo C_4"/>
            <p:cNvSpPr/>
            <p:nvPr/>
          </p:nvSpPr>
          <p:spPr>
            <a:xfrm>
              <a:off x="10870460" y="1499628"/>
              <a:ext cx="205355" cy="2053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0" name="Átomo O_4"/>
            <p:cNvSpPr/>
            <p:nvPr/>
          </p:nvSpPr>
          <p:spPr>
            <a:xfrm>
              <a:off x="10750838" y="921472"/>
              <a:ext cx="193662" cy="19366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1" name="Flecha 52_2"/>
            <p:cNvSpPr/>
            <p:nvPr/>
          </p:nvSpPr>
          <p:spPr>
            <a:xfrm>
              <a:off x="11408371" y="1184925"/>
              <a:ext cx="186666" cy="70015"/>
            </a:xfrm>
            <a:custGeom>
              <a:avLst/>
              <a:gdLst/>
              <a:ahLst/>
              <a:cxnLst/>
              <a:rect l="0" t="0" r="r" b="b"/>
              <a:pathLst>
                <a:path w="204" h="76" fill="none">
                  <a:moveTo>
                    <a:pt x="0" y="0"/>
                  </a:moveTo>
                  <a:lnTo>
                    <a:pt x="204" y="76"/>
                  </a:lnTo>
                </a:path>
              </a:pathLst>
            </a:custGeom>
            <a:noFill/>
            <a:ln w="29892" cap="rnd">
              <a:solidFill>
                <a:srgbClr val="9A9A9A"/>
              </a:solidFill>
              <a:round/>
            </a:ln>
          </p:spPr>
        </p:sp>
        <p:sp>
          <p:nvSpPr>
            <p:cNvPr id="42" name="Flecha 54_2"/>
            <p:cNvSpPr/>
            <p:nvPr/>
          </p:nvSpPr>
          <p:spPr>
            <a:xfrm>
              <a:off x="11143965" y="995206"/>
              <a:ext cx="264407" cy="189720"/>
            </a:xfrm>
            <a:custGeom>
              <a:avLst/>
              <a:gdLst/>
              <a:ahLst/>
              <a:cxnLst/>
              <a:rect l="0" t="0" r="r" b="b"/>
              <a:pathLst>
                <a:path w="289" h="207" fill="none">
                  <a:moveTo>
                    <a:pt x="0" y="0"/>
                  </a:moveTo>
                  <a:lnTo>
                    <a:pt x="289" y="207"/>
                  </a:lnTo>
                </a:path>
              </a:pathLst>
            </a:custGeom>
            <a:noFill/>
            <a:ln w="29892" cap="rnd">
              <a:solidFill>
                <a:srgbClr val="9A9A9A"/>
              </a:solidFill>
              <a:round/>
            </a:ln>
          </p:spPr>
        </p:sp>
        <p:sp>
          <p:nvSpPr>
            <p:cNvPr id="43" name="Flecha 56_2"/>
            <p:cNvSpPr/>
            <p:nvPr/>
          </p:nvSpPr>
          <p:spPr>
            <a:xfrm>
              <a:off x="10847669" y="995206"/>
              <a:ext cx="296295" cy="23098"/>
            </a:xfrm>
            <a:custGeom>
              <a:avLst/>
              <a:gdLst/>
              <a:ahLst/>
              <a:cxnLst/>
              <a:rect l="0" t="0" r="r" b="b"/>
              <a:pathLst>
                <a:path w="324" h="25" fill="none">
                  <a:moveTo>
                    <a:pt x="0" y="25"/>
                  </a:moveTo>
                  <a:lnTo>
                    <a:pt x="324" y="0"/>
                  </a:lnTo>
                </a:path>
              </a:pathLst>
            </a:custGeom>
            <a:noFill/>
            <a:ln w="29892" cap="rnd">
              <a:solidFill>
                <a:srgbClr val="9A9A9A"/>
              </a:solidFill>
              <a:round/>
            </a:ln>
          </p:spPr>
        </p:sp>
        <p:sp>
          <p:nvSpPr>
            <p:cNvPr id="44" name="Flecha 58_2"/>
            <p:cNvSpPr/>
            <p:nvPr/>
          </p:nvSpPr>
          <p:spPr>
            <a:xfrm>
              <a:off x="10457935" y="1338412"/>
              <a:ext cx="258075" cy="48649"/>
            </a:xfrm>
            <a:custGeom>
              <a:avLst/>
              <a:gdLst/>
              <a:ahLst/>
              <a:cxnLst/>
              <a:rect l="0" t="0" r="r" b="b"/>
              <a:pathLst>
                <a:path w="282" h="53" fill="none">
                  <a:moveTo>
                    <a:pt x="0" y="53"/>
                  </a:moveTo>
                  <a:lnTo>
                    <a:pt x="282" y="0"/>
                  </a:lnTo>
                </a:path>
              </a:pathLst>
            </a:custGeom>
            <a:noFill/>
            <a:ln w="29892" cap="rnd">
              <a:solidFill>
                <a:srgbClr val="9A9A9A"/>
              </a:solidFill>
              <a:round/>
            </a:ln>
          </p:spPr>
        </p:sp>
        <p:sp>
          <p:nvSpPr>
            <p:cNvPr id="45" name="Flecha 60_2"/>
            <p:cNvSpPr/>
            <p:nvPr/>
          </p:nvSpPr>
          <p:spPr>
            <a:xfrm>
              <a:off x="10973138" y="1602305"/>
              <a:ext cx="59742" cy="61254"/>
            </a:xfrm>
            <a:custGeom>
              <a:avLst/>
              <a:gdLst/>
              <a:ahLst/>
              <a:cxnLst/>
              <a:rect l="0" t="0" r="r" b="b"/>
              <a:pathLst>
                <a:path w="65" h="66" fill="none">
                  <a:moveTo>
                    <a:pt x="0" y="0"/>
                  </a:moveTo>
                  <a:lnTo>
                    <a:pt x="65" y="66"/>
                  </a:lnTo>
                </a:path>
              </a:pathLst>
            </a:custGeom>
            <a:noFill/>
            <a:ln w="29892" cap="rnd">
              <a:solidFill>
                <a:srgbClr val="9A9A9A"/>
              </a:solidFill>
              <a:round/>
            </a:ln>
          </p:spPr>
        </p:sp>
        <p:sp>
          <p:nvSpPr>
            <p:cNvPr id="46" name="Átomo H_6"/>
            <p:cNvSpPr/>
            <p:nvPr/>
          </p:nvSpPr>
          <p:spPr>
            <a:xfrm>
              <a:off x="11532245" y="1192149"/>
              <a:ext cx="125584" cy="1255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7" name="Átomo C_5"/>
            <p:cNvSpPr/>
            <p:nvPr/>
          </p:nvSpPr>
          <p:spPr>
            <a:xfrm>
              <a:off x="11039259" y="890500"/>
              <a:ext cx="209411" cy="2094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8" name="Flecha 64_2"/>
            <p:cNvSpPr/>
            <p:nvPr/>
          </p:nvSpPr>
          <p:spPr>
            <a:xfrm>
              <a:off x="11143965" y="739955"/>
              <a:ext cx="60969" cy="255251"/>
            </a:xfrm>
            <a:custGeom>
              <a:avLst/>
              <a:gdLst/>
              <a:ahLst/>
              <a:cxnLst/>
              <a:rect l="0" t="0" r="r" b="b"/>
              <a:pathLst>
                <a:path w="66" h="279" fill="none">
                  <a:moveTo>
                    <a:pt x="0" y="279"/>
                  </a:moveTo>
                  <a:lnTo>
                    <a:pt x="66" y="0"/>
                  </a:lnTo>
                </a:path>
              </a:pathLst>
            </a:custGeom>
            <a:noFill/>
            <a:ln w="29892" cap="rnd">
              <a:solidFill>
                <a:srgbClr val="9A9A9A"/>
              </a:solidFill>
              <a:round/>
            </a:ln>
          </p:spPr>
        </p:sp>
        <p:sp>
          <p:nvSpPr>
            <p:cNvPr id="49" name="Átomo H_7"/>
            <p:cNvSpPr/>
            <p:nvPr/>
          </p:nvSpPr>
          <p:spPr>
            <a:xfrm>
              <a:off x="11142066" y="677088"/>
              <a:ext cx="125734" cy="1257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0" name="Átomo O_5"/>
            <p:cNvSpPr/>
            <p:nvPr/>
          </p:nvSpPr>
          <p:spPr>
            <a:xfrm>
              <a:off x="10087609" y="1089998"/>
              <a:ext cx="197625" cy="19762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1" name="Flecha 68_2"/>
            <p:cNvSpPr/>
            <p:nvPr/>
          </p:nvSpPr>
          <p:spPr>
            <a:xfrm>
              <a:off x="10186421" y="1188811"/>
              <a:ext cx="271514" cy="198250"/>
            </a:xfrm>
            <a:custGeom>
              <a:avLst/>
              <a:gdLst/>
              <a:ahLst/>
              <a:cxnLst/>
              <a:rect l="0" t="0" r="r" b="b"/>
              <a:pathLst>
                <a:path w="296" h="216" fill="none">
                  <a:moveTo>
                    <a:pt x="0" y="0"/>
                  </a:moveTo>
                  <a:lnTo>
                    <a:pt x="296" y="216"/>
                  </a:lnTo>
                </a:path>
              </a:pathLst>
            </a:custGeom>
            <a:noFill/>
            <a:ln w="29892" cap="rnd">
              <a:solidFill>
                <a:srgbClr val="9A9A9A"/>
              </a:solidFill>
              <a:round/>
            </a:ln>
          </p:spPr>
        </p:sp>
        <p:sp>
          <p:nvSpPr>
            <p:cNvPr id="52" name="Flecha 70_2"/>
            <p:cNvSpPr/>
            <p:nvPr/>
          </p:nvSpPr>
          <p:spPr>
            <a:xfrm>
              <a:off x="10374660" y="1387061"/>
              <a:ext cx="83275" cy="247985"/>
            </a:xfrm>
            <a:custGeom>
              <a:avLst/>
              <a:gdLst/>
              <a:ahLst/>
              <a:cxnLst/>
              <a:rect l="0" t="0" r="r" b="b"/>
              <a:pathLst>
                <a:path w="91" h="271" fill="none">
                  <a:moveTo>
                    <a:pt x="91" y="0"/>
                  </a:moveTo>
                  <a:lnTo>
                    <a:pt x="0" y="271"/>
                  </a:lnTo>
                </a:path>
              </a:pathLst>
            </a:custGeom>
            <a:noFill/>
            <a:ln w="29892" cap="rnd">
              <a:solidFill>
                <a:srgbClr val="9A9A9A"/>
              </a:solidFill>
              <a:round/>
            </a:ln>
          </p:spPr>
        </p:sp>
        <p:sp>
          <p:nvSpPr>
            <p:cNvPr id="53" name="Átomo C_6"/>
            <p:cNvSpPr/>
            <p:nvPr/>
          </p:nvSpPr>
          <p:spPr>
            <a:xfrm>
              <a:off x="10352346" y="1281471"/>
              <a:ext cx="211179" cy="2111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4" name="Átomo H_8"/>
            <p:cNvSpPr/>
            <p:nvPr/>
          </p:nvSpPr>
          <p:spPr>
            <a:xfrm>
              <a:off x="10311274" y="1571660"/>
              <a:ext cx="126772" cy="12677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5" name="Átomo H_9"/>
            <p:cNvSpPr/>
            <p:nvPr/>
          </p:nvSpPr>
          <p:spPr>
            <a:xfrm>
              <a:off x="10969483" y="1600163"/>
              <a:ext cx="126794" cy="12679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6" name="Flecha 75_2"/>
            <p:cNvSpPr/>
            <p:nvPr/>
          </p:nvSpPr>
          <p:spPr>
            <a:xfrm>
              <a:off x="10066835" y="1169519"/>
              <a:ext cx="119586" cy="19292"/>
            </a:xfrm>
            <a:custGeom>
              <a:avLst/>
              <a:gdLst/>
              <a:ahLst/>
              <a:cxnLst/>
              <a:rect l="0" t="0" r="r" b="b"/>
              <a:pathLst>
                <a:path w="130" h="21" fill="none">
                  <a:moveTo>
                    <a:pt x="130" y="21"/>
                  </a:moveTo>
                  <a:lnTo>
                    <a:pt x="0" y="0"/>
                  </a:lnTo>
                </a:path>
              </a:pathLst>
            </a:custGeom>
            <a:noFill/>
            <a:ln w="29892" cap="rnd">
              <a:solidFill>
                <a:srgbClr val="9A9A9A"/>
              </a:solidFill>
              <a:round/>
            </a:ln>
          </p:spPr>
        </p:sp>
        <p:sp>
          <p:nvSpPr>
            <p:cNvPr id="57" name="Flecha 77_2"/>
            <p:cNvSpPr/>
            <p:nvPr/>
          </p:nvSpPr>
          <p:spPr>
            <a:xfrm>
              <a:off x="11110035" y="995206"/>
              <a:ext cx="33929" cy="105109"/>
            </a:xfrm>
            <a:custGeom>
              <a:avLst/>
              <a:gdLst/>
              <a:ahLst/>
              <a:cxnLst/>
              <a:rect l="0" t="0" r="r" b="b"/>
              <a:pathLst>
                <a:path w="37" h="114" fill="none">
                  <a:moveTo>
                    <a:pt x="37" y="0"/>
                  </a:moveTo>
                  <a:lnTo>
                    <a:pt x="0" y="114"/>
                  </a:lnTo>
                </a:path>
              </a:pathLst>
            </a:custGeom>
            <a:noFill/>
            <a:ln w="29892" cap="rnd">
              <a:solidFill>
                <a:srgbClr val="9A9A9A"/>
              </a:solidFill>
              <a:round/>
            </a:ln>
          </p:spPr>
        </p:sp>
        <p:sp>
          <p:nvSpPr>
            <p:cNvPr id="58" name="Flecha 79_2"/>
            <p:cNvSpPr/>
            <p:nvPr/>
          </p:nvSpPr>
          <p:spPr>
            <a:xfrm>
              <a:off x="10457935" y="1320703"/>
              <a:ext cx="89514" cy="66357"/>
            </a:xfrm>
            <a:custGeom>
              <a:avLst/>
              <a:gdLst/>
              <a:ahLst/>
              <a:cxnLst/>
              <a:rect l="0" t="0" r="r" b="b"/>
              <a:pathLst>
                <a:path w="97" h="72" fill="none">
                  <a:moveTo>
                    <a:pt x="0" y="72"/>
                  </a:moveTo>
                  <a:lnTo>
                    <a:pt x="97" y="0"/>
                  </a:lnTo>
                </a:path>
              </a:pathLst>
            </a:custGeom>
            <a:noFill/>
            <a:ln w="29892" cap="rnd">
              <a:solidFill>
                <a:srgbClr val="9A9A9A"/>
              </a:solidFill>
              <a:round/>
            </a:ln>
          </p:spPr>
        </p:sp>
        <p:sp>
          <p:nvSpPr>
            <p:cNvPr id="59" name="Átomo H_10"/>
            <p:cNvSpPr/>
            <p:nvPr/>
          </p:nvSpPr>
          <p:spPr>
            <a:xfrm>
              <a:off x="10002517" y="1105201"/>
              <a:ext cx="128635" cy="12863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0" name="Átomo H_11"/>
            <p:cNvSpPr/>
            <p:nvPr/>
          </p:nvSpPr>
          <p:spPr>
            <a:xfrm>
              <a:off x="10482386" y="1255641"/>
              <a:ext cx="130125" cy="13012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1" name="Átomo O_6"/>
            <p:cNvSpPr/>
            <p:nvPr/>
          </p:nvSpPr>
          <p:spPr>
            <a:xfrm>
              <a:off x="11007669" y="997948"/>
              <a:ext cx="204733" cy="2047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2" name="Flecha 84_2"/>
            <p:cNvSpPr/>
            <p:nvPr/>
          </p:nvSpPr>
          <p:spPr>
            <a:xfrm>
              <a:off x="11110035" y="1008934"/>
              <a:ext cx="184220" cy="91381"/>
            </a:xfrm>
            <a:custGeom>
              <a:avLst/>
              <a:gdLst/>
              <a:ahLst/>
              <a:cxnLst/>
              <a:rect l="0" t="0" r="r" b="b"/>
              <a:pathLst>
                <a:path w="201" h="99" fill="none">
                  <a:moveTo>
                    <a:pt x="0" y="99"/>
                  </a:moveTo>
                  <a:lnTo>
                    <a:pt x="201" y="0"/>
                  </a:lnTo>
                </a:path>
              </a:pathLst>
            </a:custGeom>
            <a:noFill/>
            <a:ln w="29892" cap="rnd">
              <a:solidFill>
                <a:srgbClr val="9A9A9A"/>
              </a:solidFill>
              <a:round/>
            </a:ln>
          </p:spPr>
        </p:sp>
        <p:sp>
          <p:nvSpPr>
            <p:cNvPr id="63" name="Átomo H_12"/>
            <p:cNvSpPr/>
            <p:nvPr/>
          </p:nvSpPr>
          <p:spPr>
            <a:xfrm>
              <a:off x="11228246" y="942925"/>
              <a:ext cx="132019" cy="13201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64" name="Bicarbonato"/>
          <p:cNvGrpSpPr/>
          <p:nvPr/>
        </p:nvGrpSpPr>
        <p:grpSpPr>
          <a:xfrm>
            <a:off x="9784080" y="3233687"/>
            <a:ext cx="2011680" cy="1379938"/>
            <a:chOff x="9784080" y="3233687"/>
            <a:chExt cx="2011680" cy="1379938"/>
          </a:xfrm>
        </p:grpSpPr>
        <p:sp>
          <p:nvSpPr>
            <p:cNvPr id="65" name="Átomo O_7"/>
            <p:cNvSpPr/>
            <p:nvPr/>
          </p:nvSpPr>
          <p:spPr>
            <a:xfrm>
              <a:off x="10513660" y="3881006"/>
              <a:ext cx="261986" cy="261986"/>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6" name="Átomo O_8"/>
            <p:cNvSpPr/>
            <p:nvPr/>
          </p:nvSpPr>
          <p:spPr>
            <a:xfrm>
              <a:off x="11116508" y="3390099"/>
              <a:ext cx="264979" cy="26497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7" name="Flecha 90_2"/>
            <p:cNvSpPr/>
            <p:nvPr/>
          </p:nvSpPr>
          <p:spPr>
            <a:xfrm>
              <a:off x="10618108" y="3638811"/>
              <a:ext cx="206557" cy="357866"/>
            </a:xfrm>
            <a:custGeom>
              <a:avLst/>
              <a:gdLst/>
              <a:ahLst/>
              <a:cxnLst/>
              <a:rect l="0" t="0" r="r" b="b"/>
              <a:pathLst>
                <a:path w="225" h="391" fill="none">
                  <a:moveTo>
                    <a:pt x="225" y="0"/>
                  </a:moveTo>
                  <a:lnTo>
                    <a:pt x="0" y="391"/>
                  </a:lnTo>
                </a:path>
              </a:pathLst>
            </a:custGeom>
            <a:noFill/>
            <a:ln w="34055" cap="rnd">
              <a:solidFill>
                <a:srgbClr val="9A9A9A"/>
              </a:solidFill>
              <a:round/>
            </a:ln>
          </p:spPr>
        </p:sp>
        <p:sp>
          <p:nvSpPr>
            <p:cNvPr id="68" name="Flecha 92_2"/>
            <p:cNvSpPr/>
            <p:nvPr/>
          </p:nvSpPr>
          <p:spPr>
            <a:xfrm>
              <a:off x="10671199" y="3669455"/>
              <a:ext cx="206557" cy="357866"/>
            </a:xfrm>
            <a:custGeom>
              <a:avLst/>
              <a:gdLst/>
              <a:ahLst/>
              <a:cxnLst/>
              <a:rect l="0" t="0" r="r" b="b"/>
              <a:pathLst>
                <a:path w="225" h="391" fill="none">
                  <a:moveTo>
                    <a:pt x="225" y="0"/>
                  </a:moveTo>
                  <a:lnTo>
                    <a:pt x="0" y="391"/>
                  </a:lnTo>
                </a:path>
              </a:pathLst>
            </a:custGeom>
            <a:noFill/>
            <a:ln w="34055" cap="rnd">
              <a:solidFill>
                <a:srgbClr val="9A9A9A"/>
              </a:solidFill>
              <a:round/>
            </a:ln>
          </p:spPr>
        </p:sp>
        <p:sp>
          <p:nvSpPr>
            <p:cNvPr id="69" name="Flecha 94_2"/>
            <p:cNvSpPr/>
            <p:nvPr/>
          </p:nvSpPr>
          <p:spPr>
            <a:xfrm>
              <a:off x="10851210" y="3522588"/>
              <a:ext cx="397788" cy="131545"/>
            </a:xfrm>
            <a:custGeom>
              <a:avLst/>
              <a:gdLst/>
              <a:ahLst/>
              <a:cxnLst/>
              <a:rect l="0" t="0" r="r" b="b"/>
              <a:pathLst>
                <a:path w="435" h="143" fill="none">
                  <a:moveTo>
                    <a:pt x="0" y="143"/>
                  </a:moveTo>
                  <a:lnTo>
                    <a:pt x="435" y="0"/>
                  </a:lnTo>
                </a:path>
              </a:pathLst>
            </a:custGeom>
            <a:noFill/>
            <a:ln w="42569" cap="rnd">
              <a:solidFill>
                <a:srgbClr val="9A9A9A"/>
              </a:solidFill>
              <a:round/>
            </a:ln>
          </p:spPr>
        </p:sp>
        <p:sp>
          <p:nvSpPr>
            <p:cNvPr id="70" name="Átomo C_7"/>
            <p:cNvSpPr/>
            <p:nvPr/>
          </p:nvSpPr>
          <p:spPr>
            <a:xfrm>
              <a:off x="10706728" y="3509651"/>
              <a:ext cx="288963" cy="28896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97_2"/>
            <p:cNvSpPr/>
            <p:nvPr/>
          </p:nvSpPr>
          <p:spPr>
            <a:xfrm>
              <a:off x="10581982" y="3381402"/>
              <a:ext cx="269227" cy="272731"/>
            </a:xfrm>
            <a:custGeom>
              <a:avLst/>
              <a:gdLst/>
              <a:ahLst/>
              <a:cxnLst/>
              <a:rect l="0" t="0" r="r" b="b"/>
              <a:pathLst>
                <a:path w="294" h="298" fill="none">
                  <a:moveTo>
                    <a:pt x="0" y="0"/>
                  </a:moveTo>
                  <a:lnTo>
                    <a:pt x="294" y="298"/>
                  </a:lnTo>
                </a:path>
              </a:pathLst>
            </a:custGeom>
            <a:noFill/>
            <a:ln w="42569" cap="rnd">
              <a:solidFill>
                <a:srgbClr val="9A9A9A"/>
              </a:solidFill>
              <a:round/>
            </a:ln>
          </p:spPr>
        </p:sp>
        <p:sp>
          <p:nvSpPr>
            <p:cNvPr id="72" name="Átomo H_13"/>
            <p:cNvSpPr/>
            <p:nvPr/>
          </p:nvSpPr>
          <p:spPr>
            <a:xfrm>
              <a:off x="10237472" y="3506308"/>
              <a:ext cx="186741" cy="18674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3" name="Flecha 100_2"/>
            <p:cNvSpPr/>
            <p:nvPr/>
          </p:nvSpPr>
          <p:spPr>
            <a:xfrm>
              <a:off x="10330842" y="3381402"/>
              <a:ext cx="251140" cy="218276"/>
            </a:xfrm>
            <a:custGeom>
              <a:avLst/>
              <a:gdLst/>
              <a:ahLst/>
              <a:cxnLst/>
              <a:rect l="0" t="0" r="r" b="b"/>
              <a:pathLst>
                <a:path w="274" h="238" fill="none">
                  <a:moveTo>
                    <a:pt x="274" y="0"/>
                  </a:moveTo>
                  <a:lnTo>
                    <a:pt x="0" y="238"/>
                  </a:lnTo>
                </a:path>
              </a:pathLst>
            </a:custGeom>
            <a:noFill/>
            <a:ln w="42569" cap="rnd">
              <a:solidFill>
                <a:srgbClr val="9A9A9A"/>
              </a:solidFill>
              <a:round/>
            </a:ln>
          </p:spPr>
        </p:sp>
        <p:sp>
          <p:nvSpPr>
            <p:cNvPr id="74" name="Átomo O_9"/>
            <p:cNvSpPr/>
            <p:nvPr/>
          </p:nvSpPr>
          <p:spPr>
            <a:xfrm>
              <a:off x="10434267" y="3233687"/>
              <a:ext cx="295431" cy="295431"/>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75" name="Forma 103"/>
            <p:cNvSpPr txBox="1"/>
            <p:nvPr/>
          </p:nvSpPr>
          <p:spPr>
            <a:xfrm>
              <a:off x="9784080" y="4302729"/>
              <a:ext cx="201168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HCO₃⁻</a:t>
              </a:r>
              <a:endParaRPr lang="es-AR" sz="1300" dirty="0">
                <a:latin typeface="Fira Sans Condensed"/>
              </a:endParaRPr>
            </a:p>
          </p:txBody>
        </p:sp>
      </p:grpSp>
      <p:grpSp>
        <p:nvGrpSpPr>
          <p:cNvPr id="76" name="Urea"/>
          <p:cNvGrpSpPr/>
          <p:nvPr/>
        </p:nvGrpSpPr>
        <p:grpSpPr>
          <a:xfrm>
            <a:off x="182880" y="1385166"/>
            <a:ext cx="2011680" cy="1434416"/>
            <a:chOff x="182880" y="1385166"/>
            <a:chExt cx="2011680" cy="1434416"/>
          </a:xfrm>
        </p:grpSpPr>
        <p:sp>
          <p:nvSpPr>
            <p:cNvPr id="77" name="Átomo H_14"/>
            <p:cNvSpPr/>
            <p:nvPr/>
          </p:nvSpPr>
          <p:spPr>
            <a:xfrm>
              <a:off x="1626107" y="1776539"/>
              <a:ext cx="137822" cy="13782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8" name="Flecha 106_2"/>
            <p:cNvSpPr/>
            <p:nvPr/>
          </p:nvSpPr>
          <p:spPr>
            <a:xfrm>
              <a:off x="1446100" y="1845450"/>
              <a:ext cx="248917" cy="138339"/>
            </a:xfrm>
            <a:custGeom>
              <a:avLst/>
              <a:gdLst/>
              <a:ahLst/>
              <a:cxnLst/>
              <a:rect l="0" t="0" r="r" b="b"/>
              <a:pathLst>
                <a:path w="272" h="151" fill="none">
                  <a:moveTo>
                    <a:pt x="0" y="151"/>
                  </a:moveTo>
                  <a:lnTo>
                    <a:pt x="272" y="0"/>
                  </a:lnTo>
                </a:path>
              </a:pathLst>
            </a:custGeom>
            <a:noFill/>
            <a:ln w="35190" cap="rnd">
              <a:solidFill>
                <a:srgbClr val="9A9A9A"/>
              </a:solidFill>
              <a:round/>
            </a:ln>
          </p:spPr>
        </p:sp>
        <p:sp>
          <p:nvSpPr>
            <p:cNvPr id="79" name="Átomo N"/>
            <p:cNvSpPr/>
            <p:nvPr/>
          </p:nvSpPr>
          <p:spPr>
            <a:xfrm>
              <a:off x="1337368" y="1875057"/>
              <a:ext cx="217464" cy="217464"/>
            </a:xfrm>
            <a:prstGeom prst="ellipse">
              <a:avLst/>
            </a:prstGeom>
            <a:gradFill rotWithShape="1">
              <a:gsLst>
                <a:gs pos="0">
                  <a:srgbClr val="FFFFFF"/>
                </a:gs>
                <a:gs pos="28000">
                  <a:srgbClr val="2B5BD7"/>
                </a:gs>
                <a:gs pos="100000">
                  <a:srgbClr val="132860"/>
                </a:gs>
              </a:gsLst>
              <a:path path="circle">
                <a:fillToRect l="30000" t="25000" r="70000" b="75000"/>
              </a:path>
            </a:gradFill>
            <a:ln>
              <a:noFill/>
            </a:ln>
          </p:spPr>
        </p:sp>
        <p:sp>
          <p:nvSpPr>
            <p:cNvPr id="80" name="Flecha 109_2"/>
            <p:cNvSpPr/>
            <p:nvPr/>
          </p:nvSpPr>
          <p:spPr>
            <a:xfrm>
              <a:off x="1446100" y="1983789"/>
              <a:ext cx="24905" cy="281387"/>
            </a:xfrm>
            <a:custGeom>
              <a:avLst/>
              <a:gdLst/>
              <a:ahLst/>
              <a:cxnLst/>
              <a:rect l="0" t="0" r="r" b="b"/>
              <a:pathLst>
                <a:path w="27" h="307" fill="none">
                  <a:moveTo>
                    <a:pt x="0" y="0"/>
                  </a:moveTo>
                  <a:lnTo>
                    <a:pt x="27" y="307"/>
                  </a:lnTo>
                </a:path>
              </a:pathLst>
            </a:custGeom>
            <a:noFill/>
            <a:ln w="35190" cap="rnd">
              <a:solidFill>
                <a:srgbClr val="9A9A9A"/>
              </a:solidFill>
              <a:round/>
            </a:ln>
          </p:spPr>
        </p:sp>
        <p:sp>
          <p:nvSpPr>
            <p:cNvPr id="81" name="Átomo H_15"/>
            <p:cNvSpPr/>
            <p:nvPr/>
          </p:nvSpPr>
          <p:spPr>
            <a:xfrm>
              <a:off x="1401175" y="2195345"/>
              <a:ext cx="139662" cy="13966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2" name="Átomo H_16"/>
            <p:cNvSpPr/>
            <p:nvPr/>
          </p:nvSpPr>
          <p:spPr>
            <a:xfrm>
              <a:off x="718949" y="2096959"/>
              <a:ext cx="140976" cy="14097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3" name="Flecha 113_2"/>
            <p:cNvSpPr/>
            <p:nvPr/>
          </p:nvSpPr>
          <p:spPr>
            <a:xfrm>
              <a:off x="1196799" y="1814351"/>
              <a:ext cx="249301" cy="169438"/>
            </a:xfrm>
            <a:custGeom>
              <a:avLst/>
              <a:gdLst/>
              <a:ahLst/>
              <a:cxnLst/>
              <a:rect l="0" t="0" r="r" b="b"/>
              <a:pathLst>
                <a:path w="272" h="185" fill="none">
                  <a:moveTo>
                    <a:pt x="0" y="0"/>
                  </a:moveTo>
                  <a:lnTo>
                    <a:pt x="272" y="185"/>
                  </a:lnTo>
                </a:path>
              </a:pathLst>
            </a:custGeom>
            <a:noFill/>
            <a:ln w="35190" cap="rnd">
              <a:solidFill>
                <a:srgbClr val="9A9A9A"/>
              </a:solidFill>
              <a:round/>
            </a:ln>
          </p:spPr>
        </p:sp>
        <p:sp>
          <p:nvSpPr>
            <p:cNvPr id="84" name="Flecha 115_2"/>
            <p:cNvSpPr/>
            <p:nvPr/>
          </p:nvSpPr>
          <p:spPr>
            <a:xfrm>
              <a:off x="789436" y="2023094"/>
              <a:ext cx="95420" cy="144353"/>
            </a:xfrm>
            <a:custGeom>
              <a:avLst/>
              <a:gdLst/>
              <a:ahLst/>
              <a:cxnLst/>
              <a:rect l="0" t="0" r="r" b="b"/>
              <a:pathLst>
                <a:path w="104" h="157" fill="none">
                  <a:moveTo>
                    <a:pt x="104" y="0"/>
                  </a:moveTo>
                  <a:lnTo>
                    <a:pt x="0" y="157"/>
                  </a:lnTo>
                </a:path>
              </a:pathLst>
            </a:custGeom>
            <a:noFill/>
            <a:ln w="35190" cap="rnd">
              <a:solidFill>
                <a:srgbClr val="9A9A9A"/>
              </a:solidFill>
              <a:round/>
            </a:ln>
          </p:spPr>
        </p:sp>
        <p:sp>
          <p:nvSpPr>
            <p:cNvPr id="85" name="Átomo C_8"/>
            <p:cNvSpPr/>
            <p:nvPr/>
          </p:nvSpPr>
          <p:spPr>
            <a:xfrm>
              <a:off x="1073891" y="1691443"/>
              <a:ext cx="245816" cy="24581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6" name="Flecha 118_2"/>
            <p:cNvSpPr/>
            <p:nvPr/>
          </p:nvSpPr>
          <p:spPr>
            <a:xfrm>
              <a:off x="884857" y="1814351"/>
              <a:ext cx="311942" cy="208743"/>
            </a:xfrm>
            <a:custGeom>
              <a:avLst/>
              <a:gdLst/>
              <a:ahLst/>
              <a:cxnLst/>
              <a:rect l="0" t="0" r="r" b="b"/>
              <a:pathLst>
                <a:path w="341" h="228" fill="none">
                  <a:moveTo>
                    <a:pt x="0" y="228"/>
                  </a:moveTo>
                  <a:lnTo>
                    <a:pt x="341" y="0"/>
                  </a:lnTo>
                </a:path>
              </a:pathLst>
            </a:custGeom>
            <a:noFill/>
            <a:ln w="35190" cap="rnd">
              <a:solidFill>
                <a:srgbClr val="9A9A9A"/>
              </a:solidFill>
              <a:round/>
            </a:ln>
          </p:spPr>
        </p:sp>
        <p:sp>
          <p:nvSpPr>
            <p:cNvPr id="87" name="Átomo N_2"/>
            <p:cNvSpPr/>
            <p:nvPr/>
          </p:nvSpPr>
          <p:spPr>
            <a:xfrm>
              <a:off x="767120" y="1905357"/>
              <a:ext cx="235473" cy="235473"/>
            </a:xfrm>
            <a:prstGeom prst="ellipse">
              <a:avLst/>
            </a:prstGeom>
            <a:gradFill rotWithShape="1">
              <a:gsLst>
                <a:gs pos="0">
                  <a:srgbClr val="FFFFFF"/>
                </a:gs>
                <a:gs pos="28000">
                  <a:srgbClr val="2B5BD7"/>
                </a:gs>
                <a:gs pos="100000">
                  <a:srgbClr val="132860"/>
                </a:gs>
              </a:gsLst>
              <a:path path="circle">
                <a:fillToRect l="30000" t="25000" r="70000" b="75000"/>
              </a:path>
            </a:gradFill>
            <a:ln>
              <a:noFill/>
            </a:ln>
          </p:spPr>
        </p:sp>
        <p:sp>
          <p:nvSpPr>
            <p:cNvPr id="88" name="Flecha 121_2"/>
            <p:cNvSpPr/>
            <p:nvPr/>
          </p:nvSpPr>
          <p:spPr>
            <a:xfrm>
              <a:off x="1221796" y="1509523"/>
              <a:ext cx="51177" cy="308969"/>
            </a:xfrm>
            <a:custGeom>
              <a:avLst/>
              <a:gdLst/>
              <a:ahLst/>
              <a:cxnLst/>
              <a:rect l="0" t="0" r="r" b="b"/>
              <a:pathLst>
                <a:path w="55" h="337" fill="none">
                  <a:moveTo>
                    <a:pt x="0" y="337"/>
                  </a:moveTo>
                  <a:lnTo>
                    <a:pt x="55" y="0"/>
                  </a:lnTo>
                </a:path>
              </a:pathLst>
            </a:custGeom>
            <a:noFill/>
            <a:ln w="28152" cap="rnd">
              <a:solidFill>
                <a:srgbClr val="9A9A9A"/>
              </a:solidFill>
              <a:round/>
            </a:ln>
          </p:spPr>
        </p:sp>
        <p:sp>
          <p:nvSpPr>
            <p:cNvPr id="89" name="Flecha 123_2"/>
            <p:cNvSpPr/>
            <p:nvPr/>
          </p:nvSpPr>
          <p:spPr>
            <a:xfrm>
              <a:off x="1171802" y="1501242"/>
              <a:ext cx="51177" cy="308969"/>
            </a:xfrm>
            <a:custGeom>
              <a:avLst/>
              <a:gdLst/>
              <a:ahLst/>
              <a:cxnLst/>
              <a:rect l="0" t="0" r="r" b="b"/>
              <a:pathLst>
                <a:path w="55" h="337" fill="none">
                  <a:moveTo>
                    <a:pt x="0" y="337"/>
                  </a:moveTo>
                  <a:lnTo>
                    <a:pt x="55" y="0"/>
                  </a:lnTo>
                </a:path>
              </a:pathLst>
            </a:custGeom>
            <a:noFill/>
            <a:ln w="28152" cap="rnd">
              <a:solidFill>
                <a:srgbClr val="9A9A9A"/>
              </a:solidFill>
              <a:round/>
            </a:ln>
          </p:spPr>
        </p:sp>
        <p:sp>
          <p:nvSpPr>
            <p:cNvPr id="90" name="Flecha 125_2"/>
            <p:cNvSpPr/>
            <p:nvPr/>
          </p:nvSpPr>
          <p:spPr>
            <a:xfrm>
              <a:off x="682422" y="1880794"/>
              <a:ext cx="202435" cy="142300"/>
            </a:xfrm>
            <a:custGeom>
              <a:avLst/>
              <a:gdLst/>
              <a:ahLst/>
              <a:cxnLst/>
              <a:rect l="0" t="0" r="r" b="b"/>
              <a:pathLst>
                <a:path w="221" h="155" fill="none">
                  <a:moveTo>
                    <a:pt x="221" y="155"/>
                  </a:moveTo>
                  <a:lnTo>
                    <a:pt x="0" y="0"/>
                  </a:lnTo>
                </a:path>
              </a:pathLst>
            </a:custGeom>
            <a:noFill/>
            <a:ln w="35190" cap="rnd">
              <a:solidFill>
                <a:srgbClr val="9A9A9A"/>
              </a:solidFill>
              <a:round/>
            </a:ln>
          </p:spPr>
        </p:sp>
        <p:sp>
          <p:nvSpPr>
            <p:cNvPr id="91" name="Átomo O_10"/>
            <p:cNvSpPr/>
            <p:nvPr/>
          </p:nvSpPr>
          <p:spPr>
            <a:xfrm>
              <a:off x="1127761" y="1385166"/>
              <a:ext cx="240432" cy="24043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2" name="Átomo H_17"/>
            <p:cNvSpPr/>
            <p:nvPr/>
          </p:nvSpPr>
          <p:spPr>
            <a:xfrm>
              <a:off x="604714" y="1803085"/>
              <a:ext cx="155417" cy="15541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3" name="Forma 129"/>
            <p:cNvSpPr txBox="1"/>
            <p:nvPr/>
          </p:nvSpPr>
          <p:spPr>
            <a:xfrm>
              <a:off x="182880" y="2508686"/>
              <a:ext cx="201168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Urea</a:t>
              </a:r>
              <a:endParaRPr lang="es-AR" sz="1300" dirty="0">
                <a:latin typeface="Fira Sans Condensed"/>
              </a:endParaRPr>
            </a:p>
          </p:txBody>
        </p:sp>
      </p:grpSp>
      <p:grpSp>
        <p:nvGrpSpPr>
          <p:cNvPr id="94" name="Piruvato"/>
          <p:cNvGrpSpPr/>
          <p:nvPr/>
        </p:nvGrpSpPr>
        <p:grpSpPr>
          <a:xfrm>
            <a:off x="0" y="4134726"/>
            <a:ext cx="2286000" cy="1591240"/>
            <a:chOff x="0" y="4134726"/>
            <a:chExt cx="2286000" cy="1591240"/>
          </a:xfrm>
        </p:grpSpPr>
        <p:sp>
          <p:nvSpPr>
            <p:cNvPr id="95" name="Átomo O_11"/>
            <p:cNvSpPr/>
            <p:nvPr/>
          </p:nvSpPr>
          <p:spPr>
            <a:xfrm>
              <a:off x="1209488" y="5043004"/>
              <a:ext cx="229739" cy="22973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6" name="Flecha 132_2"/>
            <p:cNvSpPr/>
            <p:nvPr/>
          </p:nvSpPr>
          <p:spPr>
            <a:xfrm>
              <a:off x="1298747" y="4810748"/>
              <a:ext cx="107905" cy="338973"/>
            </a:xfrm>
            <a:custGeom>
              <a:avLst/>
              <a:gdLst/>
              <a:ahLst/>
              <a:cxnLst/>
              <a:rect l="0" t="0" r="r" b="b"/>
              <a:pathLst>
                <a:path w="118" h="370" fill="none">
                  <a:moveTo>
                    <a:pt x="118" y="0"/>
                  </a:moveTo>
                  <a:lnTo>
                    <a:pt x="0" y="370"/>
                  </a:lnTo>
                </a:path>
              </a:pathLst>
            </a:custGeom>
            <a:noFill/>
            <a:ln w="29863" cap="rnd">
              <a:solidFill>
                <a:srgbClr val="9A9A9A"/>
              </a:solidFill>
              <a:round/>
            </a:ln>
          </p:spPr>
        </p:sp>
        <p:sp>
          <p:nvSpPr>
            <p:cNvPr id="97" name="Flecha 134_2"/>
            <p:cNvSpPr/>
            <p:nvPr/>
          </p:nvSpPr>
          <p:spPr>
            <a:xfrm>
              <a:off x="1349969" y="4827054"/>
              <a:ext cx="107905" cy="338973"/>
            </a:xfrm>
            <a:custGeom>
              <a:avLst/>
              <a:gdLst/>
              <a:ahLst/>
              <a:cxnLst/>
              <a:rect l="0" t="0" r="r" b="b"/>
              <a:pathLst>
                <a:path w="118" h="370" fill="none">
                  <a:moveTo>
                    <a:pt x="118" y="0"/>
                  </a:moveTo>
                  <a:lnTo>
                    <a:pt x="0" y="370"/>
                  </a:lnTo>
                </a:path>
              </a:pathLst>
            </a:custGeom>
            <a:noFill/>
            <a:ln w="29863" cap="rnd">
              <a:solidFill>
                <a:srgbClr val="9A9A9A"/>
              </a:solidFill>
              <a:round/>
            </a:ln>
          </p:spPr>
        </p:sp>
        <p:sp>
          <p:nvSpPr>
            <p:cNvPr id="98" name="Átomo O_12"/>
            <p:cNvSpPr/>
            <p:nvPr/>
          </p:nvSpPr>
          <p:spPr>
            <a:xfrm>
              <a:off x="1655559" y="4539337"/>
              <a:ext cx="234425" cy="23442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9" name="Flecha 137_2"/>
            <p:cNvSpPr/>
            <p:nvPr/>
          </p:nvSpPr>
          <p:spPr>
            <a:xfrm>
              <a:off x="1432263" y="4656549"/>
              <a:ext cx="340508" cy="162352"/>
            </a:xfrm>
            <a:custGeom>
              <a:avLst/>
              <a:gdLst/>
              <a:ahLst/>
              <a:cxnLst/>
              <a:rect l="0" t="0" r="r" b="b"/>
              <a:pathLst>
                <a:path w="372" h="177" fill="none">
                  <a:moveTo>
                    <a:pt x="0" y="177"/>
                  </a:moveTo>
                  <a:lnTo>
                    <a:pt x="372" y="0"/>
                  </a:lnTo>
                </a:path>
              </a:pathLst>
            </a:custGeom>
            <a:noFill/>
            <a:ln w="37329" cap="rnd">
              <a:solidFill>
                <a:srgbClr val="9A9A9A"/>
              </a:solidFill>
              <a:round/>
            </a:ln>
          </p:spPr>
        </p:sp>
        <p:sp>
          <p:nvSpPr>
            <p:cNvPr id="100" name="Átomo H_18"/>
            <p:cNvSpPr/>
            <p:nvPr/>
          </p:nvSpPr>
          <p:spPr>
            <a:xfrm>
              <a:off x="498972" y="4759784"/>
              <a:ext cx="150105" cy="15010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1" name="Átomo C_9"/>
            <p:cNvSpPr/>
            <p:nvPr/>
          </p:nvSpPr>
          <p:spPr>
            <a:xfrm>
              <a:off x="1306869" y="4693507"/>
              <a:ext cx="250788" cy="25078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2" name="Flecha 141_2"/>
            <p:cNvSpPr/>
            <p:nvPr/>
          </p:nvSpPr>
          <p:spPr>
            <a:xfrm>
              <a:off x="1110332" y="4592712"/>
              <a:ext cx="321931" cy="226189"/>
            </a:xfrm>
            <a:custGeom>
              <a:avLst/>
              <a:gdLst/>
              <a:ahLst/>
              <a:cxnLst/>
              <a:rect l="0" t="0" r="r" b="b"/>
              <a:pathLst>
                <a:path w="352" h="247" fill="none">
                  <a:moveTo>
                    <a:pt x="0" y="0"/>
                  </a:moveTo>
                  <a:lnTo>
                    <a:pt x="352" y="247"/>
                  </a:lnTo>
                </a:path>
              </a:pathLst>
            </a:custGeom>
            <a:noFill/>
            <a:ln w="37329" cap="rnd">
              <a:solidFill>
                <a:srgbClr val="9A9A9A"/>
              </a:solidFill>
              <a:round/>
            </a:ln>
          </p:spPr>
        </p:sp>
        <p:sp>
          <p:nvSpPr>
            <p:cNvPr id="103" name="Flecha 143_2"/>
            <p:cNvSpPr/>
            <p:nvPr/>
          </p:nvSpPr>
          <p:spPr>
            <a:xfrm>
              <a:off x="574024" y="4785115"/>
              <a:ext cx="134539" cy="49721"/>
            </a:xfrm>
            <a:custGeom>
              <a:avLst/>
              <a:gdLst/>
              <a:ahLst/>
              <a:cxnLst/>
              <a:rect l="0" t="0" r="r" b="b"/>
              <a:pathLst>
                <a:path w="147" h="54" fill="none">
                  <a:moveTo>
                    <a:pt x="147" y="0"/>
                  </a:moveTo>
                  <a:lnTo>
                    <a:pt x="0" y="54"/>
                  </a:lnTo>
                </a:path>
              </a:pathLst>
            </a:custGeom>
            <a:noFill/>
            <a:ln w="37329" cap="rnd">
              <a:solidFill>
                <a:srgbClr val="9A9A9A"/>
              </a:solidFill>
              <a:round/>
            </a:ln>
          </p:spPr>
        </p:sp>
        <p:sp>
          <p:nvSpPr>
            <p:cNvPr id="104" name="Átomo C_10"/>
            <p:cNvSpPr/>
            <p:nvPr/>
          </p:nvSpPr>
          <p:spPr>
            <a:xfrm>
              <a:off x="978763" y="4461143"/>
              <a:ext cx="263137" cy="26313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5" name="Flecha 146_2"/>
            <p:cNvSpPr/>
            <p:nvPr/>
          </p:nvSpPr>
          <p:spPr>
            <a:xfrm>
              <a:off x="708564" y="4592712"/>
              <a:ext cx="401768" cy="192403"/>
            </a:xfrm>
            <a:custGeom>
              <a:avLst/>
              <a:gdLst/>
              <a:ahLst/>
              <a:cxnLst/>
              <a:rect l="0" t="0" r="r" b="b"/>
              <a:pathLst>
                <a:path w="439" h="210" fill="none">
                  <a:moveTo>
                    <a:pt x="0" y="210"/>
                  </a:moveTo>
                  <a:lnTo>
                    <a:pt x="439" y="0"/>
                  </a:lnTo>
                </a:path>
              </a:pathLst>
            </a:custGeom>
            <a:noFill/>
            <a:ln w="37329" cap="rnd">
              <a:solidFill>
                <a:srgbClr val="9A9A9A"/>
              </a:solidFill>
              <a:round/>
            </a:ln>
          </p:spPr>
        </p:sp>
        <p:sp>
          <p:nvSpPr>
            <p:cNvPr id="106" name="Átomo C_11"/>
            <p:cNvSpPr/>
            <p:nvPr/>
          </p:nvSpPr>
          <p:spPr>
            <a:xfrm>
              <a:off x="575735" y="4652286"/>
              <a:ext cx="265657" cy="26565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7" name="Flecha 149_2"/>
            <p:cNvSpPr/>
            <p:nvPr/>
          </p:nvSpPr>
          <p:spPr>
            <a:xfrm>
              <a:off x="1136431" y="4268688"/>
              <a:ext cx="81270" cy="330443"/>
            </a:xfrm>
            <a:custGeom>
              <a:avLst/>
              <a:gdLst/>
              <a:ahLst/>
              <a:cxnLst/>
              <a:rect l="0" t="0" r="r" b="b"/>
              <a:pathLst>
                <a:path w="88" h="361" fill="none">
                  <a:moveTo>
                    <a:pt x="0" y="361"/>
                  </a:moveTo>
                  <a:lnTo>
                    <a:pt x="88" y="0"/>
                  </a:lnTo>
                </a:path>
              </a:pathLst>
            </a:custGeom>
            <a:noFill/>
            <a:ln w="29863" cap="rnd">
              <a:solidFill>
                <a:srgbClr val="9A9A9A"/>
              </a:solidFill>
              <a:round/>
            </a:ln>
          </p:spPr>
        </p:sp>
        <p:sp>
          <p:nvSpPr>
            <p:cNvPr id="108" name="Flecha 151_2"/>
            <p:cNvSpPr/>
            <p:nvPr/>
          </p:nvSpPr>
          <p:spPr>
            <a:xfrm>
              <a:off x="1084232" y="4255850"/>
              <a:ext cx="81270" cy="330443"/>
            </a:xfrm>
            <a:custGeom>
              <a:avLst/>
              <a:gdLst/>
              <a:ahLst/>
              <a:cxnLst/>
              <a:rect l="0" t="0" r="r" b="b"/>
              <a:pathLst>
                <a:path w="88" h="361" fill="none">
                  <a:moveTo>
                    <a:pt x="0" y="361"/>
                  </a:moveTo>
                  <a:lnTo>
                    <a:pt x="88" y="0"/>
                  </a:lnTo>
                </a:path>
              </a:pathLst>
            </a:custGeom>
            <a:noFill/>
            <a:ln w="29863" cap="rnd">
              <a:solidFill>
                <a:srgbClr val="9A9A9A"/>
              </a:solidFill>
              <a:round/>
            </a:ln>
          </p:spPr>
        </p:sp>
        <p:sp>
          <p:nvSpPr>
            <p:cNvPr id="109" name="Flecha 153_2"/>
            <p:cNvSpPr/>
            <p:nvPr/>
          </p:nvSpPr>
          <p:spPr>
            <a:xfrm>
              <a:off x="708564" y="4785115"/>
              <a:ext cx="30876" cy="282746"/>
            </a:xfrm>
            <a:custGeom>
              <a:avLst/>
              <a:gdLst/>
              <a:ahLst/>
              <a:cxnLst/>
              <a:rect l="0" t="0" r="r" b="b"/>
              <a:pathLst>
                <a:path w="33" h="309" fill="none">
                  <a:moveTo>
                    <a:pt x="0" y="0"/>
                  </a:moveTo>
                  <a:lnTo>
                    <a:pt x="33" y="309"/>
                  </a:lnTo>
                </a:path>
              </a:pathLst>
            </a:custGeom>
            <a:noFill/>
            <a:ln w="37329" cap="rnd">
              <a:solidFill>
                <a:srgbClr val="9A9A9A"/>
              </a:solidFill>
              <a:round/>
            </a:ln>
          </p:spPr>
        </p:sp>
        <p:sp>
          <p:nvSpPr>
            <p:cNvPr id="110" name="Flecha 155_2"/>
            <p:cNvSpPr/>
            <p:nvPr/>
          </p:nvSpPr>
          <p:spPr>
            <a:xfrm>
              <a:off x="513229" y="4588239"/>
              <a:ext cx="195335" cy="196875"/>
            </a:xfrm>
            <a:custGeom>
              <a:avLst/>
              <a:gdLst/>
              <a:ahLst/>
              <a:cxnLst/>
              <a:rect l="0" t="0" r="r" b="b"/>
              <a:pathLst>
                <a:path w="213" h="215" fill="none">
                  <a:moveTo>
                    <a:pt x="213" y="215"/>
                  </a:moveTo>
                  <a:lnTo>
                    <a:pt x="0" y="0"/>
                  </a:lnTo>
                </a:path>
              </a:pathLst>
            </a:custGeom>
            <a:noFill/>
            <a:ln w="37329" cap="rnd">
              <a:solidFill>
                <a:srgbClr val="9A9A9A"/>
              </a:solidFill>
              <a:round/>
            </a:ln>
          </p:spPr>
        </p:sp>
        <p:sp>
          <p:nvSpPr>
            <p:cNvPr id="111" name="Átomo O_13"/>
            <p:cNvSpPr/>
            <p:nvPr/>
          </p:nvSpPr>
          <p:spPr>
            <a:xfrm>
              <a:off x="1064059" y="4134726"/>
              <a:ext cx="255085" cy="25508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12" name="Átomo H_19"/>
            <p:cNvSpPr/>
            <p:nvPr/>
          </p:nvSpPr>
          <p:spPr>
            <a:xfrm>
              <a:off x="657206" y="4985628"/>
              <a:ext cx="164466" cy="16446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3" name="Átomo H_20"/>
            <p:cNvSpPr/>
            <p:nvPr/>
          </p:nvSpPr>
          <p:spPr>
            <a:xfrm>
              <a:off x="430798" y="4505809"/>
              <a:ext cx="164861" cy="16486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4" name="Forma 160"/>
            <p:cNvSpPr txBox="1"/>
            <p:nvPr/>
          </p:nvSpPr>
          <p:spPr>
            <a:xfrm>
              <a:off x="0" y="5415070"/>
              <a:ext cx="2286000" cy="310896"/>
            </a:xfrm>
            <a:prstGeom prst="rect">
              <a:avLst/>
            </a:prstGeom>
            <a:noFill/>
            <a:ln>
              <a:noFill/>
            </a:ln>
          </p:spPr>
          <p:txBody>
            <a:bodyPr wrap="square" lIns="0" tIns="0" rIns="0" bIns="0" anchor="t"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Piruvato</a:t>
              </a:r>
              <a:endParaRPr lang="es-AR" sz="1300" dirty="0">
                <a:latin typeface="Fira Sans Condensed"/>
              </a:endParaRPr>
            </a:p>
          </p:txBody>
        </p:sp>
      </p:grpSp>
      <p:sp>
        <p:nvSpPr>
          <p:cNvPr id="11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par>
                          <p:cTn id="26" fill="hold">
                            <p:stCondLst>
                              <p:cond delay="125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50"/>
                                        <p:tgtEl>
                                          <p:spTgt spid="13"/>
                                        </p:tgtEl>
                                      </p:cBhvr>
                                    </p:animEffect>
                                  </p:childTnLst>
                                </p:cTn>
                              </p:par>
                            </p:childTnLst>
                          </p:cTn>
                        </p:par>
                        <p:par>
                          <p:cTn id="30"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Asintomático, 44 años: glucemia en ayunas </a:t>
              </a:r>
              <a:r>
                <a:rPr lang="es-AR" sz="1500" b="1" dirty="0">
                  <a:solidFill>
                    <a:srgbClr val="1E1E1E"/>
                  </a:solidFill>
                  <a:latin typeface="Fira Sans Condensed"/>
                  <a:ea typeface="Fira Sans Condensed"/>
                  <a:cs typeface="Fira Sans Condensed"/>
                  <a:sym typeface="Fira Sans Condensed"/>
                </a:rPr>
                <a:t>124 mg/dL</a:t>
              </a:r>
              <a:r>
                <a:rPr lang="es-AR" sz="1500" dirty="0">
                  <a:solidFill>
                    <a:srgbClr val="1E1E1E"/>
                  </a:solidFill>
                  <a:latin typeface="Fira Sans Condensed"/>
                  <a:ea typeface="Fira Sans Condensed"/>
                  <a:cs typeface="Fira Sans Condensed"/>
                  <a:sym typeface="Fira Sans Condensed"/>
                </a:rPr>
                <a:t>, HbA1c </a:t>
              </a:r>
              <a:r>
                <a:rPr lang="es-AR" sz="1500" b="1" dirty="0">
                  <a:solidFill>
                    <a:srgbClr val="1E1E1E"/>
                  </a:solidFill>
                  <a:latin typeface="Fira Sans Condensed"/>
                  <a:ea typeface="Fira Sans Condensed"/>
                  <a:cs typeface="Fira Sans Condensed"/>
                  <a:sym typeface="Fira Sans Condensed"/>
                </a:rPr>
                <a:t>6,6 %</a:t>
              </a:r>
              <a:r>
                <a:rPr lang="es-AR" sz="1500" dirty="0">
                  <a:solidFill>
                    <a:srgbClr val="1E1E1E"/>
                  </a:solidFill>
                  <a:latin typeface="Fira Sans Condensed"/>
                  <a:ea typeface="Fira Sans Condensed"/>
                  <a:cs typeface="Fira Sans Condensed"/>
                  <a:sym typeface="Fira Sans Condensed"/>
                </a:rPr>
                <a:t>, PTOG 2 h </a:t>
              </a:r>
              <a:r>
                <a:rPr lang="es-AR" sz="1500" b="1" dirty="0">
                  <a:solidFill>
                    <a:srgbClr val="1E1E1E"/>
                  </a:solidFill>
                  <a:latin typeface="Fira Sans Condensed"/>
                  <a:ea typeface="Fira Sans Condensed"/>
                  <a:cs typeface="Fira Sans Condensed"/>
                  <a:sym typeface="Fira Sans Condensed"/>
                </a:rPr>
                <a:t>196 mg/dL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A1c sobre el umbral (≥ 6,5); ayunas (100–125) y PTOG (140–199) en rango de </a:t>
              </a:r>
              <a:r>
                <a:rPr lang="es-AR" sz="1500" b="1" dirty="0">
                  <a:solidFill>
                    <a:srgbClr val="1E1E1E"/>
                  </a:solidFill>
                  <a:latin typeface="Fira Sans Condensed"/>
                  <a:ea typeface="Fira Sans Condensed"/>
                  <a:cs typeface="Fira Sans Condensed"/>
                  <a:sym typeface="Fira Sans Condensed"/>
                </a:rPr>
                <a:t>prediabetes</a:t>
              </a:r>
              <a:r>
                <a:rPr lang="es-AR" sz="1500" dirty="0">
                  <a:solidFill>
                    <a:srgbClr val="1E1E1E"/>
                  </a:solidFill>
                  <a:latin typeface="Fira Sans Condensed"/>
                  <a:ea typeface="Fira Sans Condensed"/>
                  <a:cs typeface="Fira Sans Condensed"/>
                  <a:sym typeface="Fira Sans Condensed"/>
                </a:rPr>
                <a:t>. ¿Se confirma diabetes?</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Sin hiperglucemia inequívoca: </a:t>
              </a:r>
              <a:r>
                <a:rPr lang="es-AR" sz="1500" b="1" dirty="0">
                  <a:solidFill>
                    <a:srgbClr val="1E1E1E"/>
                  </a:solidFill>
                  <a:latin typeface="Fira Sans Condensed"/>
                  <a:ea typeface="Fira Sans Condensed"/>
                  <a:cs typeface="Fira Sans Condensed"/>
                  <a:sym typeface="Fira Sans Condensed"/>
                </a:rPr>
                <a:t>dos resultados anormales</a:t>
              </a:r>
              <a:r>
                <a:rPr lang="es-AR" sz="1500" dirty="0">
                  <a:solidFill>
                    <a:srgbClr val="1E1E1E"/>
                  </a:solidFill>
                  <a:latin typeface="Fira Sans Condensed"/>
                  <a:ea typeface="Fira Sans Condensed"/>
                  <a:cs typeface="Fira Sans Condensed"/>
                  <a:sym typeface="Fira Sans Condensed"/>
                </a:rPr>
                <a:t> (misma prueba repetida o dos distintas).</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Resultados </a:t>
              </a:r>
              <a:r>
                <a:rPr lang="es-AR" sz="1500" b="1" dirty="0">
                  <a:solidFill>
                    <a:srgbClr val="1E1E1E"/>
                  </a:solidFill>
                  <a:latin typeface="Fira Sans Condensed"/>
                  <a:ea typeface="Fira Sans Condensed"/>
                  <a:cs typeface="Fira Sans Condensed"/>
                  <a:sym typeface="Fira Sans Condensed"/>
                </a:rPr>
                <a:t>discordantes</a:t>
              </a:r>
              <a:r>
                <a:rPr lang="es-AR" sz="1500" dirty="0">
                  <a:solidFill>
                    <a:srgbClr val="1E1E1E"/>
                  </a:solidFill>
                  <a:latin typeface="Fira Sans Condensed"/>
                  <a:ea typeface="Fira Sans Condensed"/>
                  <a:cs typeface="Fira Sans Condensed"/>
                  <a:sym typeface="Fira Sans Condensed"/>
                </a:rPr>
                <a:t> → repetir la prueba situada </a:t>
              </a:r>
              <a:r>
                <a:rPr lang="es-AR" sz="1500" b="1" dirty="0">
                  <a:solidFill>
                    <a:srgbClr val="1E1E1E"/>
                  </a:solidFill>
                  <a:latin typeface="Fira Sans Condensed"/>
                  <a:ea typeface="Fira Sans Condensed"/>
                  <a:cs typeface="Fira Sans Condensed"/>
                  <a:sym typeface="Fira Sans Condensed"/>
                </a:rPr>
                <a:t>sobre el umbral</a:t>
              </a:r>
              <a:r>
                <a:rPr lang="es-AR" sz="1500" dirty="0">
                  <a:solidFill>
                    <a:srgbClr val="1E1E1E"/>
                  </a:solidFill>
                  <a:latin typeface="Fira Sans Condensed"/>
                  <a:ea typeface="Fira Sans Condensed"/>
                  <a:cs typeface="Fira Sans Condensed"/>
                  <a:sym typeface="Fira Sans Condensed"/>
                </a:rPr>
                <a:t> (HbA1c); verificar calidad analítica.</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No confirmado aún</a:t>
              </a:r>
              <a:r>
                <a:rPr lang="es-AR" sz="1500" dirty="0">
                  <a:solidFill>
                    <a:srgbClr val="1E1E1E"/>
                  </a:solidFill>
                  <a:latin typeface="Fira Sans Condensed"/>
                  <a:ea typeface="Fira Sans Condensed"/>
                  <a:cs typeface="Fira Sans Condensed"/>
                  <a:sym typeface="Fira Sans Condensed"/>
                </a:rPr>
                <a:t>: repetir HbA1c. No diagnosticar por promedio ni descartar por la ayunas de 124.</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Cada prueba mide un aspecto distinto de la exposición glucémica; la discordancia exige investigar causas (p. ej., alteraciones eritrocitarias).</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EJERCICIO 1 · TRES PRUEBAS QUE NO COINCIDEN</a:t>
            </a:r>
            <a:endParaRPr lang="es-AR" sz="34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HbA1c </a:t>
              </a:r>
              <a:r>
                <a:rPr lang="es-AR" sz="1500" b="1" dirty="0">
                  <a:solidFill>
                    <a:srgbClr val="1E1E1E"/>
                  </a:solidFill>
                  <a:latin typeface="Fira Sans Condensed"/>
                  <a:ea typeface="Fira Sans Condensed"/>
                  <a:cs typeface="Fira Sans Condensed"/>
                  <a:sym typeface="Fira Sans Condensed"/>
                </a:rPr>
                <a:t>12 %</a:t>
              </a:r>
              <a:r>
                <a:rPr lang="es-AR" sz="1500" dirty="0">
                  <a:solidFill>
                    <a:srgbClr val="1E1E1E"/>
                  </a:solidFill>
                  <a:latin typeface="Fira Sans Condensed"/>
                  <a:ea typeface="Fira Sans Condensed"/>
                  <a:cs typeface="Fira Sans Condensed"/>
                  <a:sym typeface="Fira Sans Condensed"/>
                </a:rPr>
                <a:t>; glucemia basal aislada </a:t>
              </a:r>
              <a:r>
                <a:rPr lang="es-AR" sz="1500" b="1" dirty="0">
                  <a:solidFill>
                    <a:srgbClr val="1E1E1E"/>
                  </a:solidFill>
                  <a:latin typeface="Fira Sans Condensed"/>
                  <a:ea typeface="Fira Sans Condensed"/>
                  <a:cs typeface="Fira Sans Condensed"/>
                  <a:sym typeface="Fira Sans Condensed"/>
                </a:rPr>
                <a:t>160 mg/dL</a:t>
              </a:r>
              <a:r>
                <a:rPr lang="es-AR" sz="1500" dirty="0">
                  <a:solidFill>
                    <a:srgbClr val="1E1E1E"/>
                  </a:solidFill>
                  <a:latin typeface="Fira Sans Condensed"/>
                  <a:ea typeface="Fira Sans Condensed"/>
                  <a:cs typeface="Fira Sans Condensed"/>
                  <a:sym typeface="Fira Sans Condensed"/>
                </a:rPr>
                <a:t> (caso 11).</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¿Por qué no coinciden la A1c y la glucemia basal?</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eAG (mg/dL) = 28,7 × HbA1c − 46,7</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28,7 × 12 = 344,4 → 344,4 − 46,7</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eAG ≈ 297,7 mg/dL</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La A1c pondera </a:t>
              </a:r>
              <a:r>
                <a:rPr lang="es-AR" sz="1500" b="1" dirty="0">
                  <a:solidFill>
                    <a:srgbClr val="1E1E1E"/>
                  </a:solidFill>
                  <a:latin typeface="Fira Sans Condensed"/>
                  <a:ea typeface="Fira Sans Condensed"/>
                  <a:cs typeface="Fira Sans Condensed"/>
                  <a:sym typeface="Fira Sans Condensed"/>
                </a:rPr>
                <a:t>semanas</a:t>
              </a:r>
              <a:r>
                <a:rPr lang="es-AR" sz="1500" dirty="0">
                  <a:solidFill>
                    <a:srgbClr val="1E1E1E"/>
                  </a:solidFill>
                  <a:latin typeface="Fira Sans Condensed"/>
                  <a:ea typeface="Fira Sans Condensed"/>
                  <a:cs typeface="Fira Sans Condensed"/>
                  <a:sym typeface="Fira Sans Condensed"/>
                </a:rPr>
                <a:t>; la glucemia es una </a:t>
              </a:r>
              <a:r>
                <a:rPr lang="es-AR" sz="1500" b="1" dirty="0">
                  <a:solidFill>
                    <a:srgbClr val="1E1E1E"/>
                  </a:solidFill>
                  <a:latin typeface="Fira Sans Condensed"/>
                  <a:ea typeface="Fira Sans Condensed"/>
                  <a:cs typeface="Fira Sans Condensed"/>
                  <a:sym typeface="Fira Sans Condensed"/>
                </a:rPr>
                <a:t>instantánea</a:t>
              </a:r>
              <a:r>
                <a:rPr lang="es-AR" sz="1500" dirty="0">
                  <a:solidFill>
                    <a:srgbClr val="1E1E1E"/>
                  </a:solidFill>
                  <a:latin typeface="Fira Sans Condensed"/>
                  <a:ea typeface="Fira Sans Condensed"/>
                  <a:cs typeface="Fira Sans Condensed"/>
                  <a:sym typeface="Fira Sans Condensed"/>
                </a:rPr>
                <a:t>: picos posprandiales, adherencia variable, cambios recientes. Revisar vida eritrocitaria ante discordancias extremas.</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EJERCICIO 2 · HbA1c COMO GLUCEMIA PROMEDIO</a:t>
            </a:r>
            <a:endParaRPr lang="es-AR" sz="33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pH </a:t>
              </a:r>
              <a:r>
                <a:rPr lang="es-AR" sz="1500" b="1" dirty="0">
                  <a:solidFill>
                    <a:srgbClr val="1E1E1E"/>
                  </a:solidFill>
                  <a:latin typeface="Fira Sans Condensed"/>
                  <a:ea typeface="Fira Sans Condensed"/>
                  <a:cs typeface="Fira Sans Condensed"/>
                  <a:sym typeface="Fira Sans Condensed"/>
                </a:rPr>
                <a:t>7,15</a:t>
              </a:r>
              <a:r>
                <a:rPr lang="es-AR" sz="1500" dirty="0">
                  <a:solidFill>
                    <a:srgbClr val="1E1E1E"/>
                  </a:solidFill>
                  <a:latin typeface="Fira Sans Condensed"/>
                  <a:ea typeface="Fira Sans Condensed"/>
                  <a:cs typeface="Fira Sans Condensed"/>
                  <a:sym typeface="Fira Sans Condensed"/>
                </a:rPr>
                <a:t> · HCO₃⁻ </a:t>
              </a:r>
              <a:r>
                <a:rPr lang="es-AR" sz="1500" b="1" dirty="0">
                  <a:solidFill>
                    <a:srgbClr val="1E1E1E"/>
                  </a:solidFill>
                  <a:latin typeface="Fira Sans Condensed"/>
                  <a:ea typeface="Fira Sans Condensed"/>
                  <a:cs typeface="Fira Sans Condensed"/>
                  <a:sym typeface="Fira Sans Condensed"/>
                </a:rPr>
                <a:t>13</a:t>
              </a:r>
              <a:r>
                <a:rPr lang="es-AR" sz="1500" dirty="0">
                  <a:solidFill>
                    <a:srgbClr val="1E1E1E"/>
                  </a:solidFill>
                  <a:latin typeface="Fira Sans Condensed"/>
                  <a:ea typeface="Fira Sans Condensed"/>
                  <a:cs typeface="Fira Sans Condensed"/>
                  <a:sym typeface="Fira Sans Condensed"/>
                </a:rPr>
                <a:t> · pCO₂ </a:t>
              </a:r>
              <a:r>
                <a:rPr lang="es-AR" sz="1500" b="1" dirty="0">
                  <a:solidFill>
                    <a:srgbClr val="1E1E1E"/>
                  </a:solidFill>
                  <a:latin typeface="Fira Sans Condensed"/>
                  <a:ea typeface="Fira Sans Condensed"/>
                  <a:cs typeface="Fira Sans Condensed"/>
                  <a:sym typeface="Fira Sans Condensed"/>
                </a:rPr>
                <a:t>24</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¿Pertenecen los tres valores a una tríada coherente?</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pH = 6,1 + log[HCO₃⁻ / (0,03 × pCO₂)]</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0,03 × 24 = 0,72 · 13/0,72 = 18,06 · log = 1,257</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pH calculado ≈ 7,36 ≠ 7,15</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La tríada </a:t>
              </a:r>
              <a:r>
                <a:rPr lang="es-AR" sz="1500" b="1" dirty="0">
                  <a:solidFill>
                    <a:srgbClr val="1E1E1E"/>
                  </a:solidFill>
                  <a:latin typeface="Fira Sans Condensed"/>
                  <a:ea typeface="Fira Sans Condensed"/>
                  <a:cs typeface="Fira Sans Condensed"/>
                  <a:sym typeface="Fira Sans Condensed"/>
                </a:rPr>
                <a:t>no es coherente</a:t>
              </a:r>
              <a:r>
                <a:rPr lang="es-AR" sz="1500" dirty="0">
                  <a:solidFill>
                    <a:srgbClr val="1E1E1E"/>
                  </a:solidFill>
                  <a:latin typeface="Fira Sans Condensed"/>
                  <a:ea typeface="Fira Sans Condensed"/>
                  <a:cs typeface="Fira Sans Condensed"/>
                  <a:sym typeface="Fira Sans Condensed"/>
                </a:rPr>
                <a:t>: repetir muestras y no clasificar trastornos mixtos hasta corregir la discordancia.</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EJERCICIO 3 · COHERENCIA DE UNA GASOMETRÍA</a:t>
            </a:r>
            <a:endParaRPr lang="es-AR" sz="33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HCO₃⁻ </a:t>
              </a:r>
              <a:r>
                <a:rPr lang="es-AR" sz="1500" b="1" dirty="0">
                  <a:solidFill>
                    <a:srgbClr val="1E1E1E"/>
                  </a:solidFill>
                  <a:latin typeface="Fira Sans Condensed"/>
                  <a:ea typeface="Fira Sans Condensed"/>
                  <a:cs typeface="Fira Sans Condensed"/>
                  <a:sym typeface="Fira Sans Condensed"/>
                </a:rPr>
                <a:t>13</a:t>
              </a:r>
              <a:r>
                <a:rPr lang="es-AR" sz="1500" dirty="0">
                  <a:solidFill>
                    <a:srgbClr val="1E1E1E"/>
                  </a:solidFill>
                  <a:latin typeface="Fira Sans Condensed"/>
                  <a:ea typeface="Fira Sans Condensed"/>
                  <a:cs typeface="Fira Sans Condensed"/>
                  <a:sym typeface="Fira Sans Condensed"/>
                </a:rPr>
                <a:t>; pCO₂ medida </a:t>
              </a:r>
              <a:r>
                <a:rPr lang="es-AR" sz="1500" b="1" dirty="0">
                  <a:solidFill>
                    <a:srgbClr val="1E1E1E"/>
                  </a:solidFill>
                  <a:latin typeface="Fira Sans Condensed"/>
                  <a:ea typeface="Fira Sans Condensed"/>
                  <a:cs typeface="Fira Sans Condensed"/>
                  <a:sym typeface="Fira Sans Condensed"/>
                </a:rPr>
                <a:t>24</a:t>
              </a:r>
              <a:r>
                <a:rPr lang="es-AR" sz="1500" dirty="0">
                  <a:solidFill>
                    <a:srgbClr val="1E1E1E"/>
                  </a:solidFill>
                  <a:latin typeface="Fira Sans Condensed"/>
                  <a:ea typeface="Fira Sans Condensed"/>
                  <a:cs typeface="Fira Sans Condensed"/>
                  <a:sym typeface="Fira Sans Condensed"/>
                </a:rPr>
                <a:t> (misma tríada del ej. 3).</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¿La pCO₂ es la esperable para la acidosis metabólica?</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Winter: pCO₂ esperada = 1,5 × HCO₃⁻ + 8 ± 2</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1,5 × 13 + 8 = 27,5 → banda 25,5–29,5</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24 &lt; 25,5: </a:t>
              </a:r>
              <a:r>
                <a:rPr lang="es-AR" sz="1500" b="1" dirty="0">
                  <a:solidFill>
                    <a:srgbClr val="1E1E1E"/>
                  </a:solidFill>
                  <a:latin typeface="Fira Sans Condensed"/>
                  <a:ea typeface="Fira Sans Condensed"/>
                  <a:cs typeface="Fira Sans Condensed"/>
                  <a:sym typeface="Fira Sans Condensed"/>
                </a:rPr>
                <a:t>algo por debajo</a:t>
              </a:r>
              <a:r>
                <a:rPr lang="es-AR" sz="1500" dirty="0">
                  <a:solidFill>
                    <a:srgbClr val="1E1E1E"/>
                  </a:solidFill>
                  <a:latin typeface="Fira Sans Condensed"/>
                  <a:ea typeface="Fira Sans Condensed"/>
                  <a:cs typeface="Fira Sans Condensed"/>
                  <a:sym typeface="Fira Sans Condensed"/>
                </a:rPr>
                <a:t> de lo esperado</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Sólo </a:t>
              </a:r>
              <a:r>
                <a:rPr lang="es-AR" sz="1500" b="1" dirty="0">
                  <a:solidFill>
                    <a:srgbClr val="1E1E1E"/>
                  </a:solidFill>
                  <a:latin typeface="Fira Sans Condensed"/>
                  <a:ea typeface="Fira Sans Condensed"/>
                  <a:cs typeface="Fira Sans Condensed"/>
                  <a:sym typeface="Fira Sans Condensed"/>
                </a:rPr>
                <a:t>hipótesis</a:t>
              </a:r>
              <a:r>
                <a:rPr lang="es-AR" sz="1500" dirty="0">
                  <a:solidFill>
                    <a:srgbClr val="1E1E1E"/>
                  </a:solidFill>
                  <a:latin typeface="Fira Sans Condensed"/>
                  <a:ea typeface="Fira Sans Condensed"/>
                  <a:cs typeface="Fira Sans Condensed"/>
                  <a:sym typeface="Fira Sans Condensed"/>
                </a:rPr>
                <a:t> de alcalosis respiratoria agregada (fiebre, neumonía), </a:t>
              </a:r>
              <a:r>
                <a:rPr lang="es-AR" sz="1500" b="1" dirty="0">
                  <a:solidFill>
                    <a:srgbClr val="1E1E1E"/>
                  </a:solidFill>
                  <a:latin typeface="Fira Sans Condensed"/>
                  <a:ea typeface="Fira Sans Condensed"/>
                  <a:cs typeface="Fira Sans Condensed"/>
                  <a:sym typeface="Fira Sans Condensed"/>
                </a:rPr>
                <a:t>no certeza</a:t>
              </a:r>
              <a:r>
                <a:rPr lang="es-AR" sz="1500" dirty="0">
                  <a:solidFill>
                    <a:srgbClr val="1E1E1E"/>
                  </a:solidFill>
                  <a:latin typeface="Fira Sans Condensed"/>
                  <a:ea typeface="Fira Sans Condensed"/>
                  <a:cs typeface="Fira Sans Condensed"/>
                  <a:sym typeface="Fira Sans Condensed"/>
                </a:rPr>
                <a:t>, porque la tríada general es inconsistente.</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EJERCICIO 4 · ¿COMPENSACIÓN VENTILATORIA ADECUADA?</a:t>
            </a:r>
            <a:endParaRPr lang="es-AR" sz="27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Paciente distinto: Na⁺ </a:t>
              </a:r>
              <a:r>
                <a:rPr lang="es-AR" sz="1500" b="1" dirty="0">
                  <a:solidFill>
                    <a:srgbClr val="1E1E1E"/>
                  </a:solidFill>
                  <a:latin typeface="Fira Sans Condensed"/>
                  <a:ea typeface="Fira Sans Condensed"/>
                  <a:cs typeface="Fira Sans Condensed"/>
                  <a:sym typeface="Fira Sans Condensed"/>
                </a:rPr>
                <a:t>140</a:t>
              </a:r>
              <a:r>
                <a:rPr lang="es-AR" sz="1500" dirty="0">
                  <a:solidFill>
                    <a:srgbClr val="1E1E1E"/>
                  </a:solidFill>
                  <a:latin typeface="Fira Sans Condensed"/>
                  <a:ea typeface="Fira Sans Condensed"/>
                  <a:cs typeface="Fira Sans Condensed"/>
                  <a:sym typeface="Fira Sans Condensed"/>
                </a:rPr>
                <a:t>, Cl⁻ </a:t>
              </a:r>
              <a:r>
                <a:rPr lang="es-AR" sz="1500" b="1" dirty="0">
                  <a:solidFill>
                    <a:srgbClr val="1E1E1E"/>
                  </a:solidFill>
                  <a:latin typeface="Fira Sans Condensed"/>
                  <a:ea typeface="Fira Sans Condensed"/>
                  <a:cs typeface="Fira Sans Condensed"/>
                  <a:sym typeface="Fira Sans Condensed"/>
                </a:rPr>
                <a:t>102</a:t>
              </a:r>
              <a:r>
                <a:rPr lang="es-AR" sz="1500" dirty="0">
                  <a:solidFill>
                    <a:srgbClr val="1E1E1E"/>
                  </a:solidFill>
                  <a:latin typeface="Fira Sans Condensed"/>
                  <a:ea typeface="Fira Sans Condensed"/>
                  <a:cs typeface="Fira Sans Condensed"/>
                  <a:sym typeface="Fira Sans Condensed"/>
                </a:rPr>
                <a:t>, HCO₃⁻ </a:t>
              </a:r>
              <a:r>
                <a:rPr lang="es-AR" sz="1500" b="1" dirty="0">
                  <a:solidFill>
                    <a:srgbClr val="1E1E1E"/>
                  </a:solidFill>
                  <a:latin typeface="Fira Sans Condensed"/>
                  <a:ea typeface="Fira Sans Condensed"/>
                  <a:cs typeface="Fira Sans Condensed"/>
                  <a:sym typeface="Fira Sans Condensed"/>
                </a:rPr>
                <a:t>12</a:t>
              </a:r>
              <a:r>
                <a:rPr lang="es-AR" sz="1500" dirty="0">
                  <a:solidFill>
                    <a:srgbClr val="1E1E1E"/>
                  </a:solidFill>
                  <a:latin typeface="Fira Sans Condensed"/>
                  <a:ea typeface="Fira Sans Condensed"/>
                  <a:cs typeface="Fira Sans Condensed"/>
                  <a:sym typeface="Fira Sans Condensed"/>
                </a:rPr>
                <a:t>, albúmina </a:t>
              </a:r>
              <a:r>
                <a:rPr lang="es-AR" sz="1500" b="1" dirty="0">
                  <a:solidFill>
                    <a:srgbClr val="1E1E1E"/>
                  </a:solidFill>
                  <a:latin typeface="Fira Sans Condensed"/>
                  <a:ea typeface="Fira Sans Condensed"/>
                  <a:cs typeface="Fira Sans Condensed"/>
                  <a:sym typeface="Fira Sans Condensed"/>
                </a:rPr>
                <a:t>2 g/dL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¿Hay aniones no medidos aumentados?</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AG = Na⁺ − (Cl⁻ + HCO₃⁻) · AGc = AG + 2,5 × (4 − albúmina)</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140 − (102 + 12) = 26 · 26 + 2,5 × (4 − 2) = 26 + 5</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AG = 26 · AG corregido ≈ 31 mEq/L</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Aniones no medidos </a:t>
              </a:r>
              <a:r>
                <a:rPr lang="es-AR" sz="1500" b="1" dirty="0">
                  <a:solidFill>
                    <a:srgbClr val="1E1E1E"/>
                  </a:solidFill>
                  <a:latin typeface="Fira Sans Condensed"/>
                  <a:ea typeface="Fira Sans Condensed"/>
                  <a:cs typeface="Fira Sans Condensed"/>
                  <a:sym typeface="Fira Sans Condensed"/>
                </a:rPr>
                <a:t>sustancialmente elevados</a:t>
              </a:r>
              <a:r>
                <a:rPr lang="es-AR" sz="1500" dirty="0">
                  <a:solidFill>
                    <a:srgbClr val="1E1E1E"/>
                  </a:solidFill>
                  <a:latin typeface="Fira Sans Condensed"/>
                  <a:ea typeface="Fira Sans Condensed"/>
                  <a:cs typeface="Fira Sans Condensed"/>
                  <a:sym typeface="Fira Sans Condensed"/>
                </a:rPr>
                <a:t>: cetonas, lactato, uremia, tóxicos. En los casos 11/12 </a:t>
              </a:r>
              <a:r>
                <a:rPr lang="es-AR" sz="1500" b="1" dirty="0">
                  <a:solidFill>
                    <a:srgbClr val="1E1E1E"/>
                  </a:solidFill>
                  <a:latin typeface="Fira Sans Condensed"/>
                  <a:ea typeface="Fira Sans Condensed"/>
                  <a:cs typeface="Fira Sans Condensed"/>
                  <a:sym typeface="Fira Sans Condensed"/>
                </a:rPr>
                <a:t>no se puede calcular</a:t>
              </a:r>
              <a:r>
                <a:rPr lang="es-AR" sz="1500" dirty="0">
                  <a:solidFill>
                    <a:srgbClr val="1E1E1E"/>
                  </a:solidFill>
                  <a:latin typeface="Fira Sans Condensed"/>
                  <a:ea typeface="Fira Sans Condensed"/>
                  <a:cs typeface="Fira Sans Condensed"/>
                  <a:sym typeface="Fira Sans Condensed"/>
                </a:rPr>
                <a:t> (faltan Na⁺ y Cl⁻).</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55549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700" dirty="0">
                <a:solidFill>
                  <a:srgbClr val="1E1E1E"/>
                </a:solidFill>
                <a:effectLst>
                  <a:glow rad="101600">
                    <a:srgbClr val="FFFFFF">
                      <a:alpha val="70000"/>
                    </a:srgbClr>
                  </a:glow>
                </a:effectLst>
                <a:latin typeface="Permanent Marker"/>
                <a:ea typeface="Permanent Marker"/>
                <a:cs typeface="Permanent Marker"/>
                <a:sym typeface="Permanent Marker"/>
              </a:rPr>
              <a:t>EJERCICIO 5 · ANION GAP CON CORRECCIÓN POR ALBÚMINA</a:t>
            </a:r>
            <a:endParaRPr lang="es-AR" sz="27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Paciente hipotético: Na⁺ </a:t>
              </a:r>
              <a:r>
                <a:rPr lang="es-AR" sz="1500" b="1" dirty="0">
                  <a:solidFill>
                    <a:srgbClr val="1E1E1E"/>
                  </a:solidFill>
                  <a:latin typeface="Fira Sans Condensed"/>
                  <a:ea typeface="Fira Sans Condensed"/>
                  <a:cs typeface="Fira Sans Condensed"/>
                  <a:sym typeface="Fira Sans Condensed"/>
                </a:rPr>
                <a:t>145</a:t>
              </a:r>
              <a:r>
                <a:rPr lang="es-AR" sz="1500" dirty="0">
                  <a:solidFill>
                    <a:srgbClr val="1E1E1E"/>
                  </a:solidFill>
                  <a:latin typeface="Fira Sans Condensed"/>
                  <a:ea typeface="Fira Sans Condensed"/>
                  <a:cs typeface="Fira Sans Condensed"/>
                  <a:sym typeface="Fira Sans Condensed"/>
                </a:rPr>
                <a:t>, glucosa </a:t>
              </a:r>
              <a:r>
                <a:rPr lang="es-AR" sz="1500" b="1" dirty="0">
                  <a:solidFill>
                    <a:srgbClr val="1E1E1E"/>
                  </a:solidFill>
                  <a:latin typeface="Fira Sans Condensed"/>
                  <a:ea typeface="Fira Sans Condensed"/>
                  <a:cs typeface="Fira Sans Condensed"/>
                  <a:sym typeface="Fira Sans Condensed"/>
                </a:rPr>
                <a:t>684</a:t>
              </a:r>
              <a:r>
                <a:rPr lang="es-AR" sz="1500" dirty="0">
                  <a:solidFill>
                    <a:srgbClr val="1E1E1E"/>
                  </a:solidFill>
                  <a:latin typeface="Fira Sans Condensed"/>
                  <a:ea typeface="Fira Sans Condensed"/>
                  <a:cs typeface="Fira Sans Condensed"/>
                  <a:sym typeface="Fira Sans Condensed"/>
                </a:rPr>
                <a:t>, BUN </a:t>
              </a:r>
              <a:r>
                <a:rPr lang="es-AR" sz="1500" b="1" dirty="0">
                  <a:solidFill>
                    <a:srgbClr val="1E1E1E"/>
                  </a:solidFill>
                  <a:latin typeface="Fira Sans Condensed"/>
                  <a:ea typeface="Fira Sans Condensed"/>
                  <a:cs typeface="Fira Sans Condensed"/>
                  <a:sym typeface="Fira Sans Condensed"/>
                </a:rPr>
                <a:t>56</a:t>
              </a:r>
              <a:r>
                <a:rPr lang="es-AR" sz="1500" dirty="0">
                  <a:solidFill>
                    <a:srgbClr val="1E1E1E"/>
                  </a:solidFill>
                  <a:latin typeface="Fira Sans Condensed"/>
                  <a:ea typeface="Fira Sans Condensed"/>
                  <a:cs typeface="Fira Sans Condensed"/>
                  <a:sym typeface="Fira Sans Condensed"/>
                </a:rPr>
                <a:t> (mg/dL).</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¿Cuánto aporta la urea a la tonicidad?</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Efectiva = 2 Na⁺ + glucosa/18 · Total = efectiva + BUN/2,8</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2 × 145 + 684/18 = 290 + 38 · 328 + 56/2,8 = 328 + 20</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Efectiva 328 · total 348 mOsm/kg</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La urea suma </a:t>
              </a:r>
              <a:r>
                <a:rPr lang="es-AR" sz="1500" b="1" dirty="0">
                  <a:solidFill>
                    <a:srgbClr val="1E1E1E"/>
                  </a:solidFill>
                  <a:latin typeface="Fira Sans Condensed"/>
                  <a:ea typeface="Fira Sans Condensed"/>
                  <a:cs typeface="Fira Sans Condensed"/>
                  <a:sym typeface="Fira Sans Condensed"/>
                </a:rPr>
                <a:t>20</a:t>
              </a:r>
              <a:r>
                <a:rPr lang="es-AR" sz="1500" dirty="0">
                  <a:solidFill>
                    <a:srgbClr val="1E1E1E"/>
                  </a:solidFill>
                  <a:latin typeface="Fira Sans Condensed"/>
                  <a:ea typeface="Fira Sans Condensed"/>
                  <a:cs typeface="Fira Sans Condensed"/>
                  <a:sym typeface="Fira Sans Condensed"/>
                </a:rPr>
                <a:t> a la total pero </a:t>
              </a:r>
              <a:r>
                <a:rPr lang="es-AR" sz="1500" b="1" dirty="0">
                  <a:solidFill>
                    <a:srgbClr val="1E1E1E"/>
                  </a:solidFill>
                  <a:latin typeface="Fira Sans Condensed"/>
                  <a:ea typeface="Fira Sans Condensed"/>
                  <a:cs typeface="Fira Sans Condensed"/>
                  <a:sym typeface="Fira Sans Condensed"/>
                </a:rPr>
                <a:t>no</a:t>
              </a:r>
              <a:r>
                <a:rPr lang="es-AR" sz="1500" dirty="0">
                  <a:solidFill>
                    <a:srgbClr val="1E1E1E"/>
                  </a:solidFill>
                  <a:latin typeface="Fira Sans Condensed"/>
                  <a:ea typeface="Fira Sans Condensed"/>
                  <a:cs typeface="Fira Sans Condensed"/>
                  <a:sym typeface="Fira Sans Condensed"/>
                </a:rPr>
                <a:t> a la tonicidad sostenida: para el agua intracelular se usa la </a:t>
              </a:r>
              <a:r>
                <a:rPr lang="es-AR" sz="1500" b="1" dirty="0">
                  <a:solidFill>
                    <a:srgbClr val="1E1E1E"/>
                  </a:solidFill>
                  <a:latin typeface="Fira Sans Condensed"/>
                  <a:ea typeface="Fira Sans Condensed"/>
                  <a:cs typeface="Fira Sans Condensed"/>
                  <a:sym typeface="Fira Sans Condensed"/>
                </a:rPr>
                <a:t>efectiva</a:t>
              </a:r>
              <a:r>
                <a:rPr lang="es-AR" sz="1500" dirty="0">
                  <a:solidFill>
                    <a:srgbClr val="1E1E1E"/>
                  </a:solidFill>
                  <a:latin typeface="Fira Sans Condensed"/>
                  <a:ea typeface="Fira Sans Condensed"/>
                  <a:cs typeface="Fira Sans Condensed"/>
                  <a:sym typeface="Fira Sans Condensed"/>
                </a:rPr>
                <a:t>, no un «325» sin definición.</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58851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900" dirty="0">
                <a:solidFill>
                  <a:srgbClr val="1E1E1E"/>
                </a:solidFill>
                <a:effectLst>
                  <a:glow rad="101600">
                    <a:srgbClr val="FFFFFF">
                      <a:alpha val="70000"/>
                    </a:srgbClr>
                  </a:glow>
                </a:effectLst>
                <a:latin typeface="Permanent Marker"/>
                <a:ea typeface="Permanent Marker"/>
                <a:cs typeface="Permanent Marker"/>
                <a:sym typeface="Permanent Marker"/>
              </a:rPr>
              <a:t>EJERCICIO 6 · OSMOLALIDAD EFECTIVA FRENTE A TOTAL</a:t>
            </a:r>
            <a:endParaRPr lang="es-AR" sz="29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CAD con K⁺ sérico </a:t>
              </a:r>
              <a:r>
                <a:rPr lang="es-AR" sz="1500" b="1" dirty="0">
                  <a:solidFill>
                    <a:srgbClr val="1E1E1E"/>
                  </a:solidFill>
                  <a:latin typeface="Fira Sans Condensed"/>
                  <a:ea typeface="Fira Sans Condensed"/>
                  <a:cs typeface="Fira Sans Condensed"/>
                  <a:sym typeface="Fira Sans Condensed"/>
                </a:rPr>
                <a:t>4,8 mmol/L</a:t>
              </a:r>
              <a:r>
                <a:rPr lang="es-AR" sz="1500" dirty="0">
                  <a:solidFill>
                    <a:srgbClr val="1E1E1E"/>
                  </a:solidFill>
                  <a:latin typeface="Fira Sans Condensed"/>
                  <a:ea typeface="Fira Sans Condensed"/>
                  <a:cs typeface="Fira Sans Condensed"/>
                  <a:sym typeface="Fira Sans Condensed"/>
                </a:rPr>
                <a:t> y fuerte glucosuria.</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¿Tiene potasio corporal total normal?</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K⁺ sérico ≠ K⁺ corporal total (≈ 98 % intracelular)</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Salida celular (insulinopenia, acidosis, hiperosmolalidad) + pérdidas urinarias y vómitos</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No necesariamente</a:t>
              </a:r>
              <a:r>
                <a:rPr lang="es-AR" sz="1500" dirty="0">
                  <a:solidFill>
                    <a:srgbClr val="1E1E1E"/>
                  </a:solidFill>
                  <a:latin typeface="Fira Sans Condensed"/>
                  <a:ea typeface="Fira Sans Condensed"/>
                  <a:cs typeface="Fira Sans Condensed"/>
                  <a:sym typeface="Fira Sans Condensed"/>
                </a:rPr>
                <a:t>: probable déficit total</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Al iniciar insulina el K⁺ </a:t>
              </a:r>
              <a:r>
                <a:rPr lang="es-AR" sz="1500" b="1" dirty="0">
                  <a:solidFill>
                    <a:srgbClr val="1E1E1E"/>
                  </a:solidFill>
                  <a:latin typeface="Fira Sans Condensed"/>
                  <a:ea typeface="Fira Sans Condensed"/>
                  <a:cs typeface="Fira Sans Condensed"/>
                  <a:sym typeface="Fira Sans Condensed"/>
                </a:rPr>
                <a:t>cae</a:t>
              </a:r>
              <a:r>
                <a:rPr lang="es-AR" sz="1500" dirty="0">
                  <a:solidFill>
                    <a:srgbClr val="1E1E1E"/>
                  </a:solidFill>
                  <a:latin typeface="Fira Sans Condensed"/>
                  <a:ea typeface="Fira Sans Condensed"/>
                  <a:cs typeface="Fira Sans Condensed"/>
                  <a:sym typeface="Fira Sans Condensed"/>
                </a:rPr>
                <a:t> por entrada celular: medición </a:t>
              </a:r>
              <a:r>
                <a:rPr lang="es-AR" sz="1500" b="1" dirty="0">
                  <a:solidFill>
                    <a:srgbClr val="1E1E1E"/>
                  </a:solidFill>
                  <a:latin typeface="Fira Sans Condensed"/>
                  <a:ea typeface="Fira Sans Condensed"/>
                  <a:cs typeface="Fira Sans Condensed"/>
                  <a:sym typeface="Fira Sans Condensed"/>
                </a:rPr>
                <a:t>seriada</a:t>
              </a:r>
              <a:r>
                <a:rPr lang="es-AR" sz="1500" dirty="0">
                  <a:solidFill>
                    <a:srgbClr val="1E1E1E"/>
                  </a:solidFill>
                  <a:latin typeface="Fira Sans Condensed"/>
                  <a:ea typeface="Fira Sans Condensed"/>
                  <a:cs typeface="Fira Sans Condensed"/>
                  <a:sym typeface="Fira Sans Condensed"/>
                </a:rPr>
                <a:t> y reposición guiada.</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EJERCICIO 7 · POTASIO «NORMAL» EN CAD</a:t>
            </a:r>
            <a:endParaRPr lang="es-AR" sz="34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Tras varias horas de insulina: </a:t>
              </a:r>
              <a:r>
                <a:rPr lang="es-AR" sz="1500" b="1" dirty="0">
                  <a:solidFill>
                    <a:srgbClr val="1E1E1E"/>
                  </a:solidFill>
                  <a:latin typeface="Fira Sans Condensed"/>
                  <a:ea typeface="Fira Sans Condensed"/>
                  <a:cs typeface="Fira Sans Condensed"/>
                  <a:sym typeface="Fira Sans Condensed"/>
                </a:rPr>
                <a:t>β-OHB sanguíneo baja</a:t>
              </a:r>
              <a:r>
                <a:rPr lang="es-AR" sz="1500" dirty="0">
                  <a:solidFill>
                    <a:srgbClr val="1E1E1E"/>
                  </a:solidFill>
                  <a:latin typeface="Fira Sans Condensed"/>
                  <a:ea typeface="Fira Sans Condensed"/>
                  <a:cs typeface="Fira Sans Condensed"/>
                  <a:sym typeface="Fira Sans Condensed"/>
                </a:rPr>
                <a:t>, pero la </a:t>
              </a:r>
              <a:r>
                <a:rPr lang="es-AR" sz="1500" b="1" dirty="0">
                  <a:solidFill>
                    <a:srgbClr val="1E1E1E"/>
                  </a:solidFill>
                  <a:latin typeface="Fira Sans Condensed"/>
                  <a:ea typeface="Fira Sans Condensed"/>
                  <a:cs typeface="Fira Sans Condensed"/>
                  <a:sym typeface="Fira Sans Condensed"/>
                </a:rPr>
                <a:t>tira urinaria aumenta</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¿Fracasó el tratamiento?</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β-OHB + NAD⁺ </a:t>
              </a:r>
              <a:r>
                <a:rPr lang="es-AR" sz="1500" dirty="0">
                  <a:solidFill>
                    <a:srgbClr val="1E1E1E"/>
                  </a:solidFill>
                  <a:latin typeface="Cambria Math"/>
                  <a:ea typeface="Cambria Math"/>
                  <a:cs typeface="Cambria Math"/>
                  <a:sym typeface="Cambria Math"/>
                </a:rPr>
                <a:t>⇌</a:t>
              </a:r>
              <a:r>
                <a:rPr lang="es-AR" sz="1500" dirty="0">
                  <a:solidFill>
                    <a:srgbClr val="1E1E1E"/>
                  </a:solidFill>
                  <a:latin typeface="Fira Sans Condensed"/>
                  <a:ea typeface="Fira Sans Condensed"/>
                  <a:cs typeface="Fira Sans Condensed"/>
                  <a:sym typeface="Fira Sans Condensed"/>
                </a:rPr>
                <a:t> acetoacetato + NADH</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Al mejorar el redox, β-OHB → </a:t>
              </a:r>
              <a:r>
                <a:rPr lang="es-AR" sz="1500" b="1" dirty="0">
                  <a:solidFill>
                    <a:srgbClr val="1E1E1E"/>
                  </a:solidFill>
                  <a:latin typeface="Fira Sans Condensed"/>
                  <a:ea typeface="Fira Sans Condensed"/>
                  <a:cs typeface="Fira Sans Condensed"/>
                  <a:sym typeface="Fira Sans Condensed"/>
                </a:rPr>
                <a:t>acetoacetato</a:t>
              </a:r>
              <a:r>
                <a:rPr lang="es-AR" sz="1500" dirty="0">
                  <a:solidFill>
                    <a:srgbClr val="1E1E1E"/>
                  </a:solidFill>
                  <a:latin typeface="Fira Sans Condensed"/>
                  <a:ea typeface="Fira Sans Condensed"/>
                  <a:cs typeface="Fira Sans Condensed"/>
                  <a:sym typeface="Fira Sans Condensed"/>
                </a:rPr>
                <a:t> (lo detecta el nitroprusiato)</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No necesariamente</a:t>
              </a:r>
              <a:r>
                <a:rPr lang="es-AR" sz="1500" dirty="0">
                  <a:solidFill>
                    <a:srgbClr val="1E1E1E"/>
                  </a:solidFill>
                  <a:latin typeface="Fira Sans Condensed"/>
                  <a:ea typeface="Fira Sans Condensed"/>
                  <a:cs typeface="Fira Sans Condensed"/>
                  <a:sym typeface="Fira Sans Condensed"/>
                </a:rPr>
                <a:t> fracasó</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Priorizar la </a:t>
              </a:r>
              <a:r>
                <a:rPr lang="es-AR" sz="1500" b="1" dirty="0">
                  <a:solidFill>
                    <a:srgbClr val="1E1E1E"/>
                  </a:solidFill>
                  <a:latin typeface="Fira Sans Condensed"/>
                  <a:ea typeface="Fira Sans Condensed"/>
                  <a:cs typeface="Fira Sans Condensed"/>
                  <a:sym typeface="Fira Sans Condensed"/>
                </a:rPr>
                <a:t>tendencia del β-OHB</a:t>
              </a:r>
              <a:r>
                <a:rPr lang="es-AR" sz="1500" dirty="0">
                  <a:solidFill>
                    <a:srgbClr val="1E1E1E"/>
                  </a:solidFill>
                  <a:latin typeface="Fira Sans Condensed"/>
                  <a:ea typeface="Fira Sans Condensed"/>
                  <a:cs typeface="Fira Sans Condensed"/>
                  <a:sym typeface="Fira Sans Condensed"/>
                </a:rPr>
                <a:t>, pH, bicarbonato y clínica; la tira urinaria no define la resolución.</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EJERCICIO 8 · CETONURIA MÁS INTENSA EN PLENA MEJORÍA</a:t>
            </a:r>
            <a:endParaRPr lang="es-AR" sz="26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229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Glucemia </a:t>
              </a:r>
              <a:r>
                <a:rPr lang="es-AR" sz="1500" b="1" dirty="0">
                  <a:solidFill>
                    <a:srgbClr val="1E1E1E"/>
                  </a:solidFill>
                  <a:latin typeface="Fira Sans Condensed"/>
                  <a:ea typeface="Fira Sans Condensed"/>
                  <a:cs typeface="Fira Sans Condensed"/>
                  <a:sym typeface="Fira Sans Condensed"/>
                </a:rPr>
                <a:t>700 mg/dL</a:t>
              </a:r>
              <a:r>
                <a:rPr lang="es-AR" sz="1500" dirty="0">
                  <a:solidFill>
                    <a:srgbClr val="1E1E1E"/>
                  </a:solidFill>
                  <a:latin typeface="Fira Sans Condensed"/>
                  <a:ea typeface="Fira Sans Condensed"/>
                  <a:cs typeface="Fira Sans Condensed"/>
                  <a:sym typeface="Fira Sans Condensed"/>
                </a:rPr>
                <a:t>, cetonas negativas, sin acidosis.</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¿Cómo puede existir tal glucemia sin acidosis?</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Umbral antilipolítico de insulina &lt; umbral para captación/supresión de PHG</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Insulina residual: frena lipólisis/cetogénesis, pero no la PHG ni la resistencia muscular</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Hiperglucemia extrema sin carga cetoácida</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Predominan la </a:t>
              </a:r>
              <a:r>
                <a:rPr lang="es-AR" sz="1500" b="1" dirty="0">
                  <a:solidFill>
                    <a:srgbClr val="1E1E1E"/>
                  </a:solidFill>
                  <a:latin typeface="Fira Sans Condensed"/>
                  <a:ea typeface="Fira Sans Condensed"/>
                  <a:cs typeface="Fira Sans Condensed"/>
                  <a:sym typeface="Fira Sans Condensed"/>
                </a:rPr>
                <a:t>tonicidad elevada</a:t>
              </a:r>
              <a:r>
                <a:rPr lang="es-AR" sz="1500" dirty="0">
                  <a:solidFill>
                    <a:srgbClr val="1E1E1E"/>
                  </a:solidFill>
                  <a:latin typeface="Fira Sans Condensed"/>
                  <a:ea typeface="Fira Sans Condensed"/>
                  <a:cs typeface="Fira Sans Condensed"/>
                  <a:sym typeface="Fira Sans Condensed"/>
                </a:rPr>
                <a:t> y la </a:t>
              </a:r>
              <a:r>
                <a:rPr lang="es-AR" sz="1500" b="1" dirty="0">
                  <a:solidFill>
                    <a:srgbClr val="1E1E1E"/>
                  </a:solidFill>
                  <a:latin typeface="Fira Sans Condensed"/>
                  <a:ea typeface="Fira Sans Condensed"/>
                  <a:cs typeface="Fira Sans Condensed"/>
                  <a:sym typeface="Fira Sans Condensed"/>
                </a:rPr>
                <a:t>pérdida de agua</a:t>
              </a:r>
              <a:r>
                <a:rPr lang="es-AR" sz="1500" dirty="0">
                  <a:solidFill>
                    <a:srgbClr val="1E1E1E"/>
                  </a:solidFill>
                  <a:latin typeface="Fira Sans Condensed"/>
                  <a:ea typeface="Fira Sans Condensed"/>
                  <a:cs typeface="Fira Sans Condensed"/>
                  <a:sym typeface="Fira Sans Condensed"/>
                </a:rPr>
                <a:t> sobre la carga de cetoácidos.</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EJERCICIO 9 · EHH CON GLUCOSA 700 Y SIN CETONAS</a:t>
            </a:r>
            <a:endParaRPr lang="es-AR" sz="30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Varón, 40 años, </a:t>
              </a:r>
              <a:r>
                <a:rPr lang="es-AR" sz="1500" b="1" dirty="0">
                  <a:solidFill>
                    <a:srgbClr val="1E1E1E"/>
                  </a:solidFill>
                  <a:latin typeface="Fira Sans Condensed"/>
                  <a:ea typeface="Fira Sans Condensed"/>
                  <a:cs typeface="Fira Sans Condensed"/>
                  <a:sym typeface="Fira Sans Condensed"/>
                </a:rPr>
                <a:t>170 kg</a:t>
              </a:r>
              <a:r>
                <a:rPr lang="es-AR" sz="1500" dirty="0">
                  <a:solidFill>
                    <a:srgbClr val="1E1E1E"/>
                  </a:solidFill>
                  <a:latin typeface="Fira Sans Condensed"/>
                  <a:ea typeface="Fira Sans Condensed"/>
                  <a:cs typeface="Fira Sans Condensed"/>
                  <a:sym typeface="Fira Sans Condensed"/>
                </a:rPr>
                <a:t>, </a:t>
              </a:r>
              <a:r>
                <a:rPr lang="es-AR" sz="1500" b="1" dirty="0">
                  <a:solidFill>
                    <a:srgbClr val="1E1E1E"/>
                  </a:solidFill>
                  <a:latin typeface="Fira Sans Condensed"/>
                  <a:ea typeface="Fira Sans Condensed"/>
                  <a:cs typeface="Fira Sans Condensed"/>
                  <a:sym typeface="Fira Sans Condensed"/>
                </a:rPr>
                <a:t>170 cm</a:t>
              </a:r>
              <a:r>
                <a:rPr lang="es-AR" sz="1500" dirty="0">
                  <a:solidFill>
                    <a:srgbClr val="1E1E1E"/>
                  </a:solidFill>
                  <a:latin typeface="Fira Sans Condensed"/>
                  <a:ea typeface="Fira Sans Condensed"/>
                  <a:cs typeface="Fira Sans Condensed"/>
                  <a:sym typeface="Fira Sans Condensed"/>
                </a:rPr>
                <a:t>; luego </a:t>
              </a:r>
              <a:r>
                <a:rPr lang="es-AR" sz="1500" b="1" dirty="0">
                  <a:solidFill>
                    <a:srgbClr val="1E1E1E"/>
                  </a:solidFill>
                  <a:latin typeface="Fira Sans Condensed"/>
                  <a:ea typeface="Fira Sans Condensed"/>
                  <a:cs typeface="Fira Sans Condensed"/>
                  <a:sym typeface="Fira Sans Condensed"/>
                </a:rPr>
                <a:t>140 kg</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¿Se mantiene el GET anterior tras el descenso?</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IMC = kg/m² · Mifflin H: 10P + 6,25T − 5E + 5 · GET = GER × 1,2</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IMC 58,82 · GER 2567,5 · GET ≈ 3081 · 140/2,89 · 30/170</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IMC 48,44 · descenso 17,65 %</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No</a:t>
              </a:r>
              <a:r>
                <a:rPr lang="es-AR" sz="1500" dirty="0">
                  <a:solidFill>
                    <a:srgbClr val="1E1E1E"/>
                  </a:solidFill>
                  <a:latin typeface="Fira Sans Condensed"/>
                  <a:ea typeface="Fira Sans Condensed"/>
                  <a:cs typeface="Fira Sans Condensed"/>
                  <a:sym typeface="Fira Sans Condensed"/>
                </a:rPr>
                <a:t>: cambió la masa (y quizá la actividad); reevaluar con observación y/o medición.</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6380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200" dirty="0">
                <a:solidFill>
                  <a:srgbClr val="1E1E1E"/>
                </a:solidFill>
                <a:effectLst>
                  <a:glow rad="101600">
                    <a:srgbClr val="FFFFFF">
                      <a:alpha val="70000"/>
                    </a:srgbClr>
                  </a:glow>
                </a:effectLst>
                <a:latin typeface="Permanent Marker"/>
                <a:ea typeface="Permanent Marker"/>
                <a:cs typeface="Permanent Marker"/>
                <a:sym typeface="Permanent Marker"/>
              </a:rPr>
              <a:t>EJERCICIO 10 · IMC, DESCENSO PORCENTUAL Y GET</a:t>
            </a:r>
            <a:endParaRPr lang="es-AR" sz="32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Bloque datos"/>
          <p:cNvGrpSpPr/>
          <p:nvPr/>
        </p:nvGrpSpPr>
        <p:grpSpPr>
          <a:xfrm>
            <a:off x="365760" y="1051560"/>
            <a:ext cx="5577840" cy="1600200"/>
            <a:chOff x="365760" y="1051560"/>
            <a:chExt cx="5577840" cy="1600200"/>
          </a:xfrm>
        </p:grpSpPr>
        <p:sp>
          <p:nvSpPr>
            <p:cNvPr id="8" name="Forma 7"/>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Cintura </a:t>
              </a:r>
              <a:r>
                <a:rPr lang="es-AR" sz="1500" b="1" dirty="0">
                  <a:solidFill>
                    <a:srgbClr val="1E1E1E"/>
                  </a:solidFill>
                  <a:latin typeface="Fira Sans Condensed"/>
                  <a:ea typeface="Fira Sans Condensed"/>
                  <a:cs typeface="Fira Sans Condensed"/>
                  <a:sym typeface="Fira Sans Condensed"/>
                </a:rPr>
                <a:t>124 cm</a:t>
              </a:r>
              <a:r>
                <a:rPr lang="es-AR" sz="1500" dirty="0">
                  <a:solidFill>
                    <a:srgbClr val="1E1E1E"/>
                  </a:solidFill>
                  <a:latin typeface="Fira Sans Condensed"/>
                  <a:ea typeface="Fira Sans Condensed"/>
                  <a:cs typeface="Fira Sans Condensed"/>
                  <a:sym typeface="Fira Sans Condensed"/>
                </a:rPr>
                <a:t>, TA </a:t>
              </a:r>
              <a:r>
                <a:rPr lang="es-AR" sz="1500" b="1" dirty="0">
                  <a:solidFill>
                    <a:srgbClr val="1E1E1E"/>
                  </a:solidFill>
                  <a:latin typeface="Fira Sans Condensed"/>
                  <a:ea typeface="Fira Sans Condensed"/>
                  <a:cs typeface="Fira Sans Condensed"/>
                  <a:sym typeface="Fira Sans Condensed"/>
                </a:rPr>
                <a:t>160/100</a:t>
              </a:r>
              <a:r>
                <a:rPr lang="es-AR" sz="1500" dirty="0">
                  <a:solidFill>
                    <a:srgbClr val="1E1E1E"/>
                  </a:solidFill>
                  <a:latin typeface="Fira Sans Condensed"/>
                  <a:ea typeface="Fira Sans Condensed"/>
                  <a:cs typeface="Fira Sans Condensed"/>
                  <a:sym typeface="Fira Sans Condensed"/>
                </a:rPr>
                <a:t>, HDL </a:t>
              </a:r>
              <a:r>
                <a:rPr lang="es-AR" sz="1500" b="1" dirty="0">
                  <a:solidFill>
                    <a:srgbClr val="1E1E1E"/>
                  </a:solidFill>
                  <a:latin typeface="Fira Sans Condensed"/>
                  <a:ea typeface="Fira Sans Condensed"/>
                  <a:cs typeface="Fira Sans Condensed"/>
                  <a:sym typeface="Fira Sans Condensed"/>
                </a:rPr>
                <a:t>30</a:t>
              </a:r>
              <a:r>
                <a:rPr lang="es-AR" sz="1500" dirty="0">
                  <a:solidFill>
                    <a:srgbClr val="1E1E1E"/>
                  </a:solidFill>
                  <a:latin typeface="Fira Sans Condensed"/>
                  <a:ea typeface="Fira Sans Condensed"/>
                  <a:cs typeface="Fira Sans Condensed"/>
                  <a:sym typeface="Fira Sans Condensed"/>
                </a:rPr>
                <a:t>, TG </a:t>
              </a:r>
              <a:r>
                <a:rPr lang="es-AR" sz="1500" b="1" dirty="0">
                  <a:solidFill>
                    <a:srgbClr val="1E1E1E"/>
                  </a:solidFill>
                  <a:latin typeface="Fira Sans Condensed"/>
                  <a:ea typeface="Fira Sans Condensed"/>
                  <a:cs typeface="Fira Sans Condensed"/>
                  <a:sym typeface="Fira Sans Condensed"/>
                </a:rPr>
                <a:t>185</a:t>
              </a:r>
              <a:r>
                <a:rPr lang="es-AR" sz="1500" dirty="0">
                  <a:solidFill>
                    <a:srgbClr val="1E1E1E"/>
                  </a:solidFill>
                  <a:latin typeface="Fira Sans Condensed"/>
                  <a:ea typeface="Fira Sans Condensed"/>
                  <a:cs typeface="Fira Sans Condensed"/>
                  <a:sym typeface="Fira Sans Condensed"/>
                </a:rPr>
                <a:t>; ayuno de la glucosa desconocido.</a:t>
              </a:r>
              <a:endParaRPr lang="es-AR" sz="1500" dirty="0">
                <a:latin typeface="Fira Sans Condensed"/>
              </a:endParaRPr>
            </a:p>
          </p:txBody>
        </p:sp>
        <p:sp>
          <p:nvSpPr>
            <p:cNvPr id="9" name="Forma 8"/>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10" name="Bloque interpretación"/>
          <p:cNvGrpSpPr/>
          <p:nvPr/>
        </p:nvGrpSpPr>
        <p:grpSpPr>
          <a:xfrm>
            <a:off x="6263640" y="1051560"/>
            <a:ext cx="5577840" cy="1600200"/>
            <a:chOff x="6263640" y="1051560"/>
            <a:chExt cx="5577840" cy="1600200"/>
          </a:xfrm>
        </p:grpSpPr>
        <p:sp>
          <p:nvSpPr>
            <p:cNvPr id="11" name="Forma 10"/>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¿Tiene síndrome metabólico?</a:t>
              </a:r>
              <a:endParaRPr lang="es-AR" sz="1500" dirty="0">
                <a:latin typeface="Fira Sans Condensed"/>
              </a:endParaRPr>
            </a:p>
          </p:txBody>
        </p:sp>
        <p:sp>
          <p:nvSpPr>
            <p:cNvPr id="12" name="Forma 11"/>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3" name="Bloque fórmula"/>
          <p:cNvGrpSpPr/>
          <p:nvPr/>
        </p:nvGrpSpPr>
        <p:grpSpPr>
          <a:xfrm>
            <a:off x="365760" y="2834640"/>
            <a:ext cx="5577840" cy="1417320"/>
            <a:chOff x="365760" y="2834640"/>
            <a:chExt cx="5577840" cy="1417320"/>
          </a:xfrm>
        </p:grpSpPr>
        <p:sp>
          <p:nvSpPr>
            <p:cNvPr id="14" name="Forma 13"/>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Definición armonizada: ≥ 3 de 5 criterios</a:t>
              </a:r>
              <a:endParaRPr lang="es-AR" sz="1500" dirty="0">
                <a:latin typeface="Fira Sans Condensed"/>
              </a:endParaRPr>
            </a:p>
          </p:txBody>
        </p:sp>
        <p:sp>
          <p:nvSpPr>
            <p:cNvPr id="15" name="Forma 14"/>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6" name="Bloque cálculo"/>
          <p:cNvGrpSpPr/>
          <p:nvPr/>
        </p:nvGrpSpPr>
        <p:grpSpPr>
          <a:xfrm>
            <a:off x="6263640" y="2834640"/>
            <a:ext cx="5577840" cy="1417320"/>
            <a:chOff x="6263640" y="2834640"/>
            <a:chExt cx="5577840" cy="1417320"/>
          </a:xfrm>
        </p:grpSpPr>
        <p:sp>
          <p:nvSpPr>
            <p:cNvPr id="17" name="Forma 16"/>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Cintura sí · TA sí · HDL sí · TG sí · glucosa: ¿ayunas?</a:t>
              </a:r>
              <a:endParaRPr lang="es-AR" sz="1500" dirty="0">
                <a:latin typeface="Fira Sans Condensed"/>
              </a:endParaRPr>
            </a:p>
          </p:txBody>
        </p:sp>
        <p:sp>
          <p:nvSpPr>
            <p:cNvPr id="18" name="Forma 17"/>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9" name="Bloque resultado"/>
          <p:cNvGrpSpPr/>
          <p:nvPr/>
        </p:nvGrpSpPr>
        <p:grpSpPr>
          <a:xfrm>
            <a:off x="365760" y="4434840"/>
            <a:ext cx="5577840" cy="1783080"/>
            <a:chOff x="365760" y="4434840"/>
            <a:chExt cx="5577840" cy="1783080"/>
          </a:xfrm>
        </p:grpSpPr>
        <p:sp>
          <p:nvSpPr>
            <p:cNvPr id="20" name="Forma 19"/>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Sí: 4 criterios</a:t>
              </a:r>
              <a:endParaRPr lang="es-AR" sz="1500" dirty="0">
                <a:latin typeface="Fira Sans Condensed"/>
              </a:endParaRPr>
            </a:p>
          </p:txBody>
        </p:sp>
        <p:sp>
          <p:nvSpPr>
            <p:cNvPr id="21" name="Forma 20"/>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2" name="Bloque significado fisiológico"/>
          <p:cNvGrpSpPr/>
          <p:nvPr/>
        </p:nvGrpSpPr>
        <p:grpSpPr>
          <a:xfrm>
            <a:off x="6263640" y="4434840"/>
            <a:ext cx="5577840" cy="1783080"/>
            <a:chOff x="6263640" y="4434840"/>
            <a:chExt cx="5577840" cy="1783080"/>
          </a:xfrm>
        </p:grpSpPr>
        <p:sp>
          <p:nvSpPr>
            <p:cNvPr id="23" name="Forma 22"/>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La glucosa aportaría un </a:t>
              </a:r>
              <a:r>
                <a:rPr lang="es-AR" sz="1500" b="1" dirty="0">
                  <a:solidFill>
                    <a:srgbClr val="1E1E1E"/>
                  </a:solidFill>
                  <a:latin typeface="Fira Sans Condensed"/>
                  <a:ea typeface="Fira Sans Condensed"/>
                  <a:cs typeface="Fira Sans Condensed"/>
                  <a:sym typeface="Fira Sans Condensed"/>
                </a:rPr>
                <a:t>quinto</a:t>
              </a:r>
              <a:r>
                <a:rPr lang="es-AR" sz="1500" dirty="0">
                  <a:solidFill>
                    <a:srgbClr val="1E1E1E"/>
                  </a:solidFill>
                  <a:latin typeface="Fira Sans Condensed"/>
                  <a:ea typeface="Fira Sans Condensed"/>
                  <a:cs typeface="Fira Sans Condensed"/>
                  <a:sym typeface="Fira Sans Condensed"/>
                </a:rPr>
                <a:t> sólo si se comprueba la condición de ayuno.</a:t>
              </a:r>
              <a:endParaRPr lang="es-AR" sz="1500" dirty="0">
                <a:latin typeface="Fira Sans Condensed"/>
              </a:endParaRPr>
            </a:p>
          </p:txBody>
        </p:sp>
        <p:sp>
          <p:nvSpPr>
            <p:cNvPr id="24" name="Forma 23"/>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EJERCICIO 11 · SÍNDROME METABÓLICO SIN GLUCEMIA BASAL</a:t>
            </a:r>
            <a:endParaRPr lang="es-AR" sz="26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grpSp>
        <p:nvGrpSpPr>
          <p:cNvPr id="6" name="Bloque datos"/>
          <p:cNvGrpSpPr/>
          <p:nvPr/>
        </p:nvGrpSpPr>
        <p:grpSpPr>
          <a:xfrm>
            <a:off x="365760" y="1051560"/>
            <a:ext cx="5577840" cy="1600200"/>
            <a:chOff x="365760" y="1051560"/>
            <a:chExt cx="5577840" cy="1600200"/>
          </a:xfrm>
        </p:grpSpPr>
        <p:sp>
          <p:nvSpPr>
            <p:cNvPr id="7" name="Forma 6"/>
            <p:cNvSpPr/>
            <p:nvPr/>
          </p:nvSpPr>
          <p:spPr>
            <a:xfrm>
              <a:off x="36576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DM2 con obesidad y trabajo físico variable con </a:t>
              </a:r>
              <a:r>
                <a:rPr lang="es-AR" sz="1500" b="1" dirty="0">
                  <a:solidFill>
                    <a:srgbClr val="1E1E1E"/>
                  </a:solidFill>
                  <a:latin typeface="Fira Sans Condensed"/>
                  <a:ea typeface="Fira Sans Condensed"/>
                  <a:cs typeface="Fira Sans Condensed"/>
                  <a:sym typeface="Fira Sans Condensed"/>
                </a:rPr>
                <a:t>glibenclamida</a:t>
              </a:r>
              <a:r>
                <a:rPr lang="es-AR" sz="1500" dirty="0">
                  <a:solidFill>
                    <a:srgbClr val="1E1E1E"/>
                  </a:solidFill>
                  <a:latin typeface="Fira Sans Condensed"/>
                  <a:ea typeface="Fira Sans Condensed"/>
                  <a:cs typeface="Fira Sans Condensed"/>
                  <a:sym typeface="Fira Sans Condensed"/>
                </a:rPr>
                <a:t>; omite comidas; mareos con glucosa </a:t>
              </a:r>
              <a:r>
                <a:rPr lang="es-AR" sz="1500" b="1" dirty="0">
                  <a:solidFill>
                    <a:srgbClr val="1E1E1E"/>
                  </a:solidFill>
                  <a:latin typeface="Fira Sans Condensed"/>
                  <a:ea typeface="Fira Sans Condensed"/>
                  <a:cs typeface="Fira Sans Condensed"/>
                  <a:sym typeface="Fira Sans Condensed"/>
                </a:rPr>
                <a:t>52 mg/dL</a:t>
              </a:r>
              <a:r>
                <a:rPr lang="es-AR" sz="1500" dirty="0">
                  <a:solidFill>
                    <a:srgbClr val="1E1E1E"/>
                  </a:solidFill>
                  <a:latin typeface="Fira Sans Condensed"/>
                  <a:ea typeface="Fira Sans Condensed"/>
                  <a:cs typeface="Fira Sans Condensed"/>
                  <a:sym typeface="Fira Sans Condensed"/>
                </a:rPr>
                <a:t>.</a:t>
              </a:r>
              <a:endParaRPr lang="es-AR" sz="1500" dirty="0">
                <a:latin typeface="Fira Sans Condensed"/>
              </a:endParaRPr>
            </a:p>
          </p:txBody>
        </p:sp>
        <p:sp>
          <p:nvSpPr>
            <p:cNvPr id="8" name="Forma 7"/>
            <p:cNvSpPr/>
            <p:nvPr/>
          </p:nvSpPr>
          <p:spPr>
            <a:xfrm>
              <a:off x="502920" y="1051560"/>
              <a:ext cx="839570"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C00000"/>
                  </a:solidFill>
                  <a:latin typeface="Fira Sans Condensed"/>
                  <a:ea typeface="Fira Sans Condensed"/>
                  <a:cs typeface="Fira Sans Condensed"/>
                  <a:sym typeface="Fira Sans Condensed"/>
                </a:rPr>
                <a:t>DATOS</a:t>
              </a:r>
              <a:endParaRPr lang="es-AR" sz="1300" dirty="0">
                <a:latin typeface="Fira Sans Condensed"/>
              </a:endParaRPr>
            </a:p>
          </p:txBody>
        </p:sp>
      </p:grpSp>
      <p:grpSp>
        <p:nvGrpSpPr>
          <p:cNvPr id="9" name="Bloque interpretación"/>
          <p:cNvGrpSpPr/>
          <p:nvPr/>
        </p:nvGrpSpPr>
        <p:grpSpPr>
          <a:xfrm>
            <a:off x="6263640" y="1051560"/>
            <a:ext cx="5577840" cy="1600200"/>
            <a:chOff x="6263640" y="1051560"/>
            <a:chExt cx="5577840" cy="1600200"/>
          </a:xfrm>
        </p:grpSpPr>
        <p:sp>
          <p:nvSpPr>
            <p:cNvPr id="10" name="Forma 9"/>
            <p:cNvSpPr/>
            <p:nvPr/>
          </p:nvSpPr>
          <p:spPr>
            <a:xfrm>
              <a:off x="6263640" y="1252728"/>
              <a:ext cx="5577840" cy="139903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¿Qué explica la hipoglucemia?</a:t>
              </a:r>
              <a:endParaRPr lang="es-AR" sz="1500" dirty="0">
                <a:latin typeface="Fira Sans Condensed"/>
              </a:endParaRPr>
            </a:p>
          </p:txBody>
        </p:sp>
        <p:sp>
          <p:nvSpPr>
            <p:cNvPr id="11" name="Forma 10"/>
            <p:cNvSpPr/>
            <p:nvPr/>
          </p:nvSpPr>
          <p:spPr>
            <a:xfrm>
              <a:off x="6400800" y="1051560"/>
              <a:ext cx="1596945" cy="365760"/>
            </a:xfrm>
            <a:prstGeom prst="rect">
              <a:avLst/>
            </a:prstGeom>
            <a:solidFill>
              <a:srgbClr val="92D05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INTERPRETACIÓN</a:t>
              </a:r>
              <a:endParaRPr lang="es-AR" sz="1300" dirty="0">
                <a:latin typeface="Fira Sans Condensed"/>
              </a:endParaRPr>
            </a:p>
          </p:txBody>
        </p:sp>
      </p:grpSp>
      <p:grpSp>
        <p:nvGrpSpPr>
          <p:cNvPr id="12" name="Bloque fórmula"/>
          <p:cNvGrpSpPr/>
          <p:nvPr/>
        </p:nvGrpSpPr>
        <p:grpSpPr>
          <a:xfrm>
            <a:off x="365760" y="2834640"/>
            <a:ext cx="5577840" cy="1417320"/>
            <a:chOff x="365760" y="2834640"/>
            <a:chExt cx="5577840" cy="1417320"/>
          </a:xfrm>
        </p:grpSpPr>
        <p:sp>
          <p:nvSpPr>
            <p:cNvPr id="13" name="Forma 12"/>
            <p:cNvSpPr/>
            <p:nvPr/>
          </p:nvSpPr>
          <p:spPr>
            <a:xfrm>
              <a:off x="36576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Sulfonilurea → SUR1 → cierre de K</a:t>
              </a:r>
              <a:r>
                <a:rPr lang="es-AR" sz="1500" baseline="-25000" dirty="0">
                  <a:solidFill>
                    <a:srgbClr val="1E1E1E"/>
                  </a:solidFill>
                  <a:latin typeface="Fira Sans Condensed"/>
                  <a:ea typeface="Fira Sans Condensed"/>
                  <a:cs typeface="Fira Sans Condensed"/>
                  <a:sym typeface="Fira Sans Condensed"/>
                </a:rPr>
                <a:t>ATP</a:t>
              </a:r>
              <a:r>
                <a:rPr lang="es-AR" sz="1500" dirty="0">
                  <a:solidFill>
                    <a:srgbClr val="1E1E1E"/>
                  </a:solidFill>
                  <a:latin typeface="Fira Sans Condensed"/>
                  <a:ea typeface="Fira Sans Condensed"/>
                  <a:cs typeface="Fira Sans Condensed"/>
                  <a:sym typeface="Fira Sans Condensed"/>
                </a:rPr>
                <a:t> </a:t>
              </a:r>
              <a:r>
                <a:rPr lang="es-AR" sz="1500" b="1" dirty="0">
                  <a:solidFill>
                    <a:srgbClr val="1E1E1E"/>
                  </a:solidFill>
                  <a:latin typeface="Fira Sans Condensed"/>
                  <a:ea typeface="Fira Sans Condensed"/>
                  <a:cs typeface="Fira Sans Condensed"/>
                  <a:sym typeface="Fira Sans Condensed"/>
                </a:rPr>
                <a:t>independiente de glucosa</a:t>
              </a:r>
              <a:endParaRPr lang="es-AR" sz="1500" dirty="0">
                <a:latin typeface="Fira Sans Condensed"/>
              </a:endParaRPr>
            </a:p>
          </p:txBody>
        </p:sp>
        <p:sp>
          <p:nvSpPr>
            <p:cNvPr id="14" name="Forma 13"/>
            <p:cNvSpPr/>
            <p:nvPr/>
          </p:nvSpPr>
          <p:spPr>
            <a:xfrm>
              <a:off x="502920" y="2834640"/>
              <a:ext cx="1059861" cy="365760"/>
            </a:xfrm>
            <a:prstGeom prst="rect">
              <a:avLst/>
            </a:prstGeom>
            <a:solidFill>
              <a:srgbClr val="F4877F"/>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FÓRMULA</a:t>
              </a:r>
              <a:endParaRPr lang="es-AR" sz="1300" dirty="0">
                <a:latin typeface="Fira Sans Condensed"/>
              </a:endParaRPr>
            </a:p>
          </p:txBody>
        </p:sp>
      </p:grpSp>
      <p:grpSp>
        <p:nvGrpSpPr>
          <p:cNvPr id="15" name="Bloque cálculo"/>
          <p:cNvGrpSpPr/>
          <p:nvPr/>
        </p:nvGrpSpPr>
        <p:grpSpPr>
          <a:xfrm>
            <a:off x="6263640" y="2834640"/>
            <a:ext cx="5577840" cy="1417320"/>
            <a:chOff x="6263640" y="2834640"/>
            <a:chExt cx="5577840" cy="1417320"/>
          </a:xfrm>
        </p:grpSpPr>
        <p:sp>
          <p:nvSpPr>
            <p:cNvPr id="16" name="Forma 15"/>
            <p:cNvSpPr/>
            <p:nvPr/>
          </p:nvSpPr>
          <p:spPr>
            <a:xfrm>
              <a:off x="6263640" y="3035808"/>
              <a:ext cx="5577840" cy="121615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Secreción de insulina aun con glucosa baja + ingesta omitida</a:t>
              </a:r>
              <a:endParaRPr lang="es-AR" sz="1500" dirty="0">
                <a:latin typeface="Fira Sans Condensed"/>
              </a:endParaRPr>
            </a:p>
          </p:txBody>
        </p:sp>
        <p:sp>
          <p:nvSpPr>
            <p:cNvPr id="17" name="Forma 16"/>
            <p:cNvSpPr/>
            <p:nvPr/>
          </p:nvSpPr>
          <p:spPr>
            <a:xfrm>
              <a:off x="6400800" y="2834640"/>
              <a:ext cx="1009560" cy="365760"/>
            </a:xfrm>
            <a:prstGeom prst="rect">
              <a:avLst/>
            </a:prstGeom>
            <a:solidFill>
              <a:srgbClr val="9DC3E6"/>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CÁLCULO</a:t>
              </a:r>
              <a:endParaRPr lang="es-AR" sz="1300" dirty="0">
                <a:latin typeface="Fira Sans Condensed"/>
              </a:endParaRPr>
            </a:p>
          </p:txBody>
        </p:sp>
      </p:grpSp>
      <p:grpSp>
        <p:nvGrpSpPr>
          <p:cNvPr id="18" name="Bloque resultado"/>
          <p:cNvGrpSpPr/>
          <p:nvPr/>
        </p:nvGrpSpPr>
        <p:grpSpPr>
          <a:xfrm>
            <a:off x="365760" y="4434840"/>
            <a:ext cx="5577840" cy="1783080"/>
            <a:chOff x="365760" y="4434840"/>
            <a:chExt cx="5577840" cy="1783080"/>
          </a:xfrm>
        </p:grpSpPr>
        <p:sp>
          <p:nvSpPr>
            <p:cNvPr id="19" name="Forma 18"/>
            <p:cNvSpPr/>
            <p:nvPr/>
          </p:nvSpPr>
          <p:spPr>
            <a:xfrm>
              <a:off x="365760" y="4636008"/>
              <a:ext cx="5577840" cy="15819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b="1" dirty="0">
                  <a:solidFill>
                    <a:srgbClr val="1E1E1E"/>
                  </a:solidFill>
                  <a:latin typeface="Fira Sans Condensed"/>
                  <a:ea typeface="Fira Sans Condensed"/>
                  <a:cs typeface="Fira Sans Condensed"/>
                  <a:sym typeface="Fira Sans Condensed"/>
                </a:rPr>
                <a:t>Hipoglucemia inducida por sulfonilurea</a:t>
              </a:r>
              <a:endParaRPr lang="es-AR" sz="1500" dirty="0">
                <a:latin typeface="Fira Sans Condensed"/>
              </a:endParaRPr>
            </a:p>
          </p:txBody>
        </p:sp>
        <p:sp>
          <p:nvSpPr>
            <p:cNvPr id="20" name="Forma 19"/>
            <p:cNvSpPr/>
            <p:nvPr/>
          </p:nvSpPr>
          <p:spPr>
            <a:xfrm>
              <a:off x="502920" y="4434840"/>
              <a:ext cx="1198023" cy="365760"/>
            </a:xfrm>
            <a:prstGeom prst="rect">
              <a:avLst/>
            </a:prstGeom>
            <a:solidFill>
              <a:srgbClr val="FFC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1E1E1E"/>
                  </a:solidFill>
                  <a:latin typeface="Fira Sans Condensed"/>
                  <a:ea typeface="Fira Sans Condensed"/>
                  <a:cs typeface="Fira Sans Condensed"/>
                  <a:sym typeface="Fira Sans Condensed"/>
                </a:rPr>
                <a:t>RESULTADO</a:t>
              </a:r>
              <a:endParaRPr lang="es-AR" sz="1300" dirty="0">
                <a:latin typeface="Fira Sans Condensed"/>
              </a:endParaRPr>
            </a:p>
          </p:txBody>
        </p:sp>
      </p:grpSp>
      <p:grpSp>
        <p:nvGrpSpPr>
          <p:cNvPr id="21" name="Bloque significado fisiológico"/>
          <p:cNvGrpSpPr/>
          <p:nvPr/>
        </p:nvGrpSpPr>
        <p:grpSpPr>
          <a:xfrm>
            <a:off x="6263640" y="4434840"/>
            <a:ext cx="5577840" cy="1783080"/>
            <a:chOff x="6263640" y="4434840"/>
            <a:chExt cx="5577840" cy="1783080"/>
          </a:xfrm>
        </p:grpSpPr>
        <p:sp>
          <p:nvSpPr>
            <p:cNvPr id="22" name="Forma 21"/>
            <p:cNvSpPr/>
            <p:nvPr/>
          </p:nvSpPr>
          <p:spPr>
            <a:xfrm>
              <a:off x="6263640" y="4636008"/>
              <a:ext cx="5577840" cy="1581912"/>
            </a:xfrm>
            <a:prstGeom prst="rect">
              <a:avLst/>
            </a:prstGeom>
            <a:solidFill>
              <a:srgbClr val="FDE2E2"/>
            </a:solidFill>
            <a:ln w="19050" cap="rnd">
              <a:solidFill>
                <a:srgbClr val="1E1E1E"/>
              </a:solidFill>
              <a:round/>
            </a:ln>
            <a:effectLst>
              <a:outerShdw blurRad="63500" dist="38100" dir="2700000" algn="tl" rotWithShape="0">
                <a:srgbClr val="000000">
                  <a:alpha val="32000"/>
                </a:srgbClr>
              </a:outerShdw>
            </a:effectLst>
          </p:spPr>
          <p:txBody>
            <a:bodyPr wrap="square" lIns="128016" tIns="237744" rIns="128016" bIns="54864" anchor="ctr" rtlCol="0">
              <a:noAutofit/>
            </a:bodyPr>
            <a:lstStyle/>
            <a:p>
              <a:pPr algn="l">
                <a:spcAft>
                  <a:spcPts val="300"/>
                </a:spcAft>
                <a:buNone/>
              </a:pPr>
              <a:r>
                <a:rPr lang="es-AR" sz="1500" dirty="0">
                  <a:solidFill>
                    <a:srgbClr val="1E1E1E"/>
                  </a:solidFill>
                  <a:latin typeface="Fira Sans Condensed"/>
                  <a:ea typeface="Fira Sans Condensed"/>
                  <a:cs typeface="Fira Sans Condensed"/>
                  <a:sym typeface="Fira Sans Condensed"/>
                </a:rPr>
                <a:t>Corregir la hipoglucemia y </a:t>
              </a:r>
              <a:r>
                <a:rPr lang="es-AR" sz="1500" b="1" dirty="0">
                  <a:solidFill>
                    <a:srgbClr val="1E1E1E"/>
                  </a:solidFill>
                  <a:latin typeface="Fira Sans Condensed"/>
                  <a:ea typeface="Fira Sans Condensed"/>
                  <a:cs typeface="Fira Sans Condensed"/>
                  <a:sym typeface="Fira Sans Condensed"/>
                </a:rPr>
                <a:t>revisar el tratamiento con el equipo</a:t>
              </a:r>
              <a:r>
                <a:rPr lang="es-AR" sz="1500" dirty="0">
                  <a:solidFill>
                    <a:srgbClr val="1E1E1E"/>
                  </a:solidFill>
                  <a:latin typeface="Fira Sans Condensed"/>
                  <a:ea typeface="Fira Sans Condensed"/>
                  <a:cs typeface="Fira Sans Condensed"/>
                  <a:sym typeface="Fira Sans Condensed"/>
                </a:rPr>
                <a:t>; fármacos de mecanismo </a:t>
              </a:r>
              <a:r>
                <a:rPr lang="es-AR" sz="1500" b="1" dirty="0">
                  <a:solidFill>
                    <a:srgbClr val="1E1E1E"/>
                  </a:solidFill>
                  <a:latin typeface="Fira Sans Condensed"/>
                  <a:ea typeface="Fira Sans Condensed"/>
                  <a:cs typeface="Fira Sans Condensed"/>
                  <a:sym typeface="Fira Sans Condensed"/>
                </a:rPr>
                <a:t>glucosa-dependiente</a:t>
              </a:r>
              <a:r>
                <a:rPr lang="es-AR" sz="1500" dirty="0">
                  <a:solidFill>
                    <a:srgbClr val="1E1E1E"/>
                  </a:solidFill>
                  <a:latin typeface="Fira Sans Condensed"/>
                  <a:ea typeface="Fira Sans Condensed"/>
                  <a:cs typeface="Fira Sans Condensed"/>
                  <a:sym typeface="Fira Sans Condensed"/>
                </a:rPr>
                <a:t> pueden minimizar el riesgo. </a:t>
              </a:r>
              <a:r>
                <a:rPr lang="es-AR" sz="1500" b="1" dirty="0">
                  <a:solidFill>
                    <a:srgbClr val="1E1E1E"/>
                  </a:solidFill>
                  <a:latin typeface="Fira Sans Condensed"/>
                  <a:ea typeface="Fira Sans Condensed"/>
                  <a:cs typeface="Fira Sans Condensed"/>
                  <a:sym typeface="Fira Sans Condensed"/>
                </a:rPr>
                <a:t>No cambiar por cuenta propia.</a:t>
              </a:r>
              <a:endParaRPr lang="es-AR" sz="1500" dirty="0">
                <a:latin typeface="Fira Sans Condensed"/>
              </a:endParaRPr>
            </a:p>
          </p:txBody>
        </p:sp>
        <p:sp>
          <p:nvSpPr>
            <p:cNvPr id="23" name="Forma 22"/>
            <p:cNvSpPr/>
            <p:nvPr/>
          </p:nvSpPr>
          <p:spPr>
            <a:xfrm>
              <a:off x="6400800" y="4434840"/>
              <a:ext cx="2243696" cy="365760"/>
            </a:xfrm>
            <a:prstGeom prst="rect">
              <a:avLst/>
            </a:prstGeom>
            <a:solidFill>
              <a:srgbClr val="C00000"/>
            </a:solidFill>
            <a:ln w="19050" cap="rnd">
              <a:solidFill>
                <a:srgbClr val="1E1E1E"/>
              </a:solidFill>
              <a:round/>
            </a:ln>
          </p:spPr>
          <p:txBody>
            <a:bodyPr wrap="square" lIns="36576" tIns="0" rIns="36576" bIns="0" anchor="ctr" rtlCol="0">
              <a:noAutofit/>
            </a:bodyPr>
            <a:lstStyle/>
            <a:p>
              <a:pPr algn="ctr">
                <a:spcAft>
                  <a:spcPts val="300"/>
                </a:spcAft>
                <a:buNone/>
              </a:pPr>
              <a:r>
                <a:rPr lang="es-AR" sz="1300" b="1" dirty="0">
                  <a:solidFill>
                    <a:srgbClr val="FFFFFF"/>
                  </a:solidFill>
                  <a:latin typeface="Fira Sans Condensed"/>
                  <a:ea typeface="Fira Sans Condensed"/>
                  <a:cs typeface="Fira Sans Condensed"/>
                  <a:sym typeface="Fira Sans Condensed"/>
                </a:rPr>
                <a:t>SIGNIFICADO FISIOLÓGICO</a:t>
              </a:r>
              <a:endParaRPr lang="es-AR" sz="1300" dirty="0">
                <a:latin typeface="Fira Sans Condensed"/>
              </a:endParaRPr>
            </a:p>
          </p:txBody>
        </p:sp>
      </p:grpSp>
      <p:sp>
        <p:nvSpPr>
          <p:cNvPr id="4" name="Título"/>
          <p:cNvSpPr txBox="1"/>
          <p:nvPr/>
        </p:nvSpPr>
        <p:spPr>
          <a:xfrm>
            <a:off x="320040" y="91440"/>
            <a:ext cx="11551615" cy="4894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300" dirty="0">
                <a:solidFill>
                  <a:srgbClr val="1E1E1E"/>
                </a:solidFill>
                <a:effectLst>
                  <a:glow rad="101600">
                    <a:srgbClr val="FFFFFF">
                      <a:alpha val="70000"/>
                    </a:srgbClr>
                  </a:glow>
                </a:effectLst>
                <a:latin typeface="Permanent Marker"/>
                <a:ea typeface="Permanent Marker"/>
                <a:cs typeface="Permanent Marker"/>
                <a:sym typeface="Permanent Marker"/>
              </a:rPr>
              <a:t>EJERCICIO 12 · ELEGIR FÁRMACO TRAS UNA CRISIS HIPERGLUCÉMICA</a:t>
            </a:r>
            <a:endParaRPr lang="es-AR" sz="23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Pregunta 1"/>
          <p:cNvGrpSpPr/>
          <p:nvPr/>
        </p:nvGrpSpPr>
        <p:grpSpPr>
          <a:xfrm>
            <a:off x="365760" y="1051560"/>
            <a:ext cx="11475720" cy="566928"/>
            <a:chOff x="365760" y="1051560"/>
            <a:chExt cx="11475720" cy="566928"/>
          </a:xfrm>
        </p:grpSpPr>
        <p:sp>
          <p:nvSpPr>
            <p:cNvPr id="8" name="Forma 7"/>
            <p:cNvSpPr/>
            <p:nvPr/>
          </p:nvSpPr>
          <p:spPr>
            <a:xfrm>
              <a:off x="365760" y="105156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1</a:t>
              </a:r>
              <a:endParaRPr lang="es-AR" sz="2000" dirty="0">
                <a:latin typeface="Bangers"/>
              </a:endParaRPr>
            </a:p>
          </p:txBody>
        </p:sp>
        <p:sp>
          <p:nvSpPr>
            <p:cNvPr id="9" name="Forma 8"/>
            <p:cNvSpPr/>
            <p:nvPr/>
          </p:nvSpPr>
          <p:spPr>
            <a:xfrm>
              <a:off x="1051560" y="105156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¿Mejor mecanismo de la formación de cetonas en CAD?</a:t>
              </a:r>
              <a:endParaRPr lang="es-AR" sz="1550" dirty="0">
                <a:latin typeface="Fira Sans Condensed"/>
              </a:endParaRPr>
            </a:p>
          </p:txBody>
        </p:sp>
      </p:grpSp>
      <p:sp>
        <p:nvSpPr>
          <p:cNvPr id="10" name="Opción 1A"/>
          <p:cNvSpPr/>
          <p:nvPr/>
        </p:nvSpPr>
        <p:spPr>
          <a:xfrm>
            <a:off x="105156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Más entrada GLUT4 hepático</a:t>
            </a:r>
            <a:endParaRPr lang="es-AR" sz="1350" dirty="0">
              <a:latin typeface="Fira Sans Condensed"/>
            </a:endParaRPr>
          </a:p>
        </p:txBody>
      </p:sp>
      <p:sp>
        <p:nvSpPr>
          <p:cNvPr id="11" name="Opción 1B"/>
          <p:cNvSpPr/>
          <p:nvPr/>
        </p:nvSpPr>
        <p:spPr>
          <a:xfrm>
            <a:off x="649224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Más AGNE al hígado, β-oxidación y HMGCS2 mitocondrial</a:t>
            </a:r>
            <a:endParaRPr lang="es-AR" sz="1350" dirty="0">
              <a:latin typeface="Fira Sans Condensed"/>
            </a:endParaRPr>
          </a:p>
        </p:txBody>
      </p:sp>
      <p:sp>
        <p:nvSpPr>
          <p:cNvPr id="12" name="Opción 1C"/>
          <p:cNvSpPr/>
          <p:nvPr/>
        </p:nvSpPr>
        <p:spPr>
          <a:xfrm>
            <a:off x="105156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Inhibición de glucagón</a:t>
            </a:r>
            <a:endParaRPr lang="es-AR" sz="1350" dirty="0">
              <a:latin typeface="Fira Sans Condensed"/>
            </a:endParaRPr>
          </a:p>
        </p:txBody>
      </p:sp>
      <p:sp>
        <p:nvSpPr>
          <p:cNvPr id="13" name="Opción 1D"/>
          <p:cNvSpPr/>
          <p:nvPr/>
        </p:nvSpPr>
        <p:spPr>
          <a:xfrm>
            <a:off x="649224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Síntesis de glucógeno aumentada</a:t>
            </a:r>
            <a:endParaRPr lang="es-AR" sz="1350" dirty="0">
              <a:latin typeface="Fira Sans Condensed"/>
            </a:endParaRPr>
          </a:p>
        </p:txBody>
      </p:sp>
      <p:sp>
        <p:nvSpPr>
          <p:cNvPr id="14" name="Marca correcta 1"/>
          <p:cNvSpPr/>
          <p:nvPr/>
        </p:nvSpPr>
        <p:spPr>
          <a:xfrm>
            <a:off x="6455664" y="1700784"/>
            <a:ext cx="5422392" cy="512064"/>
          </a:xfrm>
          <a:prstGeom prst="rect">
            <a:avLst/>
          </a:prstGeom>
          <a:noFill/>
          <a:ln w="50800" cap="rnd">
            <a:solidFill>
              <a:srgbClr val="00A651"/>
            </a:solidFill>
            <a:round/>
          </a:ln>
        </p:spPr>
      </p:sp>
      <p:sp>
        <p:nvSpPr>
          <p:cNvPr id="15" name="Razonamiento 1"/>
          <p:cNvSpPr/>
          <p:nvPr/>
        </p:nvSpPr>
        <p:spPr>
          <a:xfrm>
            <a:off x="1051560" y="277063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Secuencia lipólisis → β-oxidación → acetil-CoA → cetonas.</a:t>
            </a:r>
            <a:endParaRPr lang="es-AR" sz="1350" dirty="0">
              <a:latin typeface="Fira Sans Condensed"/>
            </a:endParaRPr>
          </a:p>
        </p:txBody>
      </p:sp>
      <p:grpSp>
        <p:nvGrpSpPr>
          <p:cNvPr id="16" name="Pregunta 2"/>
          <p:cNvGrpSpPr/>
          <p:nvPr/>
        </p:nvGrpSpPr>
        <p:grpSpPr>
          <a:xfrm>
            <a:off x="365760" y="3749040"/>
            <a:ext cx="11475720" cy="566928"/>
            <a:chOff x="365760" y="3749040"/>
            <a:chExt cx="11475720" cy="566928"/>
          </a:xfrm>
        </p:grpSpPr>
        <p:sp>
          <p:nvSpPr>
            <p:cNvPr id="17" name="Forma 16"/>
            <p:cNvSpPr/>
            <p:nvPr/>
          </p:nvSpPr>
          <p:spPr>
            <a:xfrm>
              <a:off x="365760" y="374904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2</a:t>
              </a:r>
              <a:endParaRPr lang="es-AR" sz="2000" dirty="0">
                <a:latin typeface="Bangers"/>
              </a:endParaRPr>
            </a:p>
          </p:txBody>
        </p:sp>
        <p:sp>
          <p:nvSpPr>
            <p:cNvPr id="18" name="Forma 17"/>
            <p:cNvSpPr/>
            <p:nvPr/>
          </p:nvSpPr>
          <p:spPr>
            <a:xfrm>
              <a:off x="1051560" y="374904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En el EHH clásico, la ausencia de cetonemia marcada se explica principalmente por:</a:t>
              </a:r>
              <a:endParaRPr lang="es-AR" sz="1550" dirty="0">
                <a:latin typeface="Fira Sans Condensed"/>
              </a:endParaRPr>
            </a:p>
          </p:txBody>
        </p:sp>
      </p:grpSp>
      <p:sp>
        <p:nvSpPr>
          <p:cNvPr id="19" name="Opción 2A"/>
          <p:cNvSpPr/>
          <p:nvPr/>
        </p:nvSpPr>
        <p:spPr>
          <a:xfrm>
            <a:off x="105156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Mayor excreción de HCO₃⁻</a:t>
            </a:r>
            <a:endParaRPr lang="es-AR" sz="1350" dirty="0">
              <a:latin typeface="Fira Sans Condensed"/>
            </a:endParaRPr>
          </a:p>
        </p:txBody>
      </p:sp>
      <p:sp>
        <p:nvSpPr>
          <p:cNvPr id="20" name="Opción 2B"/>
          <p:cNvSpPr/>
          <p:nvPr/>
        </p:nvSpPr>
        <p:spPr>
          <a:xfrm>
            <a:off x="649224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Insulina residual que inhibe la lipólisis</a:t>
            </a:r>
            <a:endParaRPr lang="es-AR" sz="1350" dirty="0">
              <a:latin typeface="Fira Sans Condensed"/>
            </a:endParaRPr>
          </a:p>
        </p:txBody>
      </p:sp>
      <p:sp>
        <p:nvSpPr>
          <p:cNvPr id="21" name="Opción 2C"/>
          <p:cNvSpPr/>
          <p:nvPr/>
        </p:nvSpPr>
        <p:spPr>
          <a:xfrm>
            <a:off x="105156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Menor filtración de glucosa</a:t>
            </a:r>
            <a:endParaRPr lang="es-AR" sz="1350" dirty="0">
              <a:latin typeface="Fira Sans Condensed"/>
            </a:endParaRPr>
          </a:p>
        </p:txBody>
      </p:sp>
      <p:sp>
        <p:nvSpPr>
          <p:cNvPr id="22" name="Opción 2D"/>
          <p:cNvSpPr/>
          <p:nvPr/>
        </p:nvSpPr>
        <p:spPr>
          <a:xfrm>
            <a:off x="649224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Déficit completo de glucagón</a:t>
            </a:r>
            <a:endParaRPr lang="es-AR" sz="1350" dirty="0">
              <a:latin typeface="Fira Sans Condensed"/>
            </a:endParaRPr>
          </a:p>
        </p:txBody>
      </p:sp>
      <p:sp>
        <p:nvSpPr>
          <p:cNvPr id="23" name="Marca correcta 2"/>
          <p:cNvSpPr/>
          <p:nvPr/>
        </p:nvSpPr>
        <p:spPr>
          <a:xfrm>
            <a:off x="6455664" y="4398264"/>
            <a:ext cx="5422392" cy="512064"/>
          </a:xfrm>
          <a:prstGeom prst="rect">
            <a:avLst/>
          </a:prstGeom>
          <a:noFill/>
          <a:ln w="50800" cap="rnd">
            <a:solidFill>
              <a:srgbClr val="00A651"/>
            </a:solidFill>
            <a:round/>
          </a:ln>
        </p:spPr>
      </p:sp>
      <p:sp>
        <p:nvSpPr>
          <p:cNvPr id="24" name="Razonamiento 2"/>
          <p:cNvSpPr/>
          <p:nvPr/>
        </p:nvSpPr>
        <p:spPr>
          <a:xfrm>
            <a:off x="1051560" y="546811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No alcanza para euglucemia, pero puede frenar la cetogénesis.</a:t>
            </a:r>
            <a:endParaRPr lang="es-AR" sz="13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OPCIÓN MÚLTIPLE · PREGUNTAS 1 Y 2</a:t>
            </a:r>
            <a:endParaRPr lang="es-AR" sz="34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 calcmode="lin" valueType="num">
                                      <p:cBhvr>
                                        <p:cTn id="5" dur="500" fill="hold"/>
                                        <p:tgtEl>
                                          <p:spTgt spid="14"/>
                                        </p:tgtEl>
                                        <p:attrNameLst>
                                          <p:attrName>ppt_w</p:attrName>
                                        </p:attrNameLst>
                                      </p:cBhvr>
                                      <p:tavLst>
                                        <p:tav tm="0">
                                          <p:val>
                                            <p:fltVal val="0"/>
                                          </p:val>
                                        </p:tav>
                                        <p:tav tm="100000">
                                          <p:val>
                                            <p:strVal val="#ppt_w"/>
                                          </p:val>
                                        </p:tav>
                                      </p:tavLst>
                                    </p:anim>
                                    <p:anim calcmode="lin" valueType="num">
                                      <p:cBhvr>
                                        <p:cTn id="6" dur="500" fill="hold"/>
                                        <p:tgtEl>
                                          <p:spTgt spid="14"/>
                                        </p:tgtEl>
                                        <p:attrNameLst>
                                          <p:attrName>ppt_h</p:attrName>
                                        </p:attrNameLst>
                                      </p:cBhvr>
                                      <p:tavLst>
                                        <p:tav tm="0">
                                          <p:val>
                                            <p:fltVal val="0"/>
                                          </p:val>
                                        </p:tav>
                                        <p:tav tm="100000">
                                          <p:val>
                                            <p:strVal val="#ppt_h"/>
                                          </p:val>
                                        </p:tav>
                                      </p:tavLst>
                                    </p:anim>
                                    <p:animEffect transition="in" filter="fade">
                                      <p:cBhvr>
                                        <p:cTn id="7" dur="500"/>
                                        <p:tgtEl>
                                          <p:spTgt spid="14"/>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animEffect transition="in" filter="fade">
                                      <p:cBhvr>
                                        <p:cTn id="18" dur="500"/>
                                        <p:tgtEl>
                                          <p:spTgt spid="23"/>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animBg="1"/>
      <p:bldP spid="24" grpId="0" animBg="1"/>
    </p:bldLst>
  </p:timing>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Pregunta 3"/>
          <p:cNvGrpSpPr/>
          <p:nvPr/>
        </p:nvGrpSpPr>
        <p:grpSpPr>
          <a:xfrm>
            <a:off x="365760" y="1051560"/>
            <a:ext cx="11475720" cy="566928"/>
            <a:chOff x="365760" y="1051560"/>
            <a:chExt cx="11475720" cy="566928"/>
          </a:xfrm>
        </p:grpSpPr>
        <p:sp>
          <p:nvSpPr>
            <p:cNvPr id="7" name="Forma 6"/>
            <p:cNvSpPr/>
            <p:nvPr/>
          </p:nvSpPr>
          <p:spPr>
            <a:xfrm>
              <a:off x="365760" y="105156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3</a:t>
              </a:r>
              <a:endParaRPr lang="es-AR" sz="2000" dirty="0">
                <a:latin typeface="Bangers"/>
              </a:endParaRPr>
            </a:p>
          </p:txBody>
        </p:sp>
        <p:sp>
          <p:nvSpPr>
            <p:cNvPr id="8" name="Forma 7"/>
            <p:cNvSpPr/>
            <p:nvPr/>
          </p:nvSpPr>
          <p:spPr>
            <a:xfrm>
              <a:off x="1051560" y="105156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pH 7,20, HCO₃⁻ 11 y pCO₂ adecuadamente baja corresponde a:</a:t>
              </a:r>
              <a:endParaRPr lang="es-AR" sz="1550" dirty="0">
                <a:latin typeface="Fira Sans Condensed"/>
              </a:endParaRPr>
            </a:p>
          </p:txBody>
        </p:sp>
      </p:grpSp>
      <p:sp>
        <p:nvSpPr>
          <p:cNvPr id="9" name="Opción 3A"/>
          <p:cNvSpPr/>
          <p:nvPr/>
        </p:nvSpPr>
        <p:spPr>
          <a:xfrm>
            <a:off x="105156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Alcalosis metabólica</a:t>
            </a:r>
            <a:endParaRPr lang="es-AR" sz="1350" dirty="0">
              <a:latin typeface="Fira Sans Condensed"/>
            </a:endParaRPr>
          </a:p>
        </p:txBody>
      </p:sp>
      <p:sp>
        <p:nvSpPr>
          <p:cNvPr id="10" name="Opción 3B"/>
          <p:cNvSpPr/>
          <p:nvPr/>
        </p:nvSpPr>
        <p:spPr>
          <a:xfrm>
            <a:off x="649224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Acidosis respiratoria</a:t>
            </a:r>
            <a:endParaRPr lang="es-AR" sz="1350" dirty="0">
              <a:latin typeface="Fira Sans Condensed"/>
            </a:endParaRPr>
          </a:p>
        </p:txBody>
      </p:sp>
      <p:sp>
        <p:nvSpPr>
          <p:cNvPr id="11" name="Opción 3C"/>
          <p:cNvSpPr/>
          <p:nvPr/>
        </p:nvSpPr>
        <p:spPr>
          <a:xfrm>
            <a:off x="105156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Acidosis metabólica con compensación respiratoria</a:t>
            </a:r>
            <a:endParaRPr lang="es-AR" sz="1350" dirty="0">
              <a:latin typeface="Fira Sans Condensed"/>
            </a:endParaRPr>
          </a:p>
        </p:txBody>
      </p:sp>
      <p:sp>
        <p:nvSpPr>
          <p:cNvPr id="12" name="Opción 3D"/>
          <p:cNvSpPr/>
          <p:nvPr/>
        </p:nvSpPr>
        <p:spPr>
          <a:xfrm>
            <a:off x="649224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Alcalosis respiratoria aislada</a:t>
            </a:r>
            <a:endParaRPr lang="es-AR" sz="1350" dirty="0">
              <a:latin typeface="Fira Sans Condensed"/>
            </a:endParaRPr>
          </a:p>
        </p:txBody>
      </p:sp>
      <p:sp>
        <p:nvSpPr>
          <p:cNvPr id="13" name="Marca correcta 3"/>
          <p:cNvSpPr/>
          <p:nvPr/>
        </p:nvSpPr>
        <p:spPr>
          <a:xfrm>
            <a:off x="1014984" y="2203704"/>
            <a:ext cx="5422392" cy="512064"/>
          </a:xfrm>
          <a:prstGeom prst="rect">
            <a:avLst/>
          </a:prstGeom>
          <a:noFill/>
          <a:ln w="50800" cap="rnd">
            <a:solidFill>
              <a:srgbClr val="00A651"/>
            </a:solidFill>
            <a:round/>
          </a:ln>
        </p:spPr>
      </p:sp>
      <p:sp>
        <p:nvSpPr>
          <p:cNvPr id="14" name="Razonamiento 3"/>
          <p:cNvSpPr/>
          <p:nvPr/>
        </p:nvSpPr>
        <p:spPr>
          <a:xfrm>
            <a:off x="1051560" y="277063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C.</a:t>
            </a:r>
            <a:r>
              <a:rPr lang="es-AR" sz="1350" dirty="0">
                <a:solidFill>
                  <a:srgbClr val="1E1E1E"/>
                </a:solidFill>
                <a:latin typeface="Fira Sans Condensed"/>
                <a:ea typeface="Fira Sans Condensed"/>
                <a:cs typeface="Fira Sans Condensed"/>
                <a:sym typeface="Fira Sans Condensed"/>
              </a:rPr>
              <a:t> Primero pH y componente metabólico; verificar compensación con Winter.</a:t>
            </a:r>
            <a:endParaRPr lang="es-AR" sz="1350" dirty="0">
              <a:latin typeface="Fira Sans Condensed"/>
            </a:endParaRPr>
          </a:p>
        </p:txBody>
      </p:sp>
      <p:grpSp>
        <p:nvGrpSpPr>
          <p:cNvPr id="15" name="Pregunta 4"/>
          <p:cNvGrpSpPr/>
          <p:nvPr/>
        </p:nvGrpSpPr>
        <p:grpSpPr>
          <a:xfrm>
            <a:off x="365760" y="3749040"/>
            <a:ext cx="11475720" cy="566928"/>
            <a:chOff x="365760" y="3749040"/>
            <a:chExt cx="11475720" cy="566928"/>
          </a:xfrm>
        </p:grpSpPr>
        <p:sp>
          <p:nvSpPr>
            <p:cNvPr id="16" name="Forma 15"/>
            <p:cNvSpPr/>
            <p:nvPr/>
          </p:nvSpPr>
          <p:spPr>
            <a:xfrm>
              <a:off x="365760" y="374904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4</a:t>
              </a:r>
              <a:endParaRPr lang="es-AR" sz="2000" dirty="0">
                <a:latin typeface="Bangers"/>
              </a:endParaRPr>
            </a:p>
          </p:txBody>
        </p:sp>
        <p:sp>
          <p:nvSpPr>
            <p:cNvPr id="17" name="Forma 16"/>
            <p:cNvSpPr/>
            <p:nvPr/>
          </p:nvSpPr>
          <p:spPr>
            <a:xfrm>
              <a:off x="1051560" y="374904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La lipoproteína lipasa se diferencia de la HSL porque:</a:t>
              </a:r>
              <a:endParaRPr lang="es-AR" sz="1550" dirty="0">
                <a:latin typeface="Fira Sans Condensed"/>
              </a:endParaRPr>
            </a:p>
          </p:txBody>
        </p:sp>
      </p:grpSp>
      <p:sp>
        <p:nvSpPr>
          <p:cNvPr id="18" name="Opción 4A"/>
          <p:cNvSpPr/>
          <p:nvPr/>
        </p:nvSpPr>
        <p:spPr>
          <a:xfrm>
            <a:off x="105156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Está en lisosomas</a:t>
            </a:r>
            <a:endParaRPr lang="es-AR" sz="1350" dirty="0">
              <a:latin typeface="Fira Sans Condensed"/>
            </a:endParaRPr>
          </a:p>
        </p:txBody>
      </p:sp>
      <p:sp>
        <p:nvSpPr>
          <p:cNvPr id="19" name="Opción 4B"/>
          <p:cNvSpPr/>
          <p:nvPr/>
        </p:nvSpPr>
        <p:spPr>
          <a:xfrm>
            <a:off x="649224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Hidroliza TAG de QM/VLDL en la superficie capilar</a:t>
            </a:r>
            <a:endParaRPr lang="es-AR" sz="1350" dirty="0">
              <a:latin typeface="Fira Sans Condensed"/>
            </a:endParaRPr>
          </a:p>
        </p:txBody>
      </p:sp>
      <p:sp>
        <p:nvSpPr>
          <p:cNvPr id="20" name="Opción 4C"/>
          <p:cNvSpPr/>
          <p:nvPr/>
        </p:nvSpPr>
        <p:spPr>
          <a:xfrm>
            <a:off x="105156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Produce HMG-CoA</a:t>
            </a:r>
            <a:endParaRPr lang="es-AR" sz="1350" dirty="0">
              <a:latin typeface="Fira Sans Condensed"/>
            </a:endParaRPr>
          </a:p>
        </p:txBody>
      </p:sp>
      <p:sp>
        <p:nvSpPr>
          <p:cNvPr id="21" name="Opción 4D"/>
          <p:cNvSpPr/>
          <p:nvPr/>
        </p:nvSpPr>
        <p:spPr>
          <a:xfrm>
            <a:off x="649224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Sólo actúa en hígado</a:t>
            </a:r>
            <a:endParaRPr lang="es-AR" sz="1350" dirty="0">
              <a:latin typeface="Fira Sans Condensed"/>
            </a:endParaRPr>
          </a:p>
        </p:txBody>
      </p:sp>
      <p:sp>
        <p:nvSpPr>
          <p:cNvPr id="22" name="Marca correcta 4"/>
          <p:cNvSpPr/>
          <p:nvPr/>
        </p:nvSpPr>
        <p:spPr>
          <a:xfrm>
            <a:off x="6455664" y="4398264"/>
            <a:ext cx="5422392" cy="512064"/>
          </a:xfrm>
          <a:prstGeom prst="rect">
            <a:avLst/>
          </a:prstGeom>
          <a:noFill/>
          <a:ln w="50800" cap="rnd">
            <a:solidFill>
              <a:srgbClr val="00A651"/>
            </a:solidFill>
            <a:round/>
          </a:ln>
        </p:spPr>
      </p:sp>
      <p:sp>
        <p:nvSpPr>
          <p:cNvPr id="23" name="Razonamiento 4"/>
          <p:cNvSpPr/>
          <p:nvPr/>
        </p:nvSpPr>
        <p:spPr>
          <a:xfrm>
            <a:off x="1051560" y="546811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La HSL participa en la lipólisis intracelular.</a:t>
            </a:r>
            <a:endParaRPr lang="es-AR" sz="13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OPCIÓN MÚLTIPLE · PREGUNTAS 3 Y 4</a:t>
            </a:r>
            <a:endParaRPr lang="es-AR" sz="34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animEffect transition="in" filter="fade">
                                      <p:cBhvr>
                                        <p:cTn id="7" dur="500"/>
                                        <p:tgtEl>
                                          <p:spTgt spid="13"/>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p:cTn id="16" dur="500" fill="hold"/>
                                        <p:tgtEl>
                                          <p:spTgt spid="22"/>
                                        </p:tgtEl>
                                        <p:attrNameLst>
                                          <p:attrName>ppt_w</p:attrName>
                                        </p:attrNameLst>
                                      </p:cBhvr>
                                      <p:tavLst>
                                        <p:tav tm="0">
                                          <p:val>
                                            <p:fltVal val="0"/>
                                          </p:val>
                                        </p:tav>
                                        <p:tav tm="100000">
                                          <p:val>
                                            <p:strVal val="#ppt_w"/>
                                          </p:val>
                                        </p:tav>
                                      </p:tavLst>
                                    </p:anim>
                                    <p:anim calcmode="lin" valueType="num">
                                      <p:cBhvr>
                                        <p:cTn id="17" dur="500" fill="hold"/>
                                        <p:tgtEl>
                                          <p:spTgt spid="22"/>
                                        </p:tgtEl>
                                        <p:attrNameLst>
                                          <p:attrName>ppt_h</p:attrName>
                                        </p:attrNameLst>
                                      </p:cBhvr>
                                      <p:tavLst>
                                        <p:tav tm="0">
                                          <p:val>
                                            <p:fltVal val="0"/>
                                          </p:val>
                                        </p:tav>
                                        <p:tav tm="100000">
                                          <p:val>
                                            <p:strVal val="#ppt_h"/>
                                          </p:val>
                                        </p:tav>
                                      </p:tavLst>
                                    </p:anim>
                                    <p:animEffect transition="in" filter="fade">
                                      <p:cBhvr>
                                        <p:cTn id="18" dur="500"/>
                                        <p:tgtEl>
                                          <p:spTgt spid="22"/>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2" grpId="0" animBg="1"/>
      <p:bldP spid="23" grpId="0" animBg="1"/>
    </p:bld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608180" cy="6858000"/>
          </a:xfrm>
          <a:prstGeom prst="rect">
            <a:avLst/>
          </a:prstGeom>
          <a:solidFill>
            <a:srgbClr val="FFFFFF"/>
          </a:solidFill>
          <a:ln>
            <a:noFill/>
          </a:ln>
        </p:spPr>
      </p:sp>
      <p:sp>
        <p:nvSpPr>
          <p:cNvPr id="3" name="!!Fondo 2"/>
          <p:cNvSpPr/>
          <p:nvPr/>
        </p:nvSpPr>
        <p:spPr>
          <a:xfrm>
            <a:off x="5608180" y="0"/>
            <a:ext cx="6583515" cy="6858000"/>
          </a:xfrm>
          <a:prstGeom prst="rect">
            <a:avLst/>
          </a:prstGeom>
          <a:solidFill>
            <a:srgbClr val="00B0F0"/>
          </a:solidFill>
          <a:ln>
            <a:noFill/>
          </a:ln>
        </p:spPr>
      </p:sp>
      <p:sp>
        <p:nvSpPr>
          <p:cNvPr id="4" name="!!Fondo 3"/>
          <p:cNvSpPr/>
          <p:nvPr/>
        </p:nvSpPr>
        <p:spPr>
          <a:xfrm>
            <a:off x="0" y="5760720"/>
            <a:ext cx="5608180" cy="1097280"/>
          </a:xfrm>
          <a:prstGeom prst="rect">
            <a:avLst/>
          </a:prstGeom>
          <a:solidFill>
            <a:srgbClr val="FF8B8B"/>
          </a:solidFill>
          <a:ln>
            <a:noFill/>
          </a:ln>
        </p:spPr>
      </p:sp>
      <p:grpSp>
        <p:nvGrpSpPr>
          <p:cNvPr id="7" name="Pregunta 5"/>
          <p:cNvGrpSpPr/>
          <p:nvPr/>
        </p:nvGrpSpPr>
        <p:grpSpPr>
          <a:xfrm>
            <a:off x="365760" y="1051560"/>
            <a:ext cx="11475720" cy="566928"/>
            <a:chOff x="365760" y="1051560"/>
            <a:chExt cx="11475720" cy="566928"/>
          </a:xfrm>
        </p:grpSpPr>
        <p:sp>
          <p:nvSpPr>
            <p:cNvPr id="8" name="Forma 7"/>
            <p:cNvSpPr/>
            <p:nvPr/>
          </p:nvSpPr>
          <p:spPr>
            <a:xfrm>
              <a:off x="365760" y="105156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5</a:t>
              </a:r>
              <a:endParaRPr lang="es-AR" sz="2000" dirty="0">
                <a:latin typeface="Bangers"/>
              </a:endParaRPr>
            </a:p>
          </p:txBody>
        </p:sp>
        <p:sp>
          <p:nvSpPr>
            <p:cNvPr id="9" name="Forma 8"/>
            <p:cNvSpPr/>
            <p:nvPr/>
          </p:nvSpPr>
          <p:spPr>
            <a:xfrm>
              <a:off x="1051560" y="105156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La adiponectina en obesidad visceral disfuncional suele:</a:t>
              </a:r>
              <a:endParaRPr lang="es-AR" sz="1550" dirty="0">
                <a:latin typeface="Fira Sans Condensed"/>
              </a:endParaRPr>
            </a:p>
          </p:txBody>
        </p:sp>
      </p:grpSp>
      <p:sp>
        <p:nvSpPr>
          <p:cNvPr id="10" name="Opción 5A"/>
          <p:cNvSpPr/>
          <p:nvPr/>
        </p:nvSpPr>
        <p:spPr>
          <a:xfrm>
            <a:off x="105156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Aumentar y empeorar la sensibilidad</a:t>
            </a:r>
            <a:endParaRPr lang="es-AR" sz="1350" dirty="0">
              <a:latin typeface="Fira Sans Condensed"/>
            </a:endParaRPr>
          </a:p>
        </p:txBody>
      </p:sp>
      <p:sp>
        <p:nvSpPr>
          <p:cNvPr id="11" name="Opción 5B"/>
          <p:cNvSpPr/>
          <p:nvPr/>
        </p:nvSpPr>
        <p:spPr>
          <a:xfrm>
            <a:off x="649224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Disminuir y perder acciones sensibilizantes</a:t>
            </a:r>
            <a:endParaRPr lang="es-AR" sz="1350" dirty="0">
              <a:latin typeface="Fira Sans Condensed"/>
            </a:endParaRPr>
          </a:p>
        </p:txBody>
      </p:sp>
      <p:sp>
        <p:nvSpPr>
          <p:cNvPr id="12" name="Opción 5C"/>
          <p:cNvSpPr/>
          <p:nvPr/>
        </p:nvSpPr>
        <p:spPr>
          <a:xfrm>
            <a:off x="105156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Ser la principal cetona</a:t>
            </a:r>
            <a:endParaRPr lang="es-AR" sz="1350" dirty="0">
              <a:latin typeface="Fira Sans Condensed"/>
            </a:endParaRPr>
          </a:p>
        </p:txBody>
      </p:sp>
      <p:sp>
        <p:nvSpPr>
          <p:cNvPr id="13" name="Opción 5D"/>
          <p:cNvSpPr/>
          <p:nvPr/>
        </p:nvSpPr>
        <p:spPr>
          <a:xfrm>
            <a:off x="649224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Inhibir totalmente la β-oxidación</a:t>
            </a:r>
            <a:endParaRPr lang="es-AR" sz="1350" dirty="0">
              <a:latin typeface="Fira Sans Condensed"/>
            </a:endParaRPr>
          </a:p>
        </p:txBody>
      </p:sp>
      <p:sp>
        <p:nvSpPr>
          <p:cNvPr id="14" name="Marca correcta 5"/>
          <p:cNvSpPr/>
          <p:nvPr/>
        </p:nvSpPr>
        <p:spPr>
          <a:xfrm>
            <a:off x="6455664" y="1700784"/>
            <a:ext cx="5422392" cy="512064"/>
          </a:xfrm>
          <a:prstGeom prst="rect">
            <a:avLst/>
          </a:prstGeom>
          <a:noFill/>
          <a:ln w="50800" cap="rnd">
            <a:solidFill>
              <a:srgbClr val="00A651"/>
            </a:solidFill>
            <a:round/>
          </a:ln>
        </p:spPr>
      </p:sp>
      <p:sp>
        <p:nvSpPr>
          <p:cNvPr id="15" name="Razonamiento 5"/>
          <p:cNvSpPr/>
          <p:nvPr/>
        </p:nvSpPr>
        <p:spPr>
          <a:xfrm>
            <a:off x="1051560" y="277063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Señal cardiometabólica relacionada con AMPK/PPARα.</a:t>
            </a:r>
            <a:endParaRPr lang="es-AR" sz="1350" dirty="0">
              <a:latin typeface="Fira Sans Condensed"/>
            </a:endParaRPr>
          </a:p>
        </p:txBody>
      </p:sp>
      <p:grpSp>
        <p:nvGrpSpPr>
          <p:cNvPr id="16" name="Pregunta 6"/>
          <p:cNvGrpSpPr/>
          <p:nvPr/>
        </p:nvGrpSpPr>
        <p:grpSpPr>
          <a:xfrm>
            <a:off x="365760" y="3749040"/>
            <a:ext cx="11475720" cy="566928"/>
            <a:chOff x="365760" y="3749040"/>
            <a:chExt cx="11475720" cy="566928"/>
          </a:xfrm>
        </p:grpSpPr>
        <p:sp>
          <p:nvSpPr>
            <p:cNvPr id="17" name="Forma 16"/>
            <p:cNvSpPr/>
            <p:nvPr/>
          </p:nvSpPr>
          <p:spPr>
            <a:xfrm>
              <a:off x="365760" y="374904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6</a:t>
              </a:r>
              <a:endParaRPr lang="es-AR" sz="2000" dirty="0">
                <a:latin typeface="Bangers"/>
              </a:endParaRPr>
            </a:p>
          </p:txBody>
        </p:sp>
        <p:sp>
          <p:nvSpPr>
            <p:cNvPr id="18" name="Forma 17"/>
            <p:cNvSpPr/>
            <p:nvPr/>
          </p:nvSpPr>
          <p:spPr>
            <a:xfrm>
              <a:off x="1051560" y="374904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La activación de MC4R por α-MSH tiende a:</a:t>
              </a:r>
              <a:endParaRPr lang="es-AR" sz="1550" dirty="0">
                <a:latin typeface="Fira Sans Condensed"/>
              </a:endParaRPr>
            </a:p>
          </p:txBody>
        </p:sp>
      </p:grpSp>
      <p:sp>
        <p:nvSpPr>
          <p:cNvPr id="19" name="Opción 6A"/>
          <p:cNvSpPr/>
          <p:nvPr/>
        </p:nvSpPr>
        <p:spPr>
          <a:xfrm>
            <a:off x="105156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Aumentar el hambre</a:t>
            </a:r>
            <a:endParaRPr lang="es-AR" sz="1350" dirty="0">
              <a:latin typeface="Fira Sans Condensed"/>
            </a:endParaRPr>
          </a:p>
        </p:txBody>
      </p:sp>
      <p:sp>
        <p:nvSpPr>
          <p:cNvPr id="20" name="Opción 6B"/>
          <p:cNvSpPr/>
          <p:nvPr/>
        </p:nvSpPr>
        <p:spPr>
          <a:xfrm>
            <a:off x="649224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Disminuir la ingesta</a:t>
            </a:r>
            <a:endParaRPr lang="es-AR" sz="1350" dirty="0">
              <a:latin typeface="Fira Sans Condensed"/>
            </a:endParaRPr>
          </a:p>
        </p:txBody>
      </p:sp>
      <p:sp>
        <p:nvSpPr>
          <p:cNvPr id="21" name="Opción 6C"/>
          <p:cNvSpPr/>
          <p:nvPr/>
        </p:nvSpPr>
        <p:spPr>
          <a:xfrm>
            <a:off x="105156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Liberar glucosa renal</a:t>
            </a:r>
            <a:endParaRPr lang="es-AR" sz="1350" dirty="0">
              <a:latin typeface="Fira Sans Condensed"/>
            </a:endParaRPr>
          </a:p>
        </p:txBody>
      </p:sp>
      <p:sp>
        <p:nvSpPr>
          <p:cNvPr id="22" name="Opción 6D"/>
          <p:cNvSpPr/>
          <p:nvPr/>
        </p:nvSpPr>
        <p:spPr>
          <a:xfrm>
            <a:off x="649224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Estimular lipólisis pancreática</a:t>
            </a:r>
            <a:endParaRPr lang="es-AR" sz="1350" dirty="0">
              <a:latin typeface="Fira Sans Condensed"/>
            </a:endParaRPr>
          </a:p>
        </p:txBody>
      </p:sp>
      <p:sp>
        <p:nvSpPr>
          <p:cNvPr id="23" name="Marca correcta 6"/>
          <p:cNvSpPr/>
          <p:nvPr/>
        </p:nvSpPr>
        <p:spPr>
          <a:xfrm>
            <a:off x="6455664" y="4398264"/>
            <a:ext cx="5422392" cy="512064"/>
          </a:xfrm>
          <a:prstGeom prst="rect">
            <a:avLst/>
          </a:prstGeom>
          <a:noFill/>
          <a:ln w="50800" cap="rnd">
            <a:solidFill>
              <a:srgbClr val="00A651"/>
            </a:solidFill>
            <a:round/>
          </a:ln>
        </p:spPr>
      </p:sp>
      <p:sp>
        <p:nvSpPr>
          <p:cNvPr id="24" name="Razonamiento 6"/>
          <p:cNvSpPr/>
          <p:nvPr/>
        </p:nvSpPr>
        <p:spPr>
          <a:xfrm>
            <a:off x="1051560" y="546811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Circuito de melanocortinas anorexígeno.</a:t>
            </a:r>
            <a:endParaRPr lang="es-AR" sz="13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OPCIÓN MÚLTIPLE · PREGUNTAS 5 Y 6</a:t>
            </a:r>
            <a:endParaRPr lang="es-AR" sz="34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 calcmode="lin" valueType="num">
                                      <p:cBhvr>
                                        <p:cTn id="5" dur="500" fill="hold"/>
                                        <p:tgtEl>
                                          <p:spTgt spid="14"/>
                                        </p:tgtEl>
                                        <p:attrNameLst>
                                          <p:attrName>ppt_w</p:attrName>
                                        </p:attrNameLst>
                                      </p:cBhvr>
                                      <p:tavLst>
                                        <p:tav tm="0">
                                          <p:val>
                                            <p:fltVal val="0"/>
                                          </p:val>
                                        </p:tav>
                                        <p:tav tm="100000">
                                          <p:val>
                                            <p:strVal val="#ppt_w"/>
                                          </p:val>
                                        </p:tav>
                                      </p:tavLst>
                                    </p:anim>
                                    <p:anim calcmode="lin" valueType="num">
                                      <p:cBhvr>
                                        <p:cTn id="6" dur="500" fill="hold"/>
                                        <p:tgtEl>
                                          <p:spTgt spid="14"/>
                                        </p:tgtEl>
                                        <p:attrNameLst>
                                          <p:attrName>ppt_h</p:attrName>
                                        </p:attrNameLst>
                                      </p:cBhvr>
                                      <p:tavLst>
                                        <p:tav tm="0">
                                          <p:val>
                                            <p:fltVal val="0"/>
                                          </p:val>
                                        </p:tav>
                                        <p:tav tm="100000">
                                          <p:val>
                                            <p:strVal val="#ppt_h"/>
                                          </p:val>
                                        </p:tav>
                                      </p:tavLst>
                                    </p:anim>
                                    <p:animEffect transition="in" filter="fade">
                                      <p:cBhvr>
                                        <p:cTn id="7" dur="500"/>
                                        <p:tgtEl>
                                          <p:spTgt spid="14"/>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animEffect transition="in" filter="fade">
                                      <p:cBhvr>
                                        <p:cTn id="18" dur="500"/>
                                        <p:tgtEl>
                                          <p:spTgt spid="23"/>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animBg="1"/>
      <p:bldP spid="24" grpId="0" animBg="1"/>
    </p:bldLst>
  </p:timing>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C5E0B4"/>
          </a:solidFill>
          <a:ln>
            <a:noFill/>
          </a:ln>
        </p:spPr>
      </p:sp>
      <p:sp>
        <p:nvSpPr>
          <p:cNvPr id="3" name="!!Fondo 2"/>
          <p:cNvSpPr/>
          <p:nvPr/>
        </p:nvSpPr>
        <p:spPr>
          <a:xfrm>
            <a:off x="6095848" y="0"/>
            <a:ext cx="6095848" cy="6858000"/>
          </a:xfrm>
          <a:prstGeom prst="rect">
            <a:avLst/>
          </a:prstGeom>
          <a:solidFill>
            <a:srgbClr val="F8CBAD"/>
          </a:solidFill>
          <a:ln>
            <a:noFill/>
          </a:ln>
        </p:spPr>
      </p:sp>
      <p:grpSp>
        <p:nvGrpSpPr>
          <p:cNvPr id="6" name="Pregunta 7"/>
          <p:cNvGrpSpPr/>
          <p:nvPr/>
        </p:nvGrpSpPr>
        <p:grpSpPr>
          <a:xfrm>
            <a:off x="365760" y="1051560"/>
            <a:ext cx="11475720" cy="566928"/>
            <a:chOff x="365760" y="1051560"/>
            <a:chExt cx="11475720" cy="566928"/>
          </a:xfrm>
        </p:grpSpPr>
        <p:sp>
          <p:nvSpPr>
            <p:cNvPr id="7" name="Forma 6"/>
            <p:cNvSpPr/>
            <p:nvPr/>
          </p:nvSpPr>
          <p:spPr>
            <a:xfrm>
              <a:off x="365760" y="105156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7</a:t>
              </a:r>
              <a:endParaRPr lang="es-AR" sz="2000" dirty="0">
                <a:latin typeface="Bangers"/>
              </a:endParaRPr>
            </a:p>
          </p:txBody>
        </p:sp>
        <p:sp>
          <p:nvSpPr>
            <p:cNvPr id="8" name="Forma 7"/>
            <p:cNvSpPr/>
            <p:nvPr/>
          </p:nvSpPr>
          <p:spPr>
            <a:xfrm>
              <a:off x="1051560" y="105156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En músculo, la contracción mejora la captación de glucosa por:</a:t>
              </a:r>
              <a:endParaRPr lang="es-AR" sz="1550" dirty="0">
                <a:latin typeface="Fira Sans Condensed"/>
              </a:endParaRPr>
            </a:p>
          </p:txBody>
        </p:sp>
      </p:grpSp>
      <p:sp>
        <p:nvSpPr>
          <p:cNvPr id="9" name="Opción 7A"/>
          <p:cNvSpPr/>
          <p:nvPr/>
        </p:nvSpPr>
        <p:spPr>
          <a:xfrm>
            <a:off x="105156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Translocación de GLUT4 parcialmente independiente de insulina</a:t>
            </a:r>
            <a:endParaRPr lang="es-AR" sz="1350" dirty="0">
              <a:latin typeface="Fira Sans Condensed"/>
            </a:endParaRPr>
          </a:p>
        </p:txBody>
      </p:sp>
      <p:sp>
        <p:nvSpPr>
          <p:cNvPr id="10" name="Opción 7B"/>
          <p:cNvSpPr/>
          <p:nvPr/>
        </p:nvSpPr>
        <p:spPr>
          <a:xfrm>
            <a:off x="649224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Expresión exclusiva de GLUT2</a:t>
            </a:r>
            <a:endParaRPr lang="es-AR" sz="1350" dirty="0">
              <a:latin typeface="Fira Sans Condensed"/>
            </a:endParaRPr>
          </a:p>
        </p:txBody>
      </p:sp>
      <p:sp>
        <p:nvSpPr>
          <p:cNvPr id="11" name="Opción 7C"/>
          <p:cNvSpPr/>
          <p:nvPr/>
        </p:nvSpPr>
        <p:spPr>
          <a:xfrm>
            <a:off x="105156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Glucosa-6-fosfatasa muscular</a:t>
            </a:r>
            <a:endParaRPr lang="es-AR" sz="1350" dirty="0">
              <a:latin typeface="Fira Sans Condensed"/>
            </a:endParaRPr>
          </a:p>
        </p:txBody>
      </p:sp>
      <p:sp>
        <p:nvSpPr>
          <p:cNvPr id="12" name="Opción 7D"/>
          <p:cNvSpPr/>
          <p:nvPr/>
        </p:nvSpPr>
        <p:spPr>
          <a:xfrm>
            <a:off x="649224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Inhibición de AMPK</a:t>
            </a:r>
            <a:endParaRPr lang="es-AR" sz="1350" dirty="0">
              <a:latin typeface="Fira Sans Condensed"/>
            </a:endParaRPr>
          </a:p>
        </p:txBody>
      </p:sp>
      <p:sp>
        <p:nvSpPr>
          <p:cNvPr id="13" name="Marca correcta 7"/>
          <p:cNvSpPr/>
          <p:nvPr/>
        </p:nvSpPr>
        <p:spPr>
          <a:xfrm>
            <a:off x="1014984" y="1700784"/>
            <a:ext cx="5422392" cy="512064"/>
          </a:xfrm>
          <a:prstGeom prst="rect">
            <a:avLst/>
          </a:prstGeom>
          <a:noFill/>
          <a:ln w="50800" cap="rnd">
            <a:solidFill>
              <a:srgbClr val="00A651"/>
            </a:solidFill>
            <a:round/>
          </a:ln>
        </p:spPr>
      </p:sp>
      <p:sp>
        <p:nvSpPr>
          <p:cNvPr id="14" name="Razonamiento 7"/>
          <p:cNvSpPr/>
          <p:nvPr/>
        </p:nvSpPr>
        <p:spPr>
          <a:xfrm>
            <a:off x="1051560" y="277063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A.</a:t>
            </a:r>
            <a:r>
              <a:rPr lang="es-AR" sz="1350" dirty="0">
                <a:solidFill>
                  <a:srgbClr val="1E1E1E"/>
                </a:solidFill>
                <a:latin typeface="Fira Sans Condensed"/>
                <a:ea typeface="Fira Sans Condensed"/>
                <a:cs typeface="Fira Sans Condensed"/>
                <a:sym typeface="Fira Sans Condensed"/>
              </a:rPr>
              <a:t> AMPK y otras señales contráctiles llevan GLUT4 a la membrana.</a:t>
            </a:r>
            <a:endParaRPr lang="es-AR" sz="1350" dirty="0">
              <a:latin typeface="Fira Sans Condensed"/>
            </a:endParaRPr>
          </a:p>
        </p:txBody>
      </p:sp>
      <p:grpSp>
        <p:nvGrpSpPr>
          <p:cNvPr id="15" name="Pregunta 8"/>
          <p:cNvGrpSpPr/>
          <p:nvPr/>
        </p:nvGrpSpPr>
        <p:grpSpPr>
          <a:xfrm>
            <a:off x="365760" y="3749040"/>
            <a:ext cx="11475720" cy="566928"/>
            <a:chOff x="365760" y="3749040"/>
            <a:chExt cx="11475720" cy="566928"/>
          </a:xfrm>
        </p:grpSpPr>
        <p:sp>
          <p:nvSpPr>
            <p:cNvPr id="16" name="Forma 15"/>
            <p:cNvSpPr/>
            <p:nvPr/>
          </p:nvSpPr>
          <p:spPr>
            <a:xfrm>
              <a:off x="365760" y="374904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8</a:t>
              </a:r>
              <a:endParaRPr lang="es-AR" sz="2000" dirty="0">
                <a:latin typeface="Bangers"/>
              </a:endParaRPr>
            </a:p>
          </p:txBody>
        </p:sp>
        <p:sp>
          <p:nvSpPr>
            <p:cNvPr id="17" name="Forma 16"/>
            <p:cNvSpPr/>
            <p:nvPr/>
          </p:nvSpPr>
          <p:spPr>
            <a:xfrm>
              <a:off x="1051560" y="374904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Para diagnosticar SM según la definición armonizada habitual se requiere:</a:t>
              </a:r>
              <a:endParaRPr lang="es-AR" sz="1550" dirty="0">
                <a:latin typeface="Fira Sans Condensed"/>
              </a:endParaRPr>
            </a:p>
          </p:txBody>
        </p:sp>
      </p:grpSp>
      <p:sp>
        <p:nvSpPr>
          <p:cNvPr id="18" name="Opción 8A"/>
          <p:cNvSpPr/>
          <p:nvPr/>
        </p:nvSpPr>
        <p:spPr>
          <a:xfrm>
            <a:off x="105156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IMC ≥ 40 obligatoriamente</a:t>
            </a:r>
            <a:endParaRPr lang="es-AR" sz="1350" dirty="0">
              <a:latin typeface="Fira Sans Condensed"/>
            </a:endParaRPr>
          </a:p>
        </p:txBody>
      </p:sp>
      <p:sp>
        <p:nvSpPr>
          <p:cNvPr id="19" name="Opción 8B"/>
          <p:cNvSpPr/>
          <p:nvPr/>
        </p:nvSpPr>
        <p:spPr>
          <a:xfrm>
            <a:off x="649224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Tres de cinco criterios</a:t>
            </a:r>
            <a:endParaRPr lang="es-AR" sz="1350" dirty="0">
              <a:latin typeface="Fira Sans Condensed"/>
            </a:endParaRPr>
          </a:p>
        </p:txBody>
      </p:sp>
      <p:sp>
        <p:nvSpPr>
          <p:cNvPr id="20" name="Opción 8C"/>
          <p:cNvSpPr/>
          <p:nvPr/>
        </p:nvSpPr>
        <p:spPr>
          <a:xfrm>
            <a:off x="105156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Insulina plasmática &gt; 100</a:t>
            </a:r>
            <a:endParaRPr lang="es-AR" sz="1350" dirty="0">
              <a:latin typeface="Fira Sans Condensed"/>
            </a:endParaRPr>
          </a:p>
        </p:txBody>
      </p:sp>
      <p:sp>
        <p:nvSpPr>
          <p:cNvPr id="21" name="Opción 8D"/>
          <p:cNvSpPr/>
          <p:nvPr/>
        </p:nvSpPr>
        <p:spPr>
          <a:xfrm>
            <a:off x="649224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Diagnóstico previo de DM1</a:t>
            </a:r>
            <a:endParaRPr lang="es-AR" sz="1350" dirty="0">
              <a:latin typeface="Fira Sans Condensed"/>
            </a:endParaRPr>
          </a:p>
        </p:txBody>
      </p:sp>
      <p:sp>
        <p:nvSpPr>
          <p:cNvPr id="22" name="Marca correcta 8"/>
          <p:cNvSpPr/>
          <p:nvPr/>
        </p:nvSpPr>
        <p:spPr>
          <a:xfrm>
            <a:off x="6455664" y="4398264"/>
            <a:ext cx="5422392" cy="512064"/>
          </a:xfrm>
          <a:prstGeom prst="rect">
            <a:avLst/>
          </a:prstGeom>
          <a:noFill/>
          <a:ln w="50800" cap="rnd">
            <a:solidFill>
              <a:srgbClr val="00A651"/>
            </a:solidFill>
            <a:round/>
          </a:ln>
        </p:spPr>
      </p:sp>
      <p:sp>
        <p:nvSpPr>
          <p:cNvPr id="23" name="Razonamiento 8"/>
          <p:cNvSpPr/>
          <p:nvPr/>
        </p:nvSpPr>
        <p:spPr>
          <a:xfrm>
            <a:off x="1051560" y="546811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B.</a:t>
            </a:r>
            <a:r>
              <a:rPr lang="es-AR" sz="1350" dirty="0">
                <a:solidFill>
                  <a:srgbClr val="1E1E1E"/>
                </a:solidFill>
                <a:latin typeface="Fira Sans Condensed"/>
                <a:ea typeface="Fira Sans Condensed"/>
                <a:cs typeface="Fira Sans Condensed"/>
                <a:sym typeface="Fira Sans Condensed"/>
              </a:rPr>
              <a:t> La circunferencia se ajusta según etnia/población.</a:t>
            </a:r>
            <a:endParaRPr lang="es-AR" sz="1350" dirty="0">
              <a:latin typeface="Fira Sans Condensed"/>
            </a:endParaRPr>
          </a:p>
        </p:txBody>
      </p:sp>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OPCIÓN MÚLTIPLE · PREGUNTAS 7 Y 8</a:t>
            </a:r>
            <a:endParaRPr lang="es-AR" sz="3400" dirty="0">
              <a:latin typeface="Permanent Marker"/>
            </a:endParaRPr>
          </a:p>
        </p:txBody>
      </p:sp>
      <p:sp>
        <p:nvSpPr>
          <p:cNvPr id="5"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237</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animEffect transition="in" filter="fade">
                                      <p:cBhvr>
                                        <p:cTn id="7" dur="500"/>
                                        <p:tgtEl>
                                          <p:spTgt spid="13"/>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p:cTn id="16" dur="500" fill="hold"/>
                                        <p:tgtEl>
                                          <p:spTgt spid="22"/>
                                        </p:tgtEl>
                                        <p:attrNameLst>
                                          <p:attrName>ppt_w</p:attrName>
                                        </p:attrNameLst>
                                      </p:cBhvr>
                                      <p:tavLst>
                                        <p:tav tm="0">
                                          <p:val>
                                            <p:fltVal val="0"/>
                                          </p:val>
                                        </p:tav>
                                        <p:tav tm="100000">
                                          <p:val>
                                            <p:strVal val="#ppt_w"/>
                                          </p:val>
                                        </p:tav>
                                      </p:tavLst>
                                    </p:anim>
                                    <p:anim calcmode="lin" valueType="num">
                                      <p:cBhvr>
                                        <p:cTn id="17" dur="500" fill="hold"/>
                                        <p:tgtEl>
                                          <p:spTgt spid="22"/>
                                        </p:tgtEl>
                                        <p:attrNameLst>
                                          <p:attrName>ppt_h</p:attrName>
                                        </p:attrNameLst>
                                      </p:cBhvr>
                                      <p:tavLst>
                                        <p:tav tm="0">
                                          <p:val>
                                            <p:fltVal val="0"/>
                                          </p:val>
                                        </p:tav>
                                        <p:tav tm="100000">
                                          <p:val>
                                            <p:strVal val="#ppt_h"/>
                                          </p:val>
                                        </p:tav>
                                      </p:tavLst>
                                    </p:anim>
                                    <p:animEffect transition="in" filter="fade">
                                      <p:cBhvr>
                                        <p:cTn id="18" dur="500"/>
                                        <p:tgtEl>
                                          <p:spTgt spid="22"/>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2" grpId="0" animBg="1"/>
      <p:bldP spid="23" grpId="0" animBg="1"/>
    </p:bldLst>
  </p:timing>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876678" cy="6858000"/>
          </a:xfrm>
          <a:prstGeom prst="rect">
            <a:avLst/>
          </a:prstGeom>
          <a:solidFill>
            <a:srgbClr val="FFE699"/>
          </a:solidFill>
          <a:ln>
            <a:noFill/>
          </a:ln>
        </p:spPr>
      </p:sp>
      <p:sp>
        <p:nvSpPr>
          <p:cNvPr id="3" name="!!Fondo 2"/>
          <p:cNvSpPr/>
          <p:nvPr/>
        </p:nvSpPr>
        <p:spPr>
          <a:xfrm>
            <a:off x="4876678" y="0"/>
            <a:ext cx="7315017" cy="6858000"/>
          </a:xfrm>
          <a:prstGeom prst="rect">
            <a:avLst/>
          </a:prstGeom>
          <a:solidFill>
            <a:srgbClr val="FFFFFF"/>
          </a:solidFill>
          <a:ln>
            <a:noFill/>
          </a:ln>
        </p:spPr>
      </p:sp>
      <p:sp>
        <p:nvSpPr>
          <p:cNvPr id="4" name="!!Fondo 3"/>
          <p:cNvSpPr/>
          <p:nvPr/>
        </p:nvSpPr>
        <p:spPr>
          <a:xfrm>
            <a:off x="4876678" y="0"/>
            <a:ext cx="7315017" cy="960120"/>
          </a:xfrm>
          <a:prstGeom prst="rect">
            <a:avLst/>
          </a:prstGeom>
          <a:solidFill>
            <a:srgbClr val="00B0F0"/>
          </a:solidFill>
          <a:ln>
            <a:noFill/>
          </a:ln>
        </p:spPr>
      </p:sp>
      <p:grpSp>
        <p:nvGrpSpPr>
          <p:cNvPr id="7" name="Pregunta 9"/>
          <p:cNvGrpSpPr/>
          <p:nvPr/>
        </p:nvGrpSpPr>
        <p:grpSpPr>
          <a:xfrm>
            <a:off x="365760" y="1051560"/>
            <a:ext cx="11475720" cy="566928"/>
            <a:chOff x="365760" y="1051560"/>
            <a:chExt cx="11475720" cy="566928"/>
          </a:xfrm>
        </p:grpSpPr>
        <p:sp>
          <p:nvSpPr>
            <p:cNvPr id="8" name="Forma 7"/>
            <p:cNvSpPr/>
            <p:nvPr/>
          </p:nvSpPr>
          <p:spPr>
            <a:xfrm>
              <a:off x="365760" y="105156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9</a:t>
              </a:r>
              <a:endParaRPr lang="es-AR" sz="2000" dirty="0">
                <a:latin typeface="Bangers"/>
              </a:endParaRPr>
            </a:p>
          </p:txBody>
        </p:sp>
        <p:sp>
          <p:nvSpPr>
            <p:cNvPr id="9" name="Forma 8"/>
            <p:cNvSpPr/>
            <p:nvPr/>
          </p:nvSpPr>
          <p:spPr>
            <a:xfrm>
              <a:off x="1051560" y="105156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Una HbA1c de 12 % indica:</a:t>
              </a:r>
              <a:endParaRPr lang="es-AR" sz="1550" dirty="0">
                <a:latin typeface="Fira Sans Condensed"/>
              </a:endParaRPr>
            </a:p>
          </p:txBody>
        </p:sp>
      </p:grpSp>
      <p:sp>
        <p:nvSpPr>
          <p:cNvPr id="10" name="Opción 9A"/>
          <p:cNvSpPr/>
          <p:nvPr/>
        </p:nvSpPr>
        <p:spPr>
          <a:xfrm>
            <a:off x="105156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Promedio exactamente igual a la glucemia actual</a:t>
            </a:r>
            <a:endParaRPr lang="es-AR" sz="1350" dirty="0">
              <a:latin typeface="Fira Sans Condensed"/>
            </a:endParaRPr>
          </a:p>
        </p:txBody>
      </p:sp>
      <p:sp>
        <p:nvSpPr>
          <p:cNvPr id="11" name="Opción 9B"/>
          <p:cNvSpPr/>
          <p:nvPr/>
        </p:nvSpPr>
        <p:spPr>
          <a:xfrm>
            <a:off x="6492240" y="17373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Glucosilación enzimática aguda</a:t>
            </a:r>
            <a:endParaRPr lang="es-AR" sz="1350" dirty="0">
              <a:latin typeface="Fira Sans Condensed"/>
            </a:endParaRPr>
          </a:p>
        </p:txBody>
      </p:sp>
      <p:sp>
        <p:nvSpPr>
          <p:cNvPr id="12" name="Opción 9C"/>
          <p:cNvSpPr/>
          <p:nvPr/>
        </p:nvSpPr>
        <p:spPr>
          <a:xfrm>
            <a:off x="105156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Exposición glucémica elevada durante semanas/meses</a:t>
            </a:r>
            <a:endParaRPr lang="es-AR" sz="1350" dirty="0">
              <a:latin typeface="Fira Sans Condensed"/>
            </a:endParaRPr>
          </a:p>
        </p:txBody>
      </p:sp>
      <p:sp>
        <p:nvSpPr>
          <p:cNvPr id="13" name="Opción 9D"/>
          <p:cNvSpPr/>
          <p:nvPr/>
        </p:nvSpPr>
        <p:spPr>
          <a:xfrm>
            <a:off x="6492240" y="224028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Enfermedad exclusivamente renal</a:t>
            </a:r>
            <a:endParaRPr lang="es-AR" sz="1350" dirty="0">
              <a:latin typeface="Fira Sans Condensed"/>
            </a:endParaRPr>
          </a:p>
        </p:txBody>
      </p:sp>
      <p:sp>
        <p:nvSpPr>
          <p:cNvPr id="14" name="Marca correcta 9"/>
          <p:cNvSpPr/>
          <p:nvPr/>
        </p:nvSpPr>
        <p:spPr>
          <a:xfrm>
            <a:off x="1014984" y="2203704"/>
            <a:ext cx="5422392" cy="512064"/>
          </a:xfrm>
          <a:prstGeom prst="rect">
            <a:avLst/>
          </a:prstGeom>
          <a:noFill/>
          <a:ln w="50800" cap="rnd">
            <a:solidFill>
              <a:srgbClr val="00A651"/>
            </a:solidFill>
            <a:round/>
          </a:ln>
        </p:spPr>
      </p:sp>
      <p:sp>
        <p:nvSpPr>
          <p:cNvPr id="15" name="Razonamiento 9"/>
          <p:cNvSpPr/>
          <p:nvPr/>
        </p:nvSpPr>
        <p:spPr>
          <a:xfrm>
            <a:off x="1051560" y="277063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C.</a:t>
            </a:r>
            <a:r>
              <a:rPr lang="es-AR" sz="1350" dirty="0">
                <a:solidFill>
                  <a:srgbClr val="1E1E1E"/>
                </a:solidFill>
                <a:latin typeface="Fira Sans Condensed"/>
                <a:ea typeface="Fira Sans Condensed"/>
                <a:cs typeface="Fira Sans Condensed"/>
                <a:sym typeface="Fira Sans Condensed"/>
              </a:rPr>
              <a:t> Con límites por la vida eritrocitaria.</a:t>
            </a:r>
            <a:endParaRPr lang="es-AR" sz="1350" dirty="0">
              <a:latin typeface="Fira Sans Condensed"/>
            </a:endParaRPr>
          </a:p>
        </p:txBody>
      </p:sp>
      <p:grpSp>
        <p:nvGrpSpPr>
          <p:cNvPr id="16" name="Pregunta 10"/>
          <p:cNvGrpSpPr/>
          <p:nvPr/>
        </p:nvGrpSpPr>
        <p:grpSpPr>
          <a:xfrm>
            <a:off x="365760" y="3749040"/>
            <a:ext cx="11475720" cy="566928"/>
            <a:chOff x="365760" y="3749040"/>
            <a:chExt cx="11475720" cy="566928"/>
          </a:xfrm>
        </p:grpSpPr>
        <p:sp>
          <p:nvSpPr>
            <p:cNvPr id="17" name="Forma 16"/>
            <p:cNvSpPr/>
            <p:nvPr/>
          </p:nvSpPr>
          <p:spPr>
            <a:xfrm>
              <a:off x="365760" y="3749040"/>
              <a:ext cx="548640" cy="548640"/>
            </a:xfrm>
            <a:prstGeom prst="ellipse">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0" tIns="0" rIns="0" bIns="0" anchor="ctr" rtlCol="0">
              <a:noAutofit/>
            </a:bodyPr>
            <a:lstStyle/>
            <a:p>
              <a:pPr algn="ctr">
                <a:spcAft>
                  <a:spcPts val="300"/>
                </a:spcAft>
                <a:buNone/>
              </a:pPr>
              <a:r>
                <a:rPr lang="es-AR" sz="2000" dirty="0">
                  <a:solidFill>
                    <a:srgbClr val="C00000"/>
                  </a:solidFill>
                  <a:latin typeface="Bangers"/>
                  <a:ea typeface="Bangers"/>
                  <a:cs typeface="Bangers"/>
                  <a:sym typeface="Bangers"/>
                </a:rPr>
                <a:t>10</a:t>
              </a:r>
              <a:endParaRPr lang="es-AR" sz="2000" dirty="0">
                <a:latin typeface="Bangers"/>
              </a:endParaRPr>
            </a:p>
          </p:txBody>
        </p:sp>
        <p:sp>
          <p:nvSpPr>
            <p:cNvPr id="18" name="Forma 17"/>
            <p:cNvSpPr/>
            <p:nvPr/>
          </p:nvSpPr>
          <p:spPr>
            <a:xfrm>
              <a:off x="1051560" y="3749040"/>
              <a:ext cx="10789920" cy="566928"/>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09728" tIns="18288" rIns="109728" bIns="18288" anchor="ctr" rtlCol="0">
              <a:noAutofit/>
            </a:bodyPr>
            <a:lstStyle/>
            <a:p>
              <a:pPr algn="l">
                <a:spcAft>
                  <a:spcPts val="300"/>
                </a:spcAft>
                <a:buNone/>
              </a:pPr>
              <a:r>
                <a:rPr lang="es-AR" sz="1550" b="1" dirty="0">
                  <a:solidFill>
                    <a:srgbClr val="1E1E1E"/>
                  </a:solidFill>
                  <a:latin typeface="Fira Sans Condensed"/>
                  <a:ea typeface="Fira Sans Condensed"/>
                  <a:cs typeface="Fira Sans Condensed"/>
                  <a:sym typeface="Fira Sans Condensed"/>
                </a:rPr>
                <a:t>Sobre rimonabant en Argentina es correcto que:</a:t>
              </a:r>
              <a:endParaRPr lang="es-AR" sz="1550" dirty="0">
                <a:latin typeface="Fira Sans Condensed"/>
              </a:endParaRPr>
            </a:p>
          </p:txBody>
        </p:sp>
      </p:grpSp>
      <p:sp>
        <p:nvSpPr>
          <p:cNvPr id="19" name="Opción 10A"/>
          <p:cNvSpPr/>
          <p:nvPr/>
        </p:nvSpPr>
        <p:spPr>
          <a:xfrm>
            <a:off x="105156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A) Es de primera línea</a:t>
            </a:r>
            <a:endParaRPr lang="es-AR" sz="1350" dirty="0">
              <a:latin typeface="Fira Sans Condensed"/>
            </a:endParaRPr>
          </a:p>
        </p:txBody>
      </p:sp>
      <p:sp>
        <p:nvSpPr>
          <p:cNvPr id="20" name="Opción 10B"/>
          <p:cNvSpPr/>
          <p:nvPr/>
        </p:nvSpPr>
        <p:spPr>
          <a:xfrm>
            <a:off x="6492240" y="443484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B) Se comercializa sin receta</a:t>
            </a:r>
            <a:endParaRPr lang="es-AR" sz="1350" dirty="0">
              <a:latin typeface="Fira Sans Condensed"/>
            </a:endParaRPr>
          </a:p>
        </p:txBody>
      </p:sp>
      <p:sp>
        <p:nvSpPr>
          <p:cNvPr id="21" name="Opción 10C"/>
          <p:cNvSpPr/>
          <p:nvPr/>
        </p:nvSpPr>
        <p:spPr>
          <a:xfrm>
            <a:off x="105156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C) Su comercialización fue suspendida por ANMAT</a:t>
            </a:r>
            <a:endParaRPr lang="es-AR" sz="1350" dirty="0">
              <a:latin typeface="Fira Sans Condensed"/>
            </a:endParaRPr>
          </a:p>
        </p:txBody>
      </p:sp>
      <p:sp>
        <p:nvSpPr>
          <p:cNvPr id="22" name="Opción 10D"/>
          <p:cNvSpPr/>
          <p:nvPr/>
        </p:nvSpPr>
        <p:spPr>
          <a:xfrm>
            <a:off x="6492240" y="4937760"/>
            <a:ext cx="5349240" cy="438912"/>
          </a:xfrm>
          <a:prstGeom prst="rect">
            <a:avLst/>
          </a:prstGeom>
          <a:solidFill>
            <a:srgbClr val="FFF2CC"/>
          </a:solidFill>
          <a:ln w="12700" cap="rnd">
            <a:solidFill>
              <a:srgbClr val="1E1E1E"/>
            </a:solidFill>
            <a:round/>
          </a:ln>
        </p:spPr>
        <p:txBody>
          <a:bodyPr wrap="square" lIns="91440" tIns="18288" rIns="91440" bIns="18288" anchor="ctr" rtlCol="0">
            <a:noAutofit/>
          </a:bodyPr>
          <a:lstStyle/>
          <a:p>
            <a:pPr algn="l">
              <a:spcAft>
                <a:spcPts val="300"/>
              </a:spcAft>
              <a:buNone/>
            </a:pPr>
            <a:r>
              <a:rPr lang="es-AR" sz="1350" dirty="0">
                <a:solidFill>
                  <a:srgbClr val="1E1E1E"/>
                </a:solidFill>
                <a:latin typeface="Fira Sans Condensed"/>
                <a:ea typeface="Fira Sans Condensed"/>
                <a:cs typeface="Fira Sans Condensed"/>
                <a:sym typeface="Fira Sans Condensed"/>
              </a:rPr>
              <a:t>D) Es inhibidor de lipasa pancreática</a:t>
            </a:r>
            <a:endParaRPr lang="es-AR" sz="1350" dirty="0">
              <a:latin typeface="Fira Sans Condensed"/>
            </a:endParaRPr>
          </a:p>
        </p:txBody>
      </p:sp>
      <p:sp>
        <p:nvSpPr>
          <p:cNvPr id="23" name="Marca correcta 10"/>
          <p:cNvSpPr/>
          <p:nvPr/>
        </p:nvSpPr>
        <p:spPr>
          <a:xfrm>
            <a:off x="1014984" y="4901184"/>
            <a:ext cx="5422392" cy="512064"/>
          </a:xfrm>
          <a:prstGeom prst="rect">
            <a:avLst/>
          </a:prstGeom>
          <a:noFill/>
          <a:ln w="50800" cap="rnd">
            <a:solidFill>
              <a:srgbClr val="00A651"/>
            </a:solidFill>
            <a:round/>
          </a:ln>
        </p:spPr>
      </p:sp>
      <p:sp>
        <p:nvSpPr>
          <p:cNvPr id="24" name="Razonamiento 10"/>
          <p:cNvSpPr/>
          <p:nvPr/>
        </p:nvSpPr>
        <p:spPr>
          <a:xfrm>
            <a:off x="1051560" y="5468112"/>
            <a:ext cx="10789920" cy="822960"/>
          </a:xfrm>
          <a:prstGeom prst="rect">
            <a:avLst/>
          </a:prstGeom>
          <a:solidFill>
            <a:srgbClr val="E2F0D9"/>
          </a:solidFill>
          <a:ln w="12700" cap="rnd">
            <a:solidFill>
              <a:srgbClr val="1E1E1E"/>
            </a:solidFill>
            <a:round/>
          </a:ln>
        </p:spPr>
        <p:txBody>
          <a:bodyPr wrap="square" lIns="109728" tIns="18288" rIns="109728" bIns="18288" anchor="ctr" rtlCol="0">
            <a:noAutofit/>
          </a:bodyPr>
          <a:lstStyle/>
          <a:p>
            <a:pPr algn="l">
              <a:spcAft>
                <a:spcPts val="300"/>
              </a:spcAft>
              <a:buNone/>
            </a:pPr>
            <a:r>
              <a:rPr lang="es-AR" sz="1350" b="1" dirty="0">
                <a:solidFill>
                  <a:srgbClr val="1E1E1E"/>
                </a:solidFill>
                <a:latin typeface="Fira Sans Condensed"/>
                <a:ea typeface="Fira Sans Condensed"/>
                <a:cs typeface="Fira Sans Condensed"/>
                <a:sym typeface="Fira Sans Condensed"/>
              </a:rPr>
              <a:t>Respuesta C.</a:t>
            </a:r>
            <a:r>
              <a:rPr lang="es-AR" sz="1350" dirty="0">
                <a:solidFill>
                  <a:srgbClr val="1E1E1E"/>
                </a:solidFill>
                <a:latin typeface="Fira Sans Condensed"/>
                <a:ea typeface="Fira Sans Condensed"/>
                <a:cs typeface="Fira Sans Condensed"/>
                <a:sym typeface="Fira Sans Condensed"/>
              </a:rPr>
              <a:t> Disposición ANMAT 6238/2008.</a:t>
            </a:r>
            <a:endParaRPr lang="es-AR" sz="1350" dirty="0">
              <a:latin typeface="Fira Sans Condensed"/>
            </a:endParaRPr>
          </a:p>
        </p:txBody>
      </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OPCIÓN MÚLTIPLE · PREGUNTAS 9 Y 10</a:t>
            </a:r>
            <a:endParaRPr lang="es-AR" sz="3400" dirty="0">
              <a:latin typeface="Permanent Marker"/>
            </a:endParaRPr>
          </a:p>
        </p:txBody>
      </p:sp>
      <p:sp>
        <p:nvSpPr>
          <p:cNvPr id="6" name="Etiqueta sección"/>
          <p:cNvSpPr/>
          <p:nvPr/>
        </p:nvSpPr>
        <p:spPr>
          <a:xfrm>
            <a:off x="164592" y="6510528"/>
            <a:ext cx="1922114"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UNIDAD X · PRÁCTICA APLICADA</a:t>
            </a:r>
            <a:endParaRPr lang="es-AR" sz="950" dirty="0">
              <a:latin typeface="Fira Sans Condensed"/>
            </a:endParaRPr>
          </a:p>
        </p:txBody>
      </p:sp>
      <p:sp>
        <p:nvSpPr>
          <p:cNvPr id="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238</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8" fill="hold">
                            <p:stCondLst>
                              <p:cond delay="0"/>
                            </p:stCondLst>
                            <p:childTnLst>
                              <p:par>
                                <p:cTn id="3" presetID="53" presetClass="entr" presetSubtype="16"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 calcmode="lin" valueType="num">
                                      <p:cBhvr>
                                        <p:cTn id="5" dur="500" fill="hold"/>
                                        <p:tgtEl>
                                          <p:spTgt spid="14"/>
                                        </p:tgtEl>
                                        <p:attrNameLst>
                                          <p:attrName>ppt_w</p:attrName>
                                        </p:attrNameLst>
                                      </p:cBhvr>
                                      <p:tavLst>
                                        <p:tav tm="0">
                                          <p:val>
                                            <p:fltVal val="0"/>
                                          </p:val>
                                        </p:tav>
                                        <p:tav tm="100000">
                                          <p:val>
                                            <p:strVal val="#ppt_w"/>
                                          </p:val>
                                        </p:tav>
                                      </p:tavLst>
                                    </p:anim>
                                    <p:anim calcmode="lin" valueType="num">
                                      <p:cBhvr>
                                        <p:cTn id="6" dur="500" fill="hold"/>
                                        <p:tgtEl>
                                          <p:spTgt spid="14"/>
                                        </p:tgtEl>
                                        <p:attrNameLst>
                                          <p:attrName>ppt_h</p:attrName>
                                        </p:attrNameLst>
                                      </p:cBhvr>
                                      <p:tavLst>
                                        <p:tav tm="0">
                                          <p:val>
                                            <p:fltVal val="0"/>
                                          </p:val>
                                        </p:tav>
                                        <p:tav tm="100000">
                                          <p:val>
                                            <p:strVal val="#ppt_h"/>
                                          </p:val>
                                        </p:tav>
                                      </p:tavLst>
                                    </p:anim>
                                    <p:animEffect transition="in" filter="fade">
                                      <p:cBhvr>
                                        <p:cTn id="7" dur="500"/>
                                        <p:tgtEl>
                                          <p:spTgt spid="14"/>
                                        </p:tgtEl>
                                      </p:cBhvr>
                                    </p:animEffect>
                                  </p:childTnLst>
                                </p:cTn>
                              </p:par>
                            </p:childTnLst>
                          </p:cTn>
                        </p:par>
                        <p:par>
                          <p:cTn id="12"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24" fill="hold">
                      <p:stCondLst>
                        <p:cond delay="indefinite"/>
                      </p:stCondLst>
                      <p:childTnLst>
                        <p:par>
                          <p:cTn id="19"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animEffect transition="in" filter="fade">
                                      <p:cBhvr>
                                        <p:cTn id="18" dur="500"/>
                                        <p:tgtEl>
                                          <p:spTgt spid="23"/>
                                        </p:tgtEl>
                                      </p:cBhvr>
                                    </p:animEffect>
                                  </p:childTnLst>
                                </p:cTn>
                              </p:par>
                            </p:childTnLst>
                          </p:cTn>
                        </p:par>
                        <p:par>
                          <p:cTn id="23"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animBg="1"/>
      <p:bldP spid="24" grpId="0" animBg="1"/>
    </p:bld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sp>
        <p:nvSpPr>
          <p:cNvPr id="5" name="Etiqueta unidad"/>
          <p:cNvSpPr/>
          <p:nvPr/>
        </p:nvSpPr>
        <p:spPr>
          <a:xfrm>
            <a:off x="411480" y="320040"/>
            <a:ext cx="182880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73152" tIns="45720" rIns="73152" bIns="45720" anchor="ctr" rtlCol="0">
            <a:noAutofit/>
          </a:bodyPr>
          <a:lstStyle/>
          <a:p>
            <a:pPr algn="ctr">
              <a:spcAft>
                <a:spcPts val="300"/>
              </a:spcAft>
              <a:buNone/>
            </a:pPr>
            <a:r>
              <a:rPr lang="es-AR" sz="2000" b="1" dirty="0">
                <a:solidFill>
                  <a:srgbClr val="C00000"/>
                </a:solidFill>
                <a:latin typeface="Fira Sans Condensed"/>
                <a:ea typeface="Fira Sans Condensed"/>
                <a:cs typeface="Fira Sans Condensed"/>
                <a:sym typeface="Fira Sans Condensed"/>
              </a:rPr>
              <a:t>UNIDAD XI</a:t>
            </a:r>
            <a:endParaRPr lang="es-AR" sz="2000" dirty="0">
              <a:latin typeface="Fira Sans Condensed"/>
            </a:endParaRPr>
          </a:p>
        </p:txBody>
      </p:sp>
      <p:sp>
        <p:nvSpPr>
          <p:cNvPr id="6" name="Título unidad"/>
          <p:cNvSpPr txBox="1"/>
          <p:nvPr/>
        </p:nvSpPr>
        <p:spPr>
          <a:xfrm>
            <a:off x="2468880" y="960120"/>
            <a:ext cx="7223760" cy="17607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FUENTES, LÍMITES</a:t>
            </a:r>
            <a:endParaRPr lang="es-AR" sz="5000" dirty="0">
              <a:latin typeface="Permanent Marker"/>
            </a:endParaRPr>
          </a:p>
          <a:p>
            <a:pPr algn="ctr">
              <a:lnSpc>
                <a:spcPct val="920"/>
              </a:lnSpc>
              <a:spcAft>
                <a:spcPts val="300"/>
              </a:spcAft>
              <a:buNone/>
            </a:pPr>
            <a:r>
              <a:rPr lang="es-AR" sz="5000" dirty="0">
                <a:solidFill>
                  <a:srgbClr val="1E1E1E"/>
                </a:solidFill>
                <a:effectLst>
                  <a:glow rad="101600">
                    <a:srgbClr val="FFFFFF">
                      <a:alpha val="70000"/>
                    </a:srgbClr>
                  </a:glow>
                </a:effectLst>
                <a:latin typeface="Permanent Marker"/>
                <a:ea typeface="Permanent Marker"/>
                <a:cs typeface="Permanent Marker"/>
                <a:sym typeface="Permanent Marker"/>
              </a:rPr>
              <a:t>E INTEGRACIÓN</a:t>
            </a:r>
            <a:endParaRPr lang="es-AR" sz="5000" dirty="0">
              <a:latin typeface="Permanent Marker"/>
            </a:endParaRPr>
          </a:p>
        </p:txBody>
      </p:sp>
      <p:sp>
        <p:nvSpPr>
          <p:cNvPr id="7" name="Subtítulo unidad"/>
          <p:cNvSpPr txBox="1"/>
          <p:nvPr/>
        </p:nvSpPr>
        <p:spPr>
          <a:xfrm>
            <a:off x="2514600" y="2880360"/>
            <a:ext cx="7132320" cy="45720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latin typeface="Fira Sans Condensed"/>
                <a:ea typeface="Fira Sans Condensed"/>
                <a:cs typeface="Fira Sans Condensed"/>
                <a:sym typeface="Fira Sans Condensed"/>
              </a:rPr>
              <a:t>Lo que los datos permiten y no permiten concluir</a:t>
            </a:r>
            <a:endParaRPr lang="es-AR" sz="1900" dirty="0">
              <a:latin typeface="Fira Sans Condensed"/>
            </a:endParaRPr>
          </a:p>
        </p:txBody>
      </p:sp>
      <p:sp>
        <p:nvSpPr>
          <p:cNvPr id="8" name="Tema 1"/>
          <p:cNvSpPr/>
          <p:nvPr/>
        </p:nvSpPr>
        <p:spPr>
          <a:xfrm>
            <a:off x="2606040" y="3520440"/>
            <a:ext cx="6949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Errores frecuentes</a:t>
            </a:r>
            <a:endParaRPr lang="es-AR" sz="1400" dirty="0">
              <a:latin typeface="Fira Sans Condensed"/>
            </a:endParaRPr>
          </a:p>
        </p:txBody>
      </p:sp>
      <p:sp>
        <p:nvSpPr>
          <p:cNvPr id="9" name="Tema 2"/>
          <p:cNvSpPr/>
          <p:nvPr/>
        </p:nvSpPr>
        <p:spPr>
          <a:xfrm>
            <a:off x="2606040" y="4087368"/>
            <a:ext cx="6949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Datos faltantes por caso</a:t>
            </a:r>
            <a:endParaRPr lang="es-AR" sz="1400" dirty="0">
              <a:latin typeface="Fira Sans Condensed"/>
            </a:endParaRPr>
          </a:p>
        </p:txBody>
      </p:sp>
      <p:sp>
        <p:nvSpPr>
          <p:cNvPr id="10" name="Tema 3"/>
          <p:cNvSpPr/>
          <p:nvPr/>
        </p:nvSpPr>
        <p:spPr>
          <a:xfrm>
            <a:off x="2606040" y="4654296"/>
            <a:ext cx="6949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Conclusión integradora</a:t>
            </a:r>
            <a:endParaRPr lang="es-AR" sz="1400" dirty="0">
              <a:latin typeface="Fira Sans Condensed"/>
            </a:endParaRPr>
          </a:p>
        </p:txBody>
      </p:sp>
      <p:sp>
        <p:nvSpPr>
          <p:cNvPr id="11" name="Tema 4"/>
          <p:cNvSpPr/>
          <p:nvPr/>
        </p:nvSpPr>
        <p:spPr>
          <a:xfrm>
            <a:off x="2606040" y="5221224"/>
            <a:ext cx="6949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Bibliografía</a:t>
            </a:r>
            <a:endParaRPr lang="es-AR" sz="1400" dirty="0">
              <a:latin typeface="Fira Sans Condensed"/>
            </a:endParaRPr>
          </a:p>
        </p:txBody>
      </p:sp>
      <p:sp>
        <p:nvSpPr>
          <p:cNvPr id="12" name="Tema 5"/>
          <p:cNvSpPr/>
          <p:nvPr/>
        </p:nvSpPr>
        <p:spPr>
          <a:xfrm>
            <a:off x="2606040" y="5788152"/>
            <a:ext cx="6949440" cy="45720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400" b="1" dirty="0">
                <a:solidFill>
                  <a:srgbClr val="C00000"/>
                </a:solidFill>
                <a:latin typeface="Fira Sans Condensed"/>
                <a:ea typeface="Fira Sans Condensed"/>
                <a:cs typeface="Fira Sans Condensed"/>
                <a:sym typeface="Fira Sans Condensed"/>
              </a:rPr>
              <a:t>Créditos de ilustraciones</a:t>
            </a:r>
            <a:endParaRPr lang="es-AR" sz="1400" dirty="0">
              <a:latin typeface="Fira Sans Condensed"/>
            </a:endParaRPr>
          </a:p>
        </p:txBody>
      </p:sp>
      <p:pic>
        <p:nvPicPr>
          <p:cNvPr id="13" name="Organismo cierre" descr="Ilustración biomédica (Servier Medical Art, CC BY)"/>
          <p:cNvPicPr>
            <a:picLocks noChangeAspect="1"/>
          </p:cNvPicPr>
          <p:nvPr/>
        </p:nvPicPr>
        <p:blipFill>
          <a:blip r:embed="rId2"/>
          <a:stretch>
            <a:fillRect/>
          </a:stretch>
        </p:blipFill>
        <p:spPr>
          <a:xfrm>
            <a:off x="10332720" y="457200"/>
            <a:ext cx="2073859" cy="5120640"/>
          </a:xfrm>
          <a:prstGeom prst="rect">
            <a:avLst/>
          </a:prstGeom>
        </p:spPr>
      </p:pic>
      <p:grpSp>
        <p:nvGrpSpPr>
          <p:cNvPr id="14" name="Glc"/>
          <p:cNvGrpSpPr/>
          <p:nvPr/>
        </p:nvGrpSpPr>
        <p:grpSpPr>
          <a:xfrm>
            <a:off x="309877" y="1225728"/>
            <a:ext cx="1752908" cy="1402702"/>
            <a:chOff x="309877" y="1225728"/>
            <a:chExt cx="1752908" cy="1402702"/>
          </a:xfrm>
        </p:grpSpPr>
        <p:sp>
          <p:nvSpPr>
            <p:cNvPr id="15" name="Átomo H"/>
            <p:cNvSpPr/>
            <p:nvPr/>
          </p:nvSpPr>
          <p:spPr>
            <a:xfrm>
              <a:off x="1463980" y="1924613"/>
              <a:ext cx="117073" cy="11707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6" name="Átomo H_2"/>
            <p:cNvSpPr/>
            <p:nvPr/>
          </p:nvSpPr>
          <p:spPr>
            <a:xfrm>
              <a:off x="1644247" y="1388707"/>
              <a:ext cx="117755" cy="11775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7" name="Flecha 16_2"/>
            <p:cNvSpPr/>
            <p:nvPr/>
          </p:nvSpPr>
          <p:spPr>
            <a:xfrm>
              <a:off x="1703125" y="1447585"/>
              <a:ext cx="168368" cy="93498"/>
            </a:xfrm>
            <a:custGeom>
              <a:avLst/>
              <a:gdLst/>
              <a:ahLst/>
              <a:cxnLst/>
              <a:rect l="0" t="0" r="r" b="b"/>
              <a:pathLst>
                <a:path w="184" h="102" fill="none">
                  <a:moveTo>
                    <a:pt x="184" y="102"/>
                  </a:moveTo>
                  <a:lnTo>
                    <a:pt x="0" y="0"/>
                  </a:lnTo>
                </a:path>
              </a:pathLst>
            </a:custGeom>
            <a:noFill/>
            <a:ln w="29892" cap="rnd">
              <a:solidFill>
                <a:srgbClr val="9A9A9A"/>
              </a:solidFill>
              <a:round/>
            </a:ln>
          </p:spPr>
        </p:sp>
        <p:sp>
          <p:nvSpPr>
            <p:cNvPr id="18" name="Flecha 18_2"/>
            <p:cNvSpPr/>
            <p:nvPr/>
          </p:nvSpPr>
          <p:spPr>
            <a:xfrm>
              <a:off x="1522517" y="1983150"/>
              <a:ext cx="57063" cy="48753"/>
            </a:xfrm>
            <a:custGeom>
              <a:avLst/>
              <a:gdLst/>
              <a:ahLst/>
              <a:cxnLst/>
              <a:rect l="0" t="0" r="r" b="b"/>
              <a:pathLst>
                <a:path w="62" h="53" fill="none">
                  <a:moveTo>
                    <a:pt x="62" y="53"/>
                  </a:moveTo>
                  <a:lnTo>
                    <a:pt x="0" y="0"/>
                  </a:lnTo>
                </a:path>
              </a:pathLst>
            </a:custGeom>
            <a:noFill/>
            <a:ln w="29892" cap="rnd">
              <a:solidFill>
                <a:srgbClr val="9A9A9A"/>
              </a:solidFill>
              <a:round/>
            </a:ln>
          </p:spPr>
        </p:sp>
        <p:sp>
          <p:nvSpPr>
            <p:cNvPr id="19" name="Átomo H_3"/>
            <p:cNvSpPr/>
            <p:nvPr/>
          </p:nvSpPr>
          <p:spPr>
            <a:xfrm>
              <a:off x="1943705" y="2131002"/>
              <a:ext cx="119081" cy="11908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0" name="Átomo H_4"/>
            <p:cNvSpPr/>
            <p:nvPr/>
          </p:nvSpPr>
          <p:spPr>
            <a:xfrm>
              <a:off x="843261" y="1838702"/>
              <a:ext cx="119611" cy="11961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1" name="Átomo O"/>
            <p:cNvSpPr/>
            <p:nvPr/>
          </p:nvSpPr>
          <p:spPr>
            <a:xfrm>
              <a:off x="1777461" y="1447051"/>
              <a:ext cx="188064" cy="18806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2" name="Flecha 23_2"/>
            <p:cNvSpPr/>
            <p:nvPr/>
          </p:nvSpPr>
          <p:spPr>
            <a:xfrm>
              <a:off x="1816026" y="2190542"/>
              <a:ext cx="187219" cy="91734"/>
            </a:xfrm>
            <a:custGeom>
              <a:avLst/>
              <a:gdLst/>
              <a:ahLst/>
              <a:cxnLst/>
              <a:rect l="0" t="0" r="r" b="b"/>
              <a:pathLst>
                <a:path w="204" h="100" fill="none">
                  <a:moveTo>
                    <a:pt x="0" y="100"/>
                  </a:moveTo>
                  <a:lnTo>
                    <a:pt x="204" y="0"/>
                  </a:lnTo>
                </a:path>
              </a:pathLst>
            </a:custGeom>
            <a:noFill/>
            <a:ln w="29892" cap="rnd">
              <a:solidFill>
                <a:srgbClr val="9A9A9A"/>
              </a:solidFill>
              <a:round/>
            </a:ln>
          </p:spPr>
        </p:sp>
        <p:sp>
          <p:nvSpPr>
            <p:cNvPr id="23" name="Átomo H_5"/>
            <p:cNvSpPr/>
            <p:nvPr/>
          </p:nvSpPr>
          <p:spPr>
            <a:xfrm>
              <a:off x="1301106" y="2507859"/>
              <a:ext cx="120571" cy="12057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24" name="Átomo O_2"/>
            <p:cNvSpPr/>
            <p:nvPr/>
          </p:nvSpPr>
          <p:spPr>
            <a:xfrm>
              <a:off x="1721268" y="2187519"/>
              <a:ext cx="189515" cy="18951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5" name="Flecha 27_2"/>
            <p:cNvSpPr/>
            <p:nvPr/>
          </p:nvSpPr>
          <p:spPr>
            <a:xfrm>
              <a:off x="1579579" y="2031903"/>
              <a:ext cx="236446" cy="250373"/>
            </a:xfrm>
            <a:custGeom>
              <a:avLst/>
              <a:gdLst/>
              <a:ahLst/>
              <a:cxnLst/>
              <a:rect l="0" t="0" r="r" b="b"/>
              <a:pathLst>
                <a:path w="258" h="273" fill="none">
                  <a:moveTo>
                    <a:pt x="0" y="0"/>
                  </a:moveTo>
                  <a:lnTo>
                    <a:pt x="258" y="273"/>
                  </a:lnTo>
                </a:path>
              </a:pathLst>
            </a:custGeom>
            <a:noFill/>
            <a:ln w="29892" cap="rnd">
              <a:solidFill>
                <a:srgbClr val="9A9A9A"/>
              </a:solidFill>
              <a:round/>
            </a:ln>
          </p:spPr>
        </p:sp>
        <p:sp>
          <p:nvSpPr>
            <p:cNvPr id="26" name="Átomo C"/>
            <p:cNvSpPr/>
            <p:nvPr/>
          </p:nvSpPr>
          <p:spPr>
            <a:xfrm>
              <a:off x="1478988" y="1931312"/>
              <a:ext cx="201183" cy="2011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7" name="Flecha 30_2"/>
            <p:cNvSpPr/>
            <p:nvPr/>
          </p:nvSpPr>
          <p:spPr>
            <a:xfrm>
              <a:off x="1168913" y="2439608"/>
              <a:ext cx="192479" cy="128536"/>
            </a:xfrm>
            <a:custGeom>
              <a:avLst/>
              <a:gdLst/>
              <a:ahLst/>
              <a:cxnLst/>
              <a:rect l="0" t="0" r="r" b="b"/>
              <a:pathLst>
                <a:path w="210" h="140" fill="none">
                  <a:moveTo>
                    <a:pt x="0" y="0"/>
                  </a:moveTo>
                  <a:lnTo>
                    <a:pt x="210" y="140"/>
                  </a:lnTo>
                </a:path>
              </a:pathLst>
            </a:custGeom>
            <a:noFill/>
            <a:ln w="29892" cap="rnd">
              <a:solidFill>
                <a:srgbClr val="9A9A9A"/>
              </a:solidFill>
              <a:round/>
            </a:ln>
          </p:spPr>
        </p:sp>
        <p:sp>
          <p:nvSpPr>
            <p:cNvPr id="28" name="Átomo O_3"/>
            <p:cNvSpPr/>
            <p:nvPr/>
          </p:nvSpPr>
          <p:spPr>
            <a:xfrm>
              <a:off x="1073765" y="2344461"/>
              <a:ext cx="190295" cy="19029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9" name="Flecha 33_2"/>
            <p:cNvSpPr/>
            <p:nvPr/>
          </p:nvSpPr>
          <p:spPr>
            <a:xfrm>
              <a:off x="903066" y="1887052"/>
              <a:ext cx="120304" cy="11456"/>
            </a:xfrm>
            <a:custGeom>
              <a:avLst/>
              <a:gdLst/>
              <a:ahLst/>
              <a:cxnLst/>
              <a:rect l="0" t="0" r="r" b="b"/>
              <a:pathLst>
                <a:path w="131" h="12" fill="none">
                  <a:moveTo>
                    <a:pt x="131" y="0"/>
                  </a:moveTo>
                  <a:lnTo>
                    <a:pt x="0" y="12"/>
                  </a:lnTo>
                </a:path>
              </a:pathLst>
            </a:custGeom>
            <a:noFill/>
            <a:ln w="29892" cap="rnd">
              <a:solidFill>
                <a:srgbClr val="9A9A9A"/>
              </a:solidFill>
              <a:round/>
            </a:ln>
          </p:spPr>
        </p:sp>
        <p:sp>
          <p:nvSpPr>
            <p:cNvPr id="30" name="Flecha 35_2"/>
            <p:cNvSpPr/>
            <p:nvPr/>
          </p:nvSpPr>
          <p:spPr>
            <a:xfrm>
              <a:off x="1715731" y="1541084"/>
              <a:ext cx="155762" cy="192482"/>
            </a:xfrm>
            <a:custGeom>
              <a:avLst/>
              <a:gdLst/>
              <a:ahLst/>
              <a:cxnLst/>
              <a:rect l="0" t="0" r="r" b="b"/>
              <a:pathLst>
                <a:path w="170" h="210" fill="none">
                  <a:moveTo>
                    <a:pt x="0" y="210"/>
                  </a:moveTo>
                  <a:lnTo>
                    <a:pt x="170" y="0"/>
                  </a:lnTo>
                </a:path>
              </a:pathLst>
            </a:custGeom>
            <a:noFill/>
            <a:ln w="29892" cap="rnd">
              <a:solidFill>
                <a:srgbClr val="9A9A9A"/>
              </a:solidFill>
              <a:round/>
            </a:ln>
          </p:spPr>
        </p:sp>
        <p:sp>
          <p:nvSpPr>
            <p:cNvPr id="31" name="Flecha 37_2"/>
            <p:cNvSpPr/>
            <p:nvPr/>
          </p:nvSpPr>
          <p:spPr>
            <a:xfrm>
              <a:off x="1579579" y="1733565"/>
              <a:ext cx="136152" cy="298338"/>
            </a:xfrm>
            <a:custGeom>
              <a:avLst/>
              <a:gdLst/>
              <a:ahLst/>
              <a:cxnLst/>
              <a:rect l="0" t="0" r="r" b="b"/>
              <a:pathLst>
                <a:path w="148" h="326" fill="none">
                  <a:moveTo>
                    <a:pt x="148" y="0"/>
                  </a:moveTo>
                  <a:lnTo>
                    <a:pt x="0" y="326"/>
                  </a:lnTo>
                </a:path>
              </a:pathLst>
            </a:custGeom>
            <a:noFill/>
            <a:ln w="29892" cap="rnd">
              <a:solidFill>
                <a:srgbClr val="9A9A9A"/>
              </a:solidFill>
              <a:round/>
            </a:ln>
          </p:spPr>
        </p:sp>
        <p:sp>
          <p:nvSpPr>
            <p:cNvPr id="32" name="Flecha 39_2"/>
            <p:cNvSpPr/>
            <p:nvPr/>
          </p:nvSpPr>
          <p:spPr>
            <a:xfrm>
              <a:off x="1280498" y="2031903"/>
              <a:ext cx="299082" cy="119042"/>
            </a:xfrm>
            <a:custGeom>
              <a:avLst/>
              <a:gdLst/>
              <a:ahLst/>
              <a:cxnLst/>
              <a:rect l="0" t="0" r="r" b="b"/>
              <a:pathLst>
                <a:path w="327" h="130" fill="none">
                  <a:moveTo>
                    <a:pt x="327" y="0"/>
                  </a:moveTo>
                  <a:lnTo>
                    <a:pt x="0" y="130"/>
                  </a:lnTo>
                </a:path>
              </a:pathLst>
            </a:custGeom>
            <a:noFill/>
            <a:ln w="29892" cap="rnd">
              <a:solidFill>
                <a:srgbClr val="9A9A9A"/>
              </a:solidFill>
              <a:round/>
            </a:ln>
          </p:spPr>
        </p:sp>
        <p:sp>
          <p:nvSpPr>
            <p:cNvPr id="33" name="Flecha 41_2"/>
            <p:cNvSpPr/>
            <p:nvPr/>
          </p:nvSpPr>
          <p:spPr>
            <a:xfrm>
              <a:off x="1168913" y="2150945"/>
              <a:ext cx="111585" cy="288663"/>
            </a:xfrm>
            <a:custGeom>
              <a:avLst/>
              <a:gdLst/>
              <a:ahLst/>
              <a:cxnLst/>
              <a:rect l="0" t="0" r="r" b="b"/>
              <a:pathLst>
                <a:path w="122" h="315" fill="none">
                  <a:moveTo>
                    <a:pt x="122" y="0"/>
                  </a:moveTo>
                  <a:lnTo>
                    <a:pt x="0" y="315"/>
                  </a:lnTo>
                </a:path>
              </a:pathLst>
            </a:custGeom>
            <a:noFill/>
            <a:ln w="29892" cap="rnd">
              <a:solidFill>
                <a:srgbClr val="9A9A9A"/>
              </a:solidFill>
              <a:round/>
            </a:ln>
          </p:spPr>
        </p:sp>
        <p:sp>
          <p:nvSpPr>
            <p:cNvPr id="34" name="Átomo C_2"/>
            <p:cNvSpPr/>
            <p:nvPr/>
          </p:nvSpPr>
          <p:spPr>
            <a:xfrm>
              <a:off x="920882" y="1784563"/>
              <a:ext cx="204977" cy="20497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5" name="Flecha 44_2"/>
            <p:cNvSpPr/>
            <p:nvPr/>
          </p:nvSpPr>
          <p:spPr>
            <a:xfrm>
              <a:off x="1023370" y="1887052"/>
              <a:ext cx="257127" cy="263894"/>
            </a:xfrm>
            <a:custGeom>
              <a:avLst/>
              <a:gdLst/>
              <a:ahLst/>
              <a:cxnLst/>
              <a:rect l="0" t="0" r="r" b="b"/>
              <a:pathLst>
                <a:path w="281" h="288" fill="none">
                  <a:moveTo>
                    <a:pt x="281" y="288"/>
                  </a:moveTo>
                  <a:lnTo>
                    <a:pt x="0" y="0"/>
                  </a:lnTo>
                </a:path>
              </a:pathLst>
            </a:custGeom>
            <a:noFill/>
            <a:ln w="29892" cap="rnd">
              <a:solidFill>
                <a:srgbClr val="9A9A9A"/>
              </a:solidFill>
              <a:round/>
            </a:ln>
          </p:spPr>
        </p:sp>
        <p:sp>
          <p:nvSpPr>
            <p:cNvPr id="36" name="Flecha 46_2"/>
            <p:cNvSpPr/>
            <p:nvPr/>
          </p:nvSpPr>
          <p:spPr>
            <a:xfrm>
              <a:off x="1023370" y="1566943"/>
              <a:ext cx="131659" cy="320108"/>
            </a:xfrm>
            <a:custGeom>
              <a:avLst/>
              <a:gdLst/>
              <a:ahLst/>
              <a:cxnLst/>
              <a:rect l="0" t="0" r="r" b="b"/>
              <a:pathLst>
                <a:path w="143" h="350" fill="none">
                  <a:moveTo>
                    <a:pt x="0" y="350"/>
                  </a:moveTo>
                  <a:lnTo>
                    <a:pt x="143" y="0"/>
                  </a:lnTo>
                </a:path>
              </a:pathLst>
            </a:custGeom>
            <a:noFill/>
            <a:ln w="29892" cap="rnd">
              <a:solidFill>
                <a:srgbClr val="9A9A9A"/>
              </a:solidFill>
              <a:round/>
            </a:ln>
          </p:spPr>
        </p:sp>
        <p:sp>
          <p:nvSpPr>
            <p:cNvPr id="37" name="Átomo C_3"/>
            <p:cNvSpPr/>
            <p:nvPr/>
          </p:nvSpPr>
          <p:spPr>
            <a:xfrm>
              <a:off x="1613133" y="1630967"/>
              <a:ext cx="205197" cy="20519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Átomo C_4"/>
            <p:cNvSpPr/>
            <p:nvPr/>
          </p:nvSpPr>
          <p:spPr>
            <a:xfrm>
              <a:off x="1177820" y="2048268"/>
              <a:ext cx="205355" cy="20535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9" name="Átomo O_4"/>
            <p:cNvSpPr/>
            <p:nvPr/>
          </p:nvSpPr>
          <p:spPr>
            <a:xfrm>
              <a:off x="1058198" y="1470112"/>
              <a:ext cx="193662" cy="19366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0" name="Flecha 51_2"/>
            <p:cNvSpPr/>
            <p:nvPr/>
          </p:nvSpPr>
          <p:spPr>
            <a:xfrm>
              <a:off x="1715731" y="1733565"/>
              <a:ext cx="186666" cy="70015"/>
            </a:xfrm>
            <a:custGeom>
              <a:avLst/>
              <a:gdLst/>
              <a:ahLst/>
              <a:cxnLst/>
              <a:rect l="0" t="0" r="r" b="b"/>
              <a:pathLst>
                <a:path w="204" h="76" fill="none">
                  <a:moveTo>
                    <a:pt x="0" y="0"/>
                  </a:moveTo>
                  <a:lnTo>
                    <a:pt x="204" y="76"/>
                  </a:lnTo>
                </a:path>
              </a:pathLst>
            </a:custGeom>
            <a:noFill/>
            <a:ln w="29892" cap="rnd">
              <a:solidFill>
                <a:srgbClr val="9A9A9A"/>
              </a:solidFill>
              <a:round/>
            </a:ln>
          </p:spPr>
        </p:sp>
        <p:sp>
          <p:nvSpPr>
            <p:cNvPr id="41" name="Flecha 53_2"/>
            <p:cNvSpPr/>
            <p:nvPr/>
          </p:nvSpPr>
          <p:spPr>
            <a:xfrm>
              <a:off x="1451325" y="1543846"/>
              <a:ext cx="264407" cy="189720"/>
            </a:xfrm>
            <a:custGeom>
              <a:avLst/>
              <a:gdLst/>
              <a:ahLst/>
              <a:cxnLst/>
              <a:rect l="0" t="0" r="r" b="b"/>
              <a:pathLst>
                <a:path w="289" h="207" fill="none">
                  <a:moveTo>
                    <a:pt x="0" y="0"/>
                  </a:moveTo>
                  <a:lnTo>
                    <a:pt x="289" y="207"/>
                  </a:lnTo>
                </a:path>
              </a:pathLst>
            </a:custGeom>
            <a:noFill/>
            <a:ln w="29892" cap="rnd">
              <a:solidFill>
                <a:srgbClr val="9A9A9A"/>
              </a:solidFill>
              <a:round/>
            </a:ln>
          </p:spPr>
        </p:sp>
        <p:sp>
          <p:nvSpPr>
            <p:cNvPr id="42" name="Flecha 55_2"/>
            <p:cNvSpPr/>
            <p:nvPr/>
          </p:nvSpPr>
          <p:spPr>
            <a:xfrm>
              <a:off x="1155029" y="1543846"/>
              <a:ext cx="296295" cy="23098"/>
            </a:xfrm>
            <a:custGeom>
              <a:avLst/>
              <a:gdLst/>
              <a:ahLst/>
              <a:cxnLst/>
              <a:rect l="0" t="0" r="r" b="b"/>
              <a:pathLst>
                <a:path w="324" h="25" fill="none">
                  <a:moveTo>
                    <a:pt x="0" y="25"/>
                  </a:moveTo>
                  <a:lnTo>
                    <a:pt x="324" y="0"/>
                  </a:lnTo>
                </a:path>
              </a:pathLst>
            </a:custGeom>
            <a:noFill/>
            <a:ln w="29892" cap="rnd">
              <a:solidFill>
                <a:srgbClr val="9A9A9A"/>
              </a:solidFill>
              <a:round/>
            </a:ln>
          </p:spPr>
        </p:sp>
        <p:sp>
          <p:nvSpPr>
            <p:cNvPr id="43" name="Flecha 57_2"/>
            <p:cNvSpPr/>
            <p:nvPr/>
          </p:nvSpPr>
          <p:spPr>
            <a:xfrm>
              <a:off x="765295" y="1887052"/>
              <a:ext cx="258075" cy="48649"/>
            </a:xfrm>
            <a:custGeom>
              <a:avLst/>
              <a:gdLst/>
              <a:ahLst/>
              <a:cxnLst/>
              <a:rect l="0" t="0" r="r" b="b"/>
              <a:pathLst>
                <a:path w="282" h="53" fill="none">
                  <a:moveTo>
                    <a:pt x="0" y="53"/>
                  </a:moveTo>
                  <a:lnTo>
                    <a:pt x="282" y="0"/>
                  </a:lnTo>
                </a:path>
              </a:pathLst>
            </a:custGeom>
            <a:noFill/>
            <a:ln w="29892" cap="rnd">
              <a:solidFill>
                <a:srgbClr val="9A9A9A"/>
              </a:solidFill>
              <a:round/>
            </a:ln>
          </p:spPr>
        </p:sp>
        <p:sp>
          <p:nvSpPr>
            <p:cNvPr id="44" name="Flecha 59_2"/>
            <p:cNvSpPr/>
            <p:nvPr/>
          </p:nvSpPr>
          <p:spPr>
            <a:xfrm>
              <a:off x="1280498" y="2150945"/>
              <a:ext cx="59742" cy="61254"/>
            </a:xfrm>
            <a:custGeom>
              <a:avLst/>
              <a:gdLst/>
              <a:ahLst/>
              <a:cxnLst/>
              <a:rect l="0" t="0" r="r" b="b"/>
              <a:pathLst>
                <a:path w="65" h="66" fill="none">
                  <a:moveTo>
                    <a:pt x="0" y="0"/>
                  </a:moveTo>
                  <a:lnTo>
                    <a:pt x="65" y="66"/>
                  </a:lnTo>
                </a:path>
              </a:pathLst>
            </a:custGeom>
            <a:noFill/>
            <a:ln w="29892" cap="rnd">
              <a:solidFill>
                <a:srgbClr val="9A9A9A"/>
              </a:solidFill>
              <a:round/>
            </a:ln>
          </p:spPr>
        </p:sp>
        <p:sp>
          <p:nvSpPr>
            <p:cNvPr id="45" name="Átomo H_6"/>
            <p:cNvSpPr/>
            <p:nvPr/>
          </p:nvSpPr>
          <p:spPr>
            <a:xfrm>
              <a:off x="1839605" y="1740789"/>
              <a:ext cx="125584" cy="1255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Átomo C_5"/>
            <p:cNvSpPr/>
            <p:nvPr/>
          </p:nvSpPr>
          <p:spPr>
            <a:xfrm>
              <a:off x="1346619" y="1439140"/>
              <a:ext cx="209411" cy="20941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7" name="Flecha 63_2"/>
            <p:cNvSpPr/>
            <p:nvPr/>
          </p:nvSpPr>
          <p:spPr>
            <a:xfrm>
              <a:off x="1451325" y="1288595"/>
              <a:ext cx="60969" cy="255251"/>
            </a:xfrm>
            <a:custGeom>
              <a:avLst/>
              <a:gdLst/>
              <a:ahLst/>
              <a:cxnLst/>
              <a:rect l="0" t="0" r="r" b="b"/>
              <a:pathLst>
                <a:path w="66" h="279" fill="none">
                  <a:moveTo>
                    <a:pt x="0" y="279"/>
                  </a:moveTo>
                  <a:lnTo>
                    <a:pt x="66" y="0"/>
                  </a:lnTo>
                </a:path>
              </a:pathLst>
            </a:custGeom>
            <a:noFill/>
            <a:ln w="29892" cap="rnd">
              <a:solidFill>
                <a:srgbClr val="9A9A9A"/>
              </a:solidFill>
              <a:round/>
            </a:ln>
          </p:spPr>
        </p:sp>
        <p:sp>
          <p:nvSpPr>
            <p:cNvPr id="48" name="Átomo H_7"/>
            <p:cNvSpPr/>
            <p:nvPr/>
          </p:nvSpPr>
          <p:spPr>
            <a:xfrm>
              <a:off x="1449426" y="1225728"/>
              <a:ext cx="125734" cy="12573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9" name="Átomo O_5"/>
            <p:cNvSpPr/>
            <p:nvPr/>
          </p:nvSpPr>
          <p:spPr>
            <a:xfrm>
              <a:off x="394969" y="1638638"/>
              <a:ext cx="197625" cy="19762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0" name="Flecha 67_2"/>
            <p:cNvSpPr/>
            <p:nvPr/>
          </p:nvSpPr>
          <p:spPr>
            <a:xfrm>
              <a:off x="493781" y="1737451"/>
              <a:ext cx="271514" cy="198250"/>
            </a:xfrm>
            <a:custGeom>
              <a:avLst/>
              <a:gdLst/>
              <a:ahLst/>
              <a:cxnLst/>
              <a:rect l="0" t="0" r="r" b="b"/>
              <a:pathLst>
                <a:path w="296" h="216" fill="none">
                  <a:moveTo>
                    <a:pt x="0" y="0"/>
                  </a:moveTo>
                  <a:lnTo>
                    <a:pt x="296" y="216"/>
                  </a:lnTo>
                </a:path>
              </a:pathLst>
            </a:custGeom>
            <a:noFill/>
            <a:ln w="29892" cap="rnd">
              <a:solidFill>
                <a:srgbClr val="9A9A9A"/>
              </a:solidFill>
              <a:round/>
            </a:ln>
          </p:spPr>
        </p:sp>
        <p:sp>
          <p:nvSpPr>
            <p:cNvPr id="51" name="Flecha 69_2"/>
            <p:cNvSpPr/>
            <p:nvPr/>
          </p:nvSpPr>
          <p:spPr>
            <a:xfrm>
              <a:off x="682020" y="1935701"/>
              <a:ext cx="83275" cy="247985"/>
            </a:xfrm>
            <a:custGeom>
              <a:avLst/>
              <a:gdLst/>
              <a:ahLst/>
              <a:cxnLst/>
              <a:rect l="0" t="0" r="r" b="b"/>
              <a:pathLst>
                <a:path w="91" h="271" fill="none">
                  <a:moveTo>
                    <a:pt x="91" y="0"/>
                  </a:moveTo>
                  <a:lnTo>
                    <a:pt x="0" y="271"/>
                  </a:lnTo>
                </a:path>
              </a:pathLst>
            </a:custGeom>
            <a:noFill/>
            <a:ln w="29892" cap="rnd">
              <a:solidFill>
                <a:srgbClr val="9A9A9A"/>
              </a:solidFill>
              <a:round/>
            </a:ln>
          </p:spPr>
        </p:sp>
        <p:sp>
          <p:nvSpPr>
            <p:cNvPr id="52" name="Átomo C_6"/>
            <p:cNvSpPr/>
            <p:nvPr/>
          </p:nvSpPr>
          <p:spPr>
            <a:xfrm>
              <a:off x="659706" y="1830111"/>
              <a:ext cx="211179" cy="2111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3" name="Átomo H_8"/>
            <p:cNvSpPr/>
            <p:nvPr/>
          </p:nvSpPr>
          <p:spPr>
            <a:xfrm>
              <a:off x="618634" y="2120300"/>
              <a:ext cx="126772" cy="12677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4" name="Átomo H_9"/>
            <p:cNvSpPr/>
            <p:nvPr/>
          </p:nvSpPr>
          <p:spPr>
            <a:xfrm>
              <a:off x="1276843" y="2148803"/>
              <a:ext cx="126794" cy="12679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5" name="Flecha 74_2"/>
            <p:cNvSpPr/>
            <p:nvPr/>
          </p:nvSpPr>
          <p:spPr>
            <a:xfrm>
              <a:off x="374195" y="1718159"/>
              <a:ext cx="119586" cy="19292"/>
            </a:xfrm>
            <a:custGeom>
              <a:avLst/>
              <a:gdLst/>
              <a:ahLst/>
              <a:cxnLst/>
              <a:rect l="0" t="0" r="r" b="b"/>
              <a:pathLst>
                <a:path w="130" h="21" fill="none">
                  <a:moveTo>
                    <a:pt x="130" y="21"/>
                  </a:moveTo>
                  <a:lnTo>
                    <a:pt x="0" y="0"/>
                  </a:lnTo>
                </a:path>
              </a:pathLst>
            </a:custGeom>
            <a:noFill/>
            <a:ln w="29892" cap="rnd">
              <a:solidFill>
                <a:srgbClr val="9A9A9A"/>
              </a:solidFill>
              <a:round/>
            </a:ln>
          </p:spPr>
        </p:sp>
        <p:sp>
          <p:nvSpPr>
            <p:cNvPr id="56" name="Flecha 76_2"/>
            <p:cNvSpPr/>
            <p:nvPr/>
          </p:nvSpPr>
          <p:spPr>
            <a:xfrm>
              <a:off x="1417395" y="1543846"/>
              <a:ext cx="33929" cy="105109"/>
            </a:xfrm>
            <a:custGeom>
              <a:avLst/>
              <a:gdLst/>
              <a:ahLst/>
              <a:cxnLst/>
              <a:rect l="0" t="0" r="r" b="b"/>
              <a:pathLst>
                <a:path w="37" h="114" fill="none">
                  <a:moveTo>
                    <a:pt x="37" y="0"/>
                  </a:moveTo>
                  <a:lnTo>
                    <a:pt x="0" y="114"/>
                  </a:lnTo>
                </a:path>
              </a:pathLst>
            </a:custGeom>
            <a:noFill/>
            <a:ln w="29892" cap="rnd">
              <a:solidFill>
                <a:srgbClr val="9A9A9A"/>
              </a:solidFill>
              <a:round/>
            </a:ln>
          </p:spPr>
        </p:sp>
        <p:sp>
          <p:nvSpPr>
            <p:cNvPr id="57" name="Flecha 78_2"/>
            <p:cNvSpPr/>
            <p:nvPr/>
          </p:nvSpPr>
          <p:spPr>
            <a:xfrm>
              <a:off x="765295" y="1869343"/>
              <a:ext cx="89514" cy="66357"/>
            </a:xfrm>
            <a:custGeom>
              <a:avLst/>
              <a:gdLst/>
              <a:ahLst/>
              <a:cxnLst/>
              <a:rect l="0" t="0" r="r" b="b"/>
              <a:pathLst>
                <a:path w="97" h="72" fill="none">
                  <a:moveTo>
                    <a:pt x="0" y="72"/>
                  </a:moveTo>
                  <a:lnTo>
                    <a:pt x="97" y="0"/>
                  </a:lnTo>
                </a:path>
              </a:pathLst>
            </a:custGeom>
            <a:noFill/>
            <a:ln w="29892" cap="rnd">
              <a:solidFill>
                <a:srgbClr val="9A9A9A"/>
              </a:solidFill>
              <a:round/>
            </a:ln>
          </p:spPr>
        </p:sp>
        <p:sp>
          <p:nvSpPr>
            <p:cNvPr id="58" name="Átomo H_10"/>
            <p:cNvSpPr/>
            <p:nvPr/>
          </p:nvSpPr>
          <p:spPr>
            <a:xfrm>
              <a:off x="309877" y="1653841"/>
              <a:ext cx="128635" cy="12863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9" name="Átomo H_11"/>
            <p:cNvSpPr/>
            <p:nvPr/>
          </p:nvSpPr>
          <p:spPr>
            <a:xfrm>
              <a:off x="789746" y="1804281"/>
              <a:ext cx="130125" cy="13012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60" name="Átomo O_6"/>
            <p:cNvSpPr/>
            <p:nvPr/>
          </p:nvSpPr>
          <p:spPr>
            <a:xfrm>
              <a:off x="1315029" y="1546588"/>
              <a:ext cx="204733" cy="20473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1" name="Flecha 83_2"/>
            <p:cNvSpPr/>
            <p:nvPr/>
          </p:nvSpPr>
          <p:spPr>
            <a:xfrm>
              <a:off x="1417395" y="1557574"/>
              <a:ext cx="184220" cy="91381"/>
            </a:xfrm>
            <a:custGeom>
              <a:avLst/>
              <a:gdLst/>
              <a:ahLst/>
              <a:cxnLst/>
              <a:rect l="0" t="0" r="r" b="b"/>
              <a:pathLst>
                <a:path w="201" h="99" fill="none">
                  <a:moveTo>
                    <a:pt x="0" y="99"/>
                  </a:moveTo>
                  <a:lnTo>
                    <a:pt x="201" y="0"/>
                  </a:lnTo>
                </a:path>
              </a:pathLst>
            </a:custGeom>
            <a:noFill/>
            <a:ln w="29892" cap="rnd">
              <a:solidFill>
                <a:srgbClr val="9A9A9A"/>
              </a:solidFill>
              <a:round/>
            </a:ln>
          </p:spPr>
        </p:sp>
        <p:sp>
          <p:nvSpPr>
            <p:cNvPr id="62" name="Átomo H_12"/>
            <p:cNvSpPr/>
            <p:nvPr/>
          </p:nvSpPr>
          <p:spPr>
            <a:xfrm>
              <a:off x="1535606" y="1491565"/>
              <a:ext cx="132019" cy="13201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pic>
        <p:nvPicPr>
          <p:cNvPr id="63" name="Adipocitos" descr="Ilustración biomédica (Servier Medical Art, CC BY)"/>
          <p:cNvPicPr>
            <a:picLocks noChangeAspect="1"/>
          </p:cNvPicPr>
          <p:nvPr/>
        </p:nvPicPr>
        <p:blipFill>
          <a:blip r:embed="rId3"/>
          <a:stretch>
            <a:fillRect/>
          </a:stretch>
        </p:blipFill>
        <p:spPr>
          <a:xfrm>
            <a:off x="274320" y="4114800"/>
            <a:ext cx="1828800" cy="1864763"/>
          </a:xfrm>
          <a:prstGeom prst="rect">
            <a:avLst/>
          </a:prstGeom>
        </p:spPr>
      </p:pic>
      <p:sp>
        <p:nvSpPr>
          <p:cNvPr id="64"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239</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250"/>
                                        <p:tgtEl>
                                          <p:spTgt spid="8"/>
                                        </p:tgtEl>
                                      </p:cBhvr>
                                    </p:animEffect>
                                  </p:childTnLst>
                                </p:cTn>
                              </p:par>
                            </p:childTnLst>
                          </p:cTn>
                        </p:par>
                        <p:par>
                          <p:cTn id="10" fill="hold">
                            <p:stCondLst>
                              <p:cond delay="250"/>
                            </p:stCondLst>
                            <p:childTnLst>
                              <p:par>
                                <p:cTn id="7" presetID="10" presetClass="entr" presetSubtype="0" fill="hold" grpId="0" nodeType="after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childTnLst>
                                </p:cTn>
                              </p:par>
                            </p:childTnLst>
                          </p:cTn>
                        </p:par>
                        <p:par>
                          <p:cTn id="18" fill="hold">
                            <p:stCondLst>
                              <p:cond delay="750"/>
                            </p:stCondLst>
                            <p:childTnLst>
                              <p:par>
                                <p:cTn id="15" presetID="10" presetClass="entr" presetSubtype="0"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par>
                          <p:cTn id="22"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4B6A6"/>
          </a:solidFill>
          <a:ln>
            <a:noFill/>
          </a:ln>
        </p:spPr>
      </p:sp>
      <p:sp>
        <p:nvSpPr>
          <p:cNvPr id="3" name="!!Fondo 2"/>
          <p:cNvSpPr/>
          <p:nvPr/>
        </p:nvSpPr>
        <p:spPr>
          <a:xfrm>
            <a:off x="6095848" y="0"/>
            <a:ext cx="6095848" cy="6858000"/>
          </a:xfrm>
          <a:prstGeom prst="rect">
            <a:avLst/>
          </a:prstGeom>
          <a:solidFill>
            <a:srgbClr val="FFFFFF"/>
          </a:solidFill>
          <a:ln>
            <a:noFill/>
          </a:ln>
        </p:spPr>
      </p:sp>
      <p:sp>
        <p:nvSpPr>
          <p:cNvPr id="4" name="!!Fondo 3"/>
          <p:cNvSpPr/>
          <p:nvPr/>
        </p:nvSpPr>
        <p:spPr>
          <a:xfrm>
            <a:off x="6095848" y="5897880"/>
            <a:ext cx="6095848" cy="960120"/>
          </a:xfrm>
          <a:prstGeom prst="rect">
            <a:avLst/>
          </a:prstGeom>
          <a:solidFill>
            <a:srgbClr val="00B0F0"/>
          </a:solidFill>
          <a:ln>
            <a:noFill/>
          </a:ln>
        </p:spPr>
      </p:sp>
      <p:grpSp>
        <p:nvGrpSpPr>
          <p:cNvPr id="7" name="Error 1"/>
          <p:cNvGrpSpPr/>
          <p:nvPr/>
        </p:nvGrpSpPr>
        <p:grpSpPr>
          <a:xfrm>
            <a:off x="365760" y="1097280"/>
            <a:ext cx="5623560" cy="1097280"/>
            <a:chOff x="365760" y="1097280"/>
            <a:chExt cx="5623560" cy="1097280"/>
          </a:xfrm>
        </p:grpSpPr>
        <p:sp>
          <p:nvSpPr>
            <p:cNvPr id="8" name="Forma 7"/>
            <p:cNvSpPr/>
            <p:nvPr/>
          </p:nvSpPr>
          <p:spPr>
            <a:xfrm>
              <a:off x="365760" y="1097280"/>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9" name="Forma 8"/>
            <p:cNvSpPr/>
            <p:nvPr/>
          </p:nvSpPr>
          <p:spPr>
            <a:xfrm>
              <a:off x="475488" y="1371600"/>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10" name="Forma 9"/>
            <p:cNvSpPr txBox="1"/>
            <p:nvPr/>
          </p:nvSpPr>
          <p:spPr>
            <a:xfrm>
              <a:off x="1143000" y="1170432"/>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Afirmar que pCO₂ 24, HCO₃⁻ 13 y pH 7,15 forman una gasometría consistente.</a:t>
              </a:r>
              <a:endParaRPr lang="es-AR" sz="1450" dirty="0">
                <a:latin typeface="Fira Sans Condensed"/>
              </a:endParaRPr>
            </a:p>
          </p:txBody>
        </p:sp>
      </p:grpSp>
      <p:grpSp>
        <p:nvGrpSpPr>
          <p:cNvPr id="11" name="Error 2"/>
          <p:cNvGrpSpPr/>
          <p:nvPr/>
        </p:nvGrpSpPr>
        <p:grpSpPr>
          <a:xfrm>
            <a:off x="6172200" y="1097280"/>
            <a:ext cx="5623560" cy="1097280"/>
            <a:chOff x="6172200" y="1097280"/>
            <a:chExt cx="5623560" cy="1097280"/>
          </a:xfrm>
        </p:grpSpPr>
        <p:sp>
          <p:nvSpPr>
            <p:cNvPr id="12" name="Forma 11"/>
            <p:cNvSpPr/>
            <p:nvPr/>
          </p:nvSpPr>
          <p:spPr>
            <a:xfrm>
              <a:off x="6172200" y="1097280"/>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3" name="Forma 12"/>
            <p:cNvSpPr/>
            <p:nvPr/>
          </p:nvSpPr>
          <p:spPr>
            <a:xfrm>
              <a:off x="6281928" y="1371600"/>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14" name="Forma 13"/>
            <p:cNvSpPr txBox="1"/>
            <p:nvPr/>
          </p:nvSpPr>
          <p:spPr>
            <a:xfrm>
              <a:off x="6949440" y="1170432"/>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Sostener que el bicarbonato reemplaza a la insulina en la CAD.</a:t>
              </a:r>
              <a:endParaRPr lang="es-AR" sz="1450" dirty="0">
                <a:latin typeface="Fira Sans Condensed"/>
              </a:endParaRPr>
            </a:p>
          </p:txBody>
        </p:sp>
      </p:grpSp>
      <p:grpSp>
        <p:nvGrpSpPr>
          <p:cNvPr id="15" name="Error 3"/>
          <p:cNvGrpSpPr/>
          <p:nvPr/>
        </p:nvGrpSpPr>
        <p:grpSpPr>
          <a:xfrm>
            <a:off x="365760" y="2359152"/>
            <a:ext cx="5623560" cy="1097280"/>
            <a:chOff x="365760" y="2359152"/>
            <a:chExt cx="5623560" cy="1097280"/>
          </a:xfrm>
        </p:grpSpPr>
        <p:sp>
          <p:nvSpPr>
            <p:cNvPr id="16" name="Forma 15"/>
            <p:cNvSpPr/>
            <p:nvPr/>
          </p:nvSpPr>
          <p:spPr>
            <a:xfrm>
              <a:off x="365760" y="2359152"/>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7" name="Forma 16"/>
            <p:cNvSpPr/>
            <p:nvPr/>
          </p:nvSpPr>
          <p:spPr>
            <a:xfrm>
              <a:off x="475488" y="2633472"/>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18" name="Forma 17"/>
            <p:cNvSpPr txBox="1"/>
            <p:nvPr/>
          </p:nvSpPr>
          <p:spPr>
            <a:xfrm>
              <a:off x="1143000" y="2432304"/>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Confundir cetosis fisiológica del ayuno con CAD acidémica.</a:t>
              </a:r>
              <a:endParaRPr lang="es-AR" sz="1450" dirty="0">
                <a:latin typeface="Fira Sans Condensed"/>
              </a:endParaRPr>
            </a:p>
          </p:txBody>
        </p:sp>
      </p:grpSp>
      <p:grpSp>
        <p:nvGrpSpPr>
          <p:cNvPr id="19" name="Error 4"/>
          <p:cNvGrpSpPr/>
          <p:nvPr/>
        </p:nvGrpSpPr>
        <p:grpSpPr>
          <a:xfrm>
            <a:off x="6172200" y="2359152"/>
            <a:ext cx="5623560" cy="1097280"/>
            <a:chOff x="6172200" y="2359152"/>
            <a:chExt cx="5623560" cy="1097280"/>
          </a:xfrm>
        </p:grpSpPr>
        <p:sp>
          <p:nvSpPr>
            <p:cNvPr id="20" name="Forma 19"/>
            <p:cNvSpPr/>
            <p:nvPr/>
          </p:nvSpPr>
          <p:spPr>
            <a:xfrm>
              <a:off x="6172200" y="2359152"/>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1" name="Forma 20"/>
            <p:cNvSpPr/>
            <p:nvPr/>
          </p:nvSpPr>
          <p:spPr>
            <a:xfrm>
              <a:off x="6281928" y="2633472"/>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22" name="Forma 21"/>
            <p:cNvSpPr txBox="1"/>
            <p:nvPr/>
          </p:nvSpPr>
          <p:spPr>
            <a:xfrm>
              <a:off x="6949440" y="2432304"/>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Decidir la resolución por la cetonuria aislada sin β-OHB.</a:t>
              </a:r>
              <a:endParaRPr lang="es-AR" sz="1450" dirty="0">
                <a:latin typeface="Fira Sans Condensed"/>
              </a:endParaRPr>
            </a:p>
          </p:txBody>
        </p:sp>
      </p:grpSp>
      <p:grpSp>
        <p:nvGrpSpPr>
          <p:cNvPr id="23" name="Error 5"/>
          <p:cNvGrpSpPr/>
          <p:nvPr/>
        </p:nvGrpSpPr>
        <p:grpSpPr>
          <a:xfrm>
            <a:off x="365760" y="3621024"/>
            <a:ext cx="5623560" cy="1097280"/>
            <a:chOff x="365760" y="3621024"/>
            <a:chExt cx="5623560" cy="1097280"/>
          </a:xfrm>
        </p:grpSpPr>
        <p:sp>
          <p:nvSpPr>
            <p:cNvPr id="24" name="Forma 23"/>
            <p:cNvSpPr/>
            <p:nvPr/>
          </p:nvSpPr>
          <p:spPr>
            <a:xfrm>
              <a:off x="365760" y="3621024"/>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5" name="Forma 24"/>
            <p:cNvSpPr/>
            <p:nvPr/>
          </p:nvSpPr>
          <p:spPr>
            <a:xfrm>
              <a:off x="475488" y="3895344"/>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26" name="Forma 25"/>
            <p:cNvSpPr txBox="1"/>
            <p:nvPr/>
          </p:nvSpPr>
          <p:spPr>
            <a:xfrm>
              <a:off x="1143000" y="3694176"/>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Olvidar el K⁺ total depletado detrás de una kalemia «normal».</a:t>
              </a:r>
              <a:endParaRPr lang="es-AR" sz="1450" dirty="0">
                <a:latin typeface="Fira Sans Condensed"/>
              </a:endParaRPr>
            </a:p>
          </p:txBody>
        </p:sp>
      </p:grpSp>
      <p:grpSp>
        <p:nvGrpSpPr>
          <p:cNvPr id="27" name="Error 6"/>
          <p:cNvGrpSpPr/>
          <p:nvPr/>
        </p:nvGrpSpPr>
        <p:grpSpPr>
          <a:xfrm>
            <a:off x="6172200" y="3621024"/>
            <a:ext cx="5623560" cy="1097280"/>
            <a:chOff x="6172200" y="3621024"/>
            <a:chExt cx="5623560" cy="1097280"/>
          </a:xfrm>
        </p:grpSpPr>
        <p:sp>
          <p:nvSpPr>
            <p:cNvPr id="28" name="Forma 27"/>
            <p:cNvSpPr/>
            <p:nvPr/>
          </p:nvSpPr>
          <p:spPr>
            <a:xfrm>
              <a:off x="6172200" y="3621024"/>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9" name="Forma 28"/>
            <p:cNvSpPr/>
            <p:nvPr/>
          </p:nvSpPr>
          <p:spPr>
            <a:xfrm>
              <a:off x="6281928" y="3895344"/>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30" name="Forma 29"/>
            <p:cNvSpPr txBox="1"/>
            <p:nvPr/>
          </p:nvSpPr>
          <p:spPr>
            <a:xfrm>
              <a:off x="6949440" y="3694176"/>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Creer que todo EHH carece absolutamente de cetonas o nunca se combina con CAD.</a:t>
              </a:r>
              <a:endParaRPr lang="es-AR" sz="1450" dirty="0">
                <a:latin typeface="Fira Sans Condensed"/>
              </a:endParaRPr>
            </a:p>
          </p:txBody>
        </p:sp>
      </p:grpSp>
      <p:grpSp>
        <p:nvGrpSpPr>
          <p:cNvPr id="31" name="Error 7"/>
          <p:cNvGrpSpPr/>
          <p:nvPr/>
        </p:nvGrpSpPr>
        <p:grpSpPr>
          <a:xfrm>
            <a:off x="365760" y="4882896"/>
            <a:ext cx="5623560" cy="1097280"/>
            <a:chOff x="365760" y="4882896"/>
            <a:chExt cx="5623560" cy="1097280"/>
          </a:xfrm>
        </p:grpSpPr>
        <p:sp>
          <p:nvSpPr>
            <p:cNvPr id="32" name="Forma 31"/>
            <p:cNvSpPr/>
            <p:nvPr/>
          </p:nvSpPr>
          <p:spPr>
            <a:xfrm>
              <a:off x="365760" y="4882896"/>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3" name="Forma 32"/>
            <p:cNvSpPr/>
            <p:nvPr/>
          </p:nvSpPr>
          <p:spPr>
            <a:xfrm>
              <a:off x="475488" y="5157216"/>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34" name="Forma 33"/>
            <p:cNvSpPr txBox="1"/>
            <p:nvPr/>
          </p:nvSpPr>
          <p:spPr>
            <a:xfrm>
              <a:off x="1143000" y="4956048"/>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Sostener que toda acción de la insulina pasa por GLUT4, incluido el hepatocito.</a:t>
              </a:r>
              <a:endParaRPr lang="es-AR" sz="1450" dirty="0">
                <a:latin typeface="Fira Sans Condensed"/>
              </a:endParaRPr>
            </a:p>
          </p:txBody>
        </p:sp>
      </p:grpSp>
      <p:grpSp>
        <p:nvGrpSpPr>
          <p:cNvPr id="35" name="Error 8"/>
          <p:cNvGrpSpPr/>
          <p:nvPr/>
        </p:nvGrpSpPr>
        <p:grpSpPr>
          <a:xfrm>
            <a:off x="6172200" y="4882896"/>
            <a:ext cx="5623560" cy="1097280"/>
            <a:chOff x="6172200" y="4882896"/>
            <a:chExt cx="5623560" cy="1097280"/>
          </a:xfrm>
        </p:grpSpPr>
        <p:sp>
          <p:nvSpPr>
            <p:cNvPr id="36" name="Forma 35"/>
            <p:cNvSpPr/>
            <p:nvPr/>
          </p:nvSpPr>
          <p:spPr>
            <a:xfrm>
              <a:off x="6172200" y="4882896"/>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7" name="Forma 36"/>
            <p:cNvSpPr/>
            <p:nvPr/>
          </p:nvSpPr>
          <p:spPr>
            <a:xfrm>
              <a:off x="6281928" y="5157216"/>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38" name="Forma 37"/>
            <p:cNvSpPr txBox="1"/>
            <p:nvPr/>
          </p:nvSpPr>
          <p:spPr>
            <a:xfrm>
              <a:off x="6949440" y="4956048"/>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Identificar la LPL capilar con la HSL intracelular.</a:t>
              </a:r>
              <a:endParaRPr lang="es-AR" sz="1450" dirty="0">
                <a:latin typeface="Fira Sans Condensed"/>
              </a:endParaRPr>
            </a:p>
          </p:txBody>
        </p:sp>
      </p:grpSp>
      <p:sp>
        <p:nvSpPr>
          <p:cNvPr id="5"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ERRORES FRECUENTES QUE DEBEN EVITARSE (1/2)</a:t>
            </a:r>
            <a:endParaRPr lang="es-AR" sz="3300" dirty="0">
              <a:latin typeface="Permanent Marker"/>
            </a:endParaRPr>
          </a:p>
        </p:txBody>
      </p:sp>
      <p:sp>
        <p:nvSpPr>
          <p:cNvPr id="6"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39"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240</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childTnLst>
                          </p:cTn>
                        </p:par>
                      </p:childTnLst>
                    </p:cTn>
                  </p:par>
                  <p:par>
                    <p:cTn id="20" fill="hold">
                      <p:stCondLst>
                        <p:cond delay="indefinite"/>
                      </p:stCondLst>
                      <p:childTnLst>
                        <p:par>
                          <p:cTn id="15"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childTnLst>
                          </p:cTn>
                        </p:par>
                        <p:par>
                          <p:cTn id="19"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29" fill="hold">
                      <p:stCondLst>
                        <p:cond delay="indefinite"/>
                      </p:stCondLst>
                      <p:childTnLst>
                        <p:par>
                          <p:cTn id="24"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par>
                          <p:cTn id="28"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38" fill="hold">
                      <p:stCondLst>
                        <p:cond delay="indefinite"/>
                      </p:stCondLst>
                      <p:childTnLst>
                        <p:par>
                          <p:cTn id="33"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par>
                          <p:cTn id="37"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095848" cy="6858000"/>
          </a:xfrm>
          <a:prstGeom prst="rect">
            <a:avLst/>
          </a:prstGeom>
          <a:solidFill>
            <a:srgbClr val="F8CBAD"/>
          </a:solidFill>
          <a:ln>
            <a:noFill/>
          </a:ln>
        </p:spPr>
      </p:sp>
      <p:sp>
        <p:nvSpPr>
          <p:cNvPr id="3" name="!!Fondo 2"/>
          <p:cNvSpPr/>
          <p:nvPr/>
        </p:nvSpPr>
        <p:spPr>
          <a:xfrm>
            <a:off x="6095848" y="0"/>
            <a:ext cx="6095848" cy="6858000"/>
          </a:xfrm>
          <a:prstGeom prst="rect">
            <a:avLst/>
          </a:prstGeom>
          <a:solidFill>
            <a:srgbClr val="BDD7EE"/>
          </a:solidFill>
          <a:ln>
            <a:noFill/>
          </a:ln>
        </p:spPr>
      </p:sp>
      <p:grpSp>
        <p:nvGrpSpPr>
          <p:cNvPr id="6" name="Error 9"/>
          <p:cNvGrpSpPr/>
          <p:nvPr/>
        </p:nvGrpSpPr>
        <p:grpSpPr>
          <a:xfrm>
            <a:off x="365760" y="1097280"/>
            <a:ext cx="5623560" cy="1097280"/>
            <a:chOff x="365760" y="1097280"/>
            <a:chExt cx="5623560" cy="1097280"/>
          </a:xfrm>
        </p:grpSpPr>
        <p:sp>
          <p:nvSpPr>
            <p:cNvPr id="7" name="Forma 6"/>
            <p:cNvSpPr/>
            <p:nvPr/>
          </p:nvSpPr>
          <p:spPr>
            <a:xfrm>
              <a:off x="365760" y="1097280"/>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8" name="Forma 7"/>
            <p:cNvSpPr/>
            <p:nvPr/>
          </p:nvSpPr>
          <p:spPr>
            <a:xfrm>
              <a:off x="475488" y="1371600"/>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9" name="Forma 8"/>
            <p:cNvSpPr txBox="1"/>
            <p:nvPr/>
          </p:nvSpPr>
          <p:spPr>
            <a:xfrm>
              <a:off x="1143000" y="1170432"/>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Reducir la obesidad a «voluntad».</a:t>
              </a:r>
              <a:endParaRPr lang="es-AR" sz="1450" dirty="0">
                <a:latin typeface="Fira Sans Condensed"/>
              </a:endParaRPr>
            </a:p>
          </p:txBody>
        </p:sp>
      </p:grpSp>
      <p:grpSp>
        <p:nvGrpSpPr>
          <p:cNvPr id="10" name="Error 10"/>
          <p:cNvGrpSpPr/>
          <p:nvPr/>
        </p:nvGrpSpPr>
        <p:grpSpPr>
          <a:xfrm>
            <a:off x="6172200" y="1097280"/>
            <a:ext cx="5623560" cy="1097280"/>
            <a:chOff x="6172200" y="1097280"/>
            <a:chExt cx="5623560" cy="1097280"/>
          </a:xfrm>
        </p:grpSpPr>
        <p:sp>
          <p:nvSpPr>
            <p:cNvPr id="11" name="Forma 10"/>
            <p:cNvSpPr/>
            <p:nvPr/>
          </p:nvSpPr>
          <p:spPr>
            <a:xfrm>
              <a:off x="6172200" y="1097280"/>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2" name="Forma 11"/>
            <p:cNvSpPr/>
            <p:nvPr/>
          </p:nvSpPr>
          <p:spPr>
            <a:xfrm>
              <a:off x="6281928" y="1371600"/>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13" name="Forma 12"/>
            <p:cNvSpPr txBox="1"/>
            <p:nvPr/>
          </p:nvSpPr>
          <p:spPr>
            <a:xfrm>
              <a:off x="6949440" y="1170432"/>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Suponer que una leptina elevada asegura saciedad normal.</a:t>
              </a:r>
              <a:endParaRPr lang="es-AR" sz="1450" dirty="0">
                <a:latin typeface="Fira Sans Condensed"/>
              </a:endParaRPr>
            </a:p>
          </p:txBody>
        </p:sp>
      </p:grpSp>
      <p:grpSp>
        <p:nvGrpSpPr>
          <p:cNvPr id="14" name="Error 11"/>
          <p:cNvGrpSpPr/>
          <p:nvPr/>
        </p:nvGrpSpPr>
        <p:grpSpPr>
          <a:xfrm>
            <a:off x="365760" y="2359152"/>
            <a:ext cx="5623560" cy="1097280"/>
            <a:chOff x="365760" y="2359152"/>
            <a:chExt cx="5623560" cy="1097280"/>
          </a:xfrm>
        </p:grpSpPr>
        <p:sp>
          <p:nvSpPr>
            <p:cNvPr id="15" name="Forma 14"/>
            <p:cNvSpPr/>
            <p:nvPr/>
          </p:nvSpPr>
          <p:spPr>
            <a:xfrm>
              <a:off x="365760" y="2359152"/>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16" name="Forma 15"/>
            <p:cNvSpPr/>
            <p:nvPr/>
          </p:nvSpPr>
          <p:spPr>
            <a:xfrm>
              <a:off x="475488" y="2633472"/>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17" name="Forma 16"/>
            <p:cNvSpPr txBox="1"/>
            <p:nvPr/>
          </p:nvSpPr>
          <p:spPr>
            <a:xfrm>
              <a:off x="1143000" y="2432304"/>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Diagnosticar diabetes con 145 mg/dL sin aclarar ayuno/confirmación.</a:t>
              </a:r>
              <a:endParaRPr lang="es-AR" sz="1450" dirty="0">
                <a:latin typeface="Fira Sans Condensed"/>
              </a:endParaRPr>
            </a:p>
          </p:txBody>
        </p:sp>
      </p:grpSp>
      <p:grpSp>
        <p:nvGrpSpPr>
          <p:cNvPr id="18" name="Error 12"/>
          <p:cNvGrpSpPr/>
          <p:nvPr/>
        </p:nvGrpSpPr>
        <p:grpSpPr>
          <a:xfrm>
            <a:off x="6172200" y="2359152"/>
            <a:ext cx="5623560" cy="1097280"/>
            <a:chOff x="6172200" y="2359152"/>
            <a:chExt cx="5623560" cy="1097280"/>
          </a:xfrm>
        </p:grpSpPr>
        <p:sp>
          <p:nvSpPr>
            <p:cNvPr id="19" name="Forma 18"/>
            <p:cNvSpPr/>
            <p:nvPr/>
          </p:nvSpPr>
          <p:spPr>
            <a:xfrm>
              <a:off x="6172200" y="2359152"/>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0" name="Forma 19"/>
            <p:cNvSpPr/>
            <p:nvPr/>
          </p:nvSpPr>
          <p:spPr>
            <a:xfrm>
              <a:off x="6281928" y="2633472"/>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21" name="Forma 20"/>
            <p:cNvSpPr txBox="1"/>
            <p:nvPr/>
          </p:nvSpPr>
          <p:spPr>
            <a:xfrm>
              <a:off x="6949440" y="2432304"/>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Interpretar AST normal como ausencia de MASLD.</a:t>
              </a:r>
              <a:endParaRPr lang="es-AR" sz="1450" dirty="0">
                <a:latin typeface="Fira Sans Condensed"/>
              </a:endParaRPr>
            </a:p>
          </p:txBody>
        </p:sp>
      </p:grpSp>
      <p:grpSp>
        <p:nvGrpSpPr>
          <p:cNvPr id="22" name="Error 13"/>
          <p:cNvGrpSpPr/>
          <p:nvPr/>
        </p:nvGrpSpPr>
        <p:grpSpPr>
          <a:xfrm>
            <a:off x="365760" y="3621024"/>
            <a:ext cx="5623560" cy="1097280"/>
            <a:chOff x="365760" y="3621024"/>
            <a:chExt cx="5623560" cy="1097280"/>
          </a:xfrm>
        </p:grpSpPr>
        <p:sp>
          <p:nvSpPr>
            <p:cNvPr id="23" name="Forma 22"/>
            <p:cNvSpPr/>
            <p:nvPr/>
          </p:nvSpPr>
          <p:spPr>
            <a:xfrm>
              <a:off x="365760" y="3621024"/>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4" name="Forma 23"/>
            <p:cNvSpPr/>
            <p:nvPr/>
          </p:nvSpPr>
          <p:spPr>
            <a:xfrm>
              <a:off x="475488" y="3895344"/>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25" name="Forma 24"/>
            <p:cNvSpPr txBox="1"/>
            <p:nvPr/>
          </p:nvSpPr>
          <p:spPr>
            <a:xfrm>
              <a:off x="1143000" y="3694176"/>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Tomar Sokolow–Lyon positivo como confirmación de HVI.</a:t>
              </a:r>
              <a:endParaRPr lang="es-AR" sz="1450" dirty="0">
                <a:latin typeface="Fira Sans Condensed"/>
              </a:endParaRPr>
            </a:p>
          </p:txBody>
        </p:sp>
      </p:grpSp>
      <p:grpSp>
        <p:nvGrpSpPr>
          <p:cNvPr id="26" name="Error 14"/>
          <p:cNvGrpSpPr/>
          <p:nvPr/>
        </p:nvGrpSpPr>
        <p:grpSpPr>
          <a:xfrm>
            <a:off x="6172200" y="3621024"/>
            <a:ext cx="5623560" cy="1097280"/>
            <a:chOff x="6172200" y="3621024"/>
            <a:chExt cx="5623560" cy="1097280"/>
          </a:xfrm>
        </p:grpSpPr>
        <p:sp>
          <p:nvSpPr>
            <p:cNvPr id="27" name="Forma 26"/>
            <p:cNvSpPr/>
            <p:nvPr/>
          </p:nvSpPr>
          <p:spPr>
            <a:xfrm>
              <a:off x="6172200" y="3621024"/>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28" name="Forma 27"/>
            <p:cNvSpPr/>
            <p:nvPr/>
          </p:nvSpPr>
          <p:spPr>
            <a:xfrm>
              <a:off x="6281928" y="3895344"/>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29" name="Forma 28"/>
            <p:cNvSpPr txBox="1"/>
            <p:nvPr/>
          </p:nvSpPr>
          <p:spPr>
            <a:xfrm>
              <a:off x="6949440" y="3694176"/>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Presentar sibutramina y rimonabant como vigentes en Argentina.</a:t>
              </a:r>
              <a:endParaRPr lang="es-AR" sz="1450" dirty="0">
                <a:latin typeface="Fira Sans Condensed"/>
              </a:endParaRPr>
            </a:p>
          </p:txBody>
        </p:sp>
      </p:grpSp>
      <p:grpSp>
        <p:nvGrpSpPr>
          <p:cNvPr id="30" name="Error 15"/>
          <p:cNvGrpSpPr/>
          <p:nvPr/>
        </p:nvGrpSpPr>
        <p:grpSpPr>
          <a:xfrm>
            <a:off x="365760" y="4882896"/>
            <a:ext cx="5623560" cy="1097280"/>
            <a:chOff x="365760" y="4882896"/>
            <a:chExt cx="5623560" cy="1097280"/>
          </a:xfrm>
        </p:grpSpPr>
        <p:sp>
          <p:nvSpPr>
            <p:cNvPr id="31" name="Forma 30"/>
            <p:cNvSpPr/>
            <p:nvPr/>
          </p:nvSpPr>
          <p:spPr>
            <a:xfrm>
              <a:off x="365760" y="4882896"/>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2" name="Forma 31"/>
            <p:cNvSpPr/>
            <p:nvPr/>
          </p:nvSpPr>
          <p:spPr>
            <a:xfrm>
              <a:off x="475488" y="5157216"/>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33" name="Forma 32"/>
            <p:cNvSpPr txBox="1"/>
            <p:nvPr/>
          </p:nvSpPr>
          <p:spPr>
            <a:xfrm>
              <a:off x="1143000" y="4956048"/>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Copiar artículos vetados de la Ley 26.396 como promulgados.</a:t>
              </a:r>
              <a:endParaRPr lang="es-AR" sz="1450" dirty="0">
                <a:latin typeface="Fira Sans Condensed"/>
              </a:endParaRPr>
            </a:p>
          </p:txBody>
        </p:sp>
      </p:grpSp>
      <p:grpSp>
        <p:nvGrpSpPr>
          <p:cNvPr id="34" name="Error 16"/>
          <p:cNvGrpSpPr/>
          <p:nvPr/>
        </p:nvGrpSpPr>
        <p:grpSpPr>
          <a:xfrm>
            <a:off x="6172200" y="4882896"/>
            <a:ext cx="5623560" cy="1097280"/>
            <a:chOff x="6172200" y="4882896"/>
            <a:chExt cx="5623560" cy="1097280"/>
          </a:xfrm>
        </p:grpSpPr>
        <p:sp>
          <p:nvSpPr>
            <p:cNvPr id="35" name="Forma 34"/>
            <p:cNvSpPr/>
            <p:nvPr/>
          </p:nvSpPr>
          <p:spPr>
            <a:xfrm>
              <a:off x="6172200" y="4882896"/>
              <a:ext cx="5623560" cy="10972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sp>
        <p:sp>
          <p:nvSpPr>
            <p:cNvPr id="36" name="Forma 35"/>
            <p:cNvSpPr/>
            <p:nvPr/>
          </p:nvSpPr>
          <p:spPr>
            <a:xfrm>
              <a:off x="6281928" y="5157216"/>
              <a:ext cx="548640" cy="548640"/>
            </a:xfrm>
            <a:prstGeom prst="ellipse">
              <a:avLst/>
            </a:prstGeom>
            <a:solidFill>
              <a:srgbClr val="C00000"/>
            </a:solidFill>
            <a:ln w="15875" cap="rnd">
              <a:solidFill>
                <a:srgbClr val="1E1E1E"/>
              </a:solidFill>
              <a:round/>
            </a:ln>
          </p:spPr>
          <p:txBody>
            <a:bodyPr wrap="square" lIns="0" tIns="0" rIns="0" bIns="0" anchor="ctr" rtlCol="0">
              <a:noAutofit/>
            </a:bodyPr>
            <a:lstStyle/>
            <a:p>
              <a:pPr algn="ctr">
                <a:spcAft>
                  <a:spcPts val="300"/>
                </a:spcAft>
                <a:buNone/>
              </a:pPr>
              <a:r>
                <a:rPr lang="es-AR" sz="2200" b="1" dirty="0">
                  <a:solidFill>
                    <a:srgbClr val="FFFFFF"/>
                  </a:solidFill>
                  <a:latin typeface="Fira Sans Condensed"/>
                  <a:ea typeface="Fira Sans Condensed"/>
                  <a:cs typeface="Fira Sans Condensed"/>
                  <a:sym typeface="Fira Sans Condensed"/>
                </a:rPr>
                <a:t>×</a:t>
              </a:r>
              <a:endParaRPr lang="es-AR" sz="2200" dirty="0">
                <a:latin typeface="Fira Sans Condensed"/>
              </a:endParaRPr>
            </a:p>
          </p:txBody>
        </p:sp>
        <p:sp>
          <p:nvSpPr>
            <p:cNvPr id="37" name="Forma 36"/>
            <p:cNvSpPr txBox="1"/>
            <p:nvPr/>
          </p:nvSpPr>
          <p:spPr>
            <a:xfrm>
              <a:off x="6949440" y="4956048"/>
              <a:ext cx="4754880" cy="960120"/>
            </a:xfrm>
            <a:prstGeom prst="rect">
              <a:avLst/>
            </a:prstGeom>
            <a:noFill/>
            <a:ln>
              <a:noFill/>
            </a:ln>
          </p:spPr>
          <p:txBody>
            <a:bodyPr wrap="square" lIns="0" tIns="0" rIns="0" bIns="0" anchor="ctr" rtlCol="0">
              <a:noAutofit/>
            </a:bodyPr>
            <a:lstStyle/>
            <a:p>
              <a:pPr algn="l">
                <a:spcAft>
                  <a:spcPts val="300"/>
                </a:spcAft>
                <a:buNone/>
              </a:pPr>
              <a:r>
                <a:rPr lang="es-AR" sz="1450" dirty="0">
                  <a:solidFill>
                    <a:srgbClr val="1E1E1E"/>
                  </a:solidFill>
                  <a:latin typeface="Fira Sans Condensed"/>
                  <a:ea typeface="Fira Sans Condensed"/>
                  <a:cs typeface="Fira Sans Condensed"/>
                  <a:sym typeface="Fira Sans Condensed"/>
                </a:rPr>
                <a:t>Usar la glucemia 110 del ATP III original como único punto actual.</a:t>
              </a:r>
              <a:endParaRPr lang="es-AR" sz="1450" dirty="0">
                <a:latin typeface="Fira Sans Condensed"/>
              </a:endParaRPr>
            </a:p>
          </p:txBody>
        </p:sp>
      </p:grpSp>
      <p:sp>
        <p:nvSpPr>
          <p:cNvPr id="4" name="Título"/>
          <p:cNvSpPr txBox="1"/>
          <p:nvPr/>
        </p:nvSpPr>
        <p:spPr>
          <a:xfrm>
            <a:off x="320040" y="91440"/>
            <a:ext cx="11551615" cy="65455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300" dirty="0">
                <a:solidFill>
                  <a:srgbClr val="1E1E1E"/>
                </a:solidFill>
                <a:effectLst>
                  <a:glow rad="101600">
                    <a:srgbClr val="FFFFFF">
                      <a:alpha val="70000"/>
                    </a:srgbClr>
                  </a:glow>
                </a:effectLst>
                <a:latin typeface="Permanent Marker"/>
                <a:ea typeface="Permanent Marker"/>
                <a:cs typeface="Permanent Marker"/>
                <a:sym typeface="Permanent Marker"/>
              </a:rPr>
              <a:t>ERRORES FRECUENTES QUE DEBEN EVITARSE (2/2)</a:t>
            </a:r>
            <a:endParaRPr lang="es-AR" sz="3300" dirty="0">
              <a:latin typeface="Permanent Marker"/>
            </a:endParaRPr>
          </a:p>
        </p:txBody>
      </p:sp>
      <p:sp>
        <p:nvSpPr>
          <p:cNvPr id="5"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38"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241</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par>
                          <p:cTn id="10" fill="hold">
                            <p:stCondLst>
                              <p:cond delay="500"/>
                            </p:stCondLst>
                            <p:childTnLst>
                              <p:par>
                                <p:cTn id="7" presetID="10" presetClass="entr" presetSubtype="0" fill="hold" grpId="0"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20" fill="hold">
                      <p:stCondLst>
                        <p:cond delay="indefinite"/>
                      </p:stCondLst>
                      <p:childTnLst>
                        <p:par>
                          <p:cTn id="15"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9"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29" fill="hold">
                      <p:stCondLst>
                        <p:cond delay="indefinite"/>
                      </p:stCondLst>
                      <p:childTnLst>
                        <p:par>
                          <p:cTn id="24"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childTnLst>
                          </p:cTn>
                        </p:par>
                        <p:par>
                          <p:cTn id="28"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38" fill="hold">
                      <p:stCondLst>
                        <p:cond delay="indefinite"/>
                      </p:stCondLst>
                      <p:childTnLst>
                        <p:par>
                          <p:cTn id="33"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par>
                          <p:cTn id="37"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6583515" cy="6858000"/>
          </a:xfrm>
          <a:prstGeom prst="rect">
            <a:avLst/>
          </a:prstGeom>
          <a:solidFill>
            <a:srgbClr val="00B0F0"/>
          </a:solidFill>
          <a:ln>
            <a:noFill/>
          </a:ln>
        </p:spPr>
      </p:sp>
      <p:sp>
        <p:nvSpPr>
          <p:cNvPr id="3" name="!!Fondo 2"/>
          <p:cNvSpPr/>
          <p:nvPr/>
        </p:nvSpPr>
        <p:spPr>
          <a:xfrm>
            <a:off x="6583515" y="0"/>
            <a:ext cx="5608180" cy="6858000"/>
          </a:xfrm>
          <a:prstGeom prst="rect">
            <a:avLst/>
          </a:prstGeom>
          <a:solidFill>
            <a:srgbClr val="FFFFFF"/>
          </a:solidFill>
          <a:ln>
            <a:noFill/>
          </a:ln>
        </p:spPr>
      </p:sp>
      <p:sp>
        <p:nvSpPr>
          <p:cNvPr id="4" name="!!Fondo 3"/>
          <p:cNvSpPr/>
          <p:nvPr/>
        </p:nvSpPr>
        <p:spPr>
          <a:xfrm>
            <a:off x="6583515" y="0"/>
            <a:ext cx="5608180" cy="1097280"/>
          </a:xfrm>
          <a:prstGeom prst="rect">
            <a:avLst/>
          </a:prstGeom>
          <a:solidFill>
            <a:srgbClr val="FF8B8B"/>
          </a:solidFill>
          <a:ln>
            <a:noFill/>
          </a:ln>
        </p:spPr>
      </p:sp>
      <p:grpSp>
        <p:nvGrpSpPr>
          <p:cNvPr id="7" name="Falta CASO 11"/>
          <p:cNvGrpSpPr/>
          <p:nvPr/>
        </p:nvGrpSpPr>
        <p:grpSpPr>
          <a:xfrm>
            <a:off x="365760" y="1097280"/>
            <a:ext cx="3657600" cy="3703320"/>
            <a:chOff x="365760" y="1097280"/>
            <a:chExt cx="3657600" cy="3703320"/>
          </a:xfrm>
        </p:grpSpPr>
        <p:sp>
          <p:nvSpPr>
            <p:cNvPr id="8" name="Recuadro CASO 11"/>
            <p:cNvSpPr/>
            <p:nvPr/>
          </p:nvSpPr>
          <p:spPr>
            <a:xfrm>
              <a:off x="365760" y="1097280"/>
              <a:ext cx="3657600" cy="59436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C00000"/>
                  </a:solidFill>
                  <a:latin typeface="Fira Sans Condensed"/>
                  <a:ea typeface="Fira Sans Condensed"/>
                  <a:cs typeface="Fira Sans Condensed"/>
                  <a:sym typeface="Fira Sans Condensed"/>
                </a:rPr>
                <a:t>CASO 11</a:t>
              </a:r>
              <a:endParaRPr lang="es-AR" sz="1700" dirty="0">
                <a:latin typeface="Fira Sans Condensed"/>
              </a:endParaRPr>
            </a:p>
          </p:txBody>
        </p:sp>
        <p:sp>
          <p:nvSpPr>
            <p:cNvPr id="9" name="Forma 8"/>
            <p:cNvSpPr/>
            <p:nvPr/>
          </p:nvSpPr>
          <p:spPr>
            <a:xfrm>
              <a:off x="365760" y="1783080"/>
              <a:ext cx="3657600" cy="3017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Na⁺, K⁺, Cl⁻, albúmina, lactato, función renal, </a:t>
              </a:r>
              <a:r>
                <a:rPr lang="es-AR" sz="1450" b="1" dirty="0">
                  <a:solidFill>
                    <a:srgbClr val="1E1E1E"/>
                  </a:solidFill>
                  <a:latin typeface="Fira Sans Condensed"/>
                  <a:ea typeface="Fira Sans Condensed"/>
                  <a:cs typeface="Fira Sans Condensed"/>
                  <a:sym typeface="Fira Sans Condensed"/>
                </a:rPr>
                <a:t>β-OHB cuantitativo</a:t>
              </a:r>
              <a:r>
                <a:rPr lang="es-AR" sz="1450" dirty="0">
                  <a:solidFill>
                    <a:srgbClr val="1E1E1E"/>
                  </a:solidFill>
                  <a:latin typeface="Fira Sans Condensed"/>
                  <a:ea typeface="Fira Sans Condensed"/>
                  <a:cs typeface="Fira Sans Condensed"/>
                  <a:sym typeface="Fira Sans Condensed"/>
                </a:rPr>
                <a:t> y detalle de la insulinoterapia. La primera gasometría es </a:t>
              </a:r>
              <a:r>
                <a:rPr lang="es-AR" sz="1450" b="1" dirty="0">
                  <a:solidFill>
                    <a:srgbClr val="1E1E1E"/>
                  </a:solidFill>
                  <a:latin typeface="Fira Sans Condensed"/>
                  <a:ea typeface="Fira Sans Condensed"/>
                  <a:cs typeface="Fira Sans Condensed"/>
                  <a:sym typeface="Fira Sans Condensed"/>
                </a:rPr>
                <a:t>matemáticamente discordante</a:t>
              </a:r>
              <a:r>
                <a:rPr lang="es-AR" sz="1450" dirty="0">
                  <a:solidFill>
                    <a:srgbClr val="1E1E1E"/>
                  </a:solidFill>
                  <a:latin typeface="Fira Sans Condensed"/>
                  <a:ea typeface="Fira Sans Condensed"/>
                  <a:cs typeface="Fira Sans Condensed"/>
                  <a:sym typeface="Fira Sans Condensed"/>
                </a:rPr>
                <a:t>: el trastorno mixto no puede afirmarse.</a:t>
              </a:r>
              <a:endParaRPr lang="es-AR" sz="1450" dirty="0">
                <a:latin typeface="Fira Sans Condensed"/>
              </a:endParaRPr>
            </a:p>
          </p:txBody>
        </p:sp>
      </p:grpSp>
      <p:grpSp>
        <p:nvGrpSpPr>
          <p:cNvPr id="10" name="Falta CASO 12"/>
          <p:cNvGrpSpPr/>
          <p:nvPr/>
        </p:nvGrpSpPr>
        <p:grpSpPr>
          <a:xfrm>
            <a:off x="4206240" y="1097280"/>
            <a:ext cx="3657600" cy="3703320"/>
            <a:chOff x="4206240" y="1097280"/>
            <a:chExt cx="3657600" cy="3703320"/>
          </a:xfrm>
        </p:grpSpPr>
        <p:sp>
          <p:nvSpPr>
            <p:cNvPr id="11" name="Recuadro CASO 12"/>
            <p:cNvSpPr/>
            <p:nvPr/>
          </p:nvSpPr>
          <p:spPr>
            <a:xfrm>
              <a:off x="4206240" y="1097280"/>
              <a:ext cx="3657600" cy="59436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CASO 12</a:t>
              </a:r>
              <a:endParaRPr lang="es-AR" sz="1700" dirty="0">
                <a:latin typeface="Fira Sans Condensed"/>
              </a:endParaRPr>
            </a:p>
          </p:txBody>
        </p:sp>
        <p:sp>
          <p:nvSpPr>
            <p:cNvPr id="12" name="Forma 11"/>
            <p:cNvSpPr/>
            <p:nvPr/>
          </p:nvSpPr>
          <p:spPr>
            <a:xfrm>
              <a:off x="4206240" y="1783080"/>
              <a:ext cx="3657600" cy="3017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b="1" dirty="0">
                  <a:solidFill>
                    <a:srgbClr val="1E1E1E"/>
                  </a:solidFill>
                  <a:latin typeface="Fira Sans Condensed"/>
                  <a:ea typeface="Fira Sans Condensed"/>
                  <a:cs typeface="Fira Sans Condensed"/>
                  <a:sym typeface="Fira Sans Condensed"/>
                </a:rPr>
                <a:t>Sodio, BUN, creatinina</a:t>
              </a:r>
              <a:r>
                <a:rPr lang="es-AR" sz="1450" dirty="0">
                  <a:solidFill>
                    <a:srgbClr val="1E1E1E"/>
                  </a:solidFill>
                  <a:latin typeface="Fira Sans Condensed"/>
                  <a:ea typeface="Fira Sans Condensed"/>
                  <a:cs typeface="Fira Sans Condensed"/>
                  <a:sym typeface="Fira Sans Condensed"/>
                </a:rPr>
                <a:t> y especificación de osmolalidad </a:t>
              </a:r>
              <a:r>
                <a:rPr lang="es-AR" sz="1450" b="1" dirty="0">
                  <a:solidFill>
                    <a:srgbClr val="1E1E1E"/>
                  </a:solidFill>
                  <a:latin typeface="Fira Sans Condensed"/>
                  <a:ea typeface="Fira Sans Condensed"/>
                  <a:cs typeface="Fira Sans Condensed"/>
                  <a:sym typeface="Fira Sans Condensed"/>
                </a:rPr>
                <a:t>total/efectiva</a:t>
              </a:r>
              <a:r>
                <a:rPr lang="es-AR" sz="1450" dirty="0">
                  <a:solidFill>
                    <a:srgbClr val="1E1E1E"/>
                  </a:solidFill>
                  <a:latin typeface="Fira Sans Condensed"/>
                  <a:ea typeface="Fira Sans Condensed"/>
                  <a:cs typeface="Fira Sans Condensed"/>
                  <a:sym typeface="Fira Sans Condensed"/>
                </a:rPr>
                <a:t>: no puede calcularse tonicidad con certeza ni déficit de agua.</a:t>
              </a:r>
              <a:endParaRPr lang="es-AR" sz="1450" dirty="0">
                <a:latin typeface="Fira Sans Condensed"/>
              </a:endParaRPr>
            </a:p>
          </p:txBody>
        </p:sp>
      </p:grpSp>
      <p:grpSp>
        <p:nvGrpSpPr>
          <p:cNvPr id="13" name="Falta CASO 20"/>
          <p:cNvGrpSpPr/>
          <p:nvPr/>
        </p:nvGrpSpPr>
        <p:grpSpPr>
          <a:xfrm>
            <a:off x="8046720" y="1097280"/>
            <a:ext cx="3657600" cy="3703320"/>
            <a:chOff x="8046720" y="1097280"/>
            <a:chExt cx="3657600" cy="3703320"/>
          </a:xfrm>
        </p:grpSpPr>
        <p:sp>
          <p:nvSpPr>
            <p:cNvPr id="14" name="Recuadro CASO 20"/>
            <p:cNvSpPr/>
            <p:nvPr/>
          </p:nvSpPr>
          <p:spPr>
            <a:xfrm>
              <a:off x="8046720" y="1097280"/>
              <a:ext cx="3657600" cy="594360"/>
            </a:xfrm>
            <a:prstGeom prst="rect">
              <a:avLst/>
            </a:prstGeom>
            <a:solidFill>
              <a:srgbClr val="92D05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700" b="1" dirty="0">
                  <a:solidFill>
                    <a:srgbClr val="1E1E1E"/>
                  </a:solidFill>
                  <a:latin typeface="Fira Sans Condensed"/>
                  <a:ea typeface="Fira Sans Condensed"/>
                  <a:cs typeface="Fira Sans Condensed"/>
                  <a:sym typeface="Fira Sans Condensed"/>
                </a:rPr>
                <a:t>CASO 20</a:t>
              </a:r>
              <a:endParaRPr lang="es-AR" sz="1700" dirty="0">
                <a:latin typeface="Fira Sans Condensed"/>
              </a:endParaRPr>
            </a:p>
          </p:txBody>
        </p:sp>
        <p:sp>
          <p:nvSpPr>
            <p:cNvPr id="15" name="Forma 14"/>
            <p:cNvSpPr/>
            <p:nvPr/>
          </p:nvSpPr>
          <p:spPr>
            <a:xfrm>
              <a:off x="8046720" y="1783080"/>
              <a:ext cx="3657600" cy="30175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Condición de </a:t>
              </a:r>
              <a:r>
                <a:rPr lang="es-AR" sz="1450" b="1" dirty="0">
                  <a:solidFill>
                    <a:srgbClr val="1E1E1E"/>
                  </a:solidFill>
                  <a:latin typeface="Fira Sans Condensed"/>
                  <a:ea typeface="Fira Sans Condensed"/>
                  <a:cs typeface="Fira Sans Condensed"/>
                  <a:sym typeface="Fira Sans Condensed"/>
                </a:rPr>
                <a:t>ayuno</a:t>
              </a:r>
              <a:r>
                <a:rPr lang="es-AR" sz="1450" dirty="0">
                  <a:solidFill>
                    <a:srgbClr val="1E1E1E"/>
                  </a:solidFill>
                  <a:latin typeface="Fira Sans Condensed"/>
                  <a:ea typeface="Fira Sans Condensed"/>
                  <a:cs typeface="Fira Sans Condensed"/>
                  <a:sym typeface="Fira Sans Condensed"/>
                </a:rPr>
                <a:t> de la glucosa 145, HbA1c, LDL/ApoB confirmatorio, composición corporal, función ventilatoria y </a:t>
              </a:r>
              <a:r>
                <a:rPr lang="es-AR" sz="1450" b="1" dirty="0">
                  <a:solidFill>
                    <a:srgbClr val="1E1E1E"/>
                  </a:solidFill>
                  <a:latin typeface="Fira Sans Condensed"/>
                  <a:ea typeface="Fira Sans Condensed"/>
                  <a:cs typeface="Fira Sans Condensed"/>
                  <a:sym typeface="Fira Sans Condensed"/>
                </a:rPr>
                <a:t>estudio de sueño</a:t>
              </a:r>
              <a:r>
                <a:rPr lang="es-AR" sz="1450" dirty="0">
                  <a:solidFill>
                    <a:srgbClr val="1E1E1E"/>
                  </a:solidFill>
                  <a:latin typeface="Fira Sans Condensed"/>
                  <a:ea typeface="Fira Sans Condensed"/>
                  <a:cs typeface="Fira Sans Condensed"/>
                  <a:sym typeface="Fira Sans Condensed"/>
                </a:rPr>
                <a:t>, ingesta, actividad objetiva y evaluación psicológica.</a:t>
              </a:r>
              <a:endParaRPr lang="es-AR" sz="1450" dirty="0">
                <a:latin typeface="Fira Sans Condensed"/>
              </a:endParaRPr>
            </a:p>
          </p:txBody>
        </p:sp>
      </p:grpSp>
      <p:sp>
        <p:nvSpPr>
          <p:cNvPr id="16" name="Perla clínica"/>
          <p:cNvSpPr/>
          <p:nvPr/>
        </p:nvSpPr>
        <p:spPr>
          <a:xfrm>
            <a:off x="365760" y="5029200"/>
            <a:ext cx="11475720" cy="123444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137160" tIns="54864" rIns="137160" bIns="54864" anchor="ctr" rtlCol="0">
            <a:noAutofit/>
          </a:bodyPr>
          <a:lstStyle/>
          <a:p>
            <a:pPr algn="l">
              <a:spcAft>
                <a:spcPts val="300"/>
              </a:spcAft>
              <a:buNone/>
            </a:pPr>
            <a:r>
              <a:rPr lang="es-AR" sz="1700" b="1" dirty="0">
                <a:solidFill>
                  <a:srgbClr val="FFFFFF"/>
                </a:solidFill>
                <a:latin typeface="Fira Sans Condensed"/>
                <a:ea typeface="Fira Sans Condensed"/>
                <a:cs typeface="Fira Sans Condensed"/>
                <a:sym typeface="Fira Sans Condensed"/>
              </a:rPr>
              <a:t>No se deben inventar parámetros ausentes.</a:t>
            </a:r>
            <a:r>
              <a:rPr lang="es-AR" sz="1700" dirty="0">
                <a:solidFill>
                  <a:srgbClr val="FFFFFF"/>
                </a:solidFill>
                <a:latin typeface="Fira Sans Condensed"/>
                <a:ea typeface="Fira Sans Condensed"/>
                <a:cs typeface="Fira Sans Condensed"/>
                <a:sym typeface="Fira Sans Condensed"/>
              </a:rPr>
              <a:t> Cuando los datos no alcanzan, la conclusión correcta es </a:t>
            </a:r>
            <a:r>
              <a:rPr lang="es-AR" sz="1700" b="1" dirty="0">
                <a:solidFill>
                  <a:srgbClr val="FFFFFF"/>
                </a:solidFill>
                <a:latin typeface="Fira Sans Condensed"/>
                <a:ea typeface="Fira Sans Condensed"/>
                <a:cs typeface="Fira Sans Condensed"/>
                <a:sym typeface="Fira Sans Condensed"/>
              </a:rPr>
              <a:t>«no puede determinarse»</a:t>
            </a:r>
            <a:r>
              <a:rPr lang="es-AR" sz="1700" dirty="0">
                <a:solidFill>
                  <a:srgbClr val="FFFFFF"/>
                </a:solidFill>
                <a:latin typeface="Fira Sans Condensed"/>
                <a:ea typeface="Fira Sans Condensed"/>
                <a:cs typeface="Fira Sans Condensed"/>
                <a:sym typeface="Fira Sans Condensed"/>
              </a:rPr>
              <a:t> y qué medir.</a:t>
            </a:r>
            <a:endParaRPr lang="es-AR" sz="1700" dirty="0">
              <a:latin typeface="Fira Sans Condensed"/>
            </a:endParaRPr>
          </a:p>
        </p:txBody>
      </p:sp>
      <p:sp>
        <p:nvSpPr>
          <p:cNvPr id="5" name="Título"/>
          <p:cNvSpPr txBox="1"/>
          <p:nvPr/>
        </p:nvSpPr>
        <p:spPr>
          <a:xfrm>
            <a:off x="320040" y="91440"/>
            <a:ext cx="11551615" cy="53898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2600" dirty="0">
                <a:solidFill>
                  <a:srgbClr val="1E1E1E"/>
                </a:solidFill>
                <a:effectLst>
                  <a:glow rad="101600">
                    <a:srgbClr val="FFFFFF">
                      <a:alpha val="70000"/>
                    </a:srgbClr>
                  </a:glow>
                </a:effectLst>
                <a:latin typeface="Permanent Marker"/>
                <a:ea typeface="Permanent Marker"/>
                <a:cs typeface="Permanent Marker"/>
                <a:sym typeface="Permanent Marker"/>
              </a:rPr>
              <a:t>QUÉ DATOS FALTAN Y CÓMO CONDICIONAN LAS CONCLUSIONES</a:t>
            </a:r>
            <a:endParaRPr lang="es-AR" sz="2600" dirty="0">
              <a:latin typeface="Permanent Marker"/>
            </a:endParaRPr>
          </a:p>
        </p:txBody>
      </p:sp>
      <p:sp>
        <p:nvSpPr>
          <p:cNvPr id="6"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242</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4" fill="hold">
                      <p:stCondLst>
                        <p:cond delay="indefinite"/>
                      </p:stCondLst>
                      <p:childTnLst>
                        <p:par>
                          <p:cTn id="23"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fltVal val="0"/>
                                          </p:val>
                                        </p:tav>
                                        <p:tav tm="100000">
                                          <p:val>
                                            <p:strVal val="#ppt_w"/>
                                          </p:val>
                                        </p:tav>
                                      </p:tavLst>
                                    </p:anim>
                                    <p:anim calcmode="lin" valueType="num">
                                      <p:cBhvr>
                                        <p:cTn id="21" dur="500" fill="hold"/>
                                        <p:tgtEl>
                                          <p:spTgt spid="16"/>
                                        </p:tgtEl>
                                        <p:attrNameLst>
                                          <p:attrName>ppt_h</p:attrName>
                                        </p:attrNameLst>
                                      </p:cBhvr>
                                      <p:tavLst>
                                        <p:tav tm="0">
                                          <p:val>
                                            <p:fltVal val="0"/>
                                          </p:val>
                                        </p:tav>
                                        <p:tav tm="100000">
                                          <p:val>
                                            <p:strVal val="#ppt_h"/>
                                          </p:val>
                                        </p:tav>
                                      </p:tavLst>
                                    </p:anim>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5364346" cy="6858000"/>
          </a:xfrm>
          <a:prstGeom prst="rect">
            <a:avLst/>
          </a:prstGeom>
          <a:solidFill>
            <a:srgbClr val="92D050"/>
          </a:solidFill>
          <a:ln>
            <a:noFill/>
          </a:ln>
        </p:spPr>
      </p:sp>
      <p:sp>
        <p:nvSpPr>
          <p:cNvPr id="3" name="!!Fondo 2"/>
          <p:cNvSpPr/>
          <p:nvPr/>
        </p:nvSpPr>
        <p:spPr>
          <a:xfrm>
            <a:off x="5364346" y="0"/>
            <a:ext cx="6827349" cy="6858000"/>
          </a:xfrm>
          <a:prstGeom prst="rect">
            <a:avLst/>
          </a:prstGeom>
          <a:solidFill>
            <a:srgbClr val="FFFFFF"/>
          </a:solidFill>
          <a:ln>
            <a:noFill/>
          </a:ln>
        </p:spPr>
      </p:sp>
      <p:sp>
        <p:nvSpPr>
          <p:cNvPr id="4" name="!!Fondo 3"/>
          <p:cNvSpPr/>
          <p:nvPr/>
        </p:nvSpPr>
        <p:spPr>
          <a:xfrm>
            <a:off x="5364346" y="5623560"/>
            <a:ext cx="6827349" cy="1234440"/>
          </a:xfrm>
          <a:prstGeom prst="rect">
            <a:avLst/>
          </a:prstGeom>
          <a:solidFill>
            <a:srgbClr val="FF8B8B"/>
          </a:solidFill>
          <a:ln>
            <a:noFill/>
          </a:ln>
        </p:spPr>
      </p:sp>
      <p:grpSp>
        <p:nvGrpSpPr>
          <p:cNvPr id="7" name="Concl 0"/>
          <p:cNvGrpSpPr/>
          <p:nvPr/>
        </p:nvGrpSpPr>
        <p:grpSpPr>
          <a:xfrm>
            <a:off x="411480" y="1097280"/>
            <a:ext cx="6720840" cy="868680"/>
            <a:chOff x="411480" y="1097280"/>
            <a:chExt cx="6720840" cy="868680"/>
          </a:xfrm>
        </p:grpSpPr>
        <p:pic>
          <p:nvPicPr>
            <p:cNvPr id="8" name="Imagen pancreas" descr="Ilustración biomédica (Servier Medical Art, CC BY)"/>
            <p:cNvPicPr>
              <a:picLocks noChangeAspect="1"/>
            </p:cNvPicPr>
            <p:nvPr/>
          </p:nvPicPr>
          <p:blipFill>
            <a:blip r:embed="rId2"/>
            <a:stretch>
              <a:fillRect/>
            </a:stretch>
          </p:blipFill>
          <p:spPr>
            <a:xfrm>
              <a:off x="411480" y="1351369"/>
              <a:ext cx="868680" cy="360502"/>
            </a:xfrm>
            <a:prstGeom prst="rect">
              <a:avLst/>
            </a:prstGeom>
          </p:spPr>
        </p:pic>
        <p:sp>
          <p:nvSpPr>
            <p:cNvPr id="9" name="Forma 8"/>
            <p:cNvSpPr/>
            <p:nvPr/>
          </p:nvSpPr>
          <p:spPr>
            <a:xfrm>
              <a:off x="1417320" y="1097280"/>
              <a:ext cx="57150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La </a:t>
              </a:r>
              <a:r>
                <a:rPr lang="es-AR" sz="1500" b="1" dirty="0">
                  <a:solidFill>
                    <a:srgbClr val="1E1E1E"/>
                  </a:solidFill>
                  <a:latin typeface="Fira Sans Condensed"/>
                  <a:ea typeface="Fira Sans Condensed"/>
                  <a:cs typeface="Fira Sans Condensed"/>
                  <a:sym typeface="Fira Sans Condensed"/>
                </a:rPr>
                <a:t>insulina</a:t>
              </a:r>
              <a:r>
                <a:rPr lang="es-AR" sz="1500" dirty="0">
                  <a:solidFill>
                    <a:srgbClr val="1E1E1E"/>
                  </a:solidFill>
                  <a:latin typeface="Fira Sans Condensed"/>
                  <a:ea typeface="Fira Sans Condensed"/>
                  <a:cs typeface="Fira Sans Condensed"/>
                  <a:sym typeface="Fira Sans Condensed"/>
                </a:rPr>
                <a:t> decide el sentido metabólico de los flujos entre órganos.</a:t>
              </a:r>
              <a:endParaRPr lang="es-AR" sz="1500" dirty="0">
                <a:latin typeface="Fira Sans Condensed"/>
              </a:endParaRPr>
            </a:p>
          </p:txBody>
        </p:sp>
      </p:grpSp>
      <p:grpSp>
        <p:nvGrpSpPr>
          <p:cNvPr id="10" name="Concl 1"/>
          <p:cNvGrpSpPr/>
          <p:nvPr/>
        </p:nvGrpSpPr>
        <p:grpSpPr>
          <a:xfrm>
            <a:off x="419857" y="2121408"/>
            <a:ext cx="6712463" cy="868680"/>
            <a:chOff x="419857" y="2121408"/>
            <a:chExt cx="6712463" cy="868680"/>
          </a:xfrm>
        </p:grpSpPr>
        <p:pic>
          <p:nvPicPr>
            <p:cNvPr id="11" name="Imagen adipocyte-1" descr="Ilustración biomédica (Servier Medical Art, CC BY)"/>
            <p:cNvPicPr>
              <a:picLocks noChangeAspect="1"/>
            </p:cNvPicPr>
            <p:nvPr/>
          </p:nvPicPr>
          <p:blipFill>
            <a:blip r:embed="rId3"/>
            <a:stretch>
              <a:fillRect/>
            </a:stretch>
          </p:blipFill>
          <p:spPr>
            <a:xfrm>
              <a:off x="419857" y="2121408"/>
              <a:ext cx="851927" cy="868680"/>
            </a:xfrm>
            <a:prstGeom prst="rect">
              <a:avLst/>
            </a:prstGeom>
          </p:spPr>
        </p:pic>
        <p:sp>
          <p:nvSpPr>
            <p:cNvPr id="12" name="Forma 11"/>
            <p:cNvSpPr/>
            <p:nvPr/>
          </p:nvSpPr>
          <p:spPr>
            <a:xfrm>
              <a:off x="1417320" y="2121408"/>
              <a:ext cx="57150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tejido adiposo</a:t>
              </a:r>
              <a:r>
                <a:rPr lang="es-AR" sz="1500" dirty="0">
                  <a:solidFill>
                    <a:srgbClr val="1E1E1E"/>
                  </a:solidFill>
                  <a:latin typeface="Fira Sans Condensed"/>
                  <a:ea typeface="Fira Sans Condensed"/>
                  <a:cs typeface="Fira Sans Condensed"/>
                  <a:sym typeface="Fira Sans Condensed"/>
                </a:rPr>
                <a:t> amortigua excedentes y comunica reservas.</a:t>
              </a:r>
              <a:endParaRPr lang="es-AR" sz="1500" dirty="0">
                <a:latin typeface="Fira Sans Condensed"/>
              </a:endParaRPr>
            </a:p>
          </p:txBody>
        </p:sp>
      </p:grpSp>
      <p:grpSp>
        <p:nvGrpSpPr>
          <p:cNvPr id="13" name="Concl 2"/>
          <p:cNvGrpSpPr/>
          <p:nvPr/>
        </p:nvGrpSpPr>
        <p:grpSpPr>
          <a:xfrm>
            <a:off x="420477" y="3145536"/>
            <a:ext cx="6711843" cy="868680"/>
            <a:chOff x="420477" y="3145536"/>
            <a:chExt cx="6711843" cy="868680"/>
          </a:xfrm>
        </p:grpSpPr>
        <p:pic>
          <p:nvPicPr>
            <p:cNvPr id="14" name="Imagen brain-2" descr="Ilustración biomédica (Servier Medical Art, CC BY)"/>
            <p:cNvPicPr>
              <a:picLocks noChangeAspect="1"/>
            </p:cNvPicPr>
            <p:nvPr/>
          </p:nvPicPr>
          <p:blipFill>
            <a:blip r:embed="rId4"/>
            <a:stretch>
              <a:fillRect/>
            </a:stretch>
          </p:blipFill>
          <p:spPr>
            <a:xfrm>
              <a:off x="420477" y="3145536"/>
              <a:ext cx="850686" cy="868680"/>
            </a:xfrm>
            <a:prstGeom prst="rect">
              <a:avLst/>
            </a:prstGeom>
          </p:spPr>
        </p:pic>
        <p:sp>
          <p:nvSpPr>
            <p:cNvPr id="15" name="Forma 14"/>
            <p:cNvSpPr/>
            <p:nvPr/>
          </p:nvSpPr>
          <p:spPr>
            <a:xfrm>
              <a:off x="1417320" y="3145536"/>
              <a:ext cx="57150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hipotálamo</a:t>
              </a:r>
              <a:r>
                <a:rPr lang="es-AR" sz="1500" dirty="0">
                  <a:solidFill>
                    <a:srgbClr val="1E1E1E"/>
                  </a:solidFill>
                  <a:latin typeface="Fira Sans Condensed"/>
                  <a:ea typeface="Fira Sans Condensed"/>
                  <a:cs typeface="Fira Sans Condensed"/>
                  <a:sym typeface="Fira Sans Condensed"/>
                </a:rPr>
                <a:t> integra energía con saciedad y recompensa.</a:t>
              </a:r>
              <a:endParaRPr lang="es-AR" sz="1500" dirty="0">
                <a:latin typeface="Fira Sans Condensed"/>
              </a:endParaRPr>
            </a:p>
          </p:txBody>
        </p:sp>
      </p:grpSp>
      <p:grpSp>
        <p:nvGrpSpPr>
          <p:cNvPr id="16" name="Concl 3"/>
          <p:cNvGrpSpPr/>
          <p:nvPr/>
        </p:nvGrpSpPr>
        <p:grpSpPr>
          <a:xfrm>
            <a:off x="411480" y="4169664"/>
            <a:ext cx="6720840" cy="868680"/>
            <a:chOff x="411480" y="4169664"/>
            <a:chExt cx="6720840" cy="868680"/>
          </a:xfrm>
        </p:grpSpPr>
        <p:pic>
          <p:nvPicPr>
            <p:cNvPr id="17" name="Imagen healthy_liver" descr="Ilustración biomédica (Servier Medical Art, CC BY)"/>
            <p:cNvPicPr>
              <a:picLocks noChangeAspect="1"/>
            </p:cNvPicPr>
            <p:nvPr/>
          </p:nvPicPr>
          <p:blipFill>
            <a:blip r:embed="rId5"/>
            <a:stretch>
              <a:fillRect/>
            </a:stretch>
          </p:blipFill>
          <p:spPr>
            <a:xfrm>
              <a:off x="411480" y="4288843"/>
              <a:ext cx="868680" cy="630323"/>
            </a:xfrm>
            <a:prstGeom prst="rect">
              <a:avLst/>
            </a:prstGeom>
          </p:spPr>
        </p:pic>
        <p:sp>
          <p:nvSpPr>
            <p:cNvPr id="18" name="Forma 17"/>
            <p:cNvSpPr/>
            <p:nvPr/>
          </p:nvSpPr>
          <p:spPr>
            <a:xfrm>
              <a:off x="1417320" y="4169664"/>
              <a:ext cx="57150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hígado</a:t>
              </a:r>
              <a:r>
                <a:rPr lang="es-AR" sz="1500" dirty="0">
                  <a:solidFill>
                    <a:srgbClr val="1E1E1E"/>
                  </a:solidFill>
                  <a:latin typeface="Fira Sans Condensed"/>
                  <a:ea typeface="Fira Sans Condensed"/>
                  <a:cs typeface="Fira Sans Condensed"/>
                  <a:sym typeface="Fira Sans Condensed"/>
                </a:rPr>
                <a:t> redistribuye glucosa y lípidos; el </a:t>
              </a:r>
              <a:r>
                <a:rPr lang="es-AR" sz="1500" b="1" dirty="0">
                  <a:solidFill>
                    <a:srgbClr val="1E1E1E"/>
                  </a:solidFill>
                  <a:latin typeface="Fira Sans Condensed"/>
                  <a:ea typeface="Fira Sans Condensed"/>
                  <a:cs typeface="Fira Sans Condensed"/>
                  <a:sym typeface="Fira Sans Condensed"/>
                </a:rPr>
                <a:t>músculo</a:t>
              </a:r>
              <a:r>
                <a:rPr lang="es-AR" sz="1500" dirty="0">
                  <a:solidFill>
                    <a:srgbClr val="1E1E1E"/>
                  </a:solidFill>
                  <a:latin typeface="Fira Sans Condensed"/>
                  <a:ea typeface="Fira Sans Condensed"/>
                  <a:cs typeface="Fira Sans Condensed"/>
                  <a:sym typeface="Fira Sans Condensed"/>
                </a:rPr>
                <a:t> determina gran parte de su utilización.</a:t>
              </a:r>
              <a:endParaRPr lang="es-AR" sz="1500" dirty="0">
                <a:latin typeface="Fira Sans Condensed"/>
              </a:endParaRPr>
            </a:p>
          </p:txBody>
        </p:sp>
      </p:grpSp>
      <p:grpSp>
        <p:nvGrpSpPr>
          <p:cNvPr id="19" name="Concl 4"/>
          <p:cNvGrpSpPr/>
          <p:nvPr/>
        </p:nvGrpSpPr>
        <p:grpSpPr>
          <a:xfrm>
            <a:off x="547366" y="5193792"/>
            <a:ext cx="6584954" cy="868680"/>
            <a:chOff x="547366" y="5193792"/>
            <a:chExt cx="6584954" cy="868680"/>
          </a:xfrm>
        </p:grpSpPr>
        <p:pic>
          <p:nvPicPr>
            <p:cNvPr id="20" name="Imagen kidney-2" descr="Ilustración biomédica (Servier Medical Art, CC BY)"/>
            <p:cNvPicPr>
              <a:picLocks noChangeAspect="1"/>
            </p:cNvPicPr>
            <p:nvPr/>
          </p:nvPicPr>
          <p:blipFill>
            <a:blip r:embed="rId6"/>
            <a:stretch>
              <a:fillRect/>
            </a:stretch>
          </p:blipFill>
          <p:spPr>
            <a:xfrm>
              <a:off x="547366" y="5193792"/>
              <a:ext cx="596907" cy="868680"/>
            </a:xfrm>
            <a:prstGeom prst="rect">
              <a:avLst/>
            </a:prstGeom>
          </p:spPr>
        </p:pic>
        <p:sp>
          <p:nvSpPr>
            <p:cNvPr id="21" name="Forma 20"/>
            <p:cNvSpPr/>
            <p:nvPr/>
          </p:nvSpPr>
          <p:spPr>
            <a:xfrm>
              <a:off x="1417320" y="5193792"/>
              <a:ext cx="5715000" cy="86868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500" dirty="0">
                  <a:solidFill>
                    <a:srgbClr val="1E1E1E"/>
                  </a:solidFill>
                  <a:latin typeface="Fira Sans Condensed"/>
                  <a:ea typeface="Fira Sans Condensed"/>
                  <a:cs typeface="Fira Sans Condensed"/>
                  <a:sym typeface="Fira Sans Condensed"/>
                </a:rPr>
                <a:t>El </a:t>
              </a:r>
              <a:r>
                <a:rPr lang="es-AR" sz="1500" b="1" dirty="0">
                  <a:solidFill>
                    <a:srgbClr val="1E1E1E"/>
                  </a:solidFill>
                  <a:latin typeface="Fira Sans Condensed"/>
                  <a:ea typeface="Fira Sans Condensed"/>
                  <a:cs typeface="Fira Sans Condensed"/>
                  <a:sym typeface="Fira Sans Condensed"/>
                </a:rPr>
                <a:t>riñón</a:t>
              </a:r>
              <a:r>
                <a:rPr lang="es-AR" sz="1500" dirty="0">
                  <a:solidFill>
                    <a:srgbClr val="1E1E1E"/>
                  </a:solidFill>
                  <a:latin typeface="Fira Sans Condensed"/>
                  <a:ea typeface="Fira Sans Condensed"/>
                  <a:cs typeface="Fira Sans Condensed"/>
                  <a:sym typeface="Fira Sans Condensed"/>
                </a:rPr>
                <a:t> convierte hiperglucemia en pérdidas osmóticas y participa en HTA y daño crónico.</a:t>
              </a:r>
              <a:endParaRPr lang="es-AR" sz="1500" dirty="0">
                <a:latin typeface="Fira Sans Condensed"/>
              </a:endParaRPr>
            </a:p>
          </p:txBody>
        </p:sp>
      </p:grpSp>
      <p:grpSp>
        <p:nvGrpSpPr>
          <p:cNvPr id="22" name="Tri CAD"/>
          <p:cNvGrpSpPr/>
          <p:nvPr/>
        </p:nvGrpSpPr>
        <p:grpSpPr>
          <a:xfrm>
            <a:off x="7406640" y="1097280"/>
            <a:ext cx="4434840" cy="1527048"/>
            <a:chOff x="7406640" y="1097280"/>
            <a:chExt cx="4434840" cy="1527048"/>
          </a:xfrm>
        </p:grpSpPr>
        <p:sp>
          <p:nvSpPr>
            <p:cNvPr id="23" name="Recuadro CAD"/>
            <p:cNvSpPr/>
            <p:nvPr/>
          </p:nvSpPr>
          <p:spPr>
            <a:xfrm>
              <a:off x="7406640" y="1097280"/>
              <a:ext cx="4434840" cy="502920"/>
            </a:xfrm>
            <a:prstGeom prst="rect">
              <a:avLst/>
            </a:prstGeom>
            <a:solidFill>
              <a:srgbClr val="C00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FFFFFF"/>
                  </a:solidFill>
                  <a:latin typeface="Fira Sans Condensed"/>
                  <a:ea typeface="Fira Sans Condensed"/>
                  <a:cs typeface="Fira Sans Condensed"/>
                  <a:sym typeface="Fira Sans Condensed"/>
                </a:rPr>
                <a:t>CAD</a:t>
              </a:r>
              <a:endParaRPr lang="es-AR" sz="1500" dirty="0">
                <a:latin typeface="Fira Sans Condensed"/>
              </a:endParaRPr>
            </a:p>
          </p:txBody>
        </p:sp>
        <p:sp>
          <p:nvSpPr>
            <p:cNvPr id="24" name="Forma 23"/>
            <p:cNvSpPr/>
            <p:nvPr/>
          </p:nvSpPr>
          <p:spPr>
            <a:xfrm>
              <a:off x="7406640" y="1664208"/>
              <a:ext cx="44348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Lo que ocurre cuando </a:t>
              </a:r>
              <a:r>
                <a:rPr lang="es-AR" sz="1450" b="1" dirty="0">
                  <a:solidFill>
                    <a:srgbClr val="1E1E1E"/>
                  </a:solidFill>
                  <a:latin typeface="Fira Sans Condensed"/>
                  <a:ea typeface="Fira Sans Condensed"/>
                  <a:cs typeface="Fira Sans Condensed"/>
                  <a:sym typeface="Fira Sans Condensed"/>
                </a:rPr>
                <a:t>falta el freno insulínico</a:t>
              </a:r>
              <a:r>
                <a:rPr lang="es-AR" sz="1450" dirty="0">
                  <a:solidFill>
                    <a:srgbClr val="1E1E1E"/>
                  </a:solidFill>
                  <a:latin typeface="Fira Sans Condensed"/>
                  <a:ea typeface="Fira Sans Condensed"/>
                  <a:cs typeface="Fira Sans Condensed"/>
                  <a:sym typeface="Fira Sans Condensed"/>
                </a:rPr>
                <a:t> de la lipólisis y la cetogénesis.</a:t>
              </a:r>
              <a:endParaRPr lang="es-AR" sz="1450" dirty="0">
                <a:latin typeface="Fira Sans Condensed"/>
              </a:endParaRPr>
            </a:p>
          </p:txBody>
        </p:sp>
      </p:grpSp>
      <p:grpSp>
        <p:nvGrpSpPr>
          <p:cNvPr id="25" name="Tri EHH"/>
          <p:cNvGrpSpPr/>
          <p:nvPr/>
        </p:nvGrpSpPr>
        <p:grpSpPr>
          <a:xfrm>
            <a:off x="7406640" y="2788920"/>
            <a:ext cx="4434840" cy="1527048"/>
            <a:chOff x="7406640" y="2788920"/>
            <a:chExt cx="4434840" cy="1527048"/>
          </a:xfrm>
        </p:grpSpPr>
        <p:sp>
          <p:nvSpPr>
            <p:cNvPr id="26" name="Recuadro EHH"/>
            <p:cNvSpPr/>
            <p:nvPr/>
          </p:nvSpPr>
          <p:spPr>
            <a:xfrm>
              <a:off x="7406640" y="2788920"/>
              <a:ext cx="4434840" cy="502920"/>
            </a:xfrm>
            <a:prstGeom prst="rect">
              <a:avLst/>
            </a:prstGeom>
            <a:solidFill>
              <a:srgbClr val="F4877F"/>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1E1E1E"/>
                  </a:solidFill>
                  <a:latin typeface="Fira Sans Condensed"/>
                  <a:ea typeface="Fira Sans Condensed"/>
                  <a:cs typeface="Fira Sans Condensed"/>
                  <a:sym typeface="Fira Sans Condensed"/>
                </a:rPr>
                <a:t>EHH</a:t>
              </a:r>
              <a:endParaRPr lang="es-AR" sz="1500" dirty="0">
                <a:latin typeface="Fira Sans Condensed"/>
              </a:endParaRPr>
            </a:p>
          </p:txBody>
        </p:sp>
        <p:sp>
          <p:nvSpPr>
            <p:cNvPr id="27" name="Forma 26"/>
            <p:cNvSpPr/>
            <p:nvPr/>
          </p:nvSpPr>
          <p:spPr>
            <a:xfrm>
              <a:off x="7406640" y="3355848"/>
              <a:ext cx="44348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La acción residual </a:t>
              </a:r>
              <a:r>
                <a:rPr lang="es-AR" sz="1450" b="1" dirty="0">
                  <a:solidFill>
                    <a:srgbClr val="1E1E1E"/>
                  </a:solidFill>
                  <a:latin typeface="Fira Sans Condensed"/>
                  <a:ea typeface="Fira Sans Condensed"/>
                  <a:cs typeface="Fira Sans Condensed"/>
                  <a:sym typeface="Fira Sans Condensed"/>
                </a:rPr>
                <a:t>limita las cetonas</a:t>
              </a:r>
              <a:r>
                <a:rPr lang="es-AR" sz="1450" dirty="0">
                  <a:solidFill>
                    <a:srgbClr val="1E1E1E"/>
                  </a:solidFill>
                  <a:latin typeface="Fira Sans Condensed"/>
                  <a:ea typeface="Fira Sans Condensed"/>
                  <a:cs typeface="Fira Sans Condensed"/>
                  <a:sym typeface="Fira Sans Condensed"/>
                </a:rPr>
                <a:t> pero no evita hiperglucemia y deshidratación extrema.</a:t>
              </a:r>
              <a:endParaRPr lang="es-AR" sz="1450" dirty="0">
                <a:latin typeface="Fira Sans Condensed"/>
              </a:endParaRPr>
            </a:p>
          </p:txBody>
        </p:sp>
      </p:grpSp>
      <p:grpSp>
        <p:nvGrpSpPr>
          <p:cNvPr id="28" name="Tri OBESIDAD VISCERAL"/>
          <p:cNvGrpSpPr/>
          <p:nvPr/>
        </p:nvGrpSpPr>
        <p:grpSpPr>
          <a:xfrm>
            <a:off x="7406640" y="4480560"/>
            <a:ext cx="4434840" cy="1527048"/>
            <a:chOff x="7406640" y="4480560"/>
            <a:chExt cx="4434840" cy="1527048"/>
          </a:xfrm>
        </p:grpSpPr>
        <p:sp>
          <p:nvSpPr>
            <p:cNvPr id="29" name="Recuadro OBESIDAD VISCERAL"/>
            <p:cNvSpPr/>
            <p:nvPr/>
          </p:nvSpPr>
          <p:spPr>
            <a:xfrm>
              <a:off x="7406640" y="4480560"/>
              <a:ext cx="4434840" cy="502920"/>
            </a:xfrm>
            <a:prstGeom prst="rect">
              <a:avLst/>
            </a:prstGeom>
            <a:solidFill>
              <a:srgbClr val="FFC000"/>
            </a:solidFill>
            <a:ln w="25400" cap="rnd">
              <a:solidFill>
                <a:srgbClr val="1E1E1E"/>
              </a:solidFill>
              <a:round/>
            </a:ln>
            <a:effectLst>
              <a:outerShdw blurRad="63500" dist="38100" dir="2700000" algn="tl" rotWithShape="0">
                <a:srgbClr val="000000">
                  <a:alpha val="32000"/>
                </a:srgbClr>
              </a:outerShdw>
            </a:effectLst>
          </p:spPr>
          <p:txBody>
            <a:bodyPr wrap="square" lIns="64008" tIns="27432" rIns="64008" bIns="27432" anchor="ctr" rtlCol="0">
              <a:noAutofit/>
            </a:bodyPr>
            <a:lstStyle/>
            <a:p>
              <a:pPr algn="ctr">
                <a:spcAft>
                  <a:spcPts val="200"/>
                </a:spcAft>
                <a:buNone/>
              </a:pPr>
              <a:r>
                <a:rPr lang="es-AR" sz="1500" b="1" dirty="0">
                  <a:solidFill>
                    <a:srgbClr val="C00000"/>
                  </a:solidFill>
                  <a:latin typeface="Fira Sans Condensed"/>
                  <a:ea typeface="Fira Sans Condensed"/>
                  <a:cs typeface="Fira Sans Condensed"/>
                  <a:sym typeface="Fira Sans Condensed"/>
                </a:rPr>
                <a:t>OBESIDAD VISCERAL</a:t>
              </a:r>
              <a:endParaRPr lang="es-AR" sz="1500" dirty="0">
                <a:latin typeface="Fira Sans Condensed"/>
              </a:endParaRPr>
            </a:p>
          </p:txBody>
        </p:sp>
        <p:sp>
          <p:nvSpPr>
            <p:cNvPr id="30" name="Forma 29"/>
            <p:cNvSpPr/>
            <p:nvPr/>
          </p:nvSpPr>
          <p:spPr>
            <a:xfrm>
              <a:off x="7406640" y="5047488"/>
              <a:ext cx="4434840" cy="960120"/>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73152" rIns="128016" bIns="73152" anchor="ctr" rtlCol="0">
              <a:noAutofit/>
            </a:bodyPr>
            <a:lstStyle/>
            <a:p>
              <a:pPr algn="l">
                <a:spcAft>
                  <a:spcPts val="400"/>
                </a:spcAft>
                <a:buNone/>
              </a:pPr>
              <a:r>
                <a:rPr lang="es-AR" sz="1450" dirty="0">
                  <a:solidFill>
                    <a:srgbClr val="1E1E1E"/>
                  </a:solidFill>
                  <a:latin typeface="Fira Sans Condensed"/>
                  <a:ea typeface="Fira Sans Condensed"/>
                  <a:cs typeface="Fira Sans Condensed"/>
                  <a:sym typeface="Fira Sans Condensed"/>
                </a:rPr>
                <a:t>La resistencia crónica se convierte en </a:t>
              </a:r>
              <a:r>
                <a:rPr lang="es-AR" sz="1450" b="1" dirty="0">
                  <a:solidFill>
                    <a:srgbClr val="1E1E1E"/>
                  </a:solidFill>
                  <a:latin typeface="Fira Sans Condensed"/>
                  <a:ea typeface="Fira Sans Condensed"/>
                  <a:cs typeface="Fira Sans Condensed"/>
                  <a:sym typeface="Fira Sans Condensed"/>
                </a:rPr>
                <a:t>SM, DM2, HTA, MASLD y aterosclerosis</a:t>
              </a:r>
              <a:r>
                <a:rPr lang="es-AR" sz="1450" dirty="0">
                  <a:solidFill>
                    <a:srgbClr val="1E1E1E"/>
                  </a:solidFill>
                  <a:latin typeface="Fira Sans Condensed"/>
                  <a:ea typeface="Fira Sans Condensed"/>
                  <a:cs typeface="Fira Sans Condensed"/>
                  <a:sym typeface="Fira Sans Condensed"/>
                </a:rPr>
                <a:t>.</a:t>
              </a:r>
              <a:endParaRPr lang="es-AR" sz="1450" dirty="0">
                <a:latin typeface="Fira Sans Condensed"/>
              </a:endParaRPr>
            </a:p>
          </p:txBody>
        </p:sp>
      </p:grpSp>
      <p:sp>
        <p:nvSpPr>
          <p:cNvPr id="5"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CONCLUSIÓN INTEGRADORA</a:t>
            </a:r>
            <a:endParaRPr lang="es-AR" sz="3400" dirty="0">
              <a:latin typeface="Permanent Marker"/>
            </a:endParaRPr>
          </a:p>
        </p:txBody>
      </p:sp>
      <p:sp>
        <p:nvSpPr>
          <p:cNvPr id="6"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31"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243</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7" fill="hold">
                      <p:stCondLst>
                        <p:cond delay="indefinite"/>
                      </p:stCondLst>
                      <p:childTnLst>
                        <p:par>
                          <p:cTn id="1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22" fill="hold">
                      <p:stCondLst>
                        <p:cond delay="indefinite"/>
                      </p:stCondLst>
                      <p:childTnLst>
                        <p:par>
                          <p:cTn id="21"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7" fill="hold">
                      <p:stCondLst>
                        <p:cond delay="indefinite"/>
                      </p:stCondLst>
                      <p:childTnLst>
                        <p:par>
                          <p:cTn id="2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32" fill="hold">
                      <p:stCondLst>
                        <p:cond delay="indefinite"/>
                      </p:stCondLst>
                      <p:childTnLst>
                        <p:par>
                          <p:cTn id="31"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7"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par>
                    <p:cTn id="42" fill="hold">
                      <p:stCondLst>
                        <p:cond delay="indefinite"/>
                      </p:stCondLst>
                      <p:childTnLst>
                        <p:par>
                          <p:cTn id="41"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4145176" cy="6858000"/>
          </a:xfrm>
          <a:prstGeom prst="rect">
            <a:avLst/>
          </a:prstGeom>
          <a:solidFill>
            <a:srgbClr val="F8CBAD"/>
          </a:solidFill>
          <a:ln>
            <a:noFill/>
          </a:ln>
        </p:spPr>
      </p:sp>
      <p:sp>
        <p:nvSpPr>
          <p:cNvPr id="3" name="!!Fondo 2"/>
          <p:cNvSpPr/>
          <p:nvPr/>
        </p:nvSpPr>
        <p:spPr>
          <a:xfrm>
            <a:off x="4145176" y="0"/>
            <a:ext cx="8046519" cy="6858000"/>
          </a:xfrm>
          <a:prstGeom prst="rect">
            <a:avLst/>
          </a:prstGeom>
          <a:solidFill>
            <a:srgbClr val="BDD7EE"/>
          </a:solidFill>
          <a:ln>
            <a:noFill/>
          </a:ln>
        </p:spPr>
      </p:sp>
      <p:grpSp>
        <p:nvGrpSpPr>
          <p:cNvPr id="6" name="Cuadro Revisiones de la cáted"/>
          <p:cNvGrpSpPr/>
          <p:nvPr/>
        </p:nvGrpSpPr>
        <p:grpSpPr>
          <a:xfrm>
            <a:off x="365760" y="1051560"/>
            <a:ext cx="11475720" cy="2148840"/>
            <a:chOff x="365760" y="1051560"/>
            <a:chExt cx="11475720" cy="2148840"/>
          </a:xfrm>
        </p:grpSpPr>
        <p:sp>
          <p:nvSpPr>
            <p:cNvPr id="7" name="Forma 6"/>
            <p:cNvSpPr/>
            <p:nvPr/>
          </p:nvSpPr>
          <p:spPr>
            <a:xfrm>
              <a:off x="365760" y="1252728"/>
              <a:ext cx="11475720" cy="19476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300" b="1" dirty="0">
                  <a:solidFill>
                    <a:srgbClr val="1E1E1E"/>
                  </a:solidFill>
                  <a:latin typeface="Fira Sans Condensed"/>
                  <a:ea typeface="Fira Sans Condensed"/>
                  <a:cs typeface="Fira Sans Condensed"/>
                  <a:sym typeface="Fira Sans Condensed"/>
                </a:rPr>
                <a:t>[T]</a:t>
              </a:r>
              <a:r>
                <a:rPr lang="es-AR" sz="1300" dirty="0">
                  <a:solidFill>
                    <a:srgbClr val="1E1E1E"/>
                  </a:solidFill>
                  <a:latin typeface="Fira Sans Condensed"/>
                  <a:ea typeface="Fira Sans Condensed"/>
                  <a:cs typeface="Fira Sans Condensed"/>
                  <a:sym typeface="Fira Sans Condensed"/>
                </a:rPr>
                <a:t> Valenzuela BA, Sanhueza CJ. El tejido adiposo: algo más que un reservorio de energía. Grasas y Aceites. 2009;60(5):437–450. doi:10.3989/gya.043209</a:t>
              </a:r>
              <a:endParaRPr lang="es-AR" sz="1300" dirty="0">
                <a:latin typeface="Fira Sans Condensed"/>
              </a:endParaRPr>
            </a:p>
            <a:p>
              <a:pPr algn="l">
                <a:spcAft>
                  <a:spcPts val="400"/>
                </a:spcAft>
                <a:buNone/>
              </a:pPr>
              <a:r>
                <a:rPr lang="es-AR" sz="1300" b="1" dirty="0">
                  <a:solidFill>
                    <a:srgbClr val="1E1E1E"/>
                  </a:solidFill>
                  <a:latin typeface="Fira Sans Condensed"/>
                  <a:ea typeface="Fira Sans Condensed"/>
                  <a:cs typeface="Fira Sans Condensed"/>
                  <a:sym typeface="Fira Sans Condensed"/>
                </a:rPr>
                <a:t>[S]</a:t>
              </a:r>
              <a:r>
                <a:rPr lang="es-AR" sz="1300" dirty="0">
                  <a:solidFill>
                    <a:srgbClr val="1E1E1E"/>
                  </a:solidFill>
                  <a:latin typeface="Fira Sans Condensed"/>
                  <a:ea typeface="Fira Sans Condensed"/>
                  <a:cs typeface="Fira Sans Condensed"/>
                  <a:sym typeface="Fira Sans Condensed"/>
                </a:rPr>
                <a:t> Martínez RG, Alonso KR, Novik AV. Síndrome metabólico. Bases clínicas y fisiopatológicas para un enfoque terapéutico racional. Rev Méd Chile. 2009;137:685–694.</a:t>
              </a:r>
              <a:endParaRPr lang="es-AR" sz="1300" dirty="0">
                <a:latin typeface="Fira Sans Condensed"/>
              </a:endParaRPr>
            </a:p>
            <a:p>
              <a:pPr algn="l">
                <a:spcAft>
                  <a:spcPts val="400"/>
                </a:spcAft>
                <a:buNone/>
              </a:pPr>
              <a:r>
                <a:rPr lang="es-AR" sz="1300" b="1" dirty="0">
                  <a:solidFill>
                    <a:srgbClr val="1E1E1E"/>
                  </a:solidFill>
                  <a:latin typeface="Fira Sans Condensed"/>
                  <a:ea typeface="Fira Sans Condensed"/>
                  <a:cs typeface="Fira Sans Condensed"/>
                  <a:sym typeface="Fira Sans Condensed"/>
                </a:rPr>
                <a:t>[A]</a:t>
              </a:r>
              <a:r>
                <a:rPr lang="es-AR" sz="1300" dirty="0">
                  <a:solidFill>
                    <a:srgbClr val="1E1E1E"/>
                  </a:solidFill>
                  <a:latin typeface="Fira Sans Condensed"/>
                  <a:ea typeface="Fira Sans Condensed"/>
                  <a:cs typeface="Fira Sans Condensed"/>
                  <a:sym typeface="Fira Sans Condensed"/>
                </a:rPr>
                <a:t> Vásquez-Machado M, Ulate-Montero G. Regulación del peso corporal y del apetito. Acta Méd Costarric. 2010;52(2):79–89.</a:t>
              </a:r>
              <a:endParaRPr lang="es-AR" sz="1300" dirty="0">
                <a:latin typeface="Fira Sans Condensed"/>
              </a:endParaRPr>
            </a:p>
          </p:txBody>
        </p:sp>
        <p:sp>
          <p:nvSpPr>
            <p:cNvPr id="8" name="Forma 7"/>
            <p:cNvSpPr/>
            <p:nvPr/>
          </p:nvSpPr>
          <p:spPr>
            <a:xfrm>
              <a:off x="502920" y="1051560"/>
              <a:ext cx="2498766"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REVISIONES DE LA CÁTEDRA</a:t>
              </a:r>
              <a:endParaRPr lang="es-AR" sz="1400" dirty="0">
                <a:latin typeface="Fira Sans Condensed"/>
              </a:endParaRPr>
            </a:p>
          </p:txBody>
        </p:sp>
      </p:grpSp>
      <p:grpSp>
        <p:nvGrpSpPr>
          <p:cNvPr id="9" name="Cuadro Referencias clínicas y"/>
          <p:cNvGrpSpPr/>
          <p:nvPr/>
        </p:nvGrpSpPr>
        <p:grpSpPr>
          <a:xfrm>
            <a:off x="365760" y="3429000"/>
            <a:ext cx="11475720" cy="2834640"/>
            <a:chOff x="365760" y="3429000"/>
            <a:chExt cx="11475720" cy="2834640"/>
          </a:xfrm>
        </p:grpSpPr>
        <p:sp>
          <p:nvSpPr>
            <p:cNvPr id="10" name="Forma 9"/>
            <p:cNvSpPr/>
            <p:nvPr/>
          </p:nvSpPr>
          <p:spPr>
            <a:xfrm>
              <a:off x="365760" y="3630168"/>
              <a:ext cx="11475720" cy="263347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a:spcAft>
                  <a:spcPts val="400"/>
                </a:spcAft>
                <a:buNone/>
              </a:pPr>
              <a:r>
                <a:rPr lang="es-AR" sz="1200" b="1" dirty="0">
                  <a:solidFill>
                    <a:srgbClr val="1E1E1E"/>
                  </a:solidFill>
                  <a:latin typeface="Fira Sans Condensed"/>
                  <a:ea typeface="Fira Sans Condensed"/>
                  <a:cs typeface="Fira Sans Condensed"/>
                  <a:sym typeface="Fira Sans Condensed"/>
                </a:rPr>
                <a:t>[ADA26]</a:t>
              </a:r>
              <a:r>
                <a:rPr lang="es-AR" sz="1200" dirty="0">
                  <a:solidFill>
                    <a:srgbClr val="1E1E1E"/>
                  </a:solidFill>
                  <a:latin typeface="Fira Sans Condensed"/>
                  <a:ea typeface="Fira Sans Condensed"/>
                  <a:cs typeface="Fira Sans Condensed"/>
                  <a:sym typeface="Fira Sans Condensed"/>
                </a:rPr>
                <a:t> ADA Professional Practice Committee. Standards of Care in Diabetes—2026 (secciones 2, 6, 8, 9 y 16). Diabetes Care, suplemento ene-2026.</a:t>
              </a:r>
              <a:endParaRPr lang="es-AR" sz="1200" dirty="0">
                <a:latin typeface="Fira Sans Condensed"/>
              </a:endParaRPr>
            </a:p>
            <a:p>
              <a:pPr algn="l">
                <a:spcAft>
                  <a:spcPts val="400"/>
                </a:spcAft>
                <a:buNone/>
              </a:pPr>
              <a:r>
                <a:rPr lang="es-AR" sz="1200" b="1" dirty="0">
                  <a:solidFill>
                    <a:srgbClr val="1E1E1E"/>
                  </a:solidFill>
                  <a:latin typeface="Fira Sans Condensed"/>
                  <a:ea typeface="Fira Sans Condensed"/>
                  <a:cs typeface="Fira Sans Condensed"/>
                  <a:sym typeface="Fira Sans Condensed"/>
                </a:rPr>
                <a:t>[C24]</a:t>
              </a:r>
              <a:r>
                <a:rPr lang="es-AR" sz="1200" dirty="0">
                  <a:solidFill>
                    <a:srgbClr val="1E1E1E"/>
                  </a:solidFill>
                  <a:latin typeface="Fira Sans Condensed"/>
                  <a:ea typeface="Fira Sans Condensed"/>
                  <a:cs typeface="Fira Sans Condensed"/>
                  <a:sym typeface="Fira Sans Condensed"/>
                </a:rPr>
                <a:t> Umpierrez GE et al. Hyperglycemic Crises in Adults With Diabetes: A Consensus Report. 2024. doi:10.2337/dci24-0032</a:t>
              </a:r>
              <a:endParaRPr lang="es-AR" sz="1200" dirty="0">
                <a:latin typeface="Fira Sans Condensed"/>
              </a:endParaRPr>
            </a:p>
            <a:p>
              <a:pPr algn="l">
                <a:spcAft>
                  <a:spcPts val="400"/>
                </a:spcAft>
                <a:buNone/>
              </a:pPr>
              <a:r>
                <a:rPr lang="es-AR" sz="1200" b="1" dirty="0">
                  <a:solidFill>
                    <a:srgbClr val="1E1E1E"/>
                  </a:solidFill>
                  <a:latin typeface="Fira Sans Condensed"/>
                  <a:ea typeface="Fira Sans Condensed"/>
                  <a:cs typeface="Fira Sans Condensed"/>
                  <a:sym typeface="Fira Sans Condensed"/>
                </a:rPr>
                <a:t>[ASMBS]</a:t>
              </a:r>
              <a:r>
                <a:rPr lang="es-AR" sz="1200" dirty="0">
                  <a:solidFill>
                    <a:srgbClr val="1E1E1E"/>
                  </a:solidFill>
                  <a:latin typeface="Fira Sans Condensed"/>
                  <a:ea typeface="Fira Sans Condensed"/>
                  <a:cs typeface="Fira Sans Condensed"/>
                  <a:sym typeface="Fira Sans Condensed"/>
                </a:rPr>
                <a:t> Eisenberg D et al. 2022 ASMBS and IFSO Indications for Metabolic and Bariatric Surgery. SOARD. 2022. doi:10.1016/j.soard.2022.08.013</a:t>
              </a:r>
              <a:endParaRPr lang="es-AR" sz="1200" dirty="0">
                <a:latin typeface="Fira Sans Condensed"/>
              </a:endParaRPr>
            </a:p>
            <a:p>
              <a:pPr algn="l">
                <a:spcAft>
                  <a:spcPts val="400"/>
                </a:spcAft>
                <a:buNone/>
              </a:pPr>
              <a:r>
                <a:rPr lang="es-AR" sz="1200" b="1" dirty="0">
                  <a:solidFill>
                    <a:srgbClr val="1E1E1E"/>
                  </a:solidFill>
                  <a:latin typeface="Fira Sans Condensed"/>
                  <a:ea typeface="Fira Sans Condensed"/>
                  <a:cs typeface="Fira Sans Condensed"/>
                  <a:sym typeface="Fira Sans Condensed"/>
                </a:rPr>
                <a:t>[ANMAT]</a:t>
              </a:r>
              <a:r>
                <a:rPr lang="es-AR" sz="1200" dirty="0">
                  <a:solidFill>
                    <a:srgbClr val="1E1E1E"/>
                  </a:solidFill>
                  <a:latin typeface="Fira Sans Condensed"/>
                  <a:ea typeface="Fira Sans Condensed"/>
                  <a:cs typeface="Fira Sans Condensed"/>
                  <a:sym typeface="Fira Sans Condensed"/>
                </a:rPr>
                <a:t> Disposiciones 6533/2010 (sibutramina) y 6238/2008 (rimonabant); comunicado semaglutida (Wegovy) 07/08/2023.</a:t>
              </a:r>
              <a:endParaRPr lang="es-AR" sz="1200" dirty="0">
                <a:latin typeface="Fira Sans Condensed"/>
              </a:endParaRPr>
            </a:p>
            <a:p>
              <a:pPr algn="l">
                <a:spcAft>
                  <a:spcPts val="400"/>
                </a:spcAft>
                <a:buNone/>
              </a:pPr>
              <a:r>
                <a:rPr lang="es-AR" sz="1200" b="1" dirty="0">
                  <a:solidFill>
                    <a:srgbClr val="1E1E1E"/>
                  </a:solidFill>
                  <a:latin typeface="Fira Sans Condensed"/>
                  <a:ea typeface="Fira Sans Condensed"/>
                  <a:cs typeface="Fira Sans Condensed"/>
                  <a:sym typeface="Fira Sans Condensed"/>
                </a:rPr>
                <a:t>[LEY]</a:t>
              </a:r>
              <a:r>
                <a:rPr lang="es-AR" sz="1200" dirty="0">
                  <a:solidFill>
                    <a:srgbClr val="1E1E1E"/>
                  </a:solidFill>
                  <a:latin typeface="Fira Sans Condensed"/>
                  <a:ea typeface="Fira Sans Condensed"/>
                  <a:cs typeface="Fira Sans Condensed"/>
                  <a:sym typeface="Fira Sans Condensed"/>
                </a:rPr>
                <a:t> Ley 26.396 y Decreto 1395/2008 (promulgación parcial).</a:t>
              </a:r>
              <a:endParaRPr lang="es-AR" sz="1200" dirty="0">
                <a:latin typeface="Fira Sans Condensed"/>
              </a:endParaRPr>
            </a:p>
            <a:p>
              <a:pPr algn="l">
                <a:spcAft>
                  <a:spcPts val="400"/>
                </a:spcAft>
                <a:buNone/>
              </a:pPr>
              <a:r>
                <a:rPr lang="es-AR" sz="1200" b="1" dirty="0">
                  <a:solidFill>
                    <a:srgbClr val="1E1E1E"/>
                  </a:solidFill>
                  <a:latin typeface="Fira Sans Condensed"/>
                  <a:ea typeface="Fira Sans Condensed"/>
                  <a:cs typeface="Fira Sans Condensed"/>
                  <a:sym typeface="Fira Sans Condensed"/>
                </a:rPr>
                <a:t>ACP 2026</a:t>
              </a:r>
              <a:r>
                <a:rPr lang="es-AR" sz="1200" dirty="0">
                  <a:solidFill>
                    <a:srgbClr val="1E1E1E"/>
                  </a:solidFill>
                  <a:latin typeface="Fira Sans Condensed"/>
                  <a:ea typeface="Fira Sans Condensed"/>
                  <a:cs typeface="Fira Sans Condensed"/>
                  <a:sym typeface="Fira Sans Condensed"/>
                </a:rPr>
                <a:t>: Pharmacologic Treatments With Lifestyle Modifications in Adults With Overweight or Obesity: A Living Clinical Guideline. Ann Intern Med, abril 2026. doi:10.7326/ANNALS-25-02714</a:t>
              </a:r>
              <a:endParaRPr lang="es-AR" sz="1200" dirty="0">
                <a:latin typeface="Fira Sans Condensed"/>
              </a:endParaRPr>
            </a:p>
          </p:txBody>
        </p:sp>
        <p:sp>
          <p:nvSpPr>
            <p:cNvPr id="11" name="Forma 10"/>
            <p:cNvSpPr/>
            <p:nvPr/>
          </p:nvSpPr>
          <p:spPr>
            <a:xfrm>
              <a:off x="502920" y="3429000"/>
              <a:ext cx="3343259" cy="384048"/>
            </a:xfrm>
            <a:prstGeom prst="rect">
              <a:avLst/>
            </a:prstGeom>
            <a:solidFill>
              <a:srgbClr val="F4877F"/>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1E1E1E"/>
                  </a:solidFill>
                  <a:latin typeface="Fira Sans Condensed"/>
                  <a:ea typeface="Fira Sans Condensed"/>
                  <a:cs typeface="Fira Sans Condensed"/>
                  <a:sym typeface="Fira Sans Condensed"/>
                </a:rPr>
                <a:t>REFERENCIAS CLÍNICAS Y NORMATIVAS</a:t>
              </a:r>
              <a:endParaRPr lang="es-AR" sz="1400" dirty="0">
                <a:latin typeface="Fira Sans Condensed"/>
              </a:endParaRPr>
            </a:p>
          </p:txBody>
        </p:sp>
      </p:grpSp>
      <p:sp>
        <p:nvSpPr>
          <p:cNvPr id="4" name="Título"/>
          <p:cNvSpPr txBox="1"/>
          <p:nvPr/>
        </p:nvSpPr>
        <p:spPr>
          <a:xfrm>
            <a:off x="320040" y="91440"/>
            <a:ext cx="11551615" cy="60502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000" dirty="0">
                <a:solidFill>
                  <a:srgbClr val="1E1E1E"/>
                </a:solidFill>
                <a:effectLst>
                  <a:glow rad="101600">
                    <a:srgbClr val="FFFFFF">
                      <a:alpha val="70000"/>
                    </a:srgbClr>
                  </a:glow>
                </a:effectLst>
                <a:latin typeface="Permanent Marker"/>
                <a:ea typeface="Permanent Marker"/>
                <a:cs typeface="Permanent Marker"/>
                <a:sym typeface="Permanent Marker"/>
              </a:rPr>
              <a:t>BIBLIOGRAFÍA PRIMARIA Y CONTEMPORÁNEA</a:t>
            </a:r>
            <a:endParaRPr lang="es-AR" sz="3000" dirty="0">
              <a:latin typeface="Permanent Marker"/>
            </a:endParaRPr>
          </a:p>
        </p:txBody>
      </p:sp>
      <p:sp>
        <p:nvSpPr>
          <p:cNvPr id="5"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12"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244</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2" fill="hold">
                      <p:stCondLst>
                        <p:cond delay="indefinite"/>
                      </p:stCondLst>
                      <p:childTnLst>
                        <p:par>
                          <p:cTn id="11"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7558851" cy="6858000"/>
          </a:xfrm>
          <a:prstGeom prst="rect">
            <a:avLst/>
          </a:prstGeom>
          <a:solidFill>
            <a:srgbClr val="BDD7EE"/>
          </a:solidFill>
          <a:ln>
            <a:noFill/>
          </a:ln>
        </p:spPr>
      </p:sp>
      <p:sp>
        <p:nvSpPr>
          <p:cNvPr id="3" name="!!Fondo 2"/>
          <p:cNvSpPr/>
          <p:nvPr/>
        </p:nvSpPr>
        <p:spPr>
          <a:xfrm>
            <a:off x="7558851" y="0"/>
            <a:ext cx="4632844" cy="6858000"/>
          </a:xfrm>
          <a:prstGeom prst="rect">
            <a:avLst/>
          </a:prstGeom>
          <a:solidFill>
            <a:srgbClr val="F8CBAD"/>
          </a:solidFill>
          <a:ln>
            <a:noFill/>
          </a:ln>
        </p:spPr>
      </p:sp>
      <p:grpSp>
        <p:nvGrpSpPr>
          <p:cNvPr id="6" name="Cuadro Atribuciones"/>
          <p:cNvGrpSpPr/>
          <p:nvPr/>
        </p:nvGrpSpPr>
        <p:grpSpPr>
          <a:xfrm>
            <a:off x="365760" y="1051560"/>
            <a:ext cx="11475720" cy="3840480"/>
            <a:chOff x="365760" y="1051560"/>
            <a:chExt cx="11475720" cy="3840480"/>
          </a:xfrm>
        </p:grpSpPr>
        <p:sp>
          <p:nvSpPr>
            <p:cNvPr id="7" name="Forma 6"/>
            <p:cNvSpPr/>
            <p:nvPr/>
          </p:nvSpPr>
          <p:spPr>
            <a:xfrm>
              <a:off x="365760" y="1252728"/>
              <a:ext cx="11475720" cy="3639312"/>
            </a:xfrm>
            <a:prstGeom prst="rect">
              <a:avLst/>
            </a:prstGeom>
            <a:solidFill>
              <a:srgbClr val="FFFFFF"/>
            </a:solidFill>
            <a:ln w="19050" cap="rnd">
              <a:solidFill>
                <a:srgbClr val="1E1E1E"/>
              </a:solidFill>
              <a:round/>
            </a:ln>
            <a:effectLst>
              <a:outerShdw blurRad="63500" dist="38100" dir="2700000" algn="tl" rotWithShape="0">
                <a:srgbClr val="000000">
                  <a:alpha val="32000"/>
                </a:srgbClr>
              </a:outerShdw>
            </a:effectLst>
          </p:spPr>
          <p:txBody>
            <a:bodyPr wrap="square" lIns="128016" tIns="274320" rIns="128016" bIns="73152" anchor="t" rtlCol="0">
              <a:noAutofit/>
            </a:bodyPr>
            <a:lstStyle/>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Ilustraciones de órganos, células y lipoproteínas: </a:t>
              </a:r>
              <a:r>
                <a:rPr lang="es-AR" sz="1450" b="1" dirty="0">
                  <a:solidFill>
                    <a:srgbClr val="1E1E1E"/>
                  </a:solidFill>
                  <a:latin typeface="Fira Sans Condensed"/>
                  <a:ea typeface="Fira Sans Condensed"/>
                  <a:cs typeface="Fira Sans Condensed"/>
                  <a:sym typeface="Fira Sans Condensed"/>
                </a:rPr>
                <a:t>Servier Medical Art</a:t>
              </a:r>
              <a:r>
                <a:rPr lang="es-AR" sz="1450" dirty="0">
                  <a:solidFill>
                    <a:srgbClr val="1E1E1E"/>
                  </a:solidFill>
                  <a:latin typeface="Fira Sans Condensed"/>
                  <a:ea typeface="Fira Sans Condensed"/>
                  <a:cs typeface="Fira Sans Condensed"/>
                  <a:sym typeface="Fira Sans Condensed"/>
                </a:rPr>
                <a:t> (smart.servier.com), licencia </a:t>
              </a:r>
              <a:r>
                <a:rPr lang="es-AR" sz="1450" b="1" dirty="0">
                  <a:solidFill>
                    <a:srgbClr val="1E1E1E"/>
                  </a:solidFill>
                  <a:latin typeface="Fira Sans Condensed"/>
                  <a:ea typeface="Fira Sans Condensed"/>
                  <a:cs typeface="Fira Sans Condensed"/>
                  <a:sym typeface="Fira Sans Condensed"/>
                </a:rPr>
                <a:t>CC BY 3.0/4.0</a:t>
              </a:r>
              <a:r>
                <a:rPr lang="es-AR" sz="1450" dirty="0">
                  <a:solidFill>
                    <a:srgbClr val="1E1E1E"/>
                  </a:solidFill>
                  <a:latin typeface="Fira Sans Condensed"/>
                  <a:ea typeface="Fira Sans Condensed"/>
                  <a:cs typeface="Fira Sans Condensed"/>
                  <a:sym typeface="Fira Sans Condensed"/>
                </a:rPr>
                <a:t>, obtenidas del repositorio Bioicons; se usan con atribución y sin modificar su contenido.</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Ilustraciones adicionales del repositorio </a:t>
              </a:r>
              <a:r>
                <a:rPr lang="es-AR" sz="1450" b="1" dirty="0">
                  <a:solidFill>
                    <a:srgbClr val="1E1E1E"/>
                  </a:solidFill>
                  <a:latin typeface="Fira Sans Condensed"/>
                  <a:ea typeface="Fira Sans Condensed"/>
                  <a:cs typeface="Fira Sans Condensed"/>
                  <a:sym typeface="Fira Sans Condensed"/>
                </a:rPr>
                <a:t>Bioicons</a:t>
              </a:r>
              <a:r>
                <a:rPr lang="es-AR" sz="1450" dirty="0">
                  <a:solidFill>
                    <a:srgbClr val="1E1E1E"/>
                  </a:solidFill>
                  <a:latin typeface="Fira Sans Condensed"/>
                  <a:ea typeface="Fira Sans Condensed"/>
                  <a:cs typeface="Fira Sans Condensed"/>
                  <a:sym typeface="Fira Sans Condensed"/>
                </a:rPr>
                <a:t>: nefrona 2D (EmilyADaniel, CC0), neurona piramidal (Fabian Mikulasch, CC0), hígado (Jan Clusmann, CC0), silueta de paciente (Marcel Tisch, CC0), cuerpo humano (DBCLS, CC BY 4.0).</a:t>
              </a:r>
              <a:endParaRPr lang="es-AR" sz="1450" dirty="0">
                <a:latin typeface="Fira Sans Condensed"/>
              </a:endParaRPr>
            </a:p>
            <a:p>
              <a:pPr algn="l" marL="138112" indent="-138112">
                <a:spcAft>
                  <a:spcPts val="400"/>
                </a:spcAft>
                <a:buClr>
                  <a:srgbClr val="1E1E1E"/>
                </a:buClr>
                <a:buFont typeface="Arial"/>
                <a:buChar char="•"/>
              </a:pPr>
              <a:r>
                <a:rPr lang="es-AR" sz="1450" b="1" dirty="0">
                  <a:solidFill>
                    <a:srgbClr val="1E1E1E"/>
                  </a:solidFill>
                  <a:latin typeface="Fira Sans Condensed"/>
                  <a:ea typeface="Fira Sans Condensed"/>
                  <a:cs typeface="Fira Sans Condensed"/>
                  <a:sym typeface="Fira Sans Condensed"/>
                </a:rPr>
                <a:t>Modelos moleculares 3D</a:t>
              </a:r>
              <a:r>
                <a:rPr lang="es-AR" sz="1450" dirty="0">
                  <a:solidFill>
                    <a:srgbClr val="1E1E1E"/>
                  </a:solidFill>
                  <a:latin typeface="Fira Sans Condensed"/>
                  <a:ea typeface="Fira Sans Condensed"/>
                  <a:cs typeface="Fira Sans Condensed"/>
                  <a:sym typeface="Fira Sans Condensed"/>
                </a:rPr>
                <a:t>: geometrías calculadas con </a:t>
              </a:r>
              <a:r>
                <a:rPr lang="es-AR" sz="1450" b="1" dirty="0">
                  <a:solidFill>
                    <a:srgbClr val="1E1E1E"/>
                  </a:solidFill>
                  <a:latin typeface="Fira Sans Condensed"/>
                  <a:ea typeface="Fira Sans Condensed"/>
                  <a:cs typeface="Fira Sans Condensed"/>
                  <a:sym typeface="Fira Sans Condensed"/>
                </a:rPr>
                <a:t>RDKit</a:t>
              </a:r>
              <a:r>
                <a:rPr lang="es-AR" sz="1450" dirty="0">
                  <a:solidFill>
                    <a:srgbClr val="1E1E1E"/>
                  </a:solidFill>
                  <a:latin typeface="Fira Sans Condensed"/>
                  <a:ea typeface="Fira Sans Condensed"/>
                  <a:cs typeface="Fira Sans Condensed"/>
                  <a:sym typeface="Fira Sans Condensed"/>
                </a:rPr>
                <a:t> (ETKDG + MMFF) y dibujadas como formas nativas editables (código CPK).</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Insulina: modelo </a:t>
              </a:r>
              <a:r>
                <a:rPr lang="es-AR" sz="1450" b="1" dirty="0">
                  <a:solidFill>
                    <a:srgbClr val="1E1E1E"/>
                  </a:solidFill>
                  <a:latin typeface="Fira Sans Condensed"/>
                  <a:ea typeface="Fira Sans Condensed"/>
                  <a:cs typeface="Fira Sans Condensed"/>
                  <a:sym typeface="Fira Sans Condensed"/>
                </a:rPr>
                <a:t>esquemático</a:t>
              </a:r>
              <a:r>
                <a:rPr lang="es-AR" sz="1450" dirty="0">
                  <a:solidFill>
                    <a:srgbClr val="1E1E1E"/>
                  </a:solidFill>
                  <a:latin typeface="Fira Sans Condensed"/>
                  <a:ea typeface="Fira Sans Condensed"/>
                  <a:cs typeface="Fira Sans Condensed"/>
                  <a:sym typeface="Fira Sans Condensed"/>
                </a:rPr>
                <a:t> de cadenas A/B y puentes disulfuro (no coordenadas cristalográficas).</a:t>
              </a:r>
              <a:endParaRPr lang="es-AR" sz="1450" dirty="0">
                <a:latin typeface="Fira Sans Condensed"/>
              </a:endParaRPr>
            </a:p>
            <a:p>
              <a:pPr algn="l" marL="138112" indent="-138112">
                <a:spcAft>
                  <a:spcPts val="400"/>
                </a:spcAft>
                <a:buClr>
                  <a:srgbClr val="1E1E1E"/>
                </a:buClr>
                <a:buFont typeface="Arial"/>
                <a:buChar char="•"/>
              </a:pPr>
              <a:r>
                <a:rPr lang="es-AR" sz="1450" dirty="0">
                  <a:solidFill>
                    <a:srgbClr val="1E1E1E"/>
                  </a:solidFill>
                  <a:latin typeface="Fira Sans Condensed"/>
                  <a:ea typeface="Fira Sans Condensed"/>
                  <a:cs typeface="Fira Sans Condensed"/>
                  <a:sym typeface="Fira Sans Condensed"/>
                </a:rPr>
                <a:t>Diagramas, mapas, células y animaciones: formas nativas de PowerPoint, totalmente editables.</a:t>
              </a:r>
              <a:endParaRPr lang="es-AR" sz="1450" dirty="0">
                <a:latin typeface="Fira Sans Condensed"/>
              </a:endParaRPr>
            </a:p>
          </p:txBody>
        </p:sp>
        <p:sp>
          <p:nvSpPr>
            <p:cNvPr id="8" name="Forma 7"/>
            <p:cNvSpPr/>
            <p:nvPr/>
          </p:nvSpPr>
          <p:spPr>
            <a:xfrm>
              <a:off x="502920" y="1051560"/>
              <a:ext cx="1500569" cy="384048"/>
            </a:xfrm>
            <a:prstGeom prst="rect">
              <a:avLst/>
            </a:prstGeom>
            <a:solidFill>
              <a:srgbClr val="FFC000"/>
            </a:solidFill>
            <a:ln w="19050" cap="rnd">
              <a:solidFill>
                <a:srgbClr val="1E1E1E"/>
              </a:solidFill>
              <a:round/>
            </a:ln>
          </p:spPr>
          <p:txBody>
            <a:bodyPr wrap="square" lIns="45720" tIns="0" rIns="45720" bIns="0" anchor="ctr" rtlCol="0">
              <a:noAutofit/>
            </a:bodyPr>
            <a:lstStyle/>
            <a:p>
              <a:pPr algn="ctr">
                <a:spcAft>
                  <a:spcPts val="300"/>
                </a:spcAft>
                <a:buNone/>
              </a:pPr>
              <a:r>
                <a:rPr lang="es-AR" sz="1400" b="1" dirty="0">
                  <a:solidFill>
                    <a:srgbClr val="C00000"/>
                  </a:solidFill>
                  <a:latin typeface="Fira Sans Condensed"/>
                  <a:ea typeface="Fira Sans Condensed"/>
                  <a:cs typeface="Fira Sans Condensed"/>
                  <a:sym typeface="Fira Sans Condensed"/>
                </a:rPr>
                <a:t>ATRIBUCIONES</a:t>
              </a:r>
              <a:endParaRPr lang="es-AR" sz="1400" dirty="0">
                <a:latin typeface="Fira Sans Condensed"/>
              </a:endParaRPr>
            </a:p>
          </p:txBody>
        </p:sp>
      </p:grpSp>
      <p:pic>
        <p:nvPicPr>
          <p:cNvPr id="9" name="Imagen pancreas" descr="Ilustración biomédica (Servier Medical Art, CC BY)"/>
          <p:cNvPicPr>
            <a:picLocks noChangeAspect="1"/>
          </p:cNvPicPr>
          <p:nvPr/>
        </p:nvPicPr>
        <p:blipFill>
          <a:blip r:embed="rId2"/>
          <a:stretch>
            <a:fillRect/>
          </a:stretch>
        </p:blipFill>
        <p:spPr>
          <a:xfrm>
            <a:off x="457200" y="5413134"/>
            <a:ext cx="1234440" cy="512293"/>
          </a:xfrm>
          <a:prstGeom prst="rect">
            <a:avLst/>
          </a:prstGeom>
        </p:spPr>
      </p:pic>
      <p:pic>
        <p:nvPicPr>
          <p:cNvPr id="10" name="Imagen healthy_liver" descr="Ilustración biomédica (Servier Medical Art, CC BY)"/>
          <p:cNvPicPr>
            <a:picLocks noChangeAspect="1"/>
          </p:cNvPicPr>
          <p:nvPr/>
        </p:nvPicPr>
        <p:blipFill>
          <a:blip r:embed="rId3"/>
          <a:stretch>
            <a:fillRect/>
          </a:stretch>
        </p:blipFill>
        <p:spPr>
          <a:xfrm>
            <a:off x="1892808" y="5221419"/>
            <a:ext cx="1234440" cy="895722"/>
          </a:xfrm>
          <a:prstGeom prst="rect">
            <a:avLst/>
          </a:prstGeom>
        </p:spPr>
      </p:pic>
      <p:pic>
        <p:nvPicPr>
          <p:cNvPr id="11" name="Imagen adipocyte-1" descr="Ilustración biomédica (Servier Medical Art, CC BY)"/>
          <p:cNvPicPr>
            <a:picLocks noChangeAspect="1"/>
          </p:cNvPicPr>
          <p:nvPr/>
        </p:nvPicPr>
        <p:blipFill>
          <a:blip r:embed="rId4"/>
          <a:stretch>
            <a:fillRect/>
          </a:stretch>
        </p:blipFill>
        <p:spPr>
          <a:xfrm>
            <a:off x="3407577" y="5120640"/>
            <a:ext cx="1076118" cy="1097280"/>
          </a:xfrm>
          <a:prstGeom prst="rect">
            <a:avLst/>
          </a:prstGeom>
        </p:spPr>
      </p:pic>
      <p:pic>
        <p:nvPicPr>
          <p:cNvPr id="12" name="Imagen kidney-2" descr="Ilustración biomédica (Servier Medical Art, CC BY)"/>
          <p:cNvPicPr>
            <a:picLocks noChangeAspect="1"/>
          </p:cNvPicPr>
          <p:nvPr/>
        </p:nvPicPr>
        <p:blipFill>
          <a:blip r:embed="rId5"/>
          <a:stretch>
            <a:fillRect/>
          </a:stretch>
        </p:blipFill>
        <p:spPr>
          <a:xfrm>
            <a:off x="5004250" y="5120640"/>
            <a:ext cx="753988" cy="1097280"/>
          </a:xfrm>
          <a:prstGeom prst="rect">
            <a:avLst/>
          </a:prstGeom>
        </p:spPr>
      </p:pic>
      <p:pic>
        <p:nvPicPr>
          <p:cNvPr id="13" name="Imagen brain-2" descr="Ilustración biomédica (Servier Medical Art, CC BY)"/>
          <p:cNvPicPr>
            <a:picLocks noChangeAspect="1"/>
          </p:cNvPicPr>
          <p:nvPr/>
        </p:nvPicPr>
        <p:blipFill>
          <a:blip r:embed="rId6"/>
          <a:stretch>
            <a:fillRect/>
          </a:stretch>
        </p:blipFill>
        <p:spPr>
          <a:xfrm>
            <a:off x="6279577" y="5120640"/>
            <a:ext cx="1074551" cy="1097280"/>
          </a:xfrm>
          <a:prstGeom prst="rect">
            <a:avLst/>
          </a:prstGeom>
        </p:spPr>
      </p:pic>
      <p:pic>
        <p:nvPicPr>
          <p:cNvPr id="14" name="Imagen heart-front" descr="Ilustración biomédica (Servier Medical Art, CC BY)"/>
          <p:cNvPicPr>
            <a:picLocks noChangeAspect="1"/>
          </p:cNvPicPr>
          <p:nvPr/>
        </p:nvPicPr>
        <p:blipFill>
          <a:blip r:embed="rId7"/>
          <a:stretch>
            <a:fillRect/>
          </a:stretch>
        </p:blipFill>
        <p:spPr>
          <a:xfrm>
            <a:off x="7864885" y="5120640"/>
            <a:ext cx="775150" cy="1097280"/>
          </a:xfrm>
          <a:prstGeom prst="rect">
            <a:avLst/>
          </a:prstGeom>
        </p:spPr>
      </p:pic>
      <p:pic>
        <p:nvPicPr>
          <p:cNvPr id="15" name="Imagen macrophage" descr="Ilustración biomédica (Servier Medical Art, CC BY)"/>
          <p:cNvPicPr>
            <a:picLocks noChangeAspect="1"/>
          </p:cNvPicPr>
          <p:nvPr/>
        </p:nvPicPr>
        <p:blipFill>
          <a:blip r:embed="rId8"/>
          <a:stretch>
            <a:fillRect/>
          </a:stretch>
        </p:blipFill>
        <p:spPr>
          <a:xfrm>
            <a:off x="9181360" y="5120640"/>
            <a:ext cx="1013416" cy="1097280"/>
          </a:xfrm>
          <a:prstGeom prst="rect">
            <a:avLst/>
          </a:prstGeom>
        </p:spPr>
      </p:pic>
      <p:pic>
        <p:nvPicPr>
          <p:cNvPr id="16" name="Imagen ldl-1" descr="Ilustración biomédica (Servier Medical Art, CC BY)"/>
          <p:cNvPicPr>
            <a:picLocks noChangeAspect="1"/>
          </p:cNvPicPr>
          <p:nvPr/>
        </p:nvPicPr>
        <p:blipFill>
          <a:blip r:embed="rId9"/>
          <a:stretch>
            <a:fillRect/>
          </a:stretch>
        </p:blipFill>
        <p:spPr>
          <a:xfrm>
            <a:off x="10506456" y="5123922"/>
            <a:ext cx="1234440" cy="1090716"/>
          </a:xfrm>
          <a:prstGeom prst="rect">
            <a:avLst/>
          </a:prstGeom>
        </p:spPr>
      </p:pic>
      <p:sp>
        <p:nvSpPr>
          <p:cNvPr id="4" name="Título"/>
          <p:cNvSpPr txBox="1"/>
          <p:nvPr/>
        </p:nvSpPr>
        <p:spPr>
          <a:xfrm>
            <a:off x="320040" y="91440"/>
            <a:ext cx="11551615" cy="67106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3400" dirty="0">
                <a:solidFill>
                  <a:srgbClr val="1E1E1E"/>
                </a:solidFill>
                <a:effectLst>
                  <a:glow rad="101600">
                    <a:srgbClr val="FFFFFF">
                      <a:alpha val="70000"/>
                    </a:srgbClr>
                  </a:glow>
                </a:effectLst>
                <a:latin typeface="Permanent Marker"/>
                <a:ea typeface="Permanent Marker"/>
                <a:cs typeface="Permanent Marker"/>
                <a:sym typeface="Permanent Marker"/>
              </a:rPr>
              <a:t>CRÉDITOS DE ILUSTRACIONES Y MODELOS</a:t>
            </a:r>
            <a:endParaRPr lang="es-AR" sz="3400" dirty="0">
              <a:latin typeface="Permanent Marker"/>
            </a:endParaRPr>
          </a:p>
        </p:txBody>
      </p:sp>
      <p:sp>
        <p:nvSpPr>
          <p:cNvPr id="5" name="Etiqueta sección"/>
          <p:cNvSpPr/>
          <p:nvPr/>
        </p:nvSpPr>
        <p:spPr>
          <a:xfrm>
            <a:off x="164592" y="6510528"/>
            <a:ext cx="1472360" cy="237744"/>
          </a:xfrm>
          <a:prstGeom prst="rect">
            <a:avLst/>
          </a:prstGeom>
          <a:solidFill>
            <a:srgbClr val="FFC000"/>
          </a:solidFill>
          <a:ln w="12700" cap="rnd">
            <a:solidFill>
              <a:srgbClr val="1E1E1E"/>
            </a:solidFill>
            <a:round/>
          </a:ln>
        </p:spPr>
        <p:txBody>
          <a:bodyPr wrap="square" lIns="27432" tIns="0" rIns="27432" bIns="0" anchor="ctr" rtlCol="0">
            <a:noAutofit/>
          </a:bodyPr>
          <a:lstStyle/>
          <a:p>
            <a:pPr algn="ctr">
              <a:spcAft>
                <a:spcPts val="300"/>
              </a:spcAft>
              <a:buNone/>
            </a:pPr>
            <a:r>
              <a:rPr lang="es-AR" sz="950" b="1" dirty="0">
                <a:solidFill>
                  <a:srgbClr val="1E1E1E"/>
                </a:solidFill>
                <a:latin typeface="Fira Sans Condensed"/>
                <a:ea typeface="Fira Sans Condensed"/>
                <a:cs typeface="Fira Sans Condensed"/>
                <a:sym typeface="Fira Sans Condensed"/>
              </a:rPr>
              <a:t>CIERRE E INTEGRACIÓN</a:t>
            </a:r>
            <a:endParaRPr lang="es-AR" sz="950" dirty="0">
              <a:latin typeface="Fira Sans Condensed"/>
            </a:endParaRPr>
          </a:p>
        </p:txBody>
      </p:sp>
      <p:sp>
        <p:nvSpPr>
          <p:cNvPr id="17"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245</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ndo 1"/>
          <p:cNvSpPr/>
          <p:nvPr/>
        </p:nvSpPr>
        <p:spPr>
          <a:xfrm>
            <a:off x="0" y="0"/>
            <a:ext cx="2316422" cy="6858000"/>
          </a:xfrm>
          <a:prstGeom prst="rect">
            <a:avLst/>
          </a:prstGeom>
          <a:solidFill>
            <a:srgbClr val="00B0F0"/>
          </a:solidFill>
          <a:ln>
            <a:noFill/>
          </a:ln>
        </p:spPr>
      </p:sp>
      <p:sp>
        <p:nvSpPr>
          <p:cNvPr id="3" name="!!Fondo 2"/>
          <p:cNvSpPr/>
          <p:nvPr/>
        </p:nvSpPr>
        <p:spPr>
          <a:xfrm>
            <a:off x="2316422" y="0"/>
            <a:ext cx="7436934" cy="6858000"/>
          </a:xfrm>
          <a:prstGeom prst="rect">
            <a:avLst/>
          </a:prstGeom>
          <a:solidFill>
            <a:srgbClr val="FFFFFF"/>
          </a:solidFill>
          <a:ln>
            <a:noFill/>
          </a:ln>
        </p:spPr>
      </p:sp>
      <p:sp>
        <p:nvSpPr>
          <p:cNvPr id="4" name="!!Fondo 3"/>
          <p:cNvSpPr/>
          <p:nvPr/>
        </p:nvSpPr>
        <p:spPr>
          <a:xfrm>
            <a:off x="9753356" y="0"/>
            <a:ext cx="2438339" cy="6858000"/>
          </a:xfrm>
          <a:prstGeom prst="rect">
            <a:avLst/>
          </a:prstGeom>
          <a:solidFill>
            <a:srgbClr val="C00000"/>
          </a:solidFill>
          <a:ln>
            <a:noFill/>
          </a:ln>
        </p:spPr>
      </p:sp>
      <p:grpSp>
        <p:nvGrpSpPr>
          <p:cNvPr id="5" name="Glc cierre"/>
          <p:cNvGrpSpPr/>
          <p:nvPr/>
        </p:nvGrpSpPr>
        <p:grpSpPr>
          <a:xfrm>
            <a:off x="2436087" y="609002"/>
            <a:ext cx="2071619" cy="1657739"/>
            <a:chOff x="2436087" y="609002"/>
            <a:chExt cx="2071619" cy="1657739"/>
          </a:xfrm>
        </p:grpSpPr>
        <p:sp>
          <p:nvSpPr>
            <p:cNvPr id="6" name="Átomo H"/>
            <p:cNvSpPr/>
            <p:nvPr/>
          </p:nvSpPr>
          <p:spPr>
            <a:xfrm>
              <a:off x="3800027" y="1434957"/>
              <a:ext cx="138359" cy="138359"/>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7" name="Átomo H_2"/>
            <p:cNvSpPr/>
            <p:nvPr/>
          </p:nvSpPr>
          <p:spPr>
            <a:xfrm>
              <a:off x="4013070" y="801614"/>
              <a:ext cx="139166" cy="13916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8" name="Flecha 7_2"/>
            <p:cNvSpPr/>
            <p:nvPr/>
          </p:nvSpPr>
          <p:spPr>
            <a:xfrm>
              <a:off x="4082653" y="871197"/>
              <a:ext cx="198980" cy="110498"/>
            </a:xfrm>
            <a:custGeom>
              <a:avLst/>
              <a:gdLst/>
              <a:ahLst/>
              <a:cxnLst/>
              <a:rect l="0" t="0" r="r" b="b"/>
              <a:pathLst>
                <a:path w="217" h="120" fill="none">
                  <a:moveTo>
                    <a:pt x="217" y="120"/>
                  </a:moveTo>
                  <a:lnTo>
                    <a:pt x="0" y="0"/>
                  </a:lnTo>
                </a:path>
              </a:pathLst>
            </a:custGeom>
            <a:noFill/>
            <a:ln w="35328" cap="rnd">
              <a:solidFill>
                <a:srgbClr val="9A9A9A"/>
              </a:solidFill>
              <a:round/>
            </a:ln>
          </p:spPr>
        </p:sp>
        <p:sp>
          <p:nvSpPr>
            <p:cNvPr id="9" name="Flecha 9_2"/>
            <p:cNvSpPr/>
            <p:nvPr/>
          </p:nvSpPr>
          <p:spPr>
            <a:xfrm>
              <a:off x="3869207" y="1504137"/>
              <a:ext cx="67438" cy="57618"/>
            </a:xfrm>
            <a:custGeom>
              <a:avLst/>
              <a:gdLst/>
              <a:ahLst/>
              <a:cxnLst/>
              <a:rect l="0" t="0" r="r" b="b"/>
              <a:pathLst>
                <a:path w="73" h="63" fill="none">
                  <a:moveTo>
                    <a:pt x="73" y="63"/>
                  </a:moveTo>
                  <a:lnTo>
                    <a:pt x="0" y="0"/>
                  </a:lnTo>
                </a:path>
              </a:pathLst>
            </a:custGeom>
            <a:noFill/>
            <a:ln w="35328" cap="rnd">
              <a:solidFill>
                <a:srgbClr val="9A9A9A"/>
              </a:solidFill>
              <a:round/>
            </a:ln>
          </p:spPr>
        </p:sp>
        <p:sp>
          <p:nvSpPr>
            <p:cNvPr id="10" name="Átomo H_3"/>
            <p:cNvSpPr/>
            <p:nvPr/>
          </p:nvSpPr>
          <p:spPr>
            <a:xfrm>
              <a:off x="4366975" y="1678871"/>
              <a:ext cx="140732" cy="14073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 name="Átomo H_4"/>
            <p:cNvSpPr/>
            <p:nvPr/>
          </p:nvSpPr>
          <p:spPr>
            <a:xfrm>
              <a:off x="3066450" y="1333427"/>
              <a:ext cx="141358" cy="14135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2" name="Átomo O"/>
            <p:cNvSpPr/>
            <p:nvPr/>
          </p:nvSpPr>
          <p:spPr>
            <a:xfrm>
              <a:off x="4170505" y="870566"/>
              <a:ext cx="222258" cy="222258"/>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3" name="Flecha 14_2"/>
            <p:cNvSpPr/>
            <p:nvPr/>
          </p:nvSpPr>
          <p:spPr>
            <a:xfrm>
              <a:off x="4216081" y="1749237"/>
              <a:ext cx="221259" cy="108413"/>
            </a:xfrm>
            <a:custGeom>
              <a:avLst/>
              <a:gdLst/>
              <a:ahLst/>
              <a:cxnLst/>
              <a:rect l="0" t="0" r="r" b="b"/>
              <a:pathLst>
                <a:path w="241" h="118" fill="none">
                  <a:moveTo>
                    <a:pt x="0" y="118"/>
                  </a:moveTo>
                  <a:lnTo>
                    <a:pt x="241" y="0"/>
                  </a:lnTo>
                </a:path>
              </a:pathLst>
            </a:custGeom>
            <a:noFill/>
            <a:ln w="35328" cap="rnd">
              <a:solidFill>
                <a:srgbClr val="9A9A9A"/>
              </a:solidFill>
              <a:round/>
            </a:ln>
          </p:spPr>
        </p:sp>
        <p:sp>
          <p:nvSpPr>
            <p:cNvPr id="14" name="Átomo H_5"/>
            <p:cNvSpPr/>
            <p:nvPr/>
          </p:nvSpPr>
          <p:spPr>
            <a:xfrm>
              <a:off x="3607540" y="2124247"/>
              <a:ext cx="142493" cy="14249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5" name="Átomo O_2"/>
            <p:cNvSpPr/>
            <p:nvPr/>
          </p:nvSpPr>
          <p:spPr>
            <a:xfrm>
              <a:off x="4104095" y="1745664"/>
              <a:ext cx="223972" cy="22397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6" name="Flecha 18_2"/>
            <p:cNvSpPr/>
            <p:nvPr/>
          </p:nvSpPr>
          <p:spPr>
            <a:xfrm>
              <a:off x="3936645" y="1561755"/>
              <a:ext cx="279437" cy="295895"/>
            </a:xfrm>
            <a:custGeom>
              <a:avLst/>
              <a:gdLst/>
              <a:ahLst/>
              <a:cxnLst/>
              <a:rect l="0" t="0" r="r" b="b"/>
              <a:pathLst>
                <a:path w="305" h="323" fill="none">
                  <a:moveTo>
                    <a:pt x="0" y="0"/>
                  </a:moveTo>
                  <a:lnTo>
                    <a:pt x="305" y="323"/>
                  </a:lnTo>
                </a:path>
              </a:pathLst>
            </a:custGeom>
            <a:noFill/>
            <a:ln w="35328" cap="rnd">
              <a:solidFill>
                <a:srgbClr val="9A9A9A"/>
              </a:solidFill>
              <a:round/>
            </a:ln>
          </p:spPr>
        </p:sp>
        <p:sp>
          <p:nvSpPr>
            <p:cNvPr id="17" name="Átomo C"/>
            <p:cNvSpPr/>
            <p:nvPr/>
          </p:nvSpPr>
          <p:spPr>
            <a:xfrm>
              <a:off x="3817764" y="1442874"/>
              <a:ext cx="237762" cy="2377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8" name="Flecha 21_2"/>
            <p:cNvSpPr/>
            <p:nvPr/>
          </p:nvSpPr>
          <p:spPr>
            <a:xfrm>
              <a:off x="3451311" y="2043588"/>
              <a:ext cx="227476" cy="151906"/>
            </a:xfrm>
            <a:custGeom>
              <a:avLst/>
              <a:gdLst/>
              <a:ahLst/>
              <a:cxnLst/>
              <a:rect l="0" t="0" r="r" b="b"/>
              <a:pathLst>
                <a:path w="248" h="166" fill="none">
                  <a:moveTo>
                    <a:pt x="0" y="0"/>
                  </a:moveTo>
                  <a:lnTo>
                    <a:pt x="248" y="166"/>
                  </a:lnTo>
                </a:path>
              </a:pathLst>
            </a:custGeom>
            <a:noFill/>
            <a:ln w="35328" cap="rnd">
              <a:solidFill>
                <a:srgbClr val="9A9A9A"/>
              </a:solidFill>
              <a:round/>
            </a:ln>
          </p:spPr>
        </p:sp>
        <p:sp>
          <p:nvSpPr>
            <p:cNvPr id="19" name="Átomo O_3"/>
            <p:cNvSpPr/>
            <p:nvPr/>
          </p:nvSpPr>
          <p:spPr>
            <a:xfrm>
              <a:off x="3338864" y="1931141"/>
              <a:ext cx="224894" cy="22489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20" name="Flecha 24_2"/>
            <p:cNvSpPr/>
            <p:nvPr/>
          </p:nvSpPr>
          <p:spPr>
            <a:xfrm>
              <a:off x="3137129" y="1390567"/>
              <a:ext cx="142178" cy="13539"/>
            </a:xfrm>
            <a:custGeom>
              <a:avLst/>
              <a:gdLst/>
              <a:ahLst/>
              <a:cxnLst/>
              <a:rect l="0" t="0" r="r" b="b"/>
              <a:pathLst>
                <a:path w="155" h="14" fill="none">
                  <a:moveTo>
                    <a:pt x="155" y="0"/>
                  </a:moveTo>
                  <a:lnTo>
                    <a:pt x="0" y="14"/>
                  </a:lnTo>
                </a:path>
              </a:pathLst>
            </a:custGeom>
            <a:noFill/>
            <a:ln w="35328" cap="rnd">
              <a:solidFill>
                <a:srgbClr val="9A9A9A"/>
              </a:solidFill>
              <a:round/>
            </a:ln>
          </p:spPr>
        </p:sp>
        <p:sp>
          <p:nvSpPr>
            <p:cNvPr id="21" name="Flecha 26_2"/>
            <p:cNvSpPr/>
            <p:nvPr/>
          </p:nvSpPr>
          <p:spPr>
            <a:xfrm>
              <a:off x="4097551" y="981695"/>
              <a:ext cx="184082" cy="227478"/>
            </a:xfrm>
            <a:custGeom>
              <a:avLst/>
              <a:gdLst/>
              <a:ahLst/>
              <a:cxnLst/>
              <a:rect l="0" t="0" r="r" b="b"/>
              <a:pathLst>
                <a:path w="201" h="248" fill="none">
                  <a:moveTo>
                    <a:pt x="0" y="248"/>
                  </a:moveTo>
                  <a:lnTo>
                    <a:pt x="201" y="0"/>
                  </a:lnTo>
                </a:path>
              </a:pathLst>
            </a:custGeom>
            <a:noFill/>
            <a:ln w="35328" cap="rnd">
              <a:solidFill>
                <a:srgbClr val="9A9A9A"/>
              </a:solidFill>
              <a:round/>
            </a:ln>
          </p:spPr>
        </p:sp>
        <p:sp>
          <p:nvSpPr>
            <p:cNvPr id="22" name="Flecha 28_2"/>
            <p:cNvSpPr/>
            <p:nvPr/>
          </p:nvSpPr>
          <p:spPr>
            <a:xfrm>
              <a:off x="3936645" y="1209174"/>
              <a:ext cx="160907" cy="352581"/>
            </a:xfrm>
            <a:custGeom>
              <a:avLst/>
              <a:gdLst/>
              <a:ahLst/>
              <a:cxnLst/>
              <a:rect l="0" t="0" r="r" b="b"/>
              <a:pathLst>
                <a:path w="175" h="385" fill="none">
                  <a:moveTo>
                    <a:pt x="175" y="0"/>
                  </a:moveTo>
                  <a:lnTo>
                    <a:pt x="0" y="385"/>
                  </a:lnTo>
                </a:path>
              </a:pathLst>
            </a:custGeom>
            <a:noFill/>
            <a:ln w="35328" cap="rnd">
              <a:solidFill>
                <a:srgbClr val="9A9A9A"/>
              </a:solidFill>
              <a:round/>
            </a:ln>
          </p:spPr>
        </p:sp>
        <p:sp>
          <p:nvSpPr>
            <p:cNvPr id="23" name="Flecha 30_2"/>
            <p:cNvSpPr/>
            <p:nvPr/>
          </p:nvSpPr>
          <p:spPr>
            <a:xfrm>
              <a:off x="3583184" y="1561755"/>
              <a:ext cx="353460" cy="140686"/>
            </a:xfrm>
            <a:custGeom>
              <a:avLst/>
              <a:gdLst/>
              <a:ahLst/>
              <a:cxnLst/>
              <a:rect l="0" t="0" r="r" b="b"/>
              <a:pathLst>
                <a:path w="386" h="153" fill="none">
                  <a:moveTo>
                    <a:pt x="386" y="0"/>
                  </a:moveTo>
                  <a:lnTo>
                    <a:pt x="0" y="153"/>
                  </a:lnTo>
                </a:path>
              </a:pathLst>
            </a:custGeom>
            <a:noFill/>
            <a:ln w="35328" cap="rnd">
              <a:solidFill>
                <a:srgbClr val="9A9A9A"/>
              </a:solidFill>
              <a:round/>
            </a:ln>
          </p:spPr>
        </p:sp>
        <p:sp>
          <p:nvSpPr>
            <p:cNvPr id="24" name="Flecha 32_2"/>
            <p:cNvSpPr/>
            <p:nvPr/>
          </p:nvSpPr>
          <p:spPr>
            <a:xfrm>
              <a:off x="3451311" y="1702441"/>
              <a:ext cx="131873" cy="341147"/>
            </a:xfrm>
            <a:custGeom>
              <a:avLst/>
              <a:gdLst/>
              <a:ahLst/>
              <a:cxnLst/>
              <a:rect l="0" t="0" r="r" b="b"/>
              <a:pathLst>
                <a:path w="144" h="373" fill="none">
                  <a:moveTo>
                    <a:pt x="144" y="0"/>
                  </a:moveTo>
                  <a:lnTo>
                    <a:pt x="0" y="373"/>
                  </a:lnTo>
                </a:path>
              </a:pathLst>
            </a:custGeom>
            <a:noFill/>
            <a:ln w="35328" cap="rnd">
              <a:solidFill>
                <a:srgbClr val="9A9A9A"/>
              </a:solidFill>
              <a:round/>
            </a:ln>
          </p:spPr>
        </p:sp>
        <p:sp>
          <p:nvSpPr>
            <p:cNvPr id="25" name="Átomo C_2"/>
            <p:cNvSpPr/>
            <p:nvPr/>
          </p:nvSpPr>
          <p:spPr>
            <a:xfrm>
              <a:off x="3158184" y="1269444"/>
              <a:ext cx="242245" cy="24224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6" name="Flecha 35_2"/>
            <p:cNvSpPr/>
            <p:nvPr/>
          </p:nvSpPr>
          <p:spPr>
            <a:xfrm>
              <a:off x="3279307" y="1390567"/>
              <a:ext cx="303878" cy="311874"/>
            </a:xfrm>
            <a:custGeom>
              <a:avLst/>
              <a:gdLst/>
              <a:ahLst/>
              <a:cxnLst/>
              <a:rect l="0" t="0" r="r" b="b"/>
              <a:pathLst>
                <a:path w="332" h="341" fill="none">
                  <a:moveTo>
                    <a:pt x="332" y="341"/>
                  </a:moveTo>
                  <a:lnTo>
                    <a:pt x="0" y="0"/>
                  </a:lnTo>
                </a:path>
              </a:pathLst>
            </a:custGeom>
            <a:noFill/>
            <a:ln w="35328" cap="rnd">
              <a:solidFill>
                <a:srgbClr val="9A9A9A"/>
              </a:solidFill>
              <a:round/>
            </a:ln>
          </p:spPr>
        </p:sp>
        <p:sp>
          <p:nvSpPr>
            <p:cNvPr id="27" name="Flecha 37_2"/>
            <p:cNvSpPr/>
            <p:nvPr/>
          </p:nvSpPr>
          <p:spPr>
            <a:xfrm>
              <a:off x="3279307" y="1012257"/>
              <a:ext cx="155597" cy="378310"/>
            </a:xfrm>
            <a:custGeom>
              <a:avLst/>
              <a:gdLst/>
              <a:ahLst/>
              <a:cxnLst/>
              <a:rect l="0" t="0" r="r" b="b"/>
              <a:pathLst>
                <a:path w="170" h="413" fill="none">
                  <a:moveTo>
                    <a:pt x="0" y="413"/>
                  </a:moveTo>
                  <a:lnTo>
                    <a:pt x="170" y="0"/>
                  </a:lnTo>
                </a:path>
              </a:pathLst>
            </a:custGeom>
            <a:noFill/>
            <a:ln w="35328" cap="rnd">
              <a:solidFill>
                <a:srgbClr val="9A9A9A"/>
              </a:solidFill>
              <a:round/>
            </a:ln>
          </p:spPr>
        </p:sp>
        <p:sp>
          <p:nvSpPr>
            <p:cNvPr id="28" name="Átomo C_3"/>
            <p:cNvSpPr/>
            <p:nvPr/>
          </p:nvSpPr>
          <p:spPr>
            <a:xfrm>
              <a:off x="3976299" y="1087921"/>
              <a:ext cx="242506" cy="24250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29" name="Átomo C_4"/>
            <p:cNvSpPr/>
            <p:nvPr/>
          </p:nvSpPr>
          <p:spPr>
            <a:xfrm>
              <a:off x="3461838" y="1581095"/>
              <a:ext cx="242693" cy="24269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0" name="Átomo O_4"/>
            <p:cNvSpPr/>
            <p:nvPr/>
          </p:nvSpPr>
          <p:spPr>
            <a:xfrm>
              <a:off x="3320467" y="897820"/>
              <a:ext cx="228874" cy="228874"/>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31" name="Flecha 42_2"/>
            <p:cNvSpPr/>
            <p:nvPr/>
          </p:nvSpPr>
          <p:spPr>
            <a:xfrm>
              <a:off x="4097551" y="1209174"/>
              <a:ext cx="220605" cy="82746"/>
            </a:xfrm>
            <a:custGeom>
              <a:avLst/>
              <a:gdLst/>
              <a:ahLst/>
              <a:cxnLst/>
              <a:rect l="0" t="0" r="r" b="b"/>
              <a:pathLst>
                <a:path w="241" h="90" fill="none">
                  <a:moveTo>
                    <a:pt x="0" y="0"/>
                  </a:moveTo>
                  <a:lnTo>
                    <a:pt x="241" y="90"/>
                  </a:lnTo>
                </a:path>
              </a:pathLst>
            </a:custGeom>
            <a:noFill/>
            <a:ln w="35328" cap="rnd">
              <a:solidFill>
                <a:srgbClr val="9A9A9A"/>
              </a:solidFill>
              <a:round/>
            </a:ln>
          </p:spPr>
        </p:sp>
        <p:sp>
          <p:nvSpPr>
            <p:cNvPr id="32" name="Flecha 44_2"/>
            <p:cNvSpPr/>
            <p:nvPr/>
          </p:nvSpPr>
          <p:spPr>
            <a:xfrm>
              <a:off x="3785071" y="984960"/>
              <a:ext cx="312481" cy="224214"/>
            </a:xfrm>
            <a:custGeom>
              <a:avLst/>
              <a:gdLst/>
              <a:ahLst/>
              <a:cxnLst/>
              <a:rect l="0" t="0" r="r" b="b"/>
              <a:pathLst>
                <a:path w="341" h="245" fill="none">
                  <a:moveTo>
                    <a:pt x="0" y="0"/>
                  </a:moveTo>
                  <a:lnTo>
                    <a:pt x="341" y="245"/>
                  </a:lnTo>
                </a:path>
              </a:pathLst>
            </a:custGeom>
            <a:noFill/>
            <a:ln w="35328" cap="rnd">
              <a:solidFill>
                <a:srgbClr val="9A9A9A"/>
              </a:solidFill>
              <a:round/>
            </a:ln>
          </p:spPr>
        </p:sp>
        <p:sp>
          <p:nvSpPr>
            <p:cNvPr id="33" name="Flecha 46_2"/>
            <p:cNvSpPr/>
            <p:nvPr/>
          </p:nvSpPr>
          <p:spPr>
            <a:xfrm>
              <a:off x="3434904" y="984960"/>
              <a:ext cx="350167" cy="27297"/>
            </a:xfrm>
            <a:custGeom>
              <a:avLst/>
              <a:gdLst/>
              <a:ahLst/>
              <a:cxnLst/>
              <a:rect l="0" t="0" r="r" b="b"/>
              <a:pathLst>
                <a:path w="382" h="29" fill="none">
                  <a:moveTo>
                    <a:pt x="0" y="29"/>
                  </a:moveTo>
                  <a:lnTo>
                    <a:pt x="382" y="0"/>
                  </a:lnTo>
                </a:path>
              </a:pathLst>
            </a:custGeom>
            <a:noFill/>
            <a:ln w="35328" cap="rnd">
              <a:solidFill>
                <a:srgbClr val="9A9A9A"/>
              </a:solidFill>
              <a:round/>
            </a:ln>
          </p:spPr>
        </p:sp>
        <p:sp>
          <p:nvSpPr>
            <p:cNvPr id="34" name="Flecha 48_2"/>
            <p:cNvSpPr/>
            <p:nvPr/>
          </p:nvSpPr>
          <p:spPr>
            <a:xfrm>
              <a:off x="2974309" y="1390567"/>
              <a:ext cx="304998" cy="57494"/>
            </a:xfrm>
            <a:custGeom>
              <a:avLst/>
              <a:gdLst/>
              <a:ahLst/>
              <a:cxnLst/>
              <a:rect l="0" t="0" r="r" b="b"/>
              <a:pathLst>
                <a:path w="333" h="62" fill="none">
                  <a:moveTo>
                    <a:pt x="0" y="62"/>
                  </a:moveTo>
                  <a:lnTo>
                    <a:pt x="333" y="0"/>
                  </a:lnTo>
                </a:path>
              </a:pathLst>
            </a:custGeom>
            <a:noFill/>
            <a:ln w="35328" cap="rnd">
              <a:solidFill>
                <a:srgbClr val="9A9A9A"/>
              </a:solidFill>
              <a:round/>
            </a:ln>
          </p:spPr>
        </p:sp>
        <p:sp>
          <p:nvSpPr>
            <p:cNvPr id="35" name="Flecha 50_2"/>
            <p:cNvSpPr/>
            <p:nvPr/>
          </p:nvSpPr>
          <p:spPr>
            <a:xfrm>
              <a:off x="3583184" y="1702441"/>
              <a:ext cx="70604" cy="72391"/>
            </a:xfrm>
            <a:custGeom>
              <a:avLst/>
              <a:gdLst/>
              <a:ahLst/>
              <a:cxnLst/>
              <a:rect l="0" t="0" r="r" b="b"/>
              <a:pathLst>
                <a:path w="77" h="79" fill="none">
                  <a:moveTo>
                    <a:pt x="0" y="0"/>
                  </a:moveTo>
                  <a:lnTo>
                    <a:pt x="77" y="79"/>
                  </a:lnTo>
                </a:path>
              </a:pathLst>
            </a:custGeom>
            <a:noFill/>
            <a:ln w="35328" cap="rnd">
              <a:solidFill>
                <a:srgbClr val="9A9A9A"/>
              </a:solidFill>
              <a:round/>
            </a:ln>
          </p:spPr>
        </p:sp>
        <p:sp>
          <p:nvSpPr>
            <p:cNvPr id="36" name="Átomo H_6"/>
            <p:cNvSpPr/>
            <p:nvPr/>
          </p:nvSpPr>
          <p:spPr>
            <a:xfrm>
              <a:off x="4243948" y="1217710"/>
              <a:ext cx="148418" cy="148418"/>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37" name="Átomo C_5"/>
            <p:cNvSpPr/>
            <p:nvPr/>
          </p:nvSpPr>
          <p:spPr>
            <a:xfrm>
              <a:off x="3661328" y="861217"/>
              <a:ext cx="247485" cy="2474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38" name="Flecha 54_2"/>
            <p:cNvSpPr/>
            <p:nvPr/>
          </p:nvSpPr>
          <p:spPr>
            <a:xfrm>
              <a:off x="3785071" y="683299"/>
              <a:ext cx="72054" cy="301660"/>
            </a:xfrm>
            <a:custGeom>
              <a:avLst/>
              <a:gdLst/>
              <a:ahLst/>
              <a:cxnLst/>
              <a:rect l="0" t="0" r="r" b="b"/>
              <a:pathLst>
                <a:path w="78" h="329" fill="none">
                  <a:moveTo>
                    <a:pt x="0" y="329"/>
                  </a:moveTo>
                  <a:lnTo>
                    <a:pt x="78" y="0"/>
                  </a:lnTo>
                </a:path>
              </a:pathLst>
            </a:custGeom>
            <a:noFill/>
            <a:ln w="35328" cap="rnd">
              <a:solidFill>
                <a:srgbClr val="9A9A9A"/>
              </a:solidFill>
              <a:round/>
            </a:ln>
          </p:spPr>
        </p:sp>
        <p:sp>
          <p:nvSpPr>
            <p:cNvPr id="39" name="Átomo H_7"/>
            <p:cNvSpPr/>
            <p:nvPr/>
          </p:nvSpPr>
          <p:spPr>
            <a:xfrm>
              <a:off x="3782827" y="609002"/>
              <a:ext cx="148595" cy="14859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0" name="Átomo O_5"/>
            <p:cNvSpPr/>
            <p:nvPr/>
          </p:nvSpPr>
          <p:spPr>
            <a:xfrm>
              <a:off x="2536650" y="1096987"/>
              <a:ext cx="233557" cy="23355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41" name="Flecha 58_2"/>
            <p:cNvSpPr/>
            <p:nvPr/>
          </p:nvSpPr>
          <p:spPr>
            <a:xfrm>
              <a:off x="2653429" y="1213766"/>
              <a:ext cx="320880" cy="234295"/>
            </a:xfrm>
            <a:custGeom>
              <a:avLst/>
              <a:gdLst/>
              <a:ahLst/>
              <a:cxnLst/>
              <a:rect l="0" t="0" r="r" b="b"/>
              <a:pathLst>
                <a:path w="350" h="256" fill="none">
                  <a:moveTo>
                    <a:pt x="0" y="0"/>
                  </a:moveTo>
                  <a:lnTo>
                    <a:pt x="350" y="256"/>
                  </a:lnTo>
                </a:path>
              </a:pathLst>
            </a:custGeom>
            <a:noFill/>
            <a:ln w="35328" cap="rnd">
              <a:solidFill>
                <a:srgbClr val="9A9A9A"/>
              </a:solidFill>
              <a:round/>
            </a:ln>
          </p:spPr>
        </p:sp>
        <p:sp>
          <p:nvSpPr>
            <p:cNvPr id="42" name="Flecha 60_2"/>
            <p:cNvSpPr/>
            <p:nvPr/>
          </p:nvSpPr>
          <p:spPr>
            <a:xfrm>
              <a:off x="2875893" y="1448061"/>
              <a:ext cx="98416" cy="293073"/>
            </a:xfrm>
            <a:custGeom>
              <a:avLst/>
              <a:gdLst/>
              <a:ahLst/>
              <a:cxnLst/>
              <a:rect l="0" t="0" r="r" b="b"/>
              <a:pathLst>
                <a:path w="107" h="320" fill="none">
                  <a:moveTo>
                    <a:pt x="107" y="0"/>
                  </a:moveTo>
                  <a:lnTo>
                    <a:pt x="0" y="320"/>
                  </a:lnTo>
                </a:path>
              </a:pathLst>
            </a:custGeom>
            <a:noFill/>
            <a:ln w="35328" cap="rnd">
              <a:solidFill>
                <a:srgbClr val="9A9A9A"/>
              </a:solidFill>
              <a:round/>
            </a:ln>
          </p:spPr>
        </p:sp>
        <p:sp>
          <p:nvSpPr>
            <p:cNvPr id="43" name="Átomo C_6"/>
            <p:cNvSpPr/>
            <p:nvPr/>
          </p:nvSpPr>
          <p:spPr>
            <a:xfrm>
              <a:off x="2849521" y="1323273"/>
              <a:ext cx="249575" cy="24957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44" name="Átomo H_8"/>
            <p:cNvSpPr/>
            <p:nvPr/>
          </p:nvSpPr>
          <p:spPr>
            <a:xfrm>
              <a:off x="2800982" y="1666223"/>
              <a:ext cx="149821" cy="14982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5" name="Átomo H_9"/>
            <p:cNvSpPr/>
            <p:nvPr/>
          </p:nvSpPr>
          <p:spPr>
            <a:xfrm>
              <a:off x="3578865" y="1699909"/>
              <a:ext cx="149847" cy="1498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46" name="Flecha 65_2"/>
            <p:cNvSpPr/>
            <p:nvPr/>
          </p:nvSpPr>
          <p:spPr>
            <a:xfrm>
              <a:off x="2512099" y="1190966"/>
              <a:ext cx="141329" cy="22800"/>
            </a:xfrm>
            <a:custGeom>
              <a:avLst/>
              <a:gdLst/>
              <a:ahLst/>
              <a:cxnLst/>
              <a:rect l="0" t="0" r="r" b="b"/>
              <a:pathLst>
                <a:path w="154" h="24" fill="none">
                  <a:moveTo>
                    <a:pt x="154" y="24"/>
                  </a:moveTo>
                  <a:lnTo>
                    <a:pt x="0" y="0"/>
                  </a:lnTo>
                </a:path>
              </a:pathLst>
            </a:custGeom>
            <a:noFill/>
            <a:ln w="35328" cap="rnd">
              <a:solidFill>
                <a:srgbClr val="9A9A9A"/>
              </a:solidFill>
              <a:round/>
            </a:ln>
          </p:spPr>
        </p:sp>
        <p:sp>
          <p:nvSpPr>
            <p:cNvPr id="47" name="Flecha 67_2"/>
            <p:cNvSpPr/>
            <p:nvPr/>
          </p:nvSpPr>
          <p:spPr>
            <a:xfrm>
              <a:off x="3744973" y="984960"/>
              <a:ext cx="40098" cy="124220"/>
            </a:xfrm>
            <a:custGeom>
              <a:avLst/>
              <a:gdLst/>
              <a:ahLst/>
              <a:cxnLst/>
              <a:rect l="0" t="0" r="r" b="b"/>
              <a:pathLst>
                <a:path w="43" h="135" fill="none">
                  <a:moveTo>
                    <a:pt x="43" y="0"/>
                  </a:moveTo>
                  <a:lnTo>
                    <a:pt x="0" y="135"/>
                  </a:lnTo>
                </a:path>
              </a:pathLst>
            </a:custGeom>
            <a:noFill/>
            <a:ln w="35328" cap="rnd">
              <a:solidFill>
                <a:srgbClr val="9A9A9A"/>
              </a:solidFill>
              <a:round/>
            </a:ln>
          </p:spPr>
        </p:sp>
        <p:sp>
          <p:nvSpPr>
            <p:cNvPr id="48" name="Flecha 69_2"/>
            <p:cNvSpPr/>
            <p:nvPr/>
          </p:nvSpPr>
          <p:spPr>
            <a:xfrm>
              <a:off x="2974309" y="1369638"/>
              <a:ext cx="105789" cy="78422"/>
            </a:xfrm>
            <a:custGeom>
              <a:avLst/>
              <a:gdLst/>
              <a:ahLst/>
              <a:cxnLst/>
              <a:rect l="0" t="0" r="r" b="b"/>
              <a:pathLst>
                <a:path w="115" h="85" fill="none">
                  <a:moveTo>
                    <a:pt x="0" y="85"/>
                  </a:moveTo>
                  <a:lnTo>
                    <a:pt x="115" y="0"/>
                  </a:lnTo>
                </a:path>
              </a:pathLst>
            </a:custGeom>
            <a:noFill/>
            <a:ln w="35328" cap="rnd">
              <a:solidFill>
                <a:srgbClr val="9A9A9A"/>
              </a:solidFill>
              <a:round/>
            </a:ln>
          </p:spPr>
        </p:sp>
        <p:sp>
          <p:nvSpPr>
            <p:cNvPr id="49" name="Átomo H_10"/>
            <p:cNvSpPr/>
            <p:nvPr/>
          </p:nvSpPr>
          <p:spPr>
            <a:xfrm>
              <a:off x="2436087" y="1114954"/>
              <a:ext cx="152023" cy="152023"/>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0" name="Átomo H_11"/>
            <p:cNvSpPr/>
            <p:nvPr/>
          </p:nvSpPr>
          <p:spPr>
            <a:xfrm>
              <a:off x="3003206" y="1292746"/>
              <a:ext cx="153784" cy="15378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51" name="Átomo O_6"/>
            <p:cNvSpPr/>
            <p:nvPr/>
          </p:nvSpPr>
          <p:spPr>
            <a:xfrm>
              <a:off x="3623994" y="988201"/>
              <a:ext cx="241957" cy="24195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2" name="Flecha 74_2"/>
            <p:cNvSpPr/>
            <p:nvPr/>
          </p:nvSpPr>
          <p:spPr>
            <a:xfrm>
              <a:off x="3744973" y="1001184"/>
              <a:ext cx="217715" cy="107995"/>
            </a:xfrm>
            <a:custGeom>
              <a:avLst/>
              <a:gdLst/>
              <a:ahLst/>
              <a:cxnLst/>
              <a:rect l="0" t="0" r="r" b="b"/>
              <a:pathLst>
                <a:path w="238" h="118" fill="none">
                  <a:moveTo>
                    <a:pt x="0" y="118"/>
                  </a:moveTo>
                  <a:lnTo>
                    <a:pt x="238" y="0"/>
                  </a:lnTo>
                </a:path>
              </a:pathLst>
            </a:custGeom>
            <a:noFill/>
            <a:ln w="35328" cap="rnd">
              <a:solidFill>
                <a:srgbClr val="9A9A9A"/>
              </a:solidFill>
              <a:round/>
            </a:ln>
          </p:spPr>
        </p:sp>
        <p:sp>
          <p:nvSpPr>
            <p:cNvPr id="53" name="Átomo H_12"/>
            <p:cNvSpPr/>
            <p:nvPr/>
          </p:nvSpPr>
          <p:spPr>
            <a:xfrm>
              <a:off x="3884676" y="923173"/>
              <a:ext cx="156022" cy="156022"/>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grpSp>
        <p:nvGrpSpPr>
          <p:cNvPr id="54" name="AG cierre"/>
          <p:cNvGrpSpPr/>
          <p:nvPr/>
        </p:nvGrpSpPr>
        <p:grpSpPr>
          <a:xfrm>
            <a:off x="5209993" y="5300743"/>
            <a:ext cx="4011000" cy="1293303"/>
            <a:chOff x="5209993" y="5300743"/>
            <a:chExt cx="4011000" cy="1293303"/>
          </a:xfrm>
        </p:grpSpPr>
        <p:sp>
          <p:nvSpPr>
            <p:cNvPr id="55" name="Átomo O_7"/>
            <p:cNvSpPr/>
            <p:nvPr/>
          </p:nvSpPr>
          <p:spPr>
            <a:xfrm>
              <a:off x="8715136" y="5680993"/>
              <a:ext cx="200637" cy="200637"/>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56" name="Flecha 79_2"/>
            <p:cNvSpPr/>
            <p:nvPr/>
          </p:nvSpPr>
          <p:spPr>
            <a:xfrm>
              <a:off x="8803907" y="5680497"/>
              <a:ext cx="142257" cy="80378"/>
            </a:xfrm>
            <a:custGeom>
              <a:avLst/>
              <a:gdLst/>
              <a:ahLst/>
              <a:cxnLst/>
              <a:rect l="0" t="0" r="r" b="b"/>
              <a:pathLst>
                <a:path w="155" h="87" fill="none">
                  <a:moveTo>
                    <a:pt x="155" y="0"/>
                  </a:moveTo>
                  <a:lnTo>
                    <a:pt x="0" y="87"/>
                  </a:lnTo>
                </a:path>
              </a:pathLst>
            </a:custGeom>
            <a:noFill/>
            <a:ln w="26080" cap="rnd">
              <a:solidFill>
                <a:srgbClr val="9A9A9A"/>
              </a:solidFill>
              <a:round/>
            </a:ln>
          </p:spPr>
        </p:sp>
        <p:sp>
          <p:nvSpPr>
            <p:cNvPr id="57" name="Flecha 81_2"/>
            <p:cNvSpPr/>
            <p:nvPr/>
          </p:nvSpPr>
          <p:spPr>
            <a:xfrm>
              <a:off x="8827001" y="5721369"/>
              <a:ext cx="142257" cy="80378"/>
            </a:xfrm>
            <a:custGeom>
              <a:avLst/>
              <a:gdLst/>
              <a:ahLst/>
              <a:cxnLst/>
              <a:rect l="0" t="0" r="r" b="b"/>
              <a:pathLst>
                <a:path w="155" h="87" fill="none">
                  <a:moveTo>
                    <a:pt x="155" y="0"/>
                  </a:moveTo>
                  <a:lnTo>
                    <a:pt x="0" y="87"/>
                  </a:lnTo>
                </a:path>
              </a:pathLst>
            </a:custGeom>
            <a:noFill/>
            <a:ln w="26080" cap="rnd">
              <a:solidFill>
                <a:srgbClr val="9A9A9A"/>
              </a:solidFill>
              <a:round/>
            </a:ln>
          </p:spPr>
        </p:sp>
        <p:sp>
          <p:nvSpPr>
            <p:cNvPr id="58" name="Átomo C_7"/>
            <p:cNvSpPr/>
            <p:nvPr/>
          </p:nvSpPr>
          <p:spPr>
            <a:xfrm>
              <a:off x="8849311" y="5592533"/>
              <a:ext cx="216801" cy="216801"/>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59" name="Flecha 84_2"/>
            <p:cNvSpPr/>
            <p:nvPr/>
          </p:nvSpPr>
          <p:spPr>
            <a:xfrm>
              <a:off x="8957711" y="5425108"/>
              <a:ext cx="160525" cy="275825"/>
            </a:xfrm>
            <a:custGeom>
              <a:avLst/>
              <a:gdLst/>
              <a:ahLst/>
              <a:cxnLst/>
              <a:rect l="0" t="0" r="r" b="b"/>
              <a:pathLst>
                <a:path w="175" h="301" fill="none">
                  <a:moveTo>
                    <a:pt x="0" y="301"/>
                  </a:moveTo>
                  <a:lnTo>
                    <a:pt x="175" y="0"/>
                  </a:lnTo>
                </a:path>
              </a:pathLst>
            </a:custGeom>
            <a:noFill/>
            <a:ln w="32600" cap="rnd">
              <a:solidFill>
                <a:srgbClr val="9A9A9A"/>
              </a:solidFill>
              <a:round/>
            </a:ln>
          </p:spPr>
        </p:sp>
        <p:sp>
          <p:nvSpPr>
            <p:cNvPr id="60" name="Átomo O_8"/>
            <p:cNvSpPr/>
            <p:nvPr/>
          </p:nvSpPr>
          <p:spPr>
            <a:xfrm>
              <a:off x="9015478" y="5322351"/>
              <a:ext cx="205515" cy="205515"/>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61" name="Flecha 87_2"/>
            <p:cNvSpPr/>
            <p:nvPr/>
          </p:nvSpPr>
          <p:spPr>
            <a:xfrm>
              <a:off x="8940762" y="5700933"/>
              <a:ext cx="16949" cy="274233"/>
            </a:xfrm>
            <a:custGeom>
              <a:avLst/>
              <a:gdLst/>
              <a:ahLst/>
              <a:cxnLst/>
              <a:rect l="0" t="0" r="r" b="b"/>
              <a:pathLst>
                <a:path w="18" h="299" fill="none">
                  <a:moveTo>
                    <a:pt x="0" y="299"/>
                  </a:moveTo>
                  <a:lnTo>
                    <a:pt x="18" y="0"/>
                  </a:lnTo>
                </a:path>
              </a:pathLst>
            </a:custGeom>
            <a:noFill/>
            <a:ln w="32600" cap="rnd">
              <a:solidFill>
                <a:srgbClr val="9A9A9A"/>
              </a:solidFill>
              <a:round/>
            </a:ln>
          </p:spPr>
        </p:sp>
        <p:sp>
          <p:nvSpPr>
            <p:cNvPr id="62" name="Átomo C_8"/>
            <p:cNvSpPr/>
            <p:nvPr/>
          </p:nvSpPr>
          <p:spPr>
            <a:xfrm>
              <a:off x="8539202" y="6134691"/>
              <a:ext cx="220485" cy="220485"/>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3" name="Flecha 90_2"/>
            <p:cNvSpPr/>
            <p:nvPr/>
          </p:nvSpPr>
          <p:spPr>
            <a:xfrm>
              <a:off x="8649444" y="5975166"/>
              <a:ext cx="291318" cy="269768"/>
            </a:xfrm>
            <a:custGeom>
              <a:avLst/>
              <a:gdLst/>
              <a:ahLst/>
              <a:cxnLst/>
              <a:rect l="0" t="0" r="r" b="b"/>
              <a:pathLst>
                <a:path w="318" h="295" fill="none">
                  <a:moveTo>
                    <a:pt x="0" y="295"/>
                  </a:moveTo>
                  <a:lnTo>
                    <a:pt x="318" y="0"/>
                  </a:lnTo>
                </a:path>
              </a:pathLst>
            </a:custGeom>
            <a:noFill/>
            <a:ln w="32600" cap="rnd">
              <a:solidFill>
                <a:srgbClr val="9A9A9A"/>
              </a:solidFill>
              <a:round/>
            </a:ln>
          </p:spPr>
        </p:sp>
        <p:sp>
          <p:nvSpPr>
            <p:cNvPr id="64" name="Átomo C_9"/>
            <p:cNvSpPr/>
            <p:nvPr/>
          </p:nvSpPr>
          <p:spPr>
            <a:xfrm>
              <a:off x="8830327" y="5864731"/>
              <a:ext cx="220869" cy="22086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5" name="Flecha 93_2"/>
            <p:cNvSpPr/>
            <p:nvPr/>
          </p:nvSpPr>
          <p:spPr>
            <a:xfrm>
              <a:off x="8289039" y="6086122"/>
              <a:ext cx="360406" cy="158812"/>
            </a:xfrm>
            <a:custGeom>
              <a:avLst/>
              <a:gdLst/>
              <a:ahLst/>
              <a:cxnLst/>
              <a:rect l="0" t="0" r="r" b="b"/>
              <a:pathLst>
                <a:path w="394" h="173" fill="none">
                  <a:moveTo>
                    <a:pt x="0" y="0"/>
                  </a:moveTo>
                  <a:lnTo>
                    <a:pt x="394" y="173"/>
                  </a:lnTo>
                </a:path>
              </a:pathLst>
            </a:custGeom>
            <a:noFill/>
            <a:ln w="32600" cap="rnd">
              <a:solidFill>
                <a:srgbClr val="9A9A9A"/>
              </a:solidFill>
              <a:round/>
            </a:ln>
          </p:spPr>
        </p:sp>
        <p:sp>
          <p:nvSpPr>
            <p:cNvPr id="66" name="Átomo C_10"/>
            <p:cNvSpPr/>
            <p:nvPr/>
          </p:nvSpPr>
          <p:spPr>
            <a:xfrm>
              <a:off x="7892159" y="6252668"/>
              <a:ext cx="221107" cy="22110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7" name="Flecha 96_2"/>
            <p:cNvSpPr/>
            <p:nvPr/>
          </p:nvSpPr>
          <p:spPr>
            <a:xfrm>
              <a:off x="8002713" y="6086122"/>
              <a:ext cx="286326" cy="277099"/>
            </a:xfrm>
            <a:custGeom>
              <a:avLst/>
              <a:gdLst/>
              <a:ahLst/>
              <a:cxnLst/>
              <a:rect l="0" t="0" r="r" b="b"/>
              <a:pathLst>
                <a:path w="313" h="303" fill="none">
                  <a:moveTo>
                    <a:pt x="0" y="303"/>
                  </a:moveTo>
                  <a:lnTo>
                    <a:pt x="313" y="0"/>
                  </a:lnTo>
                </a:path>
              </a:pathLst>
            </a:custGeom>
            <a:noFill/>
            <a:ln w="32600" cap="rnd">
              <a:solidFill>
                <a:srgbClr val="9A9A9A"/>
              </a:solidFill>
              <a:round/>
            </a:ln>
          </p:spPr>
        </p:sp>
        <p:sp>
          <p:nvSpPr>
            <p:cNvPr id="68" name="Átomo C_11"/>
            <p:cNvSpPr/>
            <p:nvPr/>
          </p:nvSpPr>
          <p:spPr>
            <a:xfrm>
              <a:off x="8178332" y="5975415"/>
              <a:ext cx="221414" cy="22141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69" name="Flecha 99_2"/>
            <p:cNvSpPr/>
            <p:nvPr/>
          </p:nvSpPr>
          <p:spPr>
            <a:xfrm>
              <a:off x="7642261" y="6205171"/>
              <a:ext cx="360452" cy="158050"/>
            </a:xfrm>
            <a:custGeom>
              <a:avLst/>
              <a:gdLst/>
              <a:ahLst/>
              <a:cxnLst/>
              <a:rect l="0" t="0" r="r" b="b"/>
              <a:pathLst>
                <a:path w="394" h="172" fill="none">
                  <a:moveTo>
                    <a:pt x="0" y="0"/>
                  </a:moveTo>
                  <a:lnTo>
                    <a:pt x="394" y="172"/>
                  </a:lnTo>
                </a:path>
              </a:pathLst>
            </a:custGeom>
            <a:noFill/>
            <a:ln w="32600" cap="rnd">
              <a:solidFill>
                <a:srgbClr val="9A9A9A"/>
              </a:solidFill>
              <a:round/>
            </a:ln>
          </p:spPr>
        </p:sp>
        <p:sp>
          <p:nvSpPr>
            <p:cNvPr id="70" name="Átomo C_12"/>
            <p:cNvSpPr/>
            <p:nvPr/>
          </p:nvSpPr>
          <p:spPr>
            <a:xfrm>
              <a:off x="7245783" y="6372299"/>
              <a:ext cx="221746" cy="22174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1" name="Flecha 102_2"/>
            <p:cNvSpPr/>
            <p:nvPr/>
          </p:nvSpPr>
          <p:spPr>
            <a:xfrm>
              <a:off x="7356656" y="6205171"/>
              <a:ext cx="285605" cy="278002"/>
            </a:xfrm>
            <a:custGeom>
              <a:avLst/>
              <a:gdLst/>
              <a:ahLst/>
              <a:cxnLst/>
              <a:rect l="0" t="0" r="r" b="b"/>
              <a:pathLst>
                <a:path w="312" h="304" fill="none">
                  <a:moveTo>
                    <a:pt x="0" y="304"/>
                  </a:moveTo>
                  <a:lnTo>
                    <a:pt x="312" y="0"/>
                  </a:lnTo>
                </a:path>
              </a:pathLst>
            </a:custGeom>
            <a:noFill/>
            <a:ln w="32600" cap="rnd">
              <a:solidFill>
                <a:srgbClr val="9A9A9A"/>
              </a:solidFill>
              <a:round/>
            </a:ln>
          </p:spPr>
        </p:sp>
        <p:sp>
          <p:nvSpPr>
            <p:cNvPr id="72" name="Flecha 104_2"/>
            <p:cNvSpPr/>
            <p:nvPr/>
          </p:nvSpPr>
          <p:spPr>
            <a:xfrm>
              <a:off x="6986943" y="6335011"/>
              <a:ext cx="369713" cy="148162"/>
            </a:xfrm>
            <a:custGeom>
              <a:avLst/>
              <a:gdLst/>
              <a:ahLst/>
              <a:cxnLst/>
              <a:rect l="0" t="0" r="r" b="b"/>
              <a:pathLst>
                <a:path w="404" h="162" fill="none">
                  <a:moveTo>
                    <a:pt x="0" y="0"/>
                  </a:moveTo>
                  <a:lnTo>
                    <a:pt x="404" y="162"/>
                  </a:lnTo>
                </a:path>
              </a:pathLst>
            </a:custGeom>
            <a:noFill/>
            <a:ln w="32600" cap="rnd">
              <a:solidFill>
                <a:srgbClr val="9A9A9A"/>
              </a:solidFill>
              <a:round/>
            </a:ln>
          </p:spPr>
        </p:sp>
        <p:sp>
          <p:nvSpPr>
            <p:cNvPr id="73" name="Átomo C_13"/>
            <p:cNvSpPr/>
            <p:nvPr/>
          </p:nvSpPr>
          <p:spPr>
            <a:xfrm>
              <a:off x="7531240" y="6094150"/>
              <a:ext cx="222042" cy="22204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4" name="Átomo C_14"/>
            <p:cNvSpPr/>
            <p:nvPr/>
          </p:nvSpPr>
          <p:spPr>
            <a:xfrm>
              <a:off x="6875836" y="6223904"/>
              <a:ext cx="222213" cy="22221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5" name="Flecha 108_2"/>
            <p:cNvSpPr/>
            <p:nvPr/>
          </p:nvSpPr>
          <p:spPr>
            <a:xfrm>
              <a:off x="6908235" y="6185909"/>
              <a:ext cx="78708" cy="149102"/>
            </a:xfrm>
            <a:custGeom>
              <a:avLst/>
              <a:gdLst/>
              <a:ahLst/>
              <a:cxnLst/>
              <a:rect l="0" t="0" r="r" b="b"/>
              <a:pathLst>
                <a:path w="86" h="163" fill="none">
                  <a:moveTo>
                    <a:pt x="0" y="0"/>
                  </a:moveTo>
                  <a:lnTo>
                    <a:pt x="86" y="163"/>
                  </a:lnTo>
                </a:path>
              </a:pathLst>
            </a:custGeom>
            <a:noFill/>
            <a:ln w="32600" cap="rnd">
              <a:solidFill>
                <a:srgbClr val="9A9A9A"/>
              </a:solidFill>
              <a:round/>
            </a:ln>
          </p:spPr>
        </p:sp>
        <p:sp>
          <p:nvSpPr>
            <p:cNvPr id="76" name="Átomo C_15"/>
            <p:cNvSpPr/>
            <p:nvPr/>
          </p:nvSpPr>
          <p:spPr>
            <a:xfrm>
              <a:off x="6794591" y="6072265"/>
              <a:ext cx="227288" cy="22728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7" name="Flecha 111_2"/>
            <p:cNvSpPr/>
            <p:nvPr/>
          </p:nvSpPr>
          <p:spPr>
            <a:xfrm>
              <a:off x="6538446" y="6037380"/>
              <a:ext cx="369789" cy="148529"/>
            </a:xfrm>
            <a:custGeom>
              <a:avLst/>
              <a:gdLst/>
              <a:ahLst/>
              <a:cxnLst/>
              <a:rect l="0" t="0" r="r" b="b"/>
              <a:pathLst>
                <a:path w="404" h="162" fill="none">
                  <a:moveTo>
                    <a:pt x="0" y="0"/>
                  </a:moveTo>
                  <a:lnTo>
                    <a:pt x="404" y="162"/>
                  </a:lnTo>
                </a:path>
              </a:pathLst>
            </a:custGeom>
            <a:noFill/>
            <a:ln w="32600" cap="rnd">
              <a:solidFill>
                <a:srgbClr val="9A9A9A"/>
              </a:solidFill>
              <a:round/>
            </a:ln>
          </p:spPr>
        </p:sp>
        <p:sp>
          <p:nvSpPr>
            <p:cNvPr id="78" name="Átomo C_16"/>
            <p:cNvSpPr/>
            <p:nvPr/>
          </p:nvSpPr>
          <p:spPr>
            <a:xfrm>
              <a:off x="6139739" y="6203215"/>
              <a:ext cx="227624" cy="227624"/>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79" name="Flecha 114_2"/>
            <p:cNvSpPr/>
            <p:nvPr/>
          </p:nvSpPr>
          <p:spPr>
            <a:xfrm>
              <a:off x="6253551" y="6037380"/>
              <a:ext cx="284895" cy="279648"/>
            </a:xfrm>
            <a:custGeom>
              <a:avLst/>
              <a:gdLst/>
              <a:ahLst/>
              <a:cxnLst/>
              <a:rect l="0" t="0" r="r" b="b"/>
              <a:pathLst>
                <a:path w="311" h="305" fill="none">
                  <a:moveTo>
                    <a:pt x="0" y="305"/>
                  </a:moveTo>
                  <a:lnTo>
                    <a:pt x="311" y="0"/>
                  </a:lnTo>
                </a:path>
              </a:pathLst>
            </a:custGeom>
            <a:noFill/>
            <a:ln w="32600" cap="rnd">
              <a:solidFill>
                <a:srgbClr val="9A9A9A"/>
              </a:solidFill>
              <a:round/>
            </a:ln>
          </p:spPr>
        </p:sp>
        <p:sp>
          <p:nvSpPr>
            <p:cNvPr id="80" name="Átomo C_17"/>
            <p:cNvSpPr/>
            <p:nvPr/>
          </p:nvSpPr>
          <p:spPr>
            <a:xfrm>
              <a:off x="6424565" y="5923499"/>
              <a:ext cx="227762" cy="2277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1" name="Flecha 117_2"/>
            <p:cNvSpPr/>
            <p:nvPr/>
          </p:nvSpPr>
          <p:spPr>
            <a:xfrm>
              <a:off x="5884106" y="6168161"/>
              <a:ext cx="369445" cy="148866"/>
            </a:xfrm>
            <a:custGeom>
              <a:avLst/>
              <a:gdLst/>
              <a:ahLst/>
              <a:cxnLst/>
              <a:rect l="0" t="0" r="r" b="b"/>
              <a:pathLst>
                <a:path w="404" h="162" fill="none">
                  <a:moveTo>
                    <a:pt x="0" y="0"/>
                  </a:moveTo>
                  <a:lnTo>
                    <a:pt x="404" y="162"/>
                  </a:lnTo>
                </a:path>
              </a:pathLst>
            </a:custGeom>
            <a:noFill/>
            <a:ln w="32600" cap="rnd">
              <a:solidFill>
                <a:srgbClr val="9A9A9A"/>
              </a:solidFill>
              <a:round/>
            </a:ln>
          </p:spPr>
        </p:sp>
        <p:sp>
          <p:nvSpPr>
            <p:cNvPr id="82" name="Átomo C_18"/>
            <p:cNvSpPr/>
            <p:nvPr/>
          </p:nvSpPr>
          <p:spPr>
            <a:xfrm>
              <a:off x="5770059" y="6054115"/>
              <a:ext cx="228093" cy="22809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3" name="Flecha 120_2"/>
            <p:cNvSpPr/>
            <p:nvPr/>
          </p:nvSpPr>
          <p:spPr>
            <a:xfrm>
              <a:off x="5808067" y="6009094"/>
              <a:ext cx="76038" cy="159067"/>
            </a:xfrm>
            <a:custGeom>
              <a:avLst/>
              <a:gdLst/>
              <a:ahLst/>
              <a:cxnLst/>
              <a:rect l="0" t="0" r="r" b="b"/>
              <a:pathLst>
                <a:path w="83" h="173" fill="none">
                  <a:moveTo>
                    <a:pt x="0" y="0"/>
                  </a:moveTo>
                  <a:lnTo>
                    <a:pt x="83" y="173"/>
                  </a:lnTo>
                </a:path>
              </a:pathLst>
            </a:custGeom>
            <a:noFill/>
            <a:ln w="32600" cap="rnd">
              <a:solidFill>
                <a:srgbClr val="9A9A9A"/>
              </a:solidFill>
              <a:round/>
            </a:ln>
          </p:spPr>
        </p:sp>
        <p:sp>
          <p:nvSpPr>
            <p:cNvPr id="84" name="Átomo C_19"/>
            <p:cNvSpPr/>
            <p:nvPr/>
          </p:nvSpPr>
          <p:spPr>
            <a:xfrm>
              <a:off x="5691509" y="5892536"/>
              <a:ext cx="233117" cy="233117"/>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5" name="Flecha 123_2"/>
            <p:cNvSpPr/>
            <p:nvPr/>
          </p:nvSpPr>
          <p:spPr>
            <a:xfrm>
              <a:off x="5426874" y="5893266"/>
              <a:ext cx="381194" cy="115828"/>
            </a:xfrm>
            <a:custGeom>
              <a:avLst/>
              <a:gdLst/>
              <a:ahLst/>
              <a:cxnLst/>
              <a:rect l="0" t="0" r="r" b="b"/>
              <a:pathLst>
                <a:path w="416" h="126" fill="none">
                  <a:moveTo>
                    <a:pt x="0" y="0"/>
                  </a:moveTo>
                  <a:lnTo>
                    <a:pt x="416" y="126"/>
                  </a:lnTo>
                </a:path>
              </a:pathLst>
            </a:custGeom>
            <a:noFill/>
            <a:ln w="32600" cap="rnd">
              <a:solidFill>
                <a:srgbClr val="9A9A9A"/>
              </a:solidFill>
              <a:round/>
            </a:ln>
          </p:spPr>
        </p:sp>
        <p:sp>
          <p:nvSpPr>
            <p:cNvPr id="86" name="Átomo C_20"/>
            <p:cNvSpPr/>
            <p:nvPr/>
          </p:nvSpPr>
          <p:spPr>
            <a:xfrm>
              <a:off x="5310120" y="5776511"/>
              <a:ext cx="233508" cy="233508"/>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7" name="Flecha 126_2"/>
            <p:cNvSpPr/>
            <p:nvPr/>
          </p:nvSpPr>
          <p:spPr>
            <a:xfrm>
              <a:off x="5329284" y="5756341"/>
              <a:ext cx="97589" cy="136924"/>
            </a:xfrm>
            <a:custGeom>
              <a:avLst/>
              <a:gdLst/>
              <a:ahLst/>
              <a:cxnLst/>
              <a:rect l="0" t="0" r="r" b="b"/>
              <a:pathLst>
                <a:path w="106" h="149" fill="none">
                  <a:moveTo>
                    <a:pt x="0" y="0"/>
                  </a:moveTo>
                  <a:lnTo>
                    <a:pt x="106" y="149"/>
                  </a:lnTo>
                </a:path>
              </a:pathLst>
            </a:custGeom>
            <a:noFill/>
            <a:ln w="32600" cap="rnd">
              <a:solidFill>
                <a:srgbClr val="9A9A9A"/>
              </a:solidFill>
              <a:round/>
            </a:ln>
          </p:spPr>
        </p:sp>
        <p:sp>
          <p:nvSpPr>
            <p:cNvPr id="88" name="Átomo C_21"/>
            <p:cNvSpPr/>
            <p:nvPr/>
          </p:nvSpPr>
          <p:spPr>
            <a:xfrm>
              <a:off x="5209993" y="5637050"/>
              <a:ext cx="238583" cy="23858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89" name="Flecha 129_2"/>
            <p:cNvSpPr/>
            <p:nvPr/>
          </p:nvSpPr>
          <p:spPr>
            <a:xfrm>
              <a:off x="5329284" y="5420724"/>
              <a:ext cx="187148" cy="335617"/>
            </a:xfrm>
            <a:custGeom>
              <a:avLst/>
              <a:gdLst/>
              <a:ahLst/>
              <a:cxnLst/>
              <a:rect l="0" t="0" r="r" b="b"/>
              <a:pathLst>
                <a:path w="204" h="367" fill="none">
                  <a:moveTo>
                    <a:pt x="204" y="0"/>
                  </a:moveTo>
                  <a:lnTo>
                    <a:pt x="0" y="367"/>
                  </a:lnTo>
                </a:path>
              </a:pathLst>
            </a:custGeom>
            <a:noFill/>
            <a:ln w="32600" cap="rnd">
              <a:solidFill>
                <a:srgbClr val="9A9A9A"/>
              </a:solidFill>
              <a:round/>
            </a:ln>
          </p:spPr>
        </p:sp>
        <p:sp>
          <p:nvSpPr>
            <p:cNvPr id="90" name="Átomo C_22"/>
            <p:cNvSpPr/>
            <p:nvPr/>
          </p:nvSpPr>
          <p:spPr>
            <a:xfrm>
              <a:off x="5396451" y="5300743"/>
              <a:ext cx="239962" cy="239962"/>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grpSp>
      <p:grpSp>
        <p:nvGrpSpPr>
          <p:cNvPr id="91" name="BHB cierre"/>
          <p:cNvGrpSpPr/>
          <p:nvPr/>
        </p:nvGrpSpPr>
        <p:grpSpPr>
          <a:xfrm>
            <a:off x="8008788" y="692060"/>
            <a:ext cx="1484056" cy="1013821"/>
            <a:chOff x="8008788" y="692060"/>
            <a:chExt cx="1484056" cy="1013821"/>
          </a:xfrm>
        </p:grpSpPr>
        <p:sp>
          <p:nvSpPr>
            <p:cNvPr id="92" name="Átomo H_13"/>
            <p:cNvSpPr/>
            <p:nvPr/>
          </p:nvSpPr>
          <p:spPr>
            <a:xfrm>
              <a:off x="8636623" y="1152679"/>
              <a:ext cx="131021" cy="13102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3" name="Flecha 134_2"/>
            <p:cNvSpPr/>
            <p:nvPr/>
          </p:nvSpPr>
          <p:spPr>
            <a:xfrm>
              <a:off x="8702133" y="1218190"/>
              <a:ext cx="93705" cy="133298"/>
            </a:xfrm>
            <a:custGeom>
              <a:avLst/>
              <a:gdLst/>
              <a:ahLst/>
              <a:cxnLst/>
              <a:rect l="0" t="0" r="r" b="b"/>
              <a:pathLst>
                <a:path w="102" h="145" fill="none">
                  <a:moveTo>
                    <a:pt x="102" y="145"/>
                  </a:moveTo>
                  <a:lnTo>
                    <a:pt x="0" y="0"/>
                  </a:lnTo>
                </a:path>
              </a:pathLst>
            </a:custGeom>
            <a:noFill/>
            <a:ln w="33454" cap="rnd">
              <a:solidFill>
                <a:srgbClr val="9A9A9A"/>
              </a:solidFill>
              <a:round/>
            </a:ln>
          </p:spPr>
        </p:sp>
        <p:sp>
          <p:nvSpPr>
            <p:cNvPr id="94" name="Átomo O_9"/>
            <p:cNvSpPr/>
            <p:nvPr/>
          </p:nvSpPr>
          <p:spPr>
            <a:xfrm>
              <a:off x="9281340" y="1456516"/>
              <a:ext cx="211503" cy="211503"/>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95" name="Flecha 137_2"/>
            <p:cNvSpPr/>
            <p:nvPr/>
          </p:nvSpPr>
          <p:spPr>
            <a:xfrm>
              <a:off x="9199816" y="1296694"/>
              <a:ext cx="187276" cy="265574"/>
            </a:xfrm>
            <a:custGeom>
              <a:avLst/>
              <a:gdLst/>
              <a:ahLst/>
              <a:cxnLst/>
              <a:rect l="0" t="0" r="r" b="b"/>
              <a:pathLst>
                <a:path w="204" h="290" fill="none">
                  <a:moveTo>
                    <a:pt x="0" y="0"/>
                  </a:moveTo>
                  <a:lnTo>
                    <a:pt x="204" y="290"/>
                  </a:lnTo>
                </a:path>
              </a:pathLst>
            </a:custGeom>
            <a:noFill/>
            <a:ln w="33454" cap="rnd">
              <a:solidFill>
                <a:srgbClr val="9A9A9A"/>
              </a:solidFill>
              <a:round/>
            </a:ln>
          </p:spPr>
        </p:sp>
        <p:sp>
          <p:nvSpPr>
            <p:cNvPr id="96" name="Átomo H_14"/>
            <p:cNvSpPr/>
            <p:nvPr/>
          </p:nvSpPr>
          <p:spPr>
            <a:xfrm>
              <a:off x="8669793" y="1570395"/>
              <a:ext cx="135485" cy="135485"/>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97" name="Flecha 140_2"/>
            <p:cNvSpPr/>
            <p:nvPr/>
          </p:nvSpPr>
          <p:spPr>
            <a:xfrm>
              <a:off x="8737536" y="1351488"/>
              <a:ext cx="58303" cy="286650"/>
            </a:xfrm>
            <a:custGeom>
              <a:avLst/>
              <a:gdLst/>
              <a:ahLst/>
              <a:cxnLst/>
              <a:rect l="0" t="0" r="r" b="b"/>
              <a:pathLst>
                <a:path w="63" h="313" fill="none">
                  <a:moveTo>
                    <a:pt x="63" y="0"/>
                  </a:moveTo>
                  <a:lnTo>
                    <a:pt x="0" y="313"/>
                  </a:lnTo>
                </a:path>
              </a:pathLst>
            </a:custGeom>
            <a:noFill/>
            <a:ln w="33454" cap="rnd">
              <a:solidFill>
                <a:srgbClr val="9A9A9A"/>
              </a:solidFill>
              <a:round/>
            </a:ln>
          </p:spPr>
        </p:sp>
        <p:sp>
          <p:nvSpPr>
            <p:cNvPr id="98" name="Átomo C_23"/>
            <p:cNvSpPr/>
            <p:nvPr/>
          </p:nvSpPr>
          <p:spPr>
            <a:xfrm>
              <a:off x="8682569" y="1238218"/>
              <a:ext cx="226539" cy="22653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99" name="Flecha 143_2"/>
            <p:cNvSpPr/>
            <p:nvPr/>
          </p:nvSpPr>
          <p:spPr>
            <a:xfrm>
              <a:off x="8795838" y="1296694"/>
              <a:ext cx="403978" cy="54794"/>
            </a:xfrm>
            <a:custGeom>
              <a:avLst/>
              <a:gdLst/>
              <a:ahLst/>
              <a:cxnLst/>
              <a:rect l="0" t="0" r="r" b="b"/>
              <a:pathLst>
                <a:path w="441" h="59" fill="none">
                  <a:moveTo>
                    <a:pt x="0" y="59"/>
                  </a:moveTo>
                  <a:lnTo>
                    <a:pt x="441" y="0"/>
                  </a:lnTo>
                </a:path>
              </a:pathLst>
            </a:custGeom>
            <a:noFill/>
            <a:ln w="33454" cap="rnd">
              <a:solidFill>
                <a:srgbClr val="9A9A9A"/>
              </a:solidFill>
              <a:round/>
            </a:ln>
          </p:spPr>
        </p:sp>
        <p:sp>
          <p:nvSpPr>
            <p:cNvPr id="100" name="Átomo C_24"/>
            <p:cNvSpPr/>
            <p:nvPr/>
          </p:nvSpPr>
          <p:spPr>
            <a:xfrm>
              <a:off x="9086123" y="1183001"/>
              <a:ext cx="227386" cy="227386"/>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01" name="Flecha 146_2"/>
            <p:cNvSpPr/>
            <p:nvPr/>
          </p:nvSpPr>
          <p:spPr>
            <a:xfrm>
              <a:off x="9222792" y="997094"/>
              <a:ext cx="96595" cy="306832"/>
            </a:xfrm>
            <a:custGeom>
              <a:avLst/>
              <a:gdLst/>
              <a:ahLst/>
              <a:cxnLst/>
              <a:rect l="0" t="0" r="r" b="b"/>
              <a:pathLst>
                <a:path w="105" h="335" fill="none">
                  <a:moveTo>
                    <a:pt x="0" y="335"/>
                  </a:moveTo>
                  <a:lnTo>
                    <a:pt x="105" y="0"/>
                  </a:lnTo>
                </a:path>
              </a:pathLst>
            </a:custGeom>
            <a:noFill/>
            <a:ln w="26763" cap="rnd">
              <a:solidFill>
                <a:srgbClr val="9A9A9A"/>
              </a:solidFill>
              <a:round/>
            </a:ln>
          </p:spPr>
        </p:sp>
        <p:sp>
          <p:nvSpPr>
            <p:cNvPr id="102" name="Flecha 148_2"/>
            <p:cNvSpPr/>
            <p:nvPr/>
          </p:nvSpPr>
          <p:spPr>
            <a:xfrm>
              <a:off x="9176840" y="982628"/>
              <a:ext cx="96595" cy="306832"/>
            </a:xfrm>
            <a:custGeom>
              <a:avLst/>
              <a:gdLst/>
              <a:ahLst/>
              <a:cxnLst/>
              <a:rect l="0" t="0" r="r" b="b"/>
              <a:pathLst>
                <a:path w="105" h="335" fill="none">
                  <a:moveTo>
                    <a:pt x="0" y="335"/>
                  </a:moveTo>
                  <a:lnTo>
                    <a:pt x="105" y="0"/>
                  </a:lnTo>
                </a:path>
              </a:pathLst>
            </a:custGeom>
            <a:noFill/>
            <a:ln w="26763" cap="rnd">
              <a:solidFill>
                <a:srgbClr val="9A9A9A"/>
              </a:solidFill>
              <a:round/>
            </a:ln>
          </p:spPr>
        </p:sp>
        <p:sp>
          <p:nvSpPr>
            <p:cNvPr id="103" name="Átomo H_15"/>
            <p:cNvSpPr/>
            <p:nvPr/>
          </p:nvSpPr>
          <p:spPr>
            <a:xfrm>
              <a:off x="8008788" y="1135213"/>
              <a:ext cx="138321" cy="138321"/>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4" name="Átomo O_10"/>
            <p:cNvSpPr/>
            <p:nvPr/>
          </p:nvSpPr>
          <p:spPr>
            <a:xfrm>
              <a:off x="9187521" y="880972"/>
              <a:ext cx="217779" cy="217779"/>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05" name="Flecha 152_2"/>
            <p:cNvSpPr/>
            <p:nvPr/>
          </p:nvSpPr>
          <p:spPr>
            <a:xfrm>
              <a:off x="8618669" y="1193938"/>
              <a:ext cx="177170" cy="157550"/>
            </a:xfrm>
            <a:custGeom>
              <a:avLst/>
              <a:gdLst/>
              <a:ahLst/>
              <a:cxnLst/>
              <a:rect l="0" t="0" r="r" b="b"/>
              <a:pathLst>
                <a:path w="193" h="172" fill="none">
                  <a:moveTo>
                    <a:pt x="0" y="0"/>
                  </a:moveTo>
                  <a:lnTo>
                    <a:pt x="193" y="172"/>
                  </a:lnTo>
                </a:path>
              </a:pathLst>
            </a:custGeom>
            <a:noFill/>
            <a:ln w="33454" cap="rnd">
              <a:solidFill>
                <a:srgbClr val="9A9A9A"/>
              </a:solidFill>
              <a:round/>
            </a:ln>
          </p:spPr>
        </p:sp>
        <p:sp>
          <p:nvSpPr>
            <p:cNvPr id="106" name="Flecha 154_2"/>
            <p:cNvSpPr/>
            <p:nvPr/>
          </p:nvSpPr>
          <p:spPr>
            <a:xfrm>
              <a:off x="8077948" y="1204373"/>
              <a:ext cx="148093" cy="95939"/>
            </a:xfrm>
            <a:custGeom>
              <a:avLst/>
              <a:gdLst/>
              <a:ahLst/>
              <a:cxnLst/>
              <a:rect l="0" t="0" r="r" b="b"/>
              <a:pathLst>
                <a:path w="161" h="104" fill="none">
                  <a:moveTo>
                    <a:pt x="161" y="104"/>
                  </a:moveTo>
                  <a:lnTo>
                    <a:pt x="0" y="0"/>
                  </a:lnTo>
                </a:path>
              </a:pathLst>
            </a:custGeom>
            <a:noFill/>
            <a:ln w="33454" cap="rnd">
              <a:solidFill>
                <a:srgbClr val="9A9A9A"/>
              </a:solidFill>
              <a:round/>
            </a:ln>
          </p:spPr>
        </p:sp>
        <p:sp>
          <p:nvSpPr>
            <p:cNvPr id="107" name="Átomo H_16"/>
            <p:cNvSpPr/>
            <p:nvPr/>
          </p:nvSpPr>
          <p:spPr>
            <a:xfrm>
              <a:off x="8818725" y="692060"/>
              <a:ext cx="141377" cy="14137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08" name="Flecha 157_2"/>
            <p:cNvSpPr/>
            <p:nvPr/>
          </p:nvSpPr>
          <p:spPr>
            <a:xfrm>
              <a:off x="8632860" y="762748"/>
              <a:ext cx="256554" cy="48655"/>
            </a:xfrm>
            <a:custGeom>
              <a:avLst/>
              <a:gdLst/>
              <a:ahLst/>
              <a:cxnLst/>
              <a:rect l="0" t="0" r="r" b="b"/>
              <a:pathLst>
                <a:path w="280" h="53" fill="none">
                  <a:moveTo>
                    <a:pt x="0" y="53"/>
                  </a:moveTo>
                  <a:lnTo>
                    <a:pt x="280" y="0"/>
                  </a:lnTo>
                </a:path>
              </a:pathLst>
            </a:custGeom>
            <a:noFill/>
            <a:ln w="33454" cap="rnd">
              <a:solidFill>
                <a:srgbClr val="9A9A9A"/>
              </a:solidFill>
              <a:round/>
            </a:ln>
          </p:spPr>
        </p:sp>
        <p:sp>
          <p:nvSpPr>
            <p:cNvPr id="109" name="Átomo O_11"/>
            <p:cNvSpPr/>
            <p:nvPr/>
          </p:nvSpPr>
          <p:spPr>
            <a:xfrm>
              <a:off x="8521009" y="699553"/>
              <a:ext cx="223702" cy="223702"/>
            </a:xfrm>
            <a:prstGeom prst="ellipse">
              <a:avLst/>
            </a:prstGeom>
            <a:gradFill rotWithShape="1">
              <a:gsLst>
                <a:gs pos="0">
                  <a:srgbClr val="FFFFFF"/>
                </a:gs>
                <a:gs pos="28000">
                  <a:srgbClr val="E0261B"/>
                </a:gs>
                <a:gs pos="100000">
                  <a:srgbClr val="64110C"/>
                </a:gs>
              </a:gsLst>
              <a:path path="circle">
                <a:fillToRect l="30000" t="25000" r="70000" b="75000"/>
              </a:path>
            </a:gradFill>
            <a:ln>
              <a:noFill/>
            </a:ln>
          </p:spPr>
        </p:sp>
        <p:sp>
          <p:nvSpPr>
            <p:cNvPr id="110" name="Flecha 160_2"/>
            <p:cNvSpPr/>
            <p:nvPr/>
          </p:nvSpPr>
          <p:spPr>
            <a:xfrm>
              <a:off x="8618669" y="811404"/>
              <a:ext cx="14192" cy="382534"/>
            </a:xfrm>
            <a:custGeom>
              <a:avLst/>
              <a:gdLst/>
              <a:ahLst/>
              <a:cxnLst/>
              <a:rect l="0" t="0" r="r" b="b"/>
              <a:pathLst>
                <a:path w="15" h="418" fill="none">
                  <a:moveTo>
                    <a:pt x="0" y="418"/>
                  </a:moveTo>
                  <a:lnTo>
                    <a:pt x="15" y="0"/>
                  </a:lnTo>
                </a:path>
              </a:pathLst>
            </a:custGeom>
            <a:noFill/>
            <a:ln w="33454" cap="rnd">
              <a:solidFill>
                <a:srgbClr val="9A9A9A"/>
              </a:solidFill>
              <a:round/>
            </a:ln>
          </p:spPr>
        </p:sp>
        <p:sp>
          <p:nvSpPr>
            <p:cNvPr id="111" name="Átomo C_25"/>
            <p:cNvSpPr/>
            <p:nvPr/>
          </p:nvSpPr>
          <p:spPr>
            <a:xfrm>
              <a:off x="8499847" y="1075117"/>
              <a:ext cx="237643" cy="237643"/>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2" name="Flecha 163_2"/>
            <p:cNvSpPr/>
            <p:nvPr/>
          </p:nvSpPr>
          <p:spPr>
            <a:xfrm>
              <a:off x="8226041" y="1193938"/>
              <a:ext cx="392627" cy="106374"/>
            </a:xfrm>
            <a:custGeom>
              <a:avLst/>
              <a:gdLst/>
              <a:ahLst/>
              <a:cxnLst/>
              <a:rect l="0" t="0" r="r" b="b"/>
              <a:pathLst>
                <a:path w="429" h="116" fill="none">
                  <a:moveTo>
                    <a:pt x="0" y="116"/>
                  </a:moveTo>
                  <a:lnTo>
                    <a:pt x="429" y="0"/>
                  </a:lnTo>
                </a:path>
              </a:pathLst>
            </a:custGeom>
            <a:noFill/>
            <a:ln w="33454" cap="rnd">
              <a:solidFill>
                <a:srgbClr val="9A9A9A"/>
              </a:solidFill>
              <a:round/>
            </a:ln>
          </p:spPr>
        </p:sp>
        <p:sp>
          <p:nvSpPr>
            <p:cNvPr id="113" name="Átomo C_26"/>
            <p:cNvSpPr/>
            <p:nvPr/>
          </p:nvSpPr>
          <p:spPr>
            <a:xfrm>
              <a:off x="8106852" y="1181122"/>
              <a:ext cx="238379" cy="238379"/>
            </a:xfrm>
            <a:prstGeom prst="ellipse">
              <a:avLst/>
            </a:prstGeom>
            <a:gradFill rotWithShape="1">
              <a:gsLst>
                <a:gs pos="0">
                  <a:srgbClr val="FFFFFF"/>
                </a:gs>
                <a:gs pos="28000">
                  <a:srgbClr val="3A3A3A"/>
                </a:gs>
                <a:gs pos="100000">
                  <a:srgbClr val="1A1A1A"/>
                </a:gs>
              </a:gsLst>
              <a:path path="circle">
                <a:fillToRect l="30000" t="25000" r="70000" b="75000"/>
              </a:path>
            </a:gradFill>
            <a:ln>
              <a:noFill/>
            </a:ln>
          </p:spPr>
        </p:sp>
        <p:sp>
          <p:nvSpPr>
            <p:cNvPr id="114" name="Flecha 166_2"/>
            <p:cNvSpPr/>
            <p:nvPr/>
          </p:nvSpPr>
          <p:spPr>
            <a:xfrm>
              <a:off x="8195116" y="1300312"/>
              <a:ext cx="30926" cy="290644"/>
            </a:xfrm>
            <a:custGeom>
              <a:avLst/>
              <a:gdLst/>
              <a:ahLst/>
              <a:cxnLst/>
              <a:rect l="0" t="0" r="r" b="b"/>
              <a:pathLst>
                <a:path w="33" h="317" fill="none">
                  <a:moveTo>
                    <a:pt x="33" y="0"/>
                  </a:moveTo>
                  <a:lnTo>
                    <a:pt x="0" y="317"/>
                  </a:lnTo>
                </a:path>
              </a:pathLst>
            </a:custGeom>
            <a:noFill/>
            <a:ln w="33454" cap="rnd">
              <a:solidFill>
                <a:srgbClr val="9A9A9A"/>
              </a:solidFill>
              <a:round/>
            </a:ln>
          </p:spPr>
        </p:sp>
        <p:sp>
          <p:nvSpPr>
            <p:cNvPr id="115" name="Átomo H_17"/>
            <p:cNvSpPr/>
            <p:nvPr/>
          </p:nvSpPr>
          <p:spPr>
            <a:xfrm>
              <a:off x="8123419" y="1519260"/>
              <a:ext cx="143394" cy="143394"/>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6" name="Flecha 169_2"/>
            <p:cNvSpPr/>
            <p:nvPr/>
          </p:nvSpPr>
          <p:spPr>
            <a:xfrm>
              <a:off x="8618669" y="1193938"/>
              <a:ext cx="137149" cy="86998"/>
            </a:xfrm>
            <a:custGeom>
              <a:avLst/>
              <a:gdLst/>
              <a:ahLst/>
              <a:cxnLst/>
              <a:rect l="0" t="0" r="r" b="b"/>
              <a:pathLst>
                <a:path w="149" h="95" fill="none">
                  <a:moveTo>
                    <a:pt x="0" y="0"/>
                  </a:moveTo>
                  <a:lnTo>
                    <a:pt x="149" y="95"/>
                  </a:lnTo>
                </a:path>
              </a:pathLst>
            </a:custGeom>
            <a:noFill/>
            <a:ln w="33454" cap="rnd">
              <a:solidFill>
                <a:srgbClr val="9A9A9A"/>
              </a:solidFill>
              <a:round/>
            </a:ln>
          </p:spPr>
        </p:sp>
        <p:sp>
          <p:nvSpPr>
            <p:cNvPr id="117" name="Flecha 171_2"/>
            <p:cNvSpPr/>
            <p:nvPr/>
          </p:nvSpPr>
          <p:spPr>
            <a:xfrm>
              <a:off x="8100012" y="1178256"/>
              <a:ext cx="126030" cy="122056"/>
            </a:xfrm>
            <a:custGeom>
              <a:avLst/>
              <a:gdLst/>
              <a:ahLst/>
              <a:cxnLst/>
              <a:rect l="0" t="0" r="r" b="b"/>
              <a:pathLst>
                <a:path w="137" h="133" fill="none">
                  <a:moveTo>
                    <a:pt x="137" y="133"/>
                  </a:moveTo>
                  <a:lnTo>
                    <a:pt x="0" y="0"/>
                  </a:lnTo>
                </a:path>
              </a:pathLst>
            </a:custGeom>
            <a:noFill/>
            <a:ln w="33454" cap="rnd">
              <a:solidFill>
                <a:srgbClr val="9A9A9A"/>
              </a:solidFill>
              <a:round/>
            </a:ln>
          </p:spPr>
        </p:sp>
        <p:sp>
          <p:nvSpPr>
            <p:cNvPr id="118" name="Átomo H_18"/>
            <p:cNvSpPr/>
            <p:nvPr/>
          </p:nvSpPr>
          <p:spPr>
            <a:xfrm>
              <a:off x="8682070" y="1207188"/>
              <a:ext cx="147496" cy="147496"/>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sp>
          <p:nvSpPr>
            <p:cNvPr id="119" name="Átomo H_19"/>
            <p:cNvSpPr/>
            <p:nvPr/>
          </p:nvSpPr>
          <p:spPr>
            <a:xfrm>
              <a:off x="8026138" y="1104382"/>
              <a:ext cx="147747" cy="147747"/>
            </a:xfrm>
            <a:prstGeom prst="ellipse">
              <a:avLst/>
            </a:prstGeom>
            <a:gradFill rotWithShape="1">
              <a:gsLst>
                <a:gs pos="0">
                  <a:srgbClr val="FFFFFF"/>
                </a:gs>
                <a:gs pos="28000">
                  <a:srgbClr val="FFFFFF"/>
                </a:gs>
                <a:gs pos="100000">
                  <a:srgbClr val="9E9E9E"/>
                </a:gs>
              </a:gsLst>
              <a:path path="circle">
                <a:fillToRect l="30000" t="25000" r="70000" b="75000"/>
              </a:path>
            </a:gradFill>
            <a:ln>
              <a:noFill/>
            </a:ln>
          </p:spPr>
        </p:sp>
      </p:grpSp>
      <p:pic>
        <p:nvPicPr>
          <p:cNvPr id="120" name="Adipocitos cierre" descr="Ilustración biomédica (Servier Medical Art, CC BY)"/>
          <p:cNvPicPr>
            <a:picLocks noChangeAspect="1"/>
          </p:cNvPicPr>
          <p:nvPr/>
        </p:nvPicPr>
        <p:blipFill>
          <a:blip r:embed="rId2"/>
          <a:stretch>
            <a:fillRect/>
          </a:stretch>
        </p:blipFill>
        <p:spPr>
          <a:xfrm>
            <a:off x="91440" y="4480560"/>
            <a:ext cx="2103120" cy="2144478"/>
          </a:xfrm>
          <a:prstGeom prst="rect">
            <a:avLst/>
          </a:prstGeom>
        </p:spPr>
      </p:pic>
      <p:pic>
        <p:nvPicPr>
          <p:cNvPr id="121" name="Cerebro cierre" descr="Ilustración biomédica (Servier Medical Art, CC BY)"/>
          <p:cNvPicPr>
            <a:picLocks noChangeAspect="1"/>
          </p:cNvPicPr>
          <p:nvPr/>
        </p:nvPicPr>
        <p:blipFill>
          <a:blip r:embed="rId3"/>
          <a:stretch>
            <a:fillRect/>
          </a:stretch>
        </p:blipFill>
        <p:spPr>
          <a:xfrm>
            <a:off x="9921240" y="822960"/>
            <a:ext cx="2103120" cy="2147606"/>
          </a:xfrm>
          <a:prstGeom prst="rect">
            <a:avLst/>
          </a:prstGeom>
        </p:spPr>
      </p:pic>
      <p:pic>
        <p:nvPicPr>
          <p:cNvPr id="122" name="Corazón cierre" descr="Ilustración biomédica (Servier Medical Art, CC BY)"/>
          <p:cNvPicPr>
            <a:picLocks noChangeAspect="1"/>
          </p:cNvPicPr>
          <p:nvPr/>
        </p:nvPicPr>
        <p:blipFill>
          <a:blip r:embed="rId4"/>
          <a:stretch>
            <a:fillRect/>
          </a:stretch>
        </p:blipFill>
        <p:spPr>
          <a:xfrm>
            <a:off x="10241280" y="3749040"/>
            <a:ext cx="1645920" cy="2329917"/>
          </a:xfrm>
          <a:prstGeom prst="rect">
            <a:avLst/>
          </a:prstGeom>
        </p:spPr>
      </p:pic>
      <p:sp>
        <p:nvSpPr>
          <p:cNvPr id="123" name="Título cierre"/>
          <p:cNvSpPr txBox="1"/>
          <p:nvPr/>
        </p:nvSpPr>
        <p:spPr>
          <a:xfrm>
            <a:off x="2377440" y="2011680"/>
            <a:ext cx="7406640" cy="1463548"/>
          </a:xfrm>
          <a:prstGeom prst="rect">
            <a:avLst/>
          </a:prstGeom>
          <a:noFill/>
          <a:ln>
            <a:noFill/>
          </a:ln>
        </p:spPr>
        <p:txBody>
          <a:bodyPr wrap="square" lIns="45720" tIns="0" rIns="45720" bIns="0" anchor="ctr" rtlCol="0">
            <a:noAutofit/>
          </a:bodyPr>
          <a:lstStyle/>
          <a:p>
            <a:pPr algn="ctr">
              <a:lnSpc>
                <a:spcPct val="920"/>
              </a:lnSpc>
              <a:spcAft>
                <a:spcPts val="300"/>
              </a:spcAft>
              <a:buNone/>
            </a:pPr>
            <a:r>
              <a:rPr lang="es-AR" sz="4100" dirty="0">
                <a:solidFill>
                  <a:srgbClr val="1E1E1E"/>
                </a:solidFill>
                <a:effectLst>
                  <a:glow rad="101600">
                    <a:srgbClr val="FFFFFF">
                      <a:alpha val="70000"/>
                    </a:srgbClr>
                  </a:glow>
                </a:effectLst>
                <a:latin typeface="Permanent Marker"/>
                <a:ea typeface="Permanent Marker"/>
                <a:cs typeface="Permanent Marker"/>
                <a:sym typeface="Permanent Marker"/>
              </a:rPr>
              <a:t>LA ENERGÍA NO CIRCULA</a:t>
            </a:r>
            <a:endParaRPr lang="es-AR" sz="4100" dirty="0">
              <a:latin typeface="Permanent Marker"/>
            </a:endParaRPr>
          </a:p>
          <a:p>
            <a:pPr algn="ctr">
              <a:lnSpc>
                <a:spcPct val="920"/>
              </a:lnSpc>
              <a:spcAft>
                <a:spcPts val="300"/>
              </a:spcAft>
              <a:buNone/>
            </a:pPr>
            <a:r>
              <a:rPr lang="es-AR" sz="4100" dirty="0">
                <a:solidFill>
                  <a:srgbClr val="1E1E1E"/>
                </a:solidFill>
                <a:effectLst>
                  <a:glow rad="101600">
                    <a:srgbClr val="FFFFFF">
                      <a:alpha val="70000"/>
                    </a:srgbClr>
                  </a:glow>
                </a:effectLst>
                <a:latin typeface="Permanent Marker"/>
                <a:ea typeface="Permanent Marker"/>
                <a:cs typeface="Permanent Marker"/>
                <a:sym typeface="Permanent Marker"/>
              </a:rPr>
              <a:t>POR ÓRGANOS AISLADOS</a:t>
            </a:r>
            <a:endParaRPr lang="es-AR" sz="4100" dirty="0">
              <a:latin typeface="Permanent Marker"/>
            </a:endParaRPr>
          </a:p>
        </p:txBody>
      </p:sp>
      <p:sp>
        <p:nvSpPr>
          <p:cNvPr id="124" name="Frase final"/>
          <p:cNvSpPr txBox="1"/>
          <p:nvPr/>
        </p:nvSpPr>
        <p:spPr>
          <a:xfrm>
            <a:off x="2560320" y="3977640"/>
            <a:ext cx="7040880" cy="822960"/>
          </a:xfrm>
          <a:prstGeom prst="rect">
            <a:avLst/>
          </a:prstGeom>
          <a:noFill/>
          <a:ln>
            <a:noFill/>
          </a:ln>
        </p:spPr>
        <p:txBody>
          <a:bodyPr wrap="square" lIns="0" tIns="0" rIns="0" bIns="0" anchor="ctr" rtlCol="0">
            <a:noAutofit/>
          </a:bodyPr>
          <a:lstStyle/>
          <a:p>
            <a:pPr algn="ctr">
              <a:spcAft>
                <a:spcPts val="300"/>
              </a:spcAft>
              <a:buNone/>
            </a:pPr>
            <a:r>
              <a:rPr lang="es-AR" sz="1900" b="1" dirty="0">
                <a:solidFill>
                  <a:srgbClr val="1E1E1E"/>
                </a:solidFill>
                <a:effectLst>
                  <a:glow rad="101600">
                    <a:srgbClr val="FFFFFF">
                      <a:alpha val="70000"/>
                    </a:srgbClr>
                  </a:glow>
                </a:effectLst>
                <a:latin typeface="Fira Sans Condensed"/>
                <a:ea typeface="Fira Sans Condensed"/>
                <a:cs typeface="Fira Sans Condensed"/>
                <a:sym typeface="Fira Sans Condensed"/>
              </a:rPr>
              <a:t>El organismo funciona como una red metabólica, hormonal, neuronal y vascular.</a:t>
            </a:r>
            <a:endParaRPr lang="es-AR" sz="1900" dirty="0">
              <a:latin typeface="Fira Sans Condensed"/>
            </a:endParaRPr>
          </a:p>
        </p:txBody>
      </p:sp>
      <p:sp>
        <p:nvSpPr>
          <p:cNvPr id="125" name="Número"/>
          <p:cNvSpPr/>
          <p:nvPr/>
        </p:nvSpPr>
        <p:spPr>
          <a:xfrm>
            <a:off x="11624767" y="6492240"/>
            <a:ext cx="402336" cy="256032"/>
          </a:xfrm>
          <a:prstGeom prst="rect">
            <a:avLst/>
          </a:prstGeom>
          <a:solidFill>
            <a:srgbClr val="FFFFFF"/>
          </a:solidFill>
          <a:ln w="12700" cap="rnd">
            <a:solidFill>
              <a:srgbClr val="1E1E1E"/>
            </a:solidFill>
            <a:round/>
          </a:ln>
        </p:spPr>
        <p:txBody>
          <a:bodyPr wrap="square" lIns="0" tIns="0" rIns="0" bIns="0" anchor="ctr" rtlCol="0">
            <a:noAutofit/>
          </a:bodyPr>
          <a:lstStyle/>
          <a:p>
            <a:pPr algn="ctr">
              <a:spcAft>
                <a:spcPts val="300"/>
              </a:spcAft>
              <a:buNone/>
            </a:pPr>
            <a:r>
              <a:rPr lang="es-AR" sz="1000" b="1" dirty="0">
                <a:solidFill>
                  <a:srgbClr val="1E1E1E"/>
                </a:solidFill>
                <a:latin typeface="Fira Sans Condensed"/>
                <a:ea typeface="Fira Sans Condensed"/>
                <a:cs typeface="Fira Sans Condensed"/>
                <a:sym typeface="Fira Sans Condensed"/>
              </a:rPr>
              <a:t>246</a:t>
            </a:r>
            <a:endParaRPr lang="es-AR" sz="1000" dirty="0">
              <a:latin typeface="Fira Sans Condensed"/>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4"/>
                                        </p:tgtEl>
                                        <p:attrNameLst>
                                          <p:attrName>style.visibility</p:attrName>
                                        </p:attrNameLst>
                                      </p:cBhvr>
                                      <p:to>
                                        <p:strVal val="visible"/>
                                      </p:to>
                                    </p:set>
                                    <p:animEffect transition="in" filter="fade">
                                      <p:cBhvr>
                                        <p:cTn id="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